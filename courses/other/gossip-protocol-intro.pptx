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6256000" cy="9144000"/>
  <p:notesSz cx="9144000" cy="16256000"/>
  <p:embeddedFontLst>
    <p:embeddedFont>
      <p:font typeface="得意黑" pitchFamily="2" charset="-122"/>
      <p:regular r:id="rId32"/>
      <p:italic r:id="rId33"/>
    </p:embeddedFont>
    <p:embeddedFont>
      <p:font typeface="微软雅黑" panose="020B0503020204020204" pitchFamily="34" charset="-122"/>
      <p:regular r:id="rId34"/>
      <p:bold r:id="rId35"/>
    </p:embeddedFont>
    <p:embeddedFont>
      <p:font typeface="MiSans" pitchFamily="2" charset="-122"/>
      <p:regular r:id="rId3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80" d="100"/>
          <a:sy n="80" d="100"/>
        </p:scale>
        <p:origin x="98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654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aa9d16510555de6b5b0164287847a60f488d8e1e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3668" b="366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628900"/>
            <a:ext cx="4699000" cy="508000"/>
          </a:xfrm>
          <a:custGeom>
            <a:avLst/>
            <a:gdLst/>
            <a:ahLst/>
            <a:cxnLst/>
            <a:rect l="l" t="t" r="r" b="b"/>
            <a:pathLst>
              <a:path w="4699000" h="508000">
                <a:moveTo>
                  <a:pt x="0" y="0"/>
                </a:moveTo>
                <a:lnTo>
                  <a:pt x="4699000" y="0"/>
                </a:lnTo>
                <a:lnTo>
                  <a:pt x="4699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6289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2730500"/>
            <a:ext cx="436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SYSTEMS FUNDAMENTALS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4417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协议入门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48895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现代大规模分布式系统基础构件深度解析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3875" y="58039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977900" y="57531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去中心化传播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87650" y="5803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225800" y="57531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高容错设计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06950" y="5803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245100" y="57531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270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33400" y="1727200"/>
            <a:ext cx="7442200" cy="2451100"/>
          </a:xfrm>
          <a:custGeom>
            <a:avLst/>
            <a:gdLst/>
            <a:ahLst/>
            <a:cxnLst/>
            <a:rect l="l" t="t" r="r" b="b"/>
            <a:pathLst>
              <a:path w="7442200" h="24511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2349502"/>
                </a:lnTo>
                <a:cubicBezTo>
                  <a:pt x="7442200" y="2405613"/>
                  <a:pt x="7396713" y="2451100"/>
                  <a:pt x="7340602" y="2451100"/>
                </a:cubicBez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727200"/>
            <a:ext cx="50800" cy="2451100"/>
          </a:xfrm>
          <a:custGeom>
            <a:avLst/>
            <a:gdLst/>
            <a:ahLst/>
            <a:cxnLst/>
            <a:rect l="l" t="t" r="r" b="b"/>
            <a:pathLst>
              <a:path w="50800" h="2451100">
                <a:moveTo>
                  <a:pt x="50800" y="0"/>
                </a:moveTo>
                <a:lnTo>
                  <a:pt x="50800" y="0"/>
                </a:lnTo>
                <a:lnTo>
                  <a:pt x="50800" y="2451100"/>
                </a:ln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36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87400" y="20320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76400" y="2032000"/>
            <a:ext cx="614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协议背景与经典工作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25908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从分布式系统痛点到 Gossip 解决方案，探索协议的起源、核心问题以及在现代分布式系统中的广泛应用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05800" y="1727200"/>
            <a:ext cx="7442200" cy="2451100"/>
          </a:xfrm>
          <a:custGeom>
            <a:avLst/>
            <a:gdLst/>
            <a:ahLst/>
            <a:cxnLst/>
            <a:rect l="l" t="t" r="r" b="b"/>
            <a:pathLst>
              <a:path w="7442200" h="24511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2349502"/>
                </a:lnTo>
                <a:cubicBezTo>
                  <a:pt x="7442200" y="2405613"/>
                  <a:pt x="7396713" y="2451100"/>
                  <a:pt x="7340602" y="2451100"/>
                </a:cubicBez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305800" y="1727200"/>
            <a:ext cx="50800" cy="2451100"/>
          </a:xfrm>
          <a:custGeom>
            <a:avLst/>
            <a:gdLst/>
            <a:ahLst/>
            <a:cxnLst/>
            <a:rect l="l" t="t" r="r" b="b"/>
            <a:pathLst>
              <a:path w="50800" h="2451100">
                <a:moveTo>
                  <a:pt x="50800" y="0"/>
                </a:moveTo>
                <a:lnTo>
                  <a:pt x="50800" y="0"/>
                </a:lnTo>
                <a:lnTo>
                  <a:pt x="50800" y="2451100"/>
                </a:ln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360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59800" y="20320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48800" y="2032000"/>
            <a:ext cx="614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核心原理与系统模型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48800" y="25908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Gossip 如何工作的理论基础，包括系统模型、消息传播模式、收敛性分析等核心概念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483100"/>
            <a:ext cx="7442200" cy="2451100"/>
          </a:xfrm>
          <a:custGeom>
            <a:avLst/>
            <a:gdLst/>
            <a:ahLst/>
            <a:cxnLst/>
            <a:rect l="l" t="t" r="r" b="b"/>
            <a:pathLst>
              <a:path w="7442200" h="24511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2349502"/>
                </a:lnTo>
                <a:cubicBezTo>
                  <a:pt x="7442200" y="2405613"/>
                  <a:pt x="7396713" y="2451100"/>
                  <a:pt x="7340602" y="2451100"/>
                </a:cubicBez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3400" y="4483100"/>
            <a:ext cx="50800" cy="2451100"/>
          </a:xfrm>
          <a:custGeom>
            <a:avLst/>
            <a:gdLst/>
            <a:ahLst/>
            <a:cxnLst/>
            <a:rect l="l" t="t" r="r" b="b"/>
            <a:pathLst>
              <a:path w="50800" h="2451100">
                <a:moveTo>
                  <a:pt x="50800" y="0"/>
                </a:moveTo>
                <a:lnTo>
                  <a:pt x="50800" y="0"/>
                </a:lnTo>
                <a:lnTo>
                  <a:pt x="50800" y="2451100"/>
                </a:ln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3600" y="4787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87400" y="4787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76400" y="4787900"/>
            <a:ext cx="614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协议典型实现与案例分析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76400" y="53467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从抽象算法到工程系统的落地实践，深入分析 SWIM、Dynamo 等经典系统的实现细节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05800" y="4483100"/>
            <a:ext cx="7442200" cy="2451100"/>
          </a:xfrm>
          <a:custGeom>
            <a:avLst/>
            <a:gdLst/>
            <a:ahLst/>
            <a:cxnLst/>
            <a:rect l="l" t="t" r="r" b="b"/>
            <a:pathLst>
              <a:path w="7442200" h="24511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2349502"/>
                </a:lnTo>
                <a:cubicBezTo>
                  <a:pt x="7442200" y="2405613"/>
                  <a:pt x="7396713" y="2451100"/>
                  <a:pt x="7340602" y="2451100"/>
                </a:cubicBez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305800" y="4483100"/>
            <a:ext cx="50800" cy="2451100"/>
          </a:xfrm>
          <a:custGeom>
            <a:avLst/>
            <a:gdLst/>
            <a:ahLst/>
            <a:cxnLst/>
            <a:rect l="l" t="t" r="r" b="b"/>
            <a:pathLst>
              <a:path w="50800" h="2451100">
                <a:moveTo>
                  <a:pt x="50800" y="0"/>
                </a:moveTo>
                <a:lnTo>
                  <a:pt x="50800" y="0"/>
                </a:lnTo>
                <a:lnTo>
                  <a:pt x="50800" y="2451100"/>
                </a:lnTo>
                <a:lnTo>
                  <a:pt x="50800" y="2451100"/>
                </a:lnTo>
                <a:cubicBezTo>
                  <a:pt x="22763" y="2451100"/>
                  <a:pt x="0" y="2428337"/>
                  <a:pt x="0" y="240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36000" y="4787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59800" y="4787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48800" y="4787900"/>
            <a:ext cx="614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协议应用场景与工程实践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48800" y="53467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如何在实际系统中用好 Gossip，包括典型应用场景、参数调优以及常见工程问题解决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7239000"/>
            <a:ext cx="15214600" cy="1397000"/>
          </a:xfrm>
          <a:custGeom>
            <a:avLst/>
            <a:gdLst/>
            <a:ahLst/>
            <a:cxnLst/>
            <a:rect l="l" t="t" r="r" b="b"/>
            <a:pathLst>
              <a:path w="15214600" h="1397000">
                <a:moveTo>
                  <a:pt x="50800" y="0"/>
                </a:moveTo>
                <a:lnTo>
                  <a:pt x="15112996" y="0"/>
                </a:lnTo>
                <a:cubicBezTo>
                  <a:pt x="15169110" y="0"/>
                  <a:pt x="15214600" y="45490"/>
                  <a:pt x="15214600" y="101604"/>
                </a:cubicBezTo>
                <a:lnTo>
                  <a:pt x="15214600" y="1295396"/>
                </a:lnTo>
                <a:cubicBezTo>
                  <a:pt x="15214600" y="1351510"/>
                  <a:pt x="15169110" y="1397000"/>
                  <a:pt x="15112996" y="1397000"/>
                </a:cubicBezTo>
                <a:lnTo>
                  <a:pt x="50800" y="1397000"/>
                </a:lnTo>
                <a:cubicBezTo>
                  <a:pt x="22744" y="1397000"/>
                  <a:pt x="0" y="1374256"/>
                  <a:pt x="0" y="134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33400" y="7239000"/>
            <a:ext cx="50800" cy="1397000"/>
          </a:xfrm>
          <a:custGeom>
            <a:avLst/>
            <a:gdLst/>
            <a:ahLst/>
            <a:cxnLst/>
            <a:rect l="l" t="t" r="r" b="b"/>
            <a:pathLst>
              <a:path w="50800" h="1397000">
                <a:moveTo>
                  <a:pt x="50800" y="0"/>
                </a:moveTo>
                <a:lnTo>
                  <a:pt x="50800" y="0"/>
                </a:lnTo>
                <a:lnTo>
                  <a:pt x="50800" y="1397000"/>
                </a:lnTo>
                <a:lnTo>
                  <a:pt x="50800" y="1397000"/>
                </a:lnTo>
                <a:cubicBezTo>
                  <a:pt x="22763" y="1397000"/>
                  <a:pt x="0" y="1374237"/>
                  <a:pt x="0" y="134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12800" y="749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36600" y="74930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25600" y="7493000"/>
            <a:ext cx="612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25600" y="8051800"/>
            <a:ext cx="6070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协议的核心价值与未来方向，从理论到实践的学习成果检验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53dde66a8afbfb585f2a23f45a69b570683369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786" b="178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317750"/>
            <a:ext cx="2247900" cy="762000"/>
          </a:xfrm>
          <a:custGeom>
            <a:avLst/>
            <a:gdLst/>
            <a:ahLst/>
            <a:cxnLst/>
            <a:rect l="l" t="t" r="r" b="b"/>
            <a:pathLst>
              <a:path w="2247900" h="762000">
                <a:moveTo>
                  <a:pt x="101597" y="0"/>
                </a:moveTo>
                <a:lnTo>
                  <a:pt x="2146303" y="0"/>
                </a:lnTo>
                <a:cubicBezTo>
                  <a:pt x="2202413" y="0"/>
                  <a:pt x="2247900" y="45487"/>
                  <a:pt x="2247900" y="101597"/>
                </a:cubicBezTo>
                <a:lnTo>
                  <a:pt x="2247900" y="660403"/>
                </a:lnTo>
                <a:cubicBezTo>
                  <a:pt x="2247900" y="716513"/>
                  <a:pt x="2202413" y="762000"/>
                  <a:pt x="2146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12800" y="247015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384550"/>
            <a:ext cx="55753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背景与经典工作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9753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330950"/>
            <a:ext cx="527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从分布式系统痛点到 Gossip 解决方案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协议：起源与核心问题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422400"/>
            <a:ext cx="7442200" cy="3505200"/>
          </a:xfrm>
          <a:custGeom>
            <a:avLst/>
            <a:gdLst/>
            <a:ahLst/>
            <a:cxnLst/>
            <a:rect l="l" t="t" r="r" b="b"/>
            <a:pathLst>
              <a:path w="7442200" h="3505200">
                <a:moveTo>
                  <a:pt x="50800" y="0"/>
                </a:moveTo>
                <a:lnTo>
                  <a:pt x="7340584" y="0"/>
                </a:lnTo>
                <a:cubicBezTo>
                  <a:pt x="7396705" y="0"/>
                  <a:pt x="7442200" y="45495"/>
                  <a:pt x="7442200" y="101616"/>
                </a:cubicBezTo>
                <a:lnTo>
                  <a:pt x="7442200" y="3403584"/>
                </a:lnTo>
                <a:cubicBezTo>
                  <a:pt x="7442200" y="3459705"/>
                  <a:pt x="7396705" y="3505200"/>
                  <a:pt x="734058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4224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1850" y="1727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6200" y="1676400"/>
            <a:ext cx="113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历史起源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235200"/>
            <a:ext cx="70104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协议（又称 Epidemic 协议）最早源于 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 世纪 80 年代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针对复制数据库一致性维护的研究工作。研究者观察到：流行病在群体中传播呈现出"</a:t>
            </a: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局部接触、逐步扩散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"的特征，只要传播概率和时间足够，绝大多数个体最终都会被"感染"。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708400"/>
            <a:ext cx="6908800" cy="965200"/>
          </a:xfrm>
          <a:custGeom>
            <a:avLst/>
            <a:gdLst/>
            <a:ahLst/>
            <a:cxnLst/>
            <a:rect l="l" t="t" r="r" b="b"/>
            <a:pathLst>
              <a:path w="6908800" h="965200">
                <a:moveTo>
                  <a:pt x="50798" y="0"/>
                </a:moveTo>
                <a:lnTo>
                  <a:pt x="6858002" y="0"/>
                </a:lnTo>
                <a:cubicBezTo>
                  <a:pt x="6886057" y="0"/>
                  <a:pt x="6908800" y="22743"/>
                  <a:pt x="6908800" y="50798"/>
                </a:cubicBezTo>
                <a:lnTo>
                  <a:pt x="6908800" y="914402"/>
                </a:lnTo>
                <a:cubicBezTo>
                  <a:pt x="6908800" y="942457"/>
                  <a:pt x="6886057" y="965200"/>
                  <a:pt x="68580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65200" y="3860800"/>
            <a:ext cx="670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这一直观现象被抽象为一种算法思想：通过节点之间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随机、周期性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的局部信息交换，让系统状态以接近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指数级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的速度在集群中传播。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5232400"/>
            <a:ext cx="7442200" cy="2438400"/>
          </a:xfrm>
          <a:custGeom>
            <a:avLst/>
            <a:gdLst/>
            <a:ahLst/>
            <a:cxnLst/>
            <a:rect l="l" t="t" r="r" b="b"/>
            <a:pathLst>
              <a:path w="7442200" h="2438400">
                <a:moveTo>
                  <a:pt x="50800" y="0"/>
                </a:moveTo>
                <a:lnTo>
                  <a:pt x="7340592" y="0"/>
                </a:lnTo>
                <a:cubicBezTo>
                  <a:pt x="7396708" y="0"/>
                  <a:pt x="7442200" y="45492"/>
                  <a:pt x="7442200" y="101608"/>
                </a:cubicBezTo>
                <a:lnTo>
                  <a:pt x="7442200" y="2336792"/>
                </a:lnTo>
                <a:cubicBezTo>
                  <a:pt x="7442200" y="2392908"/>
                  <a:pt x="7396708" y="2438400"/>
                  <a:pt x="7340592" y="2438400"/>
                </a:cubicBezTo>
                <a:lnTo>
                  <a:pt x="50800" y="2438400"/>
                </a:lnTo>
                <a:cubicBezTo>
                  <a:pt x="22744" y="2438400"/>
                  <a:pt x="0" y="2415656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33400" y="52324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50900" y="553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346200" y="5486400"/>
            <a:ext cx="161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传统方案痛点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" y="6146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66800" y="6045200"/>
            <a:ext cx="675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中心节点成为扩展瓶颈和单点故障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随着节点规模增长，中心节点的处理能力和可靠性成为系统上限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" y="6908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66800" y="6807200"/>
            <a:ext cx="675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强一致协议通信开销大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需要多个节点之间反复交互、投票和确认，协议消息数至少是线性甚至是二次方级别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5800" y="1422400"/>
            <a:ext cx="7442200" cy="5867400"/>
          </a:xfrm>
          <a:custGeom>
            <a:avLst/>
            <a:gdLst/>
            <a:ahLst/>
            <a:cxnLst/>
            <a:rect l="l" t="t" r="r" b="b"/>
            <a:pathLst>
              <a:path w="7442200" h="5867400">
                <a:moveTo>
                  <a:pt x="50800" y="0"/>
                </a:moveTo>
                <a:lnTo>
                  <a:pt x="7340577" y="0"/>
                </a:lnTo>
                <a:cubicBezTo>
                  <a:pt x="7396702" y="0"/>
                  <a:pt x="7442200" y="45498"/>
                  <a:pt x="7442200" y="101623"/>
                </a:cubicBezTo>
                <a:lnTo>
                  <a:pt x="7442200" y="5765777"/>
                </a:lnTo>
                <a:cubicBezTo>
                  <a:pt x="7442200" y="5821902"/>
                  <a:pt x="7396702" y="5867400"/>
                  <a:pt x="7340577" y="5867400"/>
                </a:cubicBezTo>
                <a:lnTo>
                  <a:pt x="50800" y="5867400"/>
                </a:lnTo>
                <a:cubicBezTo>
                  <a:pt x="22763" y="5867400"/>
                  <a:pt x="0" y="5844637"/>
                  <a:pt x="0" y="581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305800" y="1422400"/>
            <a:ext cx="50800" cy="5867400"/>
          </a:xfrm>
          <a:custGeom>
            <a:avLst/>
            <a:gdLst/>
            <a:ahLst/>
            <a:cxnLst/>
            <a:rect l="l" t="t" r="r" b="b"/>
            <a:pathLst>
              <a:path w="50800" h="5867400">
                <a:moveTo>
                  <a:pt x="50800" y="0"/>
                </a:moveTo>
                <a:lnTo>
                  <a:pt x="50800" y="0"/>
                </a:lnTo>
                <a:lnTo>
                  <a:pt x="50800" y="5867400"/>
                </a:lnTo>
                <a:lnTo>
                  <a:pt x="50800" y="5867400"/>
                </a:lnTo>
                <a:cubicBezTo>
                  <a:pt x="22763" y="5867400"/>
                  <a:pt x="0" y="5844637"/>
                  <a:pt x="0" y="581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61400" y="1727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18600" y="1676400"/>
            <a:ext cx="1917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解决方案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85200" y="2235200"/>
            <a:ext cx="6908800" cy="1244600"/>
          </a:xfrm>
          <a:custGeom>
            <a:avLst/>
            <a:gdLst/>
            <a:ahLst/>
            <a:cxnLst/>
            <a:rect l="l" t="t" r="r" b="b"/>
            <a:pathLst>
              <a:path w="6908800" h="1244600">
                <a:moveTo>
                  <a:pt x="101597" y="0"/>
                </a:moveTo>
                <a:lnTo>
                  <a:pt x="6807203" y="0"/>
                </a:lnTo>
                <a:cubicBezTo>
                  <a:pt x="6863314" y="0"/>
                  <a:pt x="6908800" y="45486"/>
                  <a:pt x="6908800" y="101597"/>
                </a:cubicBezTo>
                <a:lnTo>
                  <a:pt x="6908800" y="1143003"/>
                </a:lnTo>
                <a:cubicBezTo>
                  <a:pt x="6908800" y="1199114"/>
                  <a:pt x="6863314" y="1244600"/>
                  <a:pt x="6807203" y="1244600"/>
                </a:cubicBezTo>
                <a:lnTo>
                  <a:pt x="101597" y="1244600"/>
                </a:lnTo>
                <a:cubicBezTo>
                  <a:pt x="45486" y="1244600"/>
                  <a:pt x="0" y="1199114"/>
                  <a:pt x="0" y="11430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788400" y="2438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737600" y="2438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47200" y="24638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去中心化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88400" y="2946400"/>
            <a:ext cx="660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所有节点运行相同的协议逻辑，无中心协调者，不存在天然的单点瓶颈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85200" y="3683000"/>
            <a:ext cx="6908800" cy="1574800"/>
          </a:xfrm>
          <a:custGeom>
            <a:avLst/>
            <a:gdLst/>
            <a:ahLst/>
            <a:cxnLst/>
            <a:rect l="l" t="t" r="r" b="b"/>
            <a:pathLst>
              <a:path w="6908800" h="1574800">
                <a:moveTo>
                  <a:pt x="101606" y="0"/>
                </a:moveTo>
                <a:lnTo>
                  <a:pt x="6807194" y="0"/>
                </a:lnTo>
                <a:cubicBezTo>
                  <a:pt x="6863309" y="0"/>
                  <a:pt x="6908800" y="45491"/>
                  <a:pt x="6908800" y="101606"/>
                </a:cubicBezTo>
                <a:lnTo>
                  <a:pt x="6908800" y="1473194"/>
                </a:lnTo>
                <a:cubicBezTo>
                  <a:pt x="6908800" y="1529309"/>
                  <a:pt x="6863309" y="1574800"/>
                  <a:pt x="68071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788400" y="3886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37600" y="3886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47200" y="39116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概率性传播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88400" y="4394200"/>
            <a:ext cx="660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每轮仅与少量随机节点通信，逐步扩散信息，通信开销与集群规模近似线性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85200" y="5461000"/>
            <a:ext cx="6908800" cy="1574800"/>
          </a:xfrm>
          <a:custGeom>
            <a:avLst/>
            <a:gdLst/>
            <a:ahLst/>
            <a:cxnLst/>
            <a:rect l="l" t="t" r="r" b="b"/>
            <a:pathLst>
              <a:path w="6908800" h="1574800">
                <a:moveTo>
                  <a:pt x="101606" y="0"/>
                </a:moveTo>
                <a:lnTo>
                  <a:pt x="6807194" y="0"/>
                </a:lnTo>
                <a:cubicBezTo>
                  <a:pt x="6863309" y="0"/>
                  <a:pt x="6908800" y="45491"/>
                  <a:pt x="6908800" y="101606"/>
                </a:cubicBezTo>
                <a:lnTo>
                  <a:pt x="6908800" y="1473194"/>
                </a:lnTo>
                <a:cubicBezTo>
                  <a:pt x="6908800" y="1529309"/>
                  <a:pt x="6863309" y="1574800"/>
                  <a:pt x="68071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788400" y="566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737600" y="5664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47200" y="56896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冗余容错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88400" y="6172200"/>
            <a:ext cx="660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依靠多轮冗余传播对抗消息丢失和节点故障，只要网络整体保持连通，少量节点失败不会阻止状态最终传播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0400" y="7594600"/>
            <a:ext cx="7467600" cy="1524000"/>
          </a:xfrm>
          <a:custGeom>
            <a:avLst/>
            <a:gdLst/>
            <a:ahLst/>
            <a:cxnLst/>
            <a:rect l="l" t="t" r="r" b="b"/>
            <a:pathLst>
              <a:path w="7467600" h="1524000">
                <a:moveTo>
                  <a:pt x="101605" y="0"/>
                </a:moveTo>
                <a:lnTo>
                  <a:pt x="7365995" y="0"/>
                </a:lnTo>
                <a:cubicBezTo>
                  <a:pt x="7422110" y="0"/>
                  <a:pt x="7467600" y="45490"/>
                  <a:pt x="7467600" y="101605"/>
                </a:cubicBezTo>
                <a:lnTo>
                  <a:pt x="7467600" y="1422395"/>
                </a:lnTo>
                <a:cubicBezTo>
                  <a:pt x="7467600" y="1478510"/>
                  <a:pt x="7422110" y="1524000"/>
                  <a:pt x="73659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515350" y="7848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53500" y="7797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最终一致性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83600" y="82550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不追求瞬时强一致，而是在可接受时间窗口内收敛到一致视图，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换取更高的可用性和可扩展性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338667"/>
          </a:xfrm>
          <a:custGeom>
            <a:avLst/>
            <a:gdLst/>
            <a:ahLst/>
            <a:cxnLst/>
            <a:rect l="l" t="t" r="r" b="b"/>
            <a:pathLst>
              <a:path w="84667" h="338667">
                <a:moveTo>
                  <a:pt x="0" y="0"/>
                </a:moveTo>
                <a:lnTo>
                  <a:pt x="84667" y="0"/>
                </a:lnTo>
                <a:lnTo>
                  <a:pt x="84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483658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的设计哲学：四大核心原则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206500"/>
            <a:ext cx="7598833" cy="3669689"/>
          </a:xfrm>
          <a:custGeom>
            <a:avLst/>
            <a:gdLst/>
            <a:ahLst/>
            <a:cxnLst/>
            <a:rect l="l" t="t" r="r" b="b"/>
            <a:pathLst>
              <a:path w="7598833" h="4286250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01597"/>
                </a:lnTo>
                <a:cubicBezTo>
                  <a:pt x="7598833" y="4248349"/>
                  <a:pt x="7560933" y="4286250"/>
                  <a:pt x="7514180" y="4286250"/>
                </a:cubicBezTo>
                <a:lnTo>
                  <a:pt x="84653" y="4286250"/>
                </a:lnTo>
                <a:cubicBezTo>
                  <a:pt x="37901" y="4286250"/>
                  <a:pt x="0" y="4248349"/>
                  <a:pt x="0" y="420159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23333" y="120650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77333" y="148166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8729" y="1629833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3229" y="52917"/>
                </a:moveTo>
                <a:cubicBezTo>
                  <a:pt x="5912" y="52917"/>
                  <a:pt x="0" y="58828"/>
                  <a:pt x="0" y="66146"/>
                </a:cubicBezTo>
                <a:cubicBezTo>
                  <a:pt x="0" y="73463"/>
                  <a:pt x="5912" y="79375"/>
                  <a:pt x="13229" y="79375"/>
                </a:cubicBezTo>
                <a:lnTo>
                  <a:pt x="171979" y="79375"/>
                </a:lnTo>
                <a:cubicBezTo>
                  <a:pt x="179297" y="79375"/>
                  <a:pt x="185208" y="73463"/>
                  <a:pt x="185208" y="66146"/>
                </a:cubicBezTo>
                <a:cubicBezTo>
                  <a:pt x="185208" y="58828"/>
                  <a:pt x="179297" y="52917"/>
                  <a:pt x="171979" y="52917"/>
                </a:cubicBezTo>
                <a:lnTo>
                  <a:pt x="13229" y="52917"/>
                </a:lnTo>
                <a:close/>
                <a:moveTo>
                  <a:pt x="13229" y="132292"/>
                </a:moveTo>
                <a:cubicBezTo>
                  <a:pt x="5912" y="132292"/>
                  <a:pt x="0" y="138203"/>
                  <a:pt x="0" y="145521"/>
                </a:cubicBezTo>
                <a:cubicBezTo>
                  <a:pt x="0" y="152838"/>
                  <a:pt x="5912" y="158750"/>
                  <a:pt x="13229" y="158750"/>
                </a:cubicBezTo>
                <a:lnTo>
                  <a:pt x="171979" y="158750"/>
                </a:lnTo>
                <a:cubicBezTo>
                  <a:pt x="179297" y="158750"/>
                  <a:pt x="185208" y="152838"/>
                  <a:pt x="185208" y="145521"/>
                </a:cubicBezTo>
                <a:cubicBezTo>
                  <a:pt x="185208" y="138203"/>
                  <a:pt x="179297" y="132292"/>
                  <a:pt x="171979" y="132292"/>
                </a:cubicBezTo>
                <a:lnTo>
                  <a:pt x="13229" y="13229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12333" y="1566333"/>
            <a:ext cx="941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去中心化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7333" y="2159000"/>
            <a:ext cx="7186083" cy="62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所有节点地位平等，运行相同的协议逻辑，不存在中心协调者。</a:t>
            </a:r>
            <a:r>
              <a:rPr lang="en-US" sz="15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这一设计彻底消除了单点瓶颈和单点故障风险，使系统具备真正的横向扩展能力。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7333" y="3052978"/>
            <a:ext cx="7090833" cy="1608667"/>
          </a:xfrm>
          <a:custGeom>
            <a:avLst/>
            <a:gdLst/>
            <a:ahLst/>
            <a:cxnLst/>
            <a:rect l="l" t="t" r="r" b="b"/>
            <a:pathLst>
              <a:path w="7090833" h="1608667">
                <a:moveTo>
                  <a:pt x="42340" y="0"/>
                </a:moveTo>
                <a:lnTo>
                  <a:pt x="7048493" y="0"/>
                </a:lnTo>
                <a:cubicBezTo>
                  <a:pt x="7071877" y="0"/>
                  <a:pt x="7090833" y="18956"/>
                  <a:pt x="7090833" y="42340"/>
                </a:cubicBezTo>
                <a:lnTo>
                  <a:pt x="7090833" y="1566327"/>
                </a:lnTo>
                <a:cubicBezTo>
                  <a:pt x="7090833" y="1589710"/>
                  <a:pt x="7071877" y="1608667"/>
                  <a:pt x="7048493" y="1608667"/>
                </a:cubicBezTo>
                <a:lnTo>
                  <a:pt x="42340" y="1608667"/>
                </a:lnTo>
                <a:cubicBezTo>
                  <a:pt x="18956" y="1608667"/>
                  <a:pt x="0" y="1589710"/>
                  <a:pt x="0" y="1566327"/>
                </a:cubicBezTo>
                <a:lnTo>
                  <a:pt x="0" y="42340"/>
                </a:lnTo>
                <a:cubicBezTo>
                  <a:pt x="0" y="18972"/>
                  <a:pt x="18972" y="0"/>
                  <a:pt x="4234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6667" y="3222311"/>
            <a:ext cx="6836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6667" y="356097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0667" y="3560978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无单点故障，系统更可靠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6667" y="3899644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0667" y="3899644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支持真正的横向扩展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667" y="423831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667" y="4238311"/>
            <a:ext cx="201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节点动态加入/离开更灵活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33833" y="1206500"/>
            <a:ext cx="7598833" cy="3669689"/>
          </a:xfrm>
          <a:custGeom>
            <a:avLst/>
            <a:gdLst/>
            <a:ahLst/>
            <a:cxnLst/>
            <a:rect l="l" t="t" r="r" b="b"/>
            <a:pathLst>
              <a:path w="7598833" h="4286250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01597"/>
                </a:lnTo>
                <a:cubicBezTo>
                  <a:pt x="7598833" y="4248349"/>
                  <a:pt x="7560933" y="4286250"/>
                  <a:pt x="7514180" y="4286250"/>
                </a:cubicBezTo>
                <a:lnTo>
                  <a:pt x="84653" y="4286250"/>
                </a:lnTo>
                <a:cubicBezTo>
                  <a:pt x="37901" y="4286250"/>
                  <a:pt x="0" y="4248349"/>
                  <a:pt x="0" y="420159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33833" y="120650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87833" y="148166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36000" y="162983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26458"/>
                </a:moveTo>
                <a:cubicBezTo>
                  <a:pt x="26458" y="19141"/>
                  <a:pt x="20547" y="13229"/>
                  <a:pt x="13229" y="13229"/>
                </a:cubicBezTo>
                <a:cubicBezTo>
                  <a:pt x="5912" y="13229"/>
                  <a:pt x="0" y="19141"/>
                  <a:pt x="0" y="26458"/>
                </a:cubicBezTo>
                <a:lnTo>
                  <a:pt x="0" y="165365"/>
                </a:lnTo>
                <a:cubicBezTo>
                  <a:pt x="0" y="183637"/>
                  <a:pt x="14800" y="198438"/>
                  <a:pt x="33073" y="198438"/>
                </a:cubicBezTo>
                <a:lnTo>
                  <a:pt x="198438" y="198438"/>
                </a:lnTo>
                <a:cubicBezTo>
                  <a:pt x="205755" y="198438"/>
                  <a:pt x="211667" y="192526"/>
                  <a:pt x="211667" y="185208"/>
                </a:cubicBezTo>
                <a:cubicBezTo>
                  <a:pt x="211667" y="177891"/>
                  <a:pt x="205755" y="171979"/>
                  <a:pt x="198438" y="171979"/>
                </a:cubicBezTo>
                <a:lnTo>
                  <a:pt x="33073" y="171979"/>
                </a:lnTo>
                <a:cubicBezTo>
                  <a:pt x="29435" y="171979"/>
                  <a:pt x="26458" y="169003"/>
                  <a:pt x="26458" y="165365"/>
                </a:cubicBezTo>
                <a:lnTo>
                  <a:pt x="26458" y="26458"/>
                </a:lnTo>
                <a:close/>
                <a:moveTo>
                  <a:pt x="194551" y="62260"/>
                </a:moveTo>
                <a:cubicBezTo>
                  <a:pt x="199719" y="57092"/>
                  <a:pt x="199719" y="48700"/>
                  <a:pt x="194551" y="43532"/>
                </a:cubicBezTo>
                <a:cubicBezTo>
                  <a:pt x="189384" y="38365"/>
                  <a:pt x="180992" y="38365"/>
                  <a:pt x="175824" y="43532"/>
                </a:cubicBezTo>
                <a:lnTo>
                  <a:pt x="132292" y="87106"/>
                </a:lnTo>
                <a:lnTo>
                  <a:pt x="108562" y="63417"/>
                </a:lnTo>
                <a:cubicBezTo>
                  <a:pt x="103394" y="58250"/>
                  <a:pt x="95002" y="58250"/>
                  <a:pt x="89834" y="63417"/>
                </a:cubicBezTo>
                <a:lnTo>
                  <a:pt x="50147" y="103105"/>
                </a:lnTo>
                <a:cubicBezTo>
                  <a:pt x="44979" y="108272"/>
                  <a:pt x="44979" y="116665"/>
                  <a:pt x="50147" y="121832"/>
                </a:cubicBezTo>
                <a:cubicBezTo>
                  <a:pt x="55314" y="127000"/>
                  <a:pt x="63707" y="127000"/>
                  <a:pt x="68874" y="121832"/>
                </a:cubicBezTo>
                <a:lnTo>
                  <a:pt x="99219" y="91488"/>
                </a:lnTo>
                <a:lnTo>
                  <a:pt x="122949" y="115218"/>
                </a:lnTo>
                <a:cubicBezTo>
                  <a:pt x="128116" y="120385"/>
                  <a:pt x="136508" y="120385"/>
                  <a:pt x="141676" y="115218"/>
                </a:cubicBezTo>
                <a:lnTo>
                  <a:pt x="194593" y="62301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22833" y="1566333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概率性传播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87833" y="2159000"/>
            <a:ext cx="7186083" cy="62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每轮仅与少量随机节点通信，逐步扩散信息，而非一次性广播给所有节点。</a:t>
            </a:r>
            <a:r>
              <a:rPr lang="en-US" sz="15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这种随机化策略使通信开销与集群规模近似线性关系，在大规模集群中依然保持高效。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87833" y="3052978"/>
            <a:ext cx="7090833" cy="1608667"/>
          </a:xfrm>
          <a:custGeom>
            <a:avLst/>
            <a:gdLst/>
            <a:ahLst/>
            <a:cxnLst/>
            <a:rect l="l" t="t" r="r" b="b"/>
            <a:pathLst>
              <a:path w="7090833" h="1608667">
                <a:moveTo>
                  <a:pt x="42340" y="0"/>
                </a:moveTo>
                <a:lnTo>
                  <a:pt x="7048493" y="0"/>
                </a:lnTo>
                <a:cubicBezTo>
                  <a:pt x="7071877" y="0"/>
                  <a:pt x="7090833" y="18956"/>
                  <a:pt x="7090833" y="42340"/>
                </a:cubicBezTo>
                <a:lnTo>
                  <a:pt x="7090833" y="1566327"/>
                </a:lnTo>
                <a:cubicBezTo>
                  <a:pt x="7090833" y="1589710"/>
                  <a:pt x="7071877" y="1608667"/>
                  <a:pt x="7048493" y="1608667"/>
                </a:cubicBezTo>
                <a:lnTo>
                  <a:pt x="42340" y="1608667"/>
                </a:lnTo>
                <a:cubicBezTo>
                  <a:pt x="18956" y="1608667"/>
                  <a:pt x="0" y="1589710"/>
                  <a:pt x="0" y="1566327"/>
                </a:cubicBezTo>
                <a:lnTo>
                  <a:pt x="0" y="42340"/>
                </a:lnTo>
                <a:cubicBezTo>
                  <a:pt x="0" y="18972"/>
                  <a:pt x="18972" y="0"/>
                  <a:pt x="4234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57167" y="3222311"/>
            <a:ext cx="6836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传播特性：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57167" y="356097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11167" y="3560978"/>
            <a:ext cx="179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收敛时间：O(log N) 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57167" y="3899644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11167" y="3899644"/>
            <a:ext cx="174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消息总量：O(N log N)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57167" y="423831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11167" y="4238311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每轮通信量与规模无关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333" y="5134414"/>
            <a:ext cx="7598833" cy="3669689"/>
          </a:xfrm>
          <a:custGeom>
            <a:avLst/>
            <a:gdLst/>
            <a:ahLst/>
            <a:cxnLst/>
            <a:rect l="l" t="t" r="r" b="b"/>
            <a:pathLst>
              <a:path w="7598833" h="459316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508515"/>
                </a:lnTo>
                <a:cubicBezTo>
                  <a:pt x="7598833" y="4555267"/>
                  <a:pt x="7560933" y="4593167"/>
                  <a:pt x="7514181" y="4593167"/>
                </a:cubicBezTo>
                <a:lnTo>
                  <a:pt x="84652" y="4593167"/>
                </a:lnTo>
                <a:cubicBezTo>
                  <a:pt x="37900" y="4593167"/>
                  <a:pt x="0" y="4555267"/>
                  <a:pt x="0" y="4508515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23333" y="5134414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77333" y="54095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5500" y="555774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07735" y="0"/>
                  <a:pt x="109637" y="413"/>
                  <a:pt x="111373" y="1199"/>
                </a:cubicBezTo>
                <a:lnTo>
                  <a:pt x="189260" y="34230"/>
                </a:lnTo>
                <a:cubicBezTo>
                  <a:pt x="198355" y="38075"/>
                  <a:pt x="205135" y="47046"/>
                  <a:pt x="205093" y="57878"/>
                </a:cubicBezTo>
                <a:cubicBezTo>
                  <a:pt x="204887" y="98888"/>
                  <a:pt x="188020" y="173922"/>
                  <a:pt x="116789" y="208029"/>
                </a:cubicBezTo>
                <a:cubicBezTo>
                  <a:pt x="109885" y="211336"/>
                  <a:pt x="101865" y="211336"/>
                  <a:pt x="94961" y="208029"/>
                </a:cubicBezTo>
                <a:cubicBezTo>
                  <a:pt x="23688" y="173922"/>
                  <a:pt x="6863" y="98888"/>
                  <a:pt x="6656" y="57878"/>
                </a:cubicBezTo>
                <a:cubicBezTo>
                  <a:pt x="6615" y="47046"/>
                  <a:pt x="13395" y="38075"/>
                  <a:pt x="22490" y="34230"/>
                </a:cubicBezTo>
                <a:lnTo>
                  <a:pt x="100335" y="1199"/>
                </a:lnTo>
                <a:cubicBezTo>
                  <a:pt x="102071" y="413"/>
                  <a:pt x="103932" y="0"/>
                  <a:pt x="105833" y="0"/>
                </a:cubicBezTo>
                <a:close/>
                <a:moveTo>
                  <a:pt x="105833" y="27616"/>
                </a:moveTo>
                <a:lnTo>
                  <a:pt x="105833" y="183927"/>
                </a:lnTo>
                <a:cubicBezTo>
                  <a:pt x="162884" y="156311"/>
                  <a:pt x="178222" y="95126"/>
                  <a:pt x="178594" y="58498"/>
                </a:cubicBezTo>
                <a:lnTo>
                  <a:pt x="105833" y="27657"/>
                </a:lnTo>
                <a:lnTo>
                  <a:pt x="105833" y="2765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312333" y="5494247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冗余与容错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7333" y="6086914"/>
            <a:ext cx="7186083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依靠多轮冗余传播对抗消息丢失和节点故障。</a:t>
            </a:r>
            <a:r>
              <a:rPr lang="en-US" sz="15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协议设计假设任何单次通信都可能失败，不依赖单次消息的可靠性。只要网络整体保持连通，少量节点失败不会阻止状态最终传播到全网。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7333" y="7121723"/>
            <a:ext cx="7090833" cy="1608667"/>
          </a:xfrm>
          <a:custGeom>
            <a:avLst/>
            <a:gdLst/>
            <a:ahLst/>
            <a:cxnLst/>
            <a:rect l="l" t="t" r="r" b="b"/>
            <a:pathLst>
              <a:path w="7090833" h="1608667">
                <a:moveTo>
                  <a:pt x="42340" y="0"/>
                </a:moveTo>
                <a:lnTo>
                  <a:pt x="7048493" y="0"/>
                </a:lnTo>
                <a:cubicBezTo>
                  <a:pt x="7071877" y="0"/>
                  <a:pt x="7090833" y="18956"/>
                  <a:pt x="7090833" y="42340"/>
                </a:cubicBezTo>
                <a:lnTo>
                  <a:pt x="7090833" y="1566327"/>
                </a:lnTo>
                <a:cubicBezTo>
                  <a:pt x="7090833" y="1589710"/>
                  <a:pt x="7071877" y="1608667"/>
                  <a:pt x="7048493" y="1608667"/>
                </a:cubicBezTo>
                <a:lnTo>
                  <a:pt x="42340" y="1608667"/>
                </a:lnTo>
                <a:cubicBezTo>
                  <a:pt x="18956" y="1608667"/>
                  <a:pt x="0" y="1589710"/>
                  <a:pt x="0" y="1566327"/>
                </a:cubicBezTo>
                <a:lnTo>
                  <a:pt x="0" y="42340"/>
                </a:lnTo>
                <a:cubicBezTo>
                  <a:pt x="0" y="18972"/>
                  <a:pt x="18972" y="0"/>
                  <a:pt x="4234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6667" y="7291057"/>
            <a:ext cx="6836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容错机制：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6667" y="7629723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0667" y="7629723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多轮传播抵消消息丢失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6667" y="796839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0667" y="796839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幂等合并保证状态一致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6667" y="8307057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0667" y="8307057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网络分区恢复后自动收敛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33833" y="5134414"/>
            <a:ext cx="7598833" cy="3750721"/>
          </a:xfrm>
          <a:custGeom>
            <a:avLst/>
            <a:gdLst/>
            <a:ahLst/>
            <a:cxnLst/>
            <a:rect l="l" t="t" r="r" b="b"/>
            <a:pathLst>
              <a:path w="7598833" h="459316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508515"/>
                </a:lnTo>
                <a:cubicBezTo>
                  <a:pt x="7598833" y="4555267"/>
                  <a:pt x="7560933" y="4593167"/>
                  <a:pt x="7514181" y="4593167"/>
                </a:cubicBezTo>
                <a:lnTo>
                  <a:pt x="84652" y="4593167"/>
                </a:lnTo>
                <a:cubicBezTo>
                  <a:pt x="37900" y="4593167"/>
                  <a:pt x="0" y="4555267"/>
                  <a:pt x="0" y="4508515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233833" y="5134414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487833" y="54095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636000" y="555774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98479" y="79375"/>
                </a:moveTo>
                <a:lnTo>
                  <a:pt x="201745" y="79375"/>
                </a:lnTo>
                <a:cubicBezTo>
                  <a:pt x="207243" y="79375"/>
                  <a:pt x="211667" y="74951"/>
                  <a:pt x="211667" y="69453"/>
                </a:cubicBezTo>
                <a:lnTo>
                  <a:pt x="211667" y="9922"/>
                </a:lnTo>
                <a:cubicBezTo>
                  <a:pt x="211667" y="5912"/>
                  <a:pt x="209269" y="2274"/>
                  <a:pt x="205548" y="744"/>
                </a:cubicBezTo>
                <a:cubicBezTo>
                  <a:pt x="201827" y="-785"/>
                  <a:pt x="197569" y="83"/>
                  <a:pt x="194717" y="2894"/>
                </a:cubicBezTo>
                <a:lnTo>
                  <a:pt x="173343" y="24309"/>
                </a:lnTo>
                <a:cubicBezTo>
                  <a:pt x="155029" y="9136"/>
                  <a:pt x="131465" y="0"/>
                  <a:pt x="105833" y="0"/>
                </a:cubicBezTo>
                <a:cubicBezTo>
                  <a:pt x="52503" y="0"/>
                  <a:pt x="8392" y="39439"/>
                  <a:pt x="1075" y="90744"/>
                </a:cubicBezTo>
                <a:cubicBezTo>
                  <a:pt x="41" y="97979"/>
                  <a:pt x="5044" y="104676"/>
                  <a:pt x="12278" y="105709"/>
                </a:cubicBezTo>
                <a:cubicBezTo>
                  <a:pt x="19513" y="106743"/>
                  <a:pt x="26210" y="101699"/>
                  <a:pt x="27244" y="94506"/>
                </a:cubicBezTo>
                <a:cubicBezTo>
                  <a:pt x="32742" y="56017"/>
                  <a:pt x="65856" y="26458"/>
                  <a:pt x="105833" y="26458"/>
                </a:cubicBezTo>
                <a:cubicBezTo>
                  <a:pt x="124189" y="26458"/>
                  <a:pt x="141056" y="32660"/>
                  <a:pt x="154492" y="43119"/>
                </a:cubicBezTo>
                <a:lnTo>
                  <a:pt x="135186" y="62425"/>
                </a:lnTo>
                <a:cubicBezTo>
                  <a:pt x="132333" y="65278"/>
                  <a:pt x="131506" y="69536"/>
                  <a:pt x="133036" y="73257"/>
                </a:cubicBezTo>
                <a:cubicBezTo>
                  <a:pt x="134565" y="76977"/>
                  <a:pt x="138203" y="79375"/>
                  <a:pt x="142214" y="79375"/>
                </a:cubicBezTo>
                <a:lnTo>
                  <a:pt x="198479" y="79375"/>
                </a:lnTo>
                <a:close/>
                <a:moveTo>
                  <a:pt x="210633" y="120923"/>
                </a:moveTo>
                <a:cubicBezTo>
                  <a:pt x="211667" y="113688"/>
                  <a:pt x="206623" y="106991"/>
                  <a:pt x="199430" y="105957"/>
                </a:cubicBezTo>
                <a:cubicBezTo>
                  <a:pt x="192236" y="104924"/>
                  <a:pt x="185498" y="109967"/>
                  <a:pt x="184464" y="117161"/>
                </a:cubicBezTo>
                <a:cubicBezTo>
                  <a:pt x="178966" y="155608"/>
                  <a:pt x="145852" y="185167"/>
                  <a:pt x="105875" y="185167"/>
                </a:cubicBezTo>
                <a:cubicBezTo>
                  <a:pt x="87519" y="185167"/>
                  <a:pt x="70652" y="178966"/>
                  <a:pt x="57216" y="168507"/>
                </a:cubicBezTo>
                <a:lnTo>
                  <a:pt x="76481" y="149242"/>
                </a:lnTo>
                <a:cubicBezTo>
                  <a:pt x="79334" y="146389"/>
                  <a:pt x="80160" y="142131"/>
                  <a:pt x="78631" y="138410"/>
                </a:cubicBezTo>
                <a:cubicBezTo>
                  <a:pt x="77101" y="134689"/>
                  <a:pt x="73463" y="132292"/>
                  <a:pt x="69453" y="132292"/>
                </a:cubicBezTo>
                <a:lnTo>
                  <a:pt x="9922" y="132292"/>
                </a:lnTo>
                <a:cubicBezTo>
                  <a:pt x="4424" y="132292"/>
                  <a:pt x="0" y="136715"/>
                  <a:pt x="0" y="142214"/>
                </a:cubicBezTo>
                <a:lnTo>
                  <a:pt x="0" y="201745"/>
                </a:lnTo>
                <a:cubicBezTo>
                  <a:pt x="0" y="205755"/>
                  <a:pt x="2398" y="209393"/>
                  <a:pt x="6118" y="210923"/>
                </a:cubicBezTo>
                <a:cubicBezTo>
                  <a:pt x="9839" y="212452"/>
                  <a:pt x="14097" y="211584"/>
                  <a:pt x="16950" y="208773"/>
                </a:cubicBezTo>
                <a:lnTo>
                  <a:pt x="38365" y="187358"/>
                </a:lnTo>
                <a:cubicBezTo>
                  <a:pt x="56637" y="202530"/>
                  <a:pt x="80202" y="211667"/>
                  <a:pt x="105833" y="211667"/>
                </a:cubicBezTo>
                <a:cubicBezTo>
                  <a:pt x="159163" y="211667"/>
                  <a:pt x="203274" y="172227"/>
                  <a:pt x="210592" y="120923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122833" y="5494247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最终一致性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87833" y="6086914"/>
            <a:ext cx="7186083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不追求瞬时强一致，而是在可接受时间窗口内收敛到一致视图。</a:t>
            </a:r>
            <a:r>
              <a:rPr lang="en-US" sz="15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这种设计理念在 CAP 定理的权衡中，选择牺牲部分一致性来换取更高的可用性和可扩展性，非常适合大规模分布式系统。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87833" y="7121723"/>
            <a:ext cx="7090833" cy="1608667"/>
          </a:xfrm>
          <a:custGeom>
            <a:avLst/>
            <a:gdLst/>
            <a:ahLst/>
            <a:cxnLst/>
            <a:rect l="l" t="t" r="r" b="b"/>
            <a:pathLst>
              <a:path w="7090833" h="1608667">
                <a:moveTo>
                  <a:pt x="42340" y="0"/>
                </a:moveTo>
                <a:lnTo>
                  <a:pt x="7048493" y="0"/>
                </a:lnTo>
                <a:cubicBezTo>
                  <a:pt x="7071877" y="0"/>
                  <a:pt x="7090833" y="18956"/>
                  <a:pt x="7090833" y="42340"/>
                </a:cubicBezTo>
                <a:lnTo>
                  <a:pt x="7090833" y="1566327"/>
                </a:lnTo>
                <a:cubicBezTo>
                  <a:pt x="7090833" y="1589710"/>
                  <a:pt x="7071877" y="1608667"/>
                  <a:pt x="7048493" y="1608667"/>
                </a:cubicBezTo>
                <a:lnTo>
                  <a:pt x="42340" y="1608667"/>
                </a:lnTo>
                <a:cubicBezTo>
                  <a:pt x="18956" y="1608667"/>
                  <a:pt x="0" y="1589710"/>
                  <a:pt x="0" y="1566327"/>
                </a:cubicBezTo>
                <a:lnTo>
                  <a:pt x="0" y="42340"/>
                </a:lnTo>
                <a:cubicBezTo>
                  <a:pt x="0" y="18972"/>
                  <a:pt x="18972" y="0"/>
                  <a:pt x="4234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657167" y="7291057"/>
            <a:ext cx="6836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一致性特征：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57167" y="7629723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11167" y="7629723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无新更新时最终收敛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57167" y="796839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911167" y="7968390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短时间窗口内允许不一致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57167" y="8307057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911167" y="8307057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网络分区时保持可用性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552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现代分布式系统中的 Gossip 应用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422400"/>
            <a:ext cx="4889500" cy="5359400"/>
          </a:xfrm>
          <a:custGeom>
            <a:avLst/>
            <a:gdLst/>
            <a:ahLst/>
            <a:cxnLst/>
            <a:rect l="l" t="t" r="r" b="b"/>
            <a:pathLst>
              <a:path w="4889500" h="5359400">
                <a:moveTo>
                  <a:pt x="50800" y="0"/>
                </a:moveTo>
                <a:lnTo>
                  <a:pt x="4787896" y="0"/>
                </a:lnTo>
                <a:cubicBezTo>
                  <a:pt x="4844010" y="0"/>
                  <a:pt x="4889500" y="45490"/>
                  <a:pt x="4889500" y="101604"/>
                </a:cubicBezTo>
                <a:lnTo>
                  <a:pt x="4889500" y="5257796"/>
                </a:lnTo>
                <a:cubicBezTo>
                  <a:pt x="4889500" y="5313910"/>
                  <a:pt x="4844010" y="5359400"/>
                  <a:pt x="4787896" y="5359400"/>
                </a:cubicBezTo>
                <a:lnTo>
                  <a:pt x="50800" y="5359400"/>
                </a:lnTo>
                <a:cubicBezTo>
                  <a:pt x="22744" y="5359400"/>
                  <a:pt x="0" y="5336656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422400"/>
            <a:ext cx="50800" cy="5359400"/>
          </a:xfrm>
          <a:custGeom>
            <a:avLst/>
            <a:gdLst/>
            <a:ahLst/>
            <a:cxnLst/>
            <a:rect l="l" t="t" r="r" b="b"/>
            <a:pathLst>
              <a:path w="50800" h="5359400">
                <a:moveTo>
                  <a:pt x="50800" y="0"/>
                </a:moveTo>
                <a:lnTo>
                  <a:pt x="50800" y="0"/>
                </a:lnTo>
                <a:lnTo>
                  <a:pt x="50800" y="5359400"/>
                </a:lnTo>
                <a:lnTo>
                  <a:pt x="50800" y="5359400"/>
                </a:lnTo>
                <a:cubicBezTo>
                  <a:pt x="22763" y="5359400"/>
                  <a:pt x="0" y="5336637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2800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27100" y="1828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07394" y="120848"/>
                </a:moveTo>
                <a:cubicBezTo>
                  <a:pt x="106978" y="134303"/>
                  <a:pt x="113705" y="140315"/>
                  <a:pt x="113883" y="144066"/>
                </a:cubicBezTo>
                <a:cubicBezTo>
                  <a:pt x="113824" y="144840"/>
                  <a:pt x="113526" y="145554"/>
                  <a:pt x="113109" y="146209"/>
                </a:cubicBezTo>
                <a:cubicBezTo>
                  <a:pt x="112693" y="146864"/>
                  <a:pt x="112097" y="147399"/>
                  <a:pt x="111442" y="147757"/>
                </a:cubicBezTo>
                <a:lnTo>
                  <a:pt x="103822" y="153114"/>
                </a:lnTo>
                <a:cubicBezTo>
                  <a:pt x="102810" y="153829"/>
                  <a:pt x="101679" y="154186"/>
                  <a:pt x="100489" y="154245"/>
                </a:cubicBezTo>
                <a:cubicBezTo>
                  <a:pt x="100251" y="154245"/>
                  <a:pt x="95607" y="155317"/>
                  <a:pt x="88285" y="139005"/>
                </a:cubicBezTo>
                <a:cubicBezTo>
                  <a:pt x="83820" y="144601"/>
                  <a:pt x="78165" y="149066"/>
                  <a:pt x="71676" y="152102"/>
                </a:cubicBezTo>
                <a:cubicBezTo>
                  <a:pt x="65187" y="155138"/>
                  <a:pt x="58162" y="156686"/>
                  <a:pt x="51018" y="156567"/>
                </a:cubicBezTo>
                <a:cubicBezTo>
                  <a:pt x="41315" y="157103"/>
                  <a:pt x="15061" y="151090"/>
                  <a:pt x="16431" y="123111"/>
                </a:cubicBezTo>
                <a:cubicBezTo>
                  <a:pt x="15478" y="100310"/>
                  <a:pt x="36731" y="86142"/>
                  <a:pt x="58638" y="87392"/>
                </a:cubicBezTo>
                <a:cubicBezTo>
                  <a:pt x="62865" y="87392"/>
                  <a:pt x="71497" y="87630"/>
                  <a:pt x="86618" y="91142"/>
                </a:cubicBezTo>
                <a:lnTo>
                  <a:pt x="86618" y="81855"/>
                </a:lnTo>
                <a:cubicBezTo>
                  <a:pt x="88225" y="66080"/>
                  <a:pt x="77867" y="53876"/>
                  <a:pt x="59948" y="55721"/>
                </a:cubicBezTo>
                <a:cubicBezTo>
                  <a:pt x="58519" y="55721"/>
                  <a:pt x="48399" y="55424"/>
                  <a:pt x="32683" y="61734"/>
                </a:cubicBezTo>
                <a:cubicBezTo>
                  <a:pt x="28277" y="63758"/>
                  <a:pt x="27742" y="63401"/>
                  <a:pt x="26253" y="63401"/>
                </a:cubicBezTo>
                <a:cubicBezTo>
                  <a:pt x="21848" y="63401"/>
                  <a:pt x="23634" y="50602"/>
                  <a:pt x="24527" y="48994"/>
                </a:cubicBezTo>
                <a:cubicBezTo>
                  <a:pt x="27622" y="45184"/>
                  <a:pt x="45899" y="38040"/>
                  <a:pt x="63758" y="38160"/>
                </a:cubicBezTo>
                <a:cubicBezTo>
                  <a:pt x="75724" y="37088"/>
                  <a:pt x="87630" y="40779"/>
                  <a:pt x="96917" y="48458"/>
                </a:cubicBezTo>
                <a:cubicBezTo>
                  <a:pt x="100667" y="52685"/>
                  <a:pt x="103584" y="57626"/>
                  <a:pt x="105370" y="62984"/>
                </a:cubicBezTo>
                <a:cubicBezTo>
                  <a:pt x="107156" y="68342"/>
                  <a:pt x="107871" y="73997"/>
                  <a:pt x="107454" y="79653"/>
                </a:cubicBezTo>
                <a:lnTo>
                  <a:pt x="107454" y="120908"/>
                </a:lnTo>
                <a:close/>
                <a:moveTo>
                  <a:pt x="55959" y="140137"/>
                </a:moveTo>
                <a:cubicBezTo>
                  <a:pt x="75248" y="139839"/>
                  <a:pt x="83463" y="128230"/>
                  <a:pt x="85308" y="121980"/>
                </a:cubicBezTo>
                <a:cubicBezTo>
                  <a:pt x="86797" y="115967"/>
                  <a:pt x="86558" y="112216"/>
                  <a:pt x="86558" y="105668"/>
                </a:cubicBezTo>
                <a:cubicBezTo>
                  <a:pt x="80784" y="104299"/>
                  <a:pt x="72509" y="102751"/>
                  <a:pt x="62984" y="102751"/>
                </a:cubicBezTo>
                <a:cubicBezTo>
                  <a:pt x="53935" y="102096"/>
                  <a:pt x="37505" y="106085"/>
                  <a:pt x="38160" y="121980"/>
                </a:cubicBezTo>
                <a:cubicBezTo>
                  <a:pt x="37445" y="131981"/>
                  <a:pt x="44768" y="140672"/>
                  <a:pt x="56019" y="140137"/>
                </a:cubicBezTo>
                <a:close/>
                <a:moveTo>
                  <a:pt x="157698" y="153888"/>
                </a:moveTo>
                <a:cubicBezTo>
                  <a:pt x="152995" y="154305"/>
                  <a:pt x="150852" y="150971"/>
                  <a:pt x="150138" y="147697"/>
                </a:cubicBezTo>
                <a:lnTo>
                  <a:pt x="120491" y="49649"/>
                </a:lnTo>
                <a:cubicBezTo>
                  <a:pt x="119896" y="47982"/>
                  <a:pt x="119539" y="46315"/>
                  <a:pt x="119360" y="44529"/>
                </a:cubicBezTo>
                <a:cubicBezTo>
                  <a:pt x="119241" y="43815"/>
                  <a:pt x="119420" y="43101"/>
                  <a:pt x="119836" y="42505"/>
                </a:cubicBezTo>
                <a:cubicBezTo>
                  <a:pt x="120253" y="41910"/>
                  <a:pt x="120908" y="41553"/>
                  <a:pt x="121622" y="41434"/>
                </a:cubicBezTo>
                <a:cubicBezTo>
                  <a:pt x="121741" y="41434"/>
                  <a:pt x="120372" y="41434"/>
                  <a:pt x="134838" y="41434"/>
                </a:cubicBezTo>
                <a:cubicBezTo>
                  <a:pt x="140077" y="40898"/>
                  <a:pt x="141744" y="45006"/>
                  <a:pt x="142339" y="47625"/>
                </a:cubicBezTo>
                <a:lnTo>
                  <a:pt x="163651" y="131445"/>
                </a:lnTo>
                <a:lnTo>
                  <a:pt x="183416" y="47625"/>
                </a:lnTo>
                <a:cubicBezTo>
                  <a:pt x="183713" y="45720"/>
                  <a:pt x="185142" y="41017"/>
                  <a:pt x="191036" y="41553"/>
                </a:cubicBezTo>
                <a:lnTo>
                  <a:pt x="201275" y="41553"/>
                </a:lnTo>
                <a:cubicBezTo>
                  <a:pt x="202585" y="41434"/>
                  <a:pt x="207883" y="41255"/>
                  <a:pt x="208836" y="47744"/>
                </a:cubicBezTo>
                <a:lnTo>
                  <a:pt x="228660" y="132576"/>
                </a:lnTo>
                <a:lnTo>
                  <a:pt x="250627" y="47685"/>
                </a:lnTo>
                <a:cubicBezTo>
                  <a:pt x="250924" y="46375"/>
                  <a:pt x="252234" y="40898"/>
                  <a:pt x="258187" y="41493"/>
                </a:cubicBezTo>
                <a:lnTo>
                  <a:pt x="269915" y="41493"/>
                </a:lnTo>
                <a:cubicBezTo>
                  <a:pt x="270450" y="41434"/>
                  <a:pt x="273606" y="41017"/>
                  <a:pt x="273070" y="46613"/>
                </a:cubicBezTo>
                <a:cubicBezTo>
                  <a:pt x="272832" y="47685"/>
                  <a:pt x="275094" y="40243"/>
                  <a:pt x="241637" y="147757"/>
                </a:cubicBezTo>
                <a:cubicBezTo>
                  <a:pt x="240983" y="151031"/>
                  <a:pt x="238780" y="154365"/>
                  <a:pt x="234077" y="153948"/>
                </a:cubicBezTo>
                <a:lnTo>
                  <a:pt x="222945" y="153948"/>
                </a:lnTo>
                <a:cubicBezTo>
                  <a:pt x="216456" y="154662"/>
                  <a:pt x="215503" y="148173"/>
                  <a:pt x="215384" y="147578"/>
                </a:cubicBezTo>
                <a:lnTo>
                  <a:pt x="195620" y="65961"/>
                </a:lnTo>
                <a:lnTo>
                  <a:pt x="176093" y="147518"/>
                </a:lnTo>
                <a:cubicBezTo>
                  <a:pt x="175974" y="148173"/>
                  <a:pt x="175081" y="154603"/>
                  <a:pt x="168533" y="153888"/>
                </a:cubicBezTo>
                <a:lnTo>
                  <a:pt x="157639" y="153888"/>
                </a:lnTo>
                <a:lnTo>
                  <a:pt x="157639" y="153888"/>
                </a:lnTo>
                <a:close/>
                <a:moveTo>
                  <a:pt x="320516" y="157222"/>
                </a:moveTo>
                <a:cubicBezTo>
                  <a:pt x="317004" y="157222"/>
                  <a:pt x="300335" y="157043"/>
                  <a:pt x="286345" y="149900"/>
                </a:cubicBezTo>
                <a:cubicBezTo>
                  <a:pt x="284976" y="149304"/>
                  <a:pt x="283785" y="148352"/>
                  <a:pt x="282952" y="147042"/>
                </a:cubicBezTo>
                <a:cubicBezTo>
                  <a:pt x="282119" y="145733"/>
                  <a:pt x="281702" y="144304"/>
                  <a:pt x="281702" y="142815"/>
                </a:cubicBezTo>
                <a:lnTo>
                  <a:pt x="281702" y="136446"/>
                </a:lnTo>
                <a:cubicBezTo>
                  <a:pt x="281702" y="131385"/>
                  <a:pt x="285393" y="132338"/>
                  <a:pt x="286941" y="132933"/>
                </a:cubicBezTo>
                <a:cubicBezTo>
                  <a:pt x="292894" y="135374"/>
                  <a:pt x="296763" y="137160"/>
                  <a:pt x="304086" y="138648"/>
                </a:cubicBezTo>
                <a:cubicBezTo>
                  <a:pt x="325934" y="143113"/>
                  <a:pt x="335518" y="137279"/>
                  <a:pt x="337840" y="135969"/>
                </a:cubicBezTo>
                <a:cubicBezTo>
                  <a:pt x="345698" y="131326"/>
                  <a:pt x="346293" y="120670"/>
                  <a:pt x="340995" y="115193"/>
                </a:cubicBezTo>
                <a:cubicBezTo>
                  <a:pt x="334744" y="109954"/>
                  <a:pt x="331768" y="109776"/>
                  <a:pt x="309384" y="102691"/>
                </a:cubicBezTo>
                <a:cubicBezTo>
                  <a:pt x="306645" y="101918"/>
                  <a:pt x="283369" y="94595"/>
                  <a:pt x="283309" y="71497"/>
                </a:cubicBezTo>
                <a:cubicBezTo>
                  <a:pt x="282952" y="54709"/>
                  <a:pt x="298192" y="38040"/>
                  <a:pt x="324683" y="38160"/>
                </a:cubicBezTo>
                <a:cubicBezTo>
                  <a:pt x="332244" y="38160"/>
                  <a:pt x="352306" y="40600"/>
                  <a:pt x="357783" y="47446"/>
                </a:cubicBezTo>
                <a:cubicBezTo>
                  <a:pt x="358616" y="48697"/>
                  <a:pt x="358973" y="50185"/>
                  <a:pt x="358914" y="51614"/>
                </a:cubicBezTo>
                <a:lnTo>
                  <a:pt x="358914" y="57626"/>
                </a:lnTo>
                <a:cubicBezTo>
                  <a:pt x="358914" y="60246"/>
                  <a:pt x="357961" y="61615"/>
                  <a:pt x="355997" y="61615"/>
                </a:cubicBezTo>
                <a:cubicBezTo>
                  <a:pt x="351413" y="61079"/>
                  <a:pt x="343257" y="54947"/>
                  <a:pt x="326707" y="55185"/>
                </a:cubicBezTo>
                <a:cubicBezTo>
                  <a:pt x="322600" y="54947"/>
                  <a:pt x="302955" y="55721"/>
                  <a:pt x="303847" y="70068"/>
                </a:cubicBezTo>
                <a:cubicBezTo>
                  <a:pt x="303609" y="81379"/>
                  <a:pt x="319683" y="85606"/>
                  <a:pt x="321528" y="86082"/>
                </a:cubicBezTo>
                <a:cubicBezTo>
                  <a:pt x="343257" y="92631"/>
                  <a:pt x="350460" y="93702"/>
                  <a:pt x="359092" y="103703"/>
                </a:cubicBezTo>
                <a:cubicBezTo>
                  <a:pt x="369272" y="116919"/>
                  <a:pt x="363795" y="132457"/>
                  <a:pt x="361652" y="136684"/>
                </a:cubicBezTo>
                <a:cubicBezTo>
                  <a:pt x="350282" y="159008"/>
                  <a:pt x="320933" y="157163"/>
                  <a:pt x="320397" y="157163"/>
                </a:cubicBezTo>
                <a:close/>
                <a:moveTo>
                  <a:pt x="344448" y="219670"/>
                </a:moveTo>
                <a:cubicBezTo>
                  <a:pt x="302776" y="250448"/>
                  <a:pt x="242233" y="266819"/>
                  <a:pt x="190560" y="266819"/>
                </a:cubicBezTo>
                <a:cubicBezTo>
                  <a:pt x="120848" y="267295"/>
                  <a:pt x="53459" y="241637"/>
                  <a:pt x="1667" y="194965"/>
                </a:cubicBezTo>
                <a:cubicBezTo>
                  <a:pt x="-2203" y="191453"/>
                  <a:pt x="1191" y="186630"/>
                  <a:pt x="5953" y="189309"/>
                </a:cubicBezTo>
                <a:cubicBezTo>
                  <a:pt x="63401" y="222171"/>
                  <a:pt x="128409" y="239435"/>
                  <a:pt x="194608" y="239375"/>
                </a:cubicBezTo>
                <a:cubicBezTo>
                  <a:pt x="244019" y="239137"/>
                  <a:pt x="292894" y="229076"/>
                  <a:pt x="338435" y="209907"/>
                </a:cubicBezTo>
                <a:cubicBezTo>
                  <a:pt x="345460" y="206931"/>
                  <a:pt x="351413" y="214551"/>
                  <a:pt x="344448" y="219670"/>
                </a:cubicBezTo>
                <a:close/>
                <a:moveTo>
                  <a:pt x="361831" y="199846"/>
                </a:moveTo>
                <a:cubicBezTo>
                  <a:pt x="356473" y="193000"/>
                  <a:pt x="326529" y="196632"/>
                  <a:pt x="313134" y="198239"/>
                </a:cubicBezTo>
                <a:cubicBezTo>
                  <a:pt x="309086" y="198715"/>
                  <a:pt x="308431" y="195203"/>
                  <a:pt x="312063" y="192584"/>
                </a:cubicBezTo>
                <a:cubicBezTo>
                  <a:pt x="335935" y="175796"/>
                  <a:pt x="375106" y="180618"/>
                  <a:pt x="379571" y="186273"/>
                </a:cubicBezTo>
                <a:cubicBezTo>
                  <a:pt x="384036" y="191929"/>
                  <a:pt x="378321" y="231160"/>
                  <a:pt x="355997" y="249912"/>
                </a:cubicBezTo>
                <a:cubicBezTo>
                  <a:pt x="352544" y="252829"/>
                  <a:pt x="349270" y="251281"/>
                  <a:pt x="350818" y="247471"/>
                </a:cubicBezTo>
                <a:cubicBezTo>
                  <a:pt x="355818" y="234791"/>
                  <a:pt x="367129" y="206692"/>
                  <a:pt x="361771" y="19984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74800" y="1803400"/>
            <a:ext cx="166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Amazon Dynamo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4892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Amazon Dynamo 键值存储中广泛使用 Gossip 协议进行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成员管理与故障检测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352800"/>
            <a:ext cx="4356100" cy="2717800"/>
          </a:xfrm>
          <a:custGeom>
            <a:avLst/>
            <a:gdLst/>
            <a:ahLst/>
            <a:cxnLst/>
            <a:rect l="l" t="t" r="r" b="b"/>
            <a:pathLst>
              <a:path w="4356100" h="2717800">
                <a:moveTo>
                  <a:pt x="101591" y="0"/>
                </a:moveTo>
                <a:lnTo>
                  <a:pt x="4254509" y="0"/>
                </a:lnTo>
                <a:cubicBezTo>
                  <a:pt x="4310616" y="0"/>
                  <a:pt x="4356100" y="45484"/>
                  <a:pt x="4356100" y="101591"/>
                </a:cubicBezTo>
                <a:lnTo>
                  <a:pt x="4356100" y="2616209"/>
                </a:lnTo>
                <a:cubicBezTo>
                  <a:pt x="4356100" y="2672316"/>
                  <a:pt x="4310616" y="2717800"/>
                  <a:pt x="4254509" y="2717800"/>
                </a:cubicBezTo>
                <a:lnTo>
                  <a:pt x="101591" y="2717800"/>
                </a:lnTo>
                <a:cubicBezTo>
                  <a:pt x="45484" y="2717800"/>
                  <a:pt x="0" y="2672316"/>
                  <a:pt x="0" y="26162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16000" y="3556000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核心应用：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0132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352" y="40132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集群成员信息传播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4196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25352" y="4419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分区映射同步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8260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5352" y="48260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版本向量信息维护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2324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5352" y="52324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故障节点检测与移除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9313" y="6311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33350" y="177800"/>
                </a:moveTo>
                <a:lnTo>
                  <a:pt x="33337" y="177800"/>
                </a:lnTo>
                <a:cubicBezTo>
                  <a:pt x="14932" y="177800"/>
                  <a:pt x="0" y="162868"/>
                  <a:pt x="0" y="144463"/>
                </a:cubicBezTo>
                <a:lnTo>
                  <a:pt x="0" y="33337"/>
                </a:lnTo>
                <a:cubicBezTo>
                  <a:pt x="0" y="14932"/>
                  <a:pt x="14932" y="0"/>
                  <a:pt x="33337" y="0"/>
                </a:cubicBezTo>
                <a:lnTo>
                  <a:pt x="138906" y="0"/>
                </a:lnTo>
                <a:cubicBezTo>
                  <a:pt x="148109" y="0"/>
                  <a:pt x="155575" y="7466"/>
                  <a:pt x="155575" y="16669"/>
                </a:cubicBezTo>
                <a:lnTo>
                  <a:pt x="155575" y="116681"/>
                </a:lnTo>
                <a:cubicBezTo>
                  <a:pt x="155575" y="123939"/>
                  <a:pt x="150922" y="130120"/>
                  <a:pt x="144463" y="132412"/>
                </a:cubicBezTo>
                <a:lnTo>
                  <a:pt x="144463" y="155575"/>
                </a:lnTo>
                <a:cubicBezTo>
                  <a:pt x="150609" y="155575"/>
                  <a:pt x="155575" y="160541"/>
                  <a:pt x="155575" y="166688"/>
                </a:cubicBezTo>
                <a:cubicBezTo>
                  <a:pt x="155575" y="172834"/>
                  <a:pt x="150609" y="177800"/>
                  <a:pt x="144463" y="177800"/>
                </a:cubicBezTo>
                <a:lnTo>
                  <a:pt x="133350" y="177800"/>
                </a:lnTo>
                <a:close/>
                <a:moveTo>
                  <a:pt x="33337" y="133350"/>
                </a:moveTo>
                <a:cubicBezTo>
                  <a:pt x="27191" y="133350"/>
                  <a:pt x="22225" y="138316"/>
                  <a:pt x="22225" y="144463"/>
                </a:cubicBezTo>
                <a:cubicBezTo>
                  <a:pt x="22225" y="150609"/>
                  <a:pt x="27191" y="155575"/>
                  <a:pt x="33337" y="155575"/>
                </a:cubicBezTo>
                <a:lnTo>
                  <a:pt x="122238" y="155575"/>
                </a:lnTo>
                <a:lnTo>
                  <a:pt x="122238" y="133350"/>
                </a:lnTo>
                <a:lnTo>
                  <a:pt x="33337" y="133350"/>
                </a:lnTo>
                <a:close/>
                <a:moveTo>
                  <a:pt x="44450" y="52784"/>
                </a:moveTo>
                <a:cubicBezTo>
                  <a:pt x="44450" y="57403"/>
                  <a:pt x="48166" y="61119"/>
                  <a:pt x="52784" y="61119"/>
                </a:cubicBezTo>
                <a:lnTo>
                  <a:pt x="113903" y="61119"/>
                </a:lnTo>
                <a:cubicBezTo>
                  <a:pt x="118522" y="61119"/>
                  <a:pt x="122238" y="57403"/>
                  <a:pt x="122238" y="52784"/>
                </a:cubicBezTo>
                <a:cubicBezTo>
                  <a:pt x="122238" y="48166"/>
                  <a:pt x="118522" y="44450"/>
                  <a:pt x="113903" y="44450"/>
                </a:cubicBezTo>
                <a:lnTo>
                  <a:pt x="52784" y="44450"/>
                </a:lnTo>
                <a:cubicBezTo>
                  <a:pt x="48166" y="44450"/>
                  <a:pt x="44450" y="48166"/>
                  <a:pt x="44450" y="52784"/>
                </a:cubicBezTo>
                <a:close/>
                <a:moveTo>
                  <a:pt x="52784" y="77788"/>
                </a:moveTo>
                <a:cubicBezTo>
                  <a:pt x="48166" y="77788"/>
                  <a:pt x="44450" y="81503"/>
                  <a:pt x="44450" y="86122"/>
                </a:cubicBezTo>
                <a:cubicBezTo>
                  <a:pt x="44450" y="90741"/>
                  <a:pt x="48166" y="94456"/>
                  <a:pt x="52784" y="94456"/>
                </a:cubicBezTo>
                <a:lnTo>
                  <a:pt x="113903" y="94456"/>
                </a:lnTo>
                <a:cubicBezTo>
                  <a:pt x="118522" y="94456"/>
                  <a:pt x="122238" y="90741"/>
                  <a:pt x="122238" y="86122"/>
                </a:cubicBezTo>
                <a:cubicBezTo>
                  <a:pt x="122238" y="81503"/>
                  <a:pt x="118522" y="77788"/>
                  <a:pt x="113903" y="77788"/>
                </a:cubicBezTo>
                <a:lnTo>
                  <a:pt x="52784" y="7778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36650" y="62738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SOSP 2007 经典论文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98034" y="1422400"/>
            <a:ext cx="4889500" cy="5359400"/>
          </a:xfrm>
          <a:custGeom>
            <a:avLst/>
            <a:gdLst/>
            <a:ahLst/>
            <a:cxnLst/>
            <a:rect l="l" t="t" r="r" b="b"/>
            <a:pathLst>
              <a:path w="4889500" h="5359400">
                <a:moveTo>
                  <a:pt x="50800" y="0"/>
                </a:moveTo>
                <a:lnTo>
                  <a:pt x="4787896" y="0"/>
                </a:lnTo>
                <a:cubicBezTo>
                  <a:pt x="4844010" y="0"/>
                  <a:pt x="4889500" y="45490"/>
                  <a:pt x="4889500" y="101604"/>
                </a:cubicBezTo>
                <a:lnTo>
                  <a:pt x="4889500" y="5257796"/>
                </a:lnTo>
                <a:cubicBezTo>
                  <a:pt x="4889500" y="5313910"/>
                  <a:pt x="4844010" y="5359400"/>
                  <a:pt x="4787896" y="5359400"/>
                </a:cubicBezTo>
                <a:lnTo>
                  <a:pt x="50800" y="5359400"/>
                </a:lnTo>
                <a:cubicBezTo>
                  <a:pt x="22744" y="5359400"/>
                  <a:pt x="0" y="5336656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698034" y="1422400"/>
            <a:ext cx="50800" cy="5359400"/>
          </a:xfrm>
          <a:custGeom>
            <a:avLst/>
            <a:gdLst/>
            <a:ahLst/>
            <a:cxnLst/>
            <a:rect l="l" t="t" r="r" b="b"/>
            <a:pathLst>
              <a:path w="50800" h="5359400">
                <a:moveTo>
                  <a:pt x="50800" y="0"/>
                </a:moveTo>
                <a:lnTo>
                  <a:pt x="50800" y="0"/>
                </a:lnTo>
                <a:lnTo>
                  <a:pt x="50800" y="5359400"/>
                </a:lnTo>
                <a:lnTo>
                  <a:pt x="50800" y="5359400"/>
                </a:lnTo>
                <a:cubicBezTo>
                  <a:pt x="22763" y="5359400"/>
                  <a:pt x="0" y="5336637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977434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148884" y="1828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739434" y="18034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Cassandra &amp; Riak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77434" y="24892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分布式数据库 Cassandra 和 Riak 使用 Gossip 协议进行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集群状态传播与副本维护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77434" y="3352800"/>
            <a:ext cx="4356100" cy="2717800"/>
          </a:xfrm>
          <a:custGeom>
            <a:avLst/>
            <a:gdLst/>
            <a:ahLst/>
            <a:cxnLst/>
            <a:rect l="l" t="t" r="r" b="b"/>
            <a:pathLst>
              <a:path w="4356100" h="2717800">
                <a:moveTo>
                  <a:pt x="101591" y="0"/>
                </a:moveTo>
                <a:lnTo>
                  <a:pt x="4254509" y="0"/>
                </a:lnTo>
                <a:cubicBezTo>
                  <a:pt x="4310616" y="0"/>
                  <a:pt x="4356100" y="45484"/>
                  <a:pt x="4356100" y="101591"/>
                </a:cubicBezTo>
                <a:lnTo>
                  <a:pt x="4356100" y="2616209"/>
                </a:lnTo>
                <a:cubicBezTo>
                  <a:pt x="4356100" y="2672316"/>
                  <a:pt x="4310616" y="2717800"/>
                  <a:pt x="4254509" y="2717800"/>
                </a:cubicBezTo>
                <a:lnTo>
                  <a:pt x="101591" y="2717800"/>
                </a:lnTo>
                <a:cubicBezTo>
                  <a:pt x="45484" y="2717800"/>
                  <a:pt x="0" y="2672316"/>
                  <a:pt x="0" y="26162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180634" y="3556000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核心应用：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80634" y="40132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9985" y="40132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节点拓扑信息同步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80634" y="44196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9985" y="44196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副本状态一致性维护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80634" y="48260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9985" y="4826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故障检测与恢复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0634" y="52324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9985" y="52324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反熵修复数据差异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91721" y="63119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25293" y="417"/>
                </a:moveTo>
                <a:cubicBezTo>
                  <a:pt x="119390" y="-1285"/>
                  <a:pt x="113243" y="2153"/>
                  <a:pt x="111542" y="8057"/>
                </a:cubicBezTo>
                <a:lnTo>
                  <a:pt x="67092" y="163632"/>
                </a:lnTo>
                <a:cubicBezTo>
                  <a:pt x="65390" y="169535"/>
                  <a:pt x="68828" y="175682"/>
                  <a:pt x="74732" y="177383"/>
                </a:cubicBezTo>
                <a:cubicBezTo>
                  <a:pt x="80635" y="179085"/>
                  <a:pt x="86782" y="175647"/>
                  <a:pt x="88483" y="169743"/>
                </a:cubicBezTo>
                <a:lnTo>
                  <a:pt x="132933" y="14168"/>
                </a:lnTo>
                <a:cubicBezTo>
                  <a:pt x="134635" y="8265"/>
                  <a:pt x="131197" y="2118"/>
                  <a:pt x="125293" y="417"/>
                </a:cubicBezTo>
                <a:close/>
                <a:moveTo>
                  <a:pt x="147727" y="47680"/>
                </a:moveTo>
                <a:cubicBezTo>
                  <a:pt x="143386" y="52020"/>
                  <a:pt x="143386" y="59070"/>
                  <a:pt x="147727" y="63411"/>
                </a:cubicBezTo>
                <a:lnTo>
                  <a:pt x="173216" y="88900"/>
                </a:lnTo>
                <a:lnTo>
                  <a:pt x="147727" y="114389"/>
                </a:lnTo>
                <a:cubicBezTo>
                  <a:pt x="143386" y="118730"/>
                  <a:pt x="143386" y="125780"/>
                  <a:pt x="147727" y="130120"/>
                </a:cubicBezTo>
                <a:cubicBezTo>
                  <a:pt x="152068" y="134461"/>
                  <a:pt x="159117" y="134461"/>
                  <a:pt x="163458" y="130120"/>
                </a:cubicBezTo>
                <a:lnTo>
                  <a:pt x="196795" y="96783"/>
                </a:lnTo>
                <a:cubicBezTo>
                  <a:pt x="201136" y="92442"/>
                  <a:pt x="201136" y="85393"/>
                  <a:pt x="196795" y="81052"/>
                </a:cubicBezTo>
                <a:lnTo>
                  <a:pt x="163458" y="47714"/>
                </a:lnTo>
                <a:cubicBezTo>
                  <a:pt x="159117" y="43373"/>
                  <a:pt x="152068" y="43373"/>
                  <a:pt x="147727" y="47714"/>
                </a:cubicBezTo>
                <a:close/>
                <a:moveTo>
                  <a:pt x="52333" y="47680"/>
                </a:moveTo>
                <a:cubicBezTo>
                  <a:pt x="47992" y="43339"/>
                  <a:pt x="40943" y="43339"/>
                  <a:pt x="36602" y="47680"/>
                </a:cubicBezTo>
                <a:lnTo>
                  <a:pt x="3264" y="81017"/>
                </a:lnTo>
                <a:cubicBezTo>
                  <a:pt x="-1077" y="85358"/>
                  <a:pt x="-1077" y="92407"/>
                  <a:pt x="3264" y="96748"/>
                </a:cubicBezTo>
                <a:lnTo>
                  <a:pt x="36602" y="130086"/>
                </a:lnTo>
                <a:cubicBezTo>
                  <a:pt x="40943" y="134427"/>
                  <a:pt x="47992" y="134427"/>
                  <a:pt x="52333" y="130086"/>
                </a:cubicBezTo>
                <a:cubicBezTo>
                  <a:pt x="56674" y="125745"/>
                  <a:pt x="56674" y="118695"/>
                  <a:pt x="52333" y="114355"/>
                </a:cubicBezTo>
                <a:lnTo>
                  <a:pt x="26844" y="88900"/>
                </a:lnTo>
                <a:lnTo>
                  <a:pt x="52298" y="63411"/>
                </a:lnTo>
                <a:cubicBezTo>
                  <a:pt x="56639" y="59070"/>
                  <a:pt x="56639" y="52020"/>
                  <a:pt x="52298" y="4768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01284" y="62738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开源分布式数据库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62667" y="1422400"/>
            <a:ext cx="4889500" cy="5359400"/>
          </a:xfrm>
          <a:custGeom>
            <a:avLst/>
            <a:gdLst/>
            <a:ahLst/>
            <a:cxnLst/>
            <a:rect l="l" t="t" r="r" b="b"/>
            <a:pathLst>
              <a:path w="4889500" h="5359400">
                <a:moveTo>
                  <a:pt x="50800" y="0"/>
                </a:moveTo>
                <a:lnTo>
                  <a:pt x="4787896" y="0"/>
                </a:lnTo>
                <a:cubicBezTo>
                  <a:pt x="4844010" y="0"/>
                  <a:pt x="4889500" y="45490"/>
                  <a:pt x="4889500" y="101604"/>
                </a:cubicBezTo>
                <a:lnTo>
                  <a:pt x="4889500" y="5257796"/>
                </a:lnTo>
                <a:cubicBezTo>
                  <a:pt x="4889500" y="5313910"/>
                  <a:pt x="4844010" y="5359400"/>
                  <a:pt x="4787896" y="5359400"/>
                </a:cubicBezTo>
                <a:lnTo>
                  <a:pt x="50800" y="5359400"/>
                </a:lnTo>
                <a:cubicBezTo>
                  <a:pt x="22744" y="5359400"/>
                  <a:pt x="0" y="5336656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862667" y="1422400"/>
            <a:ext cx="50800" cy="5359400"/>
          </a:xfrm>
          <a:custGeom>
            <a:avLst/>
            <a:gdLst/>
            <a:ahLst/>
            <a:cxnLst/>
            <a:rect l="l" t="t" r="r" b="b"/>
            <a:pathLst>
              <a:path w="50800" h="5359400">
                <a:moveTo>
                  <a:pt x="50800" y="0"/>
                </a:moveTo>
                <a:lnTo>
                  <a:pt x="50800" y="0"/>
                </a:lnTo>
                <a:lnTo>
                  <a:pt x="50800" y="5359400"/>
                </a:lnTo>
                <a:lnTo>
                  <a:pt x="50800" y="5359400"/>
                </a:lnTo>
                <a:cubicBezTo>
                  <a:pt x="22763" y="5359400"/>
                  <a:pt x="0" y="5336637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142067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294467" y="182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904067" y="18034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SWIM 协议系列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42067" y="2489200"/>
            <a:ext cx="4457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SWIM 协议在服务发现和健康检查系统（如 Consul、Serf）中得到广泛应用，提供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可扩展的组成员管理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42067" y="3683000"/>
            <a:ext cx="4356100" cy="2387600"/>
          </a:xfrm>
          <a:custGeom>
            <a:avLst/>
            <a:gdLst/>
            <a:ahLst/>
            <a:cxnLst/>
            <a:rect l="l" t="t" r="r" b="b"/>
            <a:pathLst>
              <a:path w="4356100" h="2387600">
                <a:moveTo>
                  <a:pt x="101592" y="0"/>
                </a:moveTo>
                <a:lnTo>
                  <a:pt x="4254508" y="0"/>
                </a:lnTo>
                <a:cubicBezTo>
                  <a:pt x="4310616" y="0"/>
                  <a:pt x="4356100" y="45484"/>
                  <a:pt x="4356100" y="101592"/>
                </a:cubicBezTo>
                <a:lnTo>
                  <a:pt x="4356100" y="2286008"/>
                </a:lnTo>
                <a:cubicBezTo>
                  <a:pt x="4356100" y="2342116"/>
                  <a:pt x="4310616" y="2387600"/>
                  <a:pt x="42545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345267" y="3886200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核心应用：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45267" y="43434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554619" y="43434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服务实例健康检查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345267" y="47498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554619" y="47498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成员列表动态维护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45267" y="51562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554619" y="51562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间接探测降低误判率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345267" y="55626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554619" y="55626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网络分区容错处理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167467" y="6311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465917" y="627380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DSN 2002 经典协议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8000" y="7035800"/>
            <a:ext cx="15240000" cy="1676400"/>
          </a:xfrm>
          <a:custGeom>
            <a:avLst/>
            <a:gdLst/>
            <a:ahLst/>
            <a:cxnLst/>
            <a:rect l="l" t="t" r="r" b="b"/>
            <a:pathLst>
              <a:path w="15240000" h="1676400">
                <a:moveTo>
                  <a:pt x="101607" y="0"/>
                </a:moveTo>
                <a:lnTo>
                  <a:pt x="15138393" y="0"/>
                </a:lnTo>
                <a:cubicBezTo>
                  <a:pt x="15194509" y="0"/>
                  <a:pt x="15240000" y="45491"/>
                  <a:pt x="15240000" y="101607"/>
                </a:cubicBezTo>
                <a:lnTo>
                  <a:pt x="15240000" y="1574793"/>
                </a:lnTo>
                <a:cubicBezTo>
                  <a:pt x="15240000" y="1630909"/>
                  <a:pt x="15194509" y="1676400"/>
                  <a:pt x="151383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00100" y="734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346200" y="7289800"/>
            <a:ext cx="142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实践验证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346200" y="7797800"/>
            <a:ext cx="14249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这些系统在实践中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充分验证了 Gossip 协议在"规模、可用性和简单性"之间取得平衡的能力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，也推动了后续对于 Gossip 在理论分析和工程优化方面的深入研究。从键值存储到分布式数据库，从服务发现到配置管理，Gossip 协议已成为现代分布式系统不可或缺的基础构件。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587680e161ed772d0111de4d7d155d8ed1721b8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15369" b="1536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317750"/>
            <a:ext cx="2298700" cy="762000"/>
          </a:xfrm>
          <a:custGeom>
            <a:avLst/>
            <a:gdLst/>
            <a:ahLst/>
            <a:cxnLst/>
            <a:rect l="l" t="t" r="r" b="b"/>
            <a:pathLst>
              <a:path w="2298700" h="762000">
                <a:moveTo>
                  <a:pt x="101597" y="0"/>
                </a:moveTo>
                <a:lnTo>
                  <a:pt x="2197103" y="0"/>
                </a:lnTo>
                <a:cubicBezTo>
                  <a:pt x="2253213" y="0"/>
                  <a:pt x="2298700" y="45487"/>
                  <a:pt x="2298700" y="101597"/>
                </a:cubicBezTo>
                <a:lnTo>
                  <a:pt x="2298700" y="660403"/>
                </a:lnTo>
                <a:cubicBezTo>
                  <a:pt x="2298700" y="716513"/>
                  <a:pt x="2253213" y="762000"/>
                  <a:pt x="21971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12800" y="2470150"/>
            <a:ext cx="187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384550"/>
            <a:ext cx="57531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核心原理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与系统模型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9753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330950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Gossip 如何工作的理论基础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493" y="476843"/>
            <a:ext cx="86699" cy="346795"/>
          </a:xfrm>
          <a:custGeom>
            <a:avLst/>
            <a:gdLst/>
            <a:ahLst/>
            <a:cxnLst/>
            <a:rect l="l" t="t" r="r" b="b"/>
            <a:pathLst>
              <a:path w="86699" h="346795">
                <a:moveTo>
                  <a:pt x="0" y="0"/>
                </a:moveTo>
                <a:lnTo>
                  <a:pt x="86699" y="0"/>
                </a:lnTo>
                <a:lnTo>
                  <a:pt x="86699" y="346795"/>
                </a:lnTo>
                <a:lnTo>
                  <a:pt x="0" y="346795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0240" y="433493"/>
            <a:ext cx="3001941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72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系统模型与故障模型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5168" y="1213781"/>
            <a:ext cx="7542784" cy="2817707"/>
          </a:xfrm>
          <a:custGeom>
            <a:avLst/>
            <a:gdLst/>
            <a:ahLst/>
            <a:cxnLst/>
            <a:rect l="l" t="t" r="r" b="b"/>
            <a:pathLst>
              <a:path w="7542784" h="2817707">
                <a:moveTo>
                  <a:pt x="43349" y="0"/>
                </a:moveTo>
                <a:lnTo>
                  <a:pt x="7456083" y="0"/>
                </a:lnTo>
                <a:cubicBezTo>
                  <a:pt x="7503967" y="0"/>
                  <a:pt x="7542784" y="38817"/>
                  <a:pt x="7542784" y="86701"/>
                </a:cubicBezTo>
                <a:lnTo>
                  <a:pt x="7542784" y="2731006"/>
                </a:lnTo>
                <a:cubicBezTo>
                  <a:pt x="7542784" y="2778889"/>
                  <a:pt x="7503967" y="2817707"/>
                  <a:pt x="7456083" y="2817707"/>
                </a:cubicBez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5168" y="1213781"/>
            <a:ext cx="43349" cy="2817707"/>
          </a:xfrm>
          <a:custGeom>
            <a:avLst/>
            <a:gdLst/>
            <a:ahLst/>
            <a:cxnLst/>
            <a:rect l="l" t="t" r="r" b="b"/>
            <a:pathLst>
              <a:path w="43349" h="2817707">
                <a:moveTo>
                  <a:pt x="43349" y="0"/>
                </a:moveTo>
                <a:lnTo>
                  <a:pt x="43349" y="0"/>
                </a:lnTo>
                <a:lnTo>
                  <a:pt x="43349" y="2817707"/>
                </a:ln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42357" y="1473877"/>
            <a:ext cx="227584" cy="260096"/>
          </a:xfrm>
          <a:custGeom>
            <a:avLst/>
            <a:gdLst/>
            <a:ahLst/>
            <a:cxnLst/>
            <a:rect l="l" t="t" r="r" b="b"/>
            <a:pathLst>
              <a:path w="227584" h="260096">
                <a:moveTo>
                  <a:pt x="32512" y="16256"/>
                </a:moveTo>
                <a:cubicBezTo>
                  <a:pt x="14580" y="16256"/>
                  <a:pt x="0" y="30836"/>
                  <a:pt x="0" y="48768"/>
                </a:cubicBezTo>
                <a:lnTo>
                  <a:pt x="0" y="81280"/>
                </a:lnTo>
                <a:cubicBezTo>
                  <a:pt x="0" y="99212"/>
                  <a:pt x="14580" y="113792"/>
                  <a:pt x="32512" y="113792"/>
                </a:cubicBezTo>
                <a:lnTo>
                  <a:pt x="195072" y="113792"/>
                </a:lnTo>
                <a:cubicBezTo>
                  <a:pt x="213004" y="113792"/>
                  <a:pt x="227584" y="99212"/>
                  <a:pt x="227584" y="81280"/>
                </a:cubicBezTo>
                <a:lnTo>
                  <a:pt x="227584" y="48768"/>
                </a:lnTo>
                <a:cubicBezTo>
                  <a:pt x="227584" y="30836"/>
                  <a:pt x="213004" y="16256"/>
                  <a:pt x="195072" y="16256"/>
                </a:cubicBezTo>
                <a:lnTo>
                  <a:pt x="32512" y="16256"/>
                </a:lnTo>
                <a:close/>
                <a:moveTo>
                  <a:pt x="142240" y="52832"/>
                </a:moveTo>
                <a:cubicBezTo>
                  <a:pt x="148969" y="52832"/>
                  <a:pt x="154432" y="58295"/>
                  <a:pt x="154432" y="65024"/>
                </a:cubicBezTo>
                <a:cubicBezTo>
                  <a:pt x="154432" y="71753"/>
                  <a:pt x="148969" y="77216"/>
                  <a:pt x="142240" y="77216"/>
                </a:cubicBezTo>
                <a:cubicBezTo>
                  <a:pt x="135511" y="77216"/>
                  <a:pt x="130048" y="71753"/>
                  <a:pt x="130048" y="65024"/>
                </a:cubicBezTo>
                <a:cubicBezTo>
                  <a:pt x="130048" y="58295"/>
                  <a:pt x="135511" y="52832"/>
                  <a:pt x="142240" y="52832"/>
                </a:cubicBezTo>
                <a:close/>
                <a:moveTo>
                  <a:pt x="170688" y="65024"/>
                </a:moveTo>
                <a:cubicBezTo>
                  <a:pt x="170688" y="58295"/>
                  <a:pt x="176151" y="52832"/>
                  <a:pt x="182880" y="52832"/>
                </a:cubicBezTo>
                <a:cubicBezTo>
                  <a:pt x="189609" y="52832"/>
                  <a:pt x="195072" y="58295"/>
                  <a:pt x="195072" y="65024"/>
                </a:cubicBezTo>
                <a:cubicBezTo>
                  <a:pt x="195072" y="71753"/>
                  <a:pt x="189609" y="77216"/>
                  <a:pt x="182880" y="77216"/>
                </a:cubicBezTo>
                <a:cubicBezTo>
                  <a:pt x="176151" y="77216"/>
                  <a:pt x="170688" y="71753"/>
                  <a:pt x="170688" y="65024"/>
                </a:cubicBezTo>
                <a:close/>
                <a:moveTo>
                  <a:pt x="32512" y="146304"/>
                </a:moveTo>
                <a:cubicBezTo>
                  <a:pt x="14580" y="146304"/>
                  <a:pt x="0" y="160884"/>
                  <a:pt x="0" y="178816"/>
                </a:cubicBezTo>
                <a:lnTo>
                  <a:pt x="0" y="211328"/>
                </a:lnTo>
                <a:cubicBezTo>
                  <a:pt x="0" y="229260"/>
                  <a:pt x="14580" y="243840"/>
                  <a:pt x="32512" y="243840"/>
                </a:cubicBezTo>
                <a:lnTo>
                  <a:pt x="195072" y="243840"/>
                </a:lnTo>
                <a:cubicBezTo>
                  <a:pt x="213004" y="243840"/>
                  <a:pt x="227584" y="229260"/>
                  <a:pt x="227584" y="211328"/>
                </a:cubicBezTo>
                <a:lnTo>
                  <a:pt x="227584" y="178816"/>
                </a:lnTo>
                <a:cubicBezTo>
                  <a:pt x="227584" y="160884"/>
                  <a:pt x="213004" y="146304"/>
                  <a:pt x="195072" y="146304"/>
                </a:cubicBezTo>
                <a:lnTo>
                  <a:pt x="32512" y="146304"/>
                </a:lnTo>
                <a:close/>
                <a:moveTo>
                  <a:pt x="142240" y="182880"/>
                </a:moveTo>
                <a:cubicBezTo>
                  <a:pt x="148969" y="182880"/>
                  <a:pt x="154432" y="188343"/>
                  <a:pt x="154432" y="195072"/>
                </a:cubicBezTo>
                <a:cubicBezTo>
                  <a:pt x="154432" y="201801"/>
                  <a:pt x="148969" y="207264"/>
                  <a:pt x="142240" y="207264"/>
                </a:cubicBezTo>
                <a:cubicBezTo>
                  <a:pt x="135511" y="207264"/>
                  <a:pt x="130048" y="201801"/>
                  <a:pt x="130048" y="195072"/>
                </a:cubicBezTo>
                <a:cubicBezTo>
                  <a:pt x="130048" y="188343"/>
                  <a:pt x="135511" y="182880"/>
                  <a:pt x="142240" y="182880"/>
                </a:cubicBezTo>
                <a:close/>
                <a:moveTo>
                  <a:pt x="170688" y="195072"/>
                </a:moveTo>
                <a:cubicBezTo>
                  <a:pt x="170688" y="188343"/>
                  <a:pt x="176151" y="182880"/>
                  <a:pt x="182880" y="182880"/>
                </a:cubicBezTo>
                <a:cubicBezTo>
                  <a:pt x="189609" y="182880"/>
                  <a:pt x="195072" y="188343"/>
                  <a:pt x="195072" y="195072"/>
                </a:cubicBezTo>
                <a:cubicBezTo>
                  <a:pt x="195072" y="201801"/>
                  <a:pt x="189609" y="207264"/>
                  <a:pt x="182880" y="207264"/>
                </a:cubicBezTo>
                <a:cubicBezTo>
                  <a:pt x="176151" y="207264"/>
                  <a:pt x="170688" y="201801"/>
                  <a:pt x="170688" y="19507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48757" y="1430528"/>
            <a:ext cx="964523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8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节点模型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3589" y="1907371"/>
            <a:ext cx="7174315" cy="56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系统由一组节点构成，记为 </a:t>
            </a:r>
            <a:r>
              <a:rPr lang="en-US" sz="1365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。每个节点拥有本地状态（例如成员列表、版本向量、心跳计数等），这些状态反映节点对整个系统的"</a:t>
            </a:r>
            <a:r>
              <a:rPr lang="en-US" sz="1365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局部认知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"。节点之间地位平等，没有中心节点。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3589" y="2600960"/>
            <a:ext cx="7087616" cy="1213781"/>
          </a:xfrm>
          <a:custGeom>
            <a:avLst/>
            <a:gdLst/>
            <a:ahLst/>
            <a:cxnLst/>
            <a:rect l="l" t="t" r="r" b="b"/>
            <a:pathLst>
              <a:path w="7087616" h="1213781">
                <a:moveTo>
                  <a:pt x="43344" y="0"/>
                </a:moveTo>
                <a:lnTo>
                  <a:pt x="7044272" y="0"/>
                </a:lnTo>
                <a:cubicBezTo>
                  <a:pt x="7068210" y="0"/>
                  <a:pt x="7087616" y="19406"/>
                  <a:pt x="7087616" y="43344"/>
                </a:cubicBezTo>
                <a:lnTo>
                  <a:pt x="7087616" y="1170437"/>
                </a:lnTo>
                <a:cubicBezTo>
                  <a:pt x="7087616" y="1194376"/>
                  <a:pt x="7068210" y="1213781"/>
                  <a:pt x="7044272" y="1213781"/>
                </a:cubicBezTo>
                <a:lnTo>
                  <a:pt x="43344" y="1213781"/>
                </a:lnTo>
                <a:cubicBezTo>
                  <a:pt x="19406" y="1213781"/>
                  <a:pt x="0" y="1194376"/>
                  <a:pt x="0" y="1170437"/>
                </a:cubicBezTo>
                <a:lnTo>
                  <a:pt x="0" y="43344"/>
                </a:lnTo>
                <a:cubicBezTo>
                  <a:pt x="0" y="19422"/>
                  <a:pt x="19422" y="0"/>
                  <a:pt x="4334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39893" y="2796032"/>
            <a:ext cx="130048" cy="130048"/>
          </a:xfrm>
          <a:custGeom>
            <a:avLst/>
            <a:gdLst/>
            <a:ahLst/>
            <a:cxnLst/>
            <a:rect l="l" t="t" r="r" b="b"/>
            <a:pathLst>
              <a:path w="130048" h="130048">
                <a:moveTo>
                  <a:pt x="0" y="65024"/>
                </a:moveTo>
                <a:cubicBezTo>
                  <a:pt x="0" y="29136"/>
                  <a:pt x="29136" y="0"/>
                  <a:pt x="65024" y="0"/>
                </a:cubicBezTo>
                <a:cubicBezTo>
                  <a:pt x="100912" y="0"/>
                  <a:pt x="130048" y="29136"/>
                  <a:pt x="130048" y="65024"/>
                </a:cubicBezTo>
                <a:cubicBezTo>
                  <a:pt x="130048" y="100912"/>
                  <a:pt x="100912" y="130048"/>
                  <a:pt x="65024" y="130048"/>
                </a:cubicBezTo>
                <a:cubicBezTo>
                  <a:pt x="29136" y="130048"/>
                  <a:pt x="0" y="100912"/>
                  <a:pt x="0" y="6502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72896" y="2731008"/>
            <a:ext cx="1820672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每个节点维护本地状态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9893" y="3142827"/>
            <a:ext cx="130048" cy="130048"/>
          </a:xfrm>
          <a:custGeom>
            <a:avLst/>
            <a:gdLst/>
            <a:ahLst/>
            <a:cxnLst/>
            <a:rect l="l" t="t" r="r" b="b"/>
            <a:pathLst>
              <a:path w="130048" h="130048">
                <a:moveTo>
                  <a:pt x="0" y="65024"/>
                </a:moveTo>
                <a:cubicBezTo>
                  <a:pt x="0" y="29136"/>
                  <a:pt x="29136" y="0"/>
                  <a:pt x="65024" y="0"/>
                </a:cubicBezTo>
                <a:cubicBezTo>
                  <a:pt x="100912" y="0"/>
                  <a:pt x="130048" y="29136"/>
                  <a:pt x="130048" y="65024"/>
                </a:cubicBezTo>
                <a:cubicBezTo>
                  <a:pt x="130048" y="100912"/>
                  <a:pt x="100912" y="130048"/>
                  <a:pt x="65024" y="130048"/>
                </a:cubicBezTo>
                <a:cubicBezTo>
                  <a:pt x="29136" y="130048"/>
                  <a:pt x="0" y="100912"/>
                  <a:pt x="0" y="6502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72896" y="3077803"/>
            <a:ext cx="1820672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节点之间地位完全平等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9893" y="3489621"/>
            <a:ext cx="130048" cy="130048"/>
          </a:xfrm>
          <a:custGeom>
            <a:avLst/>
            <a:gdLst/>
            <a:ahLst/>
            <a:cxnLst/>
            <a:rect l="l" t="t" r="r" b="b"/>
            <a:pathLst>
              <a:path w="130048" h="130048">
                <a:moveTo>
                  <a:pt x="0" y="65024"/>
                </a:moveTo>
                <a:cubicBezTo>
                  <a:pt x="0" y="29136"/>
                  <a:pt x="29136" y="0"/>
                  <a:pt x="65024" y="0"/>
                </a:cubicBezTo>
                <a:cubicBezTo>
                  <a:pt x="100912" y="0"/>
                  <a:pt x="130048" y="29136"/>
                  <a:pt x="130048" y="65024"/>
                </a:cubicBezTo>
                <a:cubicBezTo>
                  <a:pt x="130048" y="100912"/>
                  <a:pt x="100912" y="130048"/>
                  <a:pt x="65024" y="130048"/>
                </a:cubicBezTo>
                <a:cubicBezTo>
                  <a:pt x="29136" y="130048"/>
                  <a:pt x="0" y="100912"/>
                  <a:pt x="0" y="6502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72896" y="3424597"/>
            <a:ext cx="1647275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无中心节点或协调者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5168" y="4248235"/>
            <a:ext cx="7542784" cy="2817707"/>
          </a:xfrm>
          <a:custGeom>
            <a:avLst/>
            <a:gdLst/>
            <a:ahLst/>
            <a:cxnLst/>
            <a:rect l="l" t="t" r="r" b="b"/>
            <a:pathLst>
              <a:path w="7542784" h="2817707">
                <a:moveTo>
                  <a:pt x="43349" y="0"/>
                </a:moveTo>
                <a:lnTo>
                  <a:pt x="7456083" y="0"/>
                </a:lnTo>
                <a:cubicBezTo>
                  <a:pt x="7503967" y="0"/>
                  <a:pt x="7542784" y="38817"/>
                  <a:pt x="7542784" y="86701"/>
                </a:cubicBezTo>
                <a:lnTo>
                  <a:pt x="7542784" y="2731006"/>
                </a:lnTo>
                <a:cubicBezTo>
                  <a:pt x="7542784" y="2778889"/>
                  <a:pt x="7503967" y="2817707"/>
                  <a:pt x="7456083" y="2817707"/>
                </a:cubicBez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5168" y="4248235"/>
            <a:ext cx="43349" cy="2817707"/>
          </a:xfrm>
          <a:custGeom>
            <a:avLst/>
            <a:gdLst/>
            <a:ahLst/>
            <a:cxnLst/>
            <a:rect l="l" t="t" r="r" b="b"/>
            <a:pathLst>
              <a:path w="43349" h="2817707">
                <a:moveTo>
                  <a:pt x="43349" y="0"/>
                </a:moveTo>
                <a:lnTo>
                  <a:pt x="43349" y="0"/>
                </a:lnTo>
                <a:lnTo>
                  <a:pt x="43349" y="2817707"/>
                </a:ln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09845" y="4508331"/>
            <a:ext cx="292608" cy="260096"/>
          </a:xfrm>
          <a:custGeom>
            <a:avLst/>
            <a:gdLst/>
            <a:ahLst/>
            <a:cxnLst/>
            <a:rect l="l" t="t" r="r" b="b"/>
            <a:pathLst>
              <a:path w="292608" h="260096">
                <a:moveTo>
                  <a:pt x="125984" y="44704"/>
                </a:moveTo>
                <a:lnTo>
                  <a:pt x="166624" y="44704"/>
                </a:lnTo>
                <a:lnTo>
                  <a:pt x="166624" y="69088"/>
                </a:lnTo>
                <a:lnTo>
                  <a:pt x="125984" y="69088"/>
                </a:lnTo>
                <a:lnTo>
                  <a:pt x="125984" y="44704"/>
                </a:lnTo>
                <a:close/>
                <a:moveTo>
                  <a:pt x="121920" y="16256"/>
                </a:moveTo>
                <a:cubicBezTo>
                  <a:pt x="108458" y="16256"/>
                  <a:pt x="97536" y="27178"/>
                  <a:pt x="97536" y="40640"/>
                </a:cubicBezTo>
                <a:lnTo>
                  <a:pt x="97536" y="73152"/>
                </a:lnTo>
                <a:cubicBezTo>
                  <a:pt x="97536" y="86614"/>
                  <a:pt x="108458" y="97536"/>
                  <a:pt x="121920" y="97536"/>
                </a:cubicBezTo>
                <a:lnTo>
                  <a:pt x="130048" y="97536"/>
                </a:lnTo>
                <a:lnTo>
                  <a:pt x="130048" y="113792"/>
                </a:lnTo>
                <a:lnTo>
                  <a:pt x="16256" y="113792"/>
                </a:lnTo>
                <a:cubicBezTo>
                  <a:pt x="7264" y="113792"/>
                  <a:pt x="0" y="121056"/>
                  <a:pt x="0" y="130048"/>
                </a:cubicBezTo>
                <a:cubicBezTo>
                  <a:pt x="0" y="139040"/>
                  <a:pt x="7264" y="146304"/>
                  <a:pt x="16256" y="146304"/>
                </a:cubicBezTo>
                <a:lnTo>
                  <a:pt x="65024" y="146304"/>
                </a:lnTo>
                <a:lnTo>
                  <a:pt x="65024" y="162560"/>
                </a:lnTo>
                <a:lnTo>
                  <a:pt x="56896" y="162560"/>
                </a:lnTo>
                <a:cubicBezTo>
                  <a:pt x="43434" y="162560"/>
                  <a:pt x="32512" y="173482"/>
                  <a:pt x="32512" y="186944"/>
                </a:cubicBezTo>
                <a:lnTo>
                  <a:pt x="32512" y="219456"/>
                </a:lnTo>
                <a:cubicBezTo>
                  <a:pt x="32512" y="232918"/>
                  <a:pt x="43434" y="243840"/>
                  <a:pt x="56896" y="243840"/>
                </a:cubicBezTo>
                <a:lnTo>
                  <a:pt x="105664" y="243840"/>
                </a:lnTo>
                <a:cubicBezTo>
                  <a:pt x="119126" y="243840"/>
                  <a:pt x="130048" y="232918"/>
                  <a:pt x="130048" y="219456"/>
                </a:cubicBezTo>
                <a:lnTo>
                  <a:pt x="130048" y="186944"/>
                </a:lnTo>
                <a:cubicBezTo>
                  <a:pt x="130048" y="173482"/>
                  <a:pt x="119126" y="162560"/>
                  <a:pt x="105664" y="162560"/>
                </a:cubicBezTo>
                <a:lnTo>
                  <a:pt x="97536" y="162560"/>
                </a:lnTo>
                <a:lnTo>
                  <a:pt x="97536" y="146304"/>
                </a:lnTo>
                <a:lnTo>
                  <a:pt x="195072" y="146304"/>
                </a:lnTo>
                <a:lnTo>
                  <a:pt x="195072" y="162560"/>
                </a:lnTo>
                <a:lnTo>
                  <a:pt x="186944" y="162560"/>
                </a:lnTo>
                <a:cubicBezTo>
                  <a:pt x="173482" y="162560"/>
                  <a:pt x="162560" y="173482"/>
                  <a:pt x="162560" y="186944"/>
                </a:cubicBezTo>
                <a:lnTo>
                  <a:pt x="162560" y="219456"/>
                </a:lnTo>
                <a:cubicBezTo>
                  <a:pt x="162560" y="232918"/>
                  <a:pt x="173482" y="243840"/>
                  <a:pt x="186944" y="243840"/>
                </a:cubicBezTo>
                <a:lnTo>
                  <a:pt x="235712" y="243840"/>
                </a:lnTo>
                <a:cubicBezTo>
                  <a:pt x="249174" y="243840"/>
                  <a:pt x="260096" y="232918"/>
                  <a:pt x="260096" y="219456"/>
                </a:cubicBezTo>
                <a:lnTo>
                  <a:pt x="260096" y="186944"/>
                </a:lnTo>
                <a:cubicBezTo>
                  <a:pt x="260096" y="173482"/>
                  <a:pt x="249174" y="162560"/>
                  <a:pt x="235712" y="162560"/>
                </a:cubicBezTo>
                <a:lnTo>
                  <a:pt x="227584" y="162560"/>
                </a:lnTo>
                <a:lnTo>
                  <a:pt x="227584" y="146304"/>
                </a:lnTo>
                <a:lnTo>
                  <a:pt x="276352" y="146304"/>
                </a:lnTo>
                <a:cubicBezTo>
                  <a:pt x="285344" y="146304"/>
                  <a:pt x="292608" y="139040"/>
                  <a:pt x="292608" y="130048"/>
                </a:cubicBezTo>
                <a:cubicBezTo>
                  <a:pt x="292608" y="121056"/>
                  <a:pt x="285344" y="113792"/>
                  <a:pt x="276352" y="113792"/>
                </a:cubicBezTo>
                <a:lnTo>
                  <a:pt x="162560" y="113792"/>
                </a:lnTo>
                <a:lnTo>
                  <a:pt x="162560" y="97536"/>
                </a:lnTo>
                <a:lnTo>
                  <a:pt x="170688" y="97536"/>
                </a:lnTo>
                <a:cubicBezTo>
                  <a:pt x="184150" y="97536"/>
                  <a:pt x="195072" y="86614"/>
                  <a:pt x="195072" y="73152"/>
                </a:cubicBezTo>
                <a:lnTo>
                  <a:pt x="195072" y="40640"/>
                </a:lnTo>
                <a:cubicBezTo>
                  <a:pt x="195072" y="27178"/>
                  <a:pt x="184150" y="16256"/>
                  <a:pt x="170688" y="16256"/>
                </a:cubicBezTo>
                <a:lnTo>
                  <a:pt x="121920" y="16256"/>
                </a:lnTo>
                <a:close/>
                <a:moveTo>
                  <a:pt x="227584" y="191008"/>
                </a:moveTo>
                <a:lnTo>
                  <a:pt x="231648" y="191008"/>
                </a:lnTo>
                <a:lnTo>
                  <a:pt x="231648" y="215392"/>
                </a:lnTo>
                <a:lnTo>
                  <a:pt x="191008" y="215392"/>
                </a:lnTo>
                <a:lnTo>
                  <a:pt x="191008" y="191008"/>
                </a:lnTo>
                <a:lnTo>
                  <a:pt x="227584" y="191008"/>
                </a:lnTo>
                <a:close/>
                <a:moveTo>
                  <a:pt x="97536" y="191008"/>
                </a:moveTo>
                <a:lnTo>
                  <a:pt x="101600" y="191008"/>
                </a:lnTo>
                <a:lnTo>
                  <a:pt x="101600" y="215392"/>
                </a:lnTo>
                <a:lnTo>
                  <a:pt x="60960" y="215392"/>
                </a:lnTo>
                <a:lnTo>
                  <a:pt x="60960" y="191008"/>
                </a:lnTo>
                <a:lnTo>
                  <a:pt x="97536" y="19100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8757" y="4464981"/>
            <a:ext cx="964523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8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通信模型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589" y="4941824"/>
            <a:ext cx="7174315" cy="56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节点之间通过</a:t>
            </a:r>
            <a:r>
              <a:rPr lang="en-US" sz="1365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不可靠网络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通信。消息可能出现乱序、重复或丢失，但大多数消息在有限时间内可以送达。协议设计时必须假设"</a:t>
            </a:r>
            <a:r>
              <a:rPr lang="en-US" sz="1365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任何一次单独的通信都可能失败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3589" y="5635413"/>
            <a:ext cx="7087616" cy="1213781"/>
          </a:xfrm>
          <a:custGeom>
            <a:avLst/>
            <a:gdLst/>
            <a:ahLst/>
            <a:cxnLst/>
            <a:rect l="l" t="t" r="r" b="b"/>
            <a:pathLst>
              <a:path w="7087616" h="1213781">
                <a:moveTo>
                  <a:pt x="43344" y="0"/>
                </a:moveTo>
                <a:lnTo>
                  <a:pt x="7044272" y="0"/>
                </a:lnTo>
                <a:cubicBezTo>
                  <a:pt x="7068210" y="0"/>
                  <a:pt x="7087616" y="19406"/>
                  <a:pt x="7087616" y="43344"/>
                </a:cubicBezTo>
                <a:lnTo>
                  <a:pt x="7087616" y="1170437"/>
                </a:lnTo>
                <a:cubicBezTo>
                  <a:pt x="7087616" y="1194376"/>
                  <a:pt x="7068210" y="1213781"/>
                  <a:pt x="7044272" y="1213781"/>
                </a:cubicBezTo>
                <a:lnTo>
                  <a:pt x="43344" y="1213781"/>
                </a:lnTo>
                <a:cubicBezTo>
                  <a:pt x="19406" y="1213781"/>
                  <a:pt x="0" y="1194376"/>
                  <a:pt x="0" y="1170437"/>
                </a:cubicBezTo>
                <a:lnTo>
                  <a:pt x="0" y="43344"/>
                </a:lnTo>
                <a:cubicBezTo>
                  <a:pt x="0" y="19422"/>
                  <a:pt x="19422" y="0"/>
                  <a:pt x="4334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45312" y="5819648"/>
            <a:ext cx="151723" cy="151723"/>
          </a:xfrm>
          <a:custGeom>
            <a:avLst/>
            <a:gdLst/>
            <a:ahLst/>
            <a:cxnLst/>
            <a:rect l="l" t="t" r="r" b="b"/>
            <a:pathLst>
              <a:path w="151723" h="151723">
                <a:moveTo>
                  <a:pt x="75861" y="151723"/>
                </a:moveTo>
                <a:cubicBezTo>
                  <a:pt x="117730" y="151723"/>
                  <a:pt x="151723" y="117730"/>
                  <a:pt x="151723" y="75861"/>
                </a:cubicBezTo>
                <a:cubicBezTo>
                  <a:pt x="151723" y="33992"/>
                  <a:pt x="117730" y="0"/>
                  <a:pt x="75861" y="0"/>
                </a:cubicBezTo>
                <a:cubicBezTo>
                  <a:pt x="33992" y="0"/>
                  <a:pt x="0" y="33992"/>
                  <a:pt x="0" y="75861"/>
                </a:cubicBezTo>
                <a:cubicBezTo>
                  <a:pt x="0" y="117730"/>
                  <a:pt x="33992" y="151723"/>
                  <a:pt x="75861" y="151723"/>
                </a:cubicBezTo>
                <a:close/>
                <a:moveTo>
                  <a:pt x="49488" y="49488"/>
                </a:moveTo>
                <a:cubicBezTo>
                  <a:pt x="52273" y="46702"/>
                  <a:pt x="56777" y="46702"/>
                  <a:pt x="59533" y="49488"/>
                </a:cubicBezTo>
                <a:lnTo>
                  <a:pt x="75832" y="65786"/>
                </a:lnTo>
                <a:lnTo>
                  <a:pt x="92130" y="49488"/>
                </a:lnTo>
                <a:cubicBezTo>
                  <a:pt x="94916" y="46702"/>
                  <a:pt x="99420" y="46702"/>
                  <a:pt x="102176" y="49488"/>
                </a:cubicBezTo>
                <a:cubicBezTo>
                  <a:pt x="104932" y="52273"/>
                  <a:pt x="104961" y="56777"/>
                  <a:pt x="102176" y="59533"/>
                </a:cubicBezTo>
                <a:lnTo>
                  <a:pt x="85877" y="75832"/>
                </a:lnTo>
                <a:lnTo>
                  <a:pt x="102176" y="92130"/>
                </a:lnTo>
                <a:cubicBezTo>
                  <a:pt x="104961" y="94916"/>
                  <a:pt x="104961" y="99420"/>
                  <a:pt x="102176" y="102176"/>
                </a:cubicBezTo>
                <a:cubicBezTo>
                  <a:pt x="99390" y="104932"/>
                  <a:pt x="94886" y="104961"/>
                  <a:pt x="92130" y="102176"/>
                </a:cubicBezTo>
                <a:lnTo>
                  <a:pt x="75832" y="85877"/>
                </a:lnTo>
                <a:lnTo>
                  <a:pt x="59533" y="102176"/>
                </a:lnTo>
                <a:cubicBezTo>
                  <a:pt x="56748" y="104961"/>
                  <a:pt x="52244" y="104961"/>
                  <a:pt x="49488" y="102176"/>
                </a:cubicBezTo>
                <a:cubicBezTo>
                  <a:pt x="46732" y="99390"/>
                  <a:pt x="46702" y="94886"/>
                  <a:pt x="49488" y="92130"/>
                </a:cubicBezTo>
                <a:lnTo>
                  <a:pt x="65786" y="75832"/>
                </a:lnTo>
                <a:lnTo>
                  <a:pt x="49488" y="59533"/>
                </a:lnTo>
                <a:cubicBezTo>
                  <a:pt x="46702" y="56748"/>
                  <a:pt x="46702" y="52244"/>
                  <a:pt x="49488" y="4948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99989" y="5765461"/>
            <a:ext cx="216746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消息可能丢失（网络丢包）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5312" y="6166443"/>
            <a:ext cx="151723" cy="151723"/>
          </a:xfrm>
          <a:custGeom>
            <a:avLst/>
            <a:gdLst/>
            <a:ahLst/>
            <a:cxnLst/>
            <a:rect l="l" t="t" r="r" b="b"/>
            <a:pathLst>
              <a:path w="151723" h="151723">
                <a:moveTo>
                  <a:pt x="119659" y="10194"/>
                </a:moveTo>
                <a:cubicBezTo>
                  <a:pt x="123215" y="8712"/>
                  <a:pt x="127275" y="9542"/>
                  <a:pt x="130001" y="12239"/>
                </a:cubicBezTo>
                <a:lnTo>
                  <a:pt x="148967" y="31204"/>
                </a:lnTo>
                <a:cubicBezTo>
                  <a:pt x="150745" y="32982"/>
                  <a:pt x="151752" y="35382"/>
                  <a:pt x="151752" y="37901"/>
                </a:cubicBezTo>
                <a:cubicBezTo>
                  <a:pt x="151752" y="40420"/>
                  <a:pt x="150745" y="42820"/>
                  <a:pt x="148967" y="44598"/>
                </a:cubicBezTo>
                <a:lnTo>
                  <a:pt x="130001" y="63564"/>
                </a:lnTo>
                <a:cubicBezTo>
                  <a:pt x="127275" y="66290"/>
                  <a:pt x="123215" y="67090"/>
                  <a:pt x="119659" y="65608"/>
                </a:cubicBezTo>
                <a:cubicBezTo>
                  <a:pt x="116103" y="64127"/>
                  <a:pt x="113792" y="60719"/>
                  <a:pt x="113792" y="56896"/>
                </a:cubicBezTo>
                <a:lnTo>
                  <a:pt x="113792" y="47413"/>
                </a:lnTo>
                <a:lnTo>
                  <a:pt x="104309" y="47413"/>
                </a:lnTo>
                <a:cubicBezTo>
                  <a:pt x="101316" y="47413"/>
                  <a:pt x="98501" y="48806"/>
                  <a:pt x="96723" y="51206"/>
                </a:cubicBezTo>
                <a:lnTo>
                  <a:pt x="87122" y="64008"/>
                </a:lnTo>
                <a:lnTo>
                  <a:pt x="75269" y="48213"/>
                </a:lnTo>
                <a:lnTo>
                  <a:pt x="81551" y="39827"/>
                </a:lnTo>
                <a:cubicBezTo>
                  <a:pt x="86915" y="32656"/>
                  <a:pt x="95360" y="28448"/>
                  <a:pt x="104309" y="28448"/>
                </a:cubicBezTo>
                <a:lnTo>
                  <a:pt x="113792" y="28448"/>
                </a:lnTo>
                <a:lnTo>
                  <a:pt x="113792" y="18965"/>
                </a:lnTo>
                <a:cubicBezTo>
                  <a:pt x="113792" y="15143"/>
                  <a:pt x="116103" y="11676"/>
                  <a:pt x="119659" y="10194"/>
                </a:cubicBezTo>
                <a:close/>
                <a:moveTo>
                  <a:pt x="45635" y="87715"/>
                </a:moveTo>
                <a:lnTo>
                  <a:pt x="57489" y="103509"/>
                </a:lnTo>
                <a:lnTo>
                  <a:pt x="51206" y="111895"/>
                </a:lnTo>
                <a:cubicBezTo>
                  <a:pt x="45843" y="119067"/>
                  <a:pt x="37397" y="123275"/>
                  <a:pt x="28448" y="123275"/>
                </a:cubicBezTo>
                <a:lnTo>
                  <a:pt x="9483" y="123275"/>
                </a:lnTo>
                <a:cubicBezTo>
                  <a:pt x="4238" y="123275"/>
                  <a:pt x="0" y="119037"/>
                  <a:pt x="0" y="113792"/>
                </a:cubicBezTo>
                <a:cubicBezTo>
                  <a:pt x="0" y="108547"/>
                  <a:pt x="4238" y="104309"/>
                  <a:pt x="9483" y="104309"/>
                </a:cubicBezTo>
                <a:lnTo>
                  <a:pt x="28448" y="104309"/>
                </a:lnTo>
                <a:cubicBezTo>
                  <a:pt x="31441" y="104309"/>
                  <a:pt x="34256" y="102917"/>
                  <a:pt x="36034" y="100516"/>
                </a:cubicBezTo>
                <a:lnTo>
                  <a:pt x="45635" y="87715"/>
                </a:lnTo>
                <a:close/>
                <a:moveTo>
                  <a:pt x="129972" y="139454"/>
                </a:moveTo>
                <a:cubicBezTo>
                  <a:pt x="127246" y="142181"/>
                  <a:pt x="123186" y="142981"/>
                  <a:pt x="119630" y="141499"/>
                </a:cubicBezTo>
                <a:cubicBezTo>
                  <a:pt x="116074" y="140018"/>
                  <a:pt x="113792" y="136580"/>
                  <a:pt x="113792" y="132757"/>
                </a:cubicBezTo>
                <a:lnTo>
                  <a:pt x="113792" y="123275"/>
                </a:lnTo>
                <a:lnTo>
                  <a:pt x="104309" y="123275"/>
                </a:lnTo>
                <a:cubicBezTo>
                  <a:pt x="95360" y="123275"/>
                  <a:pt x="86915" y="119067"/>
                  <a:pt x="81551" y="111895"/>
                </a:cubicBezTo>
                <a:lnTo>
                  <a:pt x="36034" y="51206"/>
                </a:lnTo>
                <a:cubicBezTo>
                  <a:pt x="34256" y="48806"/>
                  <a:pt x="31441" y="47413"/>
                  <a:pt x="28448" y="47413"/>
                </a:cubicBezTo>
                <a:lnTo>
                  <a:pt x="9483" y="47413"/>
                </a:lnTo>
                <a:cubicBezTo>
                  <a:pt x="4238" y="47413"/>
                  <a:pt x="0" y="43176"/>
                  <a:pt x="0" y="37931"/>
                </a:cubicBezTo>
                <a:cubicBezTo>
                  <a:pt x="0" y="32686"/>
                  <a:pt x="4238" y="28448"/>
                  <a:pt x="9483" y="28448"/>
                </a:cubicBezTo>
                <a:lnTo>
                  <a:pt x="28448" y="28448"/>
                </a:lnTo>
                <a:cubicBezTo>
                  <a:pt x="37397" y="28448"/>
                  <a:pt x="45843" y="32656"/>
                  <a:pt x="51206" y="39827"/>
                </a:cubicBezTo>
                <a:lnTo>
                  <a:pt x="96723" y="100516"/>
                </a:lnTo>
                <a:cubicBezTo>
                  <a:pt x="98501" y="102917"/>
                  <a:pt x="101316" y="104309"/>
                  <a:pt x="104309" y="104309"/>
                </a:cubicBezTo>
                <a:lnTo>
                  <a:pt x="113792" y="104309"/>
                </a:lnTo>
                <a:lnTo>
                  <a:pt x="113792" y="94827"/>
                </a:lnTo>
                <a:cubicBezTo>
                  <a:pt x="113792" y="91004"/>
                  <a:pt x="116103" y="87537"/>
                  <a:pt x="119659" y="86055"/>
                </a:cubicBezTo>
                <a:cubicBezTo>
                  <a:pt x="123215" y="84574"/>
                  <a:pt x="127275" y="85403"/>
                  <a:pt x="130001" y="88100"/>
                </a:cubicBezTo>
                <a:lnTo>
                  <a:pt x="148967" y="107065"/>
                </a:lnTo>
                <a:cubicBezTo>
                  <a:pt x="150745" y="108843"/>
                  <a:pt x="151752" y="111244"/>
                  <a:pt x="151752" y="113762"/>
                </a:cubicBezTo>
                <a:cubicBezTo>
                  <a:pt x="151752" y="116281"/>
                  <a:pt x="150745" y="118682"/>
                  <a:pt x="148967" y="120460"/>
                </a:cubicBezTo>
                <a:lnTo>
                  <a:pt x="130001" y="139425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99989" y="6112256"/>
            <a:ext cx="216746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消息可能乱序（网络延迟）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4795" y="6513237"/>
            <a:ext cx="132757" cy="151723"/>
          </a:xfrm>
          <a:custGeom>
            <a:avLst/>
            <a:gdLst/>
            <a:ahLst/>
            <a:cxnLst/>
            <a:rect l="l" t="t" r="r" b="b"/>
            <a:pathLst>
              <a:path w="132757" h="151723">
                <a:moveTo>
                  <a:pt x="56896" y="0"/>
                </a:moveTo>
                <a:cubicBezTo>
                  <a:pt x="46435" y="0"/>
                  <a:pt x="37931" y="8505"/>
                  <a:pt x="37931" y="18965"/>
                </a:cubicBezTo>
                <a:lnTo>
                  <a:pt x="37931" y="94827"/>
                </a:lnTo>
                <a:cubicBezTo>
                  <a:pt x="37931" y="105287"/>
                  <a:pt x="46435" y="113792"/>
                  <a:pt x="56896" y="113792"/>
                </a:cubicBezTo>
                <a:lnTo>
                  <a:pt x="113792" y="113792"/>
                </a:lnTo>
                <a:cubicBezTo>
                  <a:pt x="124253" y="113792"/>
                  <a:pt x="132757" y="105287"/>
                  <a:pt x="132757" y="94827"/>
                </a:cubicBezTo>
                <a:lnTo>
                  <a:pt x="132757" y="35382"/>
                </a:lnTo>
                <a:cubicBezTo>
                  <a:pt x="132757" y="30226"/>
                  <a:pt x="130653" y="25277"/>
                  <a:pt x="126920" y="21692"/>
                </a:cubicBezTo>
                <a:lnTo>
                  <a:pt x="109821" y="5275"/>
                </a:lnTo>
                <a:cubicBezTo>
                  <a:pt x="106295" y="1897"/>
                  <a:pt x="101583" y="0"/>
                  <a:pt x="96694" y="0"/>
                </a:cubicBezTo>
                <a:lnTo>
                  <a:pt x="56896" y="0"/>
                </a:lnTo>
                <a:close/>
                <a:moveTo>
                  <a:pt x="18965" y="37931"/>
                </a:moveTo>
                <a:cubicBezTo>
                  <a:pt x="8505" y="37931"/>
                  <a:pt x="0" y="46435"/>
                  <a:pt x="0" y="56896"/>
                </a:cubicBezTo>
                <a:lnTo>
                  <a:pt x="0" y="132757"/>
                </a:lnTo>
                <a:cubicBezTo>
                  <a:pt x="0" y="143218"/>
                  <a:pt x="8505" y="151723"/>
                  <a:pt x="18965" y="151723"/>
                </a:cubicBezTo>
                <a:lnTo>
                  <a:pt x="75861" y="151723"/>
                </a:lnTo>
                <a:cubicBezTo>
                  <a:pt x="86322" y="151723"/>
                  <a:pt x="94827" y="143218"/>
                  <a:pt x="94827" y="132757"/>
                </a:cubicBezTo>
                <a:lnTo>
                  <a:pt x="94827" y="128016"/>
                </a:lnTo>
                <a:lnTo>
                  <a:pt x="75861" y="128016"/>
                </a:lnTo>
                <a:lnTo>
                  <a:pt x="75861" y="132757"/>
                </a:lnTo>
                <a:lnTo>
                  <a:pt x="18965" y="132757"/>
                </a:lnTo>
                <a:lnTo>
                  <a:pt x="18965" y="56896"/>
                </a:lnTo>
                <a:lnTo>
                  <a:pt x="23707" y="56896"/>
                </a:lnTo>
                <a:lnTo>
                  <a:pt x="23707" y="37931"/>
                </a:lnTo>
                <a:lnTo>
                  <a:pt x="18965" y="3793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99989" y="6459051"/>
            <a:ext cx="216746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消息可能重复（重传机制）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2093" y="1213781"/>
            <a:ext cx="7542784" cy="2817707"/>
          </a:xfrm>
          <a:custGeom>
            <a:avLst/>
            <a:gdLst/>
            <a:ahLst/>
            <a:cxnLst/>
            <a:rect l="l" t="t" r="r" b="b"/>
            <a:pathLst>
              <a:path w="7542784" h="2817707">
                <a:moveTo>
                  <a:pt x="43349" y="0"/>
                </a:moveTo>
                <a:lnTo>
                  <a:pt x="7456083" y="0"/>
                </a:lnTo>
                <a:cubicBezTo>
                  <a:pt x="7503967" y="0"/>
                  <a:pt x="7542784" y="38817"/>
                  <a:pt x="7542784" y="86701"/>
                </a:cubicBezTo>
                <a:lnTo>
                  <a:pt x="7542784" y="2731006"/>
                </a:lnTo>
                <a:cubicBezTo>
                  <a:pt x="7542784" y="2778889"/>
                  <a:pt x="7503967" y="2817707"/>
                  <a:pt x="7456083" y="2817707"/>
                </a:cubicBez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82093" y="1213781"/>
            <a:ext cx="43349" cy="2817707"/>
          </a:xfrm>
          <a:custGeom>
            <a:avLst/>
            <a:gdLst/>
            <a:ahLst/>
            <a:cxnLst/>
            <a:rect l="l" t="t" r="r" b="b"/>
            <a:pathLst>
              <a:path w="43349" h="2817707">
                <a:moveTo>
                  <a:pt x="43349" y="0"/>
                </a:moveTo>
                <a:lnTo>
                  <a:pt x="43349" y="0"/>
                </a:lnTo>
                <a:lnTo>
                  <a:pt x="43349" y="2817707"/>
                </a:ln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53027" y="1473877"/>
            <a:ext cx="260096" cy="260096"/>
          </a:xfrm>
          <a:custGeom>
            <a:avLst/>
            <a:gdLst/>
            <a:ahLst/>
            <a:cxnLst/>
            <a:rect l="l" t="t" r="r" b="b"/>
            <a:pathLst>
              <a:path w="260096" h="260096">
                <a:moveTo>
                  <a:pt x="130048" y="0"/>
                </a:moveTo>
                <a:cubicBezTo>
                  <a:pt x="137516" y="0"/>
                  <a:pt x="144374" y="4115"/>
                  <a:pt x="147930" y="10668"/>
                </a:cubicBezTo>
                <a:lnTo>
                  <a:pt x="257658" y="213868"/>
                </a:lnTo>
                <a:cubicBezTo>
                  <a:pt x="261061" y="220167"/>
                  <a:pt x="260909" y="227787"/>
                  <a:pt x="257251" y="233934"/>
                </a:cubicBezTo>
                <a:cubicBezTo>
                  <a:pt x="253594" y="240081"/>
                  <a:pt x="246939" y="243840"/>
                  <a:pt x="239776" y="243840"/>
                </a:cubicBezTo>
                <a:lnTo>
                  <a:pt x="20320" y="243840"/>
                </a:lnTo>
                <a:cubicBezTo>
                  <a:pt x="13157" y="243840"/>
                  <a:pt x="6553" y="240081"/>
                  <a:pt x="2845" y="233934"/>
                </a:cubicBezTo>
                <a:cubicBezTo>
                  <a:pt x="-864" y="227787"/>
                  <a:pt x="-965" y="220167"/>
                  <a:pt x="2438" y="213868"/>
                </a:cubicBezTo>
                <a:lnTo>
                  <a:pt x="112166" y="10668"/>
                </a:lnTo>
                <a:cubicBezTo>
                  <a:pt x="115722" y="4115"/>
                  <a:pt x="122580" y="0"/>
                  <a:pt x="130048" y="0"/>
                </a:cubicBezTo>
                <a:close/>
                <a:moveTo>
                  <a:pt x="130048" y="85344"/>
                </a:moveTo>
                <a:cubicBezTo>
                  <a:pt x="123292" y="85344"/>
                  <a:pt x="117856" y="90780"/>
                  <a:pt x="117856" y="97536"/>
                </a:cubicBezTo>
                <a:lnTo>
                  <a:pt x="117856" y="154432"/>
                </a:lnTo>
                <a:cubicBezTo>
                  <a:pt x="117856" y="161188"/>
                  <a:pt x="123292" y="166624"/>
                  <a:pt x="130048" y="166624"/>
                </a:cubicBezTo>
                <a:cubicBezTo>
                  <a:pt x="136804" y="166624"/>
                  <a:pt x="142240" y="161188"/>
                  <a:pt x="142240" y="154432"/>
                </a:cubicBezTo>
                <a:lnTo>
                  <a:pt x="142240" y="97536"/>
                </a:lnTo>
                <a:cubicBezTo>
                  <a:pt x="142240" y="90780"/>
                  <a:pt x="136804" y="85344"/>
                  <a:pt x="130048" y="85344"/>
                </a:cubicBezTo>
                <a:close/>
                <a:moveTo>
                  <a:pt x="143612" y="195072"/>
                </a:moveTo>
                <a:cubicBezTo>
                  <a:pt x="143920" y="190037"/>
                  <a:pt x="141409" y="185247"/>
                  <a:pt x="137093" y="182637"/>
                </a:cubicBezTo>
                <a:cubicBezTo>
                  <a:pt x="132777" y="180026"/>
                  <a:pt x="127369" y="180026"/>
                  <a:pt x="123053" y="182637"/>
                </a:cubicBezTo>
                <a:cubicBezTo>
                  <a:pt x="118737" y="185247"/>
                  <a:pt x="116227" y="190037"/>
                  <a:pt x="116535" y="195072"/>
                </a:cubicBezTo>
                <a:cubicBezTo>
                  <a:pt x="116227" y="200107"/>
                  <a:pt x="118737" y="204897"/>
                  <a:pt x="123053" y="207507"/>
                </a:cubicBezTo>
                <a:cubicBezTo>
                  <a:pt x="127369" y="210118"/>
                  <a:pt x="132777" y="210118"/>
                  <a:pt x="137093" y="207507"/>
                </a:cubicBezTo>
                <a:cubicBezTo>
                  <a:pt x="141409" y="204897"/>
                  <a:pt x="143920" y="200107"/>
                  <a:pt x="143612" y="19507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975683" y="1430528"/>
            <a:ext cx="964523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8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故障模型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20515" y="1907371"/>
            <a:ext cx="7174315" cy="56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主要考虑</a:t>
            </a:r>
            <a:r>
              <a:rPr lang="en-US" sz="1365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崩溃故障（Crash Fault）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，即节点在某个时刻突然停止响应。部分 Gossip 协议同时考虑网络分区与暂时性失联，将其视为"可能恢复的故障"。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20515" y="2600960"/>
            <a:ext cx="7087616" cy="1213781"/>
          </a:xfrm>
          <a:custGeom>
            <a:avLst/>
            <a:gdLst/>
            <a:ahLst/>
            <a:cxnLst/>
            <a:rect l="l" t="t" r="r" b="b"/>
            <a:pathLst>
              <a:path w="7087616" h="1213781">
                <a:moveTo>
                  <a:pt x="43344" y="0"/>
                </a:moveTo>
                <a:lnTo>
                  <a:pt x="7044272" y="0"/>
                </a:lnTo>
                <a:cubicBezTo>
                  <a:pt x="7068210" y="0"/>
                  <a:pt x="7087616" y="19406"/>
                  <a:pt x="7087616" y="43344"/>
                </a:cubicBezTo>
                <a:lnTo>
                  <a:pt x="7087616" y="1170437"/>
                </a:lnTo>
                <a:cubicBezTo>
                  <a:pt x="7087616" y="1194376"/>
                  <a:pt x="7068210" y="1213781"/>
                  <a:pt x="7044272" y="1213781"/>
                </a:cubicBezTo>
                <a:lnTo>
                  <a:pt x="43344" y="1213781"/>
                </a:lnTo>
                <a:cubicBezTo>
                  <a:pt x="19406" y="1213781"/>
                  <a:pt x="0" y="1194376"/>
                  <a:pt x="0" y="1170437"/>
                </a:cubicBezTo>
                <a:lnTo>
                  <a:pt x="0" y="43344"/>
                </a:lnTo>
                <a:cubicBezTo>
                  <a:pt x="0" y="19422"/>
                  <a:pt x="19422" y="0"/>
                  <a:pt x="4334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672237" y="2774357"/>
            <a:ext cx="151723" cy="151723"/>
          </a:xfrm>
          <a:custGeom>
            <a:avLst/>
            <a:gdLst/>
            <a:ahLst/>
            <a:cxnLst/>
            <a:rect l="l" t="t" r="r" b="b"/>
            <a:pathLst>
              <a:path w="151723" h="151723">
                <a:moveTo>
                  <a:pt x="85344" y="0"/>
                </a:moveTo>
                <a:cubicBezTo>
                  <a:pt x="85344" y="-5245"/>
                  <a:pt x="81106" y="-9483"/>
                  <a:pt x="75861" y="-9483"/>
                </a:cubicBezTo>
                <a:cubicBezTo>
                  <a:pt x="70616" y="-9483"/>
                  <a:pt x="66379" y="-5245"/>
                  <a:pt x="66379" y="0"/>
                </a:cubicBezTo>
                <a:lnTo>
                  <a:pt x="66379" y="75861"/>
                </a:lnTo>
                <a:cubicBezTo>
                  <a:pt x="66379" y="81106"/>
                  <a:pt x="70616" y="85344"/>
                  <a:pt x="75861" y="85344"/>
                </a:cubicBezTo>
                <a:cubicBezTo>
                  <a:pt x="81106" y="85344"/>
                  <a:pt x="85344" y="81106"/>
                  <a:pt x="85344" y="75861"/>
                </a:cubicBezTo>
                <a:lnTo>
                  <a:pt x="85344" y="0"/>
                </a:lnTo>
                <a:close/>
                <a:moveTo>
                  <a:pt x="43354" y="29159"/>
                </a:moveTo>
                <a:cubicBezTo>
                  <a:pt x="47650" y="26166"/>
                  <a:pt x="48688" y="20240"/>
                  <a:pt x="45695" y="15943"/>
                </a:cubicBezTo>
                <a:cubicBezTo>
                  <a:pt x="42702" y="11646"/>
                  <a:pt x="36775" y="10609"/>
                  <a:pt x="32478" y="13602"/>
                </a:cubicBezTo>
                <a:cubicBezTo>
                  <a:pt x="12861" y="27292"/>
                  <a:pt x="0" y="50080"/>
                  <a:pt x="0" y="75861"/>
                </a:cubicBezTo>
                <a:cubicBezTo>
                  <a:pt x="0" y="117763"/>
                  <a:pt x="33960" y="151723"/>
                  <a:pt x="75861" y="151723"/>
                </a:cubicBezTo>
                <a:cubicBezTo>
                  <a:pt x="117763" y="151723"/>
                  <a:pt x="151723" y="117763"/>
                  <a:pt x="151723" y="75861"/>
                </a:cubicBezTo>
                <a:cubicBezTo>
                  <a:pt x="151723" y="50080"/>
                  <a:pt x="138862" y="27292"/>
                  <a:pt x="119215" y="13602"/>
                </a:cubicBezTo>
                <a:cubicBezTo>
                  <a:pt x="114918" y="10609"/>
                  <a:pt x="109021" y="11646"/>
                  <a:pt x="105998" y="15943"/>
                </a:cubicBezTo>
                <a:cubicBezTo>
                  <a:pt x="102976" y="20240"/>
                  <a:pt x="104043" y="26137"/>
                  <a:pt x="108339" y="29159"/>
                </a:cubicBezTo>
                <a:cubicBezTo>
                  <a:pt x="123097" y="39472"/>
                  <a:pt x="132728" y="56540"/>
                  <a:pt x="132728" y="75861"/>
                </a:cubicBezTo>
                <a:cubicBezTo>
                  <a:pt x="132728" y="107273"/>
                  <a:pt x="107243" y="132757"/>
                  <a:pt x="75832" y="132757"/>
                </a:cubicBezTo>
                <a:cubicBezTo>
                  <a:pt x="44420" y="132757"/>
                  <a:pt x="18965" y="107273"/>
                  <a:pt x="18965" y="75861"/>
                </a:cubicBezTo>
                <a:cubicBezTo>
                  <a:pt x="18965" y="56540"/>
                  <a:pt x="28596" y="39442"/>
                  <a:pt x="43354" y="2915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926915" y="2731008"/>
            <a:ext cx="428074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Crash Fault：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节点突然停止响应，不再发送或接收消息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62755" y="3121152"/>
            <a:ext cx="170688" cy="151723"/>
          </a:xfrm>
          <a:custGeom>
            <a:avLst/>
            <a:gdLst/>
            <a:ahLst/>
            <a:cxnLst/>
            <a:rect l="l" t="t" r="r" b="b"/>
            <a:pathLst>
              <a:path w="170688" h="151723">
                <a:moveTo>
                  <a:pt x="12150" y="-7379"/>
                </a:moveTo>
                <a:cubicBezTo>
                  <a:pt x="9364" y="-10164"/>
                  <a:pt x="4860" y="-10164"/>
                  <a:pt x="2104" y="-7379"/>
                </a:cubicBezTo>
                <a:cubicBezTo>
                  <a:pt x="-652" y="-4593"/>
                  <a:pt x="-682" y="-89"/>
                  <a:pt x="2074" y="2697"/>
                </a:cubicBezTo>
                <a:lnTo>
                  <a:pt x="158538" y="159161"/>
                </a:lnTo>
                <a:cubicBezTo>
                  <a:pt x="161324" y="161946"/>
                  <a:pt x="165828" y="161946"/>
                  <a:pt x="168584" y="159161"/>
                </a:cubicBezTo>
                <a:cubicBezTo>
                  <a:pt x="171340" y="156375"/>
                  <a:pt x="171370" y="151871"/>
                  <a:pt x="168584" y="149115"/>
                </a:cubicBezTo>
                <a:lnTo>
                  <a:pt x="132431" y="112962"/>
                </a:lnTo>
                <a:cubicBezTo>
                  <a:pt x="133676" y="111955"/>
                  <a:pt x="134891" y="110858"/>
                  <a:pt x="136017" y="109732"/>
                </a:cubicBezTo>
                <a:lnTo>
                  <a:pt x="157086" y="88663"/>
                </a:lnTo>
                <a:cubicBezTo>
                  <a:pt x="165769" y="79980"/>
                  <a:pt x="170658" y="68186"/>
                  <a:pt x="170658" y="55888"/>
                </a:cubicBezTo>
                <a:cubicBezTo>
                  <a:pt x="170658" y="30285"/>
                  <a:pt x="149915" y="9512"/>
                  <a:pt x="124282" y="9512"/>
                </a:cubicBezTo>
                <a:cubicBezTo>
                  <a:pt x="113229" y="9512"/>
                  <a:pt x="102620" y="13454"/>
                  <a:pt x="94264" y="20536"/>
                </a:cubicBezTo>
                <a:cubicBezTo>
                  <a:pt x="100279" y="23529"/>
                  <a:pt x="105732" y="27500"/>
                  <a:pt x="110414" y="32241"/>
                </a:cubicBezTo>
                <a:cubicBezTo>
                  <a:pt x="114592" y="29782"/>
                  <a:pt x="119363" y="28478"/>
                  <a:pt x="124282" y="28478"/>
                </a:cubicBezTo>
                <a:cubicBezTo>
                  <a:pt x="139425" y="28478"/>
                  <a:pt x="151693" y="40746"/>
                  <a:pt x="151693" y="55888"/>
                </a:cubicBezTo>
                <a:cubicBezTo>
                  <a:pt x="151693" y="63149"/>
                  <a:pt x="148819" y="70112"/>
                  <a:pt x="143662" y="75269"/>
                </a:cubicBezTo>
                <a:lnTo>
                  <a:pt x="122593" y="96338"/>
                </a:lnTo>
                <a:cubicBezTo>
                  <a:pt x="121437" y="97494"/>
                  <a:pt x="120193" y="98531"/>
                  <a:pt x="118859" y="99449"/>
                </a:cubicBezTo>
                <a:lnTo>
                  <a:pt x="104783" y="85374"/>
                </a:lnTo>
                <a:cubicBezTo>
                  <a:pt x="109673" y="85107"/>
                  <a:pt x="113585" y="81106"/>
                  <a:pt x="113733" y="76158"/>
                </a:cubicBezTo>
                <a:cubicBezTo>
                  <a:pt x="113733" y="75772"/>
                  <a:pt x="113733" y="75387"/>
                  <a:pt x="113733" y="75002"/>
                </a:cubicBezTo>
                <a:cubicBezTo>
                  <a:pt x="113733" y="49428"/>
                  <a:pt x="93019" y="28507"/>
                  <a:pt x="67357" y="28507"/>
                </a:cubicBezTo>
                <a:cubicBezTo>
                  <a:pt x="61667" y="28507"/>
                  <a:pt x="56126" y="29544"/>
                  <a:pt x="50910" y="31530"/>
                </a:cubicBezTo>
                <a:lnTo>
                  <a:pt x="12150" y="-7379"/>
                </a:lnTo>
                <a:close/>
                <a:moveTo>
                  <a:pt x="66942" y="47413"/>
                </a:moveTo>
                <a:cubicBezTo>
                  <a:pt x="67120" y="47413"/>
                  <a:pt x="67268" y="47413"/>
                  <a:pt x="67445" y="47413"/>
                </a:cubicBezTo>
                <a:cubicBezTo>
                  <a:pt x="71920" y="47413"/>
                  <a:pt x="76187" y="48510"/>
                  <a:pt x="79921" y="50436"/>
                </a:cubicBezTo>
                <a:cubicBezTo>
                  <a:pt x="80455" y="50792"/>
                  <a:pt x="80988" y="51118"/>
                  <a:pt x="81551" y="51355"/>
                </a:cubicBezTo>
                <a:cubicBezTo>
                  <a:pt x="89493" y="56185"/>
                  <a:pt x="94827" y="64956"/>
                  <a:pt x="94827" y="74943"/>
                </a:cubicBezTo>
                <a:cubicBezTo>
                  <a:pt x="94827" y="75061"/>
                  <a:pt x="94827" y="75180"/>
                  <a:pt x="94827" y="75298"/>
                </a:cubicBezTo>
                <a:lnTo>
                  <a:pt x="66942" y="47413"/>
                </a:lnTo>
                <a:close/>
                <a:moveTo>
                  <a:pt x="102591" y="123275"/>
                </a:moveTo>
                <a:lnTo>
                  <a:pt x="56896" y="77580"/>
                </a:lnTo>
                <a:cubicBezTo>
                  <a:pt x="57252" y="102650"/>
                  <a:pt x="77521" y="122889"/>
                  <a:pt x="102561" y="123245"/>
                </a:cubicBezTo>
                <a:close/>
                <a:moveTo>
                  <a:pt x="41398" y="62082"/>
                </a:moveTo>
                <a:lnTo>
                  <a:pt x="27974" y="48658"/>
                </a:lnTo>
                <a:lnTo>
                  <a:pt x="13572" y="63060"/>
                </a:lnTo>
                <a:cubicBezTo>
                  <a:pt x="4889" y="71742"/>
                  <a:pt x="0" y="83536"/>
                  <a:pt x="0" y="95834"/>
                </a:cubicBezTo>
                <a:cubicBezTo>
                  <a:pt x="0" y="121437"/>
                  <a:pt x="20743" y="142210"/>
                  <a:pt x="46376" y="142210"/>
                </a:cubicBezTo>
                <a:cubicBezTo>
                  <a:pt x="57400" y="142210"/>
                  <a:pt x="68038" y="138269"/>
                  <a:pt x="76395" y="131187"/>
                </a:cubicBezTo>
                <a:cubicBezTo>
                  <a:pt x="70379" y="128194"/>
                  <a:pt x="64897" y="124223"/>
                  <a:pt x="60215" y="119482"/>
                </a:cubicBezTo>
                <a:cubicBezTo>
                  <a:pt x="56066" y="121912"/>
                  <a:pt x="51295" y="123215"/>
                  <a:pt x="46376" y="123215"/>
                </a:cubicBezTo>
                <a:cubicBezTo>
                  <a:pt x="31234" y="123215"/>
                  <a:pt x="18965" y="110947"/>
                  <a:pt x="18965" y="95805"/>
                </a:cubicBezTo>
                <a:cubicBezTo>
                  <a:pt x="18965" y="88544"/>
                  <a:pt x="21840" y="81581"/>
                  <a:pt x="26996" y="76424"/>
                </a:cubicBezTo>
                <a:lnTo>
                  <a:pt x="41398" y="62023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26915" y="3077803"/>
            <a:ext cx="3901440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网络分区：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部分节点之间网络中断，形成多个孤岛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72237" y="3467947"/>
            <a:ext cx="151723" cy="151723"/>
          </a:xfrm>
          <a:custGeom>
            <a:avLst/>
            <a:gdLst/>
            <a:ahLst/>
            <a:cxnLst/>
            <a:rect l="l" t="t" r="r" b="b"/>
            <a:pathLst>
              <a:path w="151723" h="151723">
                <a:moveTo>
                  <a:pt x="75861" y="0"/>
                </a:moveTo>
                <a:cubicBezTo>
                  <a:pt x="117730" y="0"/>
                  <a:pt x="151723" y="33992"/>
                  <a:pt x="151723" y="75861"/>
                </a:cubicBezTo>
                <a:cubicBezTo>
                  <a:pt x="151723" y="117730"/>
                  <a:pt x="117730" y="151723"/>
                  <a:pt x="75861" y="151723"/>
                </a:cubicBezTo>
                <a:cubicBezTo>
                  <a:pt x="33992" y="151723"/>
                  <a:pt x="0" y="117730"/>
                  <a:pt x="0" y="75861"/>
                </a:cubicBezTo>
                <a:cubicBezTo>
                  <a:pt x="0" y="33992"/>
                  <a:pt x="33992" y="0"/>
                  <a:pt x="75861" y="0"/>
                </a:cubicBezTo>
                <a:close/>
                <a:moveTo>
                  <a:pt x="68749" y="35560"/>
                </a:moveTo>
                <a:lnTo>
                  <a:pt x="68749" y="75861"/>
                </a:lnTo>
                <a:cubicBezTo>
                  <a:pt x="68749" y="78232"/>
                  <a:pt x="69935" y="80455"/>
                  <a:pt x="71920" y="81788"/>
                </a:cubicBezTo>
                <a:lnTo>
                  <a:pt x="100368" y="100753"/>
                </a:lnTo>
                <a:cubicBezTo>
                  <a:pt x="103628" y="102946"/>
                  <a:pt x="108043" y="102057"/>
                  <a:pt x="110236" y="98768"/>
                </a:cubicBezTo>
                <a:cubicBezTo>
                  <a:pt x="112429" y="95479"/>
                  <a:pt x="111540" y="91093"/>
                  <a:pt x="108251" y="88900"/>
                </a:cubicBezTo>
                <a:lnTo>
                  <a:pt x="82973" y="72068"/>
                </a:lnTo>
                <a:lnTo>
                  <a:pt x="82973" y="35560"/>
                </a:lnTo>
                <a:cubicBezTo>
                  <a:pt x="82973" y="31619"/>
                  <a:pt x="79803" y="28448"/>
                  <a:pt x="75861" y="28448"/>
                </a:cubicBezTo>
                <a:cubicBezTo>
                  <a:pt x="71920" y="28448"/>
                  <a:pt x="68749" y="31619"/>
                  <a:pt x="68749" y="3556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926915" y="3424597"/>
            <a:ext cx="4248235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暂时失联：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节点因网络抖动暂时不可达，可能后续恢复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82093" y="4248235"/>
            <a:ext cx="7542784" cy="2817707"/>
          </a:xfrm>
          <a:custGeom>
            <a:avLst/>
            <a:gdLst/>
            <a:ahLst/>
            <a:cxnLst/>
            <a:rect l="l" t="t" r="r" b="b"/>
            <a:pathLst>
              <a:path w="7542784" h="2817707">
                <a:moveTo>
                  <a:pt x="43349" y="0"/>
                </a:moveTo>
                <a:lnTo>
                  <a:pt x="7456083" y="0"/>
                </a:lnTo>
                <a:cubicBezTo>
                  <a:pt x="7503967" y="0"/>
                  <a:pt x="7542784" y="38817"/>
                  <a:pt x="7542784" y="86701"/>
                </a:cubicBezTo>
                <a:lnTo>
                  <a:pt x="7542784" y="2731006"/>
                </a:lnTo>
                <a:cubicBezTo>
                  <a:pt x="7542784" y="2778889"/>
                  <a:pt x="7503967" y="2817707"/>
                  <a:pt x="7456083" y="2817707"/>
                </a:cubicBez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282093" y="4248235"/>
            <a:ext cx="43349" cy="2817707"/>
          </a:xfrm>
          <a:custGeom>
            <a:avLst/>
            <a:gdLst/>
            <a:ahLst/>
            <a:cxnLst/>
            <a:rect l="l" t="t" r="r" b="b"/>
            <a:pathLst>
              <a:path w="43349" h="2817707">
                <a:moveTo>
                  <a:pt x="43349" y="0"/>
                </a:moveTo>
                <a:lnTo>
                  <a:pt x="43349" y="0"/>
                </a:lnTo>
                <a:lnTo>
                  <a:pt x="43349" y="2817707"/>
                </a:lnTo>
                <a:lnTo>
                  <a:pt x="43349" y="2817707"/>
                </a:lnTo>
                <a:cubicBezTo>
                  <a:pt x="19408" y="2817707"/>
                  <a:pt x="0" y="2798299"/>
                  <a:pt x="0" y="2774357"/>
                </a:cubicBez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553027" y="4508331"/>
            <a:ext cx="260096" cy="260096"/>
          </a:xfrm>
          <a:custGeom>
            <a:avLst/>
            <a:gdLst/>
            <a:ahLst/>
            <a:cxnLst/>
            <a:rect l="l" t="t" r="r" b="b"/>
            <a:pathLst>
              <a:path w="260096" h="260096">
                <a:moveTo>
                  <a:pt x="33477" y="116078"/>
                </a:moveTo>
                <a:cubicBezTo>
                  <a:pt x="40234" y="68834"/>
                  <a:pt x="80924" y="32512"/>
                  <a:pt x="130048" y="32512"/>
                </a:cubicBezTo>
                <a:cubicBezTo>
                  <a:pt x="156972" y="32512"/>
                  <a:pt x="181356" y="43434"/>
                  <a:pt x="199034" y="61062"/>
                </a:cubicBezTo>
                <a:cubicBezTo>
                  <a:pt x="199136" y="61163"/>
                  <a:pt x="199238" y="61265"/>
                  <a:pt x="199339" y="61366"/>
                </a:cubicBezTo>
                <a:lnTo>
                  <a:pt x="203200" y="65024"/>
                </a:lnTo>
                <a:lnTo>
                  <a:pt x="178867" y="65024"/>
                </a:lnTo>
                <a:cubicBezTo>
                  <a:pt x="169875" y="65024"/>
                  <a:pt x="162611" y="72288"/>
                  <a:pt x="162611" y="81280"/>
                </a:cubicBezTo>
                <a:cubicBezTo>
                  <a:pt x="162611" y="90272"/>
                  <a:pt x="169875" y="97536"/>
                  <a:pt x="178867" y="97536"/>
                </a:cubicBezTo>
                <a:lnTo>
                  <a:pt x="243891" y="97536"/>
                </a:lnTo>
                <a:cubicBezTo>
                  <a:pt x="252882" y="97536"/>
                  <a:pt x="260147" y="90272"/>
                  <a:pt x="260147" y="81280"/>
                </a:cubicBezTo>
                <a:lnTo>
                  <a:pt x="260147" y="16256"/>
                </a:lnTo>
                <a:cubicBezTo>
                  <a:pt x="260147" y="7264"/>
                  <a:pt x="252882" y="0"/>
                  <a:pt x="243891" y="0"/>
                </a:cubicBezTo>
                <a:cubicBezTo>
                  <a:pt x="234899" y="0"/>
                  <a:pt x="227635" y="7264"/>
                  <a:pt x="227635" y="16256"/>
                </a:cubicBezTo>
                <a:lnTo>
                  <a:pt x="227635" y="43383"/>
                </a:lnTo>
                <a:lnTo>
                  <a:pt x="221894" y="37948"/>
                </a:lnTo>
                <a:cubicBezTo>
                  <a:pt x="198374" y="14529"/>
                  <a:pt x="165862" y="0"/>
                  <a:pt x="130048" y="0"/>
                </a:cubicBezTo>
                <a:cubicBezTo>
                  <a:pt x="64516" y="0"/>
                  <a:pt x="10312" y="48463"/>
                  <a:pt x="1321" y="111506"/>
                </a:cubicBezTo>
                <a:cubicBezTo>
                  <a:pt x="51" y="120396"/>
                  <a:pt x="6198" y="128626"/>
                  <a:pt x="15088" y="129896"/>
                </a:cubicBezTo>
                <a:cubicBezTo>
                  <a:pt x="23978" y="131166"/>
                  <a:pt x="32207" y="124968"/>
                  <a:pt x="33477" y="116129"/>
                </a:cubicBezTo>
                <a:close/>
                <a:moveTo>
                  <a:pt x="258775" y="148590"/>
                </a:moveTo>
                <a:cubicBezTo>
                  <a:pt x="260045" y="139700"/>
                  <a:pt x="253848" y="131470"/>
                  <a:pt x="245008" y="130200"/>
                </a:cubicBezTo>
                <a:cubicBezTo>
                  <a:pt x="236169" y="128930"/>
                  <a:pt x="227889" y="135128"/>
                  <a:pt x="226619" y="143967"/>
                </a:cubicBezTo>
                <a:cubicBezTo>
                  <a:pt x="219862" y="191211"/>
                  <a:pt x="179172" y="227533"/>
                  <a:pt x="130048" y="227533"/>
                </a:cubicBezTo>
                <a:cubicBezTo>
                  <a:pt x="103124" y="227533"/>
                  <a:pt x="78740" y="216611"/>
                  <a:pt x="61062" y="198984"/>
                </a:cubicBezTo>
                <a:cubicBezTo>
                  <a:pt x="60960" y="198882"/>
                  <a:pt x="60858" y="198780"/>
                  <a:pt x="60757" y="198679"/>
                </a:cubicBezTo>
                <a:lnTo>
                  <a:pt x="56896" y="195021"/>
                </a:lnTo>
                <a:lnTo>
                  <a:pt x="81229" y="195021"/>
                </a:lnTo>
                <a:cubicBezTo>
                  <a:pt x="90221" y="195021"/>
                  <a:pt x="97485" y="187757"/>
                  <a:pt x="97485" y="178765"/>
                </a:cubicBezTo>
                <a:cubicBezTo>
                  <a:pt x="97485" y="169774"/>
                  <a:pt x="90221" y="162509"/>
                  <a:pt x="81229" y="162509"/>
                </a:cubicBezTo>
                <a:lnTo>
                  <a:pt x="16256" y="162560"/>
                </a:lnTo>
                <a:cubicBezTo>
                  <a:pt x="11938" y="162560"/>
                  <a:pt x="7772" y="164287"/>
                  <a:pt x="4724" y="167386"/>
                </a:cubicBezTo>
                <a:cubicBezTo>
                  <a:pt x="1676" y="170485"/>
                  <a:pt x="-51" y="174600"/>
                  <a:pt x="0" y="178968"/>
                </a:cubicBezTo>
                <a:lnTo>
                  <a:pt x="508" y="243484"/>
                </a:lnTo>
                <a:cubicBezTo>
                  <a:pt x="559" y="252476"/>
                  <a:pt x="7925" y="259690"/>
                  <a:pt x="16916" y="259588"/>
                </a:cubicBezTo>
                <a:cubicBezTo>
                  <a:pt x="25908" y="259486"/>
                  <a:pt x="33122" y="252171"/>
                  <a:pt x="33020" y="243180"/>
                </a:cubicBezTo>
                <a:lnTo>
                  <a:pt x="32817" y="217018"/>
                </a:lnTo>
                <a:lnTo>
                  <a:pt x="38252" y="222148"/>
                </a:lnTo>
                <a:cubicBezTo>
                  <a:pt x="61773" y="245567"/>
                  <a:pt x="94234" y="260096"/>
                  <a:pt x="130048" y="260096"/>
                </a:cubicBezTo>
                <a:cubicBezTo>
                  <a:pt x="195580" y="260096"/>
                  <a:pt x="249784" y="211633"/>
                  <a:pt x="258775" y="14859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975683" y="4464981"/>
            <a:ext cx="1170432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8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一致性目标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20515" y="4941824"/>
            <a:ext cx="7174315" cy="56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追求</a:t>
            </a:r>
            <a:r>
              <a:rPr lang="en-US" sz="1365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最终一致性（Eventual Consistency）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，而非强一致性或线性一致性。只要没有新的更新操作，且网络保持连通，系统中所有健康节点的本地状态最终会收敛到相同的全局视图。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20515" y="5635413"/>
            <a:ext cx="7087616" cy="1213781"/>
          </a:xfrm>
          <a:custGeom>
            <a:avLst/>
            <a:gdLst/>
            <a:ahLst/>
            <a:cxnLst/>
            <a:rect l="l" t="t" r="r" b="b"/>
            <a:pathLst>
              <a:path w="7087616" h="1213781">
                <a:moveTo>
                  <a:pt x="43344" y="0"/>
                </a:moveTo>
                <a:lnTo>
                  <a:pt x="7044272" y="0"/>
                </a:lnTo>
                <a:cubicBezTo>
                  <a:pt x="7068210" y="0"/>
                  <a:pt x="7087616" y="19406"/>
                  <a:pt x="7087616" y="43344"/>
                </a:cubicBezTo>
                <a:lnTo>
                  <a:pt x="7087616" y="1170437"/>
                </a:lnTo>
                <a:cubicBezTo>
                  <a:pt x="7087616" y="1194376"/>
                  <a:pt x="7068210" y="1213781"/>
                  <a:pt x="7044272" y="1213781"/>
                </a:cubicBezTo>
                <a:lnTo>
                  <a:pt x="43344" y="1213781"/>
                </a:lnTo>
                <a:cubicBezTo>
                  <a:pt x="19406" y="1213781"/>
                  <a:pt x="0" y="1194376"/>
                  <a:pt x="0" y="1170437"/>
                </a:cubicBezTo>
                <a:lnTo>
                  <a:pt x="0" y="43344"/>
                </a:lnTo>
                <a:cubicBezTo>
                  <a:pt x="0" y="19422"/>
                  <a:pt x="19422" y="0"/>
                  <a:pt x="4334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672237" y="5808811"/>
            <a:ext cx="151723" cy="151723"/>
          </a:xfrm>
          <a:custGeom>
            <a:avLst/>
            <a:gdLst/>
            <a:ahLst/>
            <a:cxnLst/>
            <a:rect l="l" t="t" r="r" b="b"/>
            <a:pathLst>
              <a:path w="151723" h="151723">
                <a:moveTo>
                  <a:pt x="75861" y="151723"/>
                </a:moveTo>
                <a:cubicBezTo>
                  <a:pt x="117730" y="151723"/>
                  <a:pt x="151723" y="117730"/>
                  <a:pt x="151723" y="75861"/>
                </a:cubicBezTo>
                <a:cubicBezTo>
                  <a:pt x="151723" y="33992"/>
                  <a:pt x="117730" y="0"/>
                  <a:pt x="75861" y="0"/>
                </a:cubicBezTo>
                <a:cubicBezTo>
                  <a:pt x="33992" y="0"/>
                  <a:pt x="0" y="33992"/>
                  <a:pt x="0" y="75861"/>
                </a:cubicBezTo>
                <a:cubicBezTo>
                  <a:pt x="0" y="117730"/>
                  <a:pt x="33992" y="151723"/>
                  <a:pt x="75861" y="151723"/>
                </a:cubicBezTo>
                <a:close/>
                <a:moveTo>
                  <a:pt x="100872" y="63030"/>
                </a:moveTo>
                <a:lnTo>
                  <a:pt x="77165" y="100961"/>
                </a:lnTo>
                <a:cubicBezTo>
                  <a:pt x="75921" y="102946"/>
                  <a:pt x="73787" y="104191"/>
                  <a:pt x="71446" y="104309"/>
                </a:cubicBezTo>
                <a:cubicBezTo>
                  <a:pt x="69105" y="104428"/>
                  <a:pt x="66853" y="103361"/>
                  <a:pt x="65460" y="101465"/>
                </a:cubicBezTo>
                <a:lnTo>
                  <a:pt x="51236" y="82499"/>
                </a:lnTo>
                <a:cubicBezTo>
                  <a:pt x="48865" y="79358"/>
                  <a:pt x="49517" y="74913"/>
                  <a:pt x="52658" y="72542"/>
                </a:cubicBezTo>
                <a:cubicBezTo>
                  <a:pt x="55800" y="70172"/>
                  <a:pt x="60245" y="70824"/>
                  <a:pt x="62615" y="73965"/>
                </a:cubicBezTo>
                <a:lnTo>
                  <a:pt x="70616" y="84633"/>
                </a:lnTo>
                <a:lnTo>
                  <a:pt x="88811" y="55503"/>
                </a:lnTo>
                <a:cubicBezTo>
                  <a:pt x="90885" y="52184"/>
                  <a:pt x="95271" y="51147"/>
                  <a:pt x="98620" y="53251"/>
                </a:cubicBezTo>
                <a:cubicBezTo>
                  <a:pt x="101968" y="55355"/>
                  <a:pt x="102976" y="59711"/>
                  <a:pt x="100872" y="6306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926915" y="5765461"/>
            <a:ext cx="372804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最终收敛：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无新更新时，所有节点状态最终一致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691203" y="6155605"/>
            <a:ext cx="113792" cy="151723"/>
          </a:xfrm>
          <a:custGeom>
            <a:avLst/>
            <a:gdLst/>
            <a:ahLst/>
            <a:cxnLst/>
            <a:rect l="l" t="t" r="r" b="b"/>
            <a:pathLst>
              <a:path w="113792" h="151723">
                <a:moveTo>
                  <a:pt x="9483" y="0"/>
                </a:moveTo>
                <a:cubicBezTo>
                  <a:pt x="4238" y="0"/>
                  <a:pt x="0" y="4238"/>
                  <a:pt x="0" y="9483"/>
                </a:cubicBezTo>
                <a:cubicBezTo>
                  <a:pt x="0" y="14728"/>
                  <a:pt x="4238" y="18965"/>
                  <a:pt x="9483" y="18965"/>
                </a:cubicBezTo>
                <a:lnTo>
                  <a:pt x="9483" y="22225"/>
                </a:lnTo>
                <a:cubicBezTo>
                  <a:pt x="9483" y="34790"/>
                  <a:pt x="14491" y="46850"/>
                  <a:pt x="23381" y="55740"/>
                </a:cubicBezTo>
                <a:lnTo>
                  <a:pt x="43502" y="75861"/>
                </a:lnTo>
                <a:lnTo>
                  <a:pt x="23381" y="95982"/>
                </a:lnTo>
                <a:cubicBezTo>
                  <a:pt x="14491" y="104872"/>
                  <a:pt x="9483" y="116933"/>
                  <a:pt x="9483" y="129498"/>
                </a:cubicBezTo>
                <a:lnTo>
                  <a:pt x="9483" y="132757"/>
                </a:lnTo>
                <a:cubicBezTo>
                  <a:pt x="4238" y="132757"/>
                  <a:pt x="0" y="136995"/>
                  <a:pt x="0" y="142240"/>
                </a:cubicBezTo>
                <a:cubicBezTo>
                  <a:pt x="0" y="147485"/>
                  <a:pt x="4238" y="151723"/>
                  <a:pt x="9483" y="151723"/>
                </a:cubicBezTo>
                <a:lnTo>
                  <a:pt x="104309" y="151723"/>
                </a:lnTo>
                <a:cubicBezTo>
                  <a:pt x="109554" y="151723"/>
                  <a:pt x="113792" y="147485"/>
                  <a:pt x="113792" y="142240"/>
                </a:cubicBezTo>
                <a:cubicBezTo>
                  <a:pt x="113792" y="136995"/>
                  <a:pt x="109554" y="132757"/>
                  <a:pt x="104309" y="132757"/>
                </a:cubicBezTo>
                <a:lnTo>
                  <a:pt x="104309" y="129498"/>
                </a:lnTo>
                <a:cubicBezTo>
                  <a:pt x="104309" y="116933"/>
                  <a:pt x="99301" y="104872"/>
                  <a:pt x="90411" y="95982"/>
                </a:cubicBezTo>
                <a:lnTo>
                  <a:pt x="70290" y="75861"/>
                </a:lnTo>
                <a:lnTo>
                  <a:pt x="90411" y="55740"/>
                </a:lnTo>
                <a:cubicBezTo>
                  <a:pt x="99301" y="46850"/>
                  <a:pt x="104309" y="34790"/>
                  <a:pt x="104309" y="22225"/>
                </a:cubicBezTo>
                <a:lnTo>
                  <a:pt x="104309" y="18965"/>
                </a:lnTo>
                <a:cubicBezTo>
                  <a:pt x="109554" y="18965"/>
                  <a:pt x="113792" y="14728"/>
                  <a:pt x="113792" y="9483"/>
                </a:cubicBezTo>
                <a:cubicBezTo>
                  <a:pt x="113792" y="4238"/>
                  <a:pt x="109554" y="0"/>
                  <a:pt x="104309" y="0"/>
                </a:cubicBezTo>
                <a:lnTo>
                  <a:pt x="9483" y="0"/>
                </a:lnTo>
                <a:close/>
                <a:moveTo>
                  <a:pt x="28448" y="22225"/>
                </a:moveTo>
                <a:lnTo>
                  <a:pt x="28448" y="18965"/>
                </a:lnTo>
                <a:lnTo>
                  <a:pt x="85344" y="18965"/>
                </a:lnTo>
                <a:lnTo>
                  <a:pt x="85344" y="22225"/>
                </a:lnTo>
                <a:cubicBezTo>
                  <a:pt x="85344" y="27855"/>
                  <a:pt x="83685" y="33308"/>
                  <a:pt x="80603" y="37931"/>
                </a:cubicBezTo>
                <a:lnTo>
                  <a:pt x="33189" y="37931"/>
                </a:lnTo>
                <a:cubicBezTo>
                  <a:pt x="30137" y="33308"/>
                  <a:pt x="28448" y="27855"/>
                  <a:pt x="28448" y="22225"/>
                </a:cubicBezTo>
                <a:close/>
                <a:moveTo>
                  <a:pt x="33189" y="113792"/>
                </a:moveTo>
                <a:cubicBezTo>
                  <a:pt x="34227" y="112221"/>
                  <a:pt x="35441" y="110740"/>
                  <a:pt x="36775" y="109377"/>
                </a:cubicBezTo>
                <a:lnTo>
                  <a:pt x="56896" y="89256"/>
                </a:lnTo>
                <a:lnTo>
                  <a:pt x="77017" y="109377"/>
                </a:lnTo>
                <a:cubicBezTo>
                  <a:pt x="78380" y="110740"/>
                  <a:pt x="79566" y="112221"/>
                  <a:pt x="80632" y="113792"/>
                </a:cubicBezTo>
                <a:lnTo>
                  <a:pt x="33189" y="113792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926915" y="6112256"/>
            <a:ext cx="3207851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时间窗口：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允许短时间内存在视图不一致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662755" y="6502400"/>
            <a:ext cx="170688" cy="151723"/>
          </a:xfrm>
          <a:custGeom>
            <a:avLst/>
            <a:gdLst/>
            <a:ahLst/>
            <a:cxnLst/>
            <a:rect l="l" t="t" r="r" b="b"/>
            <a:pathLst>
              <a:path w="170688" h="151723">
                <a:moveTo>
                  <a:pt x="73491" y="26077"/>
                </a:moveTo>
                <a:lnTo>
                  <a:pt x="97197" y="26077"/>
                </a:lnTo>
                <a:lnTo>
                  <a:pt x="97197" y="40301"/>
                </a:lnTo>
                <a:lnTo>
                  <a:pt x="73491" y="40301"/>
                </a:lnTo>
                <a:lnTo>
                  <a:pt x="73491" y="26077"/>
                </a:lnTo>
                <a:close/>
                <a:moveTo>
                  <a:pt x="71120" y="9483"/>
                </a:moveTo>
                <a:cubicBezTo>
                  <a:pt x="63267" y="9483"/>
                  <a:pt x="56896" y="15854"/>
                  <a:pt x="56896" y="23707"/>
                </a:cubicBezTo>
                <a:lnTo>
                  <a:pt x="56896" y="42672"/>
                </a:lnTo>
                <a:cubicBezTo>
                  <a:pt x="56896" y="50525"/>
                  <a:pt x="63267" y="56896"/>
                  <a:pt x="71120" y="56896"/>
                </a:cubicBezTo>
                <a:lnTo>
                  <a:pt x="75861" y="56896"/>
                </a:lnTo>
                <a:lnTo>
                  <a:pt x="75861" y="66379"/>
                </a:lnTo>
                <a:lnTo>
                  <a:pt x="9483" y="66379"/>
                </a:lnTo>
                <a:cubicBezTo>
                  <a:pt x="4238" y="66379"/>
                  <a:pt x="0" y="70616"/>
                  <a:pt x="0" y="75861"/>
                </a:cubicBezTo>
                <a:cubicBezTo>
                  <a:pt x="0" y="81106"/>
                  <a:pt x="4238" y="85344"/>
                  <a:pt x="9483" y="85344"/>
                </a:cubicBezTo>
                <a:lnTo>
                  <a:pt x="37931" y="85344"/>
                </a:lnTo>
                <a:lnTo>
                  <a:pt x="37931" y="94827"/>
                </a:lnTo>
                <a:lnTo>
                  <a:pt x="33189" y="94827"/>
                </a:lnTo>
                <a:cubicBezTo>
                  <a:pt x="25337" y="94827"/>
                  <a:pt x="18965" y="101198"/>
                  <a:pt x="18965" y="109051"/>
                </a:cubicBezTo>
                <a:lnTo>
                  <a:pt x="18965" y="128016"/>
                </a:lnTo>
                <a:cubicBezTo>
                  <a:pt x="18965" y="135869"/>
                  <a:pt x="25337" y="142240"/>
                  <a:pt x="33189" y="142240"/>
                </a:cubicBezTo>
                <a:lnTo>
                  <a:pt x="61637" y="142240"/>
                </a:lnTo>
                <a:cubicBezTo>
                  <a:pt x="69490" y="142240"/>
                  <a:pt x="75861" y="135869"/>
                  <a:pt x="75861" y="128016"/>
                </a:cubicBezTo>
                <a:lnTo>
                  <a:pt x="75861" y="109051"/>
                </a:lnTo>
                <a:cubicBezTo>
                  <a:pt x="75861" y="101198"/>
                  <a:pt x="69490" y="94827"/>
                  <a:pt x="61637" y="94827"/>
                </a:cubicBezTo>
                <a:lnTo>
                  <a:pt x="56896" y="94827"/>
                </a:lnTo>
                <a:lnTo>
                  <a:pt x="56896" y="85344"/>
                </a:lnTo>
                <a:lnTo>
                  <a:pt x="113792" y="85344"/>
                </a:lnTo>
                <a:lnTo>
                  <a:pt x="113792" y="94827"/>
                </a:lnTo>
                <a:lnTo>
                  <a:pt x="109051" y="94827"/>
                </a:lnTo>
                <a:cubicBezTo>
                  <a:pt x="101198" y="94827"/>
                  <a:pt x="94827" y="101198"/>
                  <a:pt x="94827" y="109051"/>
                </a:cubicBezTo>
                <a:lnTo>
                  <a:pt x="94827" y="128016"/>
                </a:lnTo>
                <a:cubicBezTo>
                  <a:pt x="94827" y="135869"/>
                  <a:pt x="101198" y="142240"/>
                  <a:pt x="109051" y="142240"/>
                </a:cubicBezTo>
                <a:lnTo>
                  <a:pt x="137499" y="142240"/>
                </a:lnTo>
                <a:cubicBezTo>
                  <a:pt x="145352" y="142240"/>
                  <a:pt x="151723" y="135869"/>
                  <a:pt x="151723" y="128016"/>
                </a:cubicBezTo>
                <a:lnTo>
                  <a:pt x="151723" y="109051"/>
                </a:lnTo>
                <a:cubicBezTo>
                  <a:pt x="151723" y="101198"/>
                  <a:pt x="145352" y="94827"/>
                  <a:pt x="137499" y="94827"/>
                </a:cubicBezTo>
                <a:lnTo>
                  <a:pt x="132757" y="94827"/>
                </a:lnTo>
                <a:lnTo>
                  <a:pt x="132757" y="85344"/>
                </a:lnTo>
                <a:lnTo>
                  <a:pt x="161205" y="85344"/>
                </a:lnTo>
                <a:cubicBezTo>
                  <a:pt x="166450" y="85344"/>
                  <a:pt x="170688" y="81106"/>
                  <a:pt x="170688" y="75861"/>
                </a:cubicBezTo>
                <a:cubicBezTo>
                  <a:pt x="170688" y="70616"/>
                  <a:pt x="166450" y="66379"/>
                  <a:pt x="161205" y="66379"/>
                </a:cubicBezTo>
                <a:lnTo>
                  <a:pt x="94827" y="66379"/>
                </a:lnTo>
                <a:lnTo>
                  <a:pt x="94827" y="56896"/>
                </a:lnTo>
                <a:lnTo>
                  <a:pt x="99568" y="56896"/>
                </a:lnTo>
                <a:cubicBezTo>
                  <a:pt x="107421" y="56896"/>
                  <a:pt x="113792" y="50525"/>
                  <a:pt x="113792" y="42672"/>
                </a:cubicBezTo>
                <a:lnTo>
                  <a:pt x="113792" y="23707"/>
                </a:lnTo>
                <a:cubicBezTo>
                  <a:pt x="113792" y="15854"/>
                  <a:pt x="107421" y="9483"/>
                  <a:pt x="99568" y="9483"/>
                </a:cubicBezTo>
                <a:lnTo>
                  <a:pt x="71120" y="9483"/>
                </a:lnTo>
                <a:close/>
                <a:moveTo>
                  <a:pt x="132757" y="111421"/>
                </a:moveTo>
                <a:lnTo>
                  <a:pt x="135128" y="111421"/>
                </a:lnTo>
                <a:lnTo>
                  <a:pt x="135128" y="125645"/>
                </a:lnTo>
                <a:lnTo>
                  <a:pt x="111421" y="125645"/>
                </a:lnTo>
                <a:lnTo>
                  <a:pt x="111421" y="111421"/>
                </a:lnTo>
                <a:lnTo>
                  <a:pt x="132757" y="111421"/>
                </a:lnTo>
                <a:close/>
                <a:moveTo>
                  <a:pt x="56896" y="111421"/>
                </a:moveTo>
                <a:lnTo>
                  <a:pt x="59267" y="111421"/>
                </a:lnTo>
                <a:lnTo>
                  <a:pt x="59267" y="125645"/>
                </a:lnTo>
                <a:lnTo>
                  <a:pt x="35560" y="125645"/>
                </a:lnTo>
                <a:lnTo>
                  <a:pt x="35560" y="111421"/>
                </a:lnTo>
                <a:lnTo>
                  <a:pt x="56896" y="11142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926915" y="6459051"/>
            <a:ext cx="2514261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网络依赖：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需要网络保持连通性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3493" y="7427059"/>
            <a:ext cx="15389013" cy="1300480"/>
          </a:xfrm>
          <a:custGeom>
            <a:avLst/>
            <a:gdLst/>
            <a:ahLst/>
            <a:cxnLst/>
            <a:rect l="l" t="t" r="r" b="b"/>
            <a:pathLst>
              <a:path w="15389013" h="1300480">
                <a:moveTo>
                  <a:pt x="86703" y="0"/>
                </a:moveTo>
                <a:lnTo>
                  <a:pt x="15302310" y="0"/>
                </a:lnTo>
                <a:cubicBezTo>
                  <a:pt x="15350195" y="0"/>
                  <a:pt x="15389013" y="38818"/>
                  <a:pt x="15389013" y="86703"/>
                </a:cubicBezTo>
                <a:lnTo>
                  <a:pt x="15389013" y="1213777"/>
                </a:lnTo>
                <a:cubicBezTo>
                  <a:pt x="15389013" y="1261662"/>
                  <a:pt x="15350195" y="1300480"/>
                  <a:pt x="15302310" y="1300480"/>
                </a:cubicBezTo>
                <a:lnTo>
                  <a:pt x="86703" y="1300480"/>
                </a:lnTo>
                <a:cubicBezTo>
                  <a:pt x="38818" y="1300480"/>
                  <a:pt x="0" y="1261662"/>
                  <a:pt x="0" y="1213777"/>
                </a:cubicBezTo>
                <a:lnTo>
                  <a:pt x="0" y="86703"/>
                </a:lnTo>
                <a:cubicBezTo>
                  <a:pt x="0" y="38850"/>
                  <a:pt x="38850" y="0"/>
                  <a:pt x="8670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61077" y="7643806"/>
            <a:ext cx="162560" cy="216747"/>
          </a:xfrm>
          <a:custGeom>
            <a:avLst/>
            <a:gdLst/>
            <a:ahLst/>
            <a:cxnLst/>
            <a:rect l="l" t="t" r="r" b="b"/>
            <a:pathLst>
              <a:path w="162560" h="216747">
                <a:moveTo>
                  <a:pt x="123994" y="162560"/>
                </a:moveTo>
                <a:cubicBezTo>
                  <a:pt x="127085" y="153120"/>
                  <a:pt x="133265" y="144568"/>
                  <a:pt x="140250" y="137202"/>
                </a:cubicBezTo>
                <a:cubicBezTo>
                  <a:pt x="154093" y="122640"/>
                  <a:pt x="162560" y="102955"/>
                  <a:pt x="162560" y="81280"/>
                </a:cubicBezTo>
                <a:cubicBezTo>
                  <a:pt x="162560" y="36407"/>
                  <a:pt x="126153" y="0"/>
                  <a:pt x="81280" y="0"/>
                </a:cubicBezTo>
                <a:cubicBezTo>
                  <a:pt x="36407" y="0"/>
                  <a:pt x="0" y="36407"/>
                  <a:pt x="0" y="81280"/>
                </a:cubicBezTo>
                <a:cubicBezTo>
                  <a:pt x="0" y="102955"/>
                  <a:pt x="8467" y="122640"/>
                  <a:pt x="22310" y="137202"/>
                </a:cubicBezTo>
                <a:cubicBezTo>
                  <a:pt x="29295" y="144568"/>
                  <a:pt x="35518" y="153120"/>
                  <a:pt x="38566" y="162560"/>
                </a:cubicBezTo>
                <a:lnTo>
                  <a:pt x="123952" y="162560"/>
                </a:lnTo>
                <a:close/>
                <a:moveTo>
                  <a:pt x="121920" y="182880"/>
                </a:moveTo>
                <a:lnTo>
                  <a:pt x="40640" y="182880"/>
                </a:lnTo>
                <a:lnTo>
                  <a:pt x="40640" y="189653"/>
                </a:lnTo>
                <a:cubicBezTo>
                  <a:pt x="40640" y="208365"/>
                  <a:pt x="55795" y="223520"/>
                  <a:pt x="74507" y="223520"/>
                </a:cubicBezTo>
                <a:lnTo>
                  <a:pt x="88053" y="223520"/>
                </a:lnTo>
                <a:cubicBezTo>
                  <a:pt x="106765" y="223520"/>
                  <a:pt x="121920" y="208365"/>
                  <a:pt x="121920" y="189653"/>
                </a:cubicBezTo>
                <a:lnTo>
                  <a:pt x="121920" y="182880"/>
                </a:lnTo>
                <a:close/>
                <a:moveTo>
                  <a:pt x="77893" y="47413"/>
                </a:moveTo>
                <a:cubicBezTo>
                  <a:pt x="61045" y="47413"/>
                  <a:pt x="47413" y="61045"/>
                  <a:pt x="47413" y="77893"/>
                </a:cubicBezTo>
                <a:cubicBezTo>
                  <a:pt x="47413" y="83524"/>
                  <a:pt x="42884" y="88053"/>
                  <a:pt x="37253" y="88053"/>
                </a:cubicBezTo>
                <a:cubicBezTo>
                  <a:pt x="31623" y="88053"/>
                  <a:pt x="27093" y="83524"/>
                  <a:pt x="27093" y="77893"/>
                </a:cubicBezTo>
                <a:cubicBezTo>
                  <a:pt x="27093" y="49826"/>
                  <a:pt x="49826" y="27093"/>
                  <a:pt x="77893" y="27093"/>
                </a:cubicBezTo>
                <a:cubicBezTo>
                  <a:pt x="83524" y="27093"/>
                  <a:pt x="88053" y="31623"/>
                  <a:pt x="88053" y="37253"/>
                </a:cubicBezTo>
                <a:cubicBezTo>
                  <a:pt x="88053" y="42884"/>
                  <a:pt x="83524" y="47413"/>
                  <a:pt x="77893" y="4741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007872" y="7600456"/>
            <a:ext cx="14738773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6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核心设计思想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07872" y="7990600"/>
            <a:ext cx="14727936" cy="56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在上述模型下，Gossip 协议通过"</a:t>
            </a:r>
            <a:r>
              <a:rPr lang="en-US" sz="1365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多次随机传播 + 幂等合并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"的方式实现高概率的全网传播与状态收敛：</a:t>
            </a: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随机传播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保证信息可以在图结构上"随机游走"逐步覆盖整个节点集合；</a:t>
            </a: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多轮重复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抵消单次消息丢失或节点故障带来的影响；</a:t>
            </a:r>
            <a:r>
              <a:rPr lang="en-US" sz="136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幂等合并</a:t>
            </a:r>
            <a:r>
              <a:rPr lang="en-US" sz="136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保证即使同一条信息被多次传播，也不会导致状态发散或出现逻辑错误。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4330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集群逻辑结构示意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320800"/>
            <a:ext cx="9880600" cy="7569200"/>
          </a:xfrm>
          <a:custGeom>
            <a:avLst/>
            <a:gdLst/>
            <a:ahLst/>
            <a:cxnLst/>
            <a:rect l="l" t="t" r="r" b="b"/>
            <a:pathLst>
              <a:path w="9880600" h="7569200">
                <a:moveTo>
                  <a:pt x="101579" y="0"/>
                </a:moveTo>
                <a:lnTo>
                  <a:pt x="9779021" y="0"/>
                </a:lnTo>
                <a:cubicBezTo>
                  <a:pt x="9835122" y="0"/>
                  <a:pt x="9880600" y="45478"/>
                  <a:pt x="9880600" y="101579"/>
                </a:cubicBezTo>
                <a:lnTo>
                  <a:pt x="9880600" y="7467621"/>
                </a:lnTo>
                <a:cubicBezTo>
                  <a:pt x="9880600" y="7523722"/>
                  <a:pt x="9835122" y="7569200"/>
                  <a:pt x="9779021" y="7569200"/>
                </a:cubicBezTo>
                <a:lnTo>
                  <a:pt x="101579" y="7569200"/>
                </a:lnTo>
                <a:cubicBezTo>
                  <a:pt x="45478" y="7569200"/>
                  <a:pt x="0" y="7523722"/>
                  <a:pt x="0" y="7467621"/>
                </a:cubicBezTo>
                <a:lnTo>
                  <a:pt x="0" y="101579"/>
                </a:lnTo>
                <a:cubicBezTo>
                  <a:pt x="0" y="45516"/>
                  <a:pt x="45516" y="0"/>
                  <a:pt x="101579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https://kimi-img.moonshot.cn/pub/slides/25-12-19-11:24:54-d52cb1he3tppbpdsu9c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574800"/>
            <a:ext cx="9372600" cy="70612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10723860" y="1320800"/>
            <a:ext cx="5029200" cy="3048000"/>
          </a:xfrm>
          <a:custGeom>
            <a:avLst/>
            <a:gdLst/>
            <a:ahLst/>
            <a:cxnLst/>
            <a:rect l="l" t="t" r="r" b="b"/>
            <a:pathLst>
              <a:path w="5029200" h="3048000">
                <a:moveTo>
                  <a:pt x="50800" y="0"/>
                </a:moveTo>
                <a:lnTo>
                  <a:pt x="4927610" y="0"/>
                </a:lnTo>
                <a:cubicBezTo>
                  <a:pt x="4983717" y="0"/>
                  <a:pt x="5029200" y="45483"/>
                  <a:pt x="5029200" y="101590"/>
                </a:cubicBezTo>
                <a:lnTo>
                  <a:pt x="5029200" y="2946410"/>
                </a:lnTo>
                <a:cubicBezTo>
                  <a:pt x="5029200" y="3002517"/>
                  <a:pt x="4983717" y="3048000"/>
                  <a:pt x="4927610" y="3048000"/>
                </a:cubicBezTo>
                <a:lnTo>
                  <a:pt x="50800" y="3048000"/>
                </a:lnTo>
                <a:cubicBezTo>
                  <a:pt x="22763" y="3048000"/>
                  <a:pt x="0" y="3025237"/>
                  <a:pt x="0" y="299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723860" y="13208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5080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50800" y="3048000"/>
                </a:lnTo>
                <a:cubicBezTo>
                  <a:pt x="22763" y="3048000"/>
                  <a:pt x="0" y="3025237"/>
                  <a:pt x="0" y="299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952460" y="1524000"/>
            <a:ext cx="472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5246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0908010" y="2032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511260" y="2032000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无中心节点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511260" y="23876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所有节点</a:t>
            </a: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地位平等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，运行相同协议逻辑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5246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0908010" y="2794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511260" y="27940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随机通信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511260" y="31496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每轮与</a:t>
            </a: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少量随机节点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交换信息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95246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0908010" y="3556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511260" y="35560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逐步收敛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511260" y="39116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多轮传播后信息在整个连通图上</a:t>
            </a: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逐步扩散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698460" y="4572000"/>
            <a:ext cx="5054600" cy="2387600"/>
          </a:xfrm>
          <a:custGeom>
            <a:avLst/>
            <a:gdLst/>
            <a:ahLst/>
            <a:cxnLst/>
            <a:rect l="l" t="t" r="r" b="b"/>
            <a:pathLst>
              <a:path w="5054600" h="2387600">
                <a:moveTo>
                  <a:pt x="101592" y="0"/>
                </a:moveTo>
                <a:lnTo>
                  <a:pt x="4953008" y="0"/>
                </a:lnTo>
                <a:cubicBezTo>
                  <a:pt x="5009116" y="0"/>
                  <a:pt x="5054600" y="45484"/>
                  <a:pt x="5054600" y="101592"/>
                </a:cubicBezTo>
                <a:lnTo>
                  <a:pt x="5054600" y="2286008"/>
                </a:lnTo>
                <a:cubicBezTo>
                  <a:pt x="5054600" y="2342116"/>
                  <a:pt x="5009116" y="2387600"/>
                  <a:pt x="49530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0901660" y="4775200"/>
            <a:ext cx="476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信息传播过程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901660" y="5232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10863560" y="52324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08060" y="52324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初始节点随机选择目标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901660" y="563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10863560" y="5638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308060" y="56388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信息在节点间传递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901660" y="604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0863560" y="60452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308060" y="60452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接收节点继续传播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901660" y="645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10863560" y="6451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308060" y="6451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多轮后全网收敛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698460" y="7162800"/>
            <a:ext cx="5054600" cy="1727200"/>
          </a:xfrm>
          <a:custGeom>
            <a:avLst/>
            <a:gdLst/>
            <a:ahLst/>
            <a:cxnLst/>
            <a:rect l="l" t="t" r="r" b="b"/>
            <a:pathLst>
              <a:path w="5054600" h="1727200">
                <a:moveTo>
                  <a:pt x="101594" y="0"/>
                </a:moveTo>
                <a:lnTo>
                  <a:pt x="4953006" y="0"/>
                </a:lnTo>
                <a:cubicBezTo>
                  <a:pt x="5009115" y="0"/>
                  <a:pt x="5054600" y="45485"/>
                  <a:pt x="5054600" y="101594"/>
                </a:cubicBezTo>
                <a:lnTo>
                  <a:pt x="5054600" y="1625606"/>
                </a:lnTo>
                <a:cubicBezTo>
                  <a:pt x="5054600" y="1681715"/>
                  <a:pt x="5009115" y="1727200"/>
                  <a:pt x="49530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10933410" y="7429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11339810" y="73660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收敛特性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901660" y="7823200"/>
            <a:ext cx="2247900" cy="863600"/>
          </a:xfrm>
          <a:custGeom>
            <a:avLst/>
            <a:gdLst/>
            <a:ahLst/>
            <a:cxnLst/>
            <a:rect l="l" t="t" r="r" b="b"/>
            <a:pathLst>
              <a:path w="2247900" h="863600">
                <a:moveTo>
                  <a:pt x="50797" y="0"/>
                </a:moveTo>
                <a:lnTo>
                  <a:pt x="2197103" y="0"/>
                </a:lnTo>
                <a:cubicBezTo>
                  <a:pt x="2225157" y="0"/>
                  <a:pt x="2247900" y="22743"/>
                  <a:pt x="2247900" y="50797"/>
                </a:cubicBezTo>
                <a:lnTo>
                  <a:pt x="2247900" y="812803"/>
                </a:lnTo>
                <a:cubicBezTo>
                  <a:pt x="2247900" y="840857"/>
                  <a:pt x="2225157" y="863600"/>
                  <a:pt x="21971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10939760" y="79248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958810" y="83312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传播轮次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3299380" y="7823200"/>
            <a:ext cx="2247900" cy="863600"/>
          </a:xfrm>
          <a:custGeom>
            <a:avLst/>
            <a:gdLst/>
            <a:ahLst/>
            <a:cxnLst/>
            <a:rect l="l" t="t" r="r" b="b"/>
            <a:pathLst>
              <a:path w="2247900" h="863600">
                <a:moveTo>
                  <a:pt x="50797" y="0"/>
                </a:moveTo>
                <a:lnTo>
                  <a:pt x="2197103" y="0"/>
                </a:lnTo>
                <a:cubicBezTo>
                  <a:pt x="2225157" y="0"/>
                  <a:pt x="2247900" y="22743"/>
                  <a:pt x="2247900" y="50797"/>
                </a:cubicBezTo>
                <a:lnTo>
                  <a:pt x="2247900" y="812803"/>
                </a:lnTo>
                <a:cubicBezTo>
                  <a:pt x="2247900" y="840857"/>
                  <a:pt x="2225157" y="863600"/>
                  <a:pt x="21971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13337480" y="79248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O(N·log N)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3356530" y="83312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总消息数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659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消息传播模式：Push、Pull 与 Push-Pull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346200"/>
            <a:ext cx="4940300" cy="5283200"/>
          </a:xfrm>
          <a:custGeom>
            <a:avLst/>
            <a:gdLst/>
            <a:ahLst/>
            <a:cxnLst/>
            <a:rect l="l" t="t" r="r" b="b"/>
            <a:pathLst>
              <a:path w="4940300" h="5283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181578"/>
                </a:lnTo>
                <a:cubicBezTo>
                  <a:pt x="4940300" y="5237702"/>
                  <a:pt x="4894802" y="5283200"/>
                  <a:pt x="4838678" y="5283200"/>
                </a:cubicBezTo>
                <a:lnTo>
                  <a:pt x="101622" y="5283200"/>
                </a:lnTo>
                <a:cubicBezTo>
                  <a:pt x="45498" y="5283200"/>
                  <a:pt x="0" y="5237702"/>
                  <a:pt x="0" y="518157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8000" y="13462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11200" y="1574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9950" y="17018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06462" y="8632"/>
                </a:moveTo>
                <a:cubicBezTo>
                  <a:pt x="100261" y="2431"/>
                  <a:pt x="90190" y="2431"/>
                  <a:pt x="83989" y="8632"/>
                </a:cubicBezTo>
                <a:lnTo>
                  <a:pt x="4614" y="88007"/>
                </a:lnTo>
                <a:cubicBezTo>
                  <a:pt x="-1587" y="94208"/>
                  <a:pt x="-1587" y="104279"/>
                  <a:pt x="4614" y="110480"/>
                </a:cubicBezTo>
                <a:cubicBezTo>
                  <a:pt x="10815" y="116681"/>
                  <a:pt x="20886" y="116681"/>
                  <a:pt x="27087" y="110480"/>
                </a:cubicBezTo>
                <a:lnTo>
                  <a:pt x="79375" y="58192"/>
                </a:lnTo>
                <a:lnTo>
                  <a:pt x="79375" y="242094"/>
                </a:lnTo>
                <a:cubicBezTo>
                  <a:pt x="79375" y="250875"/>
                  <a:pt x="86469" y="257969"/>
                  <a:pt x="95250" y="257969"/>
                </a:cubicBezTo>
                <a:cubicBezTo>
                  <a:pt x="104031" y="257969"/>
                  <a:pt x="111125" y="250875"/>
                  <a:pt x="111125" y="242094"/>
                </a:cubicBezTo>
                <a:lnTo>
                  <a:pt x="111125" y="58192"/>
                </a:lnTo>
                <a:lnTo>
                  <a:pt x="163413" y="110480"/>
                </a:lnTo>
                <a:cubicBezTo>
                  <a:pt x="169614" y="116681"/>
                  <a:pt x="179685" y="116681"/>
                  <a:pt x="185886" y="110480"/>
                </a:cubicBezTo>
                <a:cubicBezTo>
                  <a:pt x="192087" y="104279"/>
                  <a:pt x="192087" y="94208"/>
                  <a:pt x="185886" y="88007"/>
                </a:cubicBezTo>
                <a:lnTo>
                  <a:pt x="106511" y="863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71600" y="1651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Push 模型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1200" y="22352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主动节点向目标节点发送自己的状态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，适合传播新增信息。例如，新加入的成员或最新的配置版本会被主动"推送"到其他节点。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" y="3378200"/>
            <a:ext cx="4533900" cy="1117600"/>
          </a:xfrm>
          <a:custGeom>
            <a:avLst/>
            <a:gdLst/>
            <a:ahLst/>
            <a:cxnLst/>
            <a:rect l="l" t="t" r="r" b="b"/>
            <a:pathLst>
              <a:path w="4533900" h="1117600">
                <a:moveTo>
                  <a:pt x="50795" y="0"/>
                </a:moveTo>
                <a:lnTo>
                  <a:pt x="4483105" y="0"/>
                </a:lnTo>
                <a:cubicBezTo>
                  <a:pt x="4511158" y="0"/>
                  <a:pt x="4533900" y="22742"/>
                  <a:pt x="4533900" y="50795"/>
                </a:cubicBezTo>
                <a:lnTo>
                  <a:pt x="4533900" y="1066805"/>
                </a:lnTo>
                <a:cubicBezTo>
                  <a:pt x="4533900" y="1094858"/>
                  <a:pt x="4511158" y="1117600"/>
                  <a:pt x="4483105" y="1117600"/>
                </a:cubicBezTo>
                <a:lnTo>
                  <a:pt x="50795" y="1117600"/>
                </a:lnTo>
                <a:cubicBezTo>
                  <a:pt x="22742" y="1117600"/>
                  <a:pt x="0" y="1094858"/>
                  <a:pt x="0" y="10668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3600" y="3530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7267" y="3530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3600" y="3937000"/>
            <a:ext cx="2070100" cy="406400"/>
          </a:xfrm>
          <a:custGeom>
            <a:avLst/>
            <a:gdLst/>
            <a:ahLst/>
            <a:cxnLst/>
            <a:rect l="l" t="t" r="r" b="b"/>
            <a:pathLst>
              <a:path w="2070100" h="406400">
                <a:moveTo>
                  <a:pt x="50800" y="0"/>
                </a:moveTo>
                <a:lnTo>
                  <a:pt x="2019300" y="0"/>
                </a:lnTo>
                <a:cubicBezTo>
                  <a:pt x="2047337" y="0"/>
                  <a:pt x="2070100" y="22763"/>
                  <a:pt x="2070100" y="50800"/>
                </a:cubicBezTo>
                <a:lnTo>
                  <a:pt x="2070100" y="355600"/>
                </a:lnTo>
                <a:cubicBezTo>
                  <a:pt x="2070100" y="383637"/>
                  <a:pt x="2047337" y="406400"/>
                  <a:pt x="20193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794867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031034" y="3937000"/>
            <a:ext cx="2070100" cy="406400"/>
          </a:xfrm>
          <a:custGeom>
            <a:avLst/>
            <a:gdLst/>
            <a:ahLst/>
            <a:cxnLst/>
            <a:rect l="l" t="t" r="r" b="b"/>
            <a:pathLst>
              <a:path w="2070100" h="406400">
                <a:moveTo>
                  <a:pt x="50800" y="0"/>
                </a:moveTo>
                <a:lnTo>
                  <a:pt x="2019300" y="0"/>
                </a:lnTo>
                <a:cubicBezTo>
                  <a:pt x="2047337" y="0"/>
                  <a:pt x="2070100" y="22763"/>
                  <a:pt x="2070100" y="50800"/>
                </a:cubicBezTo>
                <a:lnTo>
                  <a:pt x="2070100" y="355600"/>
                </a:lnTo>
                <a:cubicBezTo>
                  <a:pt x="2070100" y="383637"/>
                  <a:pt x="2047337" y="406400"/>
                  <a:pt x="20193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708301" y="4013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接收状态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1200" y="4902200"/>
            <a:ext cx="4533900" cy="1524000"/>
          </a:xfrm>
          <a:custGeom>
            <a:avLst/>
            <a:gdLst/>
            <a:ahLst/>
            <a:cxnLst/>
            <a:rect l="l" t="t" r="r" b="b"/>
            <a:pathLst>
              <a:path w="4533900" h="1524000">
                <a:moveTo>
                  <a:pt x="50795" y="0"/>
                </a:moveTo>
                <a:lnTo>
                  <a:pt x="4483105" y="0"/>
                </a:lnTo>
                <a:cubicBezTo>
                  <a:pt x="4511158" y="0"/>
                  <a:pt x="4533900" y="22742"/>
                  <a:pt x="4533900" y="50795"/>
                </a:cubicBezTo>
                <a:lnTo>
                  <a:pt x="4533900" y="1473205"/>
                </a:lnTo>
                <a:cubicBezTo>
                  <a:pt x="4533900" y="1501258"/>
                  <a:pt x="4511158" y="1524000"/>
                  <a:pt x="44831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3600" y="5054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" y="54102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54102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新节点加入集群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600" y="57150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7150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配置变更通知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" y="60198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60198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事件通知传播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55667" y="1346200"/>
            <a:ext cx="4940300" cy="5283200"/>
          </a:xfrm>
          <a:custGeom>
            <a:avLst/>
            <a:gdLst/>
            <a:ahLst/>
            <a:cxnLst/>
            <a:rect l="l" t="t" r="r" b="b"/>
            <a:pathLst>
              <a:path w="4940300" h="5283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181578"/>
                </a:lnTo>
                <a:cubicBezTo>
                  <a:pt x="4940300" y="5237702"/>
                  <a:pt x="4894802" y="5283200"/>
                  <a:pt x="4838678" y="5283200"/>
                </a:cubicBezTo>
                <a:lnTo>
                  <a:pt x="101622" y="5283200"/>
                </a:lnTo>
                <a:cubicBezTo>
                  <a:pt x="45498" y="5283200"/>
                  <a:pt x="0" y="5237702"/>
                  <a:pt x="0" y="518157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655667" y="13462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858867" y="1574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017617" y="17018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19267" y="1651000"/>
            <a:ext cx="91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Pull 模型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58867" y="22352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主动节点向目标节点拉取对方状态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，适合补全缺失信息。例如，长时间离线的节点重新加入集群后，可以通过拉取快速补齐自己缺失的视图。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8867" y="3378200"/>
            <a:ext cx="4533900" cy="1117600"/>
          </a:xfrm>
          <a:custGeom>
            <a:avLst/>
            <a:gdLst/>
            <a:ahLst/>
            <a:cxnLst/>
            <a:rect l="l" t="t" r="r" b="b"/>
            <a:pathLst>
              <a:path w="4533900" h="1117600">
                <a:moveTo>
                  <a:pt x="50795" y="0"/>
                </a:moveTo>
                <a:lnTo>
                  <a:pt x="4483105" y="0"/>
                </a:lnTo>
                <a:cubicBezTo>
                  <a:pt x="4511158" y="0"/>
                  <a:pt x="4533900" y="22742"/>
                  <a:pt x="4533900" y="50795"/>
                </a:cubicBezTo>
                <a:lnTo>
                  <a:pt x="4533900" y="1066805"/>
                </a:lnTo>
                <a:cubicBezTo>
                  <a:pt x="4533900" y="1094858"/>
                  <a:pt x="4511158" y="1117600"/>
                  <a:pt x="4483105" y="1117600"/>
                </a:cubicBezTo>
                <a:lnTo>
                  <a:pt x="50795" y="1117600"/>
                </a:lnTo>
                <a:cubicBezTo>
                  <a:pt x="22742" y="1117600"/>
                  <a:pt x="0" y="1094858"/>
                  <a:pt x="0" y="10668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011267" y="3530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35034" y="3530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11267" y="3937000"/>
            <a:ext cx="2070100" cy="406400"/>
          </a:xfrm>
          <a:custGeom>
            <a:avLst/>
            <a:gdLst/>
            <a:ahLst/>
            <a:cxnLst/>
            <a:rect l="l" t="t" r="r" b="b"/>
            <a:pathLst>
              <a:path w="2070100" h="406400">
                <a:moveTo>
                  <a:pt x="50800" y="0"/>
                </a:moveTo>
                <a:lnTo>
                  <a:pt x="2019300" y="0"/>
                </a:lnTo>
                <a:cubicBezTo>
                  <a:pt x="2047337" y="0"/>
                  <a:pt x="2070100" y="22763"/>
                  <a:pt x="2070100" y="50800"/>
                </a:cubicBezTo>
                <a:lnTo>
                  <a:pt x="2070100" y="355600"/>
                </a:lnTo>
                <a:cubicBezTo>
                  <a:pt x="2070100" y="383637"/>
                  <a:pt x="2047337" y="406400"/>
                  <a:pt x="20193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688634" y="4013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请求状态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78800" y="3937000"/>
            <a:ext cx="2070100" cy="406400"/>
          </a:xfrm>
          <a:custGeom>
            <a:avLst/>
            <a:gdLst/>
            <a:ahLst/>
            <a:cxnLst/>
            <a:rect l="l" t="t" r="r" b="b"/>
            <a:pathLst>
              <a:path w="2070100" h="406400">
                <a:moveTo>
                  <a:pt x="50800" y="0"/>
                </a:moveTo>
                <a:lnTo>
                  <a:pt x="2019300" y="0"/>
                </a:lnTo>
                <a:cubicBezTo>
                  <a:pt x="2047337" y="0"/>
                  <a:pt x="2070100" y="22763"/>
                  <a:pt x="2070100" y="50800"/>
                </a:cubicBezTo>
                <a:lnTo>
                  <a:pt x="2070100" y="355600"/>
                </a:lnTo>
                <a:cubicBezTo>
                  <a:pt x="2070100" y="383637"/>
                  <a:pt x="2047337" y="406400"/>
                  <a:pt x="20193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9110166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3731" y="92631"/>
                </a:moveTo>
                <a:cubicBezTo>
                  <a:pt x="-1230" y="97592"/>
                  <a:pt x="-1230" y="105648"/>
                  <a:pt x="3731" y="110609"/>
                </a:cubicBezTo>
                <a:lnTo>
                  <a:pt x="67231" y="174109"/>
                </a:lnTo>
                <a:cubicBezTo>
                  <a:pt x="72192" y="179070"/>
                  <a:pt x="80248" y="179070"/>
                  <a:pt x="85209" y="174109"/>
                </a:cubicBezTo>
                <a:cubicBezTo>
                  <a:pt x="90170" y="169148"/>
                  <a:pt x="90170" y="161092"/>
                  <a:pt x="85209" y="156131"/>
                </a:cubicBezTo>
                <a:lnTo>
                  <a:pt x="43378" y="114300"/>
                </a:ln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43378" y="88900"/>
                </a:lnTo>
                <a:lnTo>
                  <a:pt x="85209" y="47069"/>
                </a:lnTo>
                <a:cubicBezTo>
                  <a:pt x="90170" y="42108"/>
                  <a:pt x="90170" y="34052"/>
                  <a:pt x="85209" y="29091"/>
                </a:cubicBezTo>
                <a:cubicBezTo>
                  <a:pt x="80248" y="24130"/>
                  <a:pt x="72192" y="24130"/>
                  <a:pt x="67231" y="29091"/>
                </a:cubicBezTo>
                <a:lnTo>
                  <a:pt x="3731" y="92591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858867" y="4902200"/>
            <a:ext cx="4533900" cy="1524000"/>
          </a:xfrm>
          <a:custGeom>
            <a:avLst/>
            <a:gdLst/>
            <a:ahLst/>
            <a:cxnLst/>
            <a:rect l="l" t="t" r="r" b="b"/>
            <a:pathLst>
              <a:path w="4533900" h="1524000">
                <a:moveTo>
                  <a:pt x="50795" y="0"/>
                </a:moveTo>
                <a:lnTo>
                  <a:pt x="4483105" y="0"/>
                </a:lnTo>
                <a:cubicBezTo>
                  <a:pt x="4511158" y="0"/>
                  <a:pt x="4533900" y="22742"/>
                  <a:pt x="4533900" y="50795"/>
                </a:cubicBezTo>
                <a:lnTo>
                  <a:pt x="4533900" y="1473205"/>
                </a:lnTo>
                <a:cubicBezTo>
                  <a:pt x="4533900" y="1501258"/>
                  <a:pt x="4511158" y="1524000"/>
                  <a:pt x="44831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011267" y="5054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适用场景：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11267" y="54102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90667" y="54102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节点重新上线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11267" y="57150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90667" y="57150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状态同步补齐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11267" y="60198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90667" y="60198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定期健康检查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03434" y="1346200"/>
            <a:ext cx="4940300" cy="5283200"/>
          </a:xfrm>
          <a:custGeom>
            <a:avLst/>
            <a:gdLst/>
            <a:ahLst/>
            <a:cxnLst/>
            <a:rect l="l" t="t" r="r" b="b"/>
            <a:pathLst>
              <a:path w="4940300" h="5283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181578"/>
                </a:lnTo>
                <a:cubicBezTo>
                  <a:pt x="4940300" y="5237702"/>
                  <a:pt x="4894802" y="5283200"/>
                  <a:pt x="4838678" y="5283200"/>
                </a:cubicBezTo>
                <a:lnTo>
                  <a:pt x="101622" y="5283200"/>
                </a:lnTo>
                <a:cubicBezTo>
                  <a:pt x="45498" y="5283200"/>
                  <a:pt x="0" y="5237702"/>
                  <a:pt x="0" y="518157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803434" y="13462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006634" y="1574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1133634" y="1701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667034" y="1651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Push-Pull 模型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06634" y="22352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单次会话同时完成推与拉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，在相同通信成本下提高收敛速度。这是许多实际系统中的默认选择，兼具 Push 和 Pull 的优势。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06634" y="3378200"/>
            <a:ext cx="4533900" cy="1371600"/>
          </a:xfrm>
          <a:custGeom>
            <a:avLst/>
            <a:gdLst/>
            <a:ahLst/>
            <a:cxnLst/>
            <a:rect l="l" t="t" r="r" b="b"/>
            <a:pathLst>
              <a:path w="4533900" h="1371600">
                <a:moveTo>
                  <a:pt x="50804" y="0"/>
                </a:moveTo>
                <a:lnTo>
                  <a:pt x="4483096" y="0"/>
                </a:lnTo>
                <a:cubicBezTo>
                  <a:pt x="4511154" y="0"/>
                  <a:pt x="4533900" y="22746"/>
                  <a:pt x="4533900" y="50804"/>
                </a:cubicBezTo>
                <a:lnTo>
                  <a:pt x="4533900" y="1320796"/>
                </a:lnTo>
                <a:cubicBezTo>
                  <a:pt x="4533900" y="1348854"/>
                  <a:pt x="4511154" y="1371600"/>
                  <a:pt x="4483096" y="1371600"/>
                </a:cubicBezTo>
                <a:lnTo>
                  <a:pt x="50804" y="1371600"/>
                </a:lnTo>
                <a:cubicBezTo>
                  <a:pt x="22746" y="1371600"/>
                  <a:pt x="0" y="1348854"/>
                  <a:pt x="0" y="13207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159034" y="3530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发起方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782800" y="3530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接收方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59034" y="3937000"/>
            <a:ext cx="1892300" cy="406400"/>
          </a:xfrm>
          <a:custGeom>
            <a:avLst/>
            <a:gdLst/>
            <a:ahLst/>
            <a:cxnLst/>
            <a:rect l="l" t="t" r="r" b="b"/>
            <a:pathLst>
              <a:path w="1892300" h="406400">
                <a:moveTo>
                  <a:pt x="50800" y="0"/>
                </a:moveTo>
                <a:lnTo>
                  <a:pt x="1841500" y="0"/>
                </a:lnTo>
                <a:cubicBezTo>
                  <a:pt x="1869537" y="0"/>
                  <a:pt x="1892300" y="22763"/>
                  <a:pt x="1892300" y="50800"/>
                </a:cubicBezTo>
                <a:lnTo>
                  <a:pt x="1892300" y="355600"/>
                </a:lnTo>
                <a:cubicBezTo>
                  <a:pt x="1892300" y="383637"/>
                  <a:pt x="1869537" y="406400"/>
                  <a:pt x="18415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2001500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3174166" y="40449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40" y="76200"/>
                </a:moveTo>
                <a:lnTo>
                  <a:pt x="193675" y="76200"/>
                </a:lnTo>
                <a:cubicBezTo>
                  <a:pt x="198953" y="76200"/>
                  <a:pt x="203200" y="71953"/>
                  <a:pt x="203200" y="66675"/>
                </a:cubicBezTo>
                <a:lnTo>
                  <a:pt x="203200" y="9525"/>
                </a:lnTo>
                <a:cubicBezTo>
                  <a:pt x="203200" y="5675"/>
                  <a:pt x="200898" y="2183"/>
                  <a:pt x="197326" y="714"/>
                </a:cubicBezTo>
                <a:cubicBezTo>
                  <a:pt x="193754" y="-754"/>
                  <a:pt x="189667" y="79"/>
                  <a:pt x="186928" y="2778"/>
                </a:cubicBezTo>
                <a:lnTo>
                  <a:pt x="166410" y="23336"/>
                </a:lnTo>
                <a:cubicBezTo>
                  <a:pt x="148828" y="8771"/>
                  <a:pt x="126206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ubicBezTo>
                  <a:pt x="31433" y="53777"/>
                  <a:pt x="63222" y="25400"/>
                  <a:pt x="101600" y="25400"/>
                </a:cubicBezTo>
                <a:cubicBezTo>
                  <a:pt x="119221" y="25400"/>
                  <a:pt x="135414" y="31353"/>
                  <a:pt x="148312" y="41394"/>
                </a:cubicBezTo>
                <a:lnTo>
                  <a:pt x="129778" y="59928"/>
                </a:lnTo>
                <a:cubicBezTo>
                  <a:pt x="127040" y="62667"/>
                  <a:pt x="126246" y="66754"/>
                  <a:pt x="127714" y="70326"/>
                </a:cubicBezTo>
                <a:cubicBezTo>
                  <a:pt x="129183" y="73898"/>
                  <a:pt x="132675" y="76200"/>
                  <a:pt x="136525" y="76200"/>
                </a:cubicBezTo>
                <a:lnTo>
                  <a:pt x="190540" y="76200"/>
                </a:lnTo>
                <a:close/>
                <a:moveTo>
                  <a:pt x="202208" y="116086"/>
                </a:moveTo>
                <a:cubicBezTo>
                  <a:pt x="203200" y="109141"/>
                  <a:pt x="198358" y="102711"/>
                  <a:pt x="191452" y="101719"/>
                </a:cubicBezTo>
                <a:cubicBezTo>
                  <a:pt x="184547" y="100727"/>
                  <a:pt x="178078" y="105569"/>
                  <a:pt x="177086" y="112474"/>
                </a:cubicBezTo>
                <a:cubicBezTo>
                  <a:pt x="171807" y="149384"/>
                  <a:pt x="140017" y="177760"/>
                  <a:pt x="101640" y="177760"/>
                </a:cubicBezTo>
                <a:cubicBezTo>
                  <a:pt x="84018" y="177760"/>
                  <a:pt x="67826" y="171807"/>
                  <a:pt x="54928" y="161766"/>
                </a:cubicBezTo>
                <a:lnTo>
                  <a:pt x="73422" y="143272"/>
                </a:lnTo>
                <a:cubicBezTo>
                  <a:pt x="76160" y="140533"/>
                  <a:pt x="76954" y="136446"/>
                  <a:pt x="75486" y="132874"/>
                </a:cubicBezTo>
                <a:cubicBezTo>
                  <a:pt x="74017" y="129302"/>
                  <a:pt x="70525" y="127000"/>
                  <a:pt x="66675" y="127000"/>
                </a:cubicBezTo>
                <a:lnTo>
                  <a:pt x="9525" y="127000"/>
                </a:lnTo>
                <a:cubicBezTo>
                  <a:pt x="4247" y="127000"/>
                  <a:pt x="0" y="131247"/>
                  <a:pt x="0" y="136525"/>
                </a:cubicBezTo>
                <a:lnTo>
                  <a:pt x="0" y="193675"/>
                </a:lnTo>
                <a:cubicBezTo>
                  <a:pt x="0" y="197525"/>
                  <a:pt x="2302" y="201017"/>
                  <a:pt x="5874" y="202486"/>
                </a:cubicBezTo>
                <a:cubicBezTo>
                  <a:pt x="9446" y="203954"/>
                  <a:pt x="13533" y="203121"/>
                  <a:pt x="16272" y="200422"/>
                </a:cubicBezTo>
                <a:lnTo>
                  <a:pt x="36830" y="179864"/>
                </a:lnTo>
                <a:cubicBezTo>
                  <a:pt x="54372" y="194429"/>
                  <a:pt x="76994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3504366" y="3937000"/>
            <a:ext cx="1892300" cy="406400"/>
          </a:xfrm>
          <a:custGeom>
            <a:avLst/>
            <a:gdLst/>
            <a:ahLst/>
            <a:cxnLst/>
            <a:rect l="l" t="t" r="r" b="b"/>
            <a:pathLst>
              <a:path w="1892300" h="406400">
                <a:moveTo>
                  <a:pt x="50800" y="0"/>
                </a:moveTo>
                <a:lnTo>
                  <a:pt x="1841500" y="0"/>
                </a:lnTo>
                <a:cubicBezTo>
                  <a:pt x="1869537" y="0"/>
                  <a:pt x="1892300" y="22763"/>
                  <a:pt x="1892300" y="50800"/>
                </a:cubicBezTo>
                <a:lnTo>
                  <a:pt x="1892300" y="355600"/>
                </a:lnTo>
                <a:cubicBezTo>
                  <a:pt x="1892300" y="383637"/>
                  <a:pt x="1869537" y="406400"/>
                  <a:pt x="18415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4346833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3731" y="92631"/>
                </a:moveTo>
                <a:cubicBezTo>
                  <a:pt x="-1230" y="97592"/>
                  <a:pt x="-1230" y="105648"/>
                  <a:pt x="3731" y="110609"/>
                </a:cubicBezTo>
                <a:lnTo>
                  <a:pt x="67231" y="174109"/>
                </a:lnTo>
                <a:cubicBezTo>
                  <a:pt x="72192" y="179070"/>
                  <a:pt x="80248" y="179070"/>
                  <a:pt x="85209" y="174109"/>
                </a:cubicBezTo>
                <a:cubicBezTo>
                  <a:pt x="90170" y="169148"/>
                  <a:pt x="90170" y="161092"/>
                  <a:pt x="85209" y="156131"/>
                </a:cubicBezTo>
                <a:lnTo>
                  <a:pt x="43378" y="114300"/>
                </a:ln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43378" y="88900"/>
                </a:lnTo>
                <a:lnTo>
                  <a:pt x="85209" y="47069"/>
                </a:lnTo>
                <a:cubicBezTo>
                  <a:pt x="90170" y="42108"/>
                  <a:pt x="90170" y="34052"/>
                  <a:pt x="85209" y="29091"/>
                </a:cubicBezTo>
                <a:cubicBezTo>
                  <a:pt x="80248" y="24130"/>
                  <a:pt x="72192" y="24130"/>
                  <a:pt x="67231" y="29091"/>
                </a:cubicBezTo>
                <a:lnTo>
                  <a:pt x="3731" y="92591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120934" y="4394200"/>
            <a:ext cx="430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双向状态交换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006634" y="4902200"/>
            <a:ext cx="4533900" cy="1524000"/>
          </a:xfrm>
          <a:custGeom>
            <a:avLst/>
            <a:gdLst/>
            <a:ahLst/>
            <a:cxnLst/>
            <a:rect l="l" t="t" r="r" b="b"/>
            <a:pathLst>
              <a:path w="4533900" h="1524000">
                <a:moveTo>
                  <a:pt x="50795" y="0"/>
                </a:moveTo>
                <a:lnTo>
                  <a:pt x="4483105" y="0"/>
                </a:lnTo>
                <a:cubicBezTo>
                  <a:pt x="4511158" y="0"/>
                  <a:pt x="4533900" y="22742"/>
                  <a:pt x="4533900" y="50795"/>
                </a:cubicBezTo>
                <a:lnTo>
                  <a:pt x="4533900" y="1473205"/>
                </a:lnTo>
                <a:cubicBezTo>
                  <a:pt x="4533900" y="1501258"/>
                  <a:pt x="4511158" y="1524000"/>
                  <a:pt x="44831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159034" y="5054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核心优势：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159034" y="54102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438434" y="54102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收敛速度最快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59034" y="57150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438434" y="57150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通信效率高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159034" y="60198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438434" y="60198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实际系统默认选择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08000" y="6832600"/>
            <a:ext cx="4940300" cy="2235200"/>
          </a:xfrm>
          <a:custGeom>
            <a:avLst/>
            <a:gdLst/>
            <a:ahLst/>
            <a:cxnLst/>
            <a:rect l="l" t="t" r="r" b="b"/>
            <a:pathLst>
              <a:path w="4940300" h="2235200">
                <a:moveTo>
                  <a:pt x="101590" y="0"/>
                </a:moveTo>
                <a:lnTo>
                  <a:pt x="4838710" y="0"/>
                </a:lnTo>
                <a:cubicBezTo>
                  <a:pt x="4894817" y="0"/>
                  <a:pt x="4940300" y="45483"/>
                  <a:pt x="4940300" y="101590"/>
                </a:cubicBezTo>
                <a:lnTo>
                  <a:pt x="4940300" y="2133610"/>
                </a:lnTo>
                <a:cubicBezTo>
                  <a:pt x="4940300" y="2189717"/>
                  <a:pt x="4894817" y="2235200"/>
                  <a:pt x="48387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742950" y="709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1149350" y="70358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收敛速度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11200" y="74930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690467" y="756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4893667" y="756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5096867" y="756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899A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711200" y="7848600"/>
            <a:ext cx="44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Pull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4690467" y="7924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4893667" y="7924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5096867" y="7924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899A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711200" y="82042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Push-Pull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690467" y="828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4893667" y="828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5096867" y="828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5655667" y="6832600"/>
            <a:ext cx="4940300" cy="2235200"/>
          </a:xfrm>
          <a:custGeom>
            <a:avLst/>
            <a:gdLst/>
            <a:ahLst/>
            <a:cxnLst/>
            <a:rect l="l" t="t" r="r" b="b"/>
            <a:pathLst>
              <a:path w="4940300" h="2235200">
                <a:moveTo>
                  <a:pt x="101590" y="0"/>
                </a:moveTo>
                <a:lnTo>
                  <a:pt x="4838710" y="0"/>
                </a:lnTo>
                <a:cubicBezTo>
                  <a:pt x="4894817" y="0"/>
                  <a:pt x="4940300" y="45483"/>
                  <a:pt x="4940300" y="101590"/>
                </a:cubicBezTo>
                <a:lnTo>
                  <a:pt x="4940300" y="2133610"/>
                </a:lnTo>
                <a:cubicBezTo>
                  <a:pt x="4940300" y="2189717"/>
                  <a:pt x="4894817" y="2235200"/>
                  <a:pt x="48387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5876330" y="709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6297017" y="70358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通信开销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858867" y="74930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649520" y="75184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条消息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5858867" y="7848600"/>
            <a:ext cx="44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Pull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649520" y="78740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条消息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5858867" y="82042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Push-Pull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9649520" y="82296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条消息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5858867" y="8610600"/>
            <a:ext cx="462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注：Pull 实际需 2 轮 RTT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10803434" y="6832600"/>
            <a:ext cx="4940300" cy="2235200"/>
          </a:xfrm>
          <a:custGeom>
            <a:avLst/>
            <a:gdLst/>
            <a:ahLst/>
            <a:cxnLst/>
            <a:rect l="l" t="t" r="r" b="b"/>
            <a:pathLst>
              <a:path w="4940300" h="2235200">
                <a:moveTo>
                  <a:pt x="101590" y="0"/>
                </a:moveTo>
                <a:lnTo>
                  <a:pt x="4838710" y="0"/>
                </a:lnTo>
                <a:cubicBezTo>
                  <a:pt x="4894817" y="0"/>
                  <a:pt x="4940300" y="45483"/>
                  <a:pt x="4940300" y="101590"/>
                </a:cubicBezTo>
                <a:lnTo>
                  <a:pt x="4940300" y="2133610"/>
                </a:lnTo>
                <a:cubicBezTo>
                  <a:pt x="4940300" y="2189717"/>
                  <a:pt x="4894817" y="2235200"/>
                  <a:pt x="48387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5" name="Shape 93"/>
          <p:cNvSpPr/>
          <p:nvPr/>
        </p:nvSpPr>
        <p:spPr>
          <a:xfrm>
            <a:off x="11009809" y="7099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6" name="Text 94"/>
          <p:cNvSpPr/>
          <p:nvPr/>
        </p:nvSpPr>
        <p:spPr>
          <a:xfrm>
            <a:off x="11444784" y="70358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实际应用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11043146" y="75438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8" name="Text 96"/>
          <p:cNvSpPr/>
          <p:nvPr/>
        </p:nvSpPr>
        <p:spPr>
          <a:xfrm>
            <a:off x="11330484" y="7493000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Push-Pull 是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默认选择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11043146" y="7899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98"/>
          <p:cNvSpPr/>
          <p:nvPr/>
        </p:nvSpPr>
        <p:spPr>
          <a:xfrm>
            <a:off x="11330484" y="78486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混合使用效果更佳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11043146" y="8255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2" name="Text 100"/>
          <p:cNvSpPr/>
          <p:nvPr/>
        </p:nvSpPr>
        <p:spPr>
          <a:xfrm>
            <a:off x="11330484" y="82042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根据场景灵活选择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511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Push-Pull 模式的完整交互流程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320800"/>
            <a:ext cx="5740400" cy="5130800"/>
          </a:xfrm>
          <a:custGeom>
            <a:avLst/>
            <a:gdLst/>
            <a:ahLst/>
            <a:cxnLst/>
            <a:rect l="l" t="t" r="r" b="b"/>
            <a:pathLst>
              <a:path w="5740400" h="5130800">
                <a:moveTo>
                  <a:pt x="50800" y="0"/>
                </a:moveTo>
                <a:lnTo>
                  <a:pt x="5638810" y="0"/>
                </a:lnTo>
                <a:cubicBezTo>
                  <a:pt x="5694917" y="0"/>
                  <a:pt x="5740400" y="45483"/>
                  <a:pt x="5740400" y="101590"/>
                </a:cubicBezTo>
                <a:lnTo>
                  <a:pt x="5740400" y="5029210"/>
                </a:lnTo>
                <a:cubicBezTo>
                  <a:pt x="5740400" y="5085317"/>
                  <a:pt x="5694917" y="5130800"/>
                  <a:pt x="5638810" y="5130800"/>
                </a:cubicBezTo>
                <a:lnTo>
                  <a:pt x="50800" y="5130800"/>
                </a:lnTo>
                <a:cubicBezTo>
                  <a:pt x="22763" y="5130800"/>
                  <a:pt x="0" y="5108037"/>
                  <a:pt x="0" y="508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320800"/>
            <a:ext cx="50800" cy="5130800"/>
          </a:xfrm>
          <a:custGeom>
            <a:avLst/>
            <a:gdLst/>
            <a:ahLst/>
            <a:cxnLst/>
            <a:rect l="l" t="t" r="r" b="b"/>
            <a:pathLst>
              <a:path w="50800" h="5130800">
                <a:moveTo>
                  <a:pt x="50800" y="0"/>
                </a:moveTo>
                <a:lnTo>
                  <a:pt x="50800" y="0"/>
                </a:lnTo>
                <a:lnTo>
                  <a:pt x="50800" y="5130800"/>
                </a:lnTo>
                <a:lnTo>
                  <a:pt x="50800" y="5130800"/>
                </a:lnTo>
                <a:cubicBezTo>
                  <a:pt x="22763" y="5130800"/>
                  <a:pt x="0" y="5108037"/>
                  <a:pt x="0" y="508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543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交互步骤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17550" y="2032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0800" y="20320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选择目标节点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0800" y="2387600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从成员列表中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随机选择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一个目标节点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7550" y="2794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0800" y="2794000"/>
            <a:ext cx="401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发送本地视图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0800" y="31496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将本地视图（心跳表、版本向量）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给目标节点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17550" y="3556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0800" y="35560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目标节点响应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0800" y="3911600"/>
            <a:ext cx="364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目标节点收到后，将自己的视图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给发起方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17550" y="4318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0800" y="43180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合并并更新状态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0800" y="46736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双方对彼此视图进行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，更新本地状态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8000" y="6654800"/>
            <a:ext cx="5765800" cy="1981200"/>
          </a:xfrm>
          <a:custGeom>
            <a:avLst/>
            <a:gdLst/>
            <a:ahLst/>
            <a:cxnLst/>
            <a:rect l="l" t="t" r="r" b="b"/>
            <a:pathLst>
              <a:path w="5765800" h="1981200">
                <a:moveTo>
                  <a:pt x="101596" y="0"/>
                </a:moveTo>
                <a:lnTo>
                  <a:pt x="5664204" y="0"/>
                </a:lnTo>
                <a:cubicBezTo>
                  <a:pt x="5720314" y="0"/>
                  <a:pt x="5765800" y="45486"/>
                  <a:pt x="5765800" y="101596"/>
                </a:cubicBezTo>
                <a:lnTo>
                  <a:pt x="5765800" y="1879604"/>
                </a:lnTo>
                <a:cubicBezTo>
                  <a:pt x="5765800" y="1935714"/>
                  <a:pt x="5720314" y="1981200"/>
                  <a:pt x="56642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11200" y="6858000"/>
            <a:ext cx="547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合并策略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825" y="7366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74523" y="6042"/>
                </a:moveTo>
                <a:cubicBezTo>
                  <a:pt x="70182" y="1702"/>
                  <a:pt x="63133" y="1702"/>
                  <a:pt x="58792" y="6042"/>
                </a:cubicBezTo>
                <a:lnTo>
                  <a:pt x="3230" y="61605"/>
                </a:lnTo>
                <a:cubicBezTo>
                  <a:pt x="-1111" y="65946"/>
                  <a:pt x="-1111" y="72995"/>
                  <a:pt x="3230" y="77336"/>
                </a:cubicBezTo>
                <a:cubicBezTo>
                  <a:pt x="7570" y="81677"/>
                  <a:pt x="14620" y="81677"/>
                  <a:pt x="18961" y="77336"/>
                </a:cubicBezTo>
                <a:lnTo>
                  <a:pt x="55563" y="40734"/>
                </a:lnTo>
                <a:lnTo>
                  <a:pt x="55563" y="169466"/>
                </a:lnTo>
                <a:cubicBezTo>
                  <a:pt x="55563" y="175612"/>
                  <a:pt x="60528" y="180578"/>
                  <a:pt x="66675" y="180578"/>
                </a:cubicBezTo>
                <a:cubicBezTo>
                  <a:pt x="72822" y="180578"/>
                  <a:pt x="77788" y="175612"/>
                  <a:pt x="77788" y="169466"/>
                </a:cubicBezTo>
                <a:lnTo>
                  <a:pt x="77788" y="40734"/>
                </a:lnTo>
                <a:lnTo>
                  <a:pt x="114389" y="77336"/>
                </a:lnTo>
                <a:cubicBezTo>
                  <a:pt x="118730" y="81677"/>
                  <a:pt x="125780" y="81677"/>
                  <a:pt x="130120" y="77336"/>
                </a:cubicBezTo>
                <a:cubicBezTo>
                  <a:pt x="134461" y="72995"/>
                  <a:pt x="134461" y="65946"/>
                  <a:pt x="130120" y="61605"/>
                </a:cubicBezTo>
                <a:lnTo>
                  <a:pt x="74558" y="6042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35050" y="7315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心跳取大：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保留最新心跳值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825" y="77724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74523" y="6042"/>
                </a:moveTo>
                <a:cubicBezTo>
                  <a:pt x="70182" y="1702"/>
                  <a:pt x="63133" y="1702"/>
                  <a:pt x="58792" y="6042"/>
                </a:cubicBezTo>
                <a:lnTo>
                  <a:pt x="3230" y="61605"/>
                </a:lnTo>
                <a:cubicBezTo>
                  <a:pt x="-1111" y="65946"/>
                  <a:pt x="-1111" y="72995"/>
                  <a:pt x="3230" y="77336"/>
                </a:cubicBezTo>
                <a:cubicBezTo>
                  <a:pt x="7570" y="81677"/>
                  <a:pt x="14620" y="81677"/>
                  <a:pt x="18961" y="77336"/>
                </a:cubicBezTo>
                <a:lnTo>
                  <a:pt x="55563" y="40734"/>
                </a:lnTo>
                <a:lnTo>
                  <a:pt x="55563" y="169466"/>
                </a:lnTo>
                <a:cubicBezTo>
                  <a:pt x="55563" y="175612"/>
                  <a:pt x="60528" y="180578"/>
                  <a:pt x="66675" y="180578"/>
                </a:cubicBezTo>
                <a:cubicBezTo>
                  <a:pt x="72822" y="180578"/>
                  <a:pt x="77788" y="175612"/>
                  <a:pt x="77788" y="169466"/>
                </a:cubicBezTo>
                <a:lnTo>
                  <a:pt x="77788" y="40734"/>
                </a:lnTo>
                <a:lnTo>
                  <a:pt x="114389" y="77336"/>
                </a:lnTo>
                <a:cubicBezTo>
                  <a:pt x="118730" y="81677"/>
                  <a:pt x="125780" y="81677"/>
                  <a:pt x="130120" y="77336"/>
                </a:cubicBezTo>
                <a:cubicBezTo>
                  <a:pt x="134461" y="72995"/>
                  <a:pt x="134461" y="65946"/>
                  <a:pt x="130120" y="61605"/>
                </a:cubicBezTo>
                <a:lnTo>
                  <a:pt x="74558" y="6042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35050" y="77216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版本向量：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按向量时钟规则合并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8825" y="81788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74523" y="6042"/>
                </a:moveTo>
                <a:cubicBezTo>
                  <a:pt x="70182" y="1702"/>
                  <a:pt x="63133" y="1702"/>
                  <a:pt x="58792" y="6042"/>
                </a:cubicBezTo>
                <a:lnTo>
                  <a:pt x="3230" y="61605"/>
                </a:lnTo>
                <a:cubicBezTo>
                  <a:pt x="-1111" y="65946"/>
                  <a:pt x="-1111" y="72995"/>
                  <a:pt x="3230" y="77336"/>
                </a:cubicBezTo>
                <a:cubicBezTo>
                  <a:pt x="7570" y="81677"/>
                  <a:pt x="14620" y="81677"/>
                  <a:pt x="18961" y="77336"/>
                </a:cubicBezTo>
                <a:lnTo>
                  <a:pt x="55563" y="40734"/>
                </a:lnTo>
                <a:lnTo>
                  <a:pt x="55563" y="169466"/>
                </a:lnTo>
                <a:cubicBezTo>
                  <a:pt x="55563" y="175612"/>
                  <a:pt x="60528" y="180578"/>
                  <a:pt x="66675" y="180578"/>
                </a:cubicBezTo>
                <a:cubicBezTo>
                  <a:pt x="72822" y="180578"/>
                  <a:pt x="77788" y="175612"/>
                  <a:pt x="77788" y="169466"/>
                </a:cubicBezTo>
                <a:lnTo>
                  <a:pt x="77788" y="40734"/>
                </a:lnTo>
                <a:lnTo>
                  <a:pt x="114389" y="77336"/>
                </a:lnTo>
                <a:cubicBezTo>
                  <a:pt x="118730" y="81677"/>
                  <a:pt x="125780" y="81677"/>
                  <a:pt x="130120" y="77336"/>
                </a:cubicBezTo>
                <a:cubicBezTo>
                  <a:pt x="134461" y="72995"/>
                  <a:pt x="134461" y="65946"/>
                  <a:pt x="130120" y="61605"/>
                </a:cubicBezTo>
                <a:lnTo>
                  <a:pt x="74558" y="6042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35050" y="8128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幂等性：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多次合并结果一致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3660" y="1320800"/>
            <a:ext cx="9169400" cy="7315200"/>
          </a:xfrm>
          <a:custGeom>
            <a:avLst/>
            <a:gdLst/>
            <a:ahLst/>
            <a:cxnLst/>
            <a:rect l="l" t="t" r="r" b="b"/>
            <a:pathLst>
              <a:path w="9169400" h="7315200">
                <a:moveTo>
                  <a:pt x="101608" y="0"/>
                </a:moveTo>
                <a:lnTo>
                  <a:pt x="9067792" y="0"/>
                </a:lnTo>
                <a:cubicBezTo>
                  <a:pt x="9123908" y="0"/>
                  <a:pt x="9169400" y="45492"/>
                  <a:pt x="9169400" y="101608"/>
                </a:cubicBezTo>
                <a:lnTo>
                  <a:pt x="9169400" y="7213592"/>
                </a:lnTo>
                <a:cubicBezTo>
                  <a:pt x="9169400" y="7269708"/>
                  <a:pt x="9123908" y="7315200"/>
                  <a:pt x="9067792" y="7315200"/>
                </a:cubicBezTo>
                <a:lnTo>
                  <a:pt x="101608" y="7315200"/>
                </a:lnTo>
                <a:cubicBezTo>
                  <a:pt x="45492" y="7315200"/>
                  <a:pt x="0" y="7269708"/>
                  <a:pt x="0" y="7213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774160" y="1574800"/>
            <a:ext cx="878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Push-Pull 交互序列图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44060" y="274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517110" y="299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780510" y="36576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93210" y="40132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66460" y="3498850"/>
            <a:ext cx="5003800" cy="12700"/>
          </a:xfrm>
          <a:custGeom>
            <a:avLst/>
            <a:gdLst/>
            <a:ahLst/>
            <a:cxnLst/>
            <a:rect l="l" t="t" r="r" b="b"/>
            <a:pathLst>
              <a:path w="5003800" h="12700">
                <a:moveTo>
                  <a:pt x="0" y="0"/>
                </a:moveTo>
                <a:lnTo>
                  <a:pt x="5003800" y="0"/>
                </a:lnTo>
                <a:lnTo>
                  <a:pt x="5003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114980" y="34480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4274800" y="274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4547850" y="299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3811250" y="36576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823950" y="40132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1354" y="4470400"/>
            <a:ext cx="1181100" cy="355600"/>
          </a:xfrm>
          <a:custGeom>
            <a:avLst/>
            <a:gdLst/>
            <a:ahLst/>
            <a:cxnLst/>
            <a:rect l="l" t="t" r="r" b="b"/>
            <a:pathLst>
              <a:path w="1181100" h="355600">
                <a:moveTo>
                  <a:pt x="50801" y="0"/>
                </a:moveTo>
                <a:lnTo>
                  <a:pt x="1130299" y="0"/>
                </a:lnTo>
                <a:cubicBezTo>
                  <a:pt x="1158356" y="0"/>
                  <a:pt x="1181100" y="22744"/>
                  <a:pt x="1181100" y="50801"/>
                </a:cubicBezTo>
                <a:lnTo>
                  <a:pt x="1181100" y="304799"/>
                </a:lnTo>
                <a:cubicBezTo>
                  <a:pt x="1181100" y="332856"/>
                  <a:pt x="1158356" y="355600"/>
                  <a:pt x="11302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092454" y="4470400"/>
            <a:ext cx="12700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选择目标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51291" y="4927600"/>
            <a:ext cx="1206500" cy="355600"/>
          </a:xfrm>
          <a:custGeom>
            <a:avLst/>
            <a:gdLst/>
            <a:ahLst/>
            <a:cxnLst/>
            <a:rect l="l" t="t" r="r" b="b"/>
            <a:pathLst>
              <a:path w="1206500" h="355600">
                <a:moveTo>
                  <a:pt x="50801" y="0"/>
                </a:moveTo>
                <a:lnTo>
                  <a:pt x="1155699" y="0"/>
                </a:lnTo>
                <a:cubicBezTo>
                  <a:pt x="1183756" y="0"/>
                  <a:pt x="1206500" y="22744"/>
                  <a:pt x="1206500" y="50801"/>
                </a:cubicBezTo>
                <a:lnTo>
                  <a:pt x="1206500" y="304799"/>
                </a:lnTo>
                <a:cubicBezTo>
                  <a:pt x="1206500" y="332856"/>
                  <a:pt x="1183756" y="355600"/>
                  <a:pt x="11556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062391" y="4927600"/>
            <a:ext cx="1295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发送视图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661650" y="4927600"/>
            <a:ext cx="698500" cy="355600"/>
          </a:xfrm>
          <a:custGeom>
            <a:avLst/>
            <a:gdLst/>
            <a:ahLst/>
            <a:cxnLst/>
            <a:rect l="l" t="t" r="r" b="b"/>
            <a:pathLst>
              <a:path w="698500" h="355600">
                <a:moveTo>
                  <a:pt x="50801" y="0"/>
                </a:moveTo>
                <a:lnTo>
                  <a:pt x="647699" y="0"/>
                </a:lnTo>
                <a:cubicBezTo>
                  <a:pt x="675756" y="0"/>
                  <a:pt x="698500" y="22744"/>
                  <a:pt x="698500" y="50801"/>
                </a:cubicBezTo>
                <a:lnTo>
                  <a:pt x="698500" y="304799"/>
                </a:lnTo>
                <a:cubicBezTo>
                  <a:pt x="698500" y="332856"/>
                  <a:pt x="675756" y="355600"/>
                  <a:pt x="6476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661650" y="4927600"/>
            <a:ext cx="787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441311" y="5003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3868400" y="4927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87A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3868400" y="49276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接收视图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45660" y="5384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87A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256760" y="5384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接收响应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736759" y="5461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3731" y="92631"/>
                </a:moveTo>
                <a:cubicBezTo>
                  <a:pt x="-1230" y="97592"/>
                  <a:pt x="-1230" y="105648"/>
                  <a:pt x="3731" y="110609"/>
                </a:cubicBezTo>
                <a:lnTo>
                  <a:pt x="67231" y="174109"/>
                </a:lnTo>
                <a:cubicBezTo>
                  <a:pt x="72192" y="179070"/>
                  <a:pt x="80248" y="179070"/>
                  <a:pt x="85209" y="174109"/>
                </a:cubicBezTo>
                <a:cubicBezTo>
                  <a:pt x="90170" y="169148"/>
                  <a:pt x="90170" y="161092"/>
                  <a:pt x="85209" y="156131"/>
                </a:cubicBezTo>
                <a:lnTo>
                  <a:pt x="43378" y="114300"/>
                </a:ln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43378" y="88900"/>
                </a:lnTo>
                <a:lnTo>
                  <a:pt x="85209" y="47069"/>
                </a:lnTo>
                <a:cubicBezTo>
                  <a:pt x="90170" y="42108"/>
                  <a:pt x="90170" y="34052"/>
                  <a:pt x="85209" y="29091"/>
                </a:cubicBezTo>
                <a:cubicBezTo>
                  <a:pt x="80248" y="24130"/>
                  <a:pt x="72192" y="24130"/>
                  <a:pt x="67231" y="29091"/>
                </a:cubicBezTo>
                <a:lnTo>
                  <a:pt x="3731" y="9259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1016159" y="5384800"/>
            <a:ext cx="609600" cy="355600"/>
          </a:xfrm>
          <a:custGeom>
            <a:avLst/>
            <a:gdLst/>
            <a:ahLst/>
            <a:cxnLst/>
            <a:rect l="l" t="t" r="r" b="b"/>
            <a:pathLst>
              <a:path w="609600" h="355600">
                <a:moveTo>
                  <a:pt x="50801" y="0"/>
                </a:moveTo>
                <a:lnTo>
                  <a:pt x="558799" y="0"/>
                </a:lnTo>
                <a:cubicBezTo>
                  <a:pt x="586856" y="0"/>
                  <a:pt x="609600" y="22744"/>
                  <a:pt x="609600" y="50801"/>
                </a:cubicBezTo>
                <a:lnTo>
                  <a:pt x="609600" y="304799"/>
                </a:lnTo>
                <a:cubicBezTo>
                  <a:pt x="609600" y="332856"/>
                  <a:pt x="586856" y="355600"/>
                  <a:pt x="558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016159" y="5384800"/>
            <a:ext cx="698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Pull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3868400" y="5384800"/>
            <a:ext cx="1219200" cy="355600"/>
          </a:xfrm>
          <a:custGeom>
            <a:avLst/>
            <a:gdLst/>
            <a:ahLst/>
            <a:cxnLst/>
            <a:rect l="l" t="t" r="r" b="b"/>
            <a:pathLst>
              <a:path w="1219200" h="355600">
                <a:moveTo>
                  <a:pt x="50801" y="0"/>
                </a:moveTo>
                <a:lnTo>
                  <a:pt x="1168399" y="0"/>
                </a:lnTo>
                <a:cubicBezTo>
                  <a:pt x="1196456" y="0"/>
                  <a:pt x="1219200" y="22744"/>
                  <a:pt x="1219200" y="50801"/>
                </a:cubicBezTo>
                <a:lnTo>
                  <a:pt x="1219200" y="304799"/>
                </a:lnTo>
                <a:cubicBezTo>
                  <a:pt x="1219200" y="332856"/>
                  <a:pt x="1196456" y="355600"/>
                  <a:pt x="1168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3868400" y="5384800"/>
            <a:ext cx="13081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返回视图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47024" y="5842000"/>
            <a:ext cx="1219200" cy="355600"/>
          </a:xfrm>
          <a:custGeom>
            <a:avLst/>
            <a:gdLst/>
            <a:ahLst/>
            <a:cxnLst/>
            <a:rect l="l" t="t" r="r" b="b"/>
            <a:pathLst>
              <a:path w="1219200" h="355600">
                <a:moveTo>
                  <a:pt x="50801" y="0"/>
                </a:moveTo>
                <a:lnTo>
                  <a:pt x="1168399" y="0"/>
                </a:lnTo>
                <a:cubicBezTo>
                  <a:pt x="1196456" y="0"/>
                  <a:pt x="1219200" y="22744"/>
                  <a:pt x="1219200" y="50801"/>
                </a:cubicBezTo>
                <a:lnTo>
                  <a:pt x="1219200" y="304799"/>
                </a:lnTo>
                <a:cubicBezTo>
                  <a:pt x="1219200" y="332856"/>
                  <a:pt x="1196456" y="355600"/>
                  <a:pt x="1168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7058124" y="5842000"/>
            <a:ext cx="13081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合并更新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3868400" y="58420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3868400" y="58420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合并更新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37660" y="6400800"/>
            <a:ext cx="8661400" cy="1320800"/>
          </a:xfrm>
          <a:custGeom>
            <a:avLst/>
            <a:gdLst/>
            <a:ahLst/>
            <a:cxnLst/>
            <a:rect l="l" t="t" r="r" b="b"/>
            <a:pathLst>
              <a:path w="8661400" h="1320800">
                <a:moveTo>
                  <a:pt x="101596" y="0"/>
                </a:moveTo>
                <a:lnTo>
                  <a:pt x="8559804" y="0"/>
                </a:lnTo>
                <a:cubicBezTo>
                  <a:pt x="8615914" y="0"/>
                  <a:pt x="8661400" y="45486"/>
                  <a:pt x="8661400" y="101596"/>
                </a:cubicBezTo>
                <a:lnTo>
                  <a:pt x="8661400" y="1219204"/>
                </a:lnTo>
                <a:cubicBezTo>
                  <a:pt x="8661400" y="1275314"/>
                  <a:pt x="8615914" y="1320800"/>
                  <a:pt x="85598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7021810" y="6591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377410" y="6553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018635" y="7010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7282160" y="6959600"/>
            <a:ext cx="194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单次 RTT 完成双向交换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245155" y="7010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1508680" y="69596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收敛速度最快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018635" y="7366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7282160" y="73152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消息体可能较大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245155" y="7366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1508680" y="73152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实际系统默认选择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338667"/>
          </a:xfrm>
          <a:custGeom>
            <a:avLst/>
            <a:gdLst/>
            <a:ahLst/>
            <a:cxnLst/>
            <a:rect l="l" t="t" r="r" b="b"/>
            <a:pathLst>
              <a:path w="84667" h="338667">
                <a:moveTo>
                  <a:pt x="0" y="0"/>
                </a:moveTo>
                <a:lnTo>
                  <a:pt x="84667" y="0"/>
                </a:lnTo>
                <a:lnTo>
                  <a:pt x="84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56409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简化 Java 示例：心跳式 Gossip 状态同步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917788"/>
            <a:ext cx="7598833" cy="7090832"/>
          </a:xfrm>
          <a:custGeom>
            <a:avLst/>
            <a:gdLst/>
            <a:ahLst/>
            <a:cxnLst/>
            <a:rect l="l" t="t" r="r" b="b"/>
            <a:pathLst>
              <a:path w="7598833" h="9990667">
                <a:moveTo>
                  <a:pt x="42333" y="0"/>
                </a:moveTo>
                <a:lnTo>
                  <a:pt x="7514182" y="0"/>
                </a:lnTo>
                <a:cubicBezTo>
                  <a:pt x="7560934" y="0"/>
                  <a:pt x="7598833" y="37900"/>
                  <a:pt x="7598833" y="84651"/>
                </a:cubicBezTo>
                <a:lnTo>
                  <a:pt x="7598833" y="9906016"/>
                </a:lnTo>
                <a:cubicBezTo>
                  <a:pt x="7598833" y="9952767"/>
                  <a:pt x="7560934" y="9990667"/>
                  <a:pt x="7514182" y="9990667"/>
                </a:cubicBezTo>
                <a:lnTo>
                  <a:pt x="42333" y="9990667"/>
                </a:lnTo>
                <a:cubicBezTo>
                  <a:pt x="18953" y="9990667"/>
                  <a:pt x="0" y="9971713"/>
                  <a:pt x="0" y="994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917789"/>
            <a:ext cx="42333" cy="7092000"/>
          </a:xfrm>
          <a:custGeom>
            <a:avLst/>
            <a:gdLst/>
            <a:ahLst/>
            <a:cxnLst/>
            <a:rect l="l" t="t" r="r" b="b"/>
            <a:pathLst>
              <a:path w="42333" h="9990667">
                <a:moveTo>
                  <a:pt x="42333" y="0"/>
                </a:moveTo>
                <a:lnTo>
                  <a:pt x="42333" y="0"/>
                </a:lnTo>
                <a:lnTo>
                  <a:pt x="42333" y="9990667"/>
                </a:lnTo>
                <a:lnTo>
                  <a:pt x="42333" y="9990667"/>
                </a:lnTo>
                <a:cubicBezTo>
                  <a:pt x="18953" y="9990667"/>
                  <a:pt x="0" y="9971713"/>
                  <a:pt x="0" y="994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35000" y="1087120"/>
            <a:ext cx="73130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简化的 Gossip 节点，每个 tick 周期传播本地心跳视图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" y="1412558"/>
            <a:ext cx="73130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GossipNode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333" y="1653328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final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String nodeId;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333" y="1894099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final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Set members;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333" y="2134870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final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Map heartbeat;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333" y="2375641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final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Random random = </a:t>
            </a: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Random();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333" y="2857183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构造函数：初始化节点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333" y="3097953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GossipNode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(String nodeId, Set seedNodes) {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3667" y="3338724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.nodeId = nodeId;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3667" y="3579495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.members = </a:t>
            </a: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HashSet&lt;&gt;(seedNodes);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3667" y="3820266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.members.add(nodeId);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3667" y="4061037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.heartbeat = </a:t>
            </a: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ConcurrentHashMap&lt;&gt;();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3667" y="4301808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.heartbeat.put(nodeId, 0L);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333" y="4542578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333" y="5024120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周期性调用：驱动 Gossip 传播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333" y="5264891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tick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 {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3667" y="5505662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自增本地心跳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3667" y="5746433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 next = heartbeat.getOrDefault(nodeId, 0L) + 1;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3667" y="5987203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heartbeat.put(nodeId, next);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3667" y="6227974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随机选择一个目标节点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3667" y="6468745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target = chooseRandomPeer();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3667" y="6709516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(target == </a:t>
            </a: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3667" y="6950287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发送本地视图给目标节点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3667" y="7191058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GossipMessage msg = </a:t>
            </a: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GossipMessage(nodeId, </a:t>
            </a: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HashMap&lt;&gt;(heartbeat));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3667" y="7431828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send(target, msg);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333" y="7672599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33833" y="326944"/>
            <a:ext cx="7598833" cy="6117167"/>
          </a:xfrm>
          <a:custGeom>
            <a:avLst/>
            <a:gdLst/>
            <a:ahLst/>
            <a:cxnLst/>
            <a:rect l="l" t="t" r="r" b="b"/>
            <a:pathLst>
              <a:path w="7598833" h="6117167">
                <a:moveTo>
                  <a:pt x="42333" y="0"/>
                </a:moveTo>
                <a:lnTo>
                  <a:pt x="7514172" y="0"/>
                </a:lnTo>
                <a:cubicBezTo>
                  <a:pt x="7560929" y="0"/>
                  <a:pt x="7598833" y="37904"/>
                  <a:pt x="7598833" y="84662"/>
                </a:cubicBezTo>
                <a:lnTo>
                  <a:pt x="7598833" y="6032505"/>
                </a:lnTo>
                <a:cubicBezTo>
                  <a:pt x="7598833" y="6079262"/>
                  <a:pt x="7560929" y="6117167"/>
                  <a:pt x="7514172" y="6117167"/>
                </a:cubicBezTo>
                <a:lnTo>
                  <a:pt x="42333" y="6117167"/>
                </a:lnTo>
                <a:cubicBezTo>
                  <a:pt x="18953" y="6117167"/>
                  <a:pt x="0" y="6098213"/>
                  <a:pt x="0" y="6074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33833" y="326944"/>
            <a:ext cx="42333" cy="6117167"/>
          </a:xfrm>
          <a:custGeom>
            <a:avLst/>
            <a:gdLst/>
            <a:ahLst/>
            <a:cxnLst/>
            <a:rect l="l" t="t" r="r" b="b"/>
            <a:pathLst>
              <a:path w="42333" h="6117167">
                <a:moveTo>
                  <a:pt x="42333" y="0"/>
                </a:moveTo>
                <a:lnTo>
                  <a:pt x="42333" y="0"/>
                </a:lnTo>
                <a:lnTo>
                  <a:pt x="42333" y="6117167"/>
                </a:lnTo>
                <a:lnTo>
                  <a:pt x="42333" y="6117167"/>
                </a:lnTo>
                <a:cubicBezTo>
                  <a:pt x="18953" y="6117167"/>
                  <a:pt x="0" y="6098213"/>
                  <a:pt x="0" y="6074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93667" y="496277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接收 Gossip 消息时调用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3667" y="737048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onReceive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(GossipMessage msg) {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63000" y="977819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4. 合并对方视图（取心跳较大的值）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63000" y="1218590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msg.heartbeat().forEach((id, hb) -&gt; {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32333" y="1459360"/>
            <a:ext cx="68050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 local = heartbeat.getOrDefault(id, 0L);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32333" y="1700131"/>
            <a:ext cx="68050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(hb &gt; local) {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01667" y="1940902"/>
            <a:ext cx="6635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heartbeat.put(id, hb);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32333" y="2181673"/>
            <a:ext cx="68050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63000" y="2422444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63000" y="2663215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5. 更新成员列表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63000" y="2903985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members.addAll(msg.heartbeat().keySet());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93667" y="3144756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93667" y="3626298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随机选择对等节点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93667" y="3867069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String 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chooseRandomPeer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 {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63000" y="4107840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 peers = members.stream()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01667" y="4348610"/>
            <a:ext cx="6635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.filter(id -&gt; !id.equals(nodeId))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01667" y="4589381"/>
            <a:ext cx="6635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.collect(Collectors.toList());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63000" y="4830152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(peers.isEmpty()) </a:t>
            </a:r>
            <a:r>
              <a:rPr lang="en-US" sz="1167" dirty="0">
                <a:solidFill>
                  <a:srgbClr val="FFFFFF">
                    <a:alpha val="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null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63000" y="5070923"/>
            <a:ext cx="697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peers.get(random.nextInt(peers.size()));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93667" y="5311694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93667" y="5793235"/>
            <a:ext cx="7143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不可变 Gossip 消息结构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24333" y="6034006"/>
            <a:ext cx="73130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GossipMessage</a:t>
            </a:r>
            <a:r>
              <a:rPr lang="en-US" sz="1167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(String from, Map heartbeat) {}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12667" y="6303952"/>
            <a:ext cx="7620000" cy="1989667"/>
          </a:xfrm>
          <a:custGeom>
            <a:avLst/>
            <a:gdLst/>
            <a:ahLst/>
            <a:cxnLst/>
            <a:rect l="l" t="t" r="r" b="b"/>
            <a:pathLst>
              <a:path w="7620000" h="1989667">
                <a:moveTo>
                  <a:pt x="84660" y="0"/>
                </a:moveTo>
                <a:lnTo>
                  <a:pt x="7535340" y="0"/>
                </a:lnTo>
                <a:cubicBezTo>
                  <a:pt x="7582096" y="0"/>
                  <a:pt x="7620000" y="37904"/>
                  <a:pt x="7620000" y="84660"/>
                </a:cubicBezTo>
                <a:lnTo>
                  <a:pt x="7620000" y="1905006"/>
                </a:lnTo>
                <a:cubicBezTo>
                  <a:pt x="7620000" y="1951763"/>
                  <a:pt x="7582096" y="1989667"/>
                  <a:pt x="7535340" y="1989667"/>
                </a:cubicBezTo>
                <a:lnTo>
                  <a:pt x="84660" y="1989667"/>
                </a:lnTo>
                <a:cubicBezTo>
                  <a:pt x="37904" y="1989667"/>
                  <a:pt x="0" y="1951763"/>
                  <a:pt x="0" y="1905006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382000" y="6529557"/>
            <a:ext cx="7376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核心设计要点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03167" y="695289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31225"/>
                </a:moveTo>
                <a:lnTo>
                  <a:pt x="69743" y="25206"/>
                </a:lnTo>
                <a:cubicBezTo>
                  <a:pt x="62508" y="15193"/>
                  <a:pt x="50903" y="9260"/>
                  <a:pt x="38518" y="9260"/>
                </a:cubicBezTo>
                <a:cubicBezTo>
                  <a:pt x="17248" y="9260"/>
                  <a:pt x="0" y="26508"/>
                  <a:pt x="0" y="47778"/>
                </a:cubicBezTo>
                <a:lnTo>
                  <a:pt x="0" y="48530"/>
                </a:lnTo>
                <a:cubicBezTo>
                  <a:pt x="0" y="55360"/>
                  <a:pt x="1794" y="62421"/>
                  <a:pt x="4804" y="69453"/>
                </a:cubicBezTo>
                <a:lnTo>
                  <a:pt x="35479" y="69453"/>
                </a:lnTo>
                <a:cubicBezTo>
                  <a:pt x="36405" y="69453"/>
                  <a:pt x="37244" y="68903"/>
                  <a:pt x="37620" y="68035"/>
                </a:cubicBezTo>
                <a:lnTo>
                  <a:pt x="46823" y="45955"/>
                </a:lnTo>
                <a:cubicBezTo>
                  <a:pt x="47894" y="43408"/>
                  <a:pt x="50382" y="41730"/>
                  <a:pt x="53132" y="41672"/>
                </a:cubicBezTo>
                <a:cubicBezTo>
                  <a:pt x="55881" y="41614"/>
                  <a:pt x="58427" y="43235"/>
                  <a:pt x="59556" y="45752"/>
                </a:cubicBezTo>
                <a:lnTo>
                  <a:pt x="74402" y="78714"/>
                </a:lnTo>
                <a:lnTo>
                  <a:pt x="86382" y="54752"/>
                </a:lnTo>
                <a:cubicBezTo>
                  <a:pt x="87569" y="52408"/>
                  <a:pt x="89971" y="50903"/>
                  <a:pt x="92604" y="50903"/>
                </a:cubicBezTo>
                <a:cubicBezTo>
                  <a:pt x="95238" y="50903"/>
                  <a:pt x="97640" y="52379"/>
                  <a:pt x="98826" y="54752"/>
                </a:cubicBezTo>
                <a:lnTo>
                  <a:pt x="105540" y="68151"/>
                </a:lnTo>
                <a:cubicBezTo>
                  <a:pt x="105945" y="68932"/>
                  <a:pt x="106726" y="69424"/>
                  <a:pt x="107623" y="69424"/>
                </a:cubicBezTo>
                <a:lnTo>
                  <a:pt x="143392" y="69424"/>
                </a:lnTo>
                <a:cubicBezTo>
                  <a:pt x="146430" y="62392"/>
                  <a:pt x="148196" y="55331"/>
                  <a:pt x="148196" y="48501"/>
                </a:cubicBezTo>
                <a:lnTo>
                  <a:pt x="148196" y="47749"/>
                </a:lnTo>
                <a:cubicBezTo>
                  <a:pt x="148167" y="26508"/>
                  <a:pt x="130919" y="9260"/>
                  <a:pt x="109649" y="9260"/>
                </a:cubicBezTo>
                <a:cubicBezTo>
                  <a:pt x="97292" y="9260"/>
                  <a:pt x="85659" y="15193"/>
                  <a:pt x="78424" y="25206"/>
                </a:cubicBezTo>
                <a:lnTo>
                  <a:pt x="74083" y="31196"/>
                </a:lnTo>
                <a:close/>
                <a:moveTo>
                  <a:pt x="135897" y="83344"/>
                </a:moveTo>
                <a:lnTo>
                  <a:pt x="107594" y="83344"/>
                </a:lnTo>
                <a:cubicBezTo>
                  <a:pt x="101459" y="83344"/>
                  <a:pt x="95845" y="79871"/>
                  <a:pt x="93096" y="74373"/>
                </a:cubicBezTo>
                <a:lnTo>
                  <a:pt x="92604" y="73389"/>
                </a:lnTo>
                <a:lnTo>
                  <a:pt x="80305" y="98016"/>
                </a:lnTo>
                <a:cubicBezTo>
                  <a:pt x="79119" y="100418"/>
                  <a:pt x="76630" y="101922"/>
                  <a:pt x="73939" y="101865"/>
                </a:cubicBezTo>
                <a:cubicBezTo>
                  <a:pt x="71247" y="101807"/>
                  <a:pt x="68845" y="100215"/>
                  <a:pt x="67746" y="97784"/>
                </a:cubicBezTo>
                <a:lnTo>
                  <a:pt x="53479" y="66096"/>
                </a:lnTo>
                <a:lnTo>
                  <a:pt x="50440" y="73389"/>
                </a:lnTo>
                <a:cubicBezTo>
                  <a:pt x="47923" y="79437"/>
                  <a:pt x="42019" y="83373"/>
                  <a:pt x="35479" y="83373"/>
                </a:cubicBezTo>
                <a:lnTo>
                  <a:pt x="12270" y="83373"/>
                </a:lnTo>
                <a:cubicBezTo>
                  <a:pt x="25929" y="104730"/>
                  <a:pt x="47865" y="124379"/>
                  <a:pt x="61582" y="134855"/>
                </a:cubicBezTo>
                <a:cubicBezTo>
                  <a:pt x="65170" y="137575"/>
                  <a:pt x="69569" y="138935"/>
                  <a:pt x="74054" y="138935"/>
                </a:cubicBezTo>
                <a:cubicBezTo>
                  <a:pt x="78540" y="138935"/>
                  <a:pt x="82968" y="137604"/>
                  <a:pt x="86527" y="134855"/>
                </a:cubicBezTo>
                <a:cubicBezTo>
                  <a:pt x="100302" y="124350"/>
                  <a:pt x="122238" y="104701"/>
                  <a:pt x="135897" y="8334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651875" y="6910557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心跳表：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记录各成员最近一次看到的心跳值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21688" y="7291557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62103" y="5035"/>
                </a:moveTo>
                <a:cubicBezTo>
                  <a:pt x="58485" y="1418"/>
                  <a:pt x="52611" y="1418"/>
                  <a:pt x="48993" y="5035"/>
                </a:cubicBezTo>
                <a:lnTo>
                  <a:pt x="2691" y="51337"/>
                </a:lnTo>
                <a:cubicBezTo>
                  <a:pt x="-926" y="54955"/>
                  <a:pt x="-926" y="60829"/>
                  <a:pt x="2691" y="64447"/>
                </a:cubicBezTo>
                <a:cubicBezTo>
                  <a:pt x="6309" y="68064"/>
                  <a:pt x="12183" y="68064"/>
                  <a:pt x="15801" y="64447"/>
                </a:cubicBezTo>
                <a:lnTo>
                  <a:pt x="46302" y="33945"/>
                </a:lnTo>
                <a:lnTo>
                  <a:pt x="46302" y="141221"/>
                </a:lnTo>
                <a:cubicBezTo>
                  <a:pt x="46302" y="146344"/>
                  <a:pt x="50440" y="150482"/>
                  <a:pt x="55562" y="150482"/>
                </a:cubicBezTo>
                <a:cubicBezTo>
                  <a:pt x="60685" y="150482"/>
                  <a:pt x="64823" y="146344"/>
                  <a:pt x="64823" y="141221"/>
                </a:cubicBezTo>
                <a:lnTo>
                  <a:pt x="64823" y="33945"/>
                </a:lnTo>
                <a:lnTo>
                  <a:pt x="95324" y="64447"/>
                </a:lnTo>
                <a:cubicBezTo>
                  <a:pt x="98942" y="68064"/>
                  <a:pt x="104816" y="68064"/>
                  <a:pt x="108434" y="64447"/>
                </a:cubicBezTo>
                <a:cubicBezTo>
                  <a:pt x="112051" y="60829"/>
                  <a:pt x="112051" y="54955"/>
                  <a:pt x="108434" y="51337"/>
                </a:cubicBezTo>
                <a:lnTo>
                  <a:pt x="62132" y="5035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651875" y="7249224"/>
            <a:ext cx="2656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自增心跳：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每轮 tick 自增本地心跳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03167" y="7630224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16855" y="9955"/>
                </a:moveTo>
                <a:cubicBezTo>
                  <a:pt x="120328" y="8508"/>
                  <a:pt x="124292" y="9318"/>
                  <a:pt x="126955" y="11952"/>
                </a:cubicBezTo>
                <a:lnTo>
                  <a:pt x="145475" y="30473"/>
                </a:lnTo>
                <a:cubicBezTo>
                  <a:pt x="147212" y="32209"/>
                  <a:pt x="148196" y="34553"/>
                  <a:pt x="148196" y="37013"/>
                </a:cubicBezTo>
                <a:cubicBezTo>
                  <a:pt x="148196" y="39473"/>
                  <a:pt x="147212" y="41817"/>
                  <a:pt x="145475" y="43553"/>
                </a:cubicBezTo>
                <a:lnTo>
                  <a:pt x="126955" y="62074"/>
                </a:lnTo>
                <a:cubicBezTo>
                  <a:pt x="124292" y="64736"/>
                  <a:pt x="120328" y="65517"/>
                  <a:pt x="116855" y="64071"/>
                </a:cubicBezTo>
                <a:cubicBezTo>
                  <a:pt x="113382" y="62624"/>
                  <a:pt x="111125" y="59296"/>
                  <a:pt x="111125" y="55562"/>
                </a:cubicBezTo>
                <a:lnTo>
                  <a:pt x="111125" y="46302"/>
                </a:lnTo>
                <a:lnTo>
                  <a:pt x="101865" y="46302"/>
                </a:lnTo>
                <a:cubicBezTo>
                  <a:pt x="98942" y="46302"/>
                  <a:pt x="96193" y="47662"/>
                  <a:pt x="94456" y="50006"/>
                </a:cubicBezTo>
                <a:lnTo>
                  <a:pt x="85080" y="62508"/>
                </a:lnTo>
                <a:lnTo>
                  <a:pt x="73505" y="47083"/>
                </a:lnTo>
                <a:lnTo>
                  <a:pt x="79640" y="38894"/>
                </a:lnTo>
                <a:cubicBezTo>
                  <a:pt x="84878" y="31891"/>
                  <a:pt x="93125" y="27781"/>
                  <a:pt x="101865" y="27781"/>
                </a:cubicBezTo>
                <a:lnTo>
                  <a:pt x="111125" y="27781"/>
                </a:lnTo>
                <a:lnTo>
                  <a:pt x="111125" y="18521"/>
                </a:lnTo>
                <a:cubicBezTo>
                  <a:pt x="111125" y="14788"/>
                  <a:pt x="113382" y="11402"/>
                  <a:pt x="116855" y="9955"/>
                </a:cubicBezTo>
                <a:close/>
                <a:moveTo>
                  <a:pt x="44566" y="85659"/>
                </a:moveTo>
                <a:lnTo>
                  <a:pt x="56141" y="101083"/>
                </a:lnTo>
                <a:lnTo>
                  <a:pt x="50006" y="109273"/>
                </a:lnTo>
                <a:cubicBezTo>
                  <a:pt x="44768" y="116276"/>
                  <a:pt x="36521" y="120385"/>
                  <a:pt x="27781" y="120385"/>
                </a:cubicBezTo>
                <a:lnTo>
                  <a:pt x="9260" y="120385"/>
                </a:lnTo>
                <a:cubicBezTo>
                  <a:pt x="4138" y="120385"/>
                  <a:pt x="0" y="116247"/>
                  <a:pt x="0" y="111125"/>
                </a:cubicBezTo>
                <a:cubicBezTo>
                  <a:pt x="0" y="106003"/>
                  <a:pt x="4138" y="101865"/>
                  <a:pt x="9260" y="101865"/>
                </a:cubicBezTo>
                <a:lnTo>
                  <a:pt x="27781" y="101865"/>
                </a:lnTo>
                <a:cubicBezTo>
                  <a:pt x="30704" y="101865"/>
                  <a:pt x="33453" y="100504"/>
                  <a:pt x="35190" y="98160"/>
                </a:cubicBezTo>
                <a:lnTo>
                  <a:pt x="44566" y="85659"/>
                </a:lnTo>
                <a:close/>
                <a:moveTo>
                  <a:pt x="126926" y="136186"/>
                </a:moveTo>
                <a:cubicBezTo>
                  <a:pt x="124263" y="138848"/>
                  <a:pt x="120299" y="139630"/>
                  <a:pt x="116826" y="138183"/>
                </a:cubicBezTo>
                <a:cubicBezTo>
                  <a:pt x="113353" y="136736"/>
                  <a:pt x="111125" y="133379"/>
                  <a:pt x="111125" y="129646"/>
                </a:cubicBezTo>
                <a:lnTo>
                  <a:pt x="111125" y="120385"/>
                </a:lnTo>
                <a:lnTo>
                  <a:pt x="101865" y="120385"/>
                </a:lnTo>
                <a:cubicBezTo>
                  <a:pt x="93125" y="120385"/>
                  <a:pt x="84878" y="116276"/>
                  <a:pt x="79640" y="109273"/>
                </a:cubicBezTo>
                <a:lnTo>
                  <a:pt x="35190" y="50006"/>
                </a:lnTo>
                <a:cubicBezTo>
                  <a:pt x="33453" y="47662"/>
                  <a:pt x="30704" y="46302"/>
                  <a:pt x="27781" y="46302"/>
                </a:cubicBezTo>
                <a:lnTo>
                  <a:pt x="9260" y="46302"/>
                </a:lnTo>
                <a:cubicBezTo>
                  <a:pt x="4138" y="46302"/>
                  <a:pt x="0" y="42164"/>
                  <a:pt x="0" y="37042"/>
                </a:cubicBezTo>
                <a:cubicBezTo>
                  <a:pt x="0" y="31919"/>
                  <a:pt x="4138" y="27781"/>
                  <a:pt x="9260" y="27781"/>
                </a:cubicBezTo>
                <a:lnTo>
                  <a:pt x="27781" y="27781"/>
                </a:lnTo>
                <a:cubicBezTo>
                  <a:pt x="36521" y="27781"/>
                  <a:pt x="44768" y="31891"/>
                  <a:pt x="50006" y="38894"/>
                </a:cubicBezTo>
                <a:lnTo>
                  <a:pt x="94456" y="98160"/>
                </a:lnTo>
                <a:cubicBezTo>
                  <a:pt x="96193" y="100504"/>
                  <a:pt x="98942" y="101865"/>
                  <a:pt x="101865" y="101865"/>
                </a:cubicBezTo>
                <a:lnTo>
                  <a:pt x="111125" y="101865"/>
                </a:lnTo>
                <a:lnTo>
                  <a:pt x="111125" y="92604"/>
                </a:lnTo>
                <a:cubicBezTo>
                  <a:pt x="111125" y="88871"/>
                  <a:pt x="113382" y="85485"/>
                  <a:pt x="116855" y="84038"/>
                </a:cubicBezTo>
                <a:cubicBezTo>
                  <a:pt x="120328" y="82591"/>
                  <a:pt x="124292" y="83402"/>
                  <a:pt x="126955" y="86035"/>
                </a:cubicBezTo>
                <a:lnTo>
                  <a:pt x="145475" y="104556"/>
                </a:lnTo>
                <a:cubicBezTo>
                  <a:pt x="147212" y="106292"/>
                  <a:pt x="148196" y="108636"/>
                  <a:pt x="148196" y="111096"/>
                </a:cubicBezTo>
                <a:cubicBezTo>
                  <a:pt x="148196" y="113556"/>
                  <a:pt x="147212" y="115900"/>
                  <a:pt x="145475" y="117636"/>
                </a:cubicBezTo>
                <a:lnTo>
                  <a:pt x="126955" y="136157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651875" y="758789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随机传播：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向随机节点发送当前视图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12427" y="796889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46302" y="18521"/>
                </a:moveTo>
                <a:cubicBezTo>
                  <a:pt x="46302" y="13399"/>
                  <a:pt x="42164" y="9260"/>
                  <a:pt x="37042" y="9260"/>
                </a:cubicBezTo>
                <a:cubicBezTo>
                  <a:pt x="31919" y="9260"/>
                  <a:pt x="27781" y="13399"/>
                  <a:pt x="27781" y="18521"/>
                </a:cubicBezTo>
                <a:lnTo>
                  <a:pt x="27781" y="37042"/>
                </a:lnTo>
                <a:lnTo>
                  <a:pt x="9260" y="37042"/>
                </a:lnTo>
                <a:cubicBezTo>
                  <a:pt x="4138" y="37042"/>
                  <a:pt x="0" y="41180"/>
                  <a:pt x="0" y="46302"/>
                </a:cubicBezTo>
                <a:cubicBezTo>
                  <a:pt x="0" y="51424"/>
                  <a:pt x="4138" y="55562"/>
                  <a:pt x="9260" y="55562"/>
                </a:cubicBezTo>
                <a:lnTo>
                  <a:pt x="37042" y="55562"/>
                </a:lnTo>
                <a:cubicBezTo>
                  <a:pt x="42164" y="55562"/>
                  <a:pt x="46302" y="51424"/>
                  <a:pt x="46302" y="46302"/>
                </a:cubicBezTo>
                <a:lnTo>
                  <a:pt x="46302" y="18521"/>
                </a:lnTo>
                <a:close/>
                <a:moveTo>
                  <a:pt x="9260" y="92604"/>
                </a:moveTo>
                <a:cubicBezTo>
                  <a:pt x="4138" y="92604"/>
                  <a:pt x="0" y="96742"/>
                  <a:pt x="0" y="101865"/>
                </a:cubicBezTo>
                <a:cubicBezTo>
                  <a:pt x="0" y="106987"/>
                  <a:pt x="4138" y="111125"/>
                  <a:pt x="9260" y="111125"/>
                </a:cubicBezTo>
                <a:lnTo>
                  <a:pt x="27781" y="111125"/>
                </a:lnTo>
                <a:lnTo>
                  <a:pt x="27781" y="129646"/>
                </a:lnTo>
                <a:cubicBezTo>
                  <a:pt x="27781" y="134768"/>
                  <a:pt x="31919" y="138906"/>
                  <a:pt x="37042" y="138906"/>
                </a:cubicBezTo>
                <a:cubicBezTo>
                  <a:pt x="42164" y="138906"/>
                  <a:pt x="46302" y="134768"/>
                  <a:pt x="46302" y="129646"/>
                </a:cubicBezTo>
                <a:lnTo>
                  <a:pt x="46302" y="101865"/>
                </a:lnTo>
                <a:cubicBezTo>
                  <a:pt x="46302" y="96742"/>
                  <a:pt x="42164" y="92604"/>
                  <a:pt x="37042" y="92604"/>
                </a:cubicBezTo>
                <a:lnTo>
                  <a:pt x="9260" y="92604"/>
                </a:lnTo>
                <a:close/>
                <a:moveTo>
                  <a:pt x="101865" y="18521"/>
                </a:moveTo>
                <a:cubicBezTo>
                  <a:pt x="101865" y="13399"/>
                  <a:pt x="97726" y="9260"/>
                  <a:pt x="92604" y="9260"/>
                </a:cubicBezTo>
                <a:cubicBezTo>
                  <a:pt x="87482" y="9260"/>
                  <a:pt x="83344" y="13399"/>
                  <a:pt x="83344" y="18521"/>
                </a:cubicBezTo>
                <a:lnTo>
                  <a:pt x="83344" y="46302"/>
                </a:lnTo>
                <a:cubicBezTo>
                  <a:pt x="83344" y="51424"/>
                  <a:pt x="87482" y="55562"/>
                  <a:pt x="92604" y="55562"/>
                </a:cubicBezTo>
                <a:lnTo>
                  <a:pt x="120385" y="55562"/>
                </a:lnTo>
                <a:cubicBezTo>
                  <a:pt x="125508" y="55562"/>
                  <a:pt x="129646" y="51424"/>
                  <a:pt x="129646" y="46302"/>
                </a:cubicBezTo>
                <a:cubicBezTo>
                  <a:pt x="129646" y="41180"/>
                  <a:pt x="125508" y="37042"/>
                  <a:pt x="120385" y="37042"/>
                </a:cubicBezTo>
                <a:lnTo>
                  <a:pt x="101865" y="37042"/>
                </a:lnTo>
                <a:lnTo>
                  <a:pt x="101865" y="18521"/>
                </a:lnTo>
                <a:close/>
                <a:moveTo>
                  <a:pt x="92604" y="92604"/>
                </a:moveTo>
                <a:cubicBezTo>
                  <a:pt x="87482" y="92604"/>
                  <a:pt x="83344" y="96742"/>
                  <a:pt x="83344" y="101865"/>
                </a:cubicBezTo>
                <a:lnTo>
                  <a:pt x="83344" y="129646"/>
                </a:lnTo>
                <a:cubicBezTo>
                  <a:pt x="83344" y="134768"/>
                  <a:pt x="87482" y="138906"/>
                  <a:pt x="92604" y="138906"/>
                </a:cubicBezTo>
                <a:cubicBezTo>
                  <a:pt x="97726" y="138906"/>
                  <a:pt x="101865" y="134768"/>
                  <a:pt x="101865" y="129646"/>
                </a:cubicBezTo>
                <a:lnTo>
                  <a:pt x="101865" y="111125"/>
                </a:lnTo>
                <a:lnTo>
                  <a:pt x="120385" y="111125"/>
                </a:lnTo>
                <a:cubicBezTo>
                  <a:pt x="125508" y="111125"/>
                  <a:pt x="129646" y="106987"/>
                  <a:pt x="129646" y="101865"/>
                </a:cubicBezTo>
                <a:cubicBezTo>
                  <a:pt x="129646" y="96742"/>
                  <a:pt x="125508" y="92604"/>
                  <a:pt x="120385" y="92604"/>
                </a:cubicBezTo>
                <a:lnTo>
                  <a:pt x="92604" y="92604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651875" y="7926557"/>
            <a:ext cx="245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心跳取大：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保证幂等性和单调性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23333" y="7996958"/>
            <a:ext cx="15641972" cy="1027619"/>
          </a:xfrm>
          <a:custGeom>
            <a:avLst/>
            <a:gdLst/>
            <a:ahLst/>
            <a:cxnLst/>
            <a:rect l="l" t="t" r="r" b="b"/>
            <a:pathLst>
              <a:path w="15409333" h="1143000">
                <a:moveTo>
                  <a:pt x="84662" y="0"/>
                </a:moveTo>
                <a:lnTo>
                  <a:pt x="15324671" y="0"/>
                </a:lnTo>
                <a:cubicBezTo>
                  <a:pt x="15371429" y="0"/>
                  <a:pt x="15409333" y="37904"/>
                  <a:pt x="15409333" y="84662"/>
                </a:cubicBezTo>
                <a:lnTo>
                  <a:pt x="15409333" y="1058338"/>
                </a:lnTo>
                <a:cubicBezTo>
                  <a:pt x="15409333" y="1105096"/>
                  <a:pt x="15371429" y="1143000"/>
                  <a:pt x="15324671" y="1143000"/>
                </a:cubicBezTo>
                <a:lnTo>
                  <a:pt x="84662" y="1143000"/>
                </a:lnTo>
                <a:cubicBezTo>
                  <a:pt x="37904" y="1143000"/>
                  <a:pt x="0" y="1105096"/>
                  <a:pt x="0" y="1058338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645583" y="8208624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984250" y="8166291"/>
            <a:ext cx="14774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工程优化建议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84250" y="8547291"/>
            <a:ext cx="3619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增量视图：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仅携带最近更新的条目，避免发送全量状态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626043" y="8547291"/>
            <a:ext cx="3619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消息压缩：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对消息进行压缩和合并，降低网络带宽开销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267836" y="8547291"/>
            <a:ext cx="399924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拓扑感知：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按拓扑结构选择对等点，优先跨机架/机房节点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2289375" y="8547291"/>
            <a:ext cx="3619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批量处理：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累积多个更新后批量发送，减少通信次数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168" y="536985"/>
            <a:ext cx="97634" cy="390535"/>
          </a:xfrm>
          <a:custGeom>
            <a:avLst/>
            <a:gdLst/>
            <a:ahLst/>
            <a:cxnLst/>
            <a:rect l="l" t="t" r="r" b="b"/>
            <a:pathLst>
              <a:path w="97634" h="390535">
                <a:moveTo>
                  <a:pt x="0" y="0"/>
                </a:moveTo>
                <a:lnTo>
                  <a:pt x="97634" y="0"/>
                </a:lnTo>
                <a:lnTo>
                  <a:pt x="97634" y="390535"/>
                </a:lnTo>
                <a:lnTo>
                  <a:pt x="0" y="390535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2252" y="488168"/>
            <a:ext cx="3380565" cy="48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59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收敛性与复杂度分析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577" y="1269237"/>
            <a:ext cx="7517790" cy="5235604"/>
          </a:xfrm>
          <a:custGeom>
            <a:avLst/>
            <a:gdLst/>
            <a:ahLst/>
            <a:cxnLst/>
            <a:rect l="l" t="t" r="r" b="b"/>
            <a:pathLst>
              <a:path w="7517790" h="5235604">
                <a:moveTo>
                  <a:pt x="48817" y="0"/>
                </a:moveTo>
                <a:lnTo>
                  <a:pt x="7420146" y="0"/>
                </a:lnTo>
                <a:cubicBezTo>
                  <a:pt x="7474073" y="0"/>
                  <a:pt x="7517790" y="43717"/>
                  <a:pt x="7517790" y="97644"/>
                </a:cubicBezTo>
                <a:lnTo>
                  <a:pt x="7517790" y="5137960"/>
                </a:lnTo>
                <a:cubicBezTo>
                  <a:pt x="7517790" y="5191887"/>
                  <a:pt x="7474073" y="5235604"/>
                  <a:pt x="7420146" y="5235604"/>
                </a:cubicBezTo>
                <a:lnTo>
                  <a:pt x="48817" y="5235604"/>
                </a:lnTo>
                <a:cubicBezTo>
                  <a:pt x="21856" y="5235604"/>
                  <a:pt x="0" y="5213748"/>
                  <a:pt x="0" y="5186787"/>
                </a:cubicBezTo>
                <a:lnTo>
                  <a:pt x="0" y="48817"/>
                </a:lnTo>
                <a:cubicBezTo>
                  <a:pt x="0" y="21856"/>
                  <a:pt x="21856" y="0"/>
                  <a:pt x="48817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2577" y="1269237"/>
            <a:ext cx="48817" cy="5235604"/>
          </a:xfrm>
          <a:custGeom>
            <a:avLst/>
            <a:gdLst/>
            <a:ahLst/>
            <a:cxnLst/>
            <a:rect l="l" t="t" r="r" b="b"/>
            <a:pathLst>
              <a:path w="48817" h="5235604">
                <a:moveTo>
                  <a:pt x="48817" y="0"/>
                </a:moveTo>
                <a:lnTo>
                  <a:pt x="48817" y="0"/>
                </a:lnTo>
                <a:lnTo>
                  <a:pt x="48817" y="5235604"/>
                </a:lnTo>
                <a:lnTo>
                  <a:pt x="48817" y="5235604"/>
                </a:lnTo>
                <a:cubicBezTo>
                  <a:pt x="21856" y="5235604"/>
                  <a:pt x="0" y="5213748"/>
                  <a:pt x="0" y="5186787"/>
                </a:cubicBezTo>
                <a:lnTo>
                  <a:pt x="0" y="48817"/>
                </a:lnTo>
                <a:cubicBezTo>
                  <a:pt x="0" y="21874"/>
                  <a:pt x="21874" y="0"/>
                  <a:pt x="48817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8865" y="1513321"/>
            <a:ext cx="292901" cy="292901"/>
          </a:xfrm>
          <a:custGeom>
            <a:avLst/>
            <a:gdLst/>
            <a:ahLst/>
            <a:cxnLst/>
            <a:rect l="l" t="t" r="r" b="b"/>
            <a:pathLst>
              <a:path w="292901" h="292901">
                <a:moveTo>
                  <a:pt x="36613" y="36613"/>
                </a:moveTo>
                <a:cubicBezTo>
                  <a:pt x="36613" y="26487"/>
                  <a:pt x="28432" y="18306"/>
                  <a:pt x="18306" y="18306"/>
                </a:cubicBezTo>
                <a:cubicBezTo>
                  <a:pt x="8181" y="18306"/>
                  <a:pt x="0" y="26487"/>
                  <a:pt x="0" y="36613"/>
                </a:cubicBezTo>
                <a:lnTo>
                  <a:pt x="0" y="228829"/>
                </a:lnTo>
                <a:cubicBezTo>
                  <a:pt x="0" y="254114"/>
                  <a:pt x="20480" y="274595"/>
                  <a:pt x="45766" y="274595"/>
                </a:cubicBezTo>
                <a:lnTo>
                  <a:pt x="274595" y="274595"/>
                </a:lnTo>
                <a:cubicBezTo>
                  <a:pt x="284720" y="274595"/>
                  <a:pt x="292901" y="266414"/>
                  <a:pt x="292901" y="256288"/>
                </a:cubicBezTo>
                <a:cubicBezTo>
                  <a:pt x="292901" y="246163"/>
                  <a:pt x="284720" y="237982"/>
                  <a:pt x="274595" y="237982"/>
                </a:cubicBezTo>
                <a:lnTo>
                  <a:pt x="45766" y="237982"/>
                </a:lnTo>
                <a:cubicBezTo>
                  <a:pt x="40732" y="237982"/>
                  <a:pt x="36613" y="233863"/>
                  <a:pt x="36613" y="228829"/>
                </a:cubicBezTo>
                <a:lnTo>
                  <a:pt x="36613" y="36613"/>
                </a:lnTo>
                <a:close/>
                <a:moveTo>
                  <a:pt x="269217" y="86154"/>
                </a:moveTo>
                <a:cubicBezTo>
                  <a:pt x="276368" y="79003"/>
                  <a:pt x="276368" y="67390"/>
                  <a:pt x="269217" y="60239"/>
                </a:cubicBezTo>
                <a:cubicBezTo>
                  <a:pt x="262066" y="53088"/>
                  <a:pt x="250453" y="53088"/>
                  <a:pt x="243302" y="60239"/>
                </a:cubicBezTo>
                <a:lnTo>
                  <a:pt x="183063" y="120536"/>
                </a:lnTo>
                <a:lnTo>
                  <a:pt x="150226" y="87756"/>
                </a:lnTo>
                <a:cubicBezTo>
                  <a:pt x="143075" y="80605"/>
                  <a:pt x="131462" y="80605"/>
                  <a:pt x="124311" y="87756"/>
                </a:cubicBezTo>
                <a:lnTo>
                  <a:pt x="69392" y="142675"/>
                </a:lnTo>
                <a:cubicBezTo>
                  <a:pt x="62241" y="149826"/>
                  <a:pt x="62241" y="161439"/>
                  <a:pt x="69392" y="168590"/>
                </a:cubicBezTo>
                <a:cubicBezTo>
                  <a:pt x="76543" y="175741"/>
                  <a:pt x="88156" y="175741"/>
                  <a:pt x="95307" y="168590"/>
                </a:cubicBezTo>
                <a:lnTo>
                  <a:pt x="137297" y="126600"/>
                </a:lnTo>
                <a:lnTo>
                  <a:pt x="170134" y="159436"/>
                </a:lnTo>
                <a:cubicBezTo>
                  <a:pt x="177285" y="166587"/>
                  <a:pt x="188898" y="166587"/>
                  <a:pt x="196049" y="159436"/>
                </a:cubicBezTo>
                <a:lnTo>
                  <a:pt x="269274" y="8621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44829" y="1464505"/>
            <a:ext cx="1549934" cy="3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6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理论收敛性能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2252" y="2001489"/>
            <a:ext cx="7200480" cy="317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在理想化假设下，信息在 Gossip 系统中的传播具有接近</a:t>
            </a:r>
            <a:r>
              <a:rPr lang="en-US" sz="1538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指数级</a:t>
            </a: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扩散特性：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2252" y="2465249"/>
            <a:ext cx="7102847" cy="1806222"/>
          </a:xfrm>
          <a:custGeom>
            <a:avLst/>
            <a:gdLst/>
            <a:ahLst/>
            <a:cxnLst/>
            <a:rect l="l" t="t" r="r" b="b"/>
            <a:pathLst>
              <a:path w="7102847" h="1806222">
                <a:moveTo>
                  <a:pt x="97626" y="0"/>
                </a:moveTo>
                <a:lnTo>
                  <a:pt x="7005221" y="0"/>
                </a:lnTo>
                <a:cubicBezTo>
                  <a:pt x="7059138" y="0"/>
                  <a:pt x="7102847" y="43709"/>
                  <a:pt x="7102847" y="97626"/>
                </a:cubicBezTo>
                <a:lnTo>
                  <a:pt x="7102847" y="1708596"/>
                </a:lnTo>
                <a:cubicBezTo>
                  <a:pt x="7102847" y="1762513"/>
                  <a:pt x="7059138" y="1806222"/>
                  <a:pt x="7005221" y="1806222"/>
                </a:cubicBezTo>
                <a:lnTo>
                  <a:pt x="97626" y="1806222"/>
                </a:lnTo>
                <a:cubicBezTo>
                  <a:pt x="43709" y="1806222"/>
                  <a:pt x="0" y="1762513"/>
                  <a:pt x="0" y="1708596"/>
                </a:cubicBezTo>
                <a:lnTo>
                  <a:pt x="0" y="97626"/>
                </a:lnTo>
                <a:cubicBezTo>
                  <a:pt x="0" y="43709"/>
                  <a:pt x="43709" y="0"/>
                  <a:pt x="9762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78703" y="2611700"/>
            <a:ext cx="390535" cy="390535"/>
          </a:xfrm>
          <a:custGeom>
            <a:avLst/>
            <a:gdLst/>
            <a:ahLst/>
            <a:cxnLst/>
            <a:rect l="l" t="t" r="r" b="b"/>
            <a:pathLst>
              <a:path w="390535" h="390535">
                <a:moveTo>
                  <a:pt x="195267" y="0"/>
                </a:moveTo>
                <a:lnTo>
                  <a:pt x="195267" y="0"/>
                </a:lnTo>
                <a:cubicBezTo>
                  <a:pt x="303038" y="0"/>
                  <a:pt x="390535" y="87496"/>
                  <a:pt x="390535" y="195267"/>
                </a:cubicBezTo>
                <a:lnTo>
                  <a:pt x="390535" y="195267"/>
                </a:lnTo>
                <a:cubicBezTo>
                  <a:pt x="390535" y="303038"/>
                  <a:pt x="303038" y="390535"/>
                  <a:pt x="195267" y="390535"/>
                </a:cubicBezTo>
                <a:lnTo>
                  <a:pt x="195267" y="390535"/>
                </a:lnTo>
                <a:cubicBezTo>
                  <a:pt x="87496" y="390535"/>
                  <a:pt x="0" y="303038"/>
                  <a:pt x="0" y="195267"/>
                </a:cubicBezTo>
                <a:lnTo>
                  <a:pt x="0" y="195267"/>
                </a:lnTo>
                <a:cubicBezTo>
                  <a:pt x="0" y="87496"/>
                  <a:pt x="87496" y="0"/>
                  <a:pt x="195267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9886" y="2611700"/>
            <a:ext cx="488168" cy="3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38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5688" y="2636108"/>
            <a:ext cx="988541" cy="34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收敛时间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8703" y="3099868"/>
            <a:ext cx="6993009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8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8703" y="3636853"/>
            <a:ext cx="6895375" cy="48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若每轮每个节点向一个随机节点传播新信息，则在 O(log N) 轮后，系统中</a:t>
            </a:r>
            <a:r>
              <a:rPr lang="en-US" sz="134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大多数节点</a:t>
            </a: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会收到该信息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2252" y="4417922"/>
            <a:ext cx="7102847" cy="1806222"/>
          </a:xfrm>
          <a:custGeom>
            <a:avLst/>
            <a:gdLst/>
            <a:ahLst/>
            <a:cxnLst/>
            <a:rect l="l" t="t" r="r" b="b"/>
            <a:pathLst>
              <a:path w="7102847" h="1806222">
                <a:moveTo>
                  <a:pt x="97626" y="0"/>
                </a:moveTo>
                <a:lnTo>
                  <a:pt x="7005221" y="0"/>
                </a:lnTo>
                <a:cubicBezTo>
                  <a:pt x="7059138" y="0"/>
                  <a:pt x="7102847" y="43709"/>
                  <a:pt x="7102847" y="97626"/>
                </a:cubicBezTo>
                <a:lnTo>
                  <a:pt x="7102847" y="1708596"/>
                </a:lnTo>
                <a:cubicBezTo>
                  <a:pt x="7102847" y="1762513"/>
                  <a:pt x="7059138" y="1806222"/>
                  <a:pt x="7005221" y="1806222"/>
                </a:cubicBezTo>
                <a:lnTo>
                  <a:pt x="97626" y="1806222"/>
                </a:lnTo>
                <a:cubicBezTo>
                  <a:pt x="43709" y="1806222"/>
                  <a:pt x="0" y="1762513"/>
                  <a:pt x="0" y="1708596"/>
                </a:cubicBezTo>
                <a:lnTo>
                  <a:pt x="0" y="97626"/>
                </a:lnTo>
                <a:cubicBezTo>
                  <a:pt x="0" y="43709"/>
                  <a:pt x="43709" y="0"/>
                  <a:pt x="9762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78703" y="4564372"/>
            <a:ext cx="390535" cy="390535"/>
          </a:xfrm>
          <a:custGeom>
            <a:avLst/>
            <a:gdLst/>
            <a:ahLst/>
            <a:cxnLst/>
            <a:rect l="l" t="t" r="r" b="b"/>
            <a:pathLst>
              <a:path w="390535" h="390535">
                <a:moveTo>
                  <a:pt x="195267" y="0"/>
                </a:moveTo>
                <a:lnTo>
                  <a:pt x="195267" y="0"/>
                </a:lnTo>
                <a:cubicBezTo>
                  <a:pt x="303038" y="0"/>
                  <a:pt x="390535" y="87496"/>
                  <a:pt x="390535" y="195267"/>
                </a:cubicBezTo>
                <a:lnTo>
                  <a:pt x="390535" y="195267"/>
                </a:lnTo>
                <a:cubicBezTo>
                  <a:pt x="390535" y="303038"/>
                  <a:pt x="303038" y="390535"/>
                  <a:pt x="195267" y="390535"/>
                </a:cubicBezTo>
                <a:lnTo>
                  <a:pt x="195267" y="390535"/>
                </a:lnTo>
                <a:cubicBezTo>
                  <a:pt x="87496" y="390535"/>
                  <a:pt x="0" y="303038"/>
                  <a:pt x="0" y="195267"/>
                </a:cubicBezTo>
                <a:lnTo>
                  <a:pt x="0" y="195267"/>
                </a:lnTo>
                <a:cubicBezTo>
                  <a:pt x="0" y="87496"/>
                  <a:pt x="87496" y="0"/>
                  <a:pt x="195267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9886" y="4564372"/>
            <a:ext cx="488168" cy="3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3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5688" y="4588781"/>
            <a:ext cx="988541" cy="34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消息总量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8703" y="5052541"/>
            <a:ext cx="6993009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83" b="1" dirty="0">
                <a:solidFill>
                  <a:srgbClr val="5F8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O(N·log 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8703" y="5589526"/>
            <a:ext cx="6895375" cy="48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总消息数量约为 O(N log N)，与集群规模近似线性关系，这也是 Gossip 被认为"</a:t>
            </a:r>
            <a:r>
              <a:rPr lang="en-US" sz="134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</a:t>
            </a: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"的数学基础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47277" y="1269237"/>
            <a:ext cx="7517790" cy="5235604"/>
          </a:xfrm>
          <a:custGeom>
            <a:avLst/>
            <a:gdLst/>
            <a:ahLst/>
            <a:cxnLst/>
            <a:rect l="l" t="t" r="r" b="b"/>
            <a:pathLst>
              <a:path w="7517790" h="5235604">
                <a:moveTo>
                  <a:pt x="48817" y="0"/>
                </a:moveTo>
                <a:lnTo>
                  <a:pt x="7420146" y="0"/>
                </a:lnTo>
                <a:cubicBezTo>
                  <a:pt x="7474073" y="0"/>
                  <a:pt x="7517790" y="43717"/>
                  <a:pt x="7517790" y="97644"/>
                </a:cubicBezTo>
                <a:lnTo>
                  <a:pt x="7517790" y="5137960"/>
                </a:lnTo>
                <a:cubicBezTo>
                  <a:pt x="7517790" y="5191887"/>
                  <a:pt x="7474073" y="5235604"/>
                  <a:pt x="7420146" y="5235604"/>
                </a:cubicBezTo>
                <a:lnTo>
                  <a:pt x="48817" y="5235604"/>
                </a:lnTo>
                <a:cubicBezTo>
                  <a:pt x="21856" y="5235604"/>
                  <a:pt x="0" y="5213748"/>
                  <a:pt x="0" y="5186787"/>
                </a:cubicBezTo>
                <a:lnTo>
                  <a:pt x="0" y="48817"/>
                </a:lnTo>
                <a:cubicBezTo>
                  <a:pt x="0" y="21856"/>
                  <a:pt x="21856" y="0"/>
                  <a:pt x="48817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47277" y="1269237"/>
            <a:ext cx="48817" cy="5235604"/>
          </a:xfrm>
          <a:custGeom>
            <a:avLst/>
            <a:gdLst/>
            <a:ahLst/>
            <a:cxnLst/>
            <a:rect l="l" t="t" r="r" b="b"/>
            <a:pathLst>
              <a:path w="48817" h="5235604">
                <a:moveTo>
                  <a:pt x="48817" y="0"/>
                </a:moveTo>
                <a:lnTo>
                  <a:pt x="48817" y="0"/>
                </a:lnTo>
                <a:lnTo>
                  <a:pt x="48817" y="5235604"/>
                </a:lnTo>
                <a:lnTo>
                  <a:pt x="48817" y="5235604"/>
                </a:lnTo>
                <a:cubicBezTo>
                  <a:pt x="21856" y="5235604"/>
                  <a:pt x="0" y="5213748"/>
                  <a:pt x="0" y="5186787"/>
                </a:cubicBezTo>
                <a:lnTo>
                  <a:pt x="0" y="48817"/>
                </a:lnTo>
                <a:cubicBezTo>
                  <a:pt x="0" y="21874"/>
                  <a:pt x="21874" y="0"/>
                  <a:pt x="48817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21872" y="1513321"/>
            <a:ext cx="256288" cy="292901"/>
          </a:xfrm>
          <a:custGeom>
            <a:avLst/>
            <a:gdLst/>
            <a:ahLst/>
            <a:cxnLst/>
            <a:rect l="l" t="t" r="r" b="b"/>
            <a:pathLst>
              <a:path w="256288" h="292901">
                <a:moveTo>
                  <a:pt x="164757" y="0"/>
                </a:moveTo>
                <a:lnTo>
                  <a:pt x="73225" y="0"/>
                </a:lnTo>
                <a:cubicBezTo>
                  <a:pt x="63100" y="0"/>
                  <a:pt x="54919" y="8181"/>
                  <a:pt x="54919" y="18306"/>
                </a:cubicBezTo>
                <a:cubicBezTo>
                  <a:pt x="54919" y="28432"/>
                  <a:pt x="63100" y="36613"/>
                  <a:pt x="73225" y="36613"/>
                </a:cubicBezTo>
                <a:lnTo>
                  <a:pt x="73225" y="123282"/>
                </a:lnTo>
                <a:lnTo>
                  <a:pt x="4291" y="243874"/>
                </a:lnTo>
                <a:cubicBezTo>
                  <a:pt x="1487" y="248851"/>
                  <a:pt x="0" y="254400"/>
                  <a:pt x="0" y="260121"/>
                </a:cubicBezTo>
                <a:cubicBezTo>
                  <a:pt x="0" y="278256"/>
                  <a:pt x="14645" y="292901"/>
                  <a:pt x="32780" y="292901"/>
                </a:cubicBezTo>
                <a:lnTo>
                  <a:pt x="223509" y="292901"/>
                </a:lnTo>
                <a:cubicBezTo>
                  <a:pt x="241586" y="292901"/>
                  <a:pt x="256288" y="278256"/>
                  <a:pt x="256288" y="260121"/>
                </a:cubicBezTo>
                <a:cubicBezTo>
                  <a:pt x="256288" y="254400"/>
                  <a:pt x="254801" y="248794"/>
                  <a:pt x="251998" y="243874"/>
                </a:cubicBezTo>
                <a:lnTo>
                  <a:pt x="183063" y="123282"/>
                </a:lnTo>
                <a:lnTo>
                  <a:pt x="183063" y="36613"/>
                </a:lnTo>
                <a:cubicBezTo>
                  <a:pt x="193189" y="36613"/>
                  <a:pt x="201369" y="28432"/>
                  <a:pt x="201369" y="18306"/>
                </a:cubicBezTo>
                <a:cubicBezTo>
                  <a:pt x="201369" y="8181"/>
                  <a:pt x="193189" y="0"/>
                  <a:pt x="183063" y="0"/>
                </a:cubicBezTo>
                <a:lnTo>
                  <a:pt x="164757" y="0"/>
                </a:lnTo>
                <a:close/>
                <a:moveTo>
                  <a:pt x="109838" y="123282"/>
                </a:moveTo>
                <a:lnTo>
                  <a:pt x="109838" y="36613"/>
                </a:lnTo>
                <a:lnTo>
                  <a:pt x="146450" y="36613"/>
                </a:lnTo>
                <a:lnTo>
                  <a:pt x="146450" y="123282"/>
                </a:lnTo>
                <a:cubicBezTo>
                  <a:pt x="146450" y="129632"/>
                  <a:pt x="148109" y="135924"/>
                  <a:pt x="151256" y="141473"/>
                </a:cubicBezTo>
                <a:lnTo>
                  <a:pt x="175054" y="183063"/>
                </a:lnTo>
                <a:lnTo>
                  <a:pt x="81234" y="183063"/>
                </a:lnTo>
                <a:lnTo>
                  <a:pt x="105032" y="141473"/>
                </a:lnTo>
                <a:cubicBezTo>
                  <a:pt x="108179" y="135924"/>
                  <a:pt x="109838" y="129689"/>
                  <a:pt x="109838" y="1232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979529" y="1464505"/>
            <a:ext cx="1549934" cy="3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6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数学理论基础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66953" y="2001489"/>
            <a:ext cx="7200480" cy="634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这一结论的数学证明通常基于</a:t>
            </a:r>
            <a:r>
              <a:rPr lang="en-US" sz="1538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Bailey 的简单流行病模型</a:t>
            </a: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（Simple Epidemic Model），并在 Demers 等人的经典论文中被引入计算机系统领域。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66953" y="2782559"/>
            <a:ext cx="7102847" cy="1867243"/>
          </a:xfrm>
          <a:custGeom>
            <a:avLst/>
            <a:gdLst/>
            <a:ahLst/>
            <a:cxnLst/>
            <a:rect l="l" t="t" r="r" b="b"/>
            <a:pathLst>
              <a:path w="7102847" h="1867243">
                <a:moveTo>
                  <a:pt x="48810" y="0"/>
                </a:moveTo>
                <a:lnTo>
                  <a:pt x="7054037" y="0"/>
                </a:lnTo>
                <a:cubicBezTo>
                  <a:pt x="7080994" y="0"/>
                  <a:pt x="7102847" y="21853"/>
                  <a:pt x="7102847" y="48810"/>
                </a:cubicBezTo>
                <a:lnTo>
                  <a:pt x="7102847" y="1818434"/>
                </a:lnTo>
                <a:cubicBezTo>
                  <a:pt x="7102847" y="1845390"/>
                  <a:pt x="7080994" y="1867243"/>
                  <a:pt x="7054037" y="1867243"/>
                </a:cubicBezTo>
                <a:lnTo>
                  <a:pt x="48810" y="1867243"/>
                </a:lnTo>
                <a:cubicBezTo>
                  <a:pt x="21853" y="1867243"/>
                  <a:pt x="0" y="1845390"/>
                  <a:pt x="0" y="1818434"/>
                </a:cubicBezTo>
                <a:lnTo>
                  <a:pt x="0" y="48810"/>
                </a:lnTo>
                <a:cubicBezTo>
                  <a:pt x="0" y="21871"/>
                  <a:pt x="21871" y="0"/>
                  <a:pt x="4881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13403" y="2929009"/>
            <a:ext cx="6907580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8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简单流行病模型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13403" y="3319544"/>
            <a:ext cx="6895375" cy="280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通过微分方程证明在随机化调度下，信息感染节点的速率与当前已感染节点数成正比：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19505" y="3700925"/>
            <a:ext cx="6797742" cy="793273"/>
          </a:xfrm>
          <a:custGeom>
            <a:avLst/>
            <a:gdLst/>
            <a:ahLst/>
            <a:cxnLst/>
            <a:rect l="l" t="t" r="r" b="b"/>
            <a:pathLst>
              <a:path w="6797742" h="793273">
                <a:moveTo>
                  <a:pt x="48818" y="0"/>
                </a:moveTo>
                <a:lnTo>
                  <a:pt x="6748924" y="0"/>
                </a:lnTo>
                <a:cubicBezTo>
                  <a:pt x="6775885" y="0"/>
                  <a:pt x="6797742" y="21857"/>
                  <a:pt x="6797742" y="48818"/>
                </a:cubicBezTo>
                <a:lnTo>
                  <a:pt x="6797742" y="744455"/>
                </a:lnTo>
                <a:cubicBezTo>
                  <a:pt x="6797742" y="771417"/>
                  <a:pt x="6775885" y="793273"/>
                  <a:pt x="6748924" y="793273"/>
                </a:cubicBezTo>
                <a:lnTo>
                  <a:pt x="48818" y="793273"/>
                </a:lnTo>
                <a:cubicBezTo>
                  <a:pt x="21857" y="793273"/>
                  <a:pt x="0" y="771417"/>
                  <a:pt x="0" y="744455"/>
                </a:cubicBezTo>
                <a:lnTo>
                  <a:pt x="0" y="48818"/>
                </a:lnTo>
                <a:cubicBezTo>
                  <a:pt x="0" y="21875"/>
                  <a:pt x="21875" y="0"/>
                  <a:pt x="48818" y="0"/>
                </a:cubicBezTo>
                <a:close/>
              </a:path>
            </a:pathLst>
          </a:custGeom>
          <a:solidFill>
            <a:srgbClr val="1A1D24"/>
          </a:soli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68322" y="3804661"/>
            <a:ext cx="6700108" cy="34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dI/dt = β·I·(N-I)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628" y="4195195"/>
            <a:ext cx="6663495" cy="1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5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I: 已感染节点数, β: 感染率, N: 总节点数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66953" y="4793201"/>
            <a:ext cx="7102847" cy="1513321"/>
          </a:xfrm>
          <a:custGeom>
            <a:avLst/>
            <a:gdLst/>
            <a:ahLst/>
            <a:cxnLst/>
            <a:rect l="l" t="t" r="r" b="b"/>
            <a:pathLst>
              <a:path w="7102847" h="1513321">
                <a:moveTo>
                  <a:pt x="48820" y="0"/>
                </a:moveTo>
                <a:lnTo>
                  <a:pt x="7054027" y="0"/>
                </a:lnTo>
                <a:cubicBezTo>
                  <a:pt x="7080990" y="0"/>
                  <a:pt x="7102847" y="21857"/>
                  <a:pt x="7102847" y="48820"/>
                </a:cubicBezTo>
                <a:lnTo>
                  <a:pt x="7102847" y="1464502"/>
                </a:lnTo>
                <a:cubicBezTo>
                  <a:pt x="7102847" y="1491464"/>
                  <a:pt x="7080990" y="1513321"/>
                  <a:pt x="7054027" y="1513321"/>
                </a:cubicBezTo>
                <a:lnTo>
                  <a:pt x="48820" y="1513321"/>
                </a:lnTo>
                <a:cubicBezTo>
                  <a:pt x="21857" y="1513321"/>
                  <a:pt x="0" y="1491464"/>
                  <a:pt x="0" y="1464502"/>
                </a:cubicBezTo>
                <a:lnTo>
                  <a:pt x="0" y="48820"/>
                </a:lnTo>
                <a:cubicBezTo>
                  <a:pt x="0" y="21875"/>
                  <a:pt x="21875" y="0"/>
                  <a:pt x="4882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13403" y="4939652"/>
            <a:ext cx="6907580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8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实际网络环境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31709" y="5379003"/>
            <a:ext cx="146450" cy="146450"/>
          </a:xfrm>
          <a:custGeom>
            <a:avLst/>
            <a:gdLst/>
            <a:ahLst/>
            <a:cxnLst/>
            <a:rect l="l" t="t" r="r" b="b"/>
            <a:pathLst>
              <a:path w="146450" h="146450">
                <a:moveTo>
                  <a:pt x="143762" y="79690"/>
                </a:moveTo>
                <a:cubicBezTo>
                  <a:pt x="147337" y="76114"/>
                  <a:pt x="147337" y="70308"/>
                  <a:pt x="143762" y="66732"/>
                </a:cubicBezTo>
                <a:lnTo>
                  <a:pt x="97996" y="20966"/>
                </a:lnTo>
                <a:cubicBezTo>
                  <a:pt x="94420" y="17391"/>
                  <a:pt x="88614" y="17391"/>
                  <a:pt x="85039" y="20966"/>
                </a:cubicBezTo>
                <a:cubicBezTo>
                  <a:pt x="81463" y="24542"/>
                  <a:pt x="81463" y="30348"/>
                  <a:pt x="85039" y="33924"/>
                </a:cubicBezTo>
                <a:lnTo>
                  <a:pt x="115187" y="64072"/>
                </a:lnTo>
                <a:lnTo>
                  <a:pt x="9153" y="64072"/>
                </a:lnTo>
                <a:cubicBezTo>
                  <a:pt x="4090" y="64072"/>
                  <a:pt x="0" y="68162"/>
                  <a:pt x="0" y="73225"/>
                </a:cubicBezTo>
                <a:cubicBezTo>
                  <a:pt x="0" y="78288"/>
                  <a:pt x="4090" y="82378"/>
                  <a:pt x="9153" y="82378"/>
                </a:cubicBezTo>
                <a:lnTo>
                  <a:pt x="115187" y="82378"/>
                </a:lnTo>
                <a:lnTo>
                  <a:pt x="85039" y="112527"/>
                </a:lnTo>
                <a:cubicBezTo>
                  <a:pt x="81463" y="116102"/>
                  <a:pt x="81463" y="121909"/>
                  <a:pt x="85039" y="125484"/>
                </a:cubicBezTo>
                <a:cubicBezTo>
                  <a:pt x="88614" y="129059"/>
                  <a:pt x="94420" y="129059"/>
                  <a:pt x="97996" y="125484"/>
                </a:cubicBezTo>
                <a:lnTo>
                  <a:pt x="143762" y="7971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94100" y="5330186"/>
            <a:ext cx="2135736" cy="24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丢包、延迟</a:t>
            </a: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会影响收敛速度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31709" y="5671904"/>
            <a:ext cx="146450" cy="146450"/>
          </a:xfrm>
          <a:custGeom>
            <a:avLst/>
            <a:gdLst/>
            <a:ahLst/>
            <a:cxnLst/>
            <a:rect l="l" t="t" r="r" b="b"/>
            <a:pathLst>
              <a:path w="146450" h="146450">
                <a:moveTo>
                  <a:pt x="143762" y="79690"/>
                </a:moveTo>
                <a:cubicBezTo>
                  <a:pt x="147337" y="76114"/>
                  <a:pt x="147337" y="70308"/>
                  <a:pt x="143762" y="66732"/>
                </a:cubicBezTo>
                <a:lnTo>
                  <a:pt x="97996" y="20966"/>
                </a:lnTo>
                <a:cubicBezTo>
                  <a:pt x="94420" y="17391"/>
                  <a:pt x="88614" y="17391"/>
                  <a:pt x="85039" y="20966"/>
                </a:cubicBezTo>
                <a:cubicBezTo>
                  <a:pt x="81463" y="24542"/>
                  <a:pt x="81463" y="30348"/>
                  <a:pt x="85039" y="33924"/>
                </a:cubicBezTo>
                <a:lnTo>
                  <a:pt x="115187" y="64072"/>
                </a:lnTo>
                <a:lnTo>
                  <a:pt x="9153" y="64072"/>
                </a:lnTo>
                <a:cubicBezTo>
                  <a:pt x="4090" y="64072"/>
                  <a:pt x="0" y="68162"/>
                  <a:pt x="0" y="73225"/>
                </a:cubicBezTo>
                <a:cubicBezTo>
                  <a:pt x="0" y="78288"/>
                  <a:pt x="4090" y="82378"/>
                  <a:pt x="9153" y="82378"/>
                </a:cubicBezTo>
                <a:lnTo>
                  <a:pt x="115187" y="82378"/>
                </a:lnTo>
                <a:lnTo>
                  <a:pt x="85039" y="112527"/>
                </a:lnTo>
                <a:cubicBezTo>
                  <a:pt x="81463" y="116102"/>
                  <a:pt x="81463" y="121909"/>
                  <a:pt x="85039" y="125484"/>
                </a:cubicBezTo>
                <a:cubicBezTo>
                  <a:pt x="88614" y="129059"/>
                  <a:pt x="94420" y="129059"/>
                  <a:pt x="97996" y="125484"/>
                </a:cubicBezTo>
                <a:lnTo>
                  <a:pt x="143762" y="7971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94100" y="5623087"/>
            <a:ext cx="2135736" cy="24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部分失效</a:t>
            </a: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不会阻止最终收敛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31709" y="5964805"/>
            <a:ext cx="146450" cy="146450"/>
          </a:xfrm>
          <a:custGeom>
            <a:avLst/>
            <a:gdLst/>
            <a:ahLst/>
            <a:cxnLst/>
            <a:rect l="l" t="t" r="r" b="b"/>
            <a:pathLst>
              <a:path w="146450" h="146450">
                <a:moveTo>
                  <a:pt x="143762" y="79690"/>
                </a:moveTo>
                <a:cubicBezTo>
                  <a:pt x="147337" y="76114"/>
                  <a:pt x="147337" y="70308"/>
                  <a:pt x="143762" y="66732"/>
                </a:cubicBezTo>
                <a:lnTo>
                  <a:pt x="97996" y="20966"/>
                </a:lnTo>
                <a:cubicBezTo>
                  <a:pt x="94420" y="17391"/>
                  <a:pt x="88614" y="17391"/>
                  <a:pt x="85039" y="20966"/>
                </a:cubicBezTo>
                <a:cubicBezTo>
                  <a:pt x="81463" y="24542"/>
                  <a:pt x="81463" y="30348"/>
                  <a:pt x="85039" y="33924"/>
                </a:cubicBezTo>
                <a:lnTo>
                  <a:pt x="115187" y="64072"/>
                </a:lnTo>
                <a:lnTo>
                  <a:pt x="9153" y="64072"/>
                </a:lnTo>
                <a:cubicBezTo>
                  <a:pt x="4090" y="64072"/>
                  <a:pt x="0" y="68162"/>
                  <a:pt x="0" y="73225"/>
                </a:cubicBezTo>
                <a:cubicBezTo>
                  <a:pt x="0" y="78288"/>
                  <a:pt x="4090" y="82378"/>
                  <a:pt x="9153" y="82378"/>
                </a:cubicBezTo>
                <a:lnTo>
                  <a:pt x="115187" y="82378"/>
                </a:lnTo>
                <a:lnTo>
                  <a:pt x="85039" y="112527"/>
                </a:lnTo>
                <a:cubicBezTo>
                  <a:pt x="81463" y="116102"/>
                  <a:pt x="81463" y="121909"/>
                  <a:pt x="85039" y="125484"/>
                </a:cubicBezTo>
                <a:cubicBezTo>
                  <a:pt x="88614" y="129059"/>
                  <a:pt x="94420" y="129059"/>
                  <a:pt x="97996" y="125484"/>
                </a:cubicBezTo>
                <a:lnTo>
                  <a:pt x="143762" y="7971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894100" y="5915988"/>
            <a:ext cx="2306595" cy="24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网络保持连通即可高概率收敛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8168" y="6598582"/>
            <a:ext cx="7542198" cy="2440841"/>
          </a:xfrm>
          <a:custGeom>
            <a:avLst/>
            <a:gdLst/>
            <a:ahLst/>
            <a:cxnLst/>
            <a:rect l="l" t="t" r="r" b="b"/>
            <a:pathLst>
              <a:path w="7542198" h="2440841">
                <a:moveTo>
                  <a:pt x="97634" y="0"/>
                </a:moveTo>
                <a:lnTo>
                  <a:pt x="7444565" y="0"/>
                </a:lnTo>
                <a:cubicBezTo>
                  <a:pt x="7498486" y="0"/>
                  <a:pt x="7542198" y="43712"/>
                  <a:pt x="7542198" y="97634"/>
                </a:cubicBezTo>
                <a:lnTo>
                  <a:pt x="7542198" y="2343207"/>
                </a:lnTo>
                <a:cubicBezTo>
                  <a:pt x="7542198" y="2397129"/>
                  <a:pt x="7498486" y="2440841"/>
                  <a:pt x="7444565" y="2440841"/>
                </a:cubicBezTo>
                <a:lnTo>
                  <a:pt x="97634" y="2440841"/>
                </a:lnTo>
                <a:cubicBezTo>
                  <a:pt x="43712" y="2440841"/>
                  <a:pt x="0" y="2397129"/>
                  <a:pt x="0" y="2343207"/>
                </a:cubicBezTo>
                <a:lnTo>
                  <a:pt x="0" y="97634"/>
                </a:lnTo>
                <a:cubicBezTo>
                  <a:pt x="0" y="43748"/>
                  <a:pt x="43748" y="0"/>
                  <a:pt x="97634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3946" y="6842666"/>
            <a:ext cx="244084" cy="244084"/>
          </a:xfrm>
          <a:custGeom>
            <a:avLst/>
            <a:gdLst/>
            <a:ahLst/>
            <a:cxnLst/>
            <a:rect l="l" t="t" r="r" b="b"/>
            <a:pathLst>
              <a:path w="244084" h="244084">
                <a:moveTo>
                  <a:pt x="15255" y="15255"/>
                </a:moveTo>
                <a:cubicBezTo>
                  <a:pt x="23693" y="15255"/>
                  <a:pt x="30511" y="22072"/>
                  <a:pt x="30511" y="30511"/>
                </a:cubicBezTo>
                <a:lnTo>
                  <a:pt x="30511" y="190691"/>
                </a:lnTo>
                <a:cubicBezTo>
                  <a:pt x="30511" y="194886"/>
                  <a:pt x="33943" y="198318"/>
                  <a:pt x="38138" y="198318"/>
                </a:cubicBezTo>
                <a:lnTo>
                  <a:pt x="228829" y="198318"/>
                </a:lnTo>
                <a:cubicBezTo>
                  <a:pt x="237267" y="198318"/>
                  <a:pt x="244084" y="205136"/>
                  <a:pt x="244084" y="213574"/>
                </a:cubicBezTo>
                <a:cubicBezTo>
                  <a:pt x="244084" y="222012"/>
                  <a:pt x="237267" y="228829"/>
                  <a:pt x="228829" y="228829"/>
                </a:cubicBezTo>
                <a:lnTo>
                  <a:pt x="38138" y="228829"/>
                </a:lnTo>
                <a:cubicBezTo>
                  <a:pt x="17067" y="228829"/>
                  <a:pt x="0" y="211762"/>
                  <a:pt x="0" y="190691"/>
                </a:cubicBezTo>
                <a:lnTo>
                  <a:pt x="0" y="30511"/>
                </a:lnTo>
                <a:cubicBezTo>
                  <a:pt x="0" y="22072"/>
                  <a:pt x="6817" y="15255"/>
                  <a:pt x="15255" y="15255"/>
                </a:cubicBezTo>
                <a:close/>
                <a:moveTo>
                  <a:pt x="114414" y="45766"/>
                </a:moveTo>
                <a:cubicBezTo>
                  <a:pt x="117608" y="45766"/>
                  <a:pt x="120660" y="47101"/>
                  <a:pt x="122852" y="49484"/>
                </a:cubicBezTo>
                <a:lnTo>
                  <a:pt x="156748" y="86431"/>
                </a:lnTo>
                <a:lnTo>
                  <a:pt x="178773" y="64358"/>
                </a:lnTo>
                <a:cubicBezTo>
                  <a:pt x="183254" y="59877"/>
                  <a:pt x="190500" y="59877"/>
                  <a:pt x="194934" y="64358"/>
                </a:cubicBezTo>
                <a:lnTo>
                  <a:pt x="225444" y="94869"/>
                </a:lnTo>
                <a:cubicBezTo>
                  <a:pt x="227589" y="97014"/>
                  <a:pt x="228781" y="99922"/>
                  <a:pt x="228781" y="102973"/>
                </a:cubicBezTo>
                <a:lnTo>
                  <a:pt x="228781" y="156366"/>
                </a:lnTo>
                <a:cubicBezTo>
                  <a:pt x="228781" y="162707"/>
                  <a:pt x="223680" y="167808"/>
                  <a:pt x="217340" y="167808"/>
                </a:cubicBezTo>
                <a:lnTo>
                  <a:pt x="72415" y="167808"/>
                </a:lnTo>
                <a:cubicBezTo>
                  <a:pt x="66074" y="167808"/>
                  <a:pt x="60973" y="162707"/>
                  <a:pt x="60973" y="156366"/>
                </a:cubicBezTo>
                <a:lnTo>
                  <a:pt x="60973" y="102973"/>
                </a:lnTo>
                <a:cubicBezTo>
                  <a:pt x="60973" y="100113"/>
                  <a:pt x="62070" y="97348"/>
                  <a:pt x="63977" y="95250"/>
                </a:cubicBezTo>
                <a:lnTo>
                  <a:pt x="105929" y="49484"/>
                </a:lnTo>
                <a:cubicBezTo>
                  <a:pt x="108074" y="47101"/>
                  <a:pt x="111173" y="45766"/>
                  <a:pt x="114367" y="4576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34991" y="6793849"/>
            <a:ext cx="1159399" cy="34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收敛曲线示意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83435" y="8831951"/>
            <a:ext cx="7151664" cy="12204"/>
          </a:xfrm>
          <a:custGeom>
            <a:avLst/>
            <a:gdLst/>
            <a:ahLst/>
            <a:cxnLst/>
            <a:rect l="l" t="t" r="r" b="b"/>
            <a:pathLst>
              <a:path w="7151664" h="12204">
                <a:moveTo>
                  <a:pt x="0" y="0"/>
                </a:moveTo>
                <a:lnTo>
                  <a:pt x="7151664" y="0"/>
                </a:lnTo>
                <a:lnTo>
                  <a:pt x="7151664" y="12204"/>
                </a:lnTo>
                <a:lnTo>
                  <a:pt x="0" y="12204"/>
                </a:lnTo>
                <a:lnTo>
                  <a:pt x="0" y="0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3595" b="13595"/>
          <a:stretch/>
        </p:blipFill>
        <p:spPr>
          <a:xfrm>
            <a:off x="683435" y="7239813"/>
            <a:ext cx="7151664" cy="1562138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8222869" y="6598582"/>
            <a:ext cx="7542198" cy="2440841"/>
          </a:xfrm>
          <a:custGeom>
            <a:avLst/>
            <a:gdLst/>
            <a:ahLst/>
            <a:cxnLst/>
            <a:rect l="l" t="t" r="r" b="b"/>
            <a:pathLst>
              <a:path w="7542198" h="2440841">
                <a:moveTo>
                  <a:pt x="97634" y="0"/>
                </a:moveTo>
                <a:lnTo>
                  <a:pt x="7444565" y="0"/>
                </a:lnTo>
                <a:cubicBezTo>
                  <a:pt x="7498486" y="0"/>
                  <a:pt x="7542198" y="43712"/>
                  <a:pt x="7542198" y="97634"/>
                </a:cubicBezTo>
                <a:lnTo>
                  <a:pt x="7542198" y="2343207"/>
                </a:lnTo>
                <a:cubicBezTo>
                  <a:pt x="7542198" y="2397129"/>
                  <a:pt x="7498486" y="2440841"/>
                  <a:pt x="7444565" y="2440841"/>
                </a:cubicBezTo>
                <a:lnTo>
                  <a:pt x="97634" y="2440841"/>
                </a:lnTo>
                <a:cubicBezTo>
                  <a:pt x="43712" y="2440841"/>
                  <a:pt x="0" y="2397129"/>
                  <a:pt x="0" y="2343207"/>
                </a:cubicBezTo>
                <a:lnTo>
                  <a:pt x="0" y="97634"/>
                </a:lnTo>
                <a:cubicBezTo>
                  <a:pt x="0" y="43748"/>
                  <a:pt x="43748" y="0"/>
                  <a:pt x="97634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3"/>
          <p:cNvSpPr/>
          <p:nvPr/>
        </p:nvSpPr>
        <p:spPr>
          <a:xfrm>
            <a:off x="8418136" y="6842666"/>
            <a:ext cx="305105" cy="244084"/>
          </a:xfrm>
          <a:custGeom>
            <a:avLst/>
            <a:gdLst/>
            <a:ahLst/>
            <a:cxnLst/>
            <a:rect l="l" t="t" r="r" b="b"/>
            <a:pathLst>
              <a:path w="305105" h="244084">
                <a:moveTo>
                  <a:pt x="183063" y="15255"/>
                </a:moveTo>
                <a:lnTo>
                  <a:pt x="244084" y="15255"/>
                </a:lnTo>
                <a:cubicBezTo>
                  <a:pt x="252522" y="15255"/>
                  <a:pt x="259339" y="22072"/>
                  <a:pt x="259339" y="30511"/>
                </a:cubicBezTo>
                <a:cubicBezTo>
                  <a:pt x="259339" y="38949"/>
                  <a:pt x="252522" y="45766"/>
                  <a:pt x="244084" y="45766"/>
                </a:cubicBezTo>
                <a:lnTo>
                  <a:pt x="189928" y="45766"/>
                </a:lnTo>
                <a:cubicBezTo>
                  <a:pt x="187449" y="58065"/>
                  <a:pt x="179011" y="68220"/>
                  <a:pt x="167808" y="73082"/>
                </a:cubicBezTo>
                <a:lnTo>
                  <a:pt x="167808" y="213574"/>
                </a:lnTo>
                <a:lnTo>
                  <a:pt x="244084" y="213574"/>
                </a:lnTo>
                <a:cubicBezTo>
                  <a:pt x="252522" y="213574"/>
                  <a:pt x="259339" y="220391"/>
                  <a:pt x="259339" y="228829"/>
                </a:cubicBezTo>
                <a:cubicBezTo>
                  <a:pt x="259339" y="237267"/>
                  <a:pt x="252522" y="244084"/>
                  <a:pt x="244084" y="244084"/>
                </a:cubicBezTo>
                <a:lnTo>
                  <a:pt x="61021" y="244084"/>
                </a:lnTo>
                <a:cubicBezTo>
                  <a:pt x="52583" y="244084"/>
                  <a:pt x="45766" y="237267"/>
                  <a:pt x="45766" y="228829"/>
                </a:cubicBezTo>
                <a:cubicBezTo>
                  <a:pt x="45766" y="220391"/>
                  <a:pt x="52583" y="213574"/>
                  <a:pt x="61021" y="213574"/>
                </a:cubicBezTo>
                <a:lnTo>
                  <a:pt x="137297" y="213574"/>
                </a:lnTo>
                <a:lnTo>
                  <a:pt x="137297" y="73082"/>
                </a:lnTo>
                <a:cubicBezTo>
                  <a:pt x="126094" y="68172"/>
                  <a:pt x="117656" y="58018"/>
                  <a:pt x="115177" y="45766"/>
                </a:cubicBezTo>
                <a:lnTo>
                  <a:pt x="61021" y="45766"/>
                </a:lnTo>
                <a:cubicBezTo>
                  <a:pt x="52583" y="45766"/>
                  <a:pt x="45766" y="38949"/>
                  <a:pt x="45766" y="30511"/>
                </a:cubicBezTo>
                <a:cubicBezTo>
                  <a:pt x="45766" y="22072"/>
                  <a:pt x="52583" y="15255"/>
                  <a:pt x="61021" y="15255"/>
                </a:cubicBezTo>
                <a:lnTo>
                  <a:pt x="122042" y="15255"/>
                </a:lnTo>
                <a:cubicBezTo>
                  <a:pt x="129002" y="6007"/>
                  <a:pt x="140062" y="0"/>
                  <a:pt x="152553" y="0"/>
                </a:cubicBezTo>
                <a:cubicBezTo>
                  <a:pt x="165043" y="0"/>
                  <a:pt x="176103" y="6007"/>
                  <a:pt x="183063" y="15255"/>
                </a:cubicBezTo>
                <a:close/>
                <a:moveTo>
                  <a:pt x="209569" y="152553"/>
                </a:moveTo>
                <a:lnTo>
                  <a:pt x="278599" y="152553"/>
                </a:lnTo>
                <a:lnTo>
                  <a:pt x="244084" y="93343"/>
                </a:lnTo>
                <a:lnTo>
                  <a:pt x="209569" y="152553"/>
                </a:lnTo>
                <a:close/>
                <a:moveTo>
                  <a:pt x="244084" y="198318"/>
                </a:moveTo>
                <a:cubicBezTo>
                  <a:pt x="214098" y="198318"/>
                  <a:pt x="189165" y="182110"/>
                  <a:pt x="184017" y="160705"/>
                </a:cubicBezTo>
                <a:cubicBezTo>
                  <a:pt x="182777" y="155461"/>
                  <a:pt x="184493" y="150074"/>
                  <a:pt x="187211" y="145402"/>
                </a:cubicBezTo>
                <a:lnTo>
                  <a:pt x="232595" y="67600"/>
                </a:lnTo>
                <a:cubicBezTo>
                  <a:pt x="234979" y="63500"/>
                  <a:pt x="239364" y="61021"/>
                  <a:pt x="244084" y="61021"/>
                </a:cubicBezTo>
                <a:cubicBezTo>
                  <a:pt x="248804" y="61021"/>
                  <a:pt x="253190" y="63548"/>
                  <a:pt x="255573" y="67600"/>
                </a:cubicBezTo>
                <a:lnTo>
                  <a:pt x="300958" y="145402"/>
                </a:lnTo>
                <a:cubicBezTo>
                  <a:pt x="303675" y="150074"/>
                  <a:pt x="305391" y="155461"/>
                  <a:pt x="304152" y="160705"/>
                </a:cubicBezTo>
                <a:cubicBezTo>
                  <a:pt x="299003" y="182062"/>
                  <a:pt x="274070" y="198318"/>
                  <a:pt x="244084" y="198318"/>
                </a:cubicBezTo>
                <a:close/>
                <a:moveTo>
                  <a:pt x="60449" y="93343"/>
                </a:moveTo>
                <a:lnTo>
                  <a:pt x="25934" y="152553"/>
                </a:lnTo>
                <a:lnTo>
                  <a:pt x="95012" y="152553"/>
                </a:lnTo>
                <a:lnTo>
                  <a:pt x="60449" y="93343"/>
                </a:lnTo>
                <a:close/>
                <a:moveTo>
                  <a:pt x="429" y="160705"/>
                </a:moveTo>
                <a:cubicBezTo>
                  <a:pt x="-810" y="155461"/>
                  <a:pt x="906" y="150074"/>
                  <a:pt x="3623" y="145402"/>
                </a:cubicBezTo>
                <a:lnTo>
                  <a:pt x="49008" y="67600"/>
                </a:lnTo>
                <a:cubicBezTo>
                  <a:pt x="51391" y="63500"/>
                  <a:pt x="55777" y="61021"/>
                  <a:pt x="60497" y="61021"/>
                </a:cubicBezTo>
                <a:cubicBezTo>
                  <a:pt x="65216" y="61021"/>
                  <a:pt x="69602" y="63548"/>
                  <a:pt x="71986" y="67600"/>
                </a:cubicBezTo>
                <a:lnTo>
                  <a:pt x="117370" y="145402"/>
                </a:lnTo>
                <a:cubicBezTo>
                  <a:pt x="120087" y="150074"/>
                  <a:pt x="121804" y="155461"/>
                  <a:pt x="120564" y="160705"/>
                </a:cubicBezTo>
                <a:cubicBezTo>
                  <a:pt x="115416" y="182062"/>
                  <a:pt x="90483" y="198318"/>
                  <a:pt x="60497" y="198318"/>
                </a:cubicBezTo>
                <a:cubicBezTo>
                  <a:pt x="30511" y="198318"/>
                  <a:pt x="5578" y="182110"/>
                  <a:pt x="429" y="16070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8869691" y="6793849"/>
            <a:ext cx="817682" cy="34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工程权衡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442544" y="7330834"/>
            <a:ext cx="170859" cy="170859"/>
          </a:xfrm>
          <a:custGeom>
            <a:avLst/>
            <a:gdLst/>
            <a:ahLst/>
            <a:cxnLst/>
            <a:rect l="l" t="t" r="r" b="b"/>
            <a:pathLst>
              <a:path w="170859" h="170859">
                <a:moveTo>
                  <a:pt x="85429" y="170859"/>
                </a:moveTo>
                <a:cubicBezTo>
                  <a:pt x="132579" y="170859"/>
                  <a:pt x="170859" y="132579"/>
                  <a:pt x="170859" y="85429"/>
                </a:cubicBezTo>
                <a:cubicBezTo>
                  <a:pt x="170859" y="38280"/>
                  <a:pt x="132579" y="0"/>
                  <a:pt x="85429" y="0"/>
                </a:cubicBezTo>
                <a:cubicBezTo>
                  <a:pt x="38280" y="0"/>
                  <a:pt x="0" y="38280"/>
                  <a:pt x="0" y="85429"/>
                </a:cubicBezTo>
                <a:cubicBezTo>
                  <a:pt x="0" y="132579"/>
                  <a:pt x="38280" y="170859"/>
                  <a:pt x="85429" y="170859"/>
                </a:cubicBezTo>
                <a:close/>
                <a:moveTo>
                  <a:pt x="113594" y="70980"/>
                </a:moveTo>
                <a:lnTo>
                  <a:pt x="86898" y="113695"/>
                </a:lnTo>
                <a:cubicBezTo>
                  <a:pt x="85496" y="115930"/>
                  <a:pt x="83093" y="117332"/>
                  <a:pt x="80457" y="117465"/>
                </a:cubicBezTo>
                <a:cubicBezTo>
                  <a:pt x="77821" y="117599"/>
                  <a:pt x="75285" y="116398"/>
                  <a:pt x="73716" y="114262"/>
                </a:cubicBezTo>
                <a:lnTo>
                  <a:pt x="57698" y="92905"/>
                </a:lnTo>
                <a:cubicBezTo>
                  <a:pt x="55029" y="89367"/>
                  <a:pt x="55763" y="84362"/>
                  <a:pt x="59300" y="81692"/>
                </a:cubicBezTo>
                <a:cubicBezTo>
                  <a:pt x="62837" y="79022"/>
                  <a:pt x="67843" y="79756"/>
                  <a:pt x="70513" y="83294"/>
                </a:cubicBezTo>
                <a:lnTo>
                  <a:pt x="79523" y="95307"/>
                </a:lnTo>
                <a:lnTo>
                  <a:pt x="100013" y="62504"/>
                </a:lnTo>
                <a:cubicBezTo>
                  <a:pt x="102348" y="58766"/>
                  <a:pt x="107287" y="57598"/>
                  <a:pt x="111058" y="59967"/>
                </a:cubicBezTo>
                <a:cubicBezTo>
                  <a:pt x="114829" y="62337"/>
                  <a:pt x="115964" y="67242"/>
                  <a:pt x="113594" y="7101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8729343" y="7282017"/>
            <a:ext cx="4527760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通过参数配置可使"</a:t>
            </a:r>
            <a:r>
              <a:rPr lang="en-US" sz="1538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最终不一致</a:t>
            </a: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"的概率低到可以忽略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442544" y="7721369"/>
            <a:ext cx="170859" cy="170859"/>
          </a:xfrm>
          <a:custGeom>
            <a:avLst/>
            <a:gdLst/>
            <a:ahLst/>
            <a:cxnLst/>
            <a:rect l="l" t="t" r="r" b="b"/>
            <a:pathLst>
              <a:path w="170859" h="170859">
                <a:moveTo>
                  <a:pt x="85429" y="170859"/>
                </a:moveTo>
                <a:cubicBezTo>
                  <a:pt x="132579" y="170859"/>
                  <a:pt x="170859" y="132579"/>
                  <a:pt x="170859" y="85429"/>
                </a:cubicBezTo>
                <a:cubicBezTo>
                  <a:pt x="170859" y="38280"/>
                  <a:pt x="132579" y="0"/>
                  <a:pt x="85429" y="0"/>
                </a:cubicBezTo>
                <a:cubicBezTo>
                  <a:pt x="38280" y="0"/>
                  <a:pt x="0" y="38280"/>
                  <a:pt x="0" y="85429"/>
                </a:cubicBezTo>
                <a:cubicBezTo>
                  <a:pt x="0" y="132579"/>
                  <a:pt x="38280" y="170859"/>
                  <a:pt x="85429" y="170859"/>
                </a:cubicBezTo>
                <a:close/>
                <a:moveTo>
                  <a:pt x="113594" y="70980"/>
                </a:moveTo>
                <a:lnTo>
                  <a:pt x="86898" y="113695"/>
                </a:lnTo>
                <a:cubicBezTo>
                  <a:pt x="85496" y="115930"/>
                  <a:pt x="83093" y="117332"/>
                  <a:pt x="80457" y="117465"/>
                </a:cubicBezTo>
                <a:cubicBezTo>
                  <a:pt x="77821" y="117599"/>
                  <a:pt x="75285" y="116398"/>
                  <a:pt x="73716" y="114262"/>
                </a:cubicBezTo>
                <a:lnTo>
                  <a:pt x="57698" y="92905"/>
                </a:lnTo>
                <a:cubicBezTo>
                  <a:pt x="55029" y="89367"/>
                  <a:pt x="55763" y="84362"/>
                  <a:pt x="59300" y="81692"/>
                </a:cubicBezTo>
                <a:cubicBezTo>
                  <a:pt x="62837" y="79022"/>
                  <a:pt x="67843" y="79756"/>
                  <a:pt x="70513" y="83294"/>
                </a:cubicBezTo>
                <a:lnTo>
                  <a:pt x="79523" y="95307"/>
                </a:lnTo>
                <a:lnTo>
                  <a:pt x="100013" y="62504"/>
                </a:lnTo>
                <a:cubicBezTo>
                  <a:pt x="102348" y="58766"/>
                  <a:pt x="107287" y="57598"/>
                  <a:pt x="111058" y="59967"/>
                </a:cubicBezTo>
                <a:cubicBezTo>
                  <a:pt x="114829" y="62337"/>
                  <a:pt x="115964" y="67242"/>
                  <a:pt x="113594" y="7101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8"/>
          <p:cNvSpPr/>
          <p:nvPr/>
        </p:nvSpPr>
        <p:spPr>
          <a:xfrm>
            <a:off x="8729343" y="7672552"/>
            <a:ext cx="3612444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在网络分区恢复后，系统会自动重新收敛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442544" y="8111903"/>
            <a:ext cx="170859" cy="170859"/>
          </a:xfrm>
          <a:custGeom>
            <a:avLst/>
            <a:gdLst/>
            <a:ahLst/>
            <a:cxnLst/>
            <a:rect l="l" t="t" r="r" b="b"/>
            <a:pathLst>
              <a:path w="170859" h="170859">
                <a:moveTo>
                  <a:pt x="85429" y="170859"/>
                </a:moveTo>
                <a:cubicBezTo>
                  <a:pt x="132579" y="170859"/>
                  <a:pt x="170859" y="132579"/>
                  <a:pt x="170859" y="85429"/>
                </a:cubicBezTo>
                <a:cubicBezTo>
                  <a:pt x="170859" y="38280"/>
                  <a:pt x="132579" y="0"/>
                  <a:pt x="85429" y="0"/>
                </a:cubicBezTo>
                <a:cubicBezTo>
                  <a:pt x="38280" y="0"/>
                  <a:pt x="0" y="38280"/>
                  <a:pt x="0" y="85429"/>
                </a:cubicBezTo>
                <a:cubicBezTo>
                  <a:pt x="0" y="132579"/>
                  <a:pt x="38280" y="170859"/>
                  <a:pt x="85429" y="170859"/>
                </a:cubicBezTo>
                <a:close/>
                <a:moveTo>
                  <a:pt x="113594" y="70980"/>
                </a:moveTo>
                <a:lnTo>
                  <a:pt x="86898" y="113695"/>
                </a:lnTo>
                <a:cubicBezTo>
                  <a:pt x="85496" y="115930"/>
                  <a:pt x="83093" y="117332"/>
                  <a:pt x="80457" y="117465"/>
                </a:cubicBezTo>
                <a:cubicBezTo>
                  <a:pt x="77821" y="117599"/>
                  <a:pt x="75285" y="116398"/>
                  <a:pt x="73716" y="114262"/>
                </a:cubicBezTo>
                <a:lnTo>
                  <a:pt x="57698" y="92905"/>
                </a:lnTo>
                <a:cubicBezTo>
                  <a:pt x="55029" y="89367"/>
                  <a:pt x="55763" y="84362"/>
                  <a:pt x="59300" y="81692"/>
                </a:cubicBezTo>
                <a:cubicBezTo>
                  <a:pt x="62837" y="79022"/>
                  <a:pt x="67843" y="79756"/>
                  <a:pt x="70513" y="83294"/>
                </a:cubicBezTo>
                <a:lnTo>
                  <a:pt x="79523" y="95307"/>
                </a:lnTo>
                <a:lnTo>
                  <a:pt x="100013" y="62504"/>
                </a:lnTo>
                <a:cubicBezTo>
                  <a:pt x="102348" y="58766"/>
                  <a:pt x="107287" y="57598"/>
                  <a:pt x="111058" y="59967"/>
                </a:cubicBezTo>
                <a:cubicBezTo>
                  <a:pt x="114829" y="62337"/>
                  <a:pt x="115964" y="67242"/>
                  <a:pt x="113594" y="7101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0"/>
          <p:cNvSpPr/>
          <p:nvPr/>
        </p:nvSpPr>
        <p:spPr>
          <a:xfrm>
            <a:off x="8729343" y="8063087"/>
            <a:ext cx="3917550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收敛速度 vs 网络开销需要根据业务需求权衡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echwave.net/824bcd973df5a9f9b280dff44eedc201376f23d9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5266" r="526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317750"/>
            <a:ext cx="2298700" cy="762000"/>
          </a:xfrm>
          <a:custGeom>
            <a:avLst/>
            <a:gdLst/>
            <a:ahLst/>
            <a:cxnLst/>
            <a:rect l="l" t="t" r="r" b="b"/>
            <a:pathLst>
              <a:path w="2298700" h="762000">
                <a:moveTo>
                  <a:pt x="101597" y="0"/>
                </a:moveTo>
                <a:lnTo>
                  <a:pt x="2197103" y="0"/>
                </a:lnTo>
                <a:cubicBezTo>
                  <a:pt x="2253213" y="0"/>
                  <a:pt x="2298700" y="45487"/>
                  <a:pt x="2298700" y="101597"/>
                </a:cubicBezTo>
                <a:lnTo>
                  <a:pt x="2298700" y="660403"/>
                </a:lnTo>
                <a:cubicBezTo>
                  <a:pt x="2298700" y="716513"/>
                  <a:pt x="2253213" y="762000"/>
                  <a:pt x="21971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12800" y="2470150"/>
            <a:ext cx="187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384550"/>
            <a:ext cx="7035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典型实现与案例分析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9753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330950"/>
            <a:ext cx="673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从抽象算法到工程系统的落地实践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338667"/>
          </a:xfrm>
          <a:custGeom>
            <a:avLst/>
            <a:gdLst/>
            <a:ahLst/>
            <a:cxnLst/>
            <a:rect l="l" t="t" r="r" b="b"/>
            <a:pathLst>
              <a:path w="84667" h="338667">
                <a:moveTo>
                  <a:pt x="0" y="0"/>
                </a:moveTo>
                <a:lnTo>
                  <a:pt x="84667" y="0"/>
                </a:lnTo>
                <a:lnTo>
                  <a:pt x="84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445558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基于心跳的成员管理与故障检测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43000"/>
            <a:ext cx="6794500" cy="3492500"/>
          </a:xfrm>
          <a:custGeom>
            <a:avLst/>
            <a:gdLst/>
            <a:ahLst/>
            <a:cxnLst/>
            <a:rect l="l" t="t" r="r" b="b"/>
            <a:pathLst>
              <a:path w="6794500" h="3492500">
                <a:moveTo>
                  <a:pt x="42333" y="0"/>
                </a:moveTo>
                <a:lnTo>
                  <a:pt x="6709842" y="0"/>
                </a:lnTo>
                <a:cubicBezTo>
                  <a:pt x="6756597" y="0"/>
                  <a:pt x="6794500" y="37903"/>
                  <a:pt x="6794500" y="84658"/>
                </a:cubicBezTo>
                <a:lnTo>
                  <a:pt x="6794500" y="3407842"/>
                </a:lnTo>
                <a:cubicBezTo>
                  <a:pt x="6794500" y="3454597"/>
                  <a:pt x="6756597" y="3492500"/>
                  <a:pt x="6709842" y="3492500"/>
                </a:cubicBezTo>
                <a:lnTo>
                  <a:pt x="42333" y="3492500"/>
                </a:lnTo>
                <a:cubicBezTo>
                  <a:pt x="18953" y="3492500"/>
                  <a:pt x="0" y="3473547"/>
                  <a:pt x="0" y="345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143000"/>
            <a:ext cx="42333" cy="3492500"/>
          </a:xfrm>
          <a:custGeom>
            <a:avLst/>
            <a:gdLst/>
            <a:ahLst/>
            <a:cxnLst/>
            <a:rect l="l" t="t" r="r" b="b"/>
            <a:pathLst>
              <a:path w="42333" h="3492500">
                <a:moveTo>
                  <a:pt x="42333" y="0"/>
                </a:moveTo>
                <a:lnTo>
                  <a:pt x="42333" y="0"/>
                </a:lnTo>
                <a:lnTo>
                  <a:pt x="42333" y="3492500"/>
                </a:lnTo>
                <a:lnTo>
                  <a:pt x="42333" y="3492500"/>
                </a:lnTo>
                <a:cubicBezTo>
                  <a:pt x="18953" y="3492500"/>
                  <a:pt x="0" y="3473547"/>
                  <a:pt x="0" y="345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9083" y="1397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53529"/>
                </a:moveTo>
                <a:lnTo>
                  <a:pt x="119559" y="43210"/>
                </a:lnTo>
                <a:cubicBezTo>
                  <a:pt x="107156" y="26045"/>
                  <a:pt x="87263" y="15875"/>
                  <a:pt x="66030" y="15875"/>
                </a:cubicBezTo>
                <a:cubicBezTo>
                  <a:pt x="29567" y="15875"/>
                  <a:pt x="0" y="45442"/>
                  <a:pt x="0" y="81905"/>
                </a:cubicBezTo>
                <a:lnTo>
                  <a:pt x="0" y="83195"/>
                </a:lnTo>
                <a:cubicBezTo>
                  <a:pt x="0" y="94903"/>
                  <a:pt x="3076" y="107007"/>
                  <a:pt x="8235" y="119063"/>
                </a:cubicBezTo>
                <a:lnTo>
                  <a:pt x="60821" y="119063"/>
                </a:lnTo>
                <a:cubicBezTo>
                  <a:pt x="62409" y="119063"/>
                  <a:pt x="63847" y="118120"/>
                  <a:pt x="64492" y="116632"/>
                </a:cubicBezTo>
                <a:lnTo>
                  <a:pt x="80268" y="78780"/>
                </a:lnTo>
                <a:cubicBezTo>
                  <a:pt x="82104" y="74414"/>
                  <a:pt x="86370" y="71537"/>
                  <a:pt x="91083" y="71438"/>
                </a:cubicBezTo>
                <a:cubicBezTo>
                  <a:pt x="95796" y="71338"/>
                  <a:pt x="100161" y="74116"/>
                  <a:pt x="102096" y="78432"/>
                </a:cubicBezTo>
                <a:lnTo>
                  <a:pt x="127546" y="134938"/>
                </a:lnTo>
                <a:lnTo>
                  <a:pt x="148084" y="93861"/>
                </a:lnTo>
                <a:cubicBezTo>
                  <a:pt x="150118" y="89843"/>
                  <a:pt x="154236" y="87263"/>
                  <a:pt x="158750" y="87263"/>
                </a:cubicBezTo>
                <a:cubicBezTo>
                  <a:pt x="163264" y="87263"/>
                  <a:pt x="167382" y="89793"/>
                  <a:pt x="169416" y="93861"/>
                </a:cubicBezTo>
                <a:lnTo>
                  <a:pt x="180925" y="116830"/>
                </a:lnTo>
                <a:cubicBezTo>
                  <a:pt x="181620" y="118170"/>
                  <a:pt x="182959" y="119013"/>
                  <a:pt x="184497" y="119013"/>
                </a:cubicBezTo>
                <a:lnTo>
                  <a:pt x="245814" y="119013"/>
                </a:lnTo>
                <a:cubicBezTo>
                  <a:pt x="251023" y="106958"/>
                  <a:pt x="254050" y="94853"/>
                  <a:pt x="254050" y="83145"/>
                </a:cubicBezTo>
                <a:lnTo>
                  <a:pt x="254050" y="81855"/>
                </a:lnTo>
                <a:cubicBezTo>
                  <a:pt x="254000" y="45442"/>
                  <a:pt x="224433" y="15875"/>
                  <a:pt x="187970" y="15875"/>
                </a:cubicBezTo>
                <a:cubicBezTo>
                  <a:pt x="166787" y="15875"/>
                  <a:pt x="146844" y="26045"/>
                  <a:pt x="134441" y="43210"/>
                </a:cubicBezTo>
                <a:lnTo>
                  <a:pt x="127000" y="53479"/>
                </a:lnTo>
                <a:close/>
                <a:moveTo>
                  <a:pt x="232966" y="142875"/>
                </a:moveTo>
                <a:lnTo>
                  <a:pt x="184448" y="142875"/>
                </a:lnTo>
                <a:cubicBezTo>
                  <a:pt x="173930" y="142875"/>
                  <a:pt x="164306" y="136922"/>
                  <a:pt x="159593" y="127496"/>
                </a:cubicBezTo>
                <a:lnTo>
                  <a:pt x="158750" y="125809"/>
                </a:lnTo>
                <a:lnTo>
                  <a:pt x="137666" y="168027"/>
                </a:lnTo>
                <a:cubicBezTo>
                  <a:pt x="135632" y="172145"/>
                  <a:pt x="131366" y="174724"/>
                  <a:pt x="126752" y="174625"/>
                </a:cubicBezTo>
                <a:cubicBezTo>
                  <a:pt x="122138" y="174526"/>
                  <a:pt x="118021" y="171797"/>
                  <a:pt x="116136" y="167630"/>
                </a:cubicBezTo>
                <a:lnTo>
                  <a:pt x="91678" y="113308"/>
                </a:lnTo>
                <a:lnTo>
                  <a:pt x="86469" y="125809"/>
                </a:lnTo>
                <a:cubicBezTo>
                  <a:pt x="82153" y="136178"/>
                  <a:pt x="72033" y="142925"/>
                  <a:pt x="60821" y="142925"/>
                </a:cubicBezTo>
                <a:lnTo>
                  <a:pt x="21034" y="142925"/>
                </a:lnTo>
                <a:cubicBezTo>
                  <a:pt x="44450" y="179536"/>
                  <a:pt x="82054" y="213221"/>
                  <a:pt x="105569" y="231180"/>
                </a:cubicBezTo>
                <a:cubicBezTo>
                  <a:pt x="111720" y="235843"/>
                  <a:pt x="119261" y="238175"/>
                  <a:pt x="126950" y="238175"/>
                </a:cubicBezTo>
                <a:cubicBezTo>
                  <a:pt x="134640" y="238175"/>
                  <a:pt x="142230" y="235893"/>
                  <a:pt x="148332" y="231180"/>
                </a:cubicBezTo>
                <a:cubicBezTo>
                  <a:pt x="171946" y="213171"/>
                  <a:pt x="209550" y="179487"/>
                  <a:pt x="232966" y="14287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21833" y="1354667"/>
            <a:ext cx="941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7333" y="1862667"/>
            <a:ext cx="643466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基于心跳的 Gossip 协议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是最经典的成员管理与故障检测方案之一。其核心思想是：每个节点维护一个成员列表和对应心跳计数，使用 Gossip 协议周期性地交换成员心跳视图，若某个成员的心跳在指定超时时间内未增长，则将其标记为"可疑"或"失败"。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7333" y="2857500"/>
            <a:ext cx="6350000" cy="1566333"/>
          </a:xfrm>
          <a:custGeom>
            <a:avLst/>
            <a:gdLst/>
            <a:ahLst/>
            <a:cxnLst/>
            <a:rect l="l" t="t" r="r" b="b"/>
            <a:pathLst>
              <a:path w="6350000" h="1566333">
                <a:moveTo>
                  <a:pt x="84660" y="0"/>
                </a:moveTo>
                <a:lnTo>
                  <a:pt x="6265340" y="0"/>
                </a:lnTo>
                <a:cubicBezTo>
                  <a:pt x="6312096" y="0"/>
                  <a:pt x="6350000" y="37904"/>
                  <a:pt x="6350000" y="84660"/>
                </a:cubicBezTo>
                <a:lnTo>
                  <a:pt x="6350000" y="1481673"/>
                </a:lnTo>
                <a:cubicBezTo>
                  <a:pt x="6350000" y="1528430"/>
                  <a:pt x="6312096" y="1566333"/>
                  <a:pt x="6265340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6667" y="3026833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6667" y="3492500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16000" y="3407833"/>
            <a:ext cx="5217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"心跳"是一个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单调递增的逻辑计数器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，用于大致衡量节点的"活跃程度"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6667" y="3831167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16000" y="3746500"/>
            <a:ext cx="5926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如果某个节点长时间没有被观测到心跳更新，就意味着它可能已经崩溃或与大部分节点失联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" y="4804833"/>
            <a:ext cx="6794500" cy="4198490"/>
          </a:xfrm>
          <a:custGeom>
            <a:avLst/>
            <a:gdLst/>
            <a:ahLst/>
            <a:cxnLst/>
            <a:rect l="l" t="t" r="r" b="b"/>
            <a:pathLst>
              <a:path w="6794500" h="5619750">
                <a:moveTo>
                  <a:pt x="42333" y="0"/>
                </a:moveTo>
                <a:lnTo>
                  <a:pt x="6709810" y="0"/>
                </a:lnTo>
                <a:cubicBezTo>
                  <a:pt x="6756583" y="0"/>
                  <a:pt x="6794500" y="37917"/>
                  <a:pt x="6794500" y="84690"/>
                </a:cubicBezTo>
                <a:lnTo>
                  <a:pt x="6794500" y="5535060"/>
                </a:lnTo>
                <a:cubicBezTo>
                  <a:pt x="6794500" y="5581833"/>
                  <a:pt x="6756583" y="5619750"/>
                  <a:pt x="6709810" y="5619750"/>
                </a:cubicBezTo>
                <a:lnTo>
                  <a:pt x="42333" y="5619750"/>
                </a:lnTo>
                <a:cubicBezTo>
                  <a:pt x="18953" y="5619750"/>
                  <a:pt x="0" y="5600797"/>
                  <a:pt x="0" y="5577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44500" y="4804833"/>
            <a:ext cx="42333" cy="4176000"/>
          </a:xfrm>
          <a:custGeom>
            <a:avLst/>
            <a:gdLst/>
            <a:ahLst/>
            <a:cxnLst/>
            <a:rect l="l" t="t" r="r" b="b"/>
            <a:pathLst>
              <a:path w="42333" h="5619750">
                <a:moveTo>
                  <a:pt x="42333" y="0"/>
                </a:moveTo>
                <a:lnTo>
                  <a:pt x="42333" y="0"/>
                </a:lnTo>
                <a:lnTo>
                  <a:pt x="42333" y="5619750"/>
                </a:lnTo>
                <a:lnTo>
                  <a:pt x="42333" y="5619750"/>
                </a:lnTo>
                <a:cubicBezTo>
                  <a:pt x="18953" y="5619750"/>
                  <a:pt x="0" y="5600797"/>
                  <a:pt x="0" y="5577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09083" y="50588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5719"/>
                </a:moveTo>
                <a:cubicBezTo>
                  <a:pt x="0" y="29170"/>
                  <a:pt x="5308" y="23812"/>
                  <a:pt x="11906" y="23812"/>
                </a:cubicBezTo>
                <a:lnTo>
                  <a:pt x="35719" y="23812"/>
                </a:lnTo>
                <a:cubicBezTo>
                  <a:pt x="42317" y="23812"/>
                  <a:pt x="47625" y="29121"/>
                  <a:pt x="47625" y="35719"/>
                </a:cubicBezTo>
                <a:lnTo>
                  <a:pt x="47625" y="87313"/>
                </a:lnTo>
                <a:lnTo>
                  <a:pt x="59531" y="87313"/>
                </a:lnTo>
                <a:cubicBezTo>
                  <a:pt x="66129" y="87313"/>
                  <a:pt x="71438" y="92621"/>
                  <a:pt x="71438" y="99219"/>
                </a:cubicBezTo>
                <a:cubicBezTo>
                  <a:pt x="71438" y="105817"/>
                  <a:pt x="66129" y="111125"/>
                  <a:pt x="59531" y="111125"/>
                </a:cubicBezTo>
                <a:lnTo>
                  <a:pt x="11906" y="111125"/>
                </a:lnTo>
                <a:cubicBezTo>
                  <a:pt x="5308" y="111125"/>
                  <a:pt x="0" y="105817"/>
                  <a:pt x="0" y="99219"/>
                </a:cubicBezTo>
                <a:cubicBezTo>
                  <a:pt x="0" y="92621"/>
                  <a:pt x="5308" y="87313"/>
                  <a:pt x="11906" y="87313"/>
                </a:cubicBezTo>
                <a:lnTo>
                  <a:pt x="23812" y="87313"/>
                </a:lnTo>
                <a:lnTo>
                  <a:pt x="23812" y="47625"/>
                </a:lnTo>
                <a:lnTo>
                  <a:pt x="11906" y="47625"/>
                </a:lnTo>
                <a:cubicBezTo>
                  <a:pt x="5308" y="47625"/>
                  <a:pt x="0" y="42317"/>
                  <a:pt x="0" y="35719"/>
                </a:cubicBezTo>
                <a:close/>
                <a:moveTo>
                  <a:pt x="15081" y="149423"/>
                </a:moveTo>
                <a:cubicBezTo>
                  <a:pt x="20737" y="145157"/>
                  <a:pt x="27632" y="142875"/>
                  <a:pt x="34727" y="142875"/>
                </a:cubicBezTo>
                <a:lnTo>
                  <a:pt x="37157" y="142875"/>
                </a:lnTo>
                <a:cubicBezTo>
                  <a:pt x="53876" y="142875"/>
                  <a:pt x="67469" y="156468"/>
                  <a:pt x="67469" y="173186"/>
                </a:cubicBezTo>
                <a:cubicBezTo>
                  <a:pt x="67469" y="182910"/>
                  <a:pt x="62805" y="191988"/>
                  <a:pt x="54967" y="197693"/>
                </a:cubicBezTo>
                <a:lnTo>
                  <a:pt x="43061" y="206375"/>
                </a:lnTo>
                <a:lnTo>
                  <a:pt x="59531" y="206375"/>
                </a:lnTo>
                <a:cubicBezTo>
                  <a:pt x="66129" y="206375"/>
                  <a:pt x="71438" y="211683"/>
                  <a:pt x="71438" y="218281"/>
                </a:cubicBezTo>
                <a:cubicBezTo>
                  <a:pt x="71438" y="224879"/>
                  <a:pt x="66129" y="230188"/>
                  <a:pt x="59531" y="230188"/>
                </a:cubicBezTo>
                <a:lnTo>
                  <a:pt x="14536" y="230188"/>
                </a:lnTo>
                <a:cubicBezTo>
                  <a:pt x="6499" y="230188"/>
                  <a:pt x="0" y="223689"/>
                  <a:pt x="0" y="215652"/>
                </a:cubicBezTo>
                <a:cubicBezTo>
                  <a:pt x="0" y="210989"/>
                  <a:pt x="2232" y="206623"/>
                  <a:pt x="6003" y="203895"/>
                </a:cubicBezTo>
                <a:lnTo>
                  <a:pt x="40977" y="178445"/>
                </a:lnTo>
                <a:cubicBezTo>
                  <a:pt x="42664" y="177205"/>
                  <a:pt x="43656" y="175270"/>
                  <a:pt x="43656" y="173186"/>
                </a:cubicBezTo>
                <a:cubicBezTo>
                  <a:pt x="43656" y="169614"/>
                  <a:pt x="40729" y="166687"/>
                  <a:pt x="37157" y="166687"/>
                </a:cubicBezTo>
                <a:lnTo>
                  <a:pt x="34727" y="166688"/>
                </a:lnTo>
                <a:cubicBezTo>
                  <a:pt x="32792" y="166688"/>
                  <a:pt x="30907" y="167332"/>
                  <a:pt x="29369" y="168473"/>
                </a:cubicBezTo>
                <a:lnTo>
                  <a:pt x="19050" y="176213"/>
                </a:lnTo>
                <a:cubicBezTo>
                  <a:pt x="13791" y="180181"/>
                  <a:pt x="6350" y="179090"/>
                  <a:pt x="2381" y="173831"/>
                </a:cubicBezTo>
                <a:cubicBezTo>
                  <a:pt x="-1588" y="168573"/>
                  <a:pt x="-496" y="161131"/>
                  <a:pt x="4763" y="157163"/>
                </a:cubicBezTo>
                <a:lnTo>
                  <a:pt x="15081" y="149423"/>
                </a:lnTo>
                <a:close/>
                <a:moveTo>
                  <a:pt x="111125" y="31750"/>
                </a:move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11125" y="63500"/>
                </a:lnTo>
                <a:cubicBezTo>
                  <a:pt x="102344" y="63500"/>
                  <a:pt x="95250" y="56406"/>
                  <a:pt x="95250" y="47625"/>
                </a:cubicBezTo>
                <a:cubicBezTo>
                  <a:pt x="95250" y="38844"/>
                  <a:pt x="102344" y="31750"/>
                  <a:pt x="111125" y="31750"/>
                </a:cubicBezTo>
                <a:close/>
                <a:moveTo>
                  <a:pt x="111125" y="111125"/>
                </a:move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11125" y="142875"/>
                </a:lnTo>
                <a:cubicBezTo>
                  <a:pt x="102344" y="142875"/>
                  <a:pt x="95250" y="135781"/>
                  <a:pt x="95250" y="127000"/>
                </a:cubicBezTo>
                <a:cubicBezTo>
                  <a:pt x="95250" y="118219"/>
                  <a:pt x="102344" y="111125"/>
                  <a:pt x="111125" y="111125"/>
                </a:cubicBezTo>
                <a:close/>
                <a:moveTo>
                  <a:pt x="111125" y="190500"/>
                </a:move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111125" y="222250"/>
                </a:lnTo>
                <a:cubicBezTo>
                  <a:pt x="102344" y="222250"/>
                  <a:pt x="95250" y="215156"/>
                  <a:pt x="95250" y="206375"/>
                </a:cubicBezTo>
                <a:cubicBezTo>
                  <a:pt x="95250" y="197594"/>
                  <a:pt x="102344" y="190500"/>
                  <a:pt x="111125" y="190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21833" y="5016500"/>
            <a:ext cx="15451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三级状态机设计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7333" y="5524500"/>
            <a:ext cx="6350000" cy="1016000"/>
          </a:xfrm>
          <a:custGeom>
            <a:avLst/>
            <a:gdLst/>
            <a:ahLst/>
            <a:cxnLst/>
            <a:rect l="l" t="t" r="r" b="b"/>
            <a:pathLst>
              <a:path w="6350000" h="1016000">
                <a:moveTo>
                  <a:pt x="84663" y="0"/>
                </a:moveTo>
                <a:lnTo>
                  <a:pt x="6265337" y="0"/>
                </a:lnTo>
                <a:cubicBezTo>
                  <a:pt x="6312095" y="0"/>
                  <a:pt x="6350000" y="37905"/>
                  <a:pt x="6350000" y="84663"/>
                </a:cubicBezTo>
                <a:lnTo>
                  <a:pt x="6350000" y="931337"/>
                </a:lnTo>
                <a:cubicBezTo>
                  <a:pt x="6350000" y="978095"/>
                  <a:pt x="6312095" y="1016000"/>
                  <a:pt x="6265337" y="1016000"/>
                </a:cubicBezTo>
                <a:lnTo>
                  <a:pt x="84663" y="1016000"/>
                </a:lnTo>
                <a:cubicBezTo>
                  <a:pt x="37905" y="1016000"/>
                  <a:pt x="0" y="978095"/>
                  <a:pt x="0" y="9313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6667" y="569383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4333" y="5693833"/>
            <a:ext cx="423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12333" y="5715000"/>
            <a:ext cx="486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6667" y="6117167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节点正常存活，定期发送心跳，参与 Gossip 传播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7333" y="6667500"/>
            <a:ext cx="6350000" cy="1016000"/>
          </a:xfrm>
          <a:custGeom>
            <a:avLst/>
            <a:gdLst/>
            <a:ahLst/>
            <a:cxnLst/>
            <a:rect l="l" t="t" r="r" b="b"/>
            <a:pathLst>
              <a:path w="6350000" h="1016000">
                <a:moveTo>
                  <a:pt x="84663" y="0"/>
                </a:moveTo>
                <a:lnTo>
                  <a:pt x="6265337" y="0"/>
                </a:lnTo>
                <a:cubicBezTo>
                  <a:pt x="6312095" y="0"/>
                  <a:pt x="6350000" y="37905"/>
                  <a:pt x="6350000" y="84663"/>
                </a:cubicBezTo>
                <a:lnTo>
                  <a:pt x="6350000" y="931337"/>
                </a:lnTo>
                <a:cubicBezTo>
                  <a:pt x="6350000" y="978095"/>
                  <a:pt x="6312095" y="1016000"/>
                  <a:pt x="6265337" y="1016000"/>
                </a:cubicBezTo>
                <a:lnTo>
                  <a:pt x="84663" y="1016000"/>
                </a:lnTo>
                <a:cubicBezTo>
                  <a:pt x="37905" y="1016000"/>
                  <a:pt x="0" y="978095"/>
                  <a:pt x="0" y="9313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6667" y="683683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04333" y="6836833"/>
            <a:ext cx="423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12333" y="6858000"/>
            <a:ext cx="772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suspect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6667" y="7260167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怀疑节点失败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，需要通过多轮 Gossip 或间接探测进一步确认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7333" y="7810500"/>
            <a:ext cx="6350000" cy="1016000"/>
          </a:xfrm>
          <a:custGeom>
            <a:avLst/>
            <a:gdLst/>
            <a:ahLst/>
            <a:cxnLst/>
            <a:rect l="l" t="t" r="r" b="b"/>
            <a:pathLst>
              <a:path w="6350000" h="1016000">
                <a:moveTo>
                  <a:pt x="84663" y="0"/>
                </a:moveTo>
                <a:lnTo>
                  <a:pt x="6265337" y="0"/>
                </a:lnTo>
                <a:cubicBezTo>
                  <a:pt x="6312095" y="0"/>
                  <a:pt x="6350000" y="37905"/>
                  <a:pt x="6350000" y="84663"/>
                </a:cubicBezTo>
                <a:lnTo>
                  <a:pt x="6350000" y="931337"/>
                </a:lnTo>
                <a:cubicBezTo>
                  <a:pt x="6350000" y="978095"/>
                  <a:pt x="6312095" y="1016000"/>
                  <a:pt x="6265337" y="1016000"/>
                </a:cubicBezTo>
                <a:lnTo>
                  <a:pt x="84663" y="1016000"/>
                </a:lnTo>
                <a:cubicBezTo>
                  <a:pt x="37905" y="1016000"/>
                  <a:pt x="0" y="978095"/>
                  <a:pt x="0" y="9313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6667" y="797983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8899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04333" y="7979833"/>
            <a:ext cx="423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12333" y="8001000"/>
            <a:ext cx="529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6667" y="8403167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在足够多的节点视图中被标记为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，可从成员列表中清理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18383" y="1143000"/>
            <a:ext cx="8318500" cy="3429000"/>
          </a:xfrm>
          <a:custGeom>
            <a:avLst/>
            <a:gdLst/>
            <a:ahLst/>
            <a:cxnLst/>
            <a:rect l="l" t="t" r="r" b="b"/>
            <a:pathLst>
              <a:path w="8318500" h="3429000">
                <a:moveTo>
                  <a:pt x="42333" y="0"/>
                </a:moveTo>
                <a:lnTo>
                  <a:pt x="8233838" y="0"/>
                </a:lnTo>
                <a:cubicBezTo>
                  <a:pt x="8280596" y="0"/>
                  <a:pt x="8318500" y="37904"/>
                  <a:pt x="8318500" y="84662"/>
                </a:cubicBezTo>
                <a:lnTo>
                  <a:pt x="8318500" y="3344338"/>
                </a:lnTo>
                <a:cubicBezTo>
                  <a:pt x="8318500" y="3391096"/>
                  <a:pt x="8280596" y="3429000"/>
                  <a:pt x="8233838" y="3429000"/>
                </a:cubicBezTo>
                <a:lnTo>
                  <a:pt x="42333" y="3429000"/>
                </a:lnTo>
                <a:cubicBezTo>
                  <a:pt x="18953" y="3429000"/>
                  <a:pt x="0" y="3410047"/>
                  <a:pt x="0" y="3386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518383" y="1143000"/>
            <a:ext cx="42333" cy="3429000"/>
          </a:xfrm>
          <a:custGeom>
            <a:avLst/>
            <a:gdLst/>
            <a:ahLst/>
            <a:cxnLst/>
            <a:rect l="l" t="t" r="r" b="b"/>
            <a:pathLst>
              <a:path w="42333" h="3429000">
                <a:moveTo>
                  <a:pt x="42333" y="0"/>
                </a:moveTo>
                <a:lnTo>
                  <a:pt x="42333" y="0"/>
                </a:lnTo>
                <a:lnTo>
                  <a:pt x="42333" y="3429000"/>
                </a:lnTo>
                <a:lnTo>
                  <a:pt x="42333" y="3429000"/>
                </a:lnTo>
                <a:cubicBezTo>
                  <a:pt x="18953" y="3429000"/>
                  <a:pt x="0" y="3410047"/>
                  <a:pt x="0" y="3386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698300" y="1354667"/>
            <a:ext cx="7979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状态机转换关系</a:t>
            </a:r>
            <a:endParaRPr lang="en-US" sz="16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7742" b="17742"/>
          <a:stretch/>
        </p:blipFill>
        <p:spPr>
          <a:xfrm>
            <a:off x="7751217" y="1778000"/>
            <a:ext cx="7874000" cy="1693333"/>
          </a:xfrm>
          <a:prstGeom prst="roundRect">
            <a:avLst>
              <a:gd name="adj" fmla="val 0"/>
            </a:avLst>
          </a:prstGeom>
        </p:spPr>
      </p:pic>
      <p:sp>
        <p:nvSpPr>
          <p:cNvPr id="38" name="Shape 35"/>
          <p:cNvSpPr/>
          <p:nvPr/>
        </p:nvSpPr>
        <p:spPr>
          <a:xfrm>
            <a:off x="7751217" y="3598333"/>
            <a:ext cx="3873500" cy="762000"/>
          </a:xfrm>
          <a:custGeom>
            <a:avLst/>
            <a:gdLst/>
            <a:ahLst/>
            <a:cxnLst/>
            <a:rect l="l" t="t" r="r" b="b"/>
            <a:pathLst>
              <a:path w="3873500" h="762000">
                <a:moveTo>
                  <a:pt x="42337" y="0"/>
                </a:moveTo>
                <a:lnTo>
                  <a:pt x="3831163" y="0"/>
                </a:lnTo>
                <a:cubicBezTo>
                  <a:pt x="3854545" y="0"/>
                  <a:pt x="3873500" y="18955"/>
                  <a:pt x="3873500" y="42337"/>
                </a:cubicBezTo>
                <a:lnTo>
                  <a:pt x="3873500" y="719663"/>
                </a:lnTo>
                <a:cubicBezTo>
                  <a:pt x="3873500" y="743045"/>
                  <a:pt x="3854545" y="762000"/>
                  <a:pt x="3831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7878217" y="3725333"/>
            <a:ext cx="3704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alive → suspect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878217" y="4021667"/>
            <a:ext cx="3693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局部观测到心跳超时，触发可疑状态转换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1749567" y="3598333"/>
            <a:ext cx="3873500" cy="762000"/>
          </a:xfrm>
          <a:custGeom>
            <a:avLst/>
            <a:gdLst/>
            <a:ahLst/>
            <a:cxnLst/>
            <a:rect l="l" t="t" r="r" b="b"/>
            <a:pathLst>
              <a:path w="3873500" h="762000">
                <a:moveTo>
                  <a:pt x="42337" y="0"/>
                </a:moveTo>
                <a:lnTo>
                  <a:pt x="3831163" y="0"/>
                </a:lnTo>
                <a:cubicBezTo>
                  <a:pt x="3854545" y="0"/>
                  <a:pt x="3873500" y="18955"/>
                  <a:pt x="3873500" y="42337"/>
                </a:cubicBezTo>
                <a:lnTo>
                  <a:pt x="3873500" y="719663"/>
                </a:lnTo>
                <a:cubicBezTo>
                  <a:pt x="3873500" y="743045"/>
                  <a:pt x="3854545" y="762000"/>
                  <a:pt x="3831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11876567" y="3725333"/>
            <a:ext cx="3704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suspect → dead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876567" y="4021667"/>
            <a:ext cx="3693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多个节点在足够长时间内都认为其不可达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518383" y="4741333"/>
            <a:ext cx="8318500" cy="4261990"/>
          </a:xfrm>
          <a:custGeom>
            <a:avLst/>
            <a:gdLst/>
            <a:ahLst/>
            <a:cxnLst/>
            <a:rect l="l" t="t" r="r" b="b"/>
            <a:pathLst>
              <a:path w="8318500" h="5683250">
                <a:moveTo>
                  <a:pt x="42333" y="0"/>
                </a:moveTo>
                <a:lnTo>
                  <a:pt x="8233820" y="0"/>
                </a:lnTo>
                <a:cubicBezTo>
                  <a:pt x="8280587" y="0"/>
                  <a:pt x="8318500" y="37913"/>
                  <a:pt x="8318500" y="84680"/>
                </a:cubicBezTo>
                <a:lnTo>
                  <a:pt x="8318500" y="5598570"/>
                </a:lnTo>
                <a:cubicBezTo>
                  <a:pt x="8318500" y="5645337"/>
                  <a:pt x="8280587" y="5683250"/>
                  <a:pt x="8233820" y="5683250"/>
                </a:cubicBezTo>
                <a:lnTo>
                  <a:pt x="42333" y="5683250"/>
                </a:lnTo>
                <a:cubicBezTo>
                  <a:pt x="18953" y="5683250"/>
                  <a:pt x="0" y="5664297"/>
                  <a:pt x="0" y="5640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2"/>
          <p:cNvSpPr/>
          <p:nvPr/>
        </p:nvSpPr>
        <p:spPr>
          <a:xfrm>
            <a:off x="7518383" y="4741333"/>
            <a:ext cx="42333" cy="4248000"/>
          </a:xfrm>
          <a:custGeom>
            <a:avLst/>
            <a:gdLst/>
            <a:ahLst/>
            <a:cxnLst/>
            <a:rect l="l" t="t" r="r" b="b"/>
            <a:pathLst>
              <a:path w="42333" h="5683250">
                <a:moveTo>
                  <a:pt x="42333" y="0"/>
                </a:moveTo>
                <a:lnTo>
                  <a:pt x="42333" y="0"/>
                </a:lnTo>
                <a:lnTo>
                  <a:pt x="42333" y="5683250"/>
                </a:lnTo>
                <a:lnTo>
                  <a:pt x="42333" y="5683250"/>
                </a:lnTo>
                <a:cubicBezTo>
                  <a:pt x="18953" y="5683250"/>
                  <a:pt x="0" y="5664297"/>
                  <a:pt x="0" y="5640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3"/>
          <p:cNvSpPr/>
          <p:nvPr/>
        </p:nvSpPr>
        <p:spPr>
          <a:xfrm>
            <a:off x="7782967" y="4974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8195717" y="4953000"/>
            <a:ext cx="783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设计优势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751217" y="5418667"/>
            <a:ext cx="7874000" cy="889000"/>
          </a:xfrm>
          <a:custGeom>
            <a:avLst/>
            <a:gdLst/>
            <a:ahLst/>
            <a:cxnLst/>
            <a:rect l="l" t="t" r="r" b="b"/>
            <a:pathLst>
              <a:path w="7874000" h="889000">
                <a:moveTo>
                  <a:pt x="84668" y="0"/>
                </a:moveTo>
                <a:lnTo>
                  <a:pt x="7789332" y="0"/>
                </a:lnTo>
                <a:cubicBezTo>
                  <a:pt x="7836093" y="0"/>
                  <a:pt x="7874000" y="37907"/>
                  <a:pt x="7874000" y="84668"/>
                </a:cubicBezTo>
                <a:lnTo>
                  <a:pt x="7874000" y="804332"/>
                </a:lnTo>
                <a:cubicBezTo>
                  <a:pt x="7874000" y="851093"/>
                  <a:pt x="7836093" y="889000"/>
                  <a:pt x="778933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7920550" y="5588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降低误判率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920550" y="5884333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通过引入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多级状态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以及"由多个节点共同观察"的机制，系统可以显著降低误判率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751217" y="6434667"/>
            <a:ext cx="7874000" cy="889000"/>
          </a:xfrm>
          <a:custGeom>
            <a:avLst/>
            <a:gdLst/>
            <a:ahLst/>
            <a:cxnLst/>
            <a:rect l="l" t="t" r="r" b="b"/>
            <a:pathLst>
              <a:path w="7874000" h="889000">
                <a:moveTo>
                  <a:pt x="84668" y="0"/>
                </a:moveTo>
                <a:lnTo>
                  <a:pt x="7789332" y="0"/>
                </a:lnTo>
                <a:cubicBezTo>
                  <a:pt x="7836093" y="0"/>
                  <a:pt x="7874000" y="37907"/>
                  <a:pt x="7874000" y="84668"/>
                </a:cubicBezTo>
                <a:lnTo>
                  <a:pt x="7874000" y="804332"/>
                </a:lnTo>
                <a:cubicBezTo>
                  <a:pt x="7874000" y="851093"/>
                  <a:pt x="7836093" y="889000"/>
                  <a:pt x="778933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7920550" y="6604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提高鲁棒性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920550" y="6900333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对网络抖动和短暂分区更具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鲁棒性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，避免因临时网络问题触发不必要的故障处理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751217" y="7450667"/>
            <a:ext cx="7874000" cy="1143000"/>
          </a:xfrm>
          <a:custGeom>
            <a:avLst/>
            <a:gdLst/>
            <a:ahLst/>
            <a:cxnLst/>
            <a:rect l="l" t="t" r="r" b="b"/>
            <a:pathLst>
              <a:path w="7874000" h="1143000">
                <a:moveTo>
                  <a:pt x="84662" y="0"/>
                </a:moveTo>
                <a:lnTo>
                  <a:pt x="7789338" y="0"/>
                </a:lnTo>
                <a:cubicBezTo>
                  <a:pt x="7836096" y="0"/>
                  <a:pt x="7874000" y="37904"/>
                  <a:pt x="7874000" y="84662"/>
                </a:cubicBezTo>
                <a:lnTo>
                  <a:pt x="7874000" y="1058338"/>
                </a:lnTo>
                <a:cubicBezTo>
                  <a:pt x="7874000" y="1105096"/>
                  <a:pt x="7836096" y="1143000"/>
                  <a:pt x="7789338" y="1143000"/>
                </a:cubicBezTo>
                <a:lnTo>
                  <a:pt x="84662" y="1143000"/>
                </a:lnTo>
                <a:cubicBezTo>
                  <a:pt x="37904" y="1143000"/>
                  <a:pt x="0" y="1105096"/>
                  <a:pt x="0" y="1058338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2"/>
          <p:cNvSpPr/>
          <p:nvPr/>
        </p:nvSpPr>
        <p:spPr>
          <a:xfrm>
            <a:off x="7920550" y="762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统一健康信号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920550" y="7916333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将"何时认为节点失败"的逻辑下沉到 Gossip 层，为上层负载均衡、任务调度和副本迁移提供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统一的健康信号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527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SWIM 协议：可扩展的成员管理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320800"/>
            <a:ext cx="7493000" cy="4978400"/>
          </a:xfrm>
          <a:custGeom>
            <a:avLst/>
            <a:gdLst/>
            <a:ahLst/>
            <a:cxnLst/>
            <a:rect l="l" t="t" r="r" b="b"/>
            <a:pathLst>
              <a:path w="7493000" h="4978400">
                <a:moveTo>
                  <a:pt x="50800" y="0"/>
                </a:moveTo>
                <a:lnTo>
                  <a:pt x="7391391" y="0"/>
                </a:lnTo>
                <a:cubicBezTo>
                  <a:pt x="7447508" y="0"/>
                  <a:pt x="7493000" y="45492"/>
                  <a:pt x="7493000" y="101609"/>
                </a:cubicBezTo>
                <a:lnTo>
                  <a:pt x="7493000" y="4876791"/>
                </a:lnTo>
                <a:cubicBezTo>
                  <a:pt x="7493000" y="4932908"/>
                  <a:pt x="7447508" y="4978400"/>
                  <a:pt x="7391391" y="4978400"/>
                </a:cubicBezTo>
                <a:lnTo>
                  <a:pt x="50800" y="4978400"/>
                </a:lnTo>
                <a:cubicBezTo>
                  <a:pt x="22744" y="4978400"/>
                  <a:pt x="0" y="4955656"/>
                  <a:pt x="0" y="492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320800"/>
            <a:ext cx="50800" cy="4978400"/>
          </a:xfrm>
          <a:custGeom>
            <a:avLst/>
            <a:gdLst/>
            <a:ahLst/>
            <a:cxnLst/>
            <a:rect l="l" t="t" r="r" b="b"/>
            <a:pathLst>
              <a:path w="50800" h="4978400">
                <a:moveTo>
                  <a:pt x="50800" y="0"/>
                </a:moveTo>
                <a:lnTo>
                  <a:pt x="50800" y="0"/>
                </a:lnTo>
                <a:lnTo>
                  <a:pt x="50800" y="4978400"/>
                </a:lnTo>
                <a:lnTo>
                  <a:pt x="50800" y="4978400"/>
                </a:lnTo>
                <a:cubicBezTo>
                  <a:pt x="22763" y="4978400"/>
                  <a:pt x="0" y="4955637"/>
                  <a:pt x="0" y="492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81050" y="1549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95400" y="15240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SWIM 核心改进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320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SWIM 协议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是工业界广泛应用的一种 Gossip 式成员管理协议。与传统基于心跳的方案相比，SWIM 做了几项重要改进：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44800"/>
            <a:ext cx="7061200" cy="1016000"/>
          </a:xfrm>
          <a:custGeom>
            <a:avLst/>
            <a:gdLst/>
            <a:ahLst/>
            <a:cxnLst/>
            <a:rect l="l" t="t" r="r" b="b"/>
            <a:pathLst>
              <a:path w="7061200" h="10160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914400"/>
                </a:lnTo>
                <a:cubicBezTo>
                  <a:pt x="7061200" y="970475"/>
                  <a:pt x="7015675" y="1016000"/>
                  <a:pt x="6959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14400" y="299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9950" y="29972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73200" y="30480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严格网络开销控制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4544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随机选择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的探测目标与固定探测周期，严格控制网络开销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962400"/>
            <a:ext cx="7061200" cy="1016000"/>
          </a:xfrm>
          <a:custGeom>
            <a:avLst/>
            <a:gdLst/>
            <a:ahLst/>
            <a:cxnLst/>
            <a:rect l="l" t="t" r="r" b="b"/>
            <a:pathLst>
              <a:path w="7061200" h="10160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914400"/>
                </a:lnTo>
                <a:cubicBezTo>
                  <a:pt x="7061200" y="970475"/>
                  <a:pt x="7015675" y="1016000"/>
                  <a:pt x="6959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69950" y="41148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73200" y="41656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故障检测与更新分离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成员视图更新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分离，实现更好的可扩展性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080000"/>
            <a:ext cx="7061200" cy="1016000"/>
          </a:xfrm>
          <a:custGeom>
            <a:avLst/>
            <a:gdLst/>
            <a:ahLst/>
            <a:cxnLst/>
            <a:rect l="l" t="t" r="r" b="b"/>
            <a:pathLst>
              <a:path w="7061200" h="10160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914400"/>
                </a:lnTo>
                <a:cubicBezTo>
                  <a:pt x="7061200" y="970475"/>
                  <a:pt x="7015675" y="1016000"/>
                  <a:pt x="6959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523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69950" y="52324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73200" y="52832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间接探测机制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6896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间接探测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降低误判率：当直接探测失败时，请其他节点代为探测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" y="6502400"/>
            <a:ext cx="7493000" cy="2336800"/>
          </a:xfrm>
          <a:custGeom>
            <a:avLst/>
            <a:gdLst/>
            <a:ahLst/>
            <a:cxnLst/>
            <a:rect l="l" t="t" r="r" b="b"/>
            <a:pathLst>
              <a:path w="7493000" h="2336800">
                <a:moveTo>
                  <a:pt x="50800" y="0"/>
                </a:moveTo>
                <a:lnTo>
                  <a:pt x="7391396" y="0"/>
                </a:lnTo>
                <a:cubicBezTo>
                  <a:pt x="7447510" y="0"/>
                  <a:pt x="7493000" y="45490"/>
                  <a:pt x="7493000" y="101604"/>
                </a:cubicBezTo>
                <a:lnTo>
                  <a:pt x="7493000" y="2235196"/>
                </a:lnTo>
                <a:cubicBezTo>
                  <a:pt x="7493000" y="2291310"/>
                  <a:pt x="7447510" y="2336800"/>
                  <a:pt x="7391396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33400" y="65024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62000" y="67056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7264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44476" y="7213600"/>
            <a:ext cx="6883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在网络条件复杂的大规模集群中，能够在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控制带宽开销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的同时，提供相对稳定的故障检测质量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7400" y="797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85850" y="7924800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区分"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单向网络问题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"和"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目标节点真实故障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"，显著降低误判率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7400" y="8382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85850" y="83312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成为许多现代系统中成员管理模块的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事实标准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5000" y="1320800"/>
            <a:ext cx="7493000" cy="7823200"/>
          </a:xfrm>
          <a:custGeom>
            <a:avLst/>
            <a:gdLst/>
            <a:ahLst/>
            <a:cxnLst/>
            <a:rect l="l" t="t" r="r" b="b"/>
            <a:pathLst>
              <a:path w="7493000" h="7823200">
                <a:moveTo>
                  <a:pt x="50800" y="0"/>
                </a:moveTo>
                <a:lnTo>
                  <a:pt x="7391395" y="0"/>
                </a:lnTo>
                <a:cubicBezTo>
                  <a:pt x="7447510" y="0"/>
                  <a:pt x="7493000" y="45490"/>
                  <a:pt x="7493000" y="101605"/>
                </a:cubicBezTo>
                <a:lnTo>
                  <a:pt x="7493000" y="7721595"/>
                </a:lnTo>
                <a:cubicBezTo>
                  <a:pt x="7493000" y="7777710"/>
                  <a:pt x="7447510" y="7823200"/>
                  <a:pt x="7391395" y="7823200"/>
                </a:cubicBezTo>
                <a:lnTo>
                  <a:pt x="50800" y="7823200"/>
                </a:lnTo>
                <a:cubicBezTo>
                  <a:pt x="22763" y="7823200"/>
                  <a:pt x="0" y="7800437"/>
                  <a:pt x="0" y="777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55000" y="1320800"/>
            <a:ext cx="50800" cy="7823200"/>
          </a:xfrm>
          <a:custGeom>
            <a:avLst/>
            <a:gdLst/>
            <a:ahLst/>
            <a:cxnLst/>
            <a:rect l="l" t="t" r="r" b="b"/>
            <a:pathLst>
              <a:path w="50800" h="7823200">
                <a:moveTo>
                  <a:pt x="50800" y="0"/>
                </a:moveTo>
                <a:lnTo>
                  <a:pt x="50800" y="0"/>
                </a:lnTo>
                <a:lnTo>
                  <a:pt x="50800" y="7823200"/>
                </a:lnTo>
                <a:lnTo>
                  <a:pt x="50800" y="7823200"/>
                </a:lnTo>
                <a:cubicBezTo>
                  <a:pt x="22763" y="7823200"/>
                  <a:pt x="0" y="7800437"/>
                  <a:pt x="0" y="777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420100" y="15240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SWIM 故障探测与状态传播流程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88400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996363" y="2171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439150" y="26416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45500" y="289560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探测者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804400" y="2533650"/>
            <a:ext cx="4419600" cy="12700"/>
          </a:xfrm>
          <a:custGeom>
            <a:avLst/>
            <a:gdLst/>
            <a:ahLst/>
            <a:cxnLst/>
            <a:rect l="l" t="t" r="r" b="b"/>
            <a:pathLst>
              <a:path w="4419600" h="12700">
                <a:moveTo>
                  <a:pt x="0" y="0"/>
                </a:moveTo>
                <a:lnTo>
                  <a:pt x="4419600" y="0"/>
                </a:lnTo>
                <a:lnTo>
                  <a:pt x="4419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963400" y="24828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4630400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4838363" y="2171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4281150" y="26416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4287500" y="289560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被测者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549955" y="3200400"/>
            <a:ext cx="927100" cy="355600"/>
          </a:xfrm>
          <a:custGeom>
            <a:avLst/>
            <a:gdLst/>
            <a:ahLst/>
            <a:cxnLst/>
            <a:rect l="l" t="t" r="r" b="b"/>
            <a:pathLst>
              <a:path w="927100" h="355600">
                <a:moveTo>
                  <a:pt x="50801" y="0"/>
                </a:moveTo>
                <a:lnTo>
                  <a:pt x="876299" y="0"/>
                </a:lnTo>
                <a:cubicBezTo>
                  <a:pt x="904356" y="0"/>
                  <a:pt x="927100" y="22744"/>
                  <a:pt x="927100" y="50801"/>
                </a:cubicBezTo>
                <a:lnTo>
                  <a:pt x="927100" y="304799"/>
                </a:lnTo>
                <a:cubicBezTo>
                  <a:pt x="927100" y="332856"/>
                  <a:pt x="904356" y="355600"/>
                  <a:pt x="8762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505505" y="3200400"/>
            <a:ext cx="1016000" cy="355600"/>
          </a:xfrm>
          <a:prstGeom prst="rect">
            <a:avLst/>
          </a:prstGeom>
          <a:noFill/>
          <a:ln/>
        </p:spPr>
        <p:txBody>
          <a:bodyPr wrap="square" lIns="203200" tIns="50800" rIns="2032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ping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45500" y="3657600"/>
            <a:ext cx="713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超时未收到 ack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788400" y="401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996363" y="4203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439150" y="46736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804400" y="4464050"/>
            <a:ext cx="4419600" cy="12700"/>
          </a:xfrm>
          <a:custGeom>
            <a:avLst/>
            <a:gdLst/>
            <a:ahLst/>
            <a:cxnLst/>
            <a:rect l="l" t="t" r="r" b="b"/>
            <a:pathLst>
              <a:path w="4419600" h="12700">
                <a:moveTo>
                  <a:pt x="0" y="0"/>
                </a:moveTo>
                <a:lnTo>
                  <a:pt x="4419600" y="0"/>
                </a:lnTo>
                <a:lnTo>
                  <a:pt x="4419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1963400" y="44132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4630400" y="391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87A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4795500" y="4102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8899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4281150" y="45720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中介节点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4287500" y="482600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C1..Ck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359158" y="5130800"/>
            <a:ext cx="1308100" cy="355600"/>
          </a:xfrm>
          <a:custGeom>
            <a:avLst/>
            <a:gdLst/>
            <a:ahLst/>
            <a:cxnLst/>
            <a:rect l="l" t="t" r="r" b="b"/>
            <a:pathLst>
              <a:path w="1308100" h="355600">
                <a:moveTo>
                  <a:pt x="50801" y="0"/>
                </a:moveTo>
                <a:lnTo>
                  <a:pt x="1257299" y="0"/>
                </a:lnTo>
                <a:cubicBezTo>
                  <a:pt x="1285356" y="0"/>
                  <a:pt x="1308100" y="22744"/>
                  <a:pt x="1308100" y="50801"/>
                </a:cubicBezTo>
                <a:lnTo>
                  <a:pt x="1308100" y="304799"/>
                </a:lnTo>
                <a:cubicBezTo>
                  <a:pt x="1308100" y="332856"/>
                  <a:pt x="1285356" y="355600"/>
                  <a:pt x="12572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314708" y="5130800"/>
            <a:ext cx="1397000" cy="355600"/>
          </a:xfrm>
          <a:prstGeom prst="rect">
            <a:avLst/>
          </a:prstGeom>
          <a:noFill/>
          <a:ln/>
        </p:spPr>
        <p:txBody>
          <a:bodyPr wrap="square" lIns="203200" tIns="50800" rIns="2032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ping-req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45500" y="5588000"/>
            <a:ext cx="713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请中介代为探测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804400" y="6292850"/>
            <a:ext cx="4419600" cy="12700"/>
          </a:xfrm>
          <a:custGeom>
            <a:avLst/>
            <a:gdLst/>
            <a:ahLst/>
            <a:cxnLst/>
            <a:rect l="l" t="t" r="r" b="b"/>
            <a:pathLst>
              <a:path w="4419600" h="12700">
                <a:moveTo>
                  <a:pt x="0" y="0"/>
                </a:moveTo>
                <a:lnTo>
                  <a:pt x="4419600" y="0"/>
                </a:lnTo>
                <a:lnTo>
                  <a:pt x="4419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8899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58500" y="62420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3068300" y="62420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899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4630400" y="584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4838363" y="6032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4281150" y="65024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329095" y="6858000"/>
            <a:ext cx="1371600" cy="355600"/>
          </a:xfrm>
          <a:custGeom>
            <a:avLst/>
            <a:gdLst/>
            <a:ahLst/>
            <a:cxnLst/>
            <a:rect l="l" t="t" r="r" b="b"/>
            <a:pathLst>
              <a:path w="1371600" h="355600">
                <a:moveTo>
                  <a:pt x="50801" y="0"/>
                </a:moveTo>
                <a:lnTo>
                  <a:pt x="1320799" y="0"/>
                </a:lnTo>
                <a:cubicBezTo>
                  <a:pt x="1348856" y="0"/>
                  <a:pt x="1371600" y="22744"/>
                  <a:pt x="1371600" y="50801"/>
                </a:cubicBezTo>
                <a:lnTo>
                  <a:pt x="1371600" y="304799"/>
                </a:lnTo>
                <a:cubicBezTo>
                  <a:pt x="1371600" y="332856"/>
                  <a:pt x="1348856" y="355600"/>
                  <a:pt x="1320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8899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1284645" y="6858000"/>
            <a:ext cx="1460500" cy="355600"/>
          </a:xfrm>
          <a:prstGeom prst="rect">
            <a:avLst/>
          </a:prstGeom>
          <a:noFill/>
          <a:ln/>
        </p:spPr>
        <p:txBody>
          <a:bodyPr wrap="square" lIns="203200" tIns="50800" rIns="2032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代发 ping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483600" y="7315200"/>
            <a:ext cx="3479800" cy="914400"/>
          </a:xfrm>
          <a:custGeom>
            <a:avLst/>
            <a:gdLst/>
            <a:ahLst/>
            <a:cxnLst/>
            <a:rect l="l" t="t" r="r" b="b"/>
            <a:pathLst>
              <a:path w="3479800" h="914400">
                <a:moveTo>
                  <a:pt x="50804" y="0"/>
                </a:moveTo>
                <a:lnTo>
                  <a:pt x="3428996" y="0"/>
                </a:lnTo>
                <a:cubicBezTo>
                  <a:pt x="3457054" y="0"/>
                  <a:pt x="3479800" y="22746"/>
                  <a:pt x="3479800" y="50804"/>
                </a:cubicBezTo>
                <a:lnTo>
                  <a:pt x="3479800" y="863596"/>
                </a:lnTo>
                <a:cubicBezTo>
                  <a:pt x="3479800" y="891654"/>
                  <a:pt x="3457054" y="914400"/>
                  <a:pt x="34289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8540750" y="74168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收到 ack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47100" y="7721600"/>
            <a:ext cx="335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认为 B 存活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转发结果给 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2065000" y="7315200"/>
            <a:ext cx="3479800" cy="914400"/>
          </a:xfrm>
          <a:custGeom>
            <a:avLst/>
            <a:gdLst/>
            <a:ahLst/>
            <a:cxnLst/>
            <a:rect l="l" t="t" r="r" b="b"/>
            <a:pathLst>
              <a:path w="3479800" h="914400">
                <a:moveTo>
                  <a:pt x="50804" y="0"/>
                </a:moveTo>
                <a:lnTo>
                  <a:pt x="3428996" y="0"/>
                </a:lnTo>
                <a:cubicBezTo>
                  <a:pt x="3457054" y="0"/>
                  <a:pt x="3479800" y="22746"/>
                  <a:pt x="3479800" y="50804"/>
                </a:cubicBezTo>
                <a:lnTo>
                  <a:pt x="3479800" y="863596"/>
                </a:lnTo>
                <a:cubicBezTo>
                  <a:pt x="3479800" y="891654"/>
                  <a:pt x="3457054" y="914400"/>
                  <a:pt x="34289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2122150" y="74168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未收到 ack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2128500" y="7721600"/>
            <a:ext cx="335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将 B 标记为 suspect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Gossip 传播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483600" y="8280400"/>
            <a:ext cx="7061200" cy="660400"/>
          </a:xfrm>
          <a:custGeom>
            <a:avLst/>
            <a:gdLst/>
            <a:ahLst/>
            <a:cxnLst/>
            <a:rect l="l" t="t" r="r" b="b"/>
            <a:pathLst>
              <a:path w="7061200" h="660400">
                <a:moveTo>
                  <a:pt x="50798" y="0"/>
                </a:moveTo>
                <a:lnTo>
                  <a:pt x="7010402" y="0"/>
                </a:lnTo>
                <a:cubicBezTo>
                  <a:pt x="7038457" y="0"/>
                  <a:pt x="7061200" y="22743"/>
                  <a:pt x="7061200" y="50798"/>
                </a:cubicBezTo>
                <a:lnTo>
                  <a:pt x="7061200" y="609602"/>
                </a:lnTo>
                <a:cubicBezTo>
                  <a:pt x="7061200" y="637657"/>
                  <a:pt x="7038457" y="660400"/>
                  <a:pt x="70104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8540750" y="83820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547100" y="86360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若长时间仍未有任何节点成功探测到 B，则 B 的状态从 suspect 升级为 dead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5041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Dynamo 风格系统中的 Gossip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320800"/>
            <a:ext cx="7493000" cy="5181600"/>
          </a:xfrm>
          <a:custGeom>
            <a:avLst/>
            <a:gdLst/>
            <a:ahLst/>
            <a:cxnLst/>
            <a:rect l="l" t="t" r="r" b="b"/>
            <a:pathLst>
              <a:path w="7493000" h="5181600">
                <a:moveTo>
                  <a:pt x="50800" y="0"/>
                </a:moveTo>
                <a:lnTo>
                  <a:pt x="7391389" y="0"/>
                </a:lnTo>
                <a:cubicBezTo>
                  <a:pt x="7447507" y="0"/>
                  <a:pt x="7493000" y="45493"/>
                  <a:pt x="7493000" y="101611"/>
                </a:cubicBezTo>
                <a:lnTo>
                  <a:pt x="7493000" y="5079989"/>
                </a:lnTo>
                <a:cubicBezTo>
                  <a:pt x="7493000" y="5136107"/>
                  <a:pt x="7447507" y="5181600"/>
                  <a:pt x="7391389" y="5181600"/>
                </a:cubicBezTo>
                <a:lnTo>
                  <a:pt x="50800" y="5181600"/>
                </a:lnTo>
                <a:cubicBezTo>
                  <a:pt x="22763" y="5181600"/>
                  <a:pt x="0" y="5158837"/>
                  <a:pt x="0" y="513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320800"/>
            <a:ext cx="50800" cy="5181600"/>
          </a:xfrm>
          <a:custGeom>
            <a:avLst/>
            <a:gdLst/>
            <a:ahLst/>
            <a:cxnLst/>
            <a:rect l="l" t="t" r="r" b="b"/>
            <a:pathLst>
              <a:path w="50800" h="5181600">
                <a:moveTo>
                  <a:pt x="50800" y="0"/>
                </a:moveTo>
                <a:lnTo>
                  <a:pt x="50800" y="0"/>
                </a:lnTo>
                <a:lnTo>
                  <a:pt x="50800" y="5181600"/>
                </a:lnTo>
                <a:lnTo>
                  <a:pt x="50800" y="5181600"/>
                </a:lnTo>
                <a:cubicBezTo>
                  <a:pt x="22763" y="5181600"/>
                  <a:pt x="0" y="5158837"/>
                  <a:pt x="0" y="513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549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07394" y="120848"/>
                </a:moveTo>
                <a:cubicBezTo>
                  <a:pt x="106978" y="134303"/>
                  <a:pt x="113705" y="140315"/>
                  <a:pt x="113883" y="144066"/>
                </a:cubicBezTo>
                <a:cubicBezTo>
                  <a:pt x="113824" y="144840"/>
                  <a:pt x="113526" y="145554"/>
                  <a:pt x="113109" y="146209"/>
                </a:cubicBezTo>
                <a:cubicBezTo>
                  <a:pt x="112693" y="146864"/>
                  <a:pt x="112097" y="147399"/>
                  <a:pt x="111442" y="147757"/>
                </a:cubicBezTo>
                <a:lnTo>
                  <a:pt x="103822" y="153114"/>
                </a:lnTo>
                <a:cubicBezTo>
                  <a:pt x="102810" y="153829"/>
                  <a:pt x="101679" y="154186"/>
                  <a:pt x="100489" y="154245"/>
                </a:cubicBezTo>
                <a:cubicBezTo>
                  <a:pt x="100251" y="154245"/>
                  <a:pt x="95607" y="155317"/>
                  <a:pt x="88285" y="139005"/>
                </a:cubicBezTo>
                <a:cubicBezTo>
                  <a:pt x="83820" y="144601"/>
                  <a:pt x="78165" y="149066"/>
                  <a:pt x="71676" y="152102"/>
                </a:cubicBezTo>
                <a:cubicBezTo>
                  <a:pt x="65187" y="155138"/>
                  <a:pt x="58162" y="156686"/>
                  <a:pt x="51018" y="156567"/>
                </a:cubicBezTo>
                <a:cubicBezTo>
                  <a:pt x="41315" y="157103"/>
                  <a:pt x="15061" y="151090"/>
                  <a:pt x="16431" y="123111"/>
                </a:cubicBezTo>
                <a:cubicBezTo>
                  <a:pt x="15478" y="100310"/>
                  <a:pt x="36731" y="86142"/>
                  <a:pt x="58638" y="87392"/>
                </a:cubicBezTo>
                <a:cubicBezTo>
                  <a:pt x="62865" y="87392"/>
                  <a:pt x="71497" y="87630"/>
                  <a:pt x="86618" y="91142"/>
                </a:cubicBezTo>
                <a:lnTo>
                  <a:pt x="86618" y="81855"/>
                </a:lnTo>
                <a:cubicBezTo>
                  <a:pt x="88225" y="66080"/>
                  <a:pt x="77867" y="53876"/>
                  <a:pt x="59948" y="55721"/>
                </a:cubicBezTo>
                <a:cubicBezTo>
                  <a:pt x="58519" y="55721"/>
                  <a:pt x="48399" y="55424"/>
                  <a:pt x="32683" y="61734"/>
                </a:cubicBezTo>
                <a:cubicBezTo>
                  <a:pt x="28277" y="63758"/>
                  <a:pt x="27742" y="63401"/>
                  <a:pt x="26253" y="63401"/>
                </a:cubicBezTo>
                <a:cubicBezTo>
                  <a:pt x="21848" y="63401"/>
                  <a:pt x="23634" y="50602"/>
                  <a:pt x="24527" y="48994"/>
                </a:cubicBezTo>
                <a:cubicBezTo>
                  <a:pt x="27622" y="45184"/>
                  <a:pt x="45899" y="38040"/>
                  <a:pt x="63758" y="38160"/>
                </a:cubicBezTo>
                <a:cubicBezTo>
                  <a:pt x="75724" y="37088"/>
                  <a:pt x="87630" y="40779"/>
                  <a:pt x="96917" y="48458"/>
                </a:cubicBezTo>
                <a:cubicBezTo>
                  <a:pt x="100667" y="52685"/>
                  <a:pt x="103584" y="57626"/>
                  <a:pt x="105370" y="62984"/>
                </a:cubicBezTo>
                <a:cubicBezTo>
                  <a:pt x="107156" y="68342"/>
                  <a:pt x="107871" y="73997"/>
                  <a:pt x="107454" y="79653"/>
                </a:cubicBezTo>
                <a:lnTo>
                  <a:pt x="107454" y="120908"/>
                </a:lnTo>
                <a:close/>
                <a:moveTo>
                  <a:pt x="55959" y="140137"/>
                </a:moveTo>
                <a:cubicBezTo>
                  <a:pt x="75248" y="139839"/>
                  <a:pt x="83463" y="128230"/>
                  <a:pt x="85308" y="121980"/>
                </a:cubicBezTo>
                <a:cubicBezTo>
                  <a:pt x="86797" y="115967"/>
                  <a:pt x="86558" y="112216"/>
                  <a:pt x="86558" y="105668"/>
                </a:cubicBezTo>
                <a:cubicBezTo>
                  <a:pt x="80784" y="104299"/>
                  <a:pt x="72509" y="102751"/>
                  <a:pt x="62984" y="102751"/>
                </a:cubicBezTo>
                <a:cubicBezTo>
                  <a:pt x="53935" y="102096"/>
                  <a:pt x="37505" y="106085"/>
                  <a:pt x="38160" y="121980"/>
                </a:cubicBezTo>
                <a:cubicBezTo>
                  <a:pt x="37445" y="131981"/>
                  <a:pt x="44768" y="140672"/>
                  <a:pt x="56019" y="140137"/>
                </a:cubicBezTo>
                <a:close/>
                <a:moveTo>
                  <a:pt x="157698" y="153888"/>
                </a:moveTo>
                <a:cubicBezTo>
                  <a:pt x="152995" y="154305"/>
                  <a:pt x="150852" y="150971"/>
                  <a:pt x="150138" y="147697"/>
                </a:cubicBezTo>
                <a:lnTo>
                  <a:pt x="120491" y="49649"/>
                </a:lnTo>
                <a:cubicBezTo>
                  <a:pt x="119896" y="47982"/>
                  <a:pt x="119539" y="46315"/>
                  <a:pt x="119360" y="44529"/>
                </a:cubicBezTo>
                <a:cubicBezTo>
                  <a:pt x="119241" y="43815"/>
                  <a:pt x="119420" y="43101"/>
                  <a:pt x="119836" y="42505"/>
                </a:cubicBezTo>
                <a:cubicBezTo>
                  <a:pt x="120253" y="41910"/>
                  <a:pt x="120908" y="41553"/>
                  <a:pt x="121622" y="41434"/>
                </a:cubicBezTo>
                <a:cubicBezTo>
                  <a:pt x="121741" y="41434"/>
                  <a:pt x="120372" y="41434"/>
                  <a:pt x="134838" y="41434"/>
                </a:cubicBezTo>
                <a:cubicBezTo>
                  <a:pt x="140077" y="40898"/>
                  <a:pt x="141744" y="45006"/>
                  <a:pt x="142339" y="47625"/>
                </a:cubicBezTo>
                <a:lnTo>
                  <a:pt x="163651" y="131445"/>
                </a:lnTo>
                <a:lnTo>
                  <a:pt x="183416" y="47625"/>
                </a:lnTo>
                <a:cubicBezTo>
                  <a:pt x="183713" y="45720"/>
                  <a:pt x="185142" y="41017"/>
                  <a:pt x="191036" y="41553"/>
                </a:cubicBezTo>
                <a:lnTo>
                  <a:pt x="201275" y="41553"/>
                </a:lnTo>
                <a:cubicBezTo>
                  <a:pt x="202585" y="41434"/>
                  <a:pt x="207883" y="41255"/>
                  <a:pt x="208836" y="47744"/>
                </a:cubicBezTo>
                <a:lnTo>
                  <a:pt x="228660" y="132576"/>
                </a:lnTo>
                <a:lnTo>
                  <a:pt x="250627" y="47685"/>
                </a:lnTo>
                <a:cubicBezTo>
                  <a:pt x="250924" y="46375"/>
                  <a:pt x="252234" y="40898"/>
                  <a:pt x="258187" y="41493"/>
                </a:cubicBezTo>
                <a:lnTo>
                  <a:pt x="269915" y="41493"/>
                </a:lnTo>
                <a:cubicBezTo>
                  <a:pt x="270450" y="41434"/>
                  <a:pt x="273606" y="41017"/>
                  <a:pt x="273070" y="46613"/>
                </a:cubicBezTo>
                <a:cubicBezTo>
                  <a:pt x="272832" y="47685"/>
                  <a:pt x="275094" y="40243"/>
                  <a:pt x="241637" y="147757"/>
                </a:cubicBezTo>
                <a:cubicBezTo>
                  <a:pt x="240983" y="151031"/>
                  <a:pt x="238780" y="154365"/>
                  <a:pt x="234077" y="153948"/>
                </a:cubicBezTo>
                <a:lnTo>
                  <a:pt x="222945" y="153948"/>
                </a:lnTo>
                <a:cubicBezTo>
                  <a:pt x="216456" y="154662"/>
                  <a:pt x="215503" y="148173"/>
                  <a:pt x="215384" y="147578"/>
                </a:cubicBezTo>
                <a:lnTo>
                  <a:pt x="195620" y="65961"/>
                </a:lnTo>
                <a:lnTo>
                  <a:pt x="176093" y="147518"/>
                </a:lnTo>
                <a:cubicBezTo>
                  <a:pt x="175974" y="148173"/>
                  <a:pt x="175081" y="154603"/>
                  <a:pt x="168533" y="153888"/>
                </a:cubicBezTo>
                <a:lnTo>
                  <a:pt x="157639" y="153888"/>
                </a:lnTo>
                <a:lnTo>
                  <a:pt x="157639" y="153888"/>
                </a:lnTo>
                <a:close/>
                <a:moveTo>
                  <a:pt x="320516" y="157222"/>
                </a:moveTo>
                <a:cubicBezTo>
                  <a:pt x="317004" y="157222"/>
                  <a:pt x="300335" y="157043"/>
                  <a:pt x="286345" y="149900"/>
                </a:cubicBezTo>
                <a:cubicBezTo>
                  <a:pt x="284976" y="149304"/>
                  <a:pt x="283785" y="148352"/>
                  <a:pt x="282952" y="147042"/>
                </a:cubicBezTo>
                <a:cubicBezTo>
                  <a:pt x="282119" y="145733"/>
                  <a:pt x="281702" y="144304"/>
                  <a:pt x="281702" y="142815"/>
                </a:cubicBezTo>
                <a:lnTo>
                  <a:pt x="281702" y="136446"/>
                </a:lnTo>
                <a:cubicBezTo>
                  <a:pt x="281702" y="131385"/>
                  <a:pt x="285393" y="132338"/>
                  <a:pt x="286941" y="132933"/>
                </a:cubicBezTo>
                <a:cubicBezTo>
                  <a:pt x="292894" y="135374"/>
                  <a:pt x="296763" y="137160"/>
                  <a:pt x="304086" y="138648"/>
                </a:cubicBezTo>
                <a:cubicBezTo>
                  <a:pt x="325934" y="143113"/>
                  <a:pt x="335518" y="137279"/>
                  <a:pt x="337840" y="135969"/>
                </a:cubicBezTo>
                <a:cubicBezTo>
                  <a:pt x="345698" y="131326"/>
                  <a:pt x="346293" y="120670"/>
                  <a:pt x="340995" y="115193"/>
                </a:cubicBezTo>
                <a:cubicBezTo>
                  <a:pt x="334744" y="109954"/>
                  <a:pt x="331768" y="109776"/>
                  <a:pt x="309384" y="102691"/>
                </a:cubicBezTo>
                <a:cubicBezTo>
                  <a:pt x="306645" y="101918"/>
                  <a:pt x="283369" y="94595"/>
                  <a:pt x="283309" y="71497"/>
                </a:cubicBezTo>
                <a:cubicBezTo>
                  <a:pt x="282952" y="54709"/>
                  <a:pt x="298192" y="38040"/>
                  <a:pt x="324683" y="38160"/>
                </a:cubicBezTo>
                <a:cubicBezTo>
                  <a:pt x="332244" y="38160"/>
                  <a:pt x="352306" y="40600"/>
                  <a:pt x="357783" y="47446"/>
                </a:cubicBezTo>
                <a:cubicBezTo>
                  <a:pt x="358616" y="48697"/>
                  <a:pt x="358973" y="50185"/>
                  <a:pt x="358914" y="51614"/>
                </a:cubicBezTo>
                <a:lnTo>
                  <a:pt x="358914" y="57626"/>
                </a:lnTo>
                <a:cubicBezTo>
                  <a:pt x="358914" y="60246"/>
                  <a:pt x="357961" y="61615"/>
                  <a:pt x="355997" y="61615"/>
                </a:cubicBezTo>
                <a:cubicBezTo>
                  <a:pt x="351413" y="61079"/>
                  <a:pt x="343257" y="54947"/>
                  <a:pt x="326707" y="55185"/>
                </a:cubicBezTo>
                <a:cubicBezTo>
                  <a:pt x="322600" y="54947"/>
                  <a:pt x="302955" y="55721"/>
                  <a:pt x="303847" y="70068"/>
                </a:cubicBezTo>
                <a:cubicBezTo>
                  <a:pt x="303609" y="81379"/>
                  <a:pt x="319683" y="85606"/>
                  <a:pt x="321528" y="86082"/>
                </a:cubicBezTo>
                <a:cubicBezTo>
                  <a:pt x="343257" y="92631"/>
                  <a:pt x="350460" y="93702"/>
                  <a:pt x="359092" y="103703"/>
                </a:cubicBezTo>
                <a:cubicBezTo>
                  <a:pt x="369272" y="116919"/>
                  <a:pt x="363795" y="132457"/>
                  <a:pt x="361652" y="136684"/>
                </a:cubicBezTo>
                <a:cubicBezTo>
                  <a:pt x="350282" y="159008"/>
                  <a:pt x="320933" y="157163"/>
                  <a:pt x="320397" y="157163"/>
                </a:cubicBezTo>
                <a:close/>
                <a:moveTo>
                  <a:pt x="344448" y="219670"/>
                </a:moveTo>
                <a:cubicBezTo>
                  <a:pt x="302776" y="250448"/>
                  <a:pt x="242233" y="266819"/>
                  <a:pt x="190560" y="266819"/>
                </a:cubicBezTo>
                <a:cubicBezTo>
                  <a:pt x="120848" y="267295"/>
                  <a:pt x="53459" y="241637"/>
                  <a:pt x="1667" y="194965"/>
                </a:cubicBezTo>
                <a:cubicBezTo>
                  <a:pt x="-2203" y="191453"/>
                  <a:pt x="1191" y="186630"/>
                  <a:pt x="5953" y="189309"/>
                </a:cubicBezTo>
                <a:cubicBezTo>
                  <a:pt x="63401" y="222171"/>
                  <a:pt x="128409" y="239435"/>
                  <a:pt x="194608" y="239375"/>
                </a:cubicBezTo>
                <a:cubicBezTo>
                  <a:pt x="244019" y="239137"/>
                  <a:pt x="292894" y="229076"/>
                  <a:pt x="338435" y="209907"/>
                </a:cubicBezTo>
                <a:cubicBezTo>
                  <a:pt x="345460" y="206931"/>
                  <a:pt x="351413" y="214551"/>
                  <a:pt x="344448" y="219670"/>
                </a:cubicBezTo>
                <a:close/>
                <a:moveTo>
                  <a:pt x="361831" y="199846"/>
                </a:moveTo>
                <a:cubicBezTo>
                  <a:pt x="356473" y="193000"/>
                  <a:pt x="326529" y="196632"/>
                  <a:pt x="313134" y="198239"/>
                </a:cubicBezTo>
                <a:cubicBezTo>
                  <a:pt x="309086" y="198715"/>
                  <a:pt x="308431" y="195203"/>
                  <a:pt x="312063" y="192584"/>
                </a:cubicBezTo>
                <a:cubicBezTo>
                  <a:pt x="335935" y="175796"/>
                  <a:pt x="375106" y="180618"/>
                  <a:pt x="379571" y="186273"/>
                </a:cubicBezTo>
                <a:cubicBezTo>
                  <a:pt x="384036" y="191929"/>
                  <a:pt x="378321" y="231160"/>
                  <a:pt x="355997" y="249912"/>
                </a:cubicBezTo>
                <a:cubicBezTo>
                  <a:pt x="352544" y="252829"/>
                  <a:pt x="349270" y="251281"/>
                  <a:pt x="350818" y="247471"/>
                </a:cubicBezTo>
                <a:cubicBezTo>
                  <a:pt x="355818" y="234791"/>
                  <a:pt x="367129" y="206692"/>
                  <a:pt x="361771" y="19984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95400" y="1524000"/>
            <a:ext cx="199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Dynamo 中的 Gossip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320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Amazon Dynamo 及其后续系统中广泛使用 Gossip 协议来传播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集群成员信息、分区映射以及版本向量信息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44800"/>
            <a:ext cx="7061200" cy="1168400"/>
          </a:xfrm>
          <a:custGeom>
            <a:avLst/>
            <a:gdLst/>
            <a:ahLst/>
            <a:cxnLst/>
            <a:rect l="l" t="t" r="r" b="b"/>
            <a:pathLst>
              <a:path w="7061200" h="1168400">
                <a:moveTo>
                  <a:pt x="101604" y="0"/>
                </a:moveTo>
                <a:lnTo>
                  <a:pt x="6959596" y="0"/>
                </a:lnTo>
                <a:cubicBezTo>
                  <a:pt x="7015710" y="0"/>
                  <a:pt x="7061200" y="45490"/>
                  <a:pt x="7061200" y="101604"/>
                </a:cubicBezTo>
                <a:lnTo>
                  <a:pt x="7061200" y="1066796"/>
                </a:lnTo>
                <a:cubicBezTo>
                  <a:pt x="7061200" y="1122910"/>
                  <a:pt x="7015710" y="1168400"/>
                  <a:pt x="6959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46150" y="303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52550" y="2997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352800"/>
            <a:ext cx="6845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将数据分布到多个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虚拟节点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上，再将虚拟节点映射到物理节点，减少节点增删时的数据迁移量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114800"/>
            <a:ext cx="7061200" cy="1168400"/>
          </a:xfrm>
          <a:custGeom>
            <a:avLst/>
            <a:gdLst/>
            <a:ahLst/>
            <a:cxnLst/>
            <a:rect l="l" t="t" r="r" b="b"/>
            <a:pathLst>
              <a:path w="7061200" h="1168400">
                <a:moveTo>
                  <a:pt x="101604" y="0"/>
                </a:moveTo>
                <a:lnTo>
                  <a:pt x="6959596" y="0"/>
                </a:lnTo>
                <a:cubicBezTo>
                  <a:pt x="7015710" y="0"/>
                  <a:pt x="7061200" y="45490"/>
                  <a:pt x="7061200" y="101604"/>
                </a:cubicBezTo>
                <a:lnTo>
                  <a:pt x="7061200" y="1066796"/>
                </a:lnTo>
                <a:cubicBezTo>
                  <a:pt x="7061200" y="1122910"/>
                  <a:pt x="7015710" y="1168400"/>
                  <a:pt x="6959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46150" y="430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1431"/>
                </a:moveTo>
                <a:cubicBezTo>
                  <a:pt x="228600" y="16475"/>
                  <a:pt x="226055" y="11876"/>
                  <a:pt x="221813" y="9287"/>
                </a:cubicBezTo>
                <a:cubicBezTo>
                  <a:pt x="217572" y="6697"/>
                  <a:pt x="212348" y="6429"/>
                  <a:pt x="207928" y="8662"/>
                </a:cubicBezTo>
                <a:lnTo>
                  <a:pt x="156046" y="34603"/>
                </a:lnTo>
                <a:lnTo>
                  <a:pt x="75947" y="7858"/>
                </a:lnTo>
                <a:cubicBezTo>
                  <a:pt x="72330" y="6653"/>
                  <a:pt x="68446" y="6921"/>
                  <a:pt x="65053" y="8617"/>
                </a:cubicBezTo>
                <a:lnTo>
                  <a:pt x="7903" y="37192"/>
                </a:lnTo>
                <a:cubicBezTo>
                  <a:pt x="3036" y="39648"/>
                  <a:pt x="0" y="44604"/>
                  <a:pt x="0" y="50006"/>
                </a:cubicBezTo>
                <a:lnTo>
                  <a:pt x="0" y="207169"/>
                </a:lnTo>
                <a:cubicBezTo>
                  <a:pt x="0" y="212125"/>
                  <a:pt x="2545" y="216724"/>
                  <a:pt x="6787" y="219313"/>
                </a:cubicBezTo>
                <a:cubicBezTo>
                  <a:pt x="11028" y="221903"/>
                  <a:pt x="16252" y="222171"/>
                  <a:pt x="20672" y="219938"/>
                </a:cubicBezTo>
                <a:lnTo>
                  <a:pt x="72509" y="193997"/>
                </a:lnTo>
                <a:lnTo>
                  <a:pt x="152608" y="220697"/>
                </a:lnTo>
                <a:cubicBezTo>
                  <a:pt x="156225" y="221903"/>
                  <a:pt x="160109" y="221635"/>
                  <a:pt x="163503" y="219938"/>
                </a:cubicBezTo>
                <a:lnTo>
                  <a:pt x="220653" y="191363"/>
                </a:lnTo>
                <a:cubicBezTo>
                  <a:pt x="225475" y="188952"/>
                  <a:pt x="228555" y="183996"/>
                  <a:pt x="228555" y="178594"/>
                </a:cubicBezTo>
                <a:lnTo>
                  <a:pt x="228555" y="21431"/>
                </a:lnTo>
                <a:close/>
                <a:moveTo>
                  <a:pt x="85725" y="168280"/>
                </a:moveTo>
                <a:lnTo>
                  <a:pt x="85725" y="41255"/>
                </a:lnTo>
                <a:lnTo>
                  <a:pt x="142875" y="60320"/>
                </a:lnTo>
                <a:lnTo>
                  <a:pt x="142875" y="187345"/>
                </a:lnTo>
                <a:lnTo>
                  <a:pt x="85725" y="16828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52550" y="42672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分区映射传播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622800"/>
            <a:ext cx="6845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Gossip 周期性地交换"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虚拟节点到物理节点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"的映射表，让每个节点都拥有近似一致的路由视图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384800"/>
            <a:ext cx="7061200" cy="914400"/>
          </a:xfrm>
          <a:custGeom>
            <a:avLst/>
            <a:gdLst/>
            <a:ahLst/>
            <a:cxnLst/>
            <a:rect l="l" t="t" r="r" b="b"/>
            <a:pathLst>
              <a:path w="7061200" h="914400">
                <a:moveTo>
                  <a:pt x="101599" y="0"/>
                </a:moveTo>
                <a:lnTo>
                  <a:pt x="6959601" y="0"/>
                </a:lnTo>
                <a:cubicBezTo>
                  <a:pt x="7015713" y="0"/>
                  <a:pt x="7061200" y="45487"/>
                  <a:pt x="7061200" y="101599"/>
                </a:cubicBezTo>
                <a:lnTo>
                  <a:pt x="7061200" y="812801"/>
                </a:lnTo>
                <a:cubicBezTo>
                  <a:pt x="7061200" y="868913"/>
                  <a:pt x="7015713" y="914400"/>
                  <a:pt x="6959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46150" y="557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352550" y="5537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向量时钟与反熵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8928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在副本之间通过 Gossip 交换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版本向量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和摘要信息，检测并解决并发写入和副本冲突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1320800"/>
            <a:ext cx="7493000" cy="5181600"/>
          </a:xfrm>
          <a:custGeom>
            <a:avLst/>
            <a:gdLst/>
            <a:ahLst/>
            <a:cxnLst/>
            <a:rect l="l" t="t" r="r" b="b"/>
            <a:pathLst>
              <a:path w="7493000" h="5181600">
                <a:moveTo>
                  <a:pt x="50800" y="0"/>
                </a:moveTo>
                <a:lnTo>
                  <a:pt x="7391389" y="0"/>
                </a:lnTo>
                <a:cubicBezTo>
                  <a:pt x="7447507" y="0"/>
                  <a:pt x="7493000" y="45493"/>
                  <a:pt x="7493000" y="101611"/>
                </a:cubicBezTo>
                <a:lnTo>
                  <a:pt x="7493000" y="5079989"/>
                </a:lnTo>
                <a:cubicBezTo>
                  <a:pt x="7493000" y="5136107"/>
                  <a:pt x="7447507" y="5181600"/>
                  <a:pt x="7391389" y="5181600"/>
                </a:cubicBezTo>
                <a:lnTo>
                  <a:pt x="50800" y="5181600"/>
                </a:lnTo>
                <a:cubicBezTo>
                  <a:pt x="22763" y="5181600"/>
                  <a:pt x="0" y="5158837"/>
                  <a:pt x="0" y="513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55000" y="1320800"/>
            <a:ext cx="50800" cy="5181600"/>
          </a:xfrm>
          <a:custGeom>
            <a:avLst/>
            <a:gdLst/>
            <a:ahLst/>
            <a:cxnLst/>
            <a:rect l="l" t="t" r="r" b="b"/>
            <a:pathLst>
              <a:path w="50800" h="5181600">
                <a:moveTo>
                  <a:pt x="50800" y="0"/>
                </a:moveTo>
                <a:lnTo>
                  <a:pt x="50800" y="0"/>
                </a:lnTo>
                <a:lnTo>
                  <a:pt x="50800" y="5181600"/>
                </a:lnTo>
                <a:lnTo>
                  <a:pt x="50800" y="5181600"/>
                </a:lnTo>
                <a:cubicBezTo>
                  <a:pt x="22763" y="5181600"/>
                  <a:pt x="0" y="5158837"/>
                  <a:pt x="0" y="513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83600" y="15240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配套机制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83600" y="2032000"/>
            <a:ext cx="7061200" cy="1270000"/>
          </a:xfrm>
          <a:custGeom>
            <a:avLst/>
            <a:gdLst/>
            <a:ahLst/>
            <a:cxnLst/>
            <a:rect l="l" t="t" r="r" b="b"/>
            <a:pathLst>
              <a:path w="7061200" h="12700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1168400"/>
                </a:lnTo>
                <a:cubicBezTo>
                  <a:pt x="7061200" y="1224475"/>
                  <a:pt x="7015675" y="1270000"/>
                  <a:pt x="69596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36000" y="2184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91550" y="21844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94800" y="2235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Hinted Handoff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6000" y="2641600"/>
            <a:ext cx="6845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节点临时代为存储其他节点的数据副本，在目标节点恢复后再通过 Gossip/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反熵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过程进行补齐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83600" y="3403600"/>
            <a:ext cx="7061200" cy="1016000"/>
          </a:xfrm>
          <a:custGeom>
            <a:avLst/>
            <a:gdLst/>
            <a:ahLst/>
            <a:cxnLst/>
            <a:rect l="l" t="t" r="r" b="b"/>
            <a:pathLst>
              <a:path w="7061200" h="10160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914400"/>
                </a:lnTo>
                <a:cubicBezTo>
                  <a:pt x="7061200" y="970475"/>
                  <a:pt x="7015675" y="1016000"/>
                  <a:pt x="6959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3600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91550" y="3556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94800" y="36068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Merkle Tree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36000" y="40132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用于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高效检测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副本之间的数据差异，仅同步发生不一致的键空间，避免全量数据比对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83600" y="4521200"/>
            <a:ext cx="7061200" cy="1270000"/>
          </a:xfrm>
          <a:custGeom>
            <a:avLst/>
            <a:gdLst/>
            <a:ahLst/>
            <a:cxnLst/>
            <a:rect l="l" t="t" r="r" b="b"/>
            <a:pathLst>
              <a:path w="7061200" h="12700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1168400"/>
                </a:lnTo>
                <a:cubicBezTo>
                  <a:pt x="7061200" y="1224475"/>
                  <a:pt x="7015675" y="1270000"/>
                  <a:pt x="69596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636000" y="467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91550" y="46736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94800" y="4724400"/>
            <a:ext cx="185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读写仲裁 (Quorum)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36000" y="5130800"/>
            <a:ext cx="6845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</a:t>
            </a: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R/W/N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参数在一致性和可用性之间进行权衡，使系统能够在部分副本不可用的情况下继续对外提供服务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8000" y="6705600"/>
            <a:ext cx="15240000" cy="2311400"/>
          </a:xfrm>
          <a:custGeom>
            <a:avLst/>
            <a:gdLst/>
            <a:ahLst/>
            <a:cxnLst/>
            <a:rect l="l" t="t" r="r" b="b"/>
            <a:pathLst>
              <a:path w="15240000" h="2311400">
                <a:moveTo>
                  <a:pt x="101609" y="0"/>
                </a:moveTo>
                <a:lnTo>
                  <a:pt x="15138391" y="0"/>
                </a:lnTo>
                <a:cubicBezTo>
                  <a:pt x="15194508" y="0"/>
                  <a:pt x="15240000" y="45492"/>
                  <a:pt x="15240000" y="101609"/>
                </a:cubicBezTo>
                <a:lnTo>
                  <a:pt x="15240000" y="2209791"/>
                </a:lnTo>
                <a:cubicBezTo>
                  <a:pt x="15240000" y="2265908"/>
                  <a:pt x="15194508" y="2311400"/>
                  <a:pt x="15138391" y="2311400"/>
                </a:cubicBezTo>
                <a:lnTo>
                  <a:pt x="101609" y="2311400"/>
                </a:lnTo>
                <a:cubicBezTo>
                  <a:pt x="45492" y="2311400"/>
                  <a:pt x="0" y="2265908"/>
                  <a:pt x="0" y="22097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49300" y="695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295400" y="6908800"/>
            <a:ext cx="143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系统协同工作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95400" y="7416800"/>
            <a:ext cx="143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Dynamo 风格系统中，Gossip 协议与多个关键机制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协同工作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，共同构建高可用、高扩展性的分布式存储系统：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95400" y="7899400"/>
            <a:ext cx="4610100" cy="914400"/>
          </a:xfrm>
          <a:custGeom>
            <a:avLst/>
            <a:gdLst/>
            <a:ahLst/>
            <a:cxnLst/>
            <a:rect l="l" t="t" r="r" b="b"/>
            <a:pathLst>
              <a:path w="4610100" h="914400">
                <a:moveTo>
                  <a:pt x="50804" y="0"/>
                </a:moveTo>
                <a:lnTo>
                  <a:pt x="4559296" y="0"/>
                </a:lnTo>
                <a:cubicBezTo>
                  <a:pt x="4587354" y="0"/>
                  <a:pt x="4610100" y="22746"/>
                  <a:pt x="4610100" y="50804"/>
                </a:cubicBezTo>
                <a:lnTo>
                  <a:pt x="4610100" y="863596"/>
                </a:lnTo>
                <a:cubicBezTo>
                  <a:pt x="4610100" y="891654"/>
                  <a:pt x="4587354" y="914400"/>
                  <a:pt x="45592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447800" y="8051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数据分布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447800" y="84074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决定数据在节点间的分布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12867" y="7899400"/>
            <a:ext cx="4610100" cy="914400"/>
          </a:xfrm>
          <a:custGeom>
            <a:avLst/>
            <a:gdLst/>
            <a:ahLst/>
            <a:cxnLst/>
            <a:rect l="l" t="t" r="r" b="b"/>
            <a:pathLst>
              <a:path w="4610100" h="914400">
                <a:moveTo>
                  <a:pt x="50804" y="0"/>
                </a:moveTo>
                <a:lnTo>
                  <a:pt x="4559296" y="0"/>
                </a:lnTo>
                <a:cubicBezTo>
                  <a:pt x="4587354" y="0"/>
                  <a:pt x="4610100" y="22746"/>
                  <a:pt x="4610100" y="50804"/>
                </a:cubicBezTo>
                <a:lnTo>
                  <a:pt x="4610100" y="863596"/>
                </a:lnTo>
                <a:cubicBezTo>
                  <a:pt x="4610100" y="891654"/>
                  <a:pt x="4587354" y="914400"/>
                  <a:pt x="45592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265267" y="8051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状态同步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65267" y="84074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+ 反熵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保证副本最终一致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930434" y="7899400"/>
            <a:ext cx="4610100" cy="914400"/>
          </a:xfrm>
          <a:custGeom>
            <a:avLst/>
            <a:gdLst/>
            <a:ahLst/>
            <a:cxnLst/>
            <a:rect l="l" t="t" r="r" b="b"/>
            <a:pathLst>
              <a:path w="4610100" h="914400">
                <a:moveTo>
                  <a:pt x="50804" y="0"/>
                </a:moveTo>
                <a:lnTo>
                  <a:pt x="4559296" y="0"/>
                </a:lnTo>
                <a:cubicBezTo>
                  <a:pt x="4587354" y="0"/>
                  <a:pt x="4610100" y="22746"/>
                  <a:pt x="4610100" y="50804"/>
                </a:cubicBezTo>
                <a:lnTo>
                  <a:pt x="4610100" y="863596"/>
                </a:lnTo>
                <a:cubicBezTo>
                  <a:pt x="4610100" y="891654"/>
                  <a:pt x="4587354" y="914400"/>
                  <a:pt x="45592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082834" y="8051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82834" y="84074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Hinted Handoff + Quorum</a:t>
            </a: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提高可用性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stuary.dev/ab84a6476bac71b6378c7d2d0b8a16e042810f3a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8854" b="1885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317750"/>
            <a:ext cx="2298700" cy="762000"/>
          </a:xfrm>
          <a:custGeom>
            <a:avLst/>
            <a:gdLst/>
            <a:ahLst/>
            <a:cxnLst/>
            <a:rect l="l" t="t" r="r" b="b"/>
            <a:pathLst>
              <a:path w="2298700" h="762000">
                <a:moveTo>
                  <a:pt x="101597" y="0"/>
                </a:moveTo>
                <a:lnTo>
                  <a:pt x="2197103" y="0"/>
                </a:lnTo>
                <a:cubicBezTo>
                  <a:pt x="2253213" y="0"/>
                  <a:pt x="2298700" y="45487"/>
                  <a:pt x="2298700" y="101597"/>
                </a:cubicBezTo>
                <a:lnTo>
                  <a:pt x="2298700" y="660403"/>
                </a:lnTo>
                <a:cubicBezTo>
                  <a:pt x="2298700" y="716513"/>
                  <a:pt x="2253213" y="762000"/>
                  <a:pt x="21971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12800" y="2470150"/>
            <a:ext cx="187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384550"/>
            <a:ext cx="7035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应用场景与工程实践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9753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330950"/>
            <a:ext cx="673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如何在实际系统中用好 Gossip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338667"/>
          </a:xfrm>
          <a:custGeom>
            <a:avLst/>
            <a:gdLst/>
            <a:ahLst/>
            <a:cxnLst/>
            <a:rect l="l" t="t" r="r" b="b"/>
            <a:pathLst>
              <a:path w="84667" h="338667">
                <a:moveTo>
                  <a:pt x="0" y="0"/>
                </a:moveTo>
                <a:lnTo>
                  <a:pt x="84667" y="0"/>
                </a:lnTo>
                <a:lnTo>
                  <a:pt x="84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4529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协议的四大典型应用场景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856132"/>
            <a:ext cx="7577667" cy="3704166"/>
          </a:xfrm>
          <a:custGeom>
            <a:avLst/>
            <a:gdLst/>
            <a:ahLst/>
            <a:cxnLst/>
            <a:rect l="l" t="t" r="r" b="b"/>
            <a:pathLst>
              <a:path w="7577667" h="4265083">
                <a:moveTo>
                  <a:pt x="42333" y="0"/>
                </a:moveTo>
                <a:lnTo>
                  <a:pt x="7493005" y="0"/>
                </a:lnTo>
                <a:cubicBezTo>
                  <a:pt x="7539762" y="0"/>
                  <a:pt x="7577667" y="37904"/>
                  <a:pt x="7577667" y="84662"/>
                </a:cubicBezTo>
                <a:lnTo>
                  <a:pt x="7577667" y="4180421"/>
                </a:lnTo>
                <a:cubicBezTo>
                  <a:pt x="7577667" y="4227179"/>
                  <a:pt x="7539762" y="4265083"/>
                  <a:pt x="7493005" y="4265083"/>
                </a:cubicBezTo>
                <a:lnTo>
                  <a:pt x="42333" y="4265083"/>
                </a:lnTo>
                <a:cubicBezTo>
                  <a:pt x="18953" y="4265083"/>
                  <a:pt x="0" y="4246130"/>
                  <a:pt x="0" y="4222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856131"/>
            <a:ext cx="42333" cy="3708000"/>
          </a:xfrm>
          <a:custGeom>
            <a:avLst/>
            <a:gdLst/>
            <a:ahLst/>
            <a:cxnLst/>
            <a:rect l="l" t="t" r="r" b="b"/>
            <a:pathLst>
              <a:path w="42333" h="4265083">
                <a:moveTo>
                  <a:pt x="42333" y="0"/>
                </a:moveTo>
                <a:lnTo>
                  <a:pt x="42333" y="0"/>
                </a:lnTo>
                <a:lnTo>
                  <a:pt x="42333" y="4265083"/>
                </a:lnTo>
                <a:lnTo>
                  <a:pt x="42333" y="4265083"/>
                </a:lnTo>
                <a:cubicBezTo>
                  <a:pt x="18953" y="4265083"/>
                  <a:pt x="0" y="4246130"/>
                  <a:pt x="0" y="4222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77333" y="106779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2583" y="1194798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12333" y="1152464"/>
            <a:ext cx="2360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集群成员管理与健康检查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7333" y="1745131"/>
            <a:ext cx="7217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核心职责：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跟踪节点加入、离开、故障状态，为上层调度策略提供统一的"集群成员视图"。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7333" y="2189632"/>
            <a:ext cx="7133167" cy="1576916"/>
          </a:xfrm>
          <a:custGeom>
            <a:avLst/>
            <a:gdLst/>
            <a:ahLst/>
            <a:cxnLst/>
            <a:rect l="l" t="t" r="r" b="b"/>
            <a:pathLst>
              <a:path w="7133167" h="2084917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2000248"/>
                </a:lnTo>
                <a:cubicBezTo>
                  <a:pt x="7133167" y="2047009"/>
                  <a:pt x="7095259" y="2084917"/>
                  <a:pt x="7048498" y="2084917"/>
                </a:cubicBezTo>
                <a:lnTo>
                  <a:pt x="84668" y="2084917"/>
                </a:lnTo>
                <a:cubicBezTo>
                  <a:pt x="37907" y="2084917"/>
                  <a:pt x="0" y="2047009"/>
                  <a:pt x="0" y="200024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6667" y="2358964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典型用法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6667" y="269763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0667" y="2697631"/>
            <a:ext cx="443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各节点周期性地 Gossip 自身心跳和观察到的其他节点状态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6667" y="303629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0667" y="3036298"/>
            <a:ext cx="499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调度器或负载均衡模块基于这一视图进行任务分配和副本放置决策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7333" y="3909304"/>
            <a:ext cx="7133167" cy="465667"/>
          </a:xfrm>
          <a:custGeom>
            <a:avLst/>
            <a:gdLst/>
            <a:ahLst/>
            <a:cxnLst/>
            <a:rect l="l" t="t" r="r" b="b"/>
            <a:pathLst>
              <a:path w="7133167" h="465667">
                <a:moveTo>
                  <a:pt x="42334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4"/>
                </a:cubicBezTo>
                <a:lnTo>
                  <a:pt x="7133167" y="423333"/>
                </a:lnTo>
                <a:cubicBezTo>
                  <a:pt x="7133167" y="446713"/>
                  <a:pt x="7114213" y="465667"/>
                  <a:pt x="7090833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5500" y="4068054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74208" y="4036304"/>
            <a:ext cx="2423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典型系统：Consul, Serf, Cassandra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856131"/>
            <a:ext cx="7577667" cy="3704167"/>
          </a:xfrm>
          <a:custGeom>
            <a:avLst/>
            <a:gdLst/>
            <a:ahLst/>
            <a:cxnLst/>
            <a:rect l="l" t="t" r="r" b="b"/>
            <a:pathLst>
              <a:path w="7577667" h="4265083">
                <a:moveTo>
                  <a:pt x="42333" y="0"/>
                </a:moveTo>
                <a:lnTo>
                  <a:pt x="7493005" y="0"/>
                </a:lnTo>
                <a:cubicBezTo>
                  <a:pt x="7539762" y="0"/>
                  <a:pt x="7577667" y="37904"/>
                  <a:pt x="7577667" y="84662"/>
                </a:cubicBezTo>
                <a:lnTo>
                  <a:pt x="7577667" y="4180421"/>
                </a:lnTo>
                <a:cubicBezTo>
                  <a:pt x="7577667" y="4227179"/>
                  <a:pt x="7539762" y="4265083"/>
                  <a:pt x="7493005" y="4265083"/>
                </a:cubicBezTo>
                <a:lnTo>
                  <a:pt x="42333" y="4265083"/>
                </a:lnTo>
                <a:cubicBezTo>
                  <a:pt x="18953" y="4265083"/>
                  <a:pt x="0" y="4246130"/>
                  <a:pt x="0" y="4222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55000" y="856131"/>
            <a:ext cx="42333" cy="3708000"/>
          </a:xfrm>
          <a:custGeom>
            <a:avLst/>
            <a:gdLst/>
            <a:ahLst/>
            <a:cxnLst/>
            <a:rect l="l" t="t" r="r" b="b"/>
            <a:pathLst>
              <a:path w="42333" h="4265083">
                <a:moveTo>
                  <a:pt x="42333" y="0"/>
                </a:moveTo>
                <a:lnTo>
                  <a:pt x="42333" y="0"/>
                </a:lnTo>
                <a:lnTo>
                  <a:pt x="42333" y="4265083"/>
                </a:lnTo>
                <a:lnTo>
                  <a:pt x="42333" y="4265083"/>
                </a:lnTo>
                <a:cubicBezTo>
                  <a:pt x="18953" y="4265083"/>
                  <a:pt x="0" y="4246130"/>
                  <a:pt x="0" y="4222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87833" y="106779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583083" y="1194798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22833" y="1152464"/>
            <a:ext cx="1756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配置与元数据分发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7833" y="1745131"/>
            <a:ext cx="7217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核心职责：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在集群范围内传播分区表、路由表等关键元数据，以及全局配置项变更。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87833" y="2189632"/>
            <a:ext cx="7133167" cy="1576916"/>
          </a:xfrm>
          <a:custGeom>
            <a:avLst/>
            <a:gdLst/>
            <a:ahLst/>
            <a:cxnLst/>
            <a:rect l="l" t="t" r="r" b="b"/>
            <a:pathLst>
              <a:path w="7133167" h="2084917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2000248"/>
                </a:lnTo>
                <a:cubicBezTo>
                  <a:pt x="7133167" y="2047009"/>
                  <a:pt x="7095259" y="2084917"/>
                  <a:pt x="7048498" y="2084917"/>
                </a:cubicBezTo>
                <a:lnTo>
                  <a:pt x="84668" y="2084917"/>
                </a:lnTo>
                <a:cubicBezTo>
                  <a:pt x="37907" y="2084917"/>
                  <a:pt x="0" y="2047009"/>
                  <a:pt x="0" y="200024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57167" y="2358964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典型用法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57167" y="269763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11167" y="2697631"/>
            <a:ext cx="448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当运维人员或控制平面更新配置时，由少量节点先感知变更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57167" y="303629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11167" y="3036298"/>
            <a:ext cx="5281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Gossip 将新配置逐步扩散到其他节点，实现滚动更新和灰度发布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87833" y="3909304"/>
            <a:ext cx="7133167" cy="465667"/>
          </a:xfrm>
          <a:custGeom>
            <a:avLst/>
            <a:gdLst/>
            <a:ahLst/>
            <a:cxnLst/>
            <a:rect l="l" t="t" r="r" b="b"/>
            <a:pathLst>
              <a:path w="7133167" h="465667">
                <a:moveTo>
                  <a:pt x="42334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4"/>
                </a:cubicBezTo>
                <a:lnTo>
                  <a:pt x="7133167" y="423333"/>
                </a:lnTo>
                <a:cubicBezTo>
                  <a:pt x="7133167" y="446713"/>
                  <a:pt x="7114213" y="465667"/>
                  <a:pt x="7090833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36000" y="4068054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84708" y="4036304"/>
            <a:ext cx="236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典型系统：Dynamo, Redis Cluster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500" y="4561921"/>
            <a:ext cx="7577667" cy="3704166"/>
          </a:xfrm>
          <a:custGeom>
            <a:avLst/>
            <a:gdLst/>
            <a:ahLst/>
            <a:cxnLst/>
            <a:rect l="l" t="t" r="r" b="b"/>
            <a:pathLst>
              <a:path w="7577667" h="4794250">
                <a:moveTo>
                  <a:pt x="42333" y="0"/>
                </a:moveTo>
                <a:lnTo>
                  <a:pt x="7493000" y="0"/>
                </a:lnTo>
                <a:cubicBezTo>
                  <a:pt x="7539760" y="0"/>
                  <a:pt x="7577667" y="37906"/>
                  <a:pt x="7577667" y="84666"/>
                </a:cubicBezTo>
                <a:lnTo>
                  <a:pt x="7577667" y="4709584"/>
                </a:lnTo>
                <a:cubicBezTo>
                  <a:pt x="7577667" y="4756344"/>
                  <a:pt x="7539760" y="4794250"/>
                  <a:pt x="7493000" y="4794250"/>
                </a:cubicBezTo>
                <a:lnTo>
                  <a:pt x="42333" y="4794250"/>
                </a:lnTo>
                <a:cubicBezTo>
                  <a:pt x="18953" y="4794250"/>
                  <a:pt x="0" y="4775297"/>
                  <a:pt x="0" y="4751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44500" y="4561920"/>
            <a:ext cx="42333" cy="3708000"/>
          </a:xfrm>
          <a:custGeom>
            <a:avLst/>
            <a:gdLst/>
            <a:ahLst/>
            <a:cxnLst/>
            <a:rect l="l" t="t" r="r" b="b"/>
            <a:pathLst>
              <a:path w="42333" h="4794250">
                <a:moveTo>
                  <a:pt x="42333" y="0"/>
                </a:moveTo>
                <a:lnTo>
                  <a:pt x="42333" y="0"/>
                </a:lnTo>
                <a:lnTo>
                  <a:pt x="42333" y="4794250"/>
                </a:lnTo>
                <a:lnTo>
                  <a:pt x="42333" y="4794250"/>
                </a:lnTo>
                <a:cubicBezTo>
                  <a:pt x="18953" y="4794250"/>
                  <a:pt x="0" y="4775297"/>
                  <a:pt x="0" y="4751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77333" y="477358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0208" y="490058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95250" y="0"/>
                </a:moveTo>
                <a:cubicBezTo>
                  <a:pt x="77738" y="0"/>
                  <a:pt x="63500" y="14238"/>
                  <a:pt x="63500" y="31750"/>
                </a:cubicBezTo>
                <a:lnTo>
                  <a:pt x="63500" y="158750"/>
                </a:lnTo>
                <a:cubicBezTo>
                  <a:pt x="63500" y="176262"/>
                  <a:pt x="77738" y="190500"/>
                  <a:pt x="95250" y="190500"/>
                </a:cubicBezTo>
                <a:lnTo>
                  <a:pt x="190500" y="190500"/>
                </a:lnTo>
                <a:cubicBezTo>
                  <a:pt x="208012" y="190500"/>
                  <a:pt x="222250" y="176262"/>
                  <a:pt x="222250" y="158750"/>
                </a:cubicBezTo>
                <a:lnTo>
                  <a:pt x="222250" y="59234"/>
                </a:lnTo>
                <a:cubicBezTo>
                  <a:pt x="222250" y="50602"/>
                  <a:pt x="218728" y="42317"/>
                  <a:pt x="212477" y="36314"/>
                </a:cubicBezTo>
                <a:lnTo>
                  <a:pt x="183852" y="8830"/>
                </a:lnTo>
                <a:cubicBezTo>
                  <a:pt x="177949" y="3175"/>
                  <a:pt x="170061" y="0"/>
                  <a:pt x="161875" y="0"/>
                </a:cubicBezTo>
                <a:lnTo>
                  <a:pt x="95250" y="0"/>
                </a:lnTo>
                <a:close/>
                <a:moveTo>
                  <a:pt x="31750" y="63500"/>
                </a:moveTo>
                <a:cubicBezTo>
                  <a:pt x="14238" y="63500"/>
                  <a:pt x="0" y="77738"/>
                  <a:pt x="0" y="952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27000" y="254000"/>
                </a:lnTo>
                <a:cubicBezTo>
                  <a:pt x="144512" y="254000"/>
                  <a:pt x="158750" y="239762"/>
                  <a:pt x="158750" y="222250"/>
                </a:cubicBezTo>
                <a:lnTo>
                  <a:pt x="158750" y="214313"/>
                </a:lnTo>
                <a:lnTo>
                  <a:pt x="127000" y="214313"/>
                </a:lnTo>
                <a:lnTo>
                  <a:pt x="127000" y="222250"/>
                </a:lnTo>
                <a:lnTo>
                  <a:pt x="31750" y="222250"/>
                </a:lnTo>
                <a:lnTo>
                  <a:pt x="31750" y="95250"/>
                </a:lnTo>
                <a:lnTo>
                  <a:pt x="39688" y="95250"/>
                </a:lnTo>
                <a:lnTo>
                  <a:pt x="39688" y="63500"/>
                </a:lnTo>
                <a:lnTo>
                  <a:pt x="31750" y="6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312333" y="4858253"/>
            <a:ext cx="1756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副本一致性与反熵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7333" y="5450920"/>
            <a:ext cx="7217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 err="1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400" dirty="0">
                <a:solidFill>
                  <a:schemeClr val="bg1"/>
                </a:solidFill>
              </a:rPr>
              <a:t>在多副本系统中对齐各副本状态，修复网络故障或暂时失联导致的数据差异。</a:t>
            </a:r>
          </a:p>
        </p:txBody>
      </p:sp>
      <p:sp>
        <p:nvSpPr>
          <p:cNvPr id="40" name="Shape 38"/>
          <p:cNvSpPr/>
          <p:nvPr/>
        </p:nvSpPr>
        <p:spPr>
          <a:xfrm>
            <a:off x="677333" y="5895421"/>
            <a:ext cx="7133167" cy="1576800"/>
          </a:xfrm>
          <a:custGeom>
            <a:avLst/>
            <a:gdLst/>
            <a:ahLst/>
            <a:cxnLst/>
            <a:rect l="l" t="t" r="r" b="b"/>
            <a:pathLst>
              <a:path w="7133167" h="2338917">
                <a:moveTo>
                  <a:pt x="84669" y="0"/>
                </a:moveTo>
                <a:lnTo>
                  <a:pt x="7048498" y="0"/>
                </a:lnTo>
                <a:cubicBezTo>
                  <a:pt x="7095259" y="0"/>
                  <a:pt x="7133167" y="37908"/>
                  <a:pt x="7133167" y="84669"/>
                </a:cubicBezTo>
                <a:lnTo>
                  <a:pt x="7133167" y="2254248"/>
                </a:lnTo>
                <a:cubicBezTo>
                  <a:pt x="7133167" y="2301009"/>
                  <a:pt x="7095259" y="2338917"/>
                  <a:pt x="7048498" y="2338917"/>
                </a:cubicBezTo>
                <a:lnTo>
                  <a:pt x="84669" y="2338917"/>
                </a:lnTo>
                <a:cubicBezTo>
                  <a:pt x="37908" y="2338917"/>
                  <a:pt x="0" y="2301009"/>
                  <a:pt x="0" y="225424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46667" y="606475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典型用法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6667" y="640342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0667" y="6403420"/>
            <a:ext cx="4265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 Gossip 在副本之间周期性交换版本信息或摘要信息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6667" y="6742086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0667" y="6742086"/>
            <a:ext cx="66251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 Merkle Tree 或版本向量实现增量同步，在保证数据最终一致的前提下，将网络带宽消耗控制在可接受范围内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7333" y="7599213"/>
            <a:ext cx="7133167" cy="465667"/>
          </a:xfrm>
          <a:custGeom>
            <a:avLst/>
            <a:gdLst/>
            <a:ahLst/>
            <a:cxnLst/>
            <a:rect l="l" t="t" r="r" b="b"/>
            <a:pathLst>
              <a:path w="7133167" h="465667">
                <a:moveTo>
                  <a:pt x="42334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4"/>
                </a:cubicBezTo>
                <a:lnTo>
                  <a:pt x="7133167" y="423333"/>
                </a:lnTo>
                <a:cubicBezTo>
                  <a:pt x="7133167" y="446713"/>
                  <a:pt x="7114213" y="465667"/>
                  <a:pt x="7090833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25500" y="775796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74208" y="7726213"/>
            <a:ext cx="2529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典型系统：Dynamo, Cassandra, Riak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55000" y="4561920"/>
            <a:ext cx="7577667" cy="3704167"/>
          </a:xfrm>
          <a:custGeom>
            <a:avLst/>
            <a:gdLst/>
            <a:ahLst/>
            <a:cxnLst/>
            <a:rect l="l" t="t" r="r" b="b"/>
            <a:pathLst>
              <a:path w="7577667" h="4794250">
                <a:moveTo>
                  <a:pt x="42333" y="0"/>
                </a:moveTo>
                <a:lnTo>
                  <a:pt x="7493000" y="0"/>
                </a:lnTo>
                <a:cubicBezTo>
                  <a:pt x="7539760" y="0"/>
                  <a:pt x="7577667" y="37906"/>
                  <a:pt x="7577667" y="84666"/>
                </a:cubicBezTo>
                <a:lnTo>
                  <a:pt x="7577667" y="4709584"/>
                </a:lnTo>
                <a:cubicBezTo>
                  <a:pt x="7577667" y="4756344"/>
                  <a:pt x="7539760" y="4794250"/>
                  <a:pt x="7493000" y="4794250"/>
                </a:cubicBezTo>
                <a:lnTo>
                  <a:pt x="42333" y="4794250"/>
                </a:lnTo>
                <a:cubicBezTo>
                  <a:pt x="18953" y="4794250"/>
                  <a:pt x="0" y="4775297"/>
                  <a:pt x="0" y="4751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255000" y="4561920"/>
            <a:ext cx="42333" cy="3708000"/>
          </a:xfrm>
          <a:custGeom>
            <a:avLst/>
            <a:gdLst/>
            <a:ahLst/>
            <a:cxnLst/>
            <a:rect l="l" t="t" r="r" b="b"/>
            <a:pathLst>
              <a:path w="42333" h="4794250">
                <a:moveTo>
                  <a:pt x="42333" y="0"/>
                </a:moveTo>
                <a:lnTo>
                  <a:pt x="42333" y="0"/>
                </a:lnTo>
                <a:lnTo>
                  <a:pt x="42333" y="4794250"/>
                </a:lnTo>
                <a:lnTo>
                  <a:pt x="42333" y="4794250"/>
                </a:lnTo>
                <a:cubicBezTo>
                  <a:pt x="18953" y="4794250"/>
                  <a:pt x="0" y="4775297"/>
                  <a:pt x="0" y="4751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487833" y="477358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614833" y="490058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122833" y="4858253"/>
            <a:ext cx="15451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服务发现与注册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87833" y="5450920"/>
            <a:ext cx="7217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核心职责：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在去中心化环境中传播服务实例信息，为调用方提供"当前可用服务列表"。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87833" y="5895421"/>
            <a:ext cx="7133167" cy="1576800"/>
          </a:xfrm>
          <a:custGeom>
            <a:avLst/>
            <a:gdLst/>
            <a:ahLst/>
            <a:cxnLst/>
            <a:rect l="l" t="t" r="r" b="b"/>
            <a:pathLst>
              <a:path w="7133167" h="2614083">
                <a:moveTo>
                  <a:pt x="84670" y="0"/>
                </a:moveTo>
                <a:lnTo>
                  <a:pt x="7048497" y="0"/>
                </a:lnTo>
                <a:cubicBezTo>
                  <a:pt x="7095259" y="0"/>
                  <a:pt x="7133167" y="37908"/>
                  <a:pt x="7133167" y="84670"/>
                </a:cubicBezTo>
                <a:lnTo>
                  <a:pt x="7133167" y="2529413"/>
                </a:lnTo>
                <a:cubicBezTo>
                  <a:pt x="7133167" y="2576175"/>
                  <a:pt x="7095259" y="2614083"/>
                  <a:pt x="7048497" y="2614083"/>
                </a:cubicBezTo>
                <a:lnTo>
                  <a:pt x="84670" y="2614083"/>
                </a:lnTo>
                <a:cubicBezTo>
                  <a:pt x="37908" y="2614083"/>
                  <a:pt x="0" y="2576175"/>
                  <a:pt x="0" y="2529413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57167" y="606475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典型用法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57167" y="640342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11167" y="6403420"/>
            <a:ext cx="66251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各服务实例通过 Gossip 将自己的注册信息扩散到集群中的其他节点，从而实现无单点的服务发现机制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57167" y="6996087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911167" y="6996087"/>
            <a:ext cx="596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在一些架构中，Gossip 还会与中心化注册表（如 ZooKeeper、etcd）协同使用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87833" y="7599213"/>
            <a:ext cx="7133167" cy="465667"/>
          </a:xfrm>
          <a:custGeom>
            <a:avLst/>
            <a:gdLst/>
            <a:ahLst/>
            <a:cxnLst/>
            <a:rect l="l" t="t" r="r" b="b"/>
            <a:pathLst>
              <a:path w="7133167" h="465667">
                <a:moveTo>
                  <a:pt x="42334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4"/>
                </a:cubicBezTo>
                <a:lnTo>
                  <a:pt x="7133167" y="423333"/>
                </a:lnTo>
                <a:cubicBezTo>
                  <a:pt x="7133167" y="446713"/>
                  <a:pt x="7114213" y="465667"/>
                  <a:pt x="7090833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8636000" y="775796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884708" y="7726213"/>
            <a:ext cx="2180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典型系统：Consul, Eureka, Serf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58334" y="8118535"/>
            <a:ext cx="14721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适用场景总结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58334" y="8499535"/>
            <a:ext cx="14710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更适合用于"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需要在全局范围内被多数节点感知，但对达成一致的精确时间点要求不高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"的信息传播，例如成员状态、配置变更和版本信息等；对于 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需要强一致性的事务性数据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，则应结合其它一致性协议（如 Paxos、Raft）共同使用。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955" y="551051"/>
            <a:ext cx="100191" cy="400764"/>
          </a:xfrm>
          <a:custGeom>
            <a:avLst/>
            <a:gdLst/>
            <a:ahLst/>
            <a:cxnLst/>
            <a:rect l="l" t="t" r="r" b="b"/>
            <a:pathLst>
              <a:path w="100191" h="400764">
                <a:moveTo>
                  <a:pt x="0" y="0"/>
                </a:moveTo>
                <a:lnTo>
                  <a:pt x="100191" y="0"/>
                </a:lnTo>
                <a:lnTo>
                  <a:pt x="100191" y="400764"/>
                </a:lnTo>
                <a:lnTo>
                  <a:pt x="0" y="400764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51433" y="500955"/>
            <a:ext cx="5998940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5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参数选择与系统调优：核心权衡维度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6003" y="1352579"/>
            <a:ext cx="15229042" cy="3393972"/>
          </a:xfrm>
          <a:custGeom>
            <a:avLst/>
            <a:gdLst/>
            <a:ahLst/>
            <a:cxnLst/>
            <a:rect l="l" t="t" r="r" b="b"/>
            <a:pathLst>
              <a:path w="15229042" h="3393972">
                <a:moveTo>
                  <a:pt x="50096" y="0"/>
                </a:moveTo>
                <a:lnTo>
                  <a:pt x="15128852" y="0"/>
                </a:lnTo>
                <a:cubicBezTo>
                  <a:pt x="15184185" y="0"/>
                  <a:pt x="15229042" y="44857"/>
                  <a:pt x="15229042" y="100190"/>
                </a:cubicBezTo>
                <a:lnTo>
                  <a:pt x="15229042" y="3293782"/>
                </a:lnTo>
                <a:cubicBezTo>
                  <a:pt x="15229042" y="3349116"/>
                  <a:pt x="15184185" y="3393972"/>
                  <a:pt x="15128852" y="3393972"/>
                </a:cubicBezTo>
                <a:lnTo>
                  <a:pt x="50096" y="3393972"/>
                </a:lnTo>
                <a:cubicBezTo>
                  <a:pt x="22429" y="3393972"/>
                  <a:pt x="0" y="3371544"/>
                  <a:pt x="0" y="3343877"/>
                </a:cubicBezTo>
                <a:lnTo>
                  <a:pt x="0" y="50096"/>
                </a:lnTo>
                <a:cubicBezTo>
                  <a:pt x="0" y="22447"/>
                  <a:pt x="22447" y="0"/>
                  <a:pt x="50096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6003" y="1352579"/>
            <a:ext cx="50096" cy="3393972"/>
          </a:xfrm>
          <a:custGeom>
            <a:avLst/>
            <a:gdLst/>
            <a:ahLst/>
            <a:cxnLst/>
            <a:rect l="l" t="t" r="r" b="b"/>
            <a:pathLst>
              <a:path w="50096" h="3393972">
                <a:moveTo>
                  <a:pt x="50096" y="0"/>
                </a:moveTo>
                <a:lnTo>
                  <a:pt x="50096" y="0"/>
                </a:lnTo>
                <a:lnTo>
                  <a:pt x="50096" y="3393972"/>
                </a:lnTo>
                <a:lnTo>
                  <a:pt x="50096" y="3393972"/>
                </a:lnTo>
                <a:cubicBezTo>
                  <a:pt x="22429" y="3393972"/>
                  <a:pt x="0" y="3371544"/>
                  <a:pt x="0" y="3343877"/>
                </a:cubicBezTo>
                <a:lnTo>
                  <a:pt x="0" y="50096"/>
                </a:lnTo>
                <a:cubicBezTo>
                  <a:pt x="0" y="22447"/>
                  <a:pt x="22447" y="0"/>
                  <a:pt x="50096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1529" y="1653153"/>
            <a:ext cx="375716" cy="300573"/>
          </a:xfrm>
          <a:custGeom>
            <a:avLst/>
            <a:gdLst/>
            <a:ahLst/>
            <a:cxnLst/>
            <a:rect l="l" t="t" r="r" b="b"/>
            <a:pathLst>
              <a:path w="375716" h="300573">
                <a:moveTo>
                  <a:pt x="225430" y="18786"/>
                </a:moveTo>
                <a:lnTo>
                  <a:pt x="300573" y="18786"/>
                </a:lnTo>
                <a:cubicBezTo>
                  <a:pt x="310964" y="18786"/>
                  <a:pt x="319359" y="27181"/>
                  <a:pt x="319359" y="37572"/>
                </a:cubicBezTo>
                <a:cubicBezTo>
                  <a:pt x="319359" y="47963"/>
                  <a:pt x="310964" y="56357"/>
                  <a:pt x="300573" y="56357"/>
                </a:cubicBezTo>
                <a:lnTo>
                  <a:pt x="233884" y="56357"/>
                </a:lnTo>
                <a:cubicBezTo>
                  <a:pt x="230831" y="71504"/>
                  <a:pt x="220440" y="84008"/>
                  <a:pt x="206644" y="89996"/>
                </a:cubicBezTo>
                <a:lnTo>
                  <a:pt x="206644" y="263002"/>
                </a:lnTo>
                <a:lnTo>
                  <a:pt x="300573" y="263002"/>
                </a:lnTo>
                <a:cubicBezTo>
                  <a:pt x="310964" y="263002"/>
                  <a:pt x="319359" y="271396"/>
                  <a:pt x="319359" y="281787"/>
                </a:cubicBezTo>
                <a:cubicBezTo>
                  <a:pt x="319359" y="292178"/>
                  <a:pt x="310964" y="300573"/>
                  <a:pt x="300573" y="300573"/>
                </a:cubicBezTo>
                <a:lnTo>
                  <a:pt x="75143" y="300573"/>
                </a:lnTo>
                <a:cubicBezTo>
                  <a:pt x="64752" y="300573"/>
                  <a:pt x="56357" y="292178"/>
                  <a:pt x="56357" y="281787"/>
                </a:cubicBezTo>
                <a:cubicBezTo>
                  <a:pt x="56357" y="271396"/>
                  <a:pt x="64752" y="263002"/>
                  <a:pt x="75143" y="263002"/>
                </a:cubicBezTo>
                <a:lnTo>
                  <a:pt x="169072" y="263002"/>
                </a:lnTo>
                <a:lnTo>
                  <a:pt x="169072" y="89996"/>
                </a:lnTo>
                <a:cubicBezTo>
                  <a:pt x="155277" y="83949"/>
                  <a:pt x="144886" y="71445"/>
                  <a:pt x="141833" y="56357"/>
                </a:cubicBezTo>
                <a:lnTo>
                  <a:pt x="75143" y="56357"/>
                </a:lnTo>
                <a:cubicBezTo>
                  <a:pt x="64752" y="56357"/>
                  <a:pt x="56357" y="47963"/>
                  <a:pt x="56357" y="37572"/>
                </a:cubicBezTo>
                <a:cubicBezTo>
                  <a:pt x="56357" y="27181"/>
                  <a:pt x="64752" y="18786"/>
                  <a:pt x="75143" y="18786"/>
                </a:cubicBezTo>
                <a:lnTo>
                  <a:pt x="150287" y="18786"/>
                </a:lnTo>
                <a:cubicBezTo>
                  <a:pt x="158858" y="7397"/>
                  <a:pt x="172477" y="0"/>
                  <a:pt x="187858" y="0"/>
                </a:cubicBezTo>
                <a:cubicBezTo>
                  <a:pt x="203239" y="0"/>
                  <a:pt x="216859" y="7397"/>
                  <a:pt x="225430" y="18786"/>
                </a:cubicBezTo>
                <a:close/>
                <a:moveTo>
                  <a:pt x="258070" y="187858"/>
                </a:moveTo>
                <a:lnTo>
                  <a:pt x="343076" y="187858"/>
                </a:lnTo>
                <a:lnTo>
                  <a:pt x="300573" y="114946"/>
                </a:lnTo>
                <a:lnTo>
                  <a:pt x="258070" y="187858"/>
                </a:lnTo>
                <a:close/>
                <a:moveTo>
                  <a:pt x="300573" y="244216"/>
                </a:moveTo>
                <a:cubicBezTo>
                  <a:pt x="263647" y="244216"/>
                  <a:pt x="232944" y="224256"/>
                  <a:pt x="226604" y="197897"/>
                </a:cubicBezTo>
                <a:cubicBezTo>
                  <a:pt x="225078" y="191439"/>
                  <a:pt x="227191" y="184806"/>
                  <a:pt x="230537" y="179052"/>
                </a:cubicBezTo>
                <a:lnTo>
                  <a:pt x="286425" y="83245"/>
                </a:lnTo>
                <a:cubicBezTo>
                  <a:pt x="289360" y="78196"/>
                  <a:pt x="294761" y="75143"/>
                  <a:pt x="300573" y="75143"/>
                </a:cubicBezTo>
                <a:cubicBezTo>
                  <a:pt x="306385" y="75143"/>
                  <a:pt x="311786" y="78255"/>
                  <a:pt x="314721" y="83245"/>
                </a:cubicBezTo>
                <a:lnTo>
                  <a:pt x="370609" y="179052"/>
                </a:lnTo>
                <a:cubicBezTo>
                  <a:pt x="373955" y="184806"/>
                  <a:pt x="376069" y="191439"/>
                  <a:pt x="374542" y="197897"/>
                </a:cubicBezTo>
                <a:cubicBezTo>
                  <a:pt x="368202" y="224197"/>
                  <a:pt x="337499" y="244216"/>
                  <a:pt x="300573" y="244216"/>
                </a:cubicBezTo>
                <a:close/>
                <a:moveTo>
                  <a:pt x="74439" y="114946"/>
                </a:moveTo>
                <a:lnTo>
                  <a:pt x="31936" y="187858"/>
                </a:lnTo>
                <a:lnTo>
                  <a:pt x="117000" y="187858"/>
                </a:lnTo>
                <a:lnTo>
                  <a:pt x="74439" y="114946"/>
                </a:lnTo>
                <a:close/>
                <a:moveTo>
                  <a:pt x="528" y="197897"/>
                </a:moveTo>
                <a:cubicBezTo>
                  <a:pt x="-998" y="191439"/>
                  <a:pt x="1115" y="184806"/>
                  <a:pt x="4462" y="179052"/>
                </a:cubicBezTo>
                <a:lnTo>
                  <a:pt x="60349" y="83245"/>
                </a:lnTo>
                <a:cubicBezTo>
                  <a:pt x="63285" y="78196"/>
                  <a:pt x="68686" y="75143"/>
                  <a:pt x="74498" y="75143"/>
                </a:cubicBezTo>
                <a:cubicBezTo>
                  <a:pt x="80309" y="75143"/>
                  <a:pt x="85710" y="78255"/>
                  <a:pt x="88646" y="83245"/>
                </a:cubicBezTo>
                <a:lnTo>
                  <a:pt x="144533" y="179052"/>
                </a:lnTo>
                <a:cubicBezTo>
                  <a:pt x="147880" y="184806"/>
                  <a:pt x="149993" y="191439"/>
                  <a:pt x="148467" y="197897"/>
                </a:cubicBezTo>
                <a:cubicBezTo>
                  <a:pt x="142127" y="224197"/>
                  <a:pt x="111423" y="244216"/>
                  <a:pt x="74498" y="244216"/>
                </a:cubicBezTo>
                <a:cubicBezTo>
                  <a:pt x="37572" y="244216"/>
                  <a:pt x="6869" y="224256"/>
                  <a:pt x="528" y="19789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27532" y="1603057"/>
            <a:ext cx="1590533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三类核心参数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1529" y="2204203"/>
            <a:ext cx="14803230" cy="325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在工程实践中，Gossip 协议通常会暴露一组可配置参数，用于在 </a:t>
            </a:r>
            <a:r>
              <a:rPr lang="en-US" sz="1578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"收敛速度、网络开销和故障检测准确率"</a:t>
            </a: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之间做工程上的权衡。这些参数可以分为三类：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1529" y="2730206"/>
            <a:ext cx="4771599" cy="1765867"/>
          </a:xfrm>
          <a:custGeom>
            <a:avLst/>
            <a:gdLst/>
            <a:ahLst/>
            <a:cxnLst/>
            <a:rect l="l" t="t" r="r" b="b"/>
            <a:pathLst>
              <a:path w="4771599" h="1765867">
                <a:moveTo>
                  <a:pt x="100195" y="0"/>
                </a:moveTo>
                <a:lnTo>
                  <a:pt x="4671404" y="0"/>
                </a:lnTo>
                <a:cubicBezTo>
                  <a:pt x="4726740" y="0"/>
                  <a:pt x="4771599" y="44859"/>
                  <a:pt x="4771599" y="100195"/>
                </a:cubicBezTo>
                <a:lnTo>
                  <a:pt x="4771599" y="1665672"/>
                </a:lnTo>
                <a:cubicBezTo>
                  <a:pt x="4771599" y="1721009"/>
                  <a:pt x="4726740" y="1765867"/>
                  <a:pt x="4671404" y="1765867"/>
                </a:cubicBezTo>
                <a:lnTo>
                  <a:pt x="100195" y="1765867"/>
                </a:lnTo>
                <a:cubicBezTo>
                  <a:pt x="44859" y="1765867"/>
                  <a:pt x="0" y="1721009"/>
                  <a:pt x="0" y="1665672"/>
                </a:cubicBezTo>
                <a:lnTo>
                  <a:pt x="0" y="100195"/>
                </a:lnTo>
                <a:cubicBezTo>
                  <a:pt x="0" y="44896"/>
                  <a:pt x="44896" y="0"/>
                  <a:pt x="100195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33220" y="2980684"/>
            <a:ext cx="250478" cy="250478"/>
          </a:xfrm>
          <a:custGeom>
            <a:avLst/>
            <a:gdLst/>
            <a:ahLst/>
            <a:cxnLst/>
            <a:rect l="l" t="t" r="r" b="b"/>
            <a:pathLst>
              <a:path w="250478" h="250478">
                <a:moveTo>
                  <a:pt x="125239" y="0"/>
                </a:moveTo>
                <a:cubicBezTo>
                  <a:pt x="194360" y="0"/>
                  <a:pt x="250478" y="56118"/>
                  <a:pt x="250478" y="125239"/>
                </a:cubicBezTo>
                <a:cubicBezTo>
                  <a:pt x="250478" y="194360"/>
                  <a:pt x="194360" y="250478"/>
                  <a:pt x="125239" y="250478"/>
                </a:cubicBezTo>
                <a:cubicBezTo>
                  <a:pt x="56118" y="250478"/>
                  <a:pt x="0" y="194360"/>
                  <a:pt x="0" y="125239"/>
                </a:cubicBezTo>
                <a:cubicBezTo>
                  <a:pt x="0" y="56118"/>
                  <a:pt x="56118" y="0"/>
                  <a:pt x="125239" y="0"/>
                </a:cubicBezTo>
                <a:close/>
                <a:moveTo>
                  <a:pt x="113498" y="58706"/>
                </a:moveTo>
                <a:lnTo>
                  <a:pt x="113498" y="125239"/>
                </a:lnTo>
                <a:cubicBezTo>
                  <a:pt x="113498" y="129153"/>
                  <a:pt x="115455" y="132822"/>
                  <a:pt x="118732" y="135023"/>
                </a:cubicBezTo>
                <a:lnTo>
                  <a:pt x="165697" y="166333"/>
                </a:lnTo>
                <a:cubicBezTo>
                  <a:pt x="171078" y="169953"/>
                  <a:pt x="178367" y="168485"/>
                  <a:pt x="181988" y="163055"/>
                </a:cubicBezTo>
                <a:cubicBezTo>
                  <a:pt x="185608" y="157625"/>
                  <a:pt x="184140" y="150384"/>
                  <a:pt x="178710" y="146764"/>
                </a:cubicBezTo>
                <a:lnTo>
                  <a:pt x="136980" y="118977"/>
                </a:lnTo>
                <a:lnTo>
                  <a:pt x="136980" y="58706"/>
                </a:lnTo>
                <a:cubicBezTo>
                  <a:pt x="136980" y="52199"/>
                  <a:pt x="131745" y="46965"/>
                  <a:pt x="125239" y="46965"/>
                </a:cubicBezTo>
                <a:cubicBezTo>
                  <a:pt x="118732" y="46965"/>
                  <a:pt x="113498" y="52199"/>
                  <a:pt x="113498" y="5870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65294" y="2930589"/>
            <a:ext cx="1239864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频率类参数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1911" y="3381448"/>
            <a:ext cx="447102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控制"</a:t>
            </a:r>
            <a:r>
              <a:rPr lang="en-US" sz="1578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多久交谈一次</a:t>
            </a: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1911" y="3782213"/>
            <a:ext cx="4370835" cy="513479"/>
          </a:xfrm>
          <a:custGeom>
            <a:avLst/>
            <a:gdLst/>
            <a:ahLst/>
            <a:cxnLst/>
            <a:rect l="l" t="t" r="r" b="b"/>
            <a:pathLst>
              <a:path w="4370835" h="513479">
                <a:moveTo>
                  <a:pt x="50095" y="0"/>
                </a:moveTo>
                <a:lnTo>
                  <a:pt x="4320740" y="0"/>
                </a:lnTo>
                <a:cubicBezTo>
                  <a:pt x="4348407" y="0"/>
                  <a:pt x="4370835" y="22428"/>
                  <a:pt x="4370835" y="50095"/>
                </a:cubicBezTo>
                <a:lnTo>
                  <a:pt x="4370835" y="463384"/>
                </a:lnTo>
                <a:cubicBezTo>
                  <a:pt x="4370835" y="491051"/>
                  <a:pt x="4348407" y="513479"/>
                  <a:pt x="4320740" y="513479"/>
                </a:cubicBezTo>
                <a:lnTo>
                  <a:pt x="50095" y="513479"/>
                </a:lnTo>
                <a:cubicBezTo>
                  <a:pt x="22428" y="513479"/>
                  <a:pt x="0" y="491051"/>
                  <a:pt x="0" y="463384"/>
                </a:cubicBezTo>
                <a:lnTo>
                  <a:pt x="0" y="50095"/>
                </a:lnTo>
                <a:cubicBezTo>
                  <a:pt x="0" y="22447"/>
                  <a:pt x="22447" y="0"/>
                  <a:pt x="50095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512017" y="3919975"/>
            <a:ext cx="1345437" cy="23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78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周期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8324" y="2730206"/>
            <a:ext cx="4771599" cy="1765867"/>
          </a:xfrm>
          <a:custGeom>
            <a:avLst/>
            <a:gdLst/>
            <a:ahLst/>
            <a:cxnLst/>
            <a:rect l="l" t="t" r="r" b="b"/>
            <a:pathLst>
              <a:path w="4771599" h="1765867">
                <a:moveTo>
                  <a:pt x="100195" y="0"/>
                </a:moveTo>
                <a:lnTo>
                  <a:pt x="4671404" y="0"/>
                </a:lnTo>
                <a:cubicBezTo>
                  <a:pt x="4726740" y="0"/>
                  <a:pt x="4771599" y="44859"/>
                  <a:pt x="4771599" y="100195"/>
                </a:cubicBezTo>
                <a:lnTo>
                  <a:pt x="4771599" y="1665672"/>
                </a:lnTo>
                <a:cubicBezTo>
                  <a:pt x="4771599" y="1721009"/>
                  <a:pt x="4726740" y="1765867"/>
                  <a:pt x="4671404" y="1765867"/>
                </a:cubicBezTo>
                <a:lnTo>
                  <a:pt x="100195" y="1765867"/>
                </a:lnTo>
                <a:cubicBezTo>
                  <a:pt x="44859" y="1765867"/>
                  <a:pt x="0" y="1721009"/>
                  <a:pt x="0" y="1665672"/>
                </a:cubicBezTo>
                <a:lnTo>
                  <a:pt x="0" y="100195"/>
                </a:lnTo>
                <a:cubicBezTo>
                  <a:pt x="0" y="44896"/>
                  <a:pt x="44896" y="0"/>
                  <a:pt x="100195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015671" y="2980684"/>
            <a:ext cx="219168" cy="250478"/>
          </a:xfrm>
          <a:custGeom>
            <a:avLst/>
            <a:gdLst/>
            <a:ahLst/>
            <a:cxnLst/>
            <a:rect l="l" t="t" r="r" b="b"/>
            <a:pathLst>
              <a:path w="219168" h="250478">
                <a:moveTo>
                  <a:pt x="82188" y="15655"/>
                </a:moveTo>
                <a:lnTo>
                  <a:pt x="11741" y="15655"/>
                </a:lnTo>
                <a:cubicBezTo>
                  <a:pt x="5235" y="15655"/>
                  <a:pt x="0" y="20889"/>
                  <a:pt x="0" y="27396"/>
                </a:cubicBezTo>
                <a:lnTo>
                  <a:pt x="0" y="97843"/>
                </a:lnTo>
                <a:cubicBezTo>
                  <a:pt x="0" y="102588"/>
                  <a:pt x="2837" y="106893"/>
                  <a:pt x="7240" y="108703"/>
                </a:cubicBezTo>
                <a:cubicBezTo>
                  <a:pt x="11643" y="110513"/>
                  <a:pt x="16682" y="109486"/>
                  <a:pt x="20058" y="106159"/>
                </a:cubicBezTo>
                <a:lnTo>
                  <a:pt x="39626" y="86591"/>
                </a:lnTo>
                <a:lnTo>
                  <a:pt x="78274" y="125239"/>
                </a:lnTo>
                <a:lnTo>
                  <a:pt x="39626" y="163887"/>
                </a:lnTo>
                <a:lnTo>
                  <a:pt x="20058" y="144318"/>
                </a:lnTo>
                <a:cubicBezTo>
                  <a:pt x="16682" y="140943"/>
                  <a:pt x="11643" y="139964"/>
                  <a:pt x="7240" y="141774"/>
                </a:cubicBezTo>
                <a:cubicBezTo>
                  <a:pt x="2837" y="143584"/>
                  <a:pt x="0" y="147889"/>
                  <a:pt x="0" y="152635"/>
                </a:cubicBezTo>
                <a:lnTo>
                  <a:pt x="0" y="223082"/>
                </a:lnTo>
                <a:cubicBezTo>
                  <a:pt x="0" y="229588"/>
                  <a:pt x="5235" y="234823"/>
                  <a:pt x="11741" y="234823"/>
                </a:cubicBezTo>
                <a:lnTo>
                  <a:pt x="82188" y="234823"/>
                </a:lnTo>
                <a:cubicBezTo>
                  <a:pt x="86933" y="234823"/>
                  <a:pt x="91238" y="231985"/>
                  <a:pt x="93049" y="227582"/>
                </a:cubicBezTo>
                <a:cubicBezTo>
                  <a:pt x="94859" y="223180"/>
                  <a:pt x="93880" y="218141"/>
                  <a:pt x="90505" y="214765"/>
                </a:cubicBezTo>
                <a:lnTo>
                  <a:pt x="70936" y="195196"/>
                </a:lnTo>
                <a:lnTo>
                  <a:pt x="109584" y="156549"/>
                </a:lnTo>
                <a:lnTo>
                  <a:pt x="148232" y="195196"/>
                </a:lnTo>
                <a:lnTo>
                  <a:pt x="128663" y="214765"/>
                </a:lnTo>
                <a:cubicBezTo>
                  <a:pt x="125288" y="218141"/>
                  <a:pt x="124309" y="223180"/>
                  <a:pt x="126119" y="227582"/>
                </a:cubicBezTo>
                <a:cubicBezTo>
                  <a:pt x="127930" y="231985"/>
                  <a:pt x="132235" y="234823"/>
                  <a:pt x="136980" y="234823"/>
                </a:cubicBezTo>
                <a:lnTo>
                  <a:pt x="207427" y="234823"/>
                </a:lnTo>
                <a:cubicBezTo>
                  <a:pt x="213933" y="234823"/>
                  <a:pt x="219168" y="229588"/>
                  <a:pt x="219168" y="223082"/>
                </a:cubicBezTo>
                <a:lnTo>
                  <a:pt x="219168" y="152635"/>
                </a:lnTo>
                <a:cubicBezTo>
                  <a:pt x="219168" y="147889"/>
                  <a:pt x="216331" y="143584"/>
                  <a:pt x="211928" y="141774"/>
                </a:cubicBezTo>
                <a:cubicBezTo>
                  <a:pt x="207525" y="139964"/>
                  <a:pt x="202486" y="140943"/>
                  <a:pt x="199110" y="144318"/>
                </a:cubicBezTo>
                <a:lnTo>
                  <a:pt x="179542" y="163887"/>
                </a:lnTo>
                <a:lnTo>
                  <a:pt x="140894" y="125239"/>
                </a:lnTo>
                <a:lnTo>
                  <a:pt x="179542" y="86591"/>
                </a:lnTo>
                <a:lnTo>
                  <a:pt x="199110" y="106159"/>
                </a:lnTo>
                <a:cubicBezTo>
                  <a:pt x="202486" y="109535"/>
                  <a:pt x="207525" y="110513"/>
                  <a:pt x="211928" y="108703"/>
                </a:cubicBezTo>
                <a:cubicBezTo>
                  <a:pt x="216331" y="106893"/>
                  <a:pt x="219168" y="102588"/>
                  <a:pt x="219168" y="97843"/>
                </a:cubicBezTo>
                <a:lnTo>
                  <a:pt x="219168" y="27396"/>
                </a:lnTo>
                <a:cubicBezTo>
                  <a:pt x="219168" y="20889"/>
                  <a:pt x="213933" y="15655"/>
                  <a:pt x="207427" y="15655"/>
                </a:cubicBezTo>
                <a:lnTo>
                  <a:pt x="136980" y="15655"/>
                </a:lnTo>
                <a:cubicBezTo>
                  <a:pt x="132235" y="15655"/>
                  <a:pt x="127930" y="18492"/>
                  <a:pt x="126119" y="22895"/>
                </a:cubicBezTo>
                <a:cubicBezTo>
                  <a:pt x="124309" y="27298"/>
                  <a:pt x="125337" y="32337"/>
                  <a:pt x="128663" y="35713"/>
                </a:cubicBezTo>
                <a:lnTo>
                  <a:pt x="148232" y="55281"/>
                </a:lnTo>
                <a:lnTo>
                  <a:pt x="109584" y="93929"/>
                </a:lnTo>
                <a:lnTo>
                  <a:pt x="70936" y="55281"/>
                </a:lnTo>
                <a:lnTo>
                  <a:pt x="90505" y="35713"/>
                </a:lnTo>
                <a:cubicBezTo>
                  <a:pt x="93880" y="32337"/>
                  <a:pt x="94859" y="27298"/>
                  <a:pt x="93049" y="22895"/>
                </a:cubicBezTo>
                <a:cubicBezTo>
                  <a:pt x="91238" y="18492"/>
                  <a:pt x="86933" y="15655"/>
                  <a:pt x="82188" y="156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32090" y="2930589"/>
            <a:ext cx="1239864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规模类参数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8706" y="3381448"/>
            <a:ext cx="447102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控制"</a:t>
            </a:r>
            <a:r>
              <a:rPr lang="en-US" sz="1578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一次和多少人交谈</a:t>
            </a: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68706" y="3782213"/>
            <a:ext cx="4370835" cy="513479"/>
          </a:xfrm>
          <a:custGeom>
            <a:avLst/>
            <a:gdLst/>
            <a:ahLst/>
            <a:cxnLst/>
            <a:rect l="l" t="t" r="r" b="b"/>
            <a:pathLst>
              <a:path w="4370835" h="513479">
                <a:moveTo>
                  <a:pt x="50095" y="0"/>
                </a:moveTo>
                <a:lnTo>
                  <a:pt x="4320740" y="0"/>
                </a:lnTo>
                <a:cubicBezTo>
                  <a:pt x="4348407" y="0"/>
                  <a:pt x="4370835" y="22428"/>
                  <a:pt x="4370835" y="50095"/>
                </a:cubicBezTo>
                <a:lnTo>
                  <a:pt x="4370835" y="463384"/>
                </a:lnTo>
                <a:cubicBezTo>
                  <a:pt x="4370835" y="491051"/>
                  <a:pt x="4348407" y="513479"/>
                  <a:pt x="4320740" y="513479"/>
                </a:cubicBezTo>
                <a:lnTo>
                  <a:pt x="50095" y="513479"/>
                </a:lnTo>
                <a:cubicBezTo>
                  <a:pt x="22428" y="513479"/>
                  <a:pt x="0" y="491051"/>
                  <a:pt x="0" y="463384"/>
                </a:cubicBezTo>
                <a:lnTo>
                  <a:pt x="0" y="50095"/>
                </a:lnTo>
                <a:cubicBezTo>
                  <a:pt x="0" y="22447"/>
                  <a:pt x="22447" y="0"/>
                  <a:pt x="50095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978934" y="3919975"/>
            <a:ext cx="2345293" cy="23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78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目标节点数, 消息条目数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35218" y="2730206"/>
            <a:ext cx="4771599" cy="1765867"/>
          </a:xfrm>
          <a:custGeom>
            <a:avLst/>
            <a:gdLst/>
            <a:ahLst/>
            <a:cxnLst/>
            <a:rect l="l" t="t" r="r" b="b"/>
            <a:pathLst>
              <a:path w="4771599" h="1765867">
                <a:moveTo>
                  <a:pt x="100195" y="0"/>
                </a:moveTo>
                <a:lnTo>
                  <a:pt x="4671404" y="0"/>
                </a:lnTo>
                <a:cubicBezTo>
                  <a:pt x="4726740" y="0"/>
                  <a:pt x="4771599" y="44859"/>
                  <a:pt x="4771599" y="100195"/>
                </a:cubicBezTo>
                <a:lnTo>
                  <a:pt x="4771599" y="1665672"/>
                </a:lnTo>
                <a:cubicBezTo>
                  <a:pt x="4771599" y="1721009"/>
                  <a:pt x="4726740" y="1765867"/>
                  <a:pt x="4671404" y="1765867"/>
                </a:cubicBezTo>
                <a:lnTo>
                  <a:pt x="100195" y="1765867"/>
                </a:lnTo>
                <a:cubicBezTo>
                  <a:pt x="44859" y="1765867"/>
                  <a:pt x="0" y="1721009"/>
                  <a:pt x="0" y="1665672"/>
                </a:cubicBezTo>
                <a:lnTo>
                  <a:pt x="0" y="100195"/>
                </a:lnTo>
                <a:cubicBezTo>
                  <a:pt x="0" y="44896"/>
                  <a:pt x="44896" y="0"/>
                  <a:pt x="100195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998220" y="2980684"/>
            <a:ext cx="187858" cy="250478"/>
          </a:xfrm>
          <a:custGeom>
            <a:avLst/>
            <a:gdLst/>
            <a:ahLst/>
            <a:cxnLst/>
            <a:rect l="l" t="t" r="r" b="b"/>
            <a:pathLst>
              <a:path w="187858" h="250478">
                <a:moveTo>
                  <a:pt x="15655" y="0"/>
                </a:moveTo>
                <a:cubicBezTo>
                  <a:pt x="6996" y="0"/>
                  <a:pt x="0" y="6996"/>
                  <a:pt x="0" y="15655"/>
                </a:cubicBezTo>
                <a:cubicBezTo>
                  <a:pt x="0" y="24314"/>
                  <a:pt x="6996" y="31310"/>
                  <a:pt x="15655" y="31310"/>
                </a:cubicBezTo>
                <a:lnTo>
                  <a:pt x="15655" y="36691"/>
                </a:lnTo>
                <a:cubicBezTo>
                  <a:pt x="15655" y="57434"/>
                  <a:pt x="23923" y="77345"/>
                  <a:pt x="38599" y="92021"/>
                </a:cubicBezTo>
                <a:lnTo>
                  <a:pt x="71817" y="125239"/>
                </a:lnTo>
                <a:lnTo>
                  <a:pt x="38599" y="158456"/>
                </a:lnTo>
                <a:cubicBezTo>
                  <a:pt x="23923" y="173133"/>
                  <a:pt x="15655" y="193044"/>
                  <a:pt x="15655" y="213787"/>
                </a:cubicBezTo>
                <a:lnTo>
                  <a:pt x="15655" y="219168"/>
                </a:lnTo>
                <a:cubicBezTo>
                  <a:pt x="6996" y="219168"/>
                  <a:pt x="0" y="226164"/>
                  <a:pt x="0" y="234823"/>
                </a:cubicBezTo>
                <a:cubicBezTo>
                  <a:pt x="0" y="243482"/>
                  <a:pt x="6996" y="250478"/>
                  <a:pt x="15655" y="250478"/>
                </a:cubicBezTo>
                <a:lnTo>
                  <a:pt x="172203" y="250478"/>
                </a:lnTo>
                <a:cubicBezTo>
                  <a:pt x="180862" y="250478"/>
                  <a:pt x="187858" y="243482"/>
                  <a:pt x="187858" y="234823"/>
                </a:cubicBezTo>
                <a:cubicBezTo>
                  <a:pt x="187858" y="226164"/>
                  <a:pt x="180862" y="219168"/>
                  <a:pt x="172203" y="219168"/>
                </a:cubicBezTo>
                <a:lnTo>
                  <a:pt x="172203" y="213787"/>
                </a:lnTo>
                <a:cubicBezTo>
                  <a:pt x="172203" y="193044"/>
                  <a:pt x="163936" y="173133"/>
                  <a:pt x="149259" y="158456"/>
                </a:cubicBezTo>
                <a:lnTo>
                  <a:pt x="116042" y="125239"/>
                </a:lnTo>
                <a:lnTo>
                  <a:pt x="149259" y="92021"/>
                </a:lnTo>
                <a:cubicBezTo>
                  <a:pt x="163936" y="77345"/>
                  <a:pt x="172203" y="57434"/>
                  <a:pt x="172203" y="36691"/>
                </a:cubicBezTo>
                <a:lnTo>
                  <a:pt x="172203" y="31310"/>
                </a:lnTo>
                <a:cubicBezTo>
                  <a:pt x="180862" y="31310"/>
                  <a:pt x="187858" y="24314"/>
                  <a:pt x="187858" y="15655"/>
                </a:cubicBezTo>
                <a:cubicBezTo>
                  <a:pt x="187858" y="6996"/>
                  <a:pt x="180862" y="0"/>
                  <a:pt x="172203" y="0"/>
                </a:cubicBezTo>
                <a:lnTo>
                  <a:pt x="15655" y="0"/>
                </a:lnTo>
                <a:close/>
                <a:moveTo>
                  <a:pt x="46965" y="36691"/>
                </a:moveTo>
                <a:lnTo>
                  <a:pt x="46965" y="31310"/>
                </a:lnTo>
                <a:lnTo>
                  <a:pt x="140894" y="31310"/>
                </a:lnTo>
                <a:lnTo>
                  <a:pt x="140894" y="36691"/>
                </a:lnTo>
                <a:cubicBezTo>
                  <a:pt x="140894" y="45986"/>
                  <a:pt x="138154" y="54988"/>
                  <a:pt x="133066" y="62619"/>
                </a:cubicBezTo>
                <a:lnTo>
                  <a:pt x="54792" y="62619"/>
                </a:lnTo>
                <a:cubicBezTo>
                  <a:pt x="49753" y="54988"/>
                  <a:pt x="46965" y="45986"/>
                  <a:pt x="46965" y="36691"/>
                </a:cubicBezTo>
                <a:close/>
                <a:moveTo>
                  <a:pt x="54792" y="187858"/>
                </a:moveTo>
                <a:cubicBezTo>
                  <a:pt x="56504" y="185265"/>
                  <a:pt x="58510" y="182819"/>
                  <a:pt x="60711" y="180569"/>
                </a:cubicBezTo>
                <a:lnTo>
                  <a:pt x="93929" y="147351"/>
                </a:lnTo>
                <a:lnTo>
                  <a:pt x="127147" y="180569"/>
                </a:lnTo>
                <a:cubicBezTo>
                  <a:pt x="129397" y="182819"/>
                  <a:pt x="131354" y="185265"/>
                  <a:pt x="133115" y="187858"/>
                </a:cubicBezTo>
                <a:lnTo>
                  <a:pt x="54792" y="18785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398984" y="2930589"/>
            <a:ext cx="1239864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5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超时类参数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35600" y="3381448"/>
            <a:ext cx="447102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控制"</a:t>
            </a:r>
            <a:r>
              <a:rPr lang="en-US" sz="1578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什么时候认为节点有问题</a:t>
            </a:r>
            <a:r>
              <a:rPr lang="en-US" sz="1578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35600" y="3782213"/>
            <a:ext cx="4370835" cy="513479"/>
          </a:xfrm>
          <a:custGeom>
            <a:avLst/>
            <a:gdLst/>
            <a:ahLst/>
            <a:cxnLst/>
            <a:rect l="l" t="t" r="r" b="b"/>
            <a:pathLst>
              <a:path w="4370835" h="513479">
                <a:moveTo>
                  <a:pt x="50095" y="0"/>
                </a:moveTo>
                <a:lnTo>
                  <a:pt x="4320740" y="0"/>
                </a:lnTo>
                <a:cubicBezTo>
                  <a:pt x="4348407" y="0"/>
                  <a:pt x="4370835" y="22428"/>
                  <a:pt x="4370835" y="50095"/>
                </a:cubicBezTo>
                <a:lnTo>
                  <a:pt x="4370835" y="463384"/>
                </a:lnTo>
                <a:cubicBezTo>
                  <a:pt x="4370835" y="491051"/>
                  <a:pt x="4348407" y="513479"/>
                  <a:pt x="4320740" y="513479"/>
                </a:cubicBezTo>
                <a:lnTo>
                  <a:pt x="50095" y="513479"/>
                </a:lnTo>
                <a:cubicBezTo>
                  <a:pt x="22428" y="513479"/>
                  <a:pt x="0" y="491051"/>
                  <a:pt x="0" y="463384"/>
                </a:cubicBezTo>
                <a:lnTo>
                  <a:pt x="0" y="50095"/>
                </a:lnTo>
                <a:cubicBezTo>
                  <a:pt x="0" y="22447"/>
                  <a:pt x="22447" y="0"/>
                  <a:pt x="50095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467232" y="3919975"/>
            <a:ext cx="1302484" cy="23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78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可疑超时时间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6003" y="4940672"/>
            <a:ext cx="15229042" cy="4195501"/>
          </a:xfrm>
          <a:custGeom>
            <a:avLst/>
            <a:gdLst/>
            <a:ahLst/>
            <a:cxnLst/>
            <a:rect l="l" t="t" r="r" b="b"/>
            <a:pathLst>
              <a:path w="15229042" h="4195501">
                <a:moveTo>
                  <a:pt x="50096" y="0"/>
                </a:moveTo>
                <a:lnTo>
                  <a:pt x="15128853" y="0"/>
                </a:lnTo>
                <a:cubicBezTo>
                  <a:pt x="15184186" y="0"/>
                  <a:pt x="15229042" y="44856"/>
                  <a:pt x="15229042" y="100189"/>
                </a:cubicBezTo>
                <a:lnTo>
                  <a:pt x="15229042" y="4095312"/>
                </a:lnTo>
                <a:cubicBezTo>
                  <a:pt x="15229042" y="4150645"/>
                  <a:pt x="15184186" y="4195501"/>
                  <a:pt x="15128853" y="4195501"/>
                </a:cubicBezTo>
                <a:lnTo>
                  <a:pt x="50096" y="4195501"/>
                </a:lnTo>
                <a:cubicBezTo>
                  <a:pt x="22429" y="4195501"/>
                  <a:pt x="0" y="4173072"/>
                  <a:pt x="0" y="4145405"/>
                </a:cubicBezTo>
                <a:lnTo>
                  <a:pt x="0" y="50096"/>
                </a:lnTo>
                <a:cubicBezTo>
                  <a:pt x="0" y="22447"/>
                  <a:pt x="22447" y="0"/>
                  <a:pt x="50096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26003" y="4940672"/>
            <a:ext cx="50096" cy="4195501"/>
          </a:xfrm>
          <a:custGeom>
            <a:avLst/>
            <a:gdLst/>
            <a:ahLst/>
            <a:cxnLst/>
            <a:rect l="l" t="t" r="r" b="b"/>
            <a:pathLst>
              <a:path w="50096" h="4195501">
                <a:moveTo>
                  <a:pt x="50096" y="0"/>
                </a:moveTo>
                <a:lnTo>
                  <a:pt x="50096" y="0"/>
                </a:lnTo>
                <a:lnTo>
                  <a:pt x="50096" y="4195501"/>
                </a:lnTo>
                <a:lnTo>
                  <a:pt x="50096" y="4195501"/>
                </a:lnTo>
                <a:cubicBezTo>
                  <a:pt x="22429" y="4195501"/>
                  <a:pt x="0" y="4173072"/>
                  <a:pt x="0" y="4145405"/>
                </a:cubicBezTo>
                <a:lnTo>
                  <a:pt x="0" y="50096"/>
                </a:lnTo>
                <a:cubicBezTo>
                  <a:pt x="0" y="22447"/>
                  <a:pt x="22447" y="0"/>
                  <a:pt x="50096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01529" y="5191149"/>
            <a:ext cx="14853325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典型参数取值范围与调优侧重点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1529" y="5792296"/>
          <a:ext cx="14703038" cy="3093400"/>
        </p:xfrm>
        <a:graphic>
          <a:graphicData uri="http://schemas.openxmlformats.org/drawingml/2006/table">
            <a:tbl>
              <a:tblPr/>
              <a:tblGrid>
                <a:gridCol w="319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3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9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68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E1E8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E1E8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典型取值范围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E1E8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主要影响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E1E8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调优侧重点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68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Gossip 周期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100ms – 1s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收敛速度、CPU 开销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写多读少系统可适当增大周期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5F8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68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每轮目标节点数量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– 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收敛速度、带宽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大规模集群可选择 &gt;1 提升收敛速度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68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消息携带的条目数量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数十到数百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带宽、延迟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优先携带最近更新且热点的数据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68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可疑超时时间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若干个 Gossip 周期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误判率、恢复速度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8899A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不稳定网络环境下应适当放宽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338667"/>
          </a:xfrm>
          <a:custGeom>
            <a:avLst/>
            <a:gdLst/>
            <a:ahLst/>
            <a:cxnLst/>
            <a:rect l="l" t="t" r="r" b="b"/>
            <a:pathLst>
              <a:path w="84667" h="338667">
                <a:moveTo>
                  <a:pt x="0" y="0"/>
                </a:moveTo>
                <a:lnTo>
                  <a:pt x="84667" y="0"/>
                </a:lnTo>
                <a:lnTo>
                  <a:pt x="84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4148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参数调优：两种典型配置模式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164167"/>
            <a:ext cx="7577667" cy="5820833"/>
          </a:xfrm>
          <a:custGeom>
            <a:avLst/>
            <a:gdLst/>
            <a:ahLst/>
            <a:cxnLst/>
            <a:rect l="l" t="t" r="r" b="b"/>
            <a:pathLst>
              <a:path w="7577667" h="5820833">
                <a:moveTo>
                  <a:pt x="42333" y="0"/>
                </a:moveTo>
                <a:lnTo>
                  <a:pt x="7535333" y="0"/>
                </a:lnTo>
                <a:cubicBezTo>
                  <a:pt x="7558713" y="0"/>
                  <a:pt x="7577667" y="18953"/>
                  <a:pt x="7577667" y="42333"/>
                </a:cubicBezTo>
                <a:lnTo>
                  <a:pt x="7577667" y="5736140"/>
                </a:lnTo>
                <a:cubicBezTo>
                  <a:pt x="7577667" y="5782915"/>
                  <a:pt x="7539748" y="5820833"/>
                  <a:pt x="7492974" y="5820833"/>
                </a:cubicBezTo>
                <a:lnTo>
                  <a:pt x="84693" y="5820833"/>
                </a:lnTo>
                <a:cubicBezTo>
                  <a:pt x="37918" y="5820833"/>
                  <a:pt x="0" y="5782915"/>
                  <a:pt x="0" y="573614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23333" y="1164167"/>
            <a:ext cx="7577667" cy="42333"/>
          </a:xfrm>
          <a:custGeom>
            <a:avLst/>
            <a:gdLst/>
            <a:ahLst/>
            <a:cxnLst/>
            <a:rect l="l" t="t" r="r" b="b"/>
            <a:pathLst>
              <a:path w="7577667" h="42333">
                <a:moveTo>
                  <a:pt x="42333" y="0"/>
                </a:moveTo>
                <a:lnTo>
                  <a:pt x="7535333" y="0"/>
                </a:lnTo>
                <a:cubicBezTo>
                  <a:pt x="7558713" y="0"/>
                  <a:pt x="7577667" y="18953"/>
                  <a:pt x="7577667" y="42333"/>
                </a:cubicBezTo>
                <a:lnTo>
                  <a:pt x="7577667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77333" y="1439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4333" y="1566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12333" y="1524000"/>
            <a:ext cx="15451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高频小批量模式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7333" y="2116667"/>
            <a:ext cx="7069667" cy="1524000"/>
          </a:xfrm>
          <a:custGeom>
            <a:avLst/>
            <a:gdLst/>
            <a:ahLst/>
            <a:cxnLst/>
            <a:rect l="l" t="t" r="r" b="b"/>
            <a:pathLst>
              <a:path w="7069667" h="1524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439327"/>
                </a:lnTo>
                <a:cubicBezTo>
                  <a:pt x="7069667" y="1486090"/>
                  <a:pt x="7031757" y="1524000"/>
                  <a:pt x="6984993" y="1524000"/>
                </a:cubicBezTo>
                <a:lnTo>
                  <a:pt x="84673" y="1524000"/>
                </a:lnTo>
                <a:cubicBezTo>
                  <a:pt x="37910" y="1524000"/>
                  <a:pt x="0" y="1486090"/>
                  <a:pt x="0" y="1439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6667" y="2286000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配置特点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6667" y="2624667"/>
            <a:ext cx="1354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短 Gossip 周期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4822" y="2645833"/>
            <a:ext cx="87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100-500ms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667" y="2921000"/>
            <a:ext cx="1576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较小目标节点数量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642" y="2942167"/>
            <a:ext cx="476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1-2 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667" y="3217333"/>
            <a:ext cx="1068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较小消息体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85000" y="3238500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少量条目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7333" y="3810000"/>
            <a:ext cx="7069667" cy="1608667"/>
          </a:xfrm>
          <a:custGeom>
            <a:avLst/>
            <a:gdLst/>
            <a:ahLst/>
            <a:cxnLst/>
            <a:rect l="l" t="t" r="r" b="b"/>
            <a:pathLst>
              <a:path w="7069667" h="1608667">
                <a:moveTo>
                  <a:pt x="84664" y="0"/>
                </a:moveTo>
                <a:lnTo>
                  <a:pt x="6985003" y="0"/>
                </a:lnTo>
                <a:cubicBezTo>
                  <a:pt x="7031761" y="0"/>
                  <a:pt x="7069667" y="37905"/>
                  <a:pt x="7069667" y="84664"/>
                </a:cubicBezTo>
                <a:lnTo>
                  <a:pt x="7069667" y="1524003"/>
                </a:lnTo>
                <a:cubicBezTo>
                  <a:pt x="7069667" y="1570761"/>
                  <a:pt x="7031761" y="1608667"/>
                  <a:pt x="6985003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667" y="3979333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7094" y="4360333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16542" y="4318000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延迟较敏感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的系统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7094" y="469900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16542" y="4656667"/>
            <a:ext cx="143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集群规模相对较小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7094" y="5037667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16542" y="4995333"/>
            <a:ext cx="465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希望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快速感知拓扑变化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（如在线服务发现、低延迟配置下发）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7333" y="5588000"/>
            <a:ext cx="7069667" cy="1143000"/>
          </a:xfrm>
          <a:custGeom>
            <a:avLst/>
            <a:gdLst/>
            <a:ahLst/>
            <a:cxnLst/>
            <a:rect l="l" t="t" r="r" b="b"/>
            <a:pathLst>
              <a:path w="7069667" h="1143000">
                <a:moveTo>
                  <a:pt x="84662" y="0"/>
                </a:moveTo>
                <a:lnTo>
                  <a:pt x="6985005" y="0"/>
                </a:lnTo>
                <a:cubicBezTo>
                  <a:pt x="7031762" y="0"/>
                  <a:pt x="7069667" y="37904"/>
                  <a:pt x="7069667" y="84662"/>
                </a:cubicBezTo>
                <a:lnTo>
                  <a:pt x="7069667" y="1058338"/>
                </a:lnTo>
                <a:cubicBezTo>
                  <a:pt x="7069667" y="1105096"/>
                  <a:pt x="7031762" y="1143000"/>
                  <a:pt x="6985005" y="1143000"/>
                </a:cubicBezTo>
                <a:lnTo>
                  <a:pt x="84662" y="1143000"/>
                </a:lnTo>
                <a:cubicBezTo>
                  <a:pt x="37904" y="1143000"/>
                  <a:pt x="0" y="1105096"/>
                  <a:pt x="0" y="1058338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6667" y="5757333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影响分析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6354" y="6138333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62103" y="5035"/>
                </a:moveTo>
                <a:cubicBezTo>
                  <a:pt x="58485" y="1418"/>
                  <a:pt x="52611" y="1418"/>
                  <a:pt x="48993" y="5035"/>
                </a:cubicBezTo>
                <a:lnTo>
                  <a:pt x="2691" y="51337"/>
                </a:lnTo>
                <a:cubicBezTo>
                  <a:pt x="-926" y="54955"/>
                  <a:pt x="-926" y="60829"/>
                  <a:pt x="2691" y="64447"/>
                </a:cubicBezTo>
                <a:cubicBezTo>
                  <a:pt x="6309" y="68064"/>
                  <a:pt x="12183" y="68064"/>
                  <a:pt x="15801" y="64447"/>
                </a:cubicBezTo>
                <a:lnTo>
                  <a:pt x="46302" y="33945"/>
                </a:lnTo>
                <a:lnTo>
                  <a:pt x="46302" y="141221"/>
                </a:lnTo>
                <a:cubicBezTo>
                  <a:pt x="46302" y="146344"/>
                  <a:pt x="50440" y="150482"/>
                  <a:pt x="55562" y="150482"/>
                </a:cubicBezTo>
                <a:cubicBezTo>
                  <a:pt x="60685" y="150482"/>
                  <a:pt x="64823" y="146344"/>
                  <a:pt x="64823" y="141221"/>
                </a:cubicBezTo>
                <a:lnTo>
                  <a:pt x="64823" y="33945"/>
                </a:lnTo>
                <a:lnTo>
                  <a:pt x="95324" y="64447"/>
                </a:lnTo>
                <a:cubicBezTo>
                  <a:pt x="98942" y="68064"/>
                  <a:pt x="104816" y="68064"/>
                  <a:pt x="108434" y="64447"/>
                </a:cubicBezTo>
                <a:cubicBezTo>
                  <a:pt x="112051" y="60829"/>
                  <a:pt x="112051" y="54955"/>
                  <a:pt x="108434" y="51337"/>
                </a:cubicBezTo>
                <a:lnTo>
                  <a:pt x="62132" y="5035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16542" y="6111875"/>
            <a:ext cx="93133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收敛速度快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6542" y="6350000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快速传播更新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15354" y="6138333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49022" y="145446"/>
                </a:moveTo>
                <a:cubicBezTo>
                  <a:pt x="52640" y="149064"/>
                  <a:pt x="58514" y="149064"/>
                  <a:pt x="62132" y="145446"/>
                </a:cubicBezTo>
                <a:lnTo>
                  <a:pt x="108434" y="99144"/>
                </a:lnTo>
                <a:cubicBezTo>
                  <a:pt x="112051" y="95527"/>
                  <a:pt x="112051" y="89652"/>
                  <a:pt x="108434" y="86035"/>
                </a:cubicBezTo>
                <a:cubicBezTo>
                  <a:pt x="104816" y="82418"/>
                  <a:pt x="98942" y="82418"/>
                  <a:pt x="95324" y="86035"/>
                </a:cubicBezTo>
                <a:lnTo>
                  <a:pt x="64823" y="116537"/>
                </a:lnTo>
                <a:lnTo>
                  <a:pt x="64823" y="9260"/>
                </a:lnTo>
                <a:cubicBezTo>
                  <a:pt x="64823" y="4138"/>
                  <a:pt x="60685" y="0"/>
                  <a:pt x="55562" y="0"/>
                </a:cubicBezTo>
                <a:cubicBezTo>
                  <a:pt x="50440" y="0"/>
                  <a:pt x="46302" y="4138"/>
                  <a:pt x="46302" y="9260"/>
                </a:cubicBezTo>
                <a:lnTo>
                  <a:pt x="46302" y="116537"/>
                </a:lnTo>
                <a:lnTo>
                  <a:pt x="15801" y="86035"/>
                </a:lnTo>
                <a:cubicBezTo>
                  <a:pt x="12183" y="82418"/>
                  <a:pt x="6309" y="82418"/>
                  <a:pt x="2691" y="86035"/>
                </a:cubicBezTo>
                <a:cubicBezTo>
                  <a:pt x="-926" y="89652"/>
                  <a:pt x="-926" y="95527"/>
                  <a:pt x="2691" y="99144"/>
                </a:cubicBezTo>
                <a:lnTo>
                  <a:pt x="48993" y="145446"/>
                </a:lnTo>
                <a:close/>
              </a:path>
            </a:pathLst>
          </a:custGeom>
          <a:solidFill>
            <a:srgbClr val="8899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545542" y="6111875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开销较大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45542" y="6350000"/>
            <a:ext cx="1259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需确保开销可接受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5000" y="1164167"/>
            <a:ext cx="7577667" cy="5820833"/>
          </a:xfrm>
          <a:custGeom>
            <a:avLst/>
            <a:gdLst/>
            <a:ahLst/>
            <a:cxnLst/>
            <a:rect l="l" t="t" r="r" b="b"/>
            <a:pathLst>
              <a:path w="7577667" h="5820833">
                <a:moveTo>
                  <a:pt x="42333" y="0"/>
                </a:moveTo>
                <a:lnTo>
                  <a:pt x="7535333" y="0"/>
                </a:lnTo>
                <a:cubicBezTo>
                  <a:pt x="7558713" y="0"/>
                  <a:pt x="7577667" y="18953"/>
                  <a:pt x="7577667" y="42333"/>
                </a:cubicBezTo>
                <a:lnTo>
                  <a:pt x="7577667" y="5736140"/>
                </a:lnTo>
                <a:cubicBezTo>
                  <a:pt x="7577667" y="5782915"/>
                  <a:pt x="7539748" y="5820833"/>
                  <a:pt x="7492974" y="5820833"/>
                </a:cubicBezTo>
                <a:lnTo>
                  <a:pt x="84693" y="5820833"/>
                </a:lnTo>
                <a:cubicBezTo>
                  <a:pt x="37918" y="5820833"/>
                  <a:pt x="0" y="5782915"/>
                  <a:pt x="0" y="573614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55000" y="1164167"/>
            <a:ext cx="7577667" cy="42333"/>
          </a:xfrm>
          <a:custGeom>
            <a:avLst/>
            <a:gdLst/>
            <a:ahLst/>
            <a:cxnLst/>
            <a:rect l="l" t="t" r="r" b="b"/>
            <a:pathLst>
              <a:path w="7577667" h="42333">
                <a:moveTo>
                  <a:pt x="42333" y="0"/>
                </a:moveTo>
                <a:lnTo>
                  <a:pt x="7535333" y="0"/>
                </a:lnTo>
                <a:cubicBezTo>
                  <a:pt x="7558713" y="0"/>
                  <a:pt x="7577667" y="18953"/>
                  <a:pt x="7577667" y="42333"/>
                </a:cubicBezTo>
                <a:lnTo>
                  <a:pt x="7577667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509000" y="1439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51875" y="156633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79375" y="31750"/>
                </a:moveTo>
                <a:cubicBezTo>
                  <a:pt x="79375" y="22969"/>
                  <a:pt x="72281" y="15875"/>
                  <a:pt x="63500" y="15875"/>
                </a:cubicBezTo>
                <a:cubicBezTo>
                  <a:pt x="54719" y="15875"/>
                  <a:pt x="47625" y="22969"/>
                  <a:pt x="47625" y="31750"/>
                </a:cubicBezTo>
                <a:lnTo>
                  <a:pt x="47625" y="63500"/>
                </a:lnTo>
                <a:lnTo>
                  <a:pt x="15875" y="63500"/>
                </a:lnTo>
                <a:cubicBezTo>
                  <a:pt x="7094" y="63500"/>
                  <a:pt x="0" y="70594"/>
                  <a:pt x="0" y="79375"/>
                </a:cubicBezTo>
                <a:cubicBezTo>
                  <a:pt x="0" y="88156"/>
                  <a:pt x="7094" y="95250"/>
                  <a:pt x="15875" y="95250"/>
                </a:cubicBezTo>
                <a:lnTo>
                  <a:pt x="63500" y="95250"/>
                </a:lnTo>
                <a:cubicBezTo>
                  <a:pt x="72281" y="95250"/>
                  <a:pt x="79375" y="88156"/>
                  <a:pt x="79375" y="79375"/>
                </a:cubicBezTo>
                <a:lnTo>
                  <a:pt x="79375" y="31750"/>
                </a:lnTo>
                <a:close/>
                <a:moveTo>
                  <a:pt x="15875" y="158750"/>
                </a:moveTo>
                <a:cubicBezTo>
                  <a:pt x="7094" y="158750"/>
                  <a:pt x="0" y="165844"/>
                  <a:pt x="0" y="174625"/>
                </a:cubicBezTo>
                <a:cubicBezTo>
                  <a:pt x="0" y="183406"/>
                  <a:pt x="7094" y="190500"/>
                  <a:pt x="15875" y="190500"/>
                </a:cubicBezTo>
                <a:lnTo>
                  <a:pt x="47625" y="190500"/>
                </a:lnTo>
                <a:lnTo>
                  <a:pt x="47625" y="222250"/>
                </a:lnTo>
                <a:cubicBezTo>
                  <a:pt x="47625" y="231031"/>
                  <a:pt x="54719" y="238125"/>
                  <a:pt x="63500" y="238125"/>
                </a:cubicBezTo>
                <a:cubicBezTo>
                  <a:pt x="72281" y="238125"/>
                  <a:pt x="79375" y="231031"/>
                  <a:pt x="79375" y="222250"/>
                </a:cubicBezTo>
                <a:lnTo>
                  <a:pt x="79375" y="174625"/>
                </a:lnTo>
                <a:cubicBezTo>
                  <a:pt x="79375" y="165844"/>
                  <a:pt x="72281" y="158750"/>
                  <a:pt x="63500" y="158750"/>
                </a:cubicBezTo>
                <a:lnTo>
                  <a:pt x="15875" y="158750"/>
                </a:lnTo>
                <a:close/>
                <a:moveTo>
                  <a:pt x="174625" y="31750"/>
                </a:moveTo>
                <a:cubicBezTo>
                  <a:pt x="174625" y="22969"/>
                  <a:pt x="167531" y="15875"/>
                  <a:pt x="158750" y="15875"/>
                </a:cubicBezTo>
                <a:cubicBezTo>
                  <a:pt x="149969" y="15875"/>
                  <a:pt x="142875" y="22969"/>
                  <a:pt x="142875" y="31750"/>
                </a:cubicBezTo>
                <a:lnTo>
                  <a:pt x="142875" y="79375"/>
                </a:lnTo>
                <a:cubicBezTo>
                  <a:pt x="142875" y="88156"/>
                  <a:pt x="149969" y="95250"/>
                  <a:pt x="158750" y="95250"/>
                </a:cubicBezTo>
                <a:lnTo>
                  <a:pt x="206375" y="95250"/>
                </a:lnTo>
                <a:cubicBezTo>
                  <a:pt x="215156" y="95250"/>
                  <a:pt x="222250" y="88156"/>
                  <a:pt x="222250" y="79375"/>
                </a:cubicBezTo>
                <a:cubicBezTo>
                  <a:pt x="222250" y="70594"/>
                  <a:pt x="215156" y="63500"/>
                  <a:pt x="206375" y="63500"/>
                </a:cubicBezTo>
                <a:lnTo>
                  <a:pt x="174625" y="63500"/>
                </a:lnTo>
                <a:lnTo>
                  <a:pt x="174625" y="31750"/>
                </a:lnTo>
                <a:close/>
                <a:moveTo>
                  <a:pt x="158750" y="158750"/>
                </a:moveTo>
                <a:cubicBezTo>
                  <a:pt x="149969" y="158750"/>
                  <a:pt x="142875" y="165844"/>
                  <a:pt x="142875" y="174625"/>
                </a:cubicBezTo>
                <a:lnTo>
                  <a:pt x="142875" y="222250"/>
                </a:lnTo>
                <a:cubicBezTo>
                  <a:pt x="142875" y="231031"/>
                  <a:pt x="149969" y="238125"/>
                  <a:pt x="158750" y="238125"/>
                </a:cubicBezTo>
                <a:cubicBezTo>
                  <a:pt x="167531" y="238125"/>
                  <a:pt x="174625" y="231031"/>
                  <a:pt x="174625" y="222250"/>
                </a:cubicBezTo>
                <a:lnTo>
                  <a:pt x="174625" y="190500"/>
                </a:lnTo>
                <a:lnTo>
                  <a:pt x="206375" y="190500"/>
                </a:lnTo>
                <a:cubicBezTo>
                  <a:pt x="215156" y="190500"/>
                  <a:pt x="222250" y="183406"/>
                  <a:pt x="222250" y="174625"/>
                </a:cubicBezTo>
                <a:cubicBezTo>
                  <a:pt x="222250" y="165844"/>
                  <a:pt x="215156" y="158750"/>
                  <a:pt x="206375" y="158750"/>
                </a:cubicBezTo>
                <a:lnTo>
                  <a:pt x="158750" y="15875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44000" y="1524000"/>
            <a:ext cx="1344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低频批量模式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9000" y="2116667"/>
            <a:ext cx="7069667" cy="1524000"/>
          </a:xfrm>
          <a:custGeom>
            <a:avLst/>
            <a:gdLst/>
            <a:ahLst/>
            <a:cxnLst/>
            <a:rect l="l" t="t" r="r" b="b"/>
            <a:pathLst>
              <a:path w="7069667" h="1524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439327"/>
                </a:lnTo>
                <a:cubicBezTo>
                  <a:pt x="7069667" y="1486090"/>
                  <a:pt x="7031757" y="1524000"/>
                  <a:pt x="6984993" y="1524000"/>
                </a:cubicBezTo>
                <a:lnTo>
                  <a:pt x="84673" y="1524000"/>
                </a:lnTo>
                <a:cubicBezTo>
                  <a:pt x="37910" y="1524000"/>
                  <a:pt x="0" y="1486090"/>
                  <a:pt x="0" y="1439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78333" y="2286000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配置特点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78333" y="2624667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较长 Gossip 周期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695702" y="2645833"/>
            <a:ext cx="78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500ms-1s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78333" y="2921000"/>
            <a:ext cx="1407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更大批量消息体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816667" y="2942167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更多条目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78333" y="3217333"/>
            <a:ext cx="174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可能增加目标节点数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4981370" y="3238500"/>
            <a:ext cx="497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2-3 个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09000" y="3810000"/>
            <a:ext cx="7069667" cy="1608667"/>
          </a:xfrm>
          <a:custGeom>
            <a:avLst/>
            <a:gdLst/>
            <a:ahLst/>
            <a:cxnLst/>
            <a:rect l="l" t="t" r="r" b="b"/>
            <a:pathLst>
              <a:path w="7069667" h="1608667">
                <a:moveTo>
                  <a:pt x="84664" y="0"/>
                </a:moveTo>
                <a:lnTo>
                  <a:pt x="6985003" y="0"/>
                </a:lnTo>
                <a:cubicBezTo>
                  <a:pt x="7031761" y="0"/>
                  <a:pt x="7069667" y="37905"/>
                  <a:pt x="7069667" y="84664"/>
                </a:cubicBezTo>
                <a:lnTo>
                  <a:pt x="7069667" y="1524003"/>
                </a:lnTo>
                <a:cubicBezTo>
                  <a:pt x="7069667" y="1570761"/>
                  <a:pt x="7031761" y="1608667"/>
                  <a:pt x="6985003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678333" y="3979333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708760" y="4360333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948208" y="43180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大规模集群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或跨地域部署场景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708760" y="469900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948208" y="4656667"/>
            <a:ext cx="2624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对视图收敛的实时性要求相对较低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708760" y="5037667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948208" y="4995333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对跨 Region 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带宽成本更敏感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（如大规模存储集群）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09000" y="5588000"/>
            <a:ext cx="7069667" cy="1143000"/>
          </a:xfrm>
          <a:custGeom>
            <a:avLst/>
            <a:gdLst/>
            <a:ahLst/>
            <a:cxnLst/>
            <a:rect l="l" t="t" r="r" b="b"/>
            <a:pathLst>
              <a:path w="7069667" h="1143000">
                <a:moveTo>
                  <a:pt x="84662" y="0"/>
                </a:moveTo>
                <a:lnTo>
                  <a:pt x="6985005" y="0"/>
                </a:lnTo>
                <a:cubicBezTo>
                  <a:pt x="7031762" y="0"/>
                  <a:pt x="7069667" y="37904"/>
                  <a:pt x="7069667" y="84662"/>
                </a:cubicBezTo>
                <a:lnTo>
                  <a:pt x="7069667" y="1058338"/>
                </a:lnTo>
                <a:cubicBezTo>
                  <a:pt x="7069667" y="1105096"/>
                  <a:pt x="7031762" y="1143000"/>
                  <a:pt x="6985005" y="1143000"/>
                </a:cubicBezTo>
                <a:lnTo>
                  <a:pt x="84662" y="1143000"/>
                </a:lnTo>
                <a:cubicBezTo>
                  <a:pt x="37904" y="1143000"/>
                  <a:pt x="0" y="1105096"/>
                  <a:pt x="0" y="1058338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678333" y="5757333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影响分析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718021" y="6138333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62103" y="5035"/>
                </a:moveTo>
                <a:cubicBezTo>
                  <a:pt x="58485" y="1418"/>
                  <a:pt x="52611" y="1418"/>
                  <a:pt x="48993" y="5035"/>
                </a:cubicBezTo>
                <a:lnTo>
                  <a:pt x="2691" y="51337"/>
                </a:lnTo>
                <a:cubicBezTo>
                  <a:pt x="-926" y="54955"/>
                  <a:pt x="-926" y="60829"/>
                  <a:pt x="2691" y="64447"/>
                </a:cubicBezTo>
                <a:cubicBezTo>
                  <a:pt x="6309" y="68064"/>
                  <a:pt x="12183" y="68064"/>
                  <a:pt x="15801" y="64447"/>
                </a:cubicBezTo>
                <a:lnTo>
                  <a:pt x="46302" y="33945"/>
                </a:lnTo>
                <a:lnTo>
                  <a:pt x="46302" y="141221"/>
                </a:lnTo>
                <a:cubicBezTo>
                  <a:pt x="46302" y="146344"/>
                  <a:pt x="50440" y="150482"/>
                  <a:pt x="55562" y="150482"/>
                </a:cubicBezTo>
                <a:cubicBezTo>
                  <a:pt x="60685" y="150482"/>
                  <a:pt x="64823" y="146344"/>
                  <a:pt x="64823" y="141221"/>
                </a:cubicBezTo>
                <a:lnTo>
                  <a:pt x="64823" y="33945"/>
                </a:lnTo>
                <a:lnTo>
                  <a:pt x="95324" y="64447"/>
                </a:lnTo>
                <a:cubicBezTo>
                  <a:pt x="98942" y="68064"/>
                  <a:pt x="104816" y="68064"/>
                  <a:pt x="108434" y="64447"/>
                </a:cubicBezTo>
                <a:cubicBezTo>
                  <a:pt x="112051" y="60829"/>
                  <a:pt x="112051" y="54955"/>
                  <a:pt x="108434" y="51337"/>
                </a:cubicBezTo>
                <a:lnTo>
                  <a:pt x="62132" y="5035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948208" y="6111875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开销可控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48208" y="6350000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减少会话总数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147021" y="6138333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49022" y="145446"/>
                </a:moveTo>
                <a:cubicBezTo>
                  <a:pt x="52640" y="149064"/>
                  <a:pt x="58514" y="149064"/>
                  <a:pt x="62132" y="145446"/>
                </a:cubicBezTo>
                <a:lnTo>
                  <a:pt x="108434" y="99144"/>
                </a:lnTo>
                <a:cubicBezTo>
                  <a:pt x="112051" y="95527"/>
                  <a:pt x="112051" y="89652"/>
                  <a:pt x="108434" y="86035"/>
                </a:cubicBezTo>
                <a:cubicBezTo>
                  <a:pt x="104816" y="82418"/>
                  <a:pt x="98942" y="82418"/>
                  <a:pt x="95324" y="86035"/>
                </a:cubicBezTo>
                <a:lnTo>
                  <a:pt x="64823" y="116537"/>
                </a:lnTo>
                <a:lnTo>
                  <a:pt x="64823" y="9260"/>
                </a:lnTo>
                <a:cubicBezTo>
                  <a:pt x="64823" y="4138"/>
                  <a:pt x="60685" y="0"/>
                  <a:pt x="55562" y="0"/>
                </a:cubicBezTo>
                <a:cubicBezTo>
                  <a:pt x="50440" y="0"/>
                  <a:pt x="46302" y="4138"/>
                  <a:pt x="46302" y="9260"/>
                </a:cubicBezTo>
                <a:lnTo>
                  <a:pt x="46302" y="116537"/>
                </a:lnTo>
                <a:lnTo>
                  <a:pt x="15801" y="86035"/>
                </a:lnTo>
                <a:cubicBezTo>
                  <a:pt x="12183" y="82418"/>
                  <a:pt x="6309" y="82418"/>
                  <a:pt x="2691" y="86035"/>
                </a:cubicBezTo>
                <a:cubicBezTo>
                  <a:pt x="-926" y="89652"/>
                  <a:pt x="-926" y="95527"/>
                  <a:pt x="2691" y="99144"/>
                </a:cubicBezTo>
                <a:lnTo>
                  <a:pt x="48993" y="145446"/>
                </a:lnTo>
                <a:close/>
              </a:path>
            </a:pathLst>
          </a:custGeom>
          <a:solidFill>
            <a:srgbClr val="8899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2377208" y="6111875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收敛较慢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2377208" y="6350000"/>
            <a:ext cx="1259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不适合高实时场景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3333" y="7196667"/>
            <a:ext cx="15409333" cy="2010833"/>
          </a:xfrm>
          <a:custGeom>
            <a:avLst/>
            <a:gdLst/>
            <a:ahLst/>
            <a:cxnLst/>
            <a:rect l="l" t="t" r="r" b="b"/>
            <a:pathLst>
              <a:path w="15409333" h="2010833">
                <a:moveTo>
                  <a:pt x="84676" y="0"/>
                </a:moveTo>
                <a:lnTo>
                  <a:pt x="15324657" y="0"/>
                </a:lnTo>
                <a:cubicBezTo>
                  <a:pt x="15371423" y="0"/>
                  <a:pt x="15409333" y="37911"/>
                  <a:pt x="15409333" y="84676"/>
                </a:cubicBezTo>
                <a:lnTo>
                  <a:pt x="15409333" y="1926157"/>
                </a:lnTo>
                <a:cubicBezTo>
                  <a:pt x="15409333" y="1972923"/>
                  <a:pt x="15371423" y="2010833"/>
                  <a:pt x="15324657" y="2010833"/>
                </a:cubicBezTo>
                <a:lnTo>
                  <a:pt x="84676" y="2010833"/>
                </a:lnTo>
                <a:cubicBezTo>
                  <a:pt x="37911" y="2010833"/>
                  <a:pt x="0" y="1972923"/>
                  <a:pt x="0" y="1926157"/>
                </a:cubicBezTo>
                <a:lnTo>
                  <a:pt x="0" y="84676"/>
                </a:lnTo>
                <a:cubicBezTo>
                  <a:pt x="0" y="37911"/>
                  <a:pt x="37911" y="0"/>
                  <a:pt x="84676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666750" y="7450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4575" y="138906"/>
                </a:moveTo>
                <a:lnTo>
                  <a:pt x="79871" y="138906"/>
                </a:lnTo>
                <a:cubicBezTo>
                  <a:pt x="81310" y="170904"/>
                  <a:pt x="88404" y="200372"/>
                  <a:pt x="98475" y="221952"/>
                </a:cubicBezTo>
                <a:cubicBezTo>
                  <a:pt x="104130" y="234107"/>
                  <a:pt x="110232" y="242689"/>
                  <a:pt x="115888" y="247948"/>
                </a:cubicBezTo>
                <a:cubicBezTo>
                  <a:pt x="121444" y="253157"/>
                  <a:pt x="125264" y="254000"/>
                  <a:pt x="127248" y="254000"/>
                </a:cubicBezTo>
                <a:cubicBezTo>
                  <a:pt x="129232" y="254000"/>
                  <a:pt x="133052" y="253157"/>
                  <a:pt x="138609" y="247948"/>
                </a:cubicBezTo>
                <a:cubicBezTo>
                  <a:pt x="144264" y="242689"/>
                  <a:pt x="150366" y="234057"/>
                  <a:pt x="156021" y="221952"/>
                </a:cubicBezTo>
                <a:cubicBezTo>
                  <a:pt x="166092" y="200372"/>
                  <a:pt x="173186" y="170904"/>
                  <a:pt x="174625" y="138906"/>
                </a:cubicBezTo>
                <a:close/>
                <a:moveTo>
                  <a:pt x="79821" y="115094"/>
                </a:moveTo>
                <a:lnTo>
                  <a:pt x="174526" y="115094"/>
                </a:lnTo>
                <a:cubicBezTo>
                  <a:pt x="173137" y="83096"/>
                  <a:pt x="166043" y="53628"/>
                  <a:pt x="155972" y="32048"/>
                </a:cubicBezTo>
                <a:cubicBezTo>
                  <a:pt x="150316" y="19943"/>
                  <a:pt x="144214" y="11311"/>
                  <a:pt x="138559" y="6052"/>
                </a:cubicBezTo>
                <a:cubicBezTo>
                  <a:pt x="133003" y="843"/>
                  <a:pt x="129183" y="0"/>
                  <a:pt x="127198" y="0"/>
                </a:cubicBezTo>
                <a:cubicBezTo>
                  <a:pt x="125214" y="0"/>
                  <a:pt x="121394" y="843"/>
                  <a:pt x="115838" y="6052"/>
                </a:cubicBezTo>
                <a:cubicBezTo>
                  <a:pt x="110182" y="11311"/>
                  <a:pt x="104080" y="19943"/>
                  <a:pt x="98425" y="32048"/>
                </a:cubicBezTo>
                <a:cubicBezTo>
                  <a:pt x="88354" y="53628"/>
                  <a:pt x="81260" y="83096"/>
                  <a:pt x="79821" y="115094"/>
                </a:cubicBezTo>
                <a:close/>
                <a:moveTo>
                  <a:pt x="56009" y="115094"/>
                </a:moveTo>
                <a:cubicBezTo>
                  <a:pt x="57745" y="72628"/>
                  <a:pt x="68709" y="33189"/>
                  <a:pt x="84733" y="7293"/>
                </a:cubicBezTo>
                <a:cubicBezTo>
                  <a:pt x="39043" y="23465"/>
                  <a:pt x="5407" y="65088"/>
                  <a:pt x="744" y="115094"/>
                </a:cubicBezTo>
                <a:lnTo>
                  <a:pt x="56009" y="115094"/>
                </a:lnTo>
                <a:close/>
                <a:moveTo>
                  <a:pt x="744" y="138906"/>
                </a:moveTo>
                <a:cubicBezTo>
                  <a:pt x="5407" y="188913"/>
                  <a:pt x="39043" y="230535"/>
                  <a:pt x="84733" y="246707"/>
                </a:cubicBezTo>
                <a:cubicBezTo>
                  <a:pt x="68709" y="220811"/>
                  <a:pt x="57745" y="181372"/>
                  <a:pt x="56009" y="138906"/>
                </a:cubicBezTo>
                <a:lnTo>
                  <a:pt x="744" y="138906"/>
                </a:lnTo>
                <a:close/>
                <a:moveTo>
                  <a:pt x="198388" y="138906"/>
                </a:moveTo>
                <a:cubicBezTo>
                  <a:pt x="196652" y="181372"/>
                  <a:pt x="185688" y="220811"/>
                  <a:pt x="169664" y="246707"/>
                </a:cubicBezTo>
                <a:cubicBezTo>
                  <a:pt x="215354" y="230485"/>
                  <a:pt x="248989" y="188913"/>
                  <a:pt x="253653" y="138906"/>
                </a:cubicBezTo>
                <a:lnTo>
                  <a:pt x="198388" y="138906"/>
                </a:lnTo>
                <a:close/>
                <a:moveTo>
                  <a:pt x="253653" y="115094"/>
                </a:moveTo>
                <a:cubicBezTo>
                  <a:pt x="248989" y="65088"/>
                  <a:pt x="215354" y="23465"/>
                  <a:pt x="169664" y="7293"/>
                </a:cubicBezTo>
                <a:cubicBezTo>
                  <a:pt x="185688" y="33189"/>
                  <a:pt x="196652" y="72628"/>
                  <a:pt x="198388" y="115094"/>
                </a:cubicBezTo>
                <a:lnTo>
                  <a:pt x="253653" y="115094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079500" y="7408333"/>
            <a:ext cx="14647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跨机房部署特殊考虑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79500" y="7831667"/>
            <a:ext cx="1462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在云环境和多机房部署场景中，需要特别关注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带宽成本与跨 AZ/Region 网络延迟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。实践建议：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79500" y="8233833"/>
            <a:ext cx="4730750" cy="762000"/>
          </a:xfrm>
          <a:custGeom>
            <a:avLst/>
            <a:gdLst/>
            <a:ahLst/>
            <a:cxnLst/>
            <a:rect l="l" t="t" r="r" b="b"/>
            <a:pathLst>
              <a:path w="4730750" h="762000">
                <a:moveTo>
                  <a:pt x="42337" y="0"/>
                </a:moveTo>
                <a:lnTo>
                  <a:pt x="4688413" y="0"/>
                </a:lnTo>
                <a:cubicBezTo>
                  <a:pt x="4711795" y="0"/>
                  <a:pt x="4730750" y="18955"/>
                  <a:pt x="4730750" y="42337"/>
                </a:cubicBezTo>
                <a:lnTo>
                  <a:pt x="4730750" y="719663"/>
                </a:lnTo>
                <a:cubicBezTo>
                  <a:pt x="4730750" y="743045"/>
                  <a:pt x="4711795" y="762000"/>
                  <a:pt x="468841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1206500" y="8376708"/>
            <a:ext cx="121311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分层 Gossip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206500" y="8657167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机房内高频、机房间低频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983056" y="8233833"/>
            <a:ext cx="4730750" cy="762000"/>
          </a:xfrm>
          <a:custGeom>
            <a:avLst/>
            <a:gdLst/>
            <a:ahLst/>
            <a:cxnLst/>
            <a:rect l="l" t="t" r="r" b="b"/>
            <a:pathLst>
              <a:path w="4730750" h="762000">
                <a:moveTo>
                  <a:pt x="42337" y="0"/>
                </a:moveTo>
                <a:lnTo>
                  <a:pt x="4688413" y="0"/>
                </a:lnTo>
                <a:cubicBezTo>
                  <a:pt x="4711795" y="0"/>
                  <a:pt x="4730750" y="18955"/>
                  <a:pt x="4730750" y="42337"/>
                </a:cubicBezTo>
                <a:lnTo>
                  <a:pt x="4730750" y="719663"/>
                </a:lnTo>
                <a:cubicBezTo>
                  <a:pt x="4730750" y="743045"/>
                  <a:pt x="4711795" y="762000"/>
                  <a:pt x="468841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6110056" y="8376708"/>
            <a:ext cx="131894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独立带宽上限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110056" y="8657167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为跨机房链路单独设置配额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886695" y="8233833"/>
            <a:ext cx="4730750" cy="762000"/>
          </a:xfrm>
          <a:custGeom>
            <a:avLst/>
            <a:gdLst/>
            <a:ahLst/>
            <a:cxnLst/>
            <a:rect l="l" t="t" r="r" b="b"/>
            <a:pathLst>
              <a:path w="4730750" h="762000">
                <a:moveTo>
                  <a:pt x="42337" y="0"/>
                </a:moveTo>
                <a:lnTo>
                  <a:pt x="4688413" y="0"/>
                </a:lnTo>
                <a:cubicBezTo>
                  <a:pt x="4711795" y="0"/>
                  <a:pt x="4730750" y="18955"/>
                  <a:pt x="4730750" y="42337"/>
                </a:cubicBezTo>
                <a:lnTo>
                  <a:pt x="4730750" y="719663"/>
                </a:lnTo>
                <a:cubicBezTo>
                  <a:pt x="4730750" y="743045"/>
                  <a:pt x="4711795" y="762000"/>
                  <a:pt x="468841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1013695" y="8376708"/>
            <a:ext cx="114961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差异化配置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013695" y="8657167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兼顾局部快速收敛与全局成本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338667"/>
          </a:xfrm>
          <a:custGeom>
            <a:avLst/>
            <a:gdLst/>
            <a:ahLst/>
            <a:cxnLst/>
            <a:rect l="l" t="t" r="r" b="b"/>
            <a:pathLst>
              <a:path w="84667" h="338667">
                <a:moveTo>
                  <a:pt x="0" y="0"/>
                </a:moveTo>
                <a:lnTo>
                  <a:pt x="84667" y="0"/>
                </a:lnTo>
                <a:lnTo>
                  <a:pt x="84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65934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工程实践常见问题（一）：消息风暴与带宽放大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00667"/>
            <a:ext cx="7598833" cy="3619500"/>
          </a:xfrm>
          <a:custGeom>
            <a:avLst/>
            <a:gdLst/>
            <a:ahLst/>
            <a:cxnLst/>
            <a:rect l="l" t="t" r="r" b="b"/>
            <a:pathLst>
              <a:path w="7598833" h="3619500">
                <a:moveTo>
                  <a:pt x="42333" y="0"/>
                </a:moveTo>
                <a:lnTo>
                  <a:pt x="7514173" y="0"/>
                </a:lnTo>
                <a:cubicBezTo>
                  <a:pt x="7560930" y="0"/>
                  <a:pt x="7598833" y="37904"/>
                  <a:pt x="7598833" y="84660"/>
                </a:cubicBezTo>
                <a:lnTo>
                  <a:pt x="7598833" y="3534840"/>
                </a:lnTo>
                <a:cubicBezTo>
                  <a:pt x="7598833" y="3581596"/>
                  <a:pt x="7560930" y="3619500"/>
                  <a:pt x="7514173" y="3619500"/>
                </a:cubicBezTo>
                <a:lnTo>
                  <a:pt x="42333" y="3619500"/>
                </a:lnTo>
                <a:cubicBezTo>
                  <a:pt x="18953" y="3619500"/>
                  <a:pt x="0" y="3600547"/>
                  <a:pt x="0" y="3577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100667"/>
            <a:ext cx="42333" cy="3619500"/>
          </a:xfrm>
          <a:custGeom>
            <a:avLst/>
            <a:gdLst/>
            <a:ahLst/>
            <a:cxnLst/>
            <a:rect l="l" t="t" r="r" b="b"/>
            <a:pathLst>
              <a:path w="42333" h="3619500">
                <a:moveTo>
                  <a:pt x="42333" y="0"/>
                </a:moveTo>
                <a:lnTo>
                  <a:pt x="42333" y="0"/>
                </a:lnTo>
                <a:lnTo>
                  <a:pt x="42333" y="3619500"/>
                </a:lnTo>
                <a:lnTo>
                  <a:pt x="42333" y="3619500"/>
                </a:lnTo>
                <a:cubicBezTo>
                  <a:pt x="18953" y="3619500"/>
                  <a:pt x="0" y="3600547"/>
                  <a:pt x="0" y="3577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6750" y="1291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79500" y="1270000"/>
            <a:ext cx="783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典型现象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00" y="1693333"/>
            <a:ext cx="732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在节点规模较大或短时间内有大量元数据变更时：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000" y="2095500"/>
            <a:ext cx="7239000" cy="762000"/>
          </a:xfrm>
          <a:custGeom>
            <a:avLst/>
            <a:gdLst/>
            <a:ahLst/>
            <a:cxnLst/>
            <a:rect l="l" t="t" r="r" b="b"/>
            <a:pathLst>
              <a:path w="7239000" h="762000">
                <a:moveTo>
                  <a:pt x="42337" y="0"/>
                </a:moveTo>
                <a:lnTo>
                  <a:pt x="7196663" y="0"/>
                </a:lnTo>
                <a:cubicBezTo>
                  <a:pt x="7220045" y="0"/>
                  <a:pt x="7239000" y="18955"/>
                  <a:pt x="7239000" y="42337"/>
                </a:cubicBezTo>
                <a:lnTo>
                  <a:pt x="7239000" y="719663"/>
                </a:lnTo>
                <a:cubicBezTo>
                  <a:pt x="7239000" y="743045"/>
                  <a:pt x="7220045" y="762000"/>
                  <a:pt x="7196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12271" y="226483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27125" y="2222500"/>
            <a:ext cx="2010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网络出口带宽飙升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消息占用大量带宽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" y="2942167"/>
            <a:ext cx="7239000" cy="762000"/>
          </a:xfrm>
          <a:custGeom>
            <a:avLst/>
            <a:gdLst/>
            <a:ahLst/>
            <a:cxnLst/>
            <a:rect l="l" t="t" r="r" b="b"/>
            <a:pathLst>
              <a:path w="7239000" h="762000">
                <a:moveTo>
                  <a:pt x="42337" y="0"/>
                </a:moveTo>
                <a:lnTo>
                  <a:pt x="7196663" y="0"/>
                </a:lnTo>
                <a:cubicBezTo>
                  <a:pt x="7220045" y="0"/>
                  <a:pt x="7239000" y="18955"/>
                  <a:pt x="7239000" y="42337"/>
                </a:cubicBezTo>
                <a:lnTo>
                  <a:pt x="7239000" y="719663"/>
                </a:lnTo>
                <a:cubicBezTo>
                  <a:pt x="7239000" y="743045"/>
                  <a:pt x="7220045" y="762000"/>
                  <a:pt x="7196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00365" y="3111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531" y="23812"/>
                </a:moveTo>
                <a:cubicBezTo>
                  <a:pt x="59531" y="17227"/>
                  <a:pt x="54211" y="11906"/>
                  <a:pt x="47625" y="11906"/>
                </a:cubicBezTo>
                <a:cubicBezTo>
                  <a:pt x="41039" y="11906"/>
                  <a:pt x="35719" y="17227"/>
                  <a:pt x="35719" y="23812"/>
                </a:cubicBezTo>
                <a:lnTo>
                  <a:pt x="35719" y="47625"/>
                </a:lnTo>
                <a:lnTo>
                  <a:pt x="11906" y="47625"/>
                </a:lnTo>
                <a:cubicBezTo>
                  <a:pt x="5321" y="47625"/>
                  <a:pt x="0" y="52946"/>
                  <a:pt x="0" y="59531"/>
                </a:cubicBezTo>
                <a:cubicBezTo>
                  <a:pt x="0" y="66117"/>
                  <a:pt x="5321" y="71438"/>
                  <a:pt x="11906" y="71438"/>
                </a:cubicBezTo>
                <a:lnTo>
                  <a:pt x="47625" y="71438"/>
                </a:lnTo>
                <a:cubicBezTo>
                  <a:pt x="54211" y="71438"/>
                  <a:pt x="59531" y="66117"/>
                  <a:pt x="59531" y="59531"/>
                </a:cubicBezTo>
                <a:lnTo>
                  <a:pt x="59531" y="23812"/>
                </a:lnTo>
                <a:close/>
                <a:moveTo>
                  <a:pt x="11906" y="119063"/>
                </a:moveTo>
                <a:cubicBezTo>
                  <a:pt x="5321" y="119063"/>
                  <a:pt x="0" y="124383"/>
                  <a:pt x="0" y="130969"/>
                </a:cubicBezTo>
                <a:cubicBezTo>
                  <a:pt x="0" y="137554"/>
                  <a:pt x="5321" y="142875"/>
                  <a:pt x="11906" y="142875"/>
                </a:cubicBezTo>
                <a:lnTo>
                  <a:pt x="35719" y="142875"/>
                </a:lnTo>
                <a:lnTo>
                  <a:pt x="35719" y="166688"/>
                </a:lnTo>
                <a:cubicBezTo>
                  <a:pt x="35719" y="173273"/>
                  <a:pt x="41039" y="178594"/>
                  <a:pt x="47625" y="178594"/>
                </a:cubicBezTo>
                <a:cubicBezTo>
                  <a:pt x="54211" y="178594"/>
                  <a:pt x="59531" y="173273"/>
                  <a:pt x="59531" y="166688"/>
                </a:cubicBezTo>
                <a:lnTo>
                  <a:pt x="59531" y="130969"/>
                </a:lnTo>
                <a:cubicBezTo>
                  <a:pt x="59531" y="124383"/>
                  <a:pt x="54211" y="119063"/>
                  <a:pt x="47625" y="119063"/>
                </a:cubicBezTo>
                <a:lnTo>
                  <a:pt x="11906" y="119063"/>
                </a:lnTo>
                <a:close/>
                <a:moveTo>
                  <a:pt x="130969" y="23812"/>
                </a:moveTo>
                <a:cubicBezTo>
                  <a:pt x="130969" y="17227"/>
                  <a:pt x="125648" y="11906"/>
                  <a:pt x="119063" y="11906"/>
                </a:cubicBezTo>
                <a:cubicBezTo>
                  <a:pt x="112477" y="11906"/>
                  <a:pt x="107156" y="17227"/>
                  <a:pt x="107156" y="23812"/>
                </a:cubicBezTo>
                <a:lnTo>
                  <a:pt x="107156" y="59531"/>
                </a:lnTo>
                <a:cubicBezTo>
                  <a:pt x="107156" y="66117"/>
                  <a:pt x="112477" y="71438"/>
                  <a:pt x="119063" y="71438"/>
                </a:cubicBezTo>
                <a:lnTo>
                  <a:pt x="154781" y="71438"/>
                </a:lnTo>
                <a:cubicBezTo>
                  <a:pt x="161367" y="71438"/>
                  <a:pt x="166688" y="66117"/>
                  <a:pt x="166688" y="59531"/>
                </a:cubicBezTo>
                <a:cubicBezTo>
                  <a:pt x="166688" y="52946"/>
                  <a:pt x="161367" y="47625"/>
                  <a:pt x="154781" y="47625"/>
                </a:cubicBezTo>
                <a:lnTo>
                  <a:pt x="130969" y="47625"/>
                </a:lnTo>
                <a:lnTo>
                  <a:pt x="130969" y="23812"/>
                </a:lnTo>
                <a:close/>
                <a:moveTo>
                  <a:pt x="119063" y="119063"/>
                </a:moveTo>
                <a:cubicBezTo>
                  <a:pt x="112477" y="119063"/>
                  <a:pt x="107156" y="124383"/>
                  <a:pt x="107156" y="130969"/>
                </a:cubicBezTo>
                <a:lnTo>
                  <a:pt x="107156" y="166688"/>
                </a:lnTo>
                <a:cubicBezTo>
                  <a:pt x="107156" y="173273"/>
                  <a:pt x="112477" y="178594"/>
                  <a:pt x="119063" y="178594"/>
                </a:cubicBezTo>
                <a:cubicBezTo>
                  <a:pt x="125648" y="178594"/>
                  <a:pt x="130969" y="173273"/>
                  <a:pt x="130969" y="166688"/>
                </a:cubicBezTo>
                <a:lnTo>
                  <a:pt x="130969" y="142875"/>
                </a:lnTo>
                <a:lnTo>
                  <a:pt x="154781" y="142875"/>
                </a:lnTo>
                <a:cubicBezTo>
                  <a:pt x="161367" y="142875"/>
                  <a:pt x="166688" y="137554"/>
                  <a:pt x="166688" y="130969"/>
                </a:cubicBezTo>
                <a:cubicBezTo>
                  <a:pt x="166688" y="124383"/>
                  <a:pt x="161367" y="119063"/>
                  <a:pt x="154781" y="119063"/>
                </a:cubicBezTo>
                <a:lnTo>
                  <a:pt x="119063" y="119063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27125" y="3069167"/>
            <a:ext cx="331258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挤压业务流量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甚至出现"Gossip 打满网卡，业务请求超时"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000" y="3788833"/>
            <a:ext cx="7239000" cy="762000"/>
          </a:xfrm>
          <a:custGeom>
            <a:avLst/>
            <a:gdLst/>
            <a:ahLst/>
            <a:cxnLst/>
            <a:rect l="l" t="t" r="r" b="b"/>
            <a:pathLst>
              <a:path w="7239000" h="762000">
                <a:moveTo>
                  <a:pt x="42337" y="0"/>
                </a:moveTo>
                <a:lnTo>
                  <a:pt x="7196663" y="0"/>
                </a:lnTo>
                <a:cubicBezTo>
                  <a:pt x="7220045" y="0"/>
                  <a:pt x="7239000" y="18955"/>
                  <a:pt x="7239000" y="42337"/>
                </a:cubicBezTo>
                <a:lnTo>
                  <a:pt x="7239000" y="719663"/>
                </a:lnTo>
                <a:cubicBezTo>
                  <a:pt x="7239000" y="743045"/>
                  <a:pt x="7220045" y="762000"/>
                  <a:pt x="7196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24177" y="3958167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27125" y="3915833"/>
            <a:ext cx="29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 Region 成本激增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在跨机房场景中，进一步放大带宽成本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500" y="4889500"/>
            <a:ext cx="7598833" cy="3368235"/>
          </a:xfrm>
          <a:custGeom>
            <a:avLst/>
            <a:gdLst/>
            <a:ahLst/>
            <a:cxnLst/>
            <a:rect l="l" t="t" r="r" b="b"/>
            <a:pathLst>
              <a:path w="7598833" h="6170083">
                <a:moveTo>
                  <a:pt x="42333" y="0"/>
                </a:moveTo>
                <a:lnTo>
                  <a:pt x="7514180" y="0"/>
                </a:lnTo>
                <a:cubicBezTo>
                  <a:pt x="7560933" y="0"/>
                  <a:pt x="7598833" y="37901"/>
                  <a:pt x="7598833" y="84654"/>
                </a:cubicBezTo>
                <a:lnTo>
                  <a:pt x="7598833" y="6085430"/>
                </a:lnTo>
                <a:cubicBezTo>
                  <a:pt x="7598833" y="6132183"/>
                  <a:pt x="7560933" y="6170083"/>
                  <a:pt x="7514180" y="6170083"/>
                </a:cubicBezTo>
                <a:lnTo>
                  <a:pt x="42333" y="6170083"/>
                </a:lnTo>
                <a:cubicBezTo>
                  <a:pt x="18953" y="6170083"/>
                  <a:pt x="0" y="6151130"/>
                  <a:pt x="0" y="6127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44500" y="4889502"/>
            <a:ext cx="42333" cy="3348000"/>
          </a:xfrm>
          <a:custGeom>
            <a:avLst/>
            <a:gdLst/>
            <a:ahLst/>
            <a:cxnLst/>
            <a:rect l="l" t="t" r="r" b="b"/>
            <a:pathLst>
              <a:path w="42333" h="6170083">
                <a:moveTo>
                  <a:pt x="42333" y="0"/>
                </a:moveTo>
                <a:lnTo>
                  <a:pt x="42333" y="0"/>
                </a:lnTo>
                <a:lnTo>
                  <a:pt x="42333" y="6170083"/>
                </a:lnTo>
                <a:lnTo>
                  <a:pt x="42333" y="6170083"/>
                </a:lnTo>
                <a:cubicBezTo>
                  <a:pt x="18953" y="6170083"/>
                  <a:pt x="0" y="6151130"/>
                  <a:pt x="0" y="6127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66750" y="508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79500" y="5058833"/>
            <a:ext cx="783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根本原因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000" y="5482167"/>
            <a:ext cx="7239000" cy="804333"/>
          </a:xfrm>
          <a:custGeom>
            <a:avLst/>
            <a:gdLst/>
            <a:ahLst/>
            <a:cxnLst/>
            <a:rect l="l" t="t" r="r" b="b"/>
            <a:pathLst>
              <a:path w="7239000" h="804333">
                <a:moveTo>
                  <a:pt x="84664" y="0"/>
                </a:moveTo>
                <a:lnTo>
                  <a:pt x="7154336" y="0"/>
                </a:lnTo>
                <a:cubicBezTo>
                  <a:pt x="7201095" y="0"/>
                  <a:pt x="7239000" y="37905"/>
                  <a:pt x="7239000" y="84664"/>
                </a:cubicBezTo>
                <a:lnTo>
                  <a:pt x="7239000" y="719669"/>
                </a:lnTo>
                <a:cubicBezTo>
                  <a:pt x="7239000" y="766428"/>
                  <a:pt x="7201095" y="804333"/>
                  <a:pt x="7154336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62000" y="5609167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无上限控制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905500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单轮 Gossip 中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目标节点数量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消息体大小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没有上限控制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000" y="6371167"/>
            <a:ext cx="7239000" cy="804333"/>
          </a:xfrm>
          <a:custGeom>
            <a:avLst/>
            <a:gdLst/>
            <a:ahLst/>
            <a:cxnLst/>
            <a:rect l="l" t="t" r="r" b="b"/>
            <a:pathLst>
              <a:path w="7239000" h="804333">
                <a:moveTo>
                  <a:pt x="84664" y="0"/>
                </a:moveTo>
                <a:lnTo>
                  <a:pt x="7154336" y="0"/>
                </a:lnTo>
                <a:cubicBezTo>
                  <a:pt x="7201095" y="0"/>
                  <a:pt x="7239000" y="37905"/>
                  <a:pt x="7239000" y="84664"/>
                </a:cubicBezTo>
                <a:lnTo>
                  <a:pt x="7239000" y="719669"/>
                </a:lnTo>
                <a:cubicBezTo>
                  <a:pt x="7239000" y="766428"/>
                  <a:pt x="7201095" y="804333"/>
                  <a:pt x="7154336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62000" y="6498167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冗余传播放大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794500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叠加多轮冗余传播后，整体消息量呈 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 log N)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级别的放大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00" y="7260167"/>
            <a:ext cx="7239000" cy="804333"/>
          </a:xfrm>
          <a:custGeom>
            <a:avLst/>
            <a:gdLst/>
            <a:ahLst/>
            <a:cxnLst/>
            <a:rect l="l" t="t" r="r" b="b"/>
            <a:pathLst>
              <a:path w="7239000" h="804333">
                <a:moveTo>
                  <a:pt x="84664" y="0"/>
                </a:moveTo>
                <a:lnTo>
                  <a:pt x="7154336" y="0"/>
                </a:lnTo>
                <a:cubicBezTo>
                  <a:pt x="7201095" y="0"/>
                  <a:pt x="7239000" y="37905"/>
                  <a:pt x="7239000" y="84664"/>
                </a:cubicBezTo>
                <a:lnTo>
                  <a:pt x="7239000" y="719669"/>
                </a:lnTo>
                <a:cubicBezTo>
                  <a:pt x="7239000" y="766428"/>
                  <a:pt x="7201095" y="804333"/>
                  <a:pt x="7154336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62000" y="7387167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跨机房放大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7683500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在跨机房场景中，还会进一步放大跨 Region 带宽消耗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33833" y="437281"/>
            <a:ext cx="7598833" cy="8473639"/>
          </a:xfrm>
          <a:custGeom>
            <a:avLst/>
            <a:gdLst/>
            <a:ahLst/>
            <a:cxnLst/>
            <a:rect l="l" t="t" r="r" b="b"/>
            <a:pathLst>
              <a:path w="7598833" h="9958917">
                <a:moveTo>
                  <a:pt x="42333" y="0"/>
                </a:moveTo>
                <a:lnTo>
                  <a:pt x="7514182" y="0"/>
                </a:lnTo>
                <a:cubicBezTo>
                  <a:pt x="7560934" y="0"/>
                  <a:pt x="7598833" y="37900"/>
                  <a:pt x="7598833" y="84651"/>
                </a:cubicBezTo>
                <a:lnTo>
                  <a:pt x="7598833" y="9874266"/>
                </a:lnTo>
                <a:cubicBezTo>
                  <a:pt x="7598833" y="9921017"/>
                  <a:pt x="7560934" y="9958917"/>
                  <a:pt x="7514182" y="9958917"/>
                </a:cubicBezTo>
                <a:lnTo>
                  <a:pt x="42333" y="9958917"/>
                </a:lnTo>
                <a:cubicBezTo>
                  <a:pt x="18953" y="9958917"/>
                  <a:pt x="0" y="9939963"/>
                  <a:pt x="0" y="991658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33833" y="437281"/>
            <a:ext cx="42333" cy="8424000"/>
          </a:xfrm>
          <a:custGeom>
            <a:avLst/>
            <a:gdLst/>
            <a:ahLst/>
            <a:cxnLst/>
            <a:rect l="l" t="t" r="r" b="b"/>
            <a:pathLst>
              <a:path w="42333" h="9958917">
                <a:moveTo>
                  <a:pt x="42333" y="0"/>
                </a:moveTo>
                <a:lnTo>
                  <a:pt x="42333" y="0"/>
                </a:lnTo>
                <a:lnTo>
                  <a:pt x="42333" y="9958917"/>
                </a:lnTo>
                <a:lnTo>
                  <a:pt x="42333" y="9958917"/>
                </a:lnTo>
                <a:cubicBezTo>
                  <a:pt x="18953" y="9958917"/>
                  <a:pt x="0" y="9939963"/>
                  <a:pt x="0" y="991658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440208" y="627781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68833" y="606614"/>
            <a:ext cx="783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实践建议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24333" y="1029947"/>
            <a:ext cx="7239000" cy="1439333"/>
          </a:xfrm>
          <a:custGeom>
            <a:avLst/>
            <a:gdLst/>
            <a:ahLst/>
            <a:cxnLst/>
            <a:rect l="l" t="t" r="r" b="b"/>
            <a:pathLst>
              <a:path w="7239000" h="1439333">
                <a:moveTo>
                  <a:pt x="84662" y="0"/>
                </a:moveTo>
                <a:lnTo>
                  <a:pt x="7154338" y="0"/>
                </a:lnTo>
                <a:cubicBezTo>
                  <a:pt x="7201096" y="0"/>
                  <a:pt x="7239000" y="37904"/>
                  <a:pt x="7239000" y="84662"/>
                </a:cubicBezTo>
                <a:lnTo>
                  <a:pt x="7239000" y="1354672"/>
                </a:lnTo>
                <a:cubicBezTo>
                  <a:pt x="7239000" y="1401429"/>
                  <a:pt x="7201096" y="1439333"/>
                  <a:pt x="71543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93667" y="1199281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56625" y="1199281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59333" y="1220447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速率限流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93667" y="1622614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 Gossip 速率进行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限流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，为每个节点设定每秒最大 Gossip 会话数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93667" y="1918947"/>
            <a:ext cx="6900333" cy="381000"/>
          </a:xfrm>
          <a:custGeom>
            <a:avLst/>
            <a:gdLst/>
            <a:ahLst/>
            <a:cxnLst/>
            <a:rect l="l" t="t" r="r" b="b"/>
            <a:pathLst>
              <a:path w="6900333" h="381000">
                <a:moveTo>
                  <a:pt x="42333" y="0"/>
                </a:moveTo>
                <a:lnTo>
                  <a:pt x="6858000" y="0"/>
                </a:lnTo>
                <a:cubicBezTo>
                  <a:pt x="6881380" y="0"/>
                  <a:pt x="6900333" y="18953"/>
                  <a:pt x="6900333" y="42333"/>
                </a:cubicBezTo>
                <a:lnTo>
                  <a:pt x="6900333" y="338667"/>
                </a:lnTo>
                <a:cubicBezTo>
                  <a:pt x="6900333" y="362047"/>
                  <a:pt x="6881380" y="381000"/>
                  <a:pt x="68580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708760" y="2035364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854722" y="1918947"/>
            <a:ext cx="6713361" cy="38100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例如：每秒最多 5-10 次 Gossip 会话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24333" y="2596281"/>
            <a:ext cx="7239000" cy="1439333"/>
          </a:xfrm>
          <a:custGeom>
            <a:avLst/>
            <a:gdLst/>
            <a:ahLst/>
            <a:cxnLst/>
            <a:rect l="l" t="t" r="r" b="b"/>
            <a:pathLst>
              <a:path w="7239000" h="1439333">
                <a:moveTo>
                  <a:pt x="84662" y="0"/>
                </a:moveTo>
                <a:lnTo>
                  <a:pt x="7154338" y="0"/>
                </a:lnTo>
                <a:cubicBezTo>
                  <a:pt x="7201096" y="0"/>
                  <a:pt x="7239000" y="37904"/>
                  <a:pt x="7239000" y="84662"/>
                </a:cubicBezTo>
                <a:lnTo>
                  <a:pt x="7239000" y="1354672"/>
                </a:lnTo>
                <a:cubicBezTo>
                  <a:pt x="7239000" y="1401429"/>
                  <a:pt x="7201096" y="1439333"/>
                  <a:pt x="71543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593667" y="2765614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556625" y="2765614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59333" y="2786781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消息压缩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93667" y="3188947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对消息进行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，降低网络带宽开销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93667" y="3485281"/>
            <a:ext cx="6900333" cy="381000"/>
          </a:xfrm>
          <a:custGeom>
            <a:avLst/>
            <a:gdLst/>
            <a:ahLst/>
            <a:cxnLst/>
            <a:rect l="l" t="t" r="r" b="b"/>
            <a:pathLst>
              <a:path w="6900333" h="381000">
                <a:moveTo>
                  <a:pt x="42333" y="0"/>
                </a:moveTo>
                <a:lnTo>
                  <a:pt x="6858000" y="0"/>
                </a:lnTo>
                <a:cubicBezTo>
                  <a:pt x="6881380" y="0"/>
                  <a:pt x="6900333" y="18953"/>
                  <a:pt x="6900333" y="42333"/>
                </a:cubicBezTo>
                <a:lnTo>
                  <a:pt x="6900333" y="338667"/>
                </a:lnTo>
                <a:cubicBezTo>
                  <a:pt x="6900333" y="362047"/>
                  <a:pt x="6881380" y="381000"/>
                  <a:pt x="68580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708760" y="3601697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854722" y="3485281"/>
            <a:ext cx="6713361" cy="38100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Snappy、LZ4 等快速压缩算法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24333" y="4162614"/>
            <a:ext cx="7239000" cy="1439333"/>
          </a:xfrm>
          <a:custGeom>
            <a:avLst/>
            <a:gdLst/>
            <a:ahLst/>
            <a:cxnLst/>
            <a:rect l="l" t="t" r="r" b="b"/>
            <a:pathLst>
              <a:path w="7239000" h="1439333">
                <a:moveTo>
                  <a:pt x="84662" y="0"/>
                </a:moveTo>
                <a:lnTo>
                  <a:pt x="7154338" y="0"/>
                </a:lnTo>
                <a:cubicBezTo>
                  <a:pt x="7201096" y="0"/>
                  <a:pt x="7239000" y="37904"/>
                  <a:pt x="7239000" y="84662"/>
                </a:cubicBezTo>
                <a:lnTo>
                  <a:pt x="7239000" y="1354672"/>
                </a:lnTo>
                <a:cubicBezTo>
                  <a:pt x="7239000" y="1401429"/>
                  <a:pt x="7201096" y="1439333"/>
                  <a:pt x="71543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593667" y="4331947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56625" y="4331947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59333" y="4353114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增量视图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93667" y="4755281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优先采用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增量视图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而非全量视图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93667" y="5051614"/>
            <a:ext cx="6900333" cy="381000"/>
          </a:xfrm>
          <a:custGeom>
            <a:avLst/>
            <a:gdLst/>
            <a:ahLst/>
            <a:cxnLst/>
            <a:rect l="l" t="t" r="r" b="b"/>
            <a:pathLst>
              <a:path w="6900333" h="381000">
                <a:moveTo>
                  <a:pt x="42333" y="0"/>
                </a:moveTo>
                <a:lnTo>
                  <a:pt x="6858000" y="0"/>
                </a:lnTo>
                <a:cubicBezTo>
                  <a:pt x="6881380" y="0"/>
                  <a:pt x="6900333" y="18953"/>
                  <a:pt x="6900333" y="42333"/>
                </a:cubicBezTo>
                <a:lnTo>
                  <a:pt x="6900333" y="338667"/>
                </a:lnTo>
                <a:cubicBezTo>
                  <a:pt x="6900333" y="362047"/>
                  <a:pt x="6881380" y="381000"/>
                  <a:pt x="68580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708760" y="5168031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854722" y="5051614"/>
            <a:ext cx="6713361" cy="38100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仅携带最近更新的条目，减少消息体大小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24333" y="5728947"/>
            <a:ext cx="7239000" cy="1439333"/>
          </a:xfrm>
          <a:custGeom>
            <a:avLst/>
            <a:gdLst/>
            <a:ahLst/>
            <a:cxnLst/>
            <a:rect l="l" t="t" r="r" b="b"/>
            <a:pathLst>
              <a:path w="7239000" h="1439333">
                <a:moveTo>
                  <a:pt x="84662" y="0"/>
                </a:moveTo>
                <a:lnTo>
                  <a:pt x="7154338" y="0"/>
                </a:lnTo>
                <a:cubicBezTo>
                  <a:pt x="7201096" y="0"/>
                  <a:pt x="7239000" y="37904"/>
                  <a:pt x="7239000" y="84662"/>
                </a:cubicBezTo>
                <a:lnTo>
                  <a:pt x="7239000" y="1354672"/>
                </a:lnTo>
                <a:cubicBezTo>
                  <a:pt x="7239000" y="1401429"/>
                  <a:pt x="7201096" y="1439333"/>
                  <a:pt x="71543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593667" y="5898281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556625" y="5898281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059333" y="5919447"/>
            <a:ext cx="142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跨机房带宽配额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93667" y="6321614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在跨机房链路上单独设置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带宽配额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频率上限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593667" y="6617947"/>
            <a:ext cx="6900333" cy="381000"/>
          </a:xfrm>
          <a:custGeom>
            <a:avLst/>
            <a:gdLst/>
            <a:ahLst/>
            <a:cxnLst/>
            <a:rect l="l" t="t" r="r" b="b"/>
            <a:pathLst>
              <a:path w="6900333" h="381000">
                <a:moveTo>
                  <a:pt x="42333" y="0"/>
                </a:moveTo>
                <a:lnTo>
                  <a:pt x="6858000" y="0"/>
                </a:lnTo>
                <a:cubicBezTo>
                  <a:pt x="6881380" y="0"/>
                  <a:pt x="6900333" y="18953"/>
                  <a:pt x="6900333" y="42333"/>
                </a:cubicBezTo>
                <a:lnTo>
                  <a:pt x="6900333" y="338667"/>
                </a:lnTo>
                <a:cubicBezTo>
                  <a:pt x="6900333" y="362047"/>
                  <a:pt x="6881380" y="381000"/>
                  <a:pt x="68580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708760" y="6734364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854722" y="6617947"/>
            <a:ext cx="6713361" cy="38100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机房内高频、机房间低频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24333" y="7295281"/>
            <a:ext cx="7239000" cy="1439333"/>
          </a:xfrm>
          <a:custGeom>
            <a:avLst/>
            <a:gdLst/>
            <a:ahLst/>
            <a:cxnLst/>
            <a:rect l="l" t="t" r="r" b="b"/>
            <a:pathLst>
              <a:path w="7239000" h="1439333">
                <a:moveTo>
                  <a:pt x="84662" y="0"/>
                </a:moveTo>
                <a:lnTo>
                  <a:pt x="7154338" y="0"/>
                </a:lnTo>
                <a:cubicBezTo>
                  <a:pt x="7201096" y="0"/>
                  <a:pt x="7239000" y="37904"/>
                  <a:pt x="7239000" y="84662"/>
                </a:cubicBezTo>
                <a:lnTo>
                  <a:pt x="7239000" y="1354672"/>
                </a:lnTo>
                <a:cubicBezTo>
                  <a:pt x="7239000" y="1401429"/>
                  <a:pt x="7201096" y="1439333"/>
                  <a:pt x="71543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8593667" y="7464614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8556625" y="7464614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059333" y="7485781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网络层监控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93667" y="7887947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</a:t>
            </a:r>
            <a:r>
              <a:rPr lang="en-US" sz="1167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网络层监控</a:t>
            </a: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及时发现潜在风暴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593667" y="8184281"/>
            <a:ext cx="6900333" cy="381000"/>
          </a:xfrm>
          <a:custGeom>
            <a:avLst/>
            <a:gdLst/>
            <a:ahLst/>
            <a:cxnLst/>
            <a:rect l="l" t="t" r="r" b="b"/>
            <a:pathLst>
              <a:path w="6900333" h="381000">
                <a:moveTo>
                  <a:pt x="42333" y="0"/>
                </a:moveTo>
                <a:lnTo>
                  <a:pt x="6858000" y="0"/>
                </a:lnTo>
                <a:cubicBezTo>
                  <a:pt x="6881380" y="0"/>
                  <a:pt x="6900333" y="18953"/>
                  <a:pt x="6900333" y="42333"/>
                </a:cubicBezTo>
                <a:lnTo>
                  <a:pt x="6900333" y="338667"/>
                </a:lnTo>
                <a:cubicBezTo>
                  <a:pt x="6900333" y="362047"/>
                  <a:pt x="6881380" y="381000"/>
                  <a:pt x="68580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8708760" y="8300697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8854722" y="8184281"/>
            <a:ext cx="6713361" cy="38100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监控带宽利用率、丢包率等指标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188" y="518307"/>
            <a:ext cx="94238" cy="376951"/>
          </a:xfrm>
          <a:custGeom>
            <a:avLst/>
            <a:gdLst/>
            <a:ahLst/>
            <a:cxnLst/>
            <a:rect l="l" t="t" r="r" b="b"/>
            <a:pathLst>
              <a:path w="94238" h="376951">
                <a:moveTo>
                  <a:pt x="0" y="0"/>
                </a:moveTo>
                <a:lnTo>
                  <a:pt x="94238" y="0"/>
                </a:lnTo>
                <a:lnTo>
                  <a:pt x="94238" y="376951"/>
                </a:lnTo>
                <a:lnTo>
                  <a:pt x="0" y="376951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06783" y="471188"/>
            <a:ext cx="6655536" cy="47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39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工程实践常见问题（二）：误判故障与脑裂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4748" y="1225090"/>
            <a:ext cx="7539014" cy="4971038"/>
          </a:xfrm>
          <a:custGeom>
            <a:avLst/>
            <a:gdLst/>
            <a:ahLst/>
            <a:cxnLst/>
            <a:rect l="l" t="t" r="r" b="b"/>
            <a:pathLst>
              <a:path w="7539014" h="4971038">
                <a:moveTo>
                  <a:pt x="47119" y="0"/>
                </a:moveTo>
                <a:lnTo>
                  <a:pt x="7444764" y="0"/>
                </a:lnTo>
                <a:cubicBezTo>
                  <a:pt x="7496817" y="0"/>
                  <a:pt x="7539014" y="42198"/>
                  <a:pt x="7539014" y="94251"/>
                </a:cubicBezTo>
                <a:lnTo>
                  <a:pt x="7539014" y="4876787"/>
                </a:lnTo>
                <a:cubicBezTo>
                  <a:pt x="7539014" y="4928840"/>
                  <a:pt x="7496817" y="4971038"/>
                  <a:pt x="7444764" y="4971038"/>
                </a:cubicBezTo>
                <a:lnTo>
                  <a:pt x="47119" y="4971038"/>
                </a:lnTo>
                <a:cubicBezTo>
                  <a:pt x="21096" y="4971038"/>
                  <a:pt x="0" y="4949942"/>
                  <a:pt x="0" y="4923919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4748" y="1225090"/>
            <a:ext cx="47119" cy="4971038"/>
          </a:xfrm>
          <a:custGeom>
            <a:avLst/>
            <a:gdLst/>
            <a:ahLst/>
            <a:cxnLst/>
            <a:rect l="l" t="t" r="r" b="b"/>
            <a:pathLst>
              <a:path w="47119" h="4971038">
                <a:moveTo>
                  <a:pt x="47119" y="0"/>
                </a:moveTo>
                <a:lnTo>
                  <a:pt x="47119" y="0"/>
                </a:lnTo>
                <a:lnTo>
                  <a:pt x="47119" y="4971038"/>
                </a:lnTo>
                <a:lnTo>
                  <a:pt x="47119" y="4971038"/>
                </a:lnTo>
                <a:cubicBezTo>
                  <a:pt x="21096" y="4971038"/>
                  <a:pt x="0" y="4949942"/>
                  <a:pt x="0" y="4923919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6783" y="1437125"/>
            <a:ext cx="353391" cy="282713"/>
          </a:xfrm>
          <a:custGeom>
            <a:avLst/>
            <a:gdLst/>
            <a:ahLst/>
            <a:cxnLst/>
            <a:rect l="l" t="t" r="r" b="b"/>
            <a:pathLst>
              <a:path w="353391" h="282713">
                <a:moveTo>
                  <a:pt x="318052" y="26504"/>
                </a:moveTo>
                <a:cubicBezTo>
                  <a:pt x="318052" y="20375"/>
                  <a:pt x="314905" y="14688"/>
                  <a:pt x="309659" y="11485"/>
                </a:cubicBezTo>
                <a:cubicBezTo>
                  <a:pt x="304413" y="8283"/>
                  <a:pt x="297953" y="7951"/>
                  <a:pt x="292487" y="10712"/>
                </a:cubicBezTo>
                <a:lnTo>
                  <a:pt x="228324" y="42793"/>
                </a:lnTo>
                <a:lnTo>
                  <a:pt x="129264" y="9718"/>
                </a:lnTo>
                <a:cubicBezTo>
                  <a:pt x="124791" y="8227"/>
                  <a:pt x="119987" y="8559"/>
                  <a:pt x="115791" y="10657"/>
                </a:cubicBezTo>
                <a:lnTo>
                  <a:pt x="45113" y="45996"/>
                </a:lnTo>
                <a:cubicBezTo>
                  <a:pt x="39094" y="49033"/>
                  <a:pt x="35339" y="55162"/>
                  <a:pt x="35339" y="61843"/>
                </a:cubicBezTo>
                <a:lnTo>
                  <a:pt x="35339" y="256209"/>
                </a:lnTo>
                <a:cubicBezTo>
                  <a:pt x="35339" y="262338"/>
                  <a:pt x="38487" y="268025"/>
                  <a:pt x="43732" y="271228"/>
                </a:cubicBezTo>
                <a:cubicBezTo>
                  <a:pt x="48978" y="274430"/>
                  <a:pt x="55438" y="274762"/>
                  <a:pt x="60905" y="272001"/>
                </a:cubicBezTo>
                <a:lnTo>
                  <a:pt x="125012" y="239920"/>
                </a:lnTo>
                <a:lnTo>
                  <a:pt x="220704" y="271835"/>
                </a:lnTo>
                <a:cubicBezTo>
                  <a:pt x="218330" y="268301"/>
                  <a:pt x="216010" y="264602"/>
                  <a:pt x="213747" y="260847"/>
                </a:cubicBezTo>
                <a:cubicBezTo>
                  <a:pt x="207673" y="250742"/>
                  <a:pt x="201654" y="239147"/>
                  <a:pt x="197181" y="226723"/>
                </a:cubicBezTo>
                <a:lnTo>
                  <a:pt x="141301" y="208114"/>
                </a:lnTo>
                <a:lnTo>
                  <a:pt x="141301" y="51021"/>
                </a:lnTo>
                <a:lnTo>
                  <a:pt x="211980" y="74599"/>
                </a:lnTo>
                <a:lnTo>
                  <a:pt x="211980" y="129430"/>
                </a:lnTo>
                <a:cubicBezTo>
                  <a:pt x="229097" y="109662"/>
                  <a:pt x="254497" y="97183"/>
                  <a:pt x="282658" y="97183"/>
                </a:cubicBezTo>
                <a:cubicBezTo>
                  <a:pt x="295137" y="97183"/>
                  <a:pt x="307064" y="99612"/>
                  <a:pt x="317997" y="104085"/>
                </a:cubicBezTo>
                <a:lnTo>
                  <a:pt x="318052" y="26504"/>
                </a:lnTo>
                <a:close/>
                <a:moveTo>
                  <a:pt x="282713" y="123687"/>
                </a:moveTo>
                <a:cubicBezTo>
                  <a:pt x="246104" y="123687"/>
                  <a:pt x="216452" y="152842"/>
                  <a:pt x="216452" y="188788"/>
                </a:cubicBezTo>
                <a:cubicBezTo>
                  <a:pt x="216452" y="226833"/>
                  <a:pt x="251847" y="271835"/>
                  <a:pt x="270897" y="293315"/>
                </a:cubicBezTo>
                <a:cubicBezTo>
                  <a:pt x="277302" y="300493"/>
                  <a:pt x="288180" y="300493"/>
                  <a:pt x="294585" y="293315"/>
                </a:cubicBezTo>
                <a:cubicBezTo>
                  <a:pt x="313635" y="271835"/>
                  <a:pt x="349029" y="226833"/>
                  <a:pt x="349029" y="188788"/>
                </a:cubicBezTo>
                <a:cubicBezTo>
                  <a:pt x="349029" y="152842"/>
                  <a:pt x="319377" y="123687"/>
                  <a:pt x="282768" y="123687"/>
                </a:cubicBezTo>
                <a:close/>
                <a:moveTo>
                  <a:pt x="260626" y="189948"/>
                </a:moveTo>
                <a:cubicBezTo>
                  <a:pt x="260626" y="177758"/>
                  <a:pt x="270523" y="167861"/>
                  <a:pt x="282713" y="167861"/>
                </a:cubicBezTo>
                <a:cubicBezTo>
                  <a:pt x="294903" y="167861"/>
                  <a:pt x="304800" y="177758"/>
                  <a:pt x="304800" y="189948"/>
                </a:cubicBezTo>
                <a:cubicBezTo>
                  <a:pt x="304800" y="202138"/>
                  <a:pt x="294903" y="212035"/>
                  <a:pt x="282713" y="212035"/>
                </a:cubicBezTo>
                <a:cubicBezTo>
                  <a:pt x="270523" y="212035"/>
                  <a:pt x="260626" y="202138"/>
                  <a:pt x="260626" y="18994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01530" y="1413565"/>
            <a:ext cx="871699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5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6783" y="1884754"/>
            <a:ext cx="7232742" cy="30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4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某个机房与其他机房之间出现短暂网络抖动：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6783" y="2332383"/>
            <a:ext cx="7138504" cy="848139"/>
          </a:xfrm>
          <a:custGeom>
            <a:avLst/>
            <a:gdLst/>
            <a:ahLst/>
            <a:cxnLst/>
            <a:rect l="l" t="t" r="r" b="b"/>
            <a:pathLst>
              <a:path w="7138504" h="848139">
                <a:moveTo>
                  <a:pt x="94237" y="0"/>
                </a:moveTo>
                <a:lnTo>
                  <a:pt x="7044268" y="0"/>
                </a:lnTo>
                <a:cubicBezTo>
                  <a:pt x="7096313" y="0"/>
                  <a:pt x="7138504" y="42191"/>
                  <a:pt x="7138504" y="94237"/>
                </a:cubicBezTo>
                <a:lnTo>
                  <a:pt x="7138504" y="753902"/>
                </a:lnTo>
                <a:cubicBezTo>
                  <a:pt x="7138504" y="805948"/>
                  <a:pt x="7096313" y="848139"/>
                  <a:pt x="7044268" y="848139"/>
                </a:cubicBezTo>
                <a:lnTo>
                  <a:pt x="94237" y="848139"/>
                </a:lnTo>
                <a:cubicBezTo>
                  <a:pt x="42191" y="848139"/>
                  <a:pt x="0" y="805948"/>
                  <a:pt x="0" y="753902"/>
                </a:cubicBezTo>
                <a:lnTo>
                  <a:pt x="0" y="94237"/>
                </a:lnTo>
                <a:cubicBezTo>
                  <a:pt x="0" y="42191"/>
                  <a:pt x="42191" y="0"/>
                  <a:pt x="942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8139" y="2473739"/>
            <a:ext cx="695002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8139" y="2803571"/>
            <a:ext cx="6938249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跨机房心跳丢失，但机房内部节点之间通信正常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6783" y="3274759"/>
            <a:ext cx="7138504" cy="848139"/>
          </a:xfrm>
          <a:custGeom>
            <a:avLst/>
            <a:gdLst/>
            <a:ahLst/>
            <a:cxnLst/>
            <a:rect l="l" t="t" r="r" b="b"/>
            <a:pathLst>
              <a:path w="7138504" h="848139">
                <a:moveTo>
                  <a:pt x="94237" y="0"/>
                </a:moveTo>
                <a:lnTo>
                  <a:pt x="7044268" y="0"/>
                </a:lnTo>
                <a:cubicBezTo>
                  <a:pt x="7096313" y="0"/>
                  <a:pt x="7138504" y="42191"/>
                  <a:pt x="7138504" y="94237"/>
                </a:cubicBezTo>
                <a:lnTo>
                  <a:pt x="7138504" y="753902"/>
                </a:lnTo>
                <a:cubicBezTo>
                  <a:pt x="7138504" y="805948"/>
                  <a:pt x="7096313" y="848139"/>
                  <a:pt x="7044268" y="848139"/>
                </a:cubicBezTo>
                <a:lnTo>
                  <a:pt x="94237" y="848139"/>
                </a:lnTo>
                <a:cubicBezTo>
                  <a:pt x="42191" y="848139"/>
                  <a:pt x="0" y="805948"/>
                  <a:pt x="0" y="753902"/>
                </a:cubicBezTo>
                <a:lnTo>
                  <a:pt x="0" y="94237"/>
                </a:lnTo>
                <a:cubicBezTo>
                  <a:pt x="0" y="42191"/>
                  <a:pt x="42191" y="0"/>
                  <a:pt x="942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8139" y="3416116"/>
            <a:ext cx="695002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误判故障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8139" y="3745948"/>
            <a:ext cx="6938249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 Gossip 的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超时时间设置过于激进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，外部节点可能误认为该机房内所有节点"故障"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6783" y="4217136"/>
            <a:ext cx="7138504" cy="848139"/>
          </a:xfrm>
          <a:custGeom>
            <a:avLst/>
            <a:gdLst/>
            <a:ahLst/>
            <a:cxnLst/>
            <a:rect l="l" t="t" r="r" b="b"/>
            <a:pathLst>
              <a:path w="7138504" h="848139">
                <a:moveTo>
                  <a:pt x="94237" y="0"/>
                </a:moveTo>
                <a:lnTo>
                  <a:pt x="7044268" y="0"/>
                </a:lnTo>
                <a:cubicBezTo>
                  <a:pt x="7096313" y="0"/>
                  <a:pt x="7138504" y="42191"/>
                  <a:pt x="7138504" y="94237"/>
                </a:cubicBezTo>
                <a:lnTo>
                  <a:pt x="7138504" y="753902"/>
                </a:lnTo>
                <a:cubicBezTo>
                  <a:pt x="7138504" y="805948"/>
                  <a:pt x="7096313" y="848139"/>
                  <a:pt x="7044268" y="848139"/>
                </a:cubicBezTo>
                <a:lnTo>
                  <a:pt x="94237" y="848139"/>
                </a:lnTo>
                <a:cubicBezTo>
                  <a:pt x="42191" y="848139"/>
                  <a:pt x="0" y="805948"/>
                  <a:pt x="0" y="753902"/>
                </a:cubicBezTo>
                <a:lnTo>
                  <a:pt x="0" y="94237"/>
                </a:lnTo>
                <a:cubicBezTo>
                  <a:pt x="0" y="42191"/>
                  <a:pt x="42191" y="0"/>
                  <a:pt x="942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8139" y="4358493"/>
            <a:ext cx="695002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误恢复风暴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8139" y="4688325"/>
            <a:ext cx="6938249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触发大规模副本迁移或任务重启，形成"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误恢复风暴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6783" y="5159513"/>
            <a:ext cx="7138504" cy="848139"/>
          </a:xfrm>
          <a:custGeom>
            <a:avLst/>
            <a:gdLst/>
            <a:ahLst/>
            <a:cxnLst/>
            <a:rect l="l" t="t" r="r" b="b"/>
            <a:pathLst>
              <a:path w="7138504" h="848139">
                <a:moveTo>
                  <a:pt x="94237" y="0"/>
                </a:moveTo>
                <a:lnTo>
                  <a:pt x="7044268" y="0"/>
                </a:lnTo>
                <a:cubicBezTo>
                  <a:pt x="7096313" y="0"/>
                  <a:pt x="7138504" y="42191"/>
                  <a:pt x="7138504" y="94237"/>
                </a:cubicBezTo>
                <a:lnTo>
                  <a:pt x="7138504" y="753902"/>
                </a:lnTo>
                <a:cubicBezTo>
                  <a:pt x="7138504" y="805948"/>
                  <a:pt x="7096313" y="848139"/>
                  <a:pt x="7044268" y="848139"/>
                </a:cubicBezTo>
                <a:lnTo>
                  <a:pt x="94237" y="848139"/>
                </a:lnTo>
                <a:cubicBezTo>
                  <a:pt x="42191" y="848139"/>
                  <a:pt x="0" y="805948"/>
                  <a:pt x="0" y="753902"/>
                </a:cubicBezTo>
                <a:lnTo>
                  <a:pt x="0" y="94237"/>
                </a:lnTo>
                <a:cubicBezTo>
                  <a:pt x="0" y="42191"/>
                  <a:pt x="42191" y="0"/>
                  <a:pt x="94237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8139" y="5300870"/>
            <a:ext cx="695002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脑裂局面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139" y="5630701"/>
            <a:ext cx="6938249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不同机房之间各自认为对方故障的"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脑裂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"局面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4748" y="6384603"/>
            <a:ext cx="7539014" cy="2744672"/>
          </a:xfrm>
          <a:custGeom>
            <a:avLst/>
            <a:gdLst/>
            <a:ahLst/>
            <a:cxnLst/>
            <a:rect l="l" t="t" r="r" b="b"/>
            <a:pathLst>
              <a:path w="7539014" h="2744672">
                <a:moveTo>
                  <a:pt x="47119" y="0"/>
                </a:moveTo>
                <a:lnTo>
                  <a:pt x="7444790" y="0"/>
                </a:lnTo>
                <a:cubicBezTo>
                  <a:pt x="7496829" y="0"/>
                  <a:pt x="7539014" y="42186"/>
                  <a:pt x="7539014" y="94225"/>
                </a:cubicBezTo>
                <a:lnTo>
                  <a:pt x="7539014" y="2650448"/>
                </a:lnTo>
                <a:cubicBezTo>
                  <a:pt x="7539014" y="2702487"/>
                  <a:pt x="7496829" y="2744672"/>
                  <a:pt x="7444790" y="2744672"/>
                </a:cubicBezTo>
                <a:lnTo>
                  <a:pt x="47119" y="2744672"/>
                </a:lnTo>
                <a:cubicBezTo>
                  <a:pt x="21096" y="2744672"/>
                  <a:pt x="0" y="2723577"/>
                  <a:pt x="0" y="2697554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94748" y="6384603"/>
            <a:ext cx="47119" cy="2744672"/>
          </a:xfrm>
          <a:custGeom>
            <a:avLst/>
            <a:gdLst/>
            <a:ahLst/>
            <a:cxnLst/>
            <a:rect l="l" t="t" r="r" b="b"/>
            <a:pathLst>
              <a:path w="47119" h="2744672">
                <a:moveTo>
                  <a:pt x="47119" y="0"/>
                </a:moveTo>
                <a:lnTo>
                  <a:pt x="47119" y="0"/>
                </a:lnTo>
                <a:lnTo>
                  <a:pt x="47119" y="2744672"/>
                </a:lnTo>
                <a:lnTo>
                  <a:pt x="47119" y="2744672"/>
                </a:lnTo>
                <a:cubicBezTo>
                  <a:pt x="21096" y="2744672"/>
                  <a:pt x="0" y="2723577"/>
                  <a:pt x="0" y="2697554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42122" y="6596638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282713"/>
                </a:moveTo>
                <a:cubicBezTo>
                  <a:pt x="219373" y="282713"/>
                  <a:pt x="282713" y="219373"/>
                  <a:pt x="282713" y="141357"/>
                </a:cubicBezTo>
                <a:cubicBezTo>
                  <a:pt x="282713" y="63340"/>
                  <a:pt x="219373" y="0"/>
                  <a:pt x="141357" y="0"/>
                </a:cubicBezTo>
                <a:cubicBezTo>
                  <a:pt x="63340" y="0"/>
                  <a:pt x="0" y="63340"/>
                  <a:pt x="0" y="141357"/>
                </a:cubicBezTo>
                <a:cubicBezTo>
                  <a:pt x="0" y="219373"/>
                  <a:pt x="63340" y="282713"/>
                  <a:pt x="141357" y="282713"/>
                </a:cubicBezTo>
                <a:close/>
                <a:moveTo>
                  <a:pt x="141357" y="75096"/>
                </a:moveTo>
                <a:cubicBezTo>
                  <a:pt x="148700" y="75096"/>
                  <a:pt x="154609" y="81004"/>
                  <a:pt x="154609" y="88348"/>
                </a:cubicBezTo>
                <a:lnTo>
                  <a:pt x="154609" y="150191"/>
                </a:lnTo>
                <a:cubicBezTo>
                  <a:pt x="154609" y="157535"/>
                  <a:pt x="148700" y="163443"/>
                  <a:pt x="141357" y="163443"/>
                </a:cubicBezTo>
                <a:cubicBezTo>
                  <a:pt x="134013" y="163443"/>
                  <a:pt x="128104" y="157535"/>
                  <a:pt x="128104" y="150191"/>
                </a:cubicBezTo>
                <a:lnTo>
                  <a:pt x="128104" y="88348"/>
                </a:lnTo>
                <a:cubicBezTo>
                  <a:pt x="128104" y="81004"/>
                  <a:pt x="134013" y="75096"/>
                  <a:pt x="141357" y="75096"/>
                </a:cubicBezTo>
                <a:close/>
                <a:moveTo>
                  <a:pt x="126613" y="194365"/>
                </a:moveTo>
                <a:cubicBezTo>
                  <a:pt x="126278" y="188893"/>
                  <a:pt x="129007" y="183686"/>
                  <a:pt x="133698" y="180849"/>
                </a:cubicBezTo>
                <a:cubicBezTo>
                  <a:pt x="138390" y="178011"/>
                  <a:pt x="144268" y="178011"/>
                  <a:pt x="148959" y="180849"/>
                </a:cubicBezTo>
                <a:cubicBezTo>
                  <a:pt x="153651" y="183686"/>
                  <a:pt x="156380" y="188893"/>
                  <a:pt x="156044" y="194365"/>
                </a:cubicBezTo>
                <a:cubicBezTo>
                  <a:pt x="156380" y="199838"/>
                  <a:pt x="153651" y="205044"/>
                  <a:pt x="148959" y="207882"/>
                </a:cubicBezTo>
                <a:cubicBezTo>
                  <a:pt x="144268" y="210720"/>
                  <a:pt x="138390" y="210720"/>
                  <a:pt x="133698" y="207882"/>
                </a:cubicBezTo>
                <a:cubicBezTo>
                  <a:pt x="129007" y="205044"/>
                  <a:pt x="126278" y="199838"/>
                  <a:pt x="126613" y="19436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01530" y="6573078"/>
            <a:ext cx="871699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5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根本原因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6783" y="7138504"/>
            <a:ext cx="94238" cy="94238"/>
          </a:xfrm>
          <a:custGeom>
            <a:avLst/>
            <a:gdLst/>
            <a:ahLst/>
            <a:cxnLst/>
            <a:rect l="l" t="t" r="r" b="b"/>
            <a:pathLst>
              <a:path w="94238" h="94238">
                <a:moveTo>
                  <a:pt x="47119" y="0"/>
                </a:moveTo>
                <a:lnTo>
                  <a:pt x="47119" y="0"/>
                </a:lnTo>
                <a:cubicBezTo>
                  <a:pt x="73124" y="0"/>
                  <a:pt x="94238" y="21113"/>
                  <a:pt x="94238" y="47119"/>
                </a:cubicBezTo>
                <a:lnTo>
                  <a:pt x="94238" y="47119"/>
                </a:lnTo>
                <a:cubicBezTo>
                  <a:pt x="94238" y="73124"/>
                  <a:pt x="73124" y="94238"/>
                  <a:pt x="47119" y="94238"/>
                </a:cubicBezTo>
                <a:lnTo>
                  <a:pt x="47119" y="94238"/>
                </a:lnTo>
                <a:cubicBezTo>
                  <a:pt x="21113" y="94238"/>
                  <a:pt x="0" y="73124"/>
                  <a:pt x="0" y="47119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5258" y="7044267"/>
            <a:ext cx="7044267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概率性判断的局限性：</a:t>
            </a:r>
            <a:r>
              <a:rPr lang="en-US" sz="1484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基于本地观察作出概率性判断，缺乏多级状态和足够长观察窗口，容易将暂时性网络问题误判为永久性故障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6783" y="7798168"/>
            <a:ext cx="94238" cy="94238"/>
          </a:xfrm>
          <a:custGeom>
            <a:avLst/>
            <a:gdLst/>
            <a:ahLst/>
            <a:cxnLst/>
            <a:rect l="l" t="t" r="r" b="b"/>
            <a:pathLst>
              <a:path w="94238" h="94238">
                <a:moveTo>
                  <a:pt x="47119" y="0"/>
                </a:moveTo>
                <a:lnTo>
                  <a:pt x="47119" y="0"/>
                </a:lnTo>
                <a:cubicBezTo>
                  <a:pt x="73124" y="0"/>
                  <a:pt x="94238" y="21113"/>
                  <a:pt x="94238" y="47119"/>
                </a:cubicBezTo>
                <a:lnTo>
                  <a:pt x="94238" y="47119"/>
                </a:lnTo>
                <a:cubicBezTo>
                  <a:pt x="94238" y="73124"/>
                  <a:pt x="73124" y="94238"/>
                  <a:pt x="47119" y="94238"/>
                </a:cubicBezTo>
                <a:lnTo>
                  <a:pt x="47119" y="94238"/>
                </a:lnTo>
                <a:cubicBezTo>
                  <a:pt x="21113" y="94238"/>
                  <a:pt x="0" y="73124"/>
                  <a:pt x="0" y="47119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5258" y="7703930"/>
            <a:ext cx="7044267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单一信号误差放大：</a:t>
            </a:r>
            <a:r>
              <a:rPr lang="en-US" sz="1484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缺乏跨层（网络、应用、业务）多信号交叉验证，会放大单一指标的误差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3128" y="1225090"/>
            <a:ext cx="7539014" cy="7904186"/>
          </a:xfrm>
          <a:custGeom>
            <a:avLst/>
            <a:gdLst/>
            <a:ahLst/>
            <a:cxnLst/>
            <a:rect l="l" t="t" r="r" b="b"/>
            <a:pathLst>
              <a:path w="7539014" h="7904186">
                <a:moveTo>
                  <a:pt x="47119" y="0"/>
                </a:moveTo>
                <a:lnTo>
                  <a:pt x="7444777" y="0"/>
                </a:lnTo>
                <a:cubicBezTo>
                  <a:pt x="7496823" y="0"/>
                  <a:pt x="7539014" y="42192"/>
                  <a:pt x="7539014" y="94238"/>
                </a:cubicBezTo>
                <a:lnTo>
                  <a:pt x="7539014" y="7809948"/>
                </a:lnTo>
                <a:cubicBezTo>
                  <a:pt x="7539014" y="7861994"/>
                  <a:pt x="7496823" y="7904186"/>
                  <a:pt x="7444777" y="7904186"/>
                </a:cubicBezTo>
                <a:lnTo>
                  <a:pt x="47119" y="7904186"/>
                </a:lnTo>
                <a:cubicBezTo>
                  <a:pt x="21096" y="7904186"/>
                  <a:pt x="0" y="7883090"/>
                  <a:pt x="0" y="7857067"/>
                </a:cubicBezTo>
                <a:lnTo>
                  <a:pt x="0" y="47119"/>
                </a:lnTo>
                <a:cubicBezTo>
                  <a:pt x="0" y="21096"/>
                  <a:pt x="21096" y="0"/>
                  <a:pt x="47119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243128" y="1225090"/>
            <a:ext cx="47119" cy="7904186"/>
          </a:xfrm>
          <a:custGeom>
            <a:avLst/>
            <a:gdLst/>
            <a:ahLst/>
            <a:cxnLst/>
            <a:rect l="l" t="t" r="r" b="b"/>
            <a:pathLst>
              <a:path w="47119" h="7904186">
                <a:moveTo>
                  <a:pt x="47119" y="0"/>
                </a:moveTo>
                <a:lnTo>
                  <a:pt x="47119" y="0"/>
                </a:lnTo>
                <a:lnTo>
                  <a:pt x="47119" y="7904186"/>
                </a:lnTo>
                <a:lnTo>
                  <a:pt x="47119" y="7904186"/>
                </a:lnTo>
                <a:cubicBezTo>
                  <a:pt x="21096" y="7904186"/>
                  <a:pt x="0" y="7883090"/>
                  <a:pt x="0" y="7857067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90502" y="1437125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141357" y="0"/>
                </a:moveTo>
                <a:cubicBezTo>
                  <a:pt x="143897" y="0"/>
                  <a:pt x="146437" y="552"/>
                  <a:pt x="148756" y="1601"/>
                </a:cubicBezTo>
                <a:lnTo>
                  <a:pt x="252785" y="45720"/>
                </a:lnTo>
                <a:cubicBezTo>
                  <a:pt x="264933" y="50855"/>
                  <a:pt x="273989" y="62837"/>
                  <a:pt x="273933" y="77304"/>
                </a:cubicBezTo>
                <a:cubicBezTo>
                  <a:pt x="273657" y="132080"/>
                  <a:pt x="251129" y="232300"/>
                  <a:pt x="155989" y="277854"/>
                </a:cubicBezTo>
                <a:cubicBezTo>
                  <a:pt x="146768" y="282271"/>
                  <a:pt x="136056" y="282271"/>
                  <a:pt x="126834" y="277854"/>
                </a:cubicBezTo>
                <a:cubicBezTo>
                  <a:pt x="31640" y="232300"/>
                  <a:pt x="9166" y="132080"/>
                  <a:pt x="8890" y="77304"/>
                </a:cubicBezTo>
                <a:cubicBezTo>
                  <a:pt x="8835" y="62837"/>
                  <a:pt x="17890" y="50855"/>
                  <a:pt x="30038" y="45720"/>
                </a:cubicBezTo>
                <a:lnTo>
                  <a:pt x="134013" y="1601"/>
                </a:lnTo>
                <a:cubicBezTo>
                  <a:pt x="136332" y="552"/>
                  <a:pt x="138817" y="0"/>
                  <a:pt x="141357" y="0"/>
                </a:cubicBezTo>
                <a:close/>
                <a:moveTo>
                  <a:pt x="141357" y="36885"/>
                </a:moveTo>
                <a:lnTo>
                  <a:pt x="141357" y="245662"/>
                </a:lnTo>
                <a:cubicBezTo>
                  <a:pt x="217557" y="208777"/>
                  <a:pt x="238042" y="127055"/>
                  <a:pt x="238539" y="78133"/>
                </a:cubicBezTo>
                <a:lnTo>
                  <a:pt x="141357" y="36940"/>
                </a:lnTo>
                <a:lnTo>
                  <a:pt x="141357" y="3694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949911" y="1413565"/>
            <a:ext cx="871699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5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实践建议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55163" y="1884754"/>
            <a:ext cx="7138504" cy="1602041"/>
          </a:xfrm>
          <a:custGeom>
            <a:avLst/>
            <a:gdLst/>
            <a:ahLst/>
            <a:cxnLst/>
            <a:rect l="l" t="t" r="r" b="b"/>
            <a:pathLst>
              <a:path w="7138504" h="1602041">
                <a:moveTo>
                  <a:pt x="94232" y="0"/>
                </a:moveTo>
                <a:lnTo>
                  <a:pt x="7044272" y="0"/>
                </a:lnTo>
                <a:cubicBezTo>
                  <a:pt x="7096315" y="0"/>
                  <a:pt x="7138504" y="42189"/>
                  <a:pt x="7138504" y="94232"/>
                </a:cubicBezTo>
                <a:lnTo>
                  <a:pt x="7138504" y="1507809"/>
                </a:lnTo>
                <a:cubicBezTo>
                  <a:pt x="7138504" y="1559851"/>
                  <a:pt x="7096315" y="1602041"/>
                  <a:pt x="7044272" y="1602041"/>
                </a:cubicBezTo>
                <a:lnTo>
                  <a:pt x="94232" y="1602041"/>
                </a:lnTo>
                <a:cubicBezTo>
                  <a:pt x="42189" y="1602041"/>
                  <a:pt x="0" y="1559851"/>
                  <a:pt x="0" y="1507809"/>
                </a:cubicBezTo>
                <a:lnTo>
                  <a:pt x="0" y="94232"/>
                </a:lnTo>
                <a:cubicBezTo>
                  <a:pt x="0" y="42224"/>
                  <a:pt x="42224" y="0"/>
                  <a:pt x="9423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643638" y="2073229"/>
            <a:ext cx="376951" cy="376951"/>
          </a:xfrm>
          <a:custGeom>
            <a:avLst/>
            <a:gdLst/>
            <a:ahLst/>
            <a:cxnLst/>
            <a:rect l="l" t="t" r="r" b="b"/>
            <a:pathLst>
              <a:path w="376951" h="376951">
                <a:moveTo>
                  <a:pt x="188475" y="0"/>
                </a:moveTo>
                <a:lnTo>
                  <a:pt x="188475" y="0"/>
                </a:lnTo>
                <a:cubicBezTo>
                  <a:pt x="292498" y="0"/>
                  <a:pt x="376951" y="84453"/>
                  <a:pt x="376951" y="188475"/>
                </a:cubicBezTo>
                <a:lnTo>
                  <a:pt x="376951" y="188475"/>
                </a:lnTo>
                <a:cubicBezTo>
                  <a:pt x="376951" y="292498"/>
                  <a:pt x="292498" y="376951"/>
                  <a:pt x="188475" y="376951"/>
                </a:cubicBezTo>
                <a:lnTo>
                  <a:pt x="188475" y="376951"/>
                </a:lnTo>
                <a:cubicBezTo>
                  <a:pt x="84453" y="376951"/>
                  <a:pt x="0" y="292498"/>
                  <a:pt x="0" y="188475"/>
                </a:cubicBezTo>
                <a:lnTo>
                  <a:pt x="0" y="188475"/>
                </a:lnTo>
                <a:cubicBezTo>
                  <a:pt x="0" y="84453"/>
                  <a:pt x="84453" y="0"/>
                  <a:pt x="18847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02409" y="2073229"/>
            <a:ext cx="459409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9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61946" y="2096788"/>
            <a:ext cx="137822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采用多级状态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43638" y="2544417"/>
            <a:ext cx="6844012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多级状态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</a:t>
            </a:r>
            <a:r>
              <a:rPr lang="en-US" sz="1299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suspect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dead），让节点在进入 dead 状态前经历一个可观察的缓冲期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43638" y="2874249"/>
            <a:ext cx="6761554" cy="424070"/>
          </a:xfrm>
          <a:custGeom>
            <a:avLst/>
            <a:gdLst/>
            <a:ahLst/>
            <a:cxnLst/>
            <a:rect l="l" t="t" r="r" b="b"/>
            <a:pathLst>
              <a:path w="6761554" h="424070">
                <a:moveTo>
                  <a:pt x="47118" y="0"/>
                </a:moveTo>
                <a:lnTo>
                  <a:pt x="6714435" y="0"/>
                </a:lnTo>
                <a:cubicBezTo>
                  <a:pt x="6740458" y="0"/>
                  <a:pt x="6761554" y="21096"/>
                  <a:pt x="6761554" y="47118"/>
                </a:cubicBezTo>
                <a:lnTo>
                  <a:pt x="6761554" y="376951"/>
                </a:lnTo>
                <a:cubicBezTo>
                  <a:pt x="6761554" y="402974"/>
                  <a:pt x="6740458" y="424070"/>
                  <a:pt x="6714435" y="424070"/>
                </a:cubicBezTo>
                <a:lnTo>
                  <a:pt x="47118" y="424070"/>
                </a:lnTo>
                <a:cubicBezTo>
                  <a:pt x="21096" y="424070"/>
                  <a:pt x="0" y="402974"/>
                  <a:pt x="0" y="376951"/>
                </a:cubicBezTo>
                <a:lnTo>
                  <a:pt x="0" y="47118"/>
                </a:lnTo>
                <a:cubicBezTo>
                  <a:pt x="0" y="21096"/>
                  <a:pt x="21096" y="0"/>
                  <a:pt x="47118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771743" y="3003826"/>
            <a:ext cx="144301" cy="164916"/>
          </a:xfrm>
          <a:custGeom>
            <a:avLst/>
            <a:gdLst/>
            <a:ahLst/>
            <a:cxnLst/>
            <a:rect l="l" t="t" r="r" b="b"/>
            <a:pathLst>
              <a:path w="144301" h="164916">
                <a:moveTo>
                  <a:pt x="140050" y="22579"/>
                </a:moveTo>
                <a:cubicBezTo>
                  <a:pt x="144656" y="25929"/>
                  <a:pt x="145686" y="32371"/>
                  <a:pt x="142337" y="36977"/>
                </a:cubicBezTo>
                <a:lnTo>
                  <a:pt x="59879" y="150357"/>
                </a:lnTo>
                <a:cubicBezTo>
                  <a:pt x="58107" y="152805"/>
                  <a:pt x="55369" y="154319"/>
                  <a:pt x="52341" y="154576"/>
                </a:cubicBezTo>
                <a:cubicBezTo>
                  <a:pt x="49314" y="154834"/>
                  <a:pt x="46383" y="153707"/>
                  <a:pt x="44257" y="151581"/>
                </a:cubicBezTo>
                <a:lnTo>
                  <a:pt x="3028" y="110352"/>
                </a:lnTo>
                <a:cubicBezTo>
                  <a:pt x="-999" y="106326"/>
                  <a:pt x="-999" y="99787"/>
                  <a:pt x="3028" y="95761"/>
                </a:cubicBezTo>
                <a:cubicBezTo>
                  <a:pt x="7054" y="91734"/>
                  <a:pt x="13593" y="91734"/>
                  <a:pt x="17619" y="95761"/>
                </a:cubicBezTo>
                <a:lnTo>
                  <a:pt x="50312" y="128454"/>
                </a:lnTo>
                <a:lnTo>
                  <a:pt x="125684" y="24834"/>
                </a:lnTo>
                <a:cubicBezTo>
                  <a:pt x="129034" y="20228"/>
                  <a:pt x="135476" y="19197"/>
                  <a:pt x="140082" y="2254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43082" y="2874249"/>
            <a:ext cx="6544568" cy="424070"/>
          </a:xfrm>
          <a:prstGeom prst="rect">
            <a:avLst/>
          </a:prstGeom>
          <a:noFill/>
          <a:ln/>
        </p:spPr>
        <p:txBody>
          <a:bodyPr wrap="square" lIns="94238" tIns="94238" rIns="94238" bIns="94238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例如：suspect 状态保持 30-60 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55163" y="3628151"/>
            <a:ext cx="7138504" cy="1602041"/>
          </a:xfrm>
          <a:custGeom>
            <a:avLst/>
            <a:gdLst/>
            <a:ahLst/>
            <a:cxnLst/>
            <a:rect l="l" t="t" r="r" b="b"/>
            <a:pathLst>
              <a:path w="7138504" h="1602041">
                <a:moveTo>
                  <a:pt x="94232" y="0"/>
                </a:moveTo>
                <a:lnTo>
                  <a:pt x="7044272" y="0"/>
                </a:lnTo>
                <a:cubicBezTo>
                  <a:pt x="7096315" y="0"/>
                  <a:pt x="7138504" y="42189"/>
                  <a:pt x="7138504" y="94232"/>
                </a:cubicBezTo>
                <a:lnTo>
                  <a:pt x="7138504" y="1507809"/>
                </a:lnTo>
                <a:cubicBezTo>
                  <a:pt x="7138504" y="1559851"/>
                  <a:pt x="7096315" y="1602041"/>
                  <a:pt x="7044272" y="1602041"/>
                </a:cubicBezTo>
                <a:lnTo>
                  <a:pt x="94232" y="1602041"/>
                </a:lnTo>
                <a:cubicBezTo>
                  <a:pt x="42189" y="1602041"/>
                  <a:pt x="0" y="1559851"/>
                  <a:pt x="0" y="1507809"/>
                </a:cubicBezTo>
                <a:lnTo>
                  <a:pt x="0" y="94232"/>
                </a:lnTo>
                <a:cubicBezTo>
                  <a:pt x="0" y="42224"/>
                  <a:pt x="42224" y="0"/>
                  <a:pt x="9423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43638" y="3816626"/>
            <a:ext cx="376951" cy="376951"/>
          </a:xfrm>
          <a:custGeom>
            <a:avLst/>
            <a:gdLst/>
            <a:ahLst/>
            <a:cxnLst/>
            <a:rect l="l" t="t" r="r" b="b"/>
            <a:pathLst>
              <a:path w="376951" h="376951">
                <a:moveTo>
                  <a:pt x="188475" y="0"/>
                </a:moveTo>
                <a:lnTo>
                  <a:pt x="188475" y="0"/>
                </a:lnTo>
                <a:cubicBezTo>
                  <a:pt x="292498" y="0"/>
                  <a:pt x="376951" y="84453"/>
                  <a:pt x="376951" y="188475"/>
                </a:cubicBezTo>
                <a:lnTo>
                  <a:pt x="376951" y="188475"/>
                </a:lnTo>
                <a:cubicBezTo>
                  <a:pt x="376951" y="292498"/>
                  <a:pt x="292498" y="376951"/>
                  <a:pt x="188475" y="376951"/>
                </a:cubicBezTo>
                <a:lnTo>
                  <a:pt x="188475" y="376951"/>
                </a:lnTo>
                <a:cubicBezTo>
                  <a:pt x="84453" y="376951"/>
                  <a:pt x="0" y="292498"/>
                  <a:pt x="0" y="188475"/>
                </a:cubicBezTo>
                <a:lnTo>
                  <a:pt x="0" y="188475"/>
                </a:lnTo>
                <a:cubicBezTo>
                  <a:pt x="0" y="84453"/>
                  <a:pt x="84453" y="0"/>
                  <a:pt x="18847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02409" y="3816626"/>
            <a:ext cx="459409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9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61946" y="3840186"/>
            <a:ext cx="137822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间接探测机制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43638" y="4287814"/>
            <a:ext cx="6844012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 SWIM 中的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间接探测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机制，区分"单向网络问题"和"目标节点不可达"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43638" y="4617646"/>
            <a:ext cx="6761554" cy="424070"/>
          </a:xfrm>
          <a:custGeom>
            <a:avLst/>
            <a:gdLst/>
            <a:ahLst/>
            <a:cxnLst/>
            <a:rect l="l" t="t" r="r" b="b"/>
            <a:pathLst>
              <a:path w="6761554" h="424070">
                <a:moveTo>
                  <a:pt x="47118" y="0"/>
                </a:moveTo>
                <a:lnTo>
                  <a:pt x="6714435" y="0"/>
                </a:lnTo>
                <a:cubicBezTo>
                  <a:pt x="6740458" y="0"/>
                  <a:pt x="6761554" y="21096"/>
                  <a:pt x="6761554" y="47118"/>
                </a:cubicBezTo>
                <a:lnTo>
                  <a:pt x="6761554" y="376951"/>
                </a:lnTo>
                <a:cubicBezTo>
                  <a:pt x="6761554" y="402974"/>
                  <a:pt x="6740458" y="424070"/>
                  <a:pt x="6714435" y="424070"/>
                </a:cubicBezTo>
                <a:lnTo>
                  <a:pt x="47118" y="424070"/>
                </a:lnTo>
                <a:cubicBezTo>
                  <a:pt x="21096" y="424070"/>
                  <a:pt x="0" y="402974"/>
                  <a:pt x="0" y="376951"/>
                </a:cubicBezTo>
                <a:lnTo>
                  <a:pt x="0" y="47118"/>
                </a:lnTo>
                <a:cubicBezTo>
                  <a:pt x="0" y="21096"/>
                  <a:pt x="21096" y="0"/>
                  <a:pt x="47118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771743" y="4747223"/>
            <a:ext cx="144301" cy="164916"/>
          </a:xfrm>
          <a:custGeom>
            <a:avLst/>
            <a:gdLst/>
            <a:ahLst/>
            <a:cxnLst/>
            <a:rect l="l" t="t" r="r" b="b"/>
            <a:pathLst>
              <a:path w="144301" h="164916">
                <a:moveTo>
                  <a:pt x="140050" y="22579"/>
                </a:moveTo>
                <a:cubicBezTo>
                  <a:pt x="144656" y="25929"/>
                  <a:pt x="145686" y="32371"/>
                  <a:pt x="142337" y="36977"/>
                </a:cubicBezTo>
                <a:lnTo>
                  <a:pt x="59879" y="150357"/>
                </a:lnTo>
                <a:cubicBezTo>
                  <a:pt x="58107" y="152805"/>
                  <a:pt x="55369" y="154319"/>
                  <a:pt x="52341" y="154576"/>
                </a:cubicBezTo>
                <a:cubicBezTo>
                  <a:pt x="49314" y="154834"/>
                  <a:pt x="46383" y="153707"/>
                  <a:pt x="44257" y="151581"/>
                </a:cubicBezTo>
                <a:lnTo>
                  <a:pt x="3028" y="110352"/>
                </a:lnTo>
                <a:cubicBezTo>
                  <a:pt x="-999" y="106326"/>
                  <a:pt x="-999" y="99787"/>
                  <a:pt x="3028" y="95761"/>
                </a:cubicBezTo>
                <a:cubicBezTo>
                  <a:pt x="7054" y="91734"/>
                  <a:pt x="13593" y="91734"/>
                  <a:pt x="17619" y="95761"/>
                </a:cubicBezTo>
                <a:lnTo>
                  <a:pt x="50312" y="128454"/>
                </a:lnTo>
                <a:lnTo>
                  <a:pt x="125684" y="24834"/>
                </a:lnTo>
                <a:cubicBezTo>
                  <a:pt x="129034" y="20228"/>
                  <a:pt x="135476" y="19197"/>
                  <a:pt x="140082" y="2254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943082" y="4617646"/>
            <a:ext cx="6544568" cy="424070"/>
          </a:xfrm>
          <a:prstGeom prst="rect">
            <a:avLst/>
          </a:prstGeom>
          <a:noFill/>
          <a:ln/>
        </p:spPr>
        <p:txBody>
          <a:bodyPr wrap="square" lIns="94238" tIns="94238" rIns="94238" bIns="94238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请其他健康节点代为探测目标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55163" y="5371548"/>
            <a:ext cx="7138504" cy="1602041"/>
          </a:xfrm>
          <a:custGeom>
            <a:avLst/>
            <a:gdLst/>
            <a:ahLst/>
            <a:cxnLst/>
            <a:rect l="l" t="t" r="r" b="b"/>
            <a:pathLst>
              <a:path w="7138504" h="1602041">
                <a:moveTo>
                  <a:pt x="94232" y="0"/>
                </a:moveTo>
                <a:lnTo>
                  <a:pt x="7044272" y="0"/>
                </a:lnTo>
                <a:cubicBezTo>
                  <a:pt x="7096315" y="0"/>
                  <a:pt x="7138504" y="42189"/>
                  <a:pt x="7138504" y="94232"/>
                </a:cubicBezTo>
                <a:lnTo>
                  <a:pt x="7138504" y="1507809"/>
                </a:lnTo>
                <a:cubicBezTo>
                  <a:pt x="7138504" y="1559851"/>
                  <a:pt x="7096315" y="1602041"/>
                  <a:pt x="7044272" y="1602041"/>
                </a:cubicBezTo>
                <a:lnTo>
                  <a:pt x="94232" y="1602041"/>
                </a:lnTo>
                <a:cubicBezTo>
                  <a:pt x="42189" y="1602041"/>
                  <a:pt x="0" y="1559851"/>
                  <a:pt x="0" y="1507809"/>
                </a:cubicBezTo>
                <a:lnTo>
                  <a:pt x="0" y="94232"/>
                </a:lnTo>
                <a:cubicBezTo>
                  <a:pt x="0" y="42224"/>
                  <a:pt x="42224" y="0"/>
                  <a:pt x="9423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43638" y="5560023"/>
            <a:ext cx="376951" cy="376951"/>
          </a:xfrm>
          <a:custGeom>
            <a:avLst/>
            <a:gdLst/>
            <a:ahLst/>
            <a:cxnLst/>
            <a:rect l="l" t="t" r="r" b="b"/>
            <a:pathLst>
              <a:path w="376951" h="376951">
                <a:moveTo>
                  <a:pt x="188475" y="0"/>
                </a:moveTo>
                <a:lnTo>
                  <a:pt x="188475" y="0"/>
                </a:lnTo>
                <a:cubicBezTo>
                  <a:pt x="292498" y="0"/>
                  <a:pt x="376951" y="84453"/>
                  <a:pt x="376951" y="188475"/>
                </a:cubicBezTo>
                <a:lnTo>
                  <a:pt x="376951" y="188475"/>
                </a:lnTo>
                <a:cubicBezTo>
                  <a:pt x="376951" y="292498"/>
                  <a:pt x="292498" y="376951"/>
                  <a:pt x="188475" y="376951"/>
                </a:cubicBezTo>
                <a:lnTo>
                  <a:pt x="188475" y="376951"/>
                </a:lnTo>
                <a:cubicBezTo>
                  <a:pt x="84453" y="376951"/>
                  <a:pt x="0" y="292498"/>
                  <a:pt x="0" y="188475"/>
                </a:cubicBezTo>
                <a:lnTo>
                  <a:pt x="0" y="188475"/>
                </a:lnTo>
                <a:cubicBezTo>
                  <a:pt x="0" y="84453"/>
                  <a:pt x="84453" y="0"/>
                  <a:pt x="18847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602409" y="5560023"/>
            <a:ext cx="459409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9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61946" y="5583583"/>
            <a:ext cx="954157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多源观测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43638" y="6031212"/>
            <a:ext cx="6844012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应用层心跳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 QPS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错误率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等指标作为辅助信号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643638" y="6361043"/>
            <a:ext cx="6761554" cy="424070"/>
          </a:xfrm>
          <a:custGeom>
            <a:avLst/>
            <a:gdLst/>
            <a:ahLst/>
            <a:cxnLst/>
            <a:rect l="l" t="t" r="r" b="b"/>
            <a:pathLst>
              <a:path w="6761554" h="424070">
                <a:moveTo>
                  <a:pt x="47118" y="0"/>
                </a:moveTo>
                <a:lnTo>
                  <a:pt x="6714435" y="0"/>
                </a:lnTo>
                <a:cubicBezTo>
                  <a:pt x="6740458" y="0"/>
                  <a:pt x="6761554" y="21096"/>
                  <a:pt x="6761554" y="47118"/>
                </a:cubicBezTo>
                <a:lnTo>
                  <a:pt x="6761554" y="376951"/>
                </a:lnTo>
                <a:cubicBezTo>
                  <a:pt x="6761554" y="402974"/>
                  <a:pt x="6740458" y="424070"/>
                  <a:pt x="6714435" y="424070"/>
                </a:cubicBezTo>
                <a:lnTo>
                  <a:pt x="47118" y="424070"/>
                </a:lnTo>
                <a:cubicBezTo>
                  <a:pt x="21096" y="424070"/>
                  <a:pt x="0" y="402974"/>
                  <a:pt x="0" y="376951"/>
                </a:cubicBezTo>
                <a:lnTo>
                  <a:pt x="0" y="47118"/>
                </a:lnTo>
                <a:cubicBezTo>
                  <a:pt x="0" y="21096"/>
                  <a:pt x="21096" y="0"/>
                  <a:pt x="47118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771743" y="6490620"/>
            <a:ext cx="144301" cy="164916"/>
          </a:xfrm>
          <a:custGeom>
            <a:avLst/>
            <a:gdLst/>
            <a:ahLst/>
            <a:cxnLst/>
            <a:rect l="l" t="t" r="r" b="b"/>
            <a:pathLst>
              <a:path w="144301" h="164916">
                <a:moveTo>
                  <a:pt x="140050" y="22579"/>
                </a:moveTo>
                <a:cubicBezTo>
                  <a:pt x="144656" y="25929"/>
                  <a:pt x="145686" y="32371"/>
                  <a:pt x="142337" y="36977"/>
                </a:cubicBezTo>
                <a:lnTo>
                  <a:pt x="59879" y="150357"/>
                </a:lnTo>
                <a:cubicBezTo>
                  <a:pt x="58107" y="152805"/>
                  <a:pt x="55369" y="154319"/>
                  <a:pt x="52341" y="154576"/>
                </a:cubicBezTo>
                <a:cubicBezTo>
                  <a:pt x="49314" y="154834"/>
                  <a:pt x="46383" y="153707"/>
                  <a:pt x="44257" y="151581"/>
                </a:cubicBezTo>
                <a:lnTo>
                  <a:pt x="3028" y="110352"/>
                </a:lnTo>
                <a:cubicBezTo>
                  <a:pt x="-999" y="106326"/>
                  <a:pt x="-999" y="99787"/>
                  <a:pt x="3028" y="95761"/>
                </a:cubicBezTo>
                <a:cubicBezTo>
                  <a:pt x="7054" y="91734"/>
                  <a:pt x="13593" y="91734"/>
                  <a:pt x="17619" y="95761"/>
                </a:cubicBezTo>
                <a:lnTo>
                  <a:pt x="50312" y="128454"/>
                </a:lnTo>
                <a:lnTo>
                  <a:pt x="125684" y="24834"/>
                </a:lnTo>
                <a:cubicBezTo>
                  <a:pt x="129034" y="20228"/>
                  <a:pt x="135476" y="19197"/>
                  <a:pt x="140082" y="2254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943082" y="6361043"/>
            <a:ext cx="6544568" cy="424070"/>
          </a:xfrm>
          <a:prstGeom prst="rect">
            <a:avLst/>
          </a:prstGeom>
          <a:noFill/>
          <a:ln/>
        </p:spPr>
        <p:txBody>
          <a:bodyPr wrap="square" lIns="94238" tIns="94238" rIns="94238" bIns="94238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99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多源观测</a:t>
            </a: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降低误判概率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55163" y="7114945"/>
            <a:ext cx="7138504" cy="1602041"/>
          </a:xfrm>
          <a:custGeom>
            <a:avLst/>
            <a:gdLst/>
            <a:ahLst/>
            <a:cxnLst/>
            <a:rect l="l" t="t" r="r" b="b"/>
            <a:pathLst>
              <a:path w="7138504" h="1602041">
                <a:moveTo>
                  <a:pt x="94232" y="0"/>
                </a:moveTo>
                <a:lnTo>
                  <a:pt x="7044272" y="0"/>
                </a:lnTo>
                <a:cubicBezTo>
                  <a:pt x="7096315" y="0"/>
                  <a:pt x="7138504" y="42189"/>
                  <a:pt x="7138504" y="94232"/>
                </a:cubicBezTo>
                <a:lnTo>
                  <a:pt x="7138504" y="1507809"/>
                </a:lnTo>
                <a:cubicBezTo>
                  <a:pt x="7138504" y="1559851"/>
                  <a:pt x="7096315" y="1602041"/>
                  <a:pt x="7044272" y="1602041"/>
                </a:cubicBezTo>
                <a:lnTo>
                  <a:pt x="94232" y="1602041"/>
                </a:lnTo>
                <a:cubicBezTo>
                  <a:pt x="42189" y="1602041"/>
                  <a:pt x="0" y="1559851"/>
                  <a:pt x="0" y="1507809"/>
                </a:cubicBezTo>
                <a:lnTo>
                  <a:pt x="0" y="94232"/>
                </a:lnTo>
                <a:cubicBezTo>
                  <a:pt x="0" y="42224"/>
                  <a:pt x="42224" y="0"/>
                  <a:pt x="94232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643638" y="7303420"/>
            <a:ext cx="376951" cy="376951"/>
          </a:xfrm>
          <a:custGeom>
            <a:avLst/>
            <a:gdLst/>
            <a:ahLst/>
            <a:cxnLst/>
            <a:rect l="l" t="t" r="r" b="b"/>
            <a:pathLst>
              <a:path w="376951" h="376951">
                <a:moveTo>
                  <a:pt x="188475" y="0"/>
                </a:moveTo>
                <a:lnTo>
                  <a:pt x="188475" y="0"/>
                </a:lnTo>
                <a:cubicBezTo>
                  <a:pt x="292498" y="0"/>
                  <a:pt x="376951" y="84453"/>
                  <a:pt x="376951" y="188475"/>
                </a:cubicBezTo>
                <a:lnTo>
                  <a:pt x="376951" y="188475"/>
                </a:lnTo>
                <a:cubicBezTo>
                  <a:pt x="376951" y="292498"/>
                  <a:pt x="292498" y="376951"/>
                  <a:pt x="188475" y="376951"/>
                </a:cubicBezTo>
                <a:lnTo>
                  <a:pt x="188475" y="376951"/>
                </a:lnTo>
                <a:cubicBezTo>
                  <a:pt x="84453" y="376951"/>
                  <a:pt x="0" y="292498"/>
                  <a:pt x="0" y="188475"/>
                </a:cubicBezTo>
                <a:lnTo>
                  <a:pt x="0" y="188475"/>
                </a:lnTo>
                <a:cubicBezTo>
                  <a:pt x="0" y="84453"/>
                  <a:pt x="84453" y="0"/>
                  <a:pt x="18847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602409" y="7303420"/>
            <a:ext cx="459409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9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161946" y="7326980"/>
            <a:ext cx="1378226" cy="32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保守超时配置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43638" y="7774609"/>
            <a:ext cx="6844012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在网络环境不稳定的场景中，适当</a:t>
            </a:r>
            <a:r>
              <a:rPr lang="en-US" sz="1299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放宽超时时间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643638" y="8104441"/>
            <a:ext cx="6761554" cy="424070"/>
          </a:xfrm>
          <a:custGeom>
            <a:avLst/>
            <a:gdLst/>
            <a:ahLst/>
            <a:cxnLst/>
            <a:rect l="l" t="t" r="r" b="b"/>
            <a:pathLst>
              <a:path w="6761554" h="424070">
                <a:moveTo>
                  <a:pt x="47118" y="0"/>
                </a:moveTo>
                <a:lnTo>
                  <a:pt x="6714435" y="0"/>
                </a:lnTo>
                <a:cubicBezTo>
                  <a:pt x="6740458" y="0"/>
                  <a:pt x="6761554" y="21096"/>
                  <a:pt x="6761554" y="47118"/>
                </a:cubicBezTo>
                <a:lnTo>
                  <a:pt x="6761554" y="376951"/>
                </a:lnTo>
                <a:cubicBezTo>
                  <a:pt x="6761554" y="402974"/>
                  <a:pt x="6740458" y="424070"/>
                  <a:pt x="6714435" y="424070"/>
                </a:cubicBezTo>
                <a:lnTo>
                  <a:pt x="47118" y="424070"/>
                </a:lnTo>
                <a:cubicBezTo>
                  <a:pt x="21096" y="424070"/>
                  <a:pt x="0" y="402974"/>
                  <a:pt x="0" y="376951"/>
                </a:cubicBezTo>
                <a:lnTo>
                  <a:pt x="0" y="47118"/>
                </a:lnTo>
                <a:cubicBezTo>
                  <a:pt x="0" y="21096"/>
                  <a:pt x="21096" y="0"/>
                  <a:pt x="47118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8771743" y="8234017"/>
            <a:ext cx="144301" cy="164916"/>
          </a:xfrm>
          <a:custGeom>
            <a:avLst/>
            <a:gdLst/>
            <a:ahLst/>
            <a:cxnLst/>
            <a:rect l="l" t="t" r="r" b="b"/>
            <a:pathLst>
              <a:path w="144301" h="164916">
                <a:moveTo>
                  <a:pt x="140050" y="22579"/>
                </a:moveTo>
                <a:cubicBezTo>
                  <a:pt x="144656" y="25929"/>
                  <a:pt x="145686" y="32371"/>
                  <a:pt x="142337" y="36977"/>
                </a:cubicBezTo>
                <a:lnTo>
                  <a:pt x="59879" y="150357"/>
                </a:lnTo>
                <a:cubicBezTo>
                  <a:pt x="58107" y="152805"/>
                  <a:pt x="55369" y="154319"/>
                  <a:pt x="52341" y="154576"/>
                </a:cubicBezTo>
                <a:cubicBezTo>
                  <a:pt x="49314" y="154834"/>
                  <a:pt x="46383" y="153707"/>
                  <a:pt x="44257" y="151581"/>
                </a:cubicBezTo>
                <a:lnTo>
                  <a:pt x="3028" y="110352"/>
                </a:lnTo>
                <a:cubicBezTo>
                  <a:pt x="-999" y="106326"/>
                  <a:pt x="-999" y="99787"/>
                  <a:pt x="3028" y="95761"/>
                </a:cubicBezTo>
                <a:cubicBezTo>
                  <a:pt x="7054" y="91734"/>
                  <a:pt x="13593" y="91734"/>
                  <a:pt x="17619" y="95761"/>
                </a:cubicBezTo>
                <a:lnTo>
                  <a:pt x="50312" y="128454"/>
                </a:lnTo>
                <a:lnTo>
                  <a:pt x="125684" y="24834"/>
                </a:lnTo>
                <a:cubicBezTo>
                  <a:pt x="129034" y="20228"/>
                  <a:pt x="135476" y="19197"/>
                  <a:pt x="140082" y="2254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943082" y="8104441"/>
            <a:ext cx="6544568" cy="424070"/>
          </a:xfrm>
          <a:prstGeom prst="rect">
            <a:avLst/>
          </a:prstGeom>
          <a:noFill/>
          <a:ln/>
        </p:spPr>
        <p:txBody>
          <a:bodyPr wrap="square" lIns="94238" tIns="94238" rIns="94238" bIns="94238" rtlCol="0" anchor="ctr"/>
          <a:lstStyle/>
          <a:p>
            <a:pPr>
              <a:lnSpc>
                <a:spcPct val="120000"/>
              </a:lnSpc>
            </a:pPr>
            <a:r>
              <a:rPr lang="en-US" sz="1299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例如：suspect 超时从 5 秒放宽到 15-30 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810" y="532190"/>
            <a:ext cx="96762" cy="387048"/>
          </a:xfrm>
          <a:custGeom>
            <a:avLst/>
            <a:gdLst/>
            <a:ahLst/>
            <a:cxnLst/>
            <a:rect l="l" t="t" r="r" b="b"/>
            <a:pathLst>
              <a:path w="96762" h="387048">
                <a:moveTo>
                  <a:pt x="0" y="0"/>
                </a:moveTo>
                <a:lnTo>
                  <a:pt x="96762" y="0"/>
                </a:lnTo>
                <a:lnTo>
                  <a:pt x="96762" y="387048"/>
                </a:lnTo>
                <a:lnTo>
                  <a:pt x="0" y="387048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5714" y="483810"/>
            <a:ext cx="6144381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29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工程实践常见问题（三）：收敛不均匀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257905"/>
            <a:ext cx="7523238" cy="4136571"/>
          </a:xfrm>
          <a:custGeom>
            <a:avLst/>
            <a:gdLst/>
            <a:ahLst/>
            <a:cxnLst/>
            <a:rect l="l" t="t" r="r" b="b"/>
            <a:pathLst>
              <a:path w="7523238" h="4136571">
                <a:moveTo>
                  <a:pt x="48381" y="0"/>
                </a:moveTo>
                <a:lnTo>
                  <a:pt x="7426484" y="0"/>
                </a:lnTo>
                <a:cubicBezTo>
                  <a:pt x="7479920" y="0"/>
                  <a:pt x="7523238" y="43318"/>
                  <a:pt x="7523238" y="96754"/>
                </a:cubicBezTo>
                <a:lnTo>
                  <a:pt x="7523238" y="4039817"/>
                </a:lnTo>
                <a:cubicBezTo>
                  <a:pt x="7523238" y="4093253"/>
                  <a:pt x="7479920" y="4136571"/>
                  <a:pt x="7426484" y="4136571"/>
                </a:cubicBezTo>
                <a:lnTo>
                  <a:pt x="48381" y="4136571"/>
                </a:lnTo>
                <a:cubicBezTo>
                  <a:pt x="21661" y="4136571"/>
                  <a:pt x="0" y="4114911"/>
                  <a:pt x="0" y="4088190"/>
                </a:cubicBezTo>
                <a:lnTo>
                  <a:pt x="0" y="48381"/>
                </a:lnTo>
                <a:cubicBezTo>
                  <a:pt x="0" y="21661"/>
                  <a:pt x="21661" y="0"/>
                  <a:pt x="48381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8000" y="1257905"/>
            <a:ext cx="48381" cy="4136571"/>
          </a:xfrm>
          <a:custGeom>
            <a:avLst/>
            <a:gdLst/>
            <a:ahLst/>
            <a:cxnLst/>
            <a:rect l="l" t="t" r="r" b="b"/>
            <a:pathLst>
              <a:path w="48381" h="4136571">
                <a:moveTo>
                  <a:pt x="48381" y="0"/>
                </a:moveTo>
                <a:lnTo>
                  <a:pt x="48381" y="0"/>
                </a:lnTo>
                <a:lnTo>
                  <a:pt x="48381" y="4136571"/>
                </a:lnTo>
                <a:lnTo>
                  <a:pt x="48381" y="4136571"/>
                </a:lnTo>
                <a:cubicBezTo>
                  <a:pt x="21661" y="4136571"/>
                  <a:pt x="0" y="4114911"/>
                  <a:pt x="0" y="4088190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475619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18143" y="18143"/>
                </a:moveTo>
                <a:cubicBezTo>
                  <a:pt x="28178" y="18143"/>
                  <a:pt x="36286" y="26250"/>
                  <a:pt x="36286" y="36286"/>
                </a:cubicBezTo>
                <a:lnTo>
                  <a:pt x="36286" y="226786"/>
                </a:lnTo>
                <a:cubicBezTo>
                  <a:pt x="36286" y="231775"/>
                  <a:pt x="40368" y="235857"/>
                  <a:pt x="45357" y="235857"/>
                </a:cubicBezTo>
                <a:lnTo>
                  <a:pt x="272143" y="235857"/>
                </a:lnTo>
                <a:cubicBezTo>
                  <a:pt x="282178" y="235857"/>
                  <a:pt x="290286" y="243965"/>
                  <a:pt x="290286" y="254000"/>
                </a:cubicBezTo>
                <a:cubicBezTo>
                  <a:pt x="290286" y="264035"/>
                  <a:pt x="282178" y="272143"/>
                  <a:pt x="272143" y="272143"/>
                </a:cubicBezTo>
                <a:lnTo>
                  <a:pt x="45357" y="272143"/>
                </a:lnTo>
                <a:cubicBezTo>
                  <a:pt x="20297" y="272143"/>
                  <a:pt x="0" y="251846"/>
                  <a:pt x="0" y="226786"/>
                </a:cubicBezTo>
                <a:lnTo>
                  <a:pt x="0" y="36286"/>
                </a:lnTo>
                <a:cubicBezTo>
                  <a:pt x="0" y="26250"/>
                  <a:pt x="8108" y="18143"/>
                  <a:pt x="18143" y="18143"/>
                </a:cubicBezTo>
                <a:close/>
                <a:moveTo>
                  <a:pt x="136071" y="54429"/>
                </a:moveTo>
                <a:cubicBezTo>
                  <a:pt x="139870" y="54429"/>
                  <a:pt x="143499" y="56016"/>
                  <a:pt x="146107" y="58851"/>
                </a:cubicBezTo>
                <a:lnTo>
                  <a:pt x="186418" y="102791"/>
                </a:lnTo>
                <a:lnTo>
                  <a:pt x="212612" y="76540"/>
                </a:lnTo>
                <a:cubicBezTo>
                  <a:pt x="217941" y="71211"/>
                  <a:pt x="226559" y="71211"/>
                  <a:pt x="231832" y="76540"/>
                </a:cubicBezTo>
                <a:lnTo>
                  <a:pt x="268117" y="112826"/>
                </a:lnTo>
                <a:cubicBezTo>
                  <a:pt x="270669" y="115377"/>
                  <a:pt x="272086" y="118836"/>
                  <a:pt x="272086" y="122464"/>
                </a:cubicBezTo>
                <a:lnTo>
                  <a:pt x="272086" y="185964"/>
                </a:lnTo>
                <a:cubicBezTo>
                  <a:pt x="272086" y="193505"/>
                  <a:pt x="266020" y="199571"/>
                  <a:pt x="258479" y="199571"/>
                </a:cubicBezTo>
                <a:lnTo>
                  <a:pt x="86122" y="199571"/>
                </a:lnTo>
                <a:cubicBezTo>
                  <a:pt x="78581" y="199571"/>
                  <a:pt x="72515" y="193505"/>
                  <a:pt x="72515" y="185964"/>
                </a:cubicBezTo>
                <a:lnTo>
                  <a:pt x="72515" y="122464"/>
                </a:lnTo>
                <a:cubicBezTo>
                  <a:pt x="72515" y="119063"/>
                  <a:pt x="73819" y="115774"/>
                  <a:pt x="76087" y="113279"/>
                </a:cubicBezTo>
                <a:lnTo>
                  <a:pt x="125979" y="58851"/>
                </a:lnTo>
                <a:cubicBezTo>
                  <a:pt x="128531" y="56016"/>
                  <a:pt x="132216" y="54429"/>
                  <a:pt x="136015" y="5442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33714" y="1451429"/>
            <a:ext cx="895048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典型现象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5714" y="1935238"/>
            <a:ext cx="7208762" cy="314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4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在存在明显拓扑结构（如多机架、多机房、多 Region）的集群中：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5714" y="2394857"/>
            <a:ext cx="7112000" cy="870857"/>
          </a:xfrm>
          <a:custGeom>
            <a:avLst/>
            <a:gdLst/>
            <a:ahLst/>
            <a:cxnLst/>
            <a:rect l="l" t="t" r="r" b="b"/>
            <a:pathLst>
              <a:path w="7112000" h="870857">
                <a:moveTo>
                  <a:pt x="96761" y="0"/>
                </a:moveTo>
                <a:lnTo>
                  <a:pt x="7015239" y="0"/>
                </a:lnTo>
                <a:cubicBezTo>
                  <a:pt x="7068679" y="0"/>
                  <a:pt x="7112000" y="43321"/>
                  <a:pt x="7112000" y="96761"/>
                </a:cubicBezTo>
                <a:lnTo>
                  <a:pt x="7112000" y="774096"/>
                </a:lnTo>
                <a:cubicBezTo>
                  <a:pt x="7112000" y="827536"/>
                  <a:pt x="7068679" y="870857"/>
                  <a:pt x="7015239" y="870857"/>
                </a:cubicBezTo>
                <a:lnTo>
                  <a:pt x="96761" y="870857"/>
                </a:lnTo>
                <a:cubicBezTo>
                  <a:pt x="43357" y="870857"/>
                  <a:pt x="0" y="827500"/>
                  <a:pt x="0" y="774096"/>
                </a:cubicBezTo>
                <a:lnTo>
                  <a:pt x="0" y="96761"/>
                </a:lnTo>
                <a:cubicBezTo>
                  <a:pt x="0" y="43357"/>
                  <a:pt x="43357" y="0"/>
                  <a:pt x="96761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0857" y="2540000"/>
            <a:ext cx="691847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局部快速收敛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0857" y="2878667"/>
            <a:ext cx="6906381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同一条信息在某个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局部区域内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传播得非常快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5714" y="3362476"/>
            <a:ext cx="7112000" cy="870857"/>
          </a:xfrm>
          <a:custGeom>
            <a:avLst/>
            <a:gdLst/>
            <a:ahLst/>
            <a:cxnLst/>
            <a:rect l="l" t="t" r="r" b="b"/>
            <a:pathLst>
              <a:path w="7112000" h="870857">
                <a:moveTo>
                  <a:pt x="96761" y="0"/>
                </a:moveTo>
                <a:lnTo>
                  <a:pt x="7015239" y="0"/>
                </a:lnTo>
                <a:cubicBezTo>
                  <a:pt x="7068679" y="0"/>
                  <a:pt x="7112000" y="43321"/>
                  <a:pt x="7112000" y="96761"/>
                </a:cubicBezTo>
                <a:lnTo>
                  <a:pt x="7112000" y="774096"/>
                </a:lnTo>
                <a:cubicBezTo>
                  <a:pt x="7112000" y="827536"/>
                  <a:pt x="7068679" y="870857"/>
                  <a:pt x="7015239" y="870857"/>
                </a:cubicBezTo>
                <a:lnTo>
                  <a:pt x="96761" y="870857"/>
                </a:lnTo>
                <a:cubicBezTo>
                  <a:pt x="43357" y="870857"/>
                  <a:pt x="0" y="827500"/>
                  <a:pt x="0" y="774096"/>
                </a:cubicBezTo>
                <a:lnTo>
                  <a:pt x="0" y="96761"/>
                </a:lnTo>
                <a:cubicBezTo>
                  <a:pt x="0" y="43357"/>
                  <a:pt x="43357" y="0"/>
                  <a:pt x="96761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70857" y="3507619"/>
            <a:ext cx="691847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跨拓扑边界缓慢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0857" y="3846286"/>
            <a:ext cx="6906381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跨拓扑边界传播缓慢，导致"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局部已一致、全局仍然不一致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5714" y="4330095"/>
            <a:ext cx="7112000" cy="870857"/>
          </a:xfrm>
          <a:custGeom>
            <a:avLst/>
            <a:gdLst/>
            <a:ahLst/>
            <a:cxnLst/>
            <a:rect l="l" t="t" r="r" b="b"/>
            <a:pathLst>
              <a:path w="7112000" h="870857">
                <a:moveTo>
                  <a:pt x="96761" y="0"/>
                </a:moveTo>
                <a:lnTo>
                  <a:pt x="7015239" y="0"/>
                </a:lnTo>
                <a:cubicBezTo>
                  <a:pt x="7068679" y="0"/>
                  <a:pt x="7112000" y="43321"/>
                  <a:pt x="7112000" y="96761"/>
                </a:cubicBezTo>
                <a:lnTo>
                  <a:pt x="7112000" y="774096"/>
                </a:lnTo>
                <a:cubicBezTo>
                  <a:pt x="7112000" y="827536"/>
                  <a:pt x="7068679" y="870857"/>
                  <a:pt x="7015239" y="870857"/>
                </a:cubicBezTo>
                <a:lnTo>
                  <a:pt x="96761" y="870857"/>
                </a:lnTo>
                <a:cubicBezTo>
                  <a:pt x="43357" y="870857"/>
                  <a:pt x="0" y="827500"/>
                  <a:pt x="0" y="774096"/>
                </a:cubicBezTo>
                <a:lnTo>
                  <a:pt x="0" y="96761"/>
                </a:lnTo>
                <a:cubicBezTo>
                  <a:pt x="0" y="43357"/>
                  <a:pt x="43357" y="0"/>
                  <a:pt x="96761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70857" y="4475238"/>
            <a:ext cx="691847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排障难度增加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0857" y="4813905"/>
            <a:ext cx="6906381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例如，同一配置在机房 A 已全部生效，而机房 B 仍然停留在旧版本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5588000"/>
            <a:ext cx="7523238" cy="3556000"/>
          </a:xfrm>
          <a:custGeom>
            <a:avLst/>
            <a:gdLst/>
            <a:ahLst/>
            <a:cxnLst/>
            <a:rect l="l" t="t" r="r" b="b"/>
            <a:pathLst>
              <a:path w="7523238" h="3556000">
                <a:moveTo>
                  <a:pt x="48381" y="0"/>
                </a:moveTo>
                <a:lnTo>
                  <a:pt x="7426479" y="0"/>
                </a:lnTo>
                <a:cubicBezTo>
                  <a:pt x="7479918" y="0"/>
                  <a:pt x="7523238" y="43320"/>
                  <a:pt x="7523238" y="96759"/>
                </a:cubicBezTo>
                <a:lnTo>
                  <a:pt x="7523238" y="3459241"/>
                </a:lnTo>
                <a:cubicBezTo>
                  <a:pt x="7523238" y="3512680"/>
                  <a:pt x="7479918" y="3556000"/>
                  <a:pt x="7426479" y="3556000"/>
                </a:cubicBezTo>
                <a:lnTo>
                  <a:pt x="48381" y="3556000"/>
                </a:lnTo>
                <a:cubicBezTo>
                  <a:pt x="21661" y="3556000"/>
                  <a:pt x="0" y="3534339"/>
                  <a:pt x="0" y="3507619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8000" y="5588000"/>
            <a:ext cx="48381" cy="3556000"/>
          </a:xfrm>
          <a:custGeom>
            <a:avLst/>
            <a:gdLst/>
            <a:ahLst/>
            <a:cxnLst/>
            <a:rect l="l" t="t" r="r" b="b"/>
            <a:pathLst>
              <a:path w="48381" h="3556000">
                <a:moveTo>
                  <a:pt x="48381" y="0"/>
                </a:moveTo>
                <a:lnTo>
                  <a:pt x="48381" y="0"/>
                </a:lnTo>
                <a:lnTo>
                  <a:pt x="48381" y="3556000"/>
                </a:lnTo>
                <a:lnTo>
                  <a:pt x="48381" y="3556000"/>
                </a:lnTo>
                <a:cubicBezTo>
                  <a:pt x="21661" y="3556000"/>
                  <a:pt x="0" y="3534339"/>
                  <a:pt x="0" y="3507619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62000" y="5805714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99786" y="0"/>
                </a:moveTo>
                <a:cubicBezTo>
                  <a:pt x="84761" y="0"/>
                  <a:pt x="72571" y="12190"/>
                  <a:pt x="72571" y="27214"/>
                </a:cubicBezTo>
                <a:lnTo>
                  <a:pt x="72571" y="145143"/>
                </a:lnTo>
                <a:cubicBezTo>
                  <a:pt x="72571" y="160167"/>
                  <a:pt x="84761" y="172357"/>
                  <a:pt x="99786" y="172357"/>
                </a:cubicBezTo>
                <a:lnTo>
                  <a:pt x="136071" y="172357"/>
                </a:lnTo>
                <a:cubicBezTo>
                  <a:pt x="151096" y="172357"/>
                  <a:pt x="163286" y="160167"/>
                  <a:pt x="163286" y="145143"/>
                </a:cubicBezTo>
                <a:lnTo>
                  <a:pt x="163286" y="108857"/>
                </a:lnTo>
                <a:lnTo>
                  <a:pt x="181429" y="108857"/>
                </a:lnTo>
                <a:cubicBezTo>
                  <a:pt x="221513" y="108857"/>
                  <a:pt x="254000" y="141344"/>
                  <a:pt x="254000" y="181429"/>
                </a:cubicBezTo>
                <a:cubicBezTo>
                  <a:pt x="254000" y="221513"/>
                  <a:pt x="221513" y="254000"/>
                  <a:pt x="181429" y="254000"/>
                </a:cubicBezTo>
                <a:lnTo>
                  <a:pt x="18143" y="254000"/>
                </a:lnTo>
                <a:cubicBezTo>
                  <a:pt x="8108" y="254000"/>
                  <a:pt x="0" y="262108"/>
                  <a:pt x="0" y="272143"/>
                </a:cubicBezTo>
                <a:cubicBezTo>
                  <a:pt x="0" y="282178"/>
                  <a:pt x="8108" y="290286"/>
                  <a:pt x="18143" y="290286"/>
                </a:cubicBezTo>
                <a:lnTo>
                  <a:pt x="272143" y="290286"/>
                </a:lnTo>
                <a:cubicBezTo>
                  <a:pt x="282178" y="290286"/>
                  <a:pt x="290286" y="282178"/>
                  <a:pt x="290286" y="272143"/>
                </a:cubicBezTo>
                <a:cubicBezTo>
                  <a:pt x="290286" y="262108"/>
                  <a:pt x="282178" y="254000"/>
                  <a:pt x="272143" y="254000"/>
                </a:cubicBezTo>
                <a:lnTo>
                  <a:pt x="262561" y="254000"/>
                </a:lnTo>
                <a:cubicBezTo>
                  <a:pt x="279797" y="234723"/>
                  <a:pt x="290286" y="209323"/>
                  <a:pt x="290286" y="181429"/>
                </a:cubicBezTo>
                <a:cubicBezTo>
                  <a:pt x="290286" y="121330"/>
                  <a:pt x="241527" y="72571"/>
                  <a:pt x="181429" y="72571"/>
                </a:cubicBezTo>
                <a:lnTo>
                  <a:pt x="163286" y="72571"/>
                </a:lnTo>
                <a:lnTo>
                  <a:pt x="163286" y="27214"/>
                </a:lnTo>
                <a:cubicBezTo>
                  <a:pt x="163286" y="12190"/>
                  <a:pt x="151096" y="0"/>
                  <a:pt x="136071" y="0"/>
                </a:cubicBezTo>
                <a:lnTo>
                  <a:pt x="99786" y="0"/>
                </a:lnTo>
                <a:close/>
                <a:moveTo>
                  <a:pt x="68036" y="199571"/>
                </a:moveTo>
                <a:cubicBezTo>
                  <a:pt x="60495" y="199571"/>
                  <a:pt x="54429" y="205638"/>
                  <a:pt x="54429" y="213179"/>
                </a:cubicBezTo>
                <a:cubicBezTo>
                  <a:pt x="54429" y="220719"/>
                  <a:pt x="60495" y="226786"/>
                  <a:pt x="68036" y="226786"/>
                </a:cubicBezTo>
                <a:lnTo>
                  <a:pt x="167821" y="226786"/>
                </a:lnTo>
                <a:cubicBezTo>
                  <a:pt x="175362" y="226786"/>
                  <a:pt x="181429" y="220719"/>
                  <a:pt x="181429" y="213179"/>
                </a:cubicBezTo>
                <a:cubicBezTo>
                  <a:pt x="181429" y="205638"/>
                  <a:pt x="175362" y="199571"/>
                  <a:pt x="167821" y="199571"/>
                </a:cubicBezTo>
                <a:lnTo>
                  <a:pt x="68036" y="19957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33714" y="5781524"/>
            <a:ext cx="895048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根本原因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5714" y="6265333"/>
            <a:ext cx="7112000" cy="870857"/>
          </a:xfrm>
          <a:custGeom>
            <a:avLst/>
            <a:gdLst/>
            <a:ahLst/>
            <a:cxnLst/>
            <a:rect l="l" t="t" r="r" b="b"/>
            <a:pathLst>
              <a:path w="7112000" h="870857">
                <a:moveTo>
                  <a:pt x="96761" y="0"/>
                </a:moveTo>
                <a:lnTo>
                  <a:pt x="7015239" y="0"/>
                </a:lnTo>
                <a:cubicBezTo>
                  <a:pt x="7068679" y="0"/>
                  <a:pt x="7112000" y="43321"/>
                  <a:pt x="7112000" y="96761"/>
                </a:cubicBezTo>
                <a:lnTo>
                  <a:pt x="7112000" y="774096"/>
                </a:lnTo>
                <a:cubicBezTo>
                  <a:pt x="7112000" y="827536"/>
                  <a:pt x="7068679" y="870857"/>
                  <a:pt x="7015239" y="870857"/>
                </a:cubicBezTo>
                <a:lnTo>
                  <a:pt x="96761" y="870857"/>
                </a:lnTo>
                <a:cubicBezTo>
                  <a:pt x="43357" y="870857"/>
                  <a:pt x="0" y="827500"/>
                  <a:pt x="0" y="774096"/>
                </a:cubicBezTo>
                <a:lnTo>
                  <a:pt x="0" y="96761"/>
                </a:lnTo>
                <a:cubicBezTo>
                  <a:pt x="0" y="43357"/>
                  <a:pt x="43357" y="0"/>
                  <a:pt x="96761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0857" y="6410476"/>
            <a:ext cx="691847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缺乏拓扑感知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0857" y="6749143"/>
            <a:ext cx="6906381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简单的全局随机采样通常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没有"拓扑感知"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，随机选择的对等点可能大部分落在同一局部区域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5714" y="7232952"/>
            <a:ext cx="7112000" cy="870857"/>
          </a:xfrm>
          <a:custGeom>
            <a:avLst/>
            <a:gdLst/>
            <a:ahLst/>
            <a:cxnLst/>
            <a:rect l="l" t="t" r="r" b="b"/>
            <a:pathLst>
              <a:path w="7112000" h="870857">
                <a:moveTo>
                  <a:pt x="96761" y="0"/>
                </a:moveTo>
                <a:lnTo>
                  <a:pt x="7015239" y="0"/>
                </a:lnTo>
                <a:cubicBezTo>
                  <a:pt x="7068679" y="0"/>
                  <a:pt x="7112000" y="43321"/>
                  <a:pt x="7112000" y="96761"/>
                </a:cubicBezTo>
                <a:lnTo>
                  <a:pt x="7112000" y="774096"/>
                </a:lnTo>
                <a:cubicBezTo>
                  <a:pt x="7112000" y="827536"/>
                  <a:pt x="7068679" y="870857"/>
                  <a:pt x="7015239" y="870857"/>
                </a:cubicBezTo>
                <a:lnTo>
                  <a:pt x="96761" y="870857"/>
                </a:lnTo>
                <a:cubicBezTo>
                  <a:pt x="43357" y="870857"/>
                  <a:pt x="0" y="827500"/>
                  <a:pt x="0" y="774096"/>
                </a:cubicBezTo>
                <a:lnTo>
                  <a:pt x="0" y="96761"/>
                </a:lnTo>
                <a:cubicBezTo>
                  <a:pt x="0" y="43357"/>
                  <a:pt x="43357" y="0"/>
                  <a:pt x="96761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0857" y="7378095"/>
            <a:ext cx="691847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跨域链路限制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0857" y="7716762"/>
            <a:ext cx="6906381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如果跨机房链路本身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带宽受限或延迟较高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，则进一步拖慢跨区域收敛速度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48952" y="1257905"/>
            <a:ext cx="7523238" cy="7886095"/>
          </a:xfrm>
          <a:custGeom>
            <a:avLst/>
            <a:gdLst/>
            <a:ahLst/>
            <a:cxnLst/>
            <a:rect l="l" t="t" r="r" b="b"/>
            <a:pathLst>
              <a:path w="7523238" h="7886095">
                <a:moveTo>
                  <a:pt x="48381" y="0"/>
                </a:moveTo>
                <a:lnTo>
                  <a:pt x="7426489" y="0"/>
                </a:lnTo>
                <a:cubicBezTo>
                  <a:pt x="7479922" y="0"/>
                  <a:pt x="7523238" y="43316"/>
                  <a:pt x="7523238" y="96749"/>
                </a:cubicBezTo>
                <a:lnTo>
                  <a:pt x="7523238" y="7789346"/>
                </a:lnTo>
                <a:cubicBezTo>
                  <a:pt x="7523238" y="7842779"/>
                  <a:pt x="7479922" y="7886095"/>
                  <a:pt x="7426489" y="7886095"/>
                </a:cubicBezTo>
                <a:lnTo>
                  <a:pt x="48381" y="7886095"/>
                </a:lnTo>
                <a:cubicBezTo>
                  <a:pt x="21661" y="7886095"/>
                  <a:pt x="0" y="7864434"/>
                  <a:pt x="0" y="7837714"/>
                </a:cubicBezTo>
                <a:lnTo>
                  <a:pt x="0" y="48381"/>
                </a:lnTo>
                <a:cubicBezTo>
                  <a:pt x="0" y="21661"/>
                  <a:pt x="21661" y="0"/>
                  <a:pt x="48381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48952" y="1257905"/>
            <a:ext cx="48381" cy="7886095"/>
          </a:xfrm>
          <a:custGeom>
            <a:avLst/>
            <a:gdLst/>
            <a:ahLst/>
            <a:cxnLst/>
            <a:rect l="l" t="t" r="r" b="b"/>
            <a:pathLst>
              <a:path w="48381" h="7886095">
                <a:moveTo>
                  <a:pt x="48381" y="0"/>
                </a:moveTo>
                <a:lnTo>
                  <a:pt x="48381" y="0"/>
                </a:lnTo>
                <a:lnTo>
                  <a:pt x="48381" y="7886095"/>
                </a:lnTo>
                <a:lnTo>
                  <a:pt x="48381" y="7886095"/>
                </a:lnTo>
                <a:cubicBezTo>
                  <a:pt x="21661" y="7886095"/>
                  <a:pt x="0" y="7864434"/>
                  <a:pt x="0" y="7837714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84810" y="1475619"/>
            <a:ext cx="326571" cy="290286"/>
          </a:xfrm>
          <a:custGeom>
            <a:avLst/>
            <a:gdLst/>
            <a:ahLst/>
            <a:cxnLst/>
            <a:rect l="l" t="t" r="r" b="b"/>
            <a:pathLst>
              <a:path w="326571" h="290286">
                <a:moveTo>
                  <a:pt x="288812" y="55903"/>
                </a:moveTo>
                <a:cubicBezTo>
                  <a:pt x="293121" y="51594"/>
                  <a:pt x="300321" y="52671"/>
                  <a:pt x="302475" y="58341"/>
                </a:cubicBezTo>
                <a:cubicBezTo>
                  <a:pt x="306331" y="68376"/>
                  <a:pt x="308429" y="79318"/>
                  <a:pt x="308429" y="90714"/>
                </a:cubicBezTo>
                <a:cubicBezTo>
                  <a:pt x="308429" y="140834"/>
                  <a:pt x="267834" y="181429"/>
                  <a:pt x="217714" y="181429"/>
                </a:cubicBezTo>
                <a:cubicBezTo>
                  <a:pt x="207792" y="181429"/>
                  <a:pt x="198211" y="179841"/>
                  <a:pt x="189253" y="176893"/>
                </a:cubicBezTo>
                <a:lnTo>
                  <a:pt x="83287" y="282858"/>
                </a:lnTo>
                <a:cubicBezTo>
                  <a:pt x="67355" y="298790"/>
                  <a:pt x="41502" y="298790"/>
                  <a:pt x="25570" y="282858"/>
                </a:cubicBezTo>
                <a:cubicBezTo>
                  <a:pt x="9638" y="266927"/>
                  <a:pt x="9638" y="241073"/>
                  <a:pt x="25570" y="225142"/>
                </a:cubicBezTo>
                <a:lnTo>
                  <a:pt x="131536" y="119176"/>
                </a:lnTo>
                <a:cubicBezTo>
                  <a:pt x="128588" y="110218"/>
                  <a:pt x="127000" y="100693"/>
                  <a:pt x="127000" y="90714"/>
                </a:cubicBezTo>
                <a:cubicBezTo>
                  <a:pt x="127000" y="40595"/>
                  <a:pt x="167595" y="0"/>
                  <a:pt x="217714" y="0"/>
                </a:cubicBezTo>
                <a:cubicBezTo>
                  <a:pt x="229110" y="0"/>
                  <a:pt x="240053" y="2098"/>
                  <a:pt x="250088" y="5953"/>
                </a:cubicBezTo>
                <a:cubicBezTo>
                  <a:pt x="255758" y="8108"/>
                  <a:pt x="256778" y="15308"/>
                  <a:pt x="252526" y="19617"/>
                </a:cubicBezTo>
                <a:lnTo>
                  <a:pt x="202236" y="69907"/>
                </a:lnTo>
                <a:cubicBezTo>
                  <a:pt x="200535" y="71608"/>
                  <a:pt x="199571" y="73932"/>
                  <a:pt x="199571" y="76313"/>
                </a:cubicBezTo>
                <a:lnTo>
                  <a:pt x="199571" y="99786"/>
                </a:lnTo>
                <a:cubicBezTo>
                  <a:pt x="199571" y="104775"/>
                  <a:pt x="203654" y="108857"/>
                  <a:pt x="208643" y="108857"/>
                </a:cubicBezTo>
                <a:lnTo>
                  <a:pt x="232115" y="108857"/>
                </a:lnTo>
                <a:cubicBezTo>
                  <a:pt x="234496" y="108857"/>
                  <a:pt x="236821" y="107893"/>
                  <a:pt x="238522" y="106192"/>
                </a:cubicBezTo>
                <a:lnTo>
                  <a:pt x="288812" y="55903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974667" y="1451429"/>
            <a:ext cx="895048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实践建议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66667" y="1935238"/>
            <a:ext cx="7112000" cy="1644952"/>
          </a:xfrm>
          <a:custGeom>
            <a:avLst/>
            <a:gdLst/>
            <a:ahLst/>
            <a:cxnLst/>
            <a:rect l="l" t="t" r="r" b="b"/>
            <a:pathLst>
              <a:path w="7112000" h="1644952">
                <a:moveTo>
                  <a:pt x="96756" y="0"/>
                </a:moveTo>
                <a:lnTo>
                  <a:pt x="7015244" y="0"/>
                </a:lnTo>
                <a:cubicBezTo>
                  <a:pt x="7068681" y="0"/>
                  <a:pt x="7112000" y="43319"/>
                  <a:pt x="7112000" y="96756"/>
                </a:cubicBezTo>
                <a:lnTo>
                  <a:pt x="7112000" y="1548196"/>
                </a:lnTo>
                <a:cubicBezTo>
                  <a:pt x="7112000" y="1601633"/>
                  <a:pt x="7068681" y="1644952"/>
                  <a:pt x="7015244" y="1644952"/>
                </a:cubicBezTo>
                <a:lnTo>
                  <a:pt x="96756" y="1644952"/>
                </a:lnTo>
                <a:cubicBezTo>
                  <a:pt x="43319" y="1644952"/>
                  <a:pt x="0" y="1601633"/>
                  <a:pt x="0" y="1548196"/>
                </a:cubicBezTo>
                <a:lnTo>
                  <a:pt x="0" y="96756"/>
                </a:lnTo>
                <a:cubicBezTo>
                  <a:pt x="0" y="43319"/>
                  <a:pt x="43319" y="0"/>
                  <a:pt x="9675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660190" y="2128762"/>
            <a:ext cx="387048" cy="387048"/>
          </a:xfrm>
          <a:custGeom>
            <a:avLst/>
            <a:gdLst/>
            <a:ahLst/>
            <a:cxnLst/>
            <a:rect l="l" t="t" r="r" b="b"/>
            <a:pathLst>
              <a:path w="387048" h="387048">
                <a:moveTo>
                  <a:pt x="193524" y="0"/>
                </a:moveTo>
                <a:lnTo>
                  <a:pt x="193524" y="0"/>
                </a:lnTo>
                <a:cubicBezTo>
                  <a:pt x="300333" y="0"/>
                  <a:pt x="387048" y="86715"/>
                  <a:pt x="387048" y="193524"/>
                </a:cubicBezTo>
                <a:lnTo>
                  <a:pt x="387048" y="193524"/>
                </a:lnTo>
                <a:cubicBezTo>
                  <a:pt x="387048" y="300333"/>
                  <a:pt x="300333" y="387048"/>
                  <a:pt x="193524" y="387048"/>
                </a:cubicBezTo>
                <a:lnTo>
                  <a:pt x="193524" y="387048"/>
                </a:lnTo>
                <a:cubicBezTo>
                  <a:pt x="86715" y="387048"/>
                  <a:pt x="0" y="300333"/>
                  <a:pt x="0" y="193524"/>
                </a:cubicBezTo>
                <a:lnTo>
                  <a:pt x="0" y="193524"/>
                </a:lnTo>
                <a:cubicBezTo>
                  <a:pt x="0" y="86715"/>
                  <a:pt x="86715" y="0"/>
                  <a:pt x="1935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17857" y="2128762"/>
            <a:ext cx="471714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92381" y="2152952"/>
            <a:ext cx="1282095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 Gossip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60190" y="2612571"/>
            <a:ext cx="6809619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 Gossip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，将节点按机架或机房划分层级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60190" y="2951238"/>
            <a:ext cx="6724952" cy="435429"/>
          </a:xfrm>
          <a:custGeom>
            <a:avLst/>
            <a:gdLst/>
            <a:ahLst/>
            <a:cxnLst/>
            <a:rect l="l" t="t" r="r" b="b"/>
            <a:pathLst>
              <a:path w="6724952" h="435429">
                <a:moveTo>
                  <a:pt x="48380" y="0"/>
                </a:moveTo>
                <a:lnTo>
                  <a:pt x="6676572" y="0"/>
                </a:lnTo>
                <a:cubicBezTo>
                  <a:pt x="6703292" y="0"/>
                  <a:pt x="6724952" y="21661"/>
                  <a:pt x="6724952" y="48380"/>
                </a:cubicBezTo>
                <a:lnTo>
                  <a:pt x="6724952" y="387048"/>
                </a:lnTo>
                <a:cubicBezTo>
                  <a:pt x="6724952" y="413768"/>
                  <a:pt x="6703292" y="435429"/>
                  <a:pt x="6676572" y="435429"/>
                </a:cubicBezTo>
                <a:lnTo>
                  <a:pt x="48380" y="435429"/>
                </a:lnTo>
                <a:cubicBezTo>
                  <a:pt x="21679" y="435429"/>
                  <a:pt x="0" y="413750"/>
                  <a:pt x="0" y="387048"/>
                </a:cubicBezTo>
                <a:lnTo>
                  <a:pt x="0" y="48380"/>
                </a:lnTo>
                <a:cubicBezTo>
                  <a:pt x="0" y="21679"/>
                  <a:pt x="21679" y="0"/>
                  <a:pt x="4838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784167" y="3096381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035143" y="3048000"/>
            <a:ext cx="4789714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层内使用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 Gossip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，在层间使用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低频但更精心调度的 Gossip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6667" y="3725333"/>
            <a:ext cx="7112000" cy="1644952"/>
          </a:xfrm>
          <a:custGeom>
            <a:avLst/>
            <a:gdLst/>
            <a:ahLst/>
            <a:cxnLst/>
            <a:rect l="l" t="t" r="r" b="b"/>
            <a:pathLst>
              <a:path w="7112000" h="1644952">
                <a:moveTo>
                  <a:pt x="96756" y="0"/>
                </a:moveTo>
                <a:lnTo>
                  <a:pt x="7015244" y="0"/>
                </a:lnTo>
                <a:cubicBezTo>
                  <a:pt x="7068681" y="0"/>
                  <a:pt x="7112000" y="43319"/>
                  <a:pt x="7112000" y="96756"/>
                </a:cubicBezTo>
                <a:lnTo>
                  <a:pt x="7112000" y="1548196"/>
                </a:lnTo>
                <a:cubicBezTo>
                  <a:pt x="7112000" y="1601633"/>
                  <a:pt x="7068681" y="1644952"/>
                  <a:pt x="7015244" y="1644952"/>
                </a:cubicBezTo>
                <a:lnTo>
                  <a:pt x="96756" y="1644952"/>
                </a:lnTo>
                <a:cubicBezTo>
                  <a:pt x="43319" y="1644952"/>
                  <a:pt x="0" y="1601633"/>
                  <a:pt x="0" y="1548196"/>
                </a:cubicBezTo>
                <a:lnTo>
                  <a:pt x="0" y="96756"/>
                </a:lnTo>
                <a:cubicBezTo>
                  <a:pt x="0" y="43319"/>
                  <a:pt x="43319" y="0"/>
                  <a:pt x="9675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660190" y="3918857"/>
            <a:ext cx="387048" cy="387048"/>
          </a:xfrm>
          <a:custGeom>
            <a:avLst/>
            <a:gdLst/>
            <a:ahLst/>
            <a:cxnLst/>
            <a:rect l="l" t="t" r="r" b="b"/>
            <a:pathLst>
              <a:path w="387048" h="387048">
                <a:moveTo>
                  <a:pt x="193524" y="0"/>
                </a:moveTo>
                <a:lnTo>
                  <a:pt x="193524" y="0"/>
                </a:lnTo>
                <a:cubicBezTo>
                  <a:pt x="300333" y="0"/>
                  <a:pt x="387048" y="86715"/>
                  <a:pt x="387048" y="193524"/>
                </a:cubicBezTo>
                <a:lnTo>
                  <a:pt x="387048" y="193524"/>
                </a:lnTo>
                <a:cubicBezTo>
                  <a:pt x="387048" y="300333"/>
                  <a:pt x="300333" y="387048"/>
                  <a:pt x="193524" y="387048"/>
                </a:cubicBezTo>
                <a:lnTo>
                  <a:pt x="193524" y="387048"/>
                </a:lnTo>
                <a:cubicBezTo>
                  <a:pt x="86715" y="387048"/>
                  <a:pt x="0" y="300333"/>
                  <a:pt x="0" y="193524"/>
                </a:cubicBezTo>
                <a:lnTo>
                  <a:pt x="0" y="193524"/>
                </a:lnTo>
                <a:cubicBezTo>
                  <a:pt x="0" y="86715"/>
                  <a:pt x="86715" y="0"/>
                  <a:pt x="1935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17857" y="3918857"/>
            <a:ext cx="471714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92381" y="3943048"/>
            <a:ext cx="141514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拓扑感知采样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60190" y="4402667"/>
            <a:ext cx="6809619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拓扑感知采样策略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，例如按一定权重优先选择跨机房对等点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60190" y="4741333"/>
            <a:ext cx="6724952" cy="435429"/>
          </a:xfrm>
          <a:custGeom>
            <a:avLst/>
            <a:gdLst/>
            <a:ahLst/>
            <a:cxnLst/>
            <a:rect l="l" t="t" r="r" b="b"/>
            <a:pathLst>
              <a:path w="6724952" h="435429">
                <a:moveTo>
                  <a:pt x="48380" y="0"/>
                </a:moveTo>
                <a:lnTo>
                  <a:pt x="6676572" y="0"/>
                </a:lnTo>
                <a:cubicBezTo>
                  <a:pt x="6703292" y="0"/>
                  <a:pt x="6724952" y="21661"/>
                  <a:pt x="6724952" y="48380"/>
                </a:cubicBezTo>
                <a:lnTo>
                  <a:pt x="6724952" y="387048"/>
                </a:lnTo>
                <a:cubicBezTo>
                  <a:pt x="6724952" y="413768"/>
                  <a:pt x="6703292" y="435429"/>
                  <a:pt x="6676572" y="435429"/>
                </a:cubicBezTo>
                <a:lnTo>
                  <a:pt x="48380" y="435429"/>
                </a:lnTo>
                <a:cubicBezTo>
                  <a:pt x="21679" y="435429"/>
                  <a:pt x="0" y="413750"/>
                  <a:pt x="0" y="387048"/>
                </a:cubicBezTo>
                <a:lnTo>
                  <a:pt x="0" y="48380"/>
                </a:lnTo>
                <a:cubicBezTo>
                  <a:pt x="0" y="21679"/>
                  <a:pt x="21679" y="0"/>
                  <a:pt x="4838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784167" y="4886476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035143" y="4838095"/>
            <a:ext cx="3918857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例如：80% 选择同机房节点，20% 选择跨机房节点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66667" y="5515429"/>
            <a:ext cx="7112000" cy="1644952"/>
          </a:xfrm>
          <a:custGeom>
            <a:avLst/>
            <a:gdLst/>
            <a:ahLst/>
            <a:cxnLst/>
            <a:rect l="l" t="t" r="r" b="b"/>
            <a:pathLst>
              <a:path w="7112000" h="1644952">
                <a:moveTo>
                  <a:pt x="96756" y="0"/>
                </a:moveTo>
                <a:lnTo>
                  <a:pt x="7015244" y="0"/>
                </a:lnTo>
                <a:cubicBezTo>
                  <a:pt x="7068681" y="0"/>
                  <a:pt x="7112000" y="43319"/>
                  <a:pt x="7112000" y="96756"/>
                </a:cubicBezTo>
                <a:lnTo>
                  <a:pt x="7112000" y="1548196"/>
                </a:lnTo>
                <a:cubicBezTo>
                  <a:pt x="7112000" y="1601633"/>
                  <a:pt x="7068681" y="1644952"/>
                  <a:pt x="7015244" y="1644952"/>
                </a:cubicBezTo>
                <a:lnTo>
                  <a:pt x="96756" y="1644952"/>
                </a:lnTo>
                <a:cubicBezTo>
                  <a:pt x="43319" y="1644952"/>
                  <a:pt x="0" y="1601633"/>
                  <a:pt x="0" y="1548196"/>
                </a:cubicBezTo>
                <a:lnTo>
                  <a:pt x="0" y="96756"/>
                </a:lnTo>
                <a:cubicBezTo>
                  <a:pt x="0" y="43319"/>
                  <a:pt x="43319" y="0"/>
                  <a:pt x="9675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660190" y="5708952"/>
            <a:ext cx="387048" cy="387048"/>
          </a:xfrm>
          <a:custGeom>
            <a:avLst/>
            <a:gdLst/>
            <a:ahLst/>
            <a:cxnLst/>
            <a:rect l="l" t="t" r="r" b="b"/>
            <a:pathLst>
              <a:path w="387048" h="387048">
                <a:moveTo>
                  <a:pt x="193524" y="0"/>
                </a:moveTo>
                <a:lnTo>
                  <a:pt x="193524" y="0"/>
                </a:lnTo>
                <a:cubicBezTo>
                  <a:pt x="300333" y="0"/>
                  <a:pt x="387048" y="86715"/>
                  <a:pt x="387048" y="193524"/>
                </a:cubicBezTo>
                <a:lnTo>
                  <a:pt x="387048" y="193524"/>
                </a:lnTo>
                <a:cubicBezTo>
                  <a:pt x="387048" y="300333"/>
                  <a:pt x="300333" y="387048"/>
                  <a:pt x="193524" y="387048"/>
                </a:cubicBezTo>
                <a:lnTo>
                  <a:pt x="193524" y="387048"/>
                </a:lnTo>
                <a:cubicBezTo>
                  <a:pt x="86715" y="387048"/>
                  <a:pt x="0" y="300333"/>
                  <a:pt x="0" y="193524"/>
                </a:cubicBezTo>
                <a:lnTo>
                  <a:pt x="0" y="193524"/>
                </a:lnTo>
                <a:cubicBezTo>
                  <a:pt x="0" y="86715"/>
                  <a:pt x="86715" y="0"/>
                  <a:pt x="1935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617857" y="5708952"/>
            <a:ext cx="471714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92381" y="5733143"/>
            <a:ext cx="1197429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差异化配置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60190" y="6192762"/>
            <a:ext cx="6809619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对机房内外的 Gossip 周期和消息大小进行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差异化配置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660190" y="6531429"/>
            <a:ext cx="6724952" cy="435429"/>
          </a:xfrm>
          <a:custGeom>
            <a:avLst/>
            <a:gdLst/>
            <a:ahLst/>
            <a:cxnLst/>
            <a:rect l="l" t="t" r="r" b="b"/>
            <a:pathLst>
              <a:path w="6724952" h="435429">
                <a:moveTo>
                  <a:pt x="48380" y="0"/>
                </a:moveTo>
                <a:lnTo>
                  <a:pt x="6676572" y="0"/>
                </a:lnTo>
                <a:cubicBezTo>
                  <a:pt x="6703292" y="0"/>
                  <a:pt x="6724952" y="21661"/>
                  <a:pt x="6724952" y="48380"/>
                </a:cubicBezTo>
                <a:lnTo>
                  <a:pt x="6724952" y="387048"/>
                </a:lnTo>
                <a:cubicBezTo>
                  <a:pt x="6724952" y="413768"/>
                  <a:pt x="6703292" y="435429"/>
                  <a:pt x="6676572" y="435429"/>
                </a:cubicBezTo>
                <a:lnTo>
                  <a:pt x="48380" y="435429"/>
                </a:lnTo>
                <a:cubicBezTo>
                  <a:pt x="21679" y="435429"/>
                  <a:pt x="0" y="413750"/>
                  <a:pt x="0" y="387048"/>
                </a:cubicBezTo>
                <a:lnTo>
                  <a:pt x="0" y="48380"/>
                </a:lnTo>
                <a:cubicBezTo>
                  <a:pt x="0" y="21679"/>
                  <a:pt x="21679" y="0"/>
                  <a:pt x="4838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784167" y="6676571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9035143" y="6628190"/>
            <a:ext cx="2830286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机房内 200ms 周期，机房间 1s 周期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66667" y="7305524"/>
            <a:ext cx="7112000" cy="1644952"/>
          </a:xfrm>
          <a:custGeom>
            <a:avLst/>
            <a:gdLst/>
            <a:ahLst/>
            <a:cxnLst/>
            <a:rect l="l" t="t" r="r" b="b"/>
            <a:pathLst>
              <a:path w="7112000" h="1644952">
                <a:moveTo>
                  <a:pt x="96756" y="0"/>
                </a:moveTo>
                <a:lnTo>
                  <a:pt x="7015244" y="0"/>
                </a:lnTo>
                <a:cubicBezTo>
                  <a:pt x="7068681" y="0"/>
                  <a:pt x="7112000" y="43319"/>
                  <a:pt x="7112000" y="96756"/>
                </a:cubicBezTo>
                <a:lnTo>
                  <a:pt x="7112000" y="1548196"/>
                </a:lnTo>
                <a:cubicBezTo>
                  <a:pt x="7112000" y="1601633"/>
                  <a:pt x="7068681" y="1644952"/>
                  <a:pt x="7015244" y="1644952"/>
                </a:cubicBezTo>
                <a:lnTo>
                  <a:pt x="96756" y="1644952"/>
                </a:lnTo>
                <a:cubicBezTo>
                  <a:pt x="43319" y="1644952"/>
                  <a:pt x="0" y="1601633"/>
                  <a:pt x="0" y="1548196"/>
                </a:cubicBezTo>
                <a:lnTo>
                  <a:pt x="0" y="96756"/>
                </a:lnTo>
                <a:cubicBezTo>
                  <a:pt x="0" y="43319"/>
                  <a:pt x="43319" y="0"/>
                  <a:pt x="96756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660190" y="7499048"/>
            <a:ext cx="387048" cy="387048"/>
          </a:xfrm>
          <a:custGeom>
            <a:avLst/>
            <a:gdLst/>
            <a:ahLst/>
            <a:cxnLst/>
            <a:rect l="l" t="t" r="r" b="b"/>
            <a:pathLst>
              <a:path w="387048" h="387048">
                <a:moveTo>
                  <a:pt x="193524" y="0"/>
                </a:moveTo>
                <a:lnTo>
                  <a:pt x="193524" y="0"/>
                </a:lnTo>
                <a:cubicBezTo>
                  <a:pt x="300333" y="0"/>
                  <a:pt x="387048" y="86715"/>
                  <a:pt x="387048" y="193524"/>
                </a:cubicBezTo>
                <a:lnTo>
                  <a:pt x="387048" y="193524"/>
                </a:lnTo>
                <a:cubicBezTo>
                  <a:pt x="387048" y="300333"/>
                  <a:pt x="300333" y="387048"/>
                  <a:pt x="193524" y="387048"/>
                </a:cubicBezTo>
                <a:lnTo>
                  <a:pt x="193524" y="387048"/>
                </a:lnTo>
                <a:cubicBezTo>
                  <a:pt x="86715" y="387048"/>
                  <a:pt x="0" y="300333"/>
                  <a:pt x="0" y="193524"/>
                </a:cubicBezTo>
                <a:lnTo>
                  <a:pt x="0" y="193524"/>
                </a:lnTo>
                <a:cubicBezTo>
                  <a:pt x="0" y="86715"/>
                  <a:pt x="86715" y="0"/>
                  <a:pt x="1935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617857" y="7499048"/>
            <a:ext cx="471714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92381" y="7523238"/>
            <a:ext cx="97971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超级节点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60190" y="7982857"/>
            <a:ext cx="6809619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在每个机房内选择少量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超级节点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负责跨机房 Gossip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660190" y="8321524"/>
            <a:ext cx="6724952" cy="435429"/>
          </a:xfrm>
          <a:custGeom>
            <a:avLst/>
            <a:gdLst/>
            <a:ahLst/>
            <a:cxnLst/>
            <a:rect l="l" t="t" r="r" b="b"/>
            <a:pathLst>
              <a:path w="6724952" h="435429">
                <a:moveTo>
                  <a:pt x="48380" y="0"/>
                </a:moveTo>
                <a:lnTo>
                  <a:pt x="6676572" y="0"/>
                </a:lnTo>
                <a:cubicBezTo>
                  <a:pt x="6703292" y="0"/>
                  <a:pt x="6724952" y="21661"/>
                  <a:pt x="6724952" y="48380"/>
                </a:cubicBezTo>
                <a:lnTo>
                  <a:pt x="6724952" y="387048"/>
                </a:lnTo>
                <a:cubicBezTo>
                  <a:pt x="6724952" y="413768"/>
                  <a:pt x="6703292" y="435429"/>
                  <a:pt x="6676572" y="435429"/>
                </a:cubicBezTo>
                <a:lnTo>
                  <a:pt x="48380" y="435429"/>
                </a:lnTo>
                <a:cubicBezTo>
                  <a:pt x="21679" y="435429"/>
                  <a:pt x="0" y="413750"/>
                  <a:pt x="0" y="387048"/>
                </a:cubicBezTo>
                <a:lnTo>
                  <a:pt x="0" y="48380"/>
                </a:lnTo>
                <a:cubicBezTo>
                  <a:pt x="0" y="21679"/>
                  <a:pt x="21679" y="0"/>
                  <a:pt x="4838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8784167" y="8466667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3258" y="19872"/>
                </a:moveTo>
                <a:cubicBezTo>
                  <a:pt x="127312" y="22820"/>
                  <a:pt x="128219" y="28490"/>
                  <a:pt x="125271" y="32544"/>
                </a:cubicBezTo>
                <a:lnTo>
                  <a:pt x="52699" y="132329"/>
                </a:lnTo>
                <a:cubicBezTo>
                  <a:pt x="51140" y="134484"/>
                  <a:pt x="48731" y="135816"/>
                  <a:pt x="46066" y="136043"/>
                </a:cubicBezTo>
                <a:cubicBezTo>
                  <a:pt x="43401" y="136270"/>
                  <a:pt x="40821" y="135278"/>
                  <a:pt x="38950" y="133407"/>
                </a:cubicBezTo>
                <a:lnTo>
                  <a:pt x="2665" y="97121"/>
                </a:lnTo>
                <a:cubicBezTo>
                  <a:pt x="-879" y="93577"/>
                  <a:pt x="-879" y="87823"/>
                  <a:pt x="2665" y="84279"/>
                </a:cubicBezTo>
                <a:cubicBezTo>
                  <a:pt x="6208" y="80736"/>
                  <a:pt x="11963" y="80736"/>
                  <a:pt x="15506" y="84279"/>
                </a:cubicBezTo>
                <a:lnTo>
                  <a:pt x="44280" y="113053"/>
                </a:lnTo>
                <a:lnTo>
                  <a:pt x="110615" y="21856"/>
                </a:lnTo>
                <a:cubicBezTo>
                  <a:pt x="113563" y="17803"/>
                  <a:pt x="119233" y="16896"/>
                  <a:pt x="123286" y="1984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9035143" y="8418286"/>
            <a:ext cx="2624667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减少跨机房连接数，降低网络开销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edrawsoft.com/15d9f04ce5629a7bf40fe663445e959c2de1b989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0221" b="1022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889250"/>
            <a:ext cx="2298700" cy="762000"/>
          </a:xfrm>
          <a:custGeom>
            <a:avLst/>
            <a:gdLst/>
            <a:ahLst/>
            <a:cxnLst/>
            <a:rect l="l" t="t" r="r" b="b"/>
            <a:pathLst>
              <a:path w="2298700" h="762000">
                <a:moveTo>
                  <a:pt x="101597" y="0"/>
                </a:moveTo>
                <a:lnTo>
                  <a:pt x="2197103" y="0"/>
                </a:lnTo>
                <a:cubicBezTo>
                  <a:pt x="2253213" y="0"/>
                  <a:pt x="2298700" y="45487"/>
                  <a:pt x="2298700" y="101597"/>
                </a:cubicBezTo>
                <a:lnTo>
                  <a:pt x="2298700" y="660403"/>
                </a:lnTo>
                <a:cubicBezTo>
                  <a:pt x="2298700" y="716513"/>
                  <a:pt x="2253213" y="762000"/>
                  <a:pt x="21971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12800" y="3041650"/>
            <a:ext cx="187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95605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4038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759450"/>
            <a:ext cx="483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协议的核心价值与未来方向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338667"/>
          </a:xfrm>
          <a:custGeom>
            <a:avLst/>
            <a:gdLst/>
            <a:ahLst/>
            <a:cxnLst/>
            <a:rect l="l" t="t" r="r" b="b"/>
            <a:pathLst>
              <a:path w="84667" h="338667">
                <a:moveTo>
                  <a:pt x="0" y="0"/>
                </a:moveTo>
                <a:lnTo>
                  <a:pt x="84667" y="0"/>
                </a:lnTo>
                <a:lnTo>
                  <a:pt x="84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483658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Gossip 协议的核心价值与适用场景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43000"/>
            <a:ext cx="15388167" cy="2963333"/>
          </a:xfrm>
          <a:custGeom>
            <a:avLst/>
            <a:gdLst/>
            <a:ahLst/>
            <a:cxnLst/>
            <a:rect l="l" t="t" r="r" b="b"/>
            <a:pathLst>
              <a:path w="15388167" h="2963333">
                <a:moveTo>
                  <a:pt x="42333" y="0"/>
                </a:moveTo>
                <a:lnTo>
                  <a:pt x="15303504" y="0"/>
                </a:lnTo>
                <a:cubicBezTo>
                  <a:pt x="15350262" y="0"/>
                  <a:pt x="15388167" y="37905"/>
                  <a:pt x="15388167" y="84662"/>
                </a:cubicBezTo>
                <a:lnTo>
                  <a:pt x="15388167" y="2878671"/>
                </a:lnTo>
                <a:cubicBezTo>
                  <a:pt x="15388167" y="2925429"/>
                  <a:pt x="15350262" y="2963333"/>
                  <a:pt x="15303504" y="2963333"/>
                </a:cubicBezTo>
                <a:lnTo>
                  <a:pt x="42333" y="2963333"/>
                </a:lnTo>
                <a:cubicBezTo>
                  <a:pt x="18953" y="2963333"/>
                  <a:pt x="0" y="2944380"/>
                  <a:pt x="0" y="292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143000"/>
            <a:ext cx="42333" cy="2963333"/>
          </a:xfrm>
          <a:custGeom>
            <a:avLst/>
            <a:gdLst/>
            <a:ahLst/>
            <a:cxnLst/>
            <a:rect l="l" t="t" r="r" b="b"/>
            <a:pathLst>
              <a:path w="42333" h="2963333">
                <a:moveTo>
                  <a:pt x="42333" y="0"/>
                </a:moveTo>
                <a:lnTo>
                  <a:pt x="42333" y="0"/>
                </a:lnTo>
                <a:lnTo>
                  <a:pt x="42333" y="2963333"/>
                </a:lnTo>
                <a:lnTo>
                  <a:pt x="42333" y="2963333"/>
                </a:lnTo>
                <a:cubicBezTo>
                  <a:pt x="18953" y="2963333"/>
                  <a:pt x="0" y="2944380"/>
                  <a:pt x="0" y="292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5542" y="143933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64167" y="1397000"/>
            <a:ext cx="941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9667" y="1905000"/>
            <a:ext cx="1494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协议通过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概率性、去中心化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的方式，在大规模分布式系统中提供了一种</a:t>
            </a: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高可用、高容错且易扩展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的状态传播机制。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667" y="2349500"/>
            <a:ext cx="3587750" cy="1502833"/>
          </a:xfrm>
          <a:custGeom>
            <a:avLst/>
            <a:gdLst/>
            <a:ahLst/>
            <a:cxnLst/>
            <a:rect l="l" t="t" r="r" b="b"/>
            <a:pathLst>
              <a:path w="3587750" h="1502833">
                <a:moveTo>
                  <a:pt x="84670" y="0"/>
                </a:moveTo>
                <a:lnTo>
                  <a:pt x="3503080" y="0"/>
                </a:lnTo>
                <a:cubicBezTo>
                  <a:pt x="3549842" y="0"/>
                  <a:pt x="3587750" y="37908"/>
                  <a:pt x="3587750" y="84670"/>
                </a:cubicBezTo>
                <a:lnTo>
                  <a:pt x="3587750" y="1418164"/>
                </a:lnTo>
                <a:cubicBezTo>
                  <a:pt x="3587750" y="1464925"/>
                  <a:pt x="3549842" y="1502833"/>
                  <a:pt x="3503080" y="1502833"/>
                </a:cubicBezTo>
                <a:lnTo>
                  <a:pt x="84670" y="1502833"/>
                </a:lnTo>
                <a:cubicBezTo>
                  <a:pt x="37908" y="1502833"/>
                  <a:pt x="0" y="1464925"/>
                  <a:pt x="0" y="1418164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377281" y="2518833"/>
            <a:ext cx="277813" cy="317500"/>
          </a:xfrm>
          <a:custGeom>
            <a:avLst/>
            <a:gdLst/>
            <a:ahLst/>
            <a:cxnLst/>
            <a:rect l="l" t="t" r="r" b="b"/>
            <a:pathLst>
              <a:path w="277813" h="317500">
                <a:moveTo>
                  <a:pt x="19844" y="79375"/>
                </a:moveTo>
                <a:cubicBezTo>
                  <a:pt x="8868" y="79375"/>
                  <a:pt x="0" y="88243"/>
                  <a:pt x="0" y="99219"/>
                </a:cubicBezTo>
                <a:cubicBezTo>
                  <a:pt x="0" y="110195"/>
                  <a:pt x="8868" y="119062"/>
                  <a:pt x="19844" y="119062"/>
                </a:cubicBezTo>
                <a:lnTo>
                  <a:pt x="257969" y="119062"/>
                </a:lnTo>
                <a:cubicBezTo>
                  <a:pt x="268945" y="119062"/>
                  <a:pt x="277813" y="110195"/>
                  <a:pt x="277813" y="99219"/>
                </a:cubicBezTo>
                <a:cubicBezTo>
                  <a:pt x="277813" y="88243"/>
                  <a:pt x="268945" y="79375"/>
                  <a:pt x="257969" y="79375"/>
                </a:cubicBezTo>
                <a:lnTo>
                  <a:pt x="19844" y="79375"/>
                </a:lnTo>
                <a:close/>
                <a:moveTo>
                  <a:pt x="19844" y="198438"/>
                </a:moveTo>
                <a:cubicBezTo>
                  <a:pt x="8868" y="198438"/>
                  <a:pt x="0" y="207305"/>
                  <a:pt x="0" y="218281"/>
                </a:cubicBezTo>
                <a:cubicBezTo>
                  <a:pt x="0" y="229257"/>
                  <a:pt x="8868" y="238125"/>
                  <a:pt x="19844" y="238125"/>
                </a:cubicBezTo>
                <a:lnTo>
                  <a:pt x="257969" y="238125"/>
                </a:lnTo>
                <a:cubicBezTo>
                  <a:pt x="268945" y="238125"/>
                  <a:pt x="277813" y="229257"/>
                  <a:pt x="277813" y="218281"/>
                </a:cubicBezTo>
                <a:cubicBezTo>
                  <a:pt x="277813" y="207305"/>
                  <a:pt x="268945" y="198438"/>
                  <a:pt x="257969" y="198438"/>
                </a:cubicBezTo>
                <a:lnTo>
                  <a:pt x="19844" y="19843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1375" y="2921000"/>
            <a:ext cx="3344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去中心化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1958" y="3259667"/>
            <a:ext cx="3323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无单点瓶颈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横向扩展能力强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76750" y="2349500"/>
            <a:ext cx="3587750" cy="1502833"/>
          </a:xfrm>
          <a:custGeom>
            <a:avLst/>
            <a:gdLst/>
            <a:ahLst/>
            <a:cxnLst/>
            <a:rect l="l" t="t" r="r" b="b"/>
            <a:pathLst>
              <a:path w="3587750" h="1502833">
                <a:moveTo>
                  <a:pt x="84670" y="0"/>
                </a:moveTo>
                <a:lnTo>
                  <a:pt x="3503080" y="0"/>
                </a:lnTo>
                <a:cubicBezTo>
                  <a:pt x="3549842" y="0"/>
                  <a:pt x="3587750" y="37908"/>
                  <a:pt x="3587750" y="84670"/>
                </a:cubicBezTo>
                <a:lnTo>
                  <a:pt x="3587750" y="1418164"/>
                </a:lnTo>
                <a:cubicBezTo>
                  <a:pt x="3587750" y="1464925"/>
                  <a:pt x="3549842" y="1502833"/>
                  <a:pt x="3503080" y="1502833"/>
                </a:cubicBezTo>
                <a:lnTo>
                  <a:pt x="84670" y="1502833"/>
                </a:lnTo>
                <a:cubicBezTo>
                  <a:pt x="37908" y="1502833"/>
                  <a:pt x="0" y="1464925"/>
                  <a:pt x="0" y="1418164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114521" y="25188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cubicBezTo>
                  <a:pt x="161603" y="0"/>
                  <a:pt x="164455" y="620"/>
                  <a:pt x="167060" y="1798"/>
                </a:cubicBezTo>
                <a:lnTo>
                  <a:pt x="283890" y="51346"/>
                </a:lnTo>
                <a:cubicBezTo>
                  <a:pt x="297532" y="57113"/>
                  <a:pt x="307702" y="70569"/>
                  <a:pt x="307640" y="86816"/>
                </a:cubicBezTo>
                <a:cubicBezTo>
                  <a:pt x="307330" y="148332"/>
                  <a:pt x="282029" y="260883"/>
                  <a:pt x="175183" y="312043"/>
                </a:cubicBezTo>
                <a:cubicBezTo>
                  <a:pt x="164827" y="317004"/>
                  <a:pt x="152797" y="317004"/>
                  <a:pt x="142441" y="312043"/>
                </a:cubicBezTo>
                <a:cubicBezTo>
                  <a:pt x="35533" y="260883"/>
                  <a:pt x="10294" y="148332"/>
                  <a:pt x="9984" y="86816"/>
                </a:cubicBezTo>
                <a:cubicBezTo>
                  <a:pt x="9922" y="70569"/>
                  <a:pt x="20092" y="57113"/>
                  <a:pt x="33734" y="51346"/>
                </a:cubicBezTo>
                <a:lnTo>
                  <a:pt x="150502" y="1798"/>
                </a:lnTo>
                <a:cubicBezTo>
                  <a:pt x="153107" y="620"/>
                  <a:pt x="155897" y="0"/>
                  <a:pt x="158750" y="0"/>
                </a:cubicBezTo>
                <a:close/>
                <a:moveTo>
                  <a:pt x="158750" y="41424"/>
                </a:moveTo>
                <a:lnTo>
                  <a:pt x="158750" y="275890"/>
                </a:lnTo>
                <a:cubicBezTo>
                  <a:pt x="244326" y="234466"/>
                  <a:pt x="267333" y="142689"/>
                  <a:pt x="267891" y="87747"/>
                </a:cubicBezTo>
                <a:lnTo>
                  <a:pt x="158750" y="41486"/>
                </a:lnTo>
                <a:lnTo>
                  <a:pt x="158750" y="41486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98458" y="2921000"/>
            <a:ext cx="3344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高容错性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9042" y="3259667"/>
            <a:ext cx="3323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多轮冗余传播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对抗消息丢失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33833" y="2349500"/>
            <a:ext cx="3587750" cy="1502833"/>
          </a:xfrm>
          <a:custGeom>
            <a:avLst/>
            <a:gdLst/>
            <a:ahLst/>
            <a:cxnLst/>
            <a:rect l="l" t="t" r="r" b="b"/>
            <a:pathLst>
              <a:path w="3587750" h="1502833">
                <a:moveTo>
                  <a:pt x="84670" y="0"/>
                </a:moveTo>
                <a:lnTo>
                  <a:pt x="3503080" y="0"/>
                </a:lnTo>
                <a:cubicBezTo>
                  <a:pt x="3549842" y="0"/>
                  <a:pt x="3587750" y="37908"/>
                  <a:pt x="3587750" y="84670"/>
                </a:cubicBezTo>
                <a:lnTo>
                  <a:pt x="3587750" y="1418164"/>
                </a:lnTo>
                <a:cubicBezTo>
                  <a:pt x="3587750" y="1464925"/>
                  <a:pt x="3549842" y="1502833"/>
                  <a:pt x="3503080" y="1502833"/>
                </a:cubicBezTo>
                <a:lnTo>
                  <a:pt x="84670" y="1502833"/>
                </a:lnTo>
                <a:cubicBezTo>
                  <a:pt x="37908" y="1502833"/>
                  <a:pt x="0" y="1464925"/>
                  <a:pt x="0" y="1418164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871604" y="25188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9688" y="39688"/>
                </a:moveTo>
                <a:cubicBezTo>
                  <a:pt x="39688" y="28711"/>
                  <a:pt x="30820" y="19844"/>
                  <a:pt x="19844" y="19844"/>
                </a:cubicBezTo>
                <a:cubicBezTo>
                  <a:pt x="8868" y="19844"/>
                  <a:pt x="0" y="28711"/>
                  <a:pt x="0" y="39688"/>
                </a:cubicBezTo>
                <a:lnTo>
                  <a:pt x="0" y="248047"/>
                </a:lnTo>
                <a:cubicBezTo>
                  <a:pt x="0" y="275456"/>
                  <a:pt x="22200" y="297656"/>
                  <a:pt x="49609" y="297656"/>
                </a:cubicBezTo>
                <a:lnTo>
                  <a:pt x="297656" y="297656"/>
                </a:lnTo>
                <a:cubicBezTo>
                  <a:pt x="308632" y="297656"/>
                  <a:pt x="317500" y="288789"/>
                  <a:pt x="317500" y="277813"/>
                </a:cubicBezTo>
                <a:cubicBezTo>
                  <a:pt x="317500" y="266836"/>
                  <a:pt x="308632" y="257969"/>
                  <a:pt x="297656" y="257969"/>
                </a:cubicBezTo>
                <a:lnTo>
                  <a:pt x="49609" y="257969"/>
                </a:lnTo>
                <a:cubicBezTo>
                  <a:pt x="44152" y="257969"/>
                  <a:pt x="39688" y="253504"/>
                  <a:pt x="39688" y="248047"/>
                </a:cubicBezTo>
                <a:lnTo>
                  <a:pt x="39688" y="39688"/>
                </a:lnTo>
                <a:close/>
                <a:moveTo>
                  <a:pt x="291827" y="93390"/>
                </a:moveTo>
                <a:cubicBezTo>
                  <a:pt x="299579" y="85638"/>
                  <a:pt x="299579" y="73050"/>
                  <a:pt x="291827" y="65298"/>
                </a:cubicBezTo>
                <a:cubicBezTo>
                  <a:pt x="284076" y="57547"/>
                  <a:pt x="271487" y="57547"/>
                  <a:pt x="263736" y="65298"/>
                </a:cubicBezTo>
                <a:lnTo>
                  <a:pt x="198438" y="130659"/>
                </a:lnTo>
                <a:lnTo>
                  <a:pt x="162843" y="95126"/>
                </a:lnTo>
                <a:cubicBezTo>
                  <a:pt x="155091" y="87375"/>
                  <a:pt x="142503" y="87375"/>
                  <a:pt x="134751" y="95126"/>
                </a:cubicBezTo>
                <a:lnTo>
                  <a:pt x="75220" y="154657"/>
                </a:lnTo>
                <a:cubicBezTo>
                  <a:pt x="67469" y="162409"/>
                  <a:pt x="67469" y="174997"/>
                  <a:pt x="75220" y="182749"/>
                </a:cubicBezTo>
                <a:cubicBezTo>
                  <a:pt x="82972" y="190500"/>
                  <a:pt x="95560" y="190500"/>
                  <a:pt x="103312" y="182749"/>
                </a:cubicBezTo>
                <a:lnTo>
                  <a:pt x="148828" y="137232"/>
                </a:lnTo>
                <a:lnTo>
                  <a:pt x="184423" y="172827"/>
                </a:lnTo>
                <a:cubicBezTo>
                  <a:pt x="192174" y="180578"/>
                  <a:pt x="204763" y="180578"/>
                  <a:pt x="212514" y="172827"/>
                </a:cubicBezTo>
                <a:lnTo>
                  <a:pt x="291889" y="93452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355542" y="2921000"/>
            <a:ext cx="3344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6125" y="3259667"/>
            <a:ext cx="3323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O(N·log N) 消息量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近似线性扩展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990917" y="2349500"/>
            <a:ext cx="3587750" cy="1502833"/>
          </a:xfrm>
          <a:custGeom>
            <a:avLst/>
            <a:gdLst/>
            <a:ahLst/>
            <a:cxnLst/>
            <a:rect l="l" t="t" r="r" b="b"/>
            <a:pathLst>
              <a:path w="3587750" h="1502833">
                <a:moveTo>
                  <a:pt x="84670" y="0"/>
                </a:moveTo>
                <a:lnTo>
                  <a:pt x="3503080" y="0"/>
                </a:lnTo>
                <a:cubicBezTo>
                  <a:pt x="3549842" y="0"/>
                  <a:pt x="3587750" y="37908"/>
                  <a:pt x="3587750" y="84670"/>
                </a:cubicBezTo>
                <a:lnTo>
                  <a:pt x="3587750" y="1418164"/>
                </a:lnTo>
                <a:cubicBezTo>
                  <a:pt x="3587750" y="1464925"/>
                  <a:pt x="3549842" y="1502833"/>
                  <a:pt x="3503080" y="1502833"/>
                </a:cubicBezTo>
                <a:lnTo>
                  <a:pt x="84670" y="1502833"/>
                </a:lnTo>
                <a:cubicBezTo>
                  <a:pt x="37908" y="1502833"/>
                  <a:pt x="0" y="1464925"/>
                  <a:pt x="0" y="1418164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3628688" y="25188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40866" y="141697"/>
                </a:moveTo>
                <a:cubicBezTo>
                  <a:pt x="49113" y="84026"/>
                  <a:pt x="98785" y="39688"/>
                  <a:pt x="158750" y="39688"/>
                </a:cubicBezTo>
                <a:cubicBezTo>
                  <a:pt x="191616" y="39688"/>
                  <a:pt x="221382" y="53020"/>
                  <a:pt x="242962" y="74538"/>
                </a:cubicBezTo>
                <a:cubicBezTo>
                  <a:pt x="243086" y="74662"/>
                  <a:pt x="243210" y="74786"/>
                  <a:pt x="243334" y="74910"/>
                </a:cubicBezTo>
                <a:lnTo>
                  <a:pt x="248047" y="79375"/>
                </a:lnTo>
                <a:lnTo>
                  <a:pt x="218343" y="79375"/>
                </a:lnTo>
                <a:cubicBezTo>
                  <a:pt x="207367" y="79375"/>
                  <a:pt x="198500" y="88243"/>
                  <a:pt x="198500" y="99219"/>
                </a:cubicBezTo>
                <a:cubicBezTo>
                  <a:pt x="198500" y="110195"/>
                  <a:pt x="207367" y="119062"/>
                  <a:pt x="218343" y="119062"/>
                </a:cubicBezTo>
                <a:lnTo>
                  <a:pt x="297718" y="119062"/>
                </a:lnTo>
                <a:cubicBezTo>
                  <a:pt x="308694" y="119062"/>
                  <a:pt x="317562" y="110195"/>
                  <a:pt x="317562" y="99219"/>
                </a:cubicBezTo>
                <a:lnTo>
                  <a:pt x="317562" y="19844"/>
                </a:lnTo>
                <a:cubicBezTo>
                  <a:pt x="317562" y="8868"/>
                  <a:pt x="308694" y="0"/>
                  <a:pt x="297718" y="0"/>
                </a:cubicBezTo>
                <a:cubicBezTo>
                  <a:pt x="286742" y="0"/>
                  <a:pt x="277875" y="8868"/>
                  <a:pt x="277875" y="19844"/>
                </a:cubicBezTo>
                <a:lnTo>
                  <a:pt x="277875" y="52958"/>
                </a:lnTo>
                <a:lnTo>
                  <a:pt x="270867" y="46323"/>
                </a:lnTo>
                <a:cubicBezTo>
                  <a:pt x="242156" y="17735"/>
                  <a:pt x="202468" y="0"/>
                  <a:pt x="158750" y="0"/>
                </a:cubicBezTo>
                <a:cubicBezTo>
                  <a:pt x="78755" y="0"/>
                  <a:pt x="12588" y="59159"/>
                  <a:pt x="1612" y="136116"/>
                </a:cubicBezTo>
                <a:cubicBezTo>
                  <a:pt x="62" y="146968"/>
                  <a:pt x="7565" y="157014"/>
                  <a:pt x="18417" y="158564"/>
                </a:cubicBezTo>
                <a:cubicBezTo>
                  <a:pt x="29270" y="160114"/>
                  <a:pt x="39315" y="152549"/>
                  <a:pt x="40866" y="141759"/>
                </a:cubicBezTo>
                <a:close/>
                <a:moveTo>
                  <a:pt x="315888" y="181384"/>
                </a:moveTo>
                <a:cubicBezTo>
                  <a:pt x="317438" y="170532"/>
                  <a:pt x="309873" y="160486"/>
                  <a:pt x="299083" y="158936"/>
                </a:cubicBezTo>
                <a:cubicBezTo>
                  <a:pt x="288292" y="157386"/>
                  <a:pt x="278185" y="164951"/>
                  <a:pt x="276634" y="175741"/>
                </a:cubicBezTo>
                <a:cubicBezTo>
                  <a:pt x="268387" y="233412"/>
                  <a:pt x="218715" y="277750"/>
                  <a:pt x="158750" y="277750"/>
                </a:cubicBezTo>
                <a:cubicBezTo>
                  <a:pt x="125884" y="277750"/>
                  <a:pt x="96118" y="264418"/>
                  <a:pt x="74538" y="242900"/>
                </a:cubicBezTo>
                <a:cubicBezTo>
                  <a:pt x="74414" y="242776"/>
                  <a:pt x="74290" y="242652"/>
                  <a:pt x="74166" y="242528"/>
                </a:cubicBezTo>
                <a:lnTo>
                  <a:pt x="69453" y="238063"/>
                </a:lnTo>
                <a:lnTo>
                  <a:pt x="99157" y="238063"/>
                </a:lnTo>
                <a:cubicBezTo>
                  <a:pt x="110133" y="238063"/>
                  <a:pt x="119000" y="229195"/>
                  <a:pt x="119000" y="218219"/>
                </a:cubicBezTo>
                <a:cubicBezTo>
                  <a:pt x="119000" y="207243"/>
                  <a:pt x="110133" y="198375"/>
                  <a:pt x="99157" y="198375"/>
                </a:cubicBezTo>
                <a:lnTo>
                  <a:pt x="19844" y="198438"/>
                </a:lnTo>
                <a:cubicBezTo>
                  <a:pt x="14573" y="198438"/>
                  <a:pt x="9488" y="200546"/>
                  <a:pt x="5767" y="204329"/>
                </a:cubicBezTo>
                <a:cubicBezTo>
                  <a:pt x="2046" y="208111"/>
                  <a:pt x="-62" y="213134"/>
                  <a:pt x="0" y="218467"/>
                </a:cubicBezTo>
                <a:lnTo>
                  <a:pt x="620" y="297222"/>
                </a:lnTo>
                <a:cubicBezTo>
                  <a:pt x="682" y="308198"/>
                  <a:pt x="9674" y="317004"/>
                  <a:pt x="20650" y="316880"/>
                </a:cubicBezTo>
                <a:cubicBezTo>
                  <a:pt x="31626" y="316756"/>
                  <a:pt x="40432" y="307826"/>
                  <a:pt x="40308" y="296850"/>
                </a:cubicBezTo>
                <a:lnTo>
                  <a:pt x="40060" y="264914"/>
                </a:lnTo>
                <a:lnTo>
                  <a:pt x="46695" y="271177"/>
                </a:lnTo>
                <a:cubicBezTo>
                  <a:pt x="75406" y="299765"/>
                  <a:pt x="115032" y="317500"/>
                  <a:pt x="158750" y="317500"/>
                </a:cubicBezTo>
                <a:cubicBezTo>
                  <a:pt x="238745" y="317500"/>
                  <a:pt x="304912" y="258341"/>
                  <a:pt x="315888" y="18138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2112625" y="2921000"/>
            <a:ext cx="3344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23208" y="3259667"/>
            <a:ext cx="3323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 轮收敛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高概率保证一致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500" y="4275667"/>
            <a:ext cx="7577667" cy="3725333"/>
          </a:xfrm>
          <a:custGeom>
            <a:avLst/>
            <a:gdLst/>
            <a:ahLst/>
            <a:cxnLst/>
            <a:rect l="l" t="t" r="r" b="b"/>
            <a:pathLst>
              <a:path w="7577667" h="33401000">
                <a:moveTo>
                  <a:pt x="42333" y="0"/>
                </a:moveTo>
                <a:lnTo>
                  <a:pt x="7493024" y="0"/>
                </a:lnTo>
                <a:cubicBezTo>
                  <a:pt x="7539771" y="0"/>
                  <a:pt x="7577667" y="37896"/>
                  <a:pt x="7577667" y="84643"/>
                </a:cubicBezTo>
                <a:lnTo>
                  <a:pt x="7577667" y="33316357"/>
                </a:lnTo>
                <a:cubicBezTo>
                  <a:pt x="7577667" y="33363104"/>
                  <a:pt x="7539771" y="33401000"/>
                  <a:pt x="7493024" y="33401000"/>
                </a:cubicBezTo>
                <a:lnTo>
                  <a:pt x="42333" y="33401000"/>
                </a:lnTo>
                <a:cubicBezTo>
                  <a:pt x="18953" y="33401000"/>
                  <a:pt x="0" y="33382047"/>
                  <a:pt x="0" y="3335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44500" y="4275667"/>
            <a:ext cx="42333" cy="3726000"/>
          </a:xfrm>
          <a:custGeom>
            <a:avLst/>
            <a:gdLst/>
            <a:ahLst/>
            <a:cxnLst/>
            <a:rect l="l" t="t" r="r" b="b"/>
            <a:pathLst>
              <a:path w="42333" h="33401000">
                <a:moveTo>
                  <a:pt x="42333" y="0"/>
                </a:moveTo>
                <a:lnTo>
                  <a:pt x="42333" y="0"/>
                </a:lnTo>
                <a:lnTo>
                  <a:pt x="42333" y="33401000"/>
                </a:lnTo>
                <a:lnTo>
                  <a:pt x="42333" y="33401000"/>
                </a:lnTo>
                <a:cubicBezTo>
                  <a:pt x="18953" y="33401000"/>
                  <a:pt x="0" y="33382047"/>
                  <a:pt x="0" y="3335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93208" y="4508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33400" y="42267"/>
                </a:moveTo>
                <a:lnTo>
                  <a:pt x="75555" y="106561"/>
                </a:lnTo>
                <a:cubicBezTo>
                  <a:pt x="73273" y="109091"/>
                  <a:pt x="73372" y="113010"/>
                  <a:pt x="75803" y="115441"/>
                </a:cubicBezTo>
                <a:cubicBezTo>
                  <a:pt x="90934" y="130572"/>
                  <a:pt x="115491" y="130572"/>
                  <a:pt x="130621" y="115441"/>
                </a:cubicBezTo>
                <a:lnTo>
                  <a:pt x="146397" y="99665"/>
                </a:lnTo>
                <a:cubicBezTo>
                  <a:pt x="148481" y="97582"/>
                  <a:pt x="151110" y="96441"/>
                  <a:pt x="153789" y="96242"/>
                </a:cubicBezTo>
                <a:cubicBezTo>
                  <a:pt x="157163" y="95945"/>
                  <a:pt x="160635" y="97086"/>
                  <a:pt x="163215" y="99665"/>
                </a:cubicBezTo>
                <a:lnTo>
                  <a:pt x="250825" y="186531"/>
                </a:lnTo>
                <a:lnTo>
                  <a:pt x="285750" y="158750"/>
                </a:lnTo>
                <a:lnTo>
                  <a:pt x="285750" y="15875"/>
                </a:lnTo>
                <a:lnTo>
                  <a:pt x="230188" y="47625"/>
                </a:lnTo>
                <a:lnTo>
                  <a:pt x="218380" y="39737"/>
                </a:lnTo>
                <a:cubicBezTo>
                  <a:pt x="210542" y="34528"/>
                  <a:pt x="201364" y="31750"/>
                  <a:pt x="191939" y="31750"/>
                </a:cubicBezTo>
                <a:lnTo>
                  <a:pt x="157014" y="31750"/>
                </a:lnTo>
                <a:cubicBezTo>
                  <a:pt x="156468" y="31750"/>
                  <a:pt x="155873" y="31750"/>
                  <a:pt x="155327" y="31800"/>
                </a:cubicBezTo>
                <a:cubicBezTo>
                  <a:pt x="146943" y="32246"/>
                  <a:pt x="139055" y="36016"/>
                  <a:pt x="133400" y="42267"/>
                </a:cubicBezTo>
                <a:close/>
                <a:moveTo>
                  <a:pt x="57845" y="90636"/>
                </a:moveTo>
                <a:lnTo>
                  <a:pt x="110827" y="31750"/>
                </a:lnTo>
                <a:lnTo>
                  <a:pt x="91182" y="31750"/>
                </a:lnTo>
                <a:cubicBezTo>
                  <a:pt x="78532" y="31750"/>
                  <a:pt x="66427" y="36761"/>
                  <a:pt x="57497" y="45690"/>
                </a:cubicBezTo>
                <a:lnTo>
                  <a:pt x="55563" y="47625"/>
                </a:lnTo>
                <a:lnTo>
                  <a:pt x="0" y="15875"/>
                </a:lnTo>
                <a:lnTo>
                  <a:pt x="0" y="158750"/>
                </a:lnTo>
                <a:lnTo>
                  <a:pt x="77589" y="223391"/>
                </a:lnTo>
                <a:cubicBezTo>
                  <a:pt x="88999" y="232916"/>
                  <a:pt x="103386" y="238125"/>
                  <a:pt x="118219" y="238125"/>
                </a:cubicBezTo>
                <a:lnTo>
                  <a:pt x="126008" y="238125"/>
                </a:lnTo>
                <a:lnTo>
                  <a:pt x="122535" y="234652"/>
                </a:lnTo>
                <a:cubicBezTo>
                  <a:pt x="117872" y="229989"/>
                  <a:pt x="117872" y="222448"/>
                  <a:pt x="122535" y="217835"/>
                </a:cubicBezTo>
                <a:cubicBezTo>
                  <a:pt x="127198" y="213221"/>
                  <a:pt x="134739" y="213171"/>
                  <a:pt x="139353" y="217835"/>
                </a:cubicBezTo>
                <a:lnTo>
                  <a:pt x="159693" y="238175"/>
                </a:lnTo>
                <a:lnTo>
                  <a:pt x="164157" y="238175"/>
                </a:lnTo>
                <a:cubicBezTo>
                  <a:pt x="173633" y="238175"/>
                  <a:pt x="182910" y="236041"/>
                  <a:pt x="191343" y="232073"/>
                </a:cubicBezTo>
                <a:lnTo>
                  <a:pt x="178098" y="218777"/>
                </a:lnTo>
                <a:cubicBezTo>
                  <a:pt x="173434" y="214114"/>
                  <a:pt x="173434" y="206573"/>
                  <a:pt x="178098" y="201960"/>
                </a:cubicBezTo>
                <a:cubicBezTo>
                  <a:pt x="182761" y="197346"/>
                  <a:pt x="190302" y="197296"/>
                  <a:pt x="194915" y="201960"/>
                </a:cubicBezTo>
                <a:lnTo>
                  <a:pt x="210790" y="217835"/>
                </a:lnTo>
                <a:lnTo>
                  <a:pt x="219472" y="209153"/>
                </a:lnTo>
                <a:cubicBezTo>
                  <a:pt x="223887" y="204738"/>
                  <a:pt x="225177" y="198338"/>
                  <a:pt x="223242" y="192732"/>
                </a:cubicBezTo>
                <a:lnTo>
                  <a:pt x="154831" y="124867"/>
                </a:lnTo>
                <a:lnTo>
                  <a:pt x="147439" y="132259"/>
                </a:lnTo>
                <a:cubicBezTo>
                  <a:pt x="122982" y="156716"/>
                  <a:pt x="83393" y="156716"/>
                  <a:pt x="58936" y="132259"/>
                </a:cubicBezTo>
                <a:cubicBezTo>
                  <a:pt x="47526" y="120848"/>
                  <a:pt x="47079" y="102543"/>
                  <a:pt x="57845" y="9058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21833" y="4487333"/>
            <a:ext cx="1460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与传统方案的对比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7333" y="4953000"/>
            <a:ext cx="7217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与强一致方案相比，Gossip 更强调"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"和"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高概率正确性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7333" y="5397500"/>
            <a:ext cx="7133167" cy="931333"/>
          </a:xfrm>
          <a:custGeom>
            <a:avLst/>
            <a:gdLst/>
            <a:ahLst/>
            <a:cxnLst/>
            <a:rect l="l" t="t" r="r" b="b"/>
            <a:pathLst>
              <a:path w="7133167" h="931333">
                <a:moveTo>
                  <a:pt x="84668" y="0"/>
                </a:moveTo>
                <a:lnTo>
                  <a:pt x="7048499" y="0"/>
                </a:lnTo>
                <a:cubicBezTo>
                  <a:pt x="7095260" y="0"/>
                  <a:pt x="7133167" y="37907"/>
                  <a:pt x="7133167" y="84668"/>
                </a:cubicBezTo>
                <a:lnTo>
                  <a:pt x="7133167" y="846666"/>
                </a:lnTo>
                <a:cubicBezTo>
                  <a:pt x="7133167" y="893426"/>
                  <a:pt x="7095260" y="931333"/>
                  <a:pt x="7048499" y="931333"/>
                </a:cubicBezTo>
                <a:lnTo>
                  <a:pt x="84668" y="931333"/>
                </a:lnTo>
                <a:cubicBezTo>
                  <a:pt x="37907" y="931333"/>
                  <a:pt x="0" y="893426"/>
                  <a:pt x="0" y="846666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6667" y="556683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 权衡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6667" y="5905500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CAP 定理中，选择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牺牲部分一致性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来换取更高的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可用性和分区容错性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7333" y="6455833"/>
            <a:ext cx="7133167" cy="931333"/>
          </a:xfrm>
          <a:custGeom>
            <a:avLst/>
            <a:gdLst/>
            <a:ahLst/>
            <a:cxnLst/>
            <a:rect l="l" t="t" r="r" b="b"/>
            <a:pathLst>
              <a:path w="7133167" h="931333">
                <a:moveTo>
                  <a:pt x="84668" y="0"/>
                </a:moveTo>
                <a:lnTo>
                  <a:pt x="7048499" y="0"/>
                </a:lnTo>
                <a:cubicBezTo>
                  <a:pt x="7095260" y="0"/>
                  <a:pt x="7133167" y="37907"/>
                  <a:pt x="7133167" y="84668"/>
                </a:cubicBezTo>
                <a:lnTo>
                  <a:pt x="7133167" y="846666"/>
                </a:lnTo>
                <a:cubicBezTo>
                  <a:pt x="7133167" y="893426"/>
                  <a:pt x="7095260" y="931333"/>
                  <a:pt x="7048499" y="931333"/>
                </a:cubicBezTo>
                <a:lnTo>
                  <a:pt x="84668" y="931333"/>
                </a:lnTo>
                <a:cubicBezTo>
                  <a:pt x="37907" y="931333"/>
                  <a:pt x="0" y="893426"/>
                  <a:pt x="0" y="846666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46667" y="6625167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设计理念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6667" y="696383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不追求瞬时强一致，而是在</a:t>
            </a:r>
            <a:r>
              <a:rPr lang="en-US" sz="1333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可接受时间窗口内收敛</a:t>
            </a: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到一致视图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55000" y="4275667"/>
            <a:ext cx="7577667" cy="3725333"/>
          </a:xfrm>
          <a:custGeom>
            <a:avLst/>
            <a:gdLst/>
            <a:ahLst/>
            <a:cxnLst/>
            <a:rect l="l" t="t" r="r" b="b"/>
            <a:pathLst>
              <a:path w="7577667" h="33401000">
                <a:moveTo>
                  <a:pt x="42333" y="0"/>
                </a:moveTo>
                <a:lnTo>
                  <a:pt x="7493024" y="0"/>
                </a:lnTo>
                <a:cubicBezTo>
                  <a:pt x="7539771" y="0"/>
                  <a:pt x="7577667" y="37896"/>
                  <a:pt x="7577667" y="84643"/>
                </a:cubicBezTo>
                <a:lnTo>
                  <a:pt x="7577667" y="33316357"/>
                </a:lnTo>
                <a:cubicBezTo>
                  <a:pt x="7577667" y="33363104"/>
                  <a:pt x="7539771" y="33401000"/>
                  <a:pt x="7493024" y="33401000"/>
                </a:cubicBezTo>
                <a:lnTo>
                  <a:pt x="42333" y="33401000"/>
                </a:lnTo>
                <a:cubicBezTo>
                  <a:pt x="18953" y="33401000"/>
                  <a:pt x="0" y="33382047"/>
                  <a:pt x="0" y="3335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55000" y="4275667"/>
            <a:ext cx="42333" cy="3726000"/>
          </a:xfrm>
          <a:custGeom>
            <a:avLst/>
            <a:gdLst/>
            <a:ahLst/>
            <a:cxnLst/>
            <a:rect l="l" t="t" r="r" b="b"/>
            <a:pathLst>
              <a:path w="42333" h="33401000">
                <a:moveTo>
                  <a:pt x="42333" y="0"/>
                </a:moveTo>
                <a:lnTo>
                  <a:pt x="42333" y="0"/>
                </a:lnTo>
                <a:lnTo>
                  <a:pt x="42333" y="33401000"/>
                </a:lnTo>
                <a:lnTo>
                  <a:pt x="42333" y="33401000"/>
                </a:lnTo>
                <a:cubicBezTo>
                  <a:pt x="18953" y="33401000"/>
                  <a:pt x="0" y="33382047"/>
                  <a:pt x="0" y="3335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19583" y="4508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932333" y="4487333"/>
            <a:ext cx="783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87833" y="4953000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683625" y="51540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022292" y="5122333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大规模集群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57167" y="5418667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节点规模较大、拓扑动态变化频繁的集群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87833" y="5969000"/>
            <a:ext cx="7133167" cy="1778000"/>
          </a:xfrm>
          <a:custGeom>
            <a:avLst/>
            <a:gdLst/>
            <a:ahLst/>
            <a:cxnLst/>
            <a:rect l="l" t="t" r="r" b="b"/>
            <a:pathLst>
              <a:path w="7133167" h="1778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1693332"/>
                </a:lnTo>
                <a:cubicBezTo>
                  <a:pt x="7133167" y="1740093"/>
                  <a:pt x="7095259" y="1778000"/>
                  <a:pt x="7048498" y="1778000"/>
                </a:cubicBezTo>
                <a:lnTo>
                  <a:pt x="84668" y="1778000"/>
                </a:lnTo>
                <a:cubicBezTo>
                  <a:pt x="37907" y="1778000"/>
                  <a:pt x="0" y="1740093"/>
                  <a:pt x="0" y="169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683625" y="61700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022292" y="6138333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高可用要求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57167" y="6434667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对写入可用性和在线扩展要求较高的系统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657167" y="6688667"/>
            <a:ext cx="6794500" cy="889000"/>
          </a:xfrm>
          <a:custGeom>
            <a:avLst/>
            <a:gdLst/>
            <a:ahLst/>
            <a:cxnLst/>
            <a:rect l="l" t="t" r="r" b="b"/>
            <a:pathLst>
              <a:path w="6794500" h="889000">
                <a:moveTo>
                  <a:pt x="84668" y="0"/>
                </a:moveTo>
                <a:lnTo>
                  <a:pt x="6709832" y="0"/>
                </a:lnTo>
                <a:cubicBezTo>
                  <a:pt x="6756593" y="0"/>
                  <a:pt x="6794500" y="37907"/>
                  <a:pt x="6794500" y="84668"/>
                </a:cubicBezTo>
                <a:lnTo>
                  <a:pt x="6794500" y="804332"/>
                </a:lnTo>
                <a:cubicBezTo>
                  <a:pt x="6794500" y="851093"/>
                  <a:pt x="6756593" y="889000"/>
                  <a:pt x="670983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852958" y="6889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191625" y="6858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最终一致性容忍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826500" y="7154333"/>
            <a:ext cx="654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接受在短时间窗口内存在视图不一致的业务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101600" h="406400">
                <a:moveTo>
                  <a:pt x="0" y="0"/>
                </a:moveTo>
                <a:lnTo>
                  <a:pt x="101600" y="0"/>
                </a:lnTo>
                <a:lnTo>
                  <a:pt x="101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6083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从理论到实践：经典系统的落地经验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371600"/>
            <a:ext cx="15214600" cy="3149600"/>
          </a:xfrm>
          <a:custGeom>
            <a:avLst/>
            <a:gdLst/>
            <a:ahLst/>
            <a:cxnLst/>
            <a:rect l="l" t="t" r="r" b="b"/>
            <a:pathLst>
              <a:path w="15214600" h="3149600">
                <a:moveTo>
                  <a:pt x="50800" y="0"/>
                </a:moveTo>
                <a:lnTo>
                  <a:pt x="15112994" y="0"/>
                </a:lnTo>
                <a:cubicBezTo>
                  <a:pt x="15169109" y="0"/>
                  <a:pt x="15214600" y="45491"/>
                  <a:pt x="15214600" y="101606"/>
                </a:cubicBezTo>
                <a:lnTo>
                  <a:pt x="15214600" y="3047994"/>
                </a:lnTo>
                <a:cubicBezTo>
                  <a:pt x="15214600" y="3104109"/>
                  <a:pt x="15169109" y="3149600"/>
                  <a:pt x="15112994" y="3149600"/>
                </a:cubicBezTo>
                <a:lnTo>
                  <a:pt x="50800" y="3149600"/>
                </a:lnTo>
                <a:cubicBezTo>
                  <a:pt x="22744" y="3149600"/>
                  <a:pt x="0" y="3126856"/>
                  <a:pt x="0" y="309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371600"/>
            <a:ext cx="50800" cy="3149600"/>
          </a:xfrm>
          <a:custGeom>
            <a:avLst/>
            <a:gdLst/>
            <a:ahLst/>
            <a:cxnLst/>
            <a:rect l="l" t="t" r="r" b="b"/>
            <a:pathLst>
              <a:path w="50800" h="3149600">
                <a:moveTo>
                  <a:pt x="50800" y="0"/>
                </a:moveTo>
                <a:lnTo>
                  <a:pt x="50800" y="0"/>
                </a:lnTo>
                <a:lnTo>
                  <a:pt x="50800" y="3149600"/>
                </a:lnTo>
                <a:lnTo>
                  <a:pt x="50800" y="3149600"/>
                </a:lnTo>
                <a:cubicBezTo>
                  <a:pt x="22763" y="3149600"/>
                  <a:pt x="0" y="3126837"/>
                  <a:pt x="0" y="309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9950" y="167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8600" y="304800"/>
                </a:moveTo>
                <a:lnTo>
                  <a:pt x="57150" y="304800"/>
                </a:lnTo>
                <a:cubicBezTo>
                  <a:pt x="25598" y="304800"/>
                  <a:pt x="0" y="279202"/>
                  <a:pt x="0" y="247650"/>
                </a:cubicBezTo>
                <a:lnTo>
                  <a:pt x="0" y="57150"/>
                </a:lnTo>
                <a:cubicBezTo>
                  <a:pt x="0" y="25598"/>
                  <a:pt x="25598" y="0"/>
                  <a:pt x="57150" y="0"/>
                </a:cubicBezTo>
                <a:lnTo>
                  <a:pt x="238125" y="0"/>
                </a:lnTo>
                <a:cubicBezTo>
                  <a:pt x="253901" y="0"/>
                  <a:pt x="266700" y="12799"/>
                  <a:pt x="266700" y="28575"/>
                </a:cubicBezTo>
                <a:lnTo>
                  <a:pt x="266700" y="200025"/>
                </a:lnTo>
                <a:cubicBezTo>
                  <a:pt x="266700" y="212467"/>
                  <a:pt x="258723" y="223064"/>
                  <a:pt x="247650" y="226993"/>
                </a:cubicBezTo>
                <a:lnTo>
                  <a:pt x="247650" y="266700"/>
                </a:lnTo>
                <a:cubicBezTo>
                  <a:pt x="258187" y="266700"/>
                  <a:pt x="266700" y="275213"/>
                  <a:pt x="266700" y="285750"/>
                </a:cubicBezTo>
                <a:cubicBezTo>
                  <a:pt x="266700" y="296287"/>
                  <a:pt x="258187" y="304800"/>
                  <a:pt x="247650" y="304800"/>
                </a:cubicBezTo>
                <a:lnTo>
                  <a:pt x="228600" y="304800"/>
                </a:lnTo>
                <a:close/>
                <a:moveTo>
                  <a:pt x="57150" y="228600"/>
                </a:moveTo>
                <a:cubicBezTo>
                  <a:pt x="46613" y="228600"/>
                  <a:pt x="38100" y="237113"/>
                  <a:pt x="38100" y="247650"/>
                </a:cubicBezTo>
                <a:cubicBezTo>
                  <a:pt x="38100" y="258187"/>
                  <a:pt x="46613" y="266700"/>
                  <a:pt x="57150" y="266700"/>
                </a:cubicBezTo>
                <a:lnTo>
                  <a:pt x="209550" y="266700"/>
                </a:lnTo>
                <a:lnTo>
                  <a:pt x="209550" y="228600"/>
                </a:lnTo>
                <a:lnTo>
                  <a:pt x="57150" y="228600"/>
                </a:lnTo>
                <a:close/>
                <a:moveTo>
                  <a:pt x="76200" y="90488"/>
                </a:moveTo>
                <a:cubicBezTo>
                  <a:pt x="76200" y="98405"/>
                  <a:pt x="82570" y="104775"/>
                  <a:pt x="90488" y="104775"/>
                </a:cubicBezTo>
                <a:lnTo>
                  <a:pt x="195263" y="104775"/>
                </a:lnTo>
                <a:cubicBezTo>
                  <a:pt x="203180" y="104775"/>
                  <a:pt x="209550" y="98405"/>
                  <a:pt x="209550" y="90488"/>
                </a:cubicBezTo>
                <a:cubicBezTo>
                  <a:pt x="209550" y="82570"/>
                  <a:pt x="203180" y="76200"/>
                  <a:pt x="195263" y="76200"/>
                </a:cubicBezTo>
                <a:lnTo>
                  <a:pt x="90488" y="76200"/>
                </a:lnTo>
                <a:cubicBezTo>
                  <a:pt x="82570" y="76200"/>
                  <a:pt x="76200" y="82570"/>
                  <a:pt x="76200" y="90488"/>
                </a:cubicBezTo>
                <a:close/>
                <a:moveTo>
                  <a:pt x="90488" y="133350"/>
                </a:moveTo>
                <a:cubicBezTo>
                  <a:pt x="82570" y="133350"/>
                  <a:pt x="76200" y="139720"/>
                  <a:pt x="76200" y="147638"/>
                </a:cubicBezTo>
                <a:cubicBezTo>
                  <a:pt x="76200" y="155555"/>
                  <a:pt x="82570" y="161925"/>
                  <a:pt x="90488" y="161925"/>
                </a:cubicBezTo>
                <a:lnTo>
                  <a:pt x="195263" y="161925"/>
                </a:lnTo>
                <a:cubicBezTo>
                  <a:pt x="203180" y="161925"/>
                  <a:pt x="209550" y="155555"/>
                  <a:pt x="209550" y="147638"/>
                </a:cubicBezTo>
                <a:cubicBezTo>
                  <a:pt x="209550" y="139720"/>
                  <a:pt x="203180" y="133350"/>
                  <a:pt x="195263" y="133350"/>
                </a:cubicBezTo>
                <a:lnTo>
                  <a:pt x="90488" y="13335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6200" y="1625600"/>
            <a:ext cx="259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理论与工程的完美结合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235200"/>
            <a:ext cx="1478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从理论层面看，Gossip 依赖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随机化算法和概率分析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，证明了在合理的参数配置下可以在 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轮内完成信息传播；从工程层面看，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SWIM、Dynamo、Cassandra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等系统则展示了如何将这套思想与</a:t>
            </a: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一致性哈希、向量时钟和反熵机制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结合起来，构建出高可用的大规模分布式系统。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098800"/>
            <a:ext cx="4762500" cy="1168400"/>
          </a:xfrm>
          <a:custGeom>
            <a:avLst/>
            <a:gdLst/>
            <a:ahLst/>
            <a:cxnLst/>
            <a:rect l="l" t="t" r="r" b="b"/>
            <a:pathLst>
              <a:path w="4762500" h="1168400">
                <a:moveTo>
                  <a:pt x="101604" y="0"/>
                </a:moveTo>
                <a:lnTo>
                  <a:pt x="4660896" y="0"/>
                </a:lnTo>
                <a:cubicBezTo>
                  <a:pt x="4717010" y="0"/>
                  <a:pt x="4762500" y="45490"/>
                  <a:pt x="4762500" y="101604"/>
                </a:cubicBezTo>
                <a:lnTo>
                  <a:pt x="4762500" y="1066796"/>
                </a:lnTo>
                <a:cubicBezTo>
                  <a:pt x="4762500" y="1122910"/>
                  <a:pt x="4717010" y="1168400"/>
                  <a:pt x="46608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16000" y="3327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07394" y="120848"/>
                </a:moveTo>
                <a:cubicBezTo>
                  <a:pt x="106978" y="134303"/>
                  <a:pt x="113705" y="140315"/>
                  <a:pt x="113883" y="144066"/>
                </a:cubicBezTo>
                <a:cubicBezTo>
                  <a:pt x="113824" y="144840"/>
                  <a:pt x="113526" y="145554"/>
                  <a:pt x="113109" y="146209"/>
                </a:cubicBezTo>
                <a:cubicBezTo>
                  <a:pt x="112693" y="146864"/>
                  <a:pt x="112097" y="147399"/>
                  <a:pt x="111442" y="147757"/>
                </a:cubicBezTo>
                <a:lnTo>
                  <a:pt x="103822" y="153114"/>
                </a:lnTo>
                <a:cubicBezTo>
                  <a:pt x="102810" y="153829"/>
                  <a:pt x="101679" y="154186"/>
                  <a:pt x="100489" y="154245"/>
                </a:cubicBezTo>
                <a:cubicBezTo>
                  <a:pt x="100251" y="154245"/>
                  <a:pt x="95607" y="155317"/>
                  <a:pt x="88285" y="139005"/>
                </a:cubicBezTo>
                <a:cubicBezTo>
                  <a:pt x="83820" y="144601"/>
                  <a:pt x="78165" y="149066"/>
                  <a:pt x="71676" y="152102"/>
                </a:cubicBezTo>
                <a:cubicBezTo>
                  <a:pt x="65187" y="155138"/>
                  <a:pt x="58162" y="156686"/>
                  <a:pt x="51018" y="156567"/>
                </a:cubicBezTo>
                <a:cubicBezTo>
                  <a:pt x="41315" y="157103"/>
                  <a:pt x="15061" y="151090"/>
                  <a:pt x="16431" y="123111"/>
                </a:cubicBezTo>
                <a:cubicBezTo>
                  <a:pt x="15478" y="100310"/>
                  <a:pt x="36731" y="86142"/>
                  <a:pt x="58638" y="87392"/>
                </a:cubicBezTo>
                <a:cubicBezTo>
                  <a:pt x="62865" y="87392"/>
                  <a:pt x="71497" y="87630"/>
                  <a:pt x="86618" y="91142"/>
                </a:cubicBezTo>
                <a:lnTo>
                  <a:pt x="86618" y="81855"/>
                </a:lnTo>
                <a:cubicBezTo>
                  <a:pt x="88225" y="66080"/>
                  <a:pt x="77867" y="53876"/>
                  <a:pt x="59948" y="55721"/>
                </a:cubicBezTo>
                <a:cubicBezTo>
                  <a:pt x="58519" y="55721"/>
                  <a:pt x="48399" y="55424"/>
                  <a:pt x="32683" y="61734"/>
                </a:cubicBezTo>
                <a:cubicBezTo>
                  <a:pt x="28277" y="63758"/>
                  <a:pt x="27742" y="63401"/>
                  <a:pt x="26253" y="63401"/>
                </a:cubicBezTo>
                <a:cubicBezTo>
                  <a:pt x="21848" y="63401"/>
                  <a:pt x="23634" y="50602"/>
                  <a:pt x="24527" y="48994"/>
                </a:cubicBezTo>
                <a:cubicBezTo>
                  <a:pt x="27622" y="45184"/>
                  <a:pt x="45899" y="38040"/>
                  <a:pt x="63758" y="38160"/>
                </a:cubicBezTo>
                <a:cubicBezTo>
                  <a:pt x="75724" y="37088"/>
                  <a:pt x="87630" y="40779"/>
                  <a:pt x="96917" y="48458"/>
                </a:cubicBezTo>
                <a:cubicBezTo>
                  <a:pt x="100667" y="52685"/>
                  <a:pt x="103584" y="57626"/>
                  <a:pt x="105370" y="62984"/>
                </a:cubicBezTo>
                <a:cubicBezTo>
                  <a:pt x="107156" y="68342"/>
                  <a:pt x="107871" y="73997"/>
                  <a:pt x="107454" y="79653"/>
                </a:cubicBezTo>
                <a:lnTo>
                  <a:pt x="107454" y="120908"/>
                </a:lnTo>
                <a:close/>
                <a:moveTo>
                  <a:pt x="55959" y="140137"/>
                </a:moveTo>
                <a:cubicBezTo>
                  <a:pt x="75248" y="139839"/>
                  <a:pt x="83463" y="128230"/>
                  <a:pt x="85308" y="121980"/>
                </a:cubicBezTo>
                <a:cubicBezTo>
                  <a:pt x="86797" y="115967"/>
                  <a:pt x="86558" y="112216"/>
                  <a:pt x="86558" y="105668"/>
                </a:cubicBezTo>
                <a:cubicBezTo>
                  <a:pt x="80784" y="104299"/>
                  <a:pt x="72509" y="102751"/>
                  <a:pt x="62984" y="102751"/>
                </a:cubicBezTo>
                <a:cubicBezTo>
                  <a:pt x="53935" y="102096"/>
                  <a:pt x="37505" y="106085"/>
                  <a:pt x="38160" y="121980"/>
                </a:cubicBezTo>
                <a:cubicBezTo>
                  <a:pt x="37445" y="131981"/>
                  <a:pt x="44768" y="140672"/>
                  <a:pt x="56019" y="140137"/>
                </a:cubicBezTo>
                <a:close/>
                <a:moveTo>
                  <a:pt x="157698" y="153888"/>
                </a:moveTo>
                <a:cubicBezTo>
                  <a:pt x="152995" y="154305"/>
                  <a:pt x="150852" y="150971"/>
                  <a:pt x="150138" y="147697"/>
                </a:cubicBezTo>
                <a:lnTo>
                  <a:pt x="120491" y="49649"/>
                </a:lnTo>
                <a:cubicBezTo>
                  <a:pt x="119896" y="47982"/>
                  <a:pt x="119539" y="46315"/>
                  <a:pt x="119360" y="44529"/>
                </a:cubicBezTo>
                <a:cubicBezTo>
                  <a:pt x="119241" y="43815"/>
                  <a:pt x="119420" y="43101"/>
                  <a:pt x="119836" y="42505"/>
                </a:cubicBezTo>
                <a:cubicBezTo>
                  <a:pt x="120253" y="41910"/>
                  <a:pt x="120908" y="41553"/>
                  <a:pt x="121622" y="41434"/>
                </a:cubicBezTo>
                <a:cubicBezTo>
                  <a:pt x="121741" y="41434"/>
                  <a:pt x="120372" y="41434"/>
                  <a:pt x="134838" y="41434"/>
                </a:cubicBezTo>
                <a:cubicBezTo>
                  <a:pt x="140077" y="40898"/>
                  <a:pt x="141744" y="45006"/>
                  <a:pt x="142339" y="47625"/>
                </a:cubicBezTo>
                <a:lnTo>
                  <a:pt x="163651" y="131445"/>
                </a:lnTo>
                <a:lnTo>
                  <a:pt x="183416" y="47625"/>
                </a:lnTo>
                <a:cubicBezTo>
                  <a:pt x="183713" y="45720"/>
                  <a:pt x="185142" y="41017"/>
                  <a:pt x="191036" y="41553"/>
                </a:cubicBezTo>
                <a:lnTo>
                  <a:pt x="201275" y="41553"/>
                </a:lnTo>
                <a:cubicBezTo>
                  <a:pt x="202585" y="41434"/>
                  <a:pt x="207883" y="41255"/>
                  <a:pt x="208836" y="47744"/>
                </a:cubicBezTo>
                <a:lnTo>
                  <a:pt x="228660" y="132576"/>
                </a:lnTo>
                <a:lnTo>
                  <a:pt x="250627" y="47685"/>
                </a:lnTo>
                <a:cubicBezTo>
                  <a:pt x="250924" y="46375"/>
                  <a:pt x="252234" y="40898"/>
                  <a:pt x="258187" y="41493"/>
                </a:cubicBezTo>
                <a:lnTo>
                  <a:pt x="269915" y="41493"/>
                </a:lnTo>
                <a:cubicBezTo>
                  <a:pt x="270450" y="41434"/>
                  <a:pt x="273606" y="41017"/>
                  <a:pt x="273070" y="46613"/>
                </a:cubicBezTo>
                <a:cubicBezTo>
                  <a:pt x="272832" y="47685"/>
                  <a:pt x="275094" y="40243"/>
                  <a:pt x="241637" y="147757"/>
                </a:cubicBezTo>
                <a:cubicBezTo>
                  <a:pt x="240983" y="151031"/>
                  <a:pt x="238780" y="154365"/>
                  <a:pt x="234077" y="153948"/>
                </a:cubicBezTo>
                <a:lnTo>
                  <a:pt x="222945" y="153948"/>
                </a:lnTo>
                <a:cubicBezTo>
                  <a:pt x="216456" y="154662"/>
                  <a:pt x="215503" y="148173"/>
                  <a:pt x="215384" y="147578"/>
                </a:cubicBezTo>
                <a:lnTo>
                  <a:pt x="195620" y="65961"/>
                </a:lnTo>
                <a:lnTo>
                  <a:pt x="176093" y="147518"/>
                </a:lnTo>
                <a:cubicBezTo>
                  <a:pt x="175974" y="148173"/>
                  <a:pt x="175081" y="154603"/>
                  <a:pt x="168533" y="153888"/>
                </a:cubicBezTo>
                <a:lnTo>
                  <a:pt x="157639" y="153888"/>
                </a:lnTo>
                <a:lnTo>
                  <a:pt x="157639" y="153888"/>
                </a:lnTo>
                <a:close/>
                <a:moveTo>
                  <a:pt x="320516" y="157222"/>
                </a:moveTo>
                <a:cubicBezTo>
                  <a:pt x="317004" y="157222"/>
                  <a:pt x="300335" y="157043"/>
                  <a:pt x="286345" y="149900"/>
                </a:cubicBezTo>
                <a:cubicBezTo>
                  <a:pt x="284976" y="149304"/>
                  <a:pt x="283785" y="148352"/>
                  <a:pt x="282952" y="147042"/>
                </a:cubicBezTo>
                <a:cubicBezTo>
                  <a:pt x="282119" y="145733"/>
                  <a:pt x="281702" y="144304"/>
                  <a:pt x="281702" y="142815"/>
                </a:cubicBezTo>
                <a:lnTo>
                  <a:pt x="281702" y="136446"/>
                </a:lnTo>
                <a:cubicBezTo>
                  <a:pt x="281702" y="131385"/>
                  <a:pt x="285393" y="132338"/>
                  <a:pt x="286941" y="132933"/>
                </a:cubicBezTo>
                <a:cubicBezTo>
                  <a:pt x="292894" y="135374"/>
                  <a:pt x="296763" y="137160"/>
                  <a:pt x="304086" y="138648"/>
                </a:cubicBezTo>
                <a:cubicBezTo>
                  <a:pt x="325934" y="143113"/>
                  <a:pt x="335518" y="137279"/>
                  <a:pt x="337840" y="135969"/>
                </a:cubicBezTo>
                <a:cubicBezTo>
                  <a:pt x="345698" y="131326"/>
                  <a:pt x="346293" y="120670"/>
                  <a:pt x="340995" y="115193"/>
                </a:cubicBezTo>
                <a:cubicBezTo>
                  <a:pt x="334744" y="109954"/>
                  <a:pt x="331768" y="109776"/>
                  <a:pt x="309384" y="102691"/>
                </a:cubicBezTo>
                <a:cubicBezTo>
                  <a:pt x="306645" y="101918"/>
                  <a:pt x="283369" y="94595"/>
                  <a:pt x="283309" y="71497"/>
                </a:cubicBezTo>
                <a:cubicBezTo>
                  <a:pt x="282952" y="54709"/>
                  <a:pt x="298192" y="38040"/>
                  <a:pt x="324683" y="38160"/>
                </a:cubicBezTo>
                <a:cubicBezTo>
                  <a:pt x="332244" y="38160"/>
                  <a:pt x="352306" y="40600"/>
                  <a:pt x="357783" y="47446"/>
                </a:cubicBezTo>
                <a:cubicBezTo>
                  <a:pt x="358616" y="48697"/>
                  <a:pt x="358973" y="50185"/>
                  <a:pt x="358914" y="51614"/>
                </a:cubicBezTo>
                <a:lnTo>
                  <a:pt x="358914" y="57626"/>
                </a:lnTo>
                <a:cubicBezTo>
                  <a:pt x="358914" y="60246"/>
                  <a:pt x="357961" y="61615"/>
                  <a:pt x="355997" y="61615"/>
                </a:cubicBezTo>
                <a:cubicBezTo>
                  <a:pt x="351413" y="61079"/>
                  <a:pt x="343257" y="54947"/>
                  <a:pt x="326707" y="55185"/>
                </a:cubicBezTo>
                <a:cubicBezTo>
                  <a:pt x="322600" y="54947"/>
                  <a:pt x="302955" y="55721"/>
                  <a:pt x="303847" y="70068"/>
                </a:cubicBezTo>
                <a:cubicBezTo>
                  <a:pt x="303609" y="81379"/>
                  <a:pt x="319683" y="85606"/>
                  <a:pt x="321528" y="86082"/>
                </a:cubicBezTo>
                <a:cubicBezTo>
                  <a:pt x="343257" y="92631"/>
                  <a:pt x="350460" y="93702"/>
                  <a:pt x="359092" y="103703"/>
                </a:cubicBezTo>
                <a:cubicBezTo>
                  <a:pt x="369272" y="116919"/>
                  <a:pt x="363795" y="132457"/>
                  <a:pt x="361652" y="136684"/>
                </a:cubicBezTo>
                <a:cubicBezTo>
                  <a:pt x="350282" y="159008"/>
                  <a:pt x="320933" y="157163"/>
                  <a:pt x="320397" y="157163"/>
                </a:cubicBezTo>
                <a:close/>
                <a:moveTo>
                  <a:pt x="344448" y="219670"/>
                </a:moveTo>
                <a:cubicBezTo>
                  <a:pt x="302776" y="250448"/>
                  <a:pt x="242233" y="266819"/>
                  <a:pt x="190560" y="266819"/>
                </a:cubicBezTo>
                <a:cubicBezTo>
                  <a:pt x="120848" y="267295"/>
                  <a:pt x="53459" y="241637"/>
                  <a:pt x="1667" y="194965"/>
                </a:cubicBezTo>
                <a:cubicBezTo>
                  <a:pt x="-2203" y="191453"/>
                  <a:pt x="1191" y="186630"/>
                  <a:pt x="5953" y="189309"/>
                </a:cubicBezTo>
                <a:cubicBezTo>
                  <a:pt x="63401" y="222171"/>
                  <a:pt x="128409" y="239435"/>
                  <a:pt x="194608" y="239375"/>
                </a:cubicBezTo>
                <a:cubicBezTo>
                  <a:pt x="244019" y="239137"/>
                  <a:pt x="292894" y="229076"/>
                  <a:pt x="338435" y="209907"/>
                </a:cubicBezTo>
                <a:cubicBezTo>
                  <a:pt x="345460" y="206931"/>
                  <a:pt x="351413" y="214551"/>
                  <a:pt x="344448" y="219670"/>
                </a:cubicBezTo>
                <a:close/>
                <a:moveTo>
                  <a:pt x="361831" y="199846"/>
                </a:moveTo>
                <a:cubicBezTo>
                  <a:pt x="356473" y="193000"/>
                  <a:pt x="326529" y="196632"/>
                  <a:pt x="313134" y="198239"/>
                </a:cubicBezTo>
                <a:cubicBezTo>
                  <a:pt x="309086" y="198715"/>
                  <a:pt x="308431" y="195203"/>
                  <a:pt x="312063" y="192584"/>
                </a:cubicBezTo>
                <a:cubicBezTo>
                  <a:pt x="335935" y="175796"/>
                  <a:pt x="375106" y="180618"/>
                  <a:pt x="379571" y="186273"/>
                </a:cubicBezTo>
                <a:cubicBezTo>
                  <a:pt x="384036" y="191929"/>
                  <a:pt x="378321" y="231160"/>
                  <a:pt x="355997" y="249912"/>
                </a:cubicBezTo>
                <a:cubicBezTo>
                  <a:pt x="352544" y="252829"/>
                  <a:pt x="349270" y="251281"/>
                  <a:pt x="350818" y="247471"/>
                </a:cubicBezTo>
                <a:cubicBezTo>
                  <a:pt x="355818" y="234791"/>
                  <a:pt x="367129" y="206692"/>
                  <a:pt x="361771" y="19984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549400" y="3302000"/>
            <a:ext cx="124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SWIM 协议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7592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可扩展的成员管理，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间接探测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降低误判率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4234" y="3098800"/>
            <a:ext cx="4762500" cy="1168400"/>
          </a:xfrm>
          <a:custGeom>
            <a:avLst/>
            <a:gdLst/>
            <a:ahLst/>
            <a:cxnLst/>
            <a:rect l="l" t="t" r="r" b="b"/>
            <a:pathLst>
              <a:path w="4762500" h="1168400">
                <a:moveTo>
                  <a:pt x="101604" y="0"/>
                </a:moveTo>
                <a:lnTo>
                  <a:pt x="4660896" y="0"/>
                </a:lnTo>
                <a:cubicBezTo>
                  <a:pt x="4717010" y="0"/>
                  <a:pt x="4762500" y="45490"/>
                  <a:pt x="4762500" y="101604"/>
                </a:cubicBezTo>
                <a:lnTo>
                  <a:pt x="4762500" y="1066796"/>
                </a:lnTo>
                <a:cubicBezTo>
                  <a:pt x="4762500" y="1122910"/>
                  <a:pt x="4717010" y="1168400"/>
                  <a:pt x="46608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034584" y="3327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10834" y="3302000"/>
            <a:ext cx="99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77434" y="37592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 + Gossip + 向量时钟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35667" y="3098800"/>
            <a:ext cx="4762500" cy="1168400"/>
          </a:xfrm>
          <a:custGeom>
            <a:avLst/>
            <a:gdLst/>
            <a:ahLst/>
            <a:cxnLst/>
            <a:rect l="l" t="t" r="r" b="b"/>
            <a:pathLst>
              <a:path w="4762500" h="1168400">
                <a:moveTo>
                  <a:pt x="101604" y="0"/>
                </a:moveTo>
                <a:lnTo>
                  <a:pt x="4660896" y="0"/>
                </a:lnTo>
                <a:cubicBezTo>
                  <a:pt x="4717010" y="0"/>
                  <a:pt x="4762500" y="45490"/>
                  <a:pt x="4762500" y="101604"/>
                </a:cubicBezTo>
                <a:lnTo>
                  <a:pt x="4762500" y="1066796"/>
                </a:lnTo>
                <a:cubicBezTo>
                  <a:pt x="4762500" y="1122910"/>
                  <a:pt x="4717010" y="1168400"/>
                  <a:pt x="46608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976967" y="332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72267" y="3302000"/>
            <a:ext cx="120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Cassandra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38867" y="37592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最终一致性，反熵修复，可调一致性级别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4724400"/>
            <a:ext cx="4889500" cy="3911600"/>
          </a:xfrm>
          <a:custGeom>
            <a:avLst/>
            <a:gdLst/>
            <a:ahLst/>
            <a:cxnLst/>
            <a:rect l="l" t="t" r="r" b="b"/>
            <a:pathLst>
              <a:path w="4889500" h="3911600">
                <a:moveTo>
                  <a:pt x="50800" y="0"/>
                </a:moveTo>
                <a:lnTo>
                  <a:pt x="4787916" y="0"/>
                </a:lnTo>
                <a:cubicBezTo>
                  <a:pt x="4844019" y="0"/>
                  <a:pt x="4889500" y="45481"/>
                  <a:pt x="4889500" y="101584"/>
                </a:cubicBezTo>
                <a:lnTo>
                  <a:pt x="4889500" y="3810016"/>
                </a:lnTo>
                <a:cubicBezTo>
                  <a:pt x="4889500" y="3866119"/>
                  <a:pt x="4844019" y="3911600"/>
                  <a:pt x="4787916" y="3911600"/>
                </a:cubicBezTo>
                <a:lnTo>
                  <a:pt x="50800" y="3911600"/>
                </a:lnTo>
                <a:cubicBezTo>
                  <a:pt x="22744" y="3911600"/>
                  <a:pt x="0" y="3888856"/>
                  <a:pt x="0" y="386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33400" y="4724400"/>
            <a:ext cx="50800" cy="3911600"/>
          </a:xfrm>
          <a:custGeom>
            <a:avLst/>
            <a:gdLst/>
            <a:ahLst/>
            <a:cxnLst/>
            <a:rect l="l" t="t" r="r" b="b"/>
            <a:pathLst>
              <a:path w="50800" h="3911600">
                <a:moveTo>
                  <a:pt x="50800" y="0"/>
                </a:moveTo>
                <a:lnTo>
                  <a:pt x="50800" y="0"/>
                </a:lnTo>
                <a:lnTo>
                  <a:pt x="50800" y="3911600"/>
                </a:lnTo>
                <a:lnTo>
                  <a:pt x="50800" y="3911600"/>
                </a:lnTo>
                <a:cubicBezTo>
                  <a:pt x="22763" y="3911600"/>
                  <a:pt x="0" y="3888837"/>
                  <a:pt x="0" y="386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12800" y="4978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55650" y="4978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73200" y="50546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成员管理场景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56896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 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SWIM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等协议减少误判，兼顾探测速度和带宽成本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800" y="6807200"/>
            <a:ext cx="4356100" cy="1574800"/>
          </a:xfrm>
          <a:custGeom>
            <a:avLst/>
            <a:gdLst/>
            <a:ahLst/>
            <a:cxnLst/>
            <a:rect l="l" t="t" r="r" b="b"/>
            <a:pathLst>
              <a:path w="4356100" h="1574800">
                <a:moveTo>
                  <a:pt x="50803" y="0"/>
                </a:moveTo>
                <a:lnTo>
                  <a:pt x="4305297" y="0"/>
                </a:lnTo>
                <a:cubicBezTo>
                  <a:pt x="4333355" y="0"/>
                  <a:pt x="4356100" y="22745"/>
                  <a:pt x="4356100" y="50803"/>
                </a:cubicBezTo>
                <a:lnTo>
                  <a:pt x="4356100" y="1523997"/>
                </a:lnTo>
                <a:cubicBezTo>
                  <a:pt x="4356100" y="1552055"/>
                  <a:pt x="4333355" y="1574800"/>
                  <a:pt x="4305297" y="1574800"/>
                </a:cubicBezTo>
                <a:lnTo>
                  <a:pt x="50803" y="1574800"/>
                </a:lnTo>
                <a:cubicBezTo>
                  <a:pt x="22745" y="1574800"/>
                  <a:pt x="0" y="1552055"/>
                  <a:pt x="0" y="15239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65200" y="6959600"/>
            <a:ext cx="415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5200" y="73660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44600" y="73660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多级状态机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5200" y="76708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44600" y="76708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间接探测机制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5200" y="79756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44600" y="79756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参数动态调整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98034" y="4724400"/>
            <a:ext cx="4889500" cy="3911600"/>
          </a:xfrm>
          <a:custGeom>
            <a:avLst/>
            <a:gdLst/>
            <a:ahLst/>
            <a:cxnLst/>
            <a:rect l="l" t="t" r="r" b="b"/>
            <a:pathLst>
              <a:path w="4889500" h="3911600">
                <a:moveTo>
                  <a:pt x="50800" y="0"/>
                </a:moveTo>
                <a:lnTo>
                  <a:pt x="4787916" y="0"/>
                </a:lnTo>
                <a:cubicBezTo>
                  <a:pt x="4844019" y="0"/>
                  <a:pt x="4889500" y="45481"/>
                  <a:pt x="4889500" y="101584"/>
                </a:cubicBezTo>
                <a:lnTo>
                  <a:pt x="4889500" y="3810016"/>
                </a:lnTo>
                <a:cubicBezTo>
                  <a:pt x="4889500" y="3866119"/>
                  <a:pt x="4844019" y="3911600"/>
                  <a:pt x="4787916" y="3911600"/>
                </a:cubicBezTo>
                <a:lnTo>
                  <a:pt x="50800" y="3911600"/>
                </a:lnTo>
                <a:cubicBezTo>
                  <a:pt x="22744" y="3911600"/>
                  <a:pt x="0" y="3888856"/>
                  <a:pt x="0" y="386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698034" y="4724400"/>
            <a:ext cx="50800" cy="3911600"/>
          </a:xfrm>
          <a:custGeom>
            <a:avLst/>
            <a:gdLst/>
            <a:ahLst/>
            <a:cxnLst/>
            <a:rect l="l" t="t" r="r" b="b"/>
            <a:pathLst>
              <a:path w="50800" h="3911600">
                <a:moveTo>
                  <a:pt x="50800" y="0"/>
                </a:moveTo>
                <a:lnTo>
                  <a:pt x="50800" y="0"/>
                </a:lnTo>
                <a:lnTo>
                  <a:pt x="50800" y="3911600"/>
                </a:lnTo>
                <a:lnTo>
                  <a:pt x="50800" y="3911600"/>
                </a:lnTo>
                <a:cubicBezTo>
                  <a:pt x="22763" y="3911600"/>
                  <a:pt x="0" y="3888837"/>
                  <a:pt x="0" y="386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977434" y="4978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920284" y="4978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37834" y="50546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副本一致性场景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77434" y="56896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 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Merkle Tree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向量时钟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等数据结构，精细控制同步粒度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77434" y="6807200"/>
            <a:ext cx="4356100" cy="1574800"/>
          </a:xfrm>
          <a:custGeom>
            <a:avLst/>
            <a:gdLst/>
            <a:ahLst/>
            <a:cxnLst/>
            <a:rect l="l" t="t" r="r" b="b"/>
            <a:pathLst>
              <a:path w="4356100" h="1574800">
                <a:moveTo>
                  <a:pt x="50803" y="0"/>
                </a:moveTo>
                <a:lnTo>
                  <a:pt x="4305297" y="0"/>
                </a:lnTo>
                <a:cubicBezTo>
                  <a:pt x="4333355" y="0"/>
                  <a:pt x="4356100" y="22745"/>
                  <a:pt x="4356100" y="50803"/>
                </a:cubicBezTo>
                <a:lnTo>
                  <a:pt x="4356100" y="1523997"/>
                </a:lnTo>
                <a:cubicBezTo>
                  <a:pt x="4356100" y="1552055"/>
                  <a:pt x="4333355" y="1574800"/>
                  <a:pt x="4305297" y="1574800"/>
                </a:cubicBezTo>
                <a:lnTo>
                  <a:pt x="50803" y="1574800"/>
                </a:lnTo>
                <a:cubicBezTo>
                  <a:pt x="22745" y="1574800"/>
                  <a:pt x="0" y="1552055"/>
                  <a:pt x="0" y="15239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129834" y="6959600"/>
            <a:ext cx="415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29834" y="73660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9234" y="73660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增量同步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29834" y="76708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9234" y="76708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冲突解决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29834" y="79756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9234" y="7975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带宽优化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862667" y="4724400"/>
            <a:ext cx="4889500" cy="3911600"/>
          </a:xfrm>
          <a:custGeom>
            <a:avLst/>
            <a:gdLst/>
            <a:ahLst/>
            <a:cxnLst/>
            <a:rect l="l" t="t" r="r" b="b"/>
            <a:pathLst>
              <a:path w="4889500" h="3911600">
                <a:moveTo>
                  <a:pt x="50800" y="0"/>
                </a:moveTo>
                <a:lnTo>
                  <a:pt x="4787916" y="0"/>
                </a:lnTo>
                <a:cubicBezTo>
                  <a:pt x="4844019" y="0"/>
                  <a:pt x="4889500" y="45481"/>
                  <a:pt x="4889500" y="101584"/>
                </a:cubicBezTo>
                <a:lnTo>
                  <a:pt x="4889500" y="3810016"/>
                </a:lnTo>
                <a:cubicBezTo>
                  <a:pt x="4889500" y="3866119"/>
                  <a:pt x="4844019" y="3911600"/>
                  <a:pt x="4787916" y="3911600"/>
                </a:cubicBezTo>
                <a:lnTo>
                  <a:pt x="50800" y="3911600"/>
                </a:lnTo>
                <a:cubicBezTo>
                  <a:pt x="22744" y="3911600"/>
                  <a:pt x="0" y="3888856"/>
                  <a:pt x="0" y="386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0862667" y="4724400"/>
            <a:ext cx="50800" cy="3911600"/>
          </a:xfrm>
          <a:custGeom>
            <a:avLst/>
            <a:gdLst/>
            <a:ahLst/>
            <a:cxnLst/>
            <a:rect l="l" t="t" r="r" b="b"/>
            <a:pathLst>
              <a:path w="50800" h="3911600">
                <a:moveTo>
                  <a:pt x="50800" y="0"/>
                </a:moveTo>
                <a:lnTo>
                  <a:pt x="50800" y="0"/>
                </a:lnTo>
                <a:lnTo>
                  <a:pt x="50800" y="3911600"/>
                </a:lnTo>
                <a:lnTo>
                  <a:pt x="50800" y="3911600"/>
                </a:lnTo>
                <a:cubicBezTo>
                  <a:pt x="22763" y="3911600"/>
                  <a:pt x="0" y="3888837"/>
                  <a:pt x="0" y="386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1142067" y="4978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084917" y="4978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802467" y="50546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跨地域部署场景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42067" y="56896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 Gossip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</a:t>
            </a:r>
            <a:r>
              <a:rPr lang="en-US" sz="1600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区域化 Gossip</a:t>
            </a: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策略，缓解跨 Region 网络带宽和时延压力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42067" y="6807200"/>
            <a:ext cx="4356100" cy="1574800"/>
          </a:xfrm>
          <a:custGeom>
            <a:avLst/>
            <a:gdLst/>
            <a:ahLst/>
            <a:cxnLst/>
            <a:rect l="l" t="t" r="r" b="b"/>
            <a:pathLst>
              <a:path w="4356100" h="1574800">
                <a:moveTo>
                  <a:pt x="50803" y="0"/>
                </a:moveTo>
                <a:lnTo>
                  <a:pt x="4305297" y="0"/>
                </a:lnTo>
                <a:cubicBezTo>
                  <a:pt x="4333355" y="0"/>
                  <a:pt x="4356100" y="22745"/>
                  <a:pt x="4356100" y="50803"/>
                </a:cubicBezTo>
                <a:lnTo>
                  <a:pt x="4356100" y="1523997"/>
                </a:lnTo>
                <a:cubicBezTo>
                  <a:pt x="4356100" y="1552055"/>
                  <a:pt x="4333355" y="1574800"/>
                  <a:pt x="4305297" y="1574800"/>
                </a:cubicBezTo>
                <a:lnTo>
                  <a:pt x="50803" y="1574800"/>
                </a:lnTo>
                <a:cubicBezTo>
                  <a:pt x="22745" y="1574800"/>
                  <a:pt x="0" y="1552055"/>
                  <a:pt x="0" y="15239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294467" y="6959600"/>
            <a:ext cx="415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关键要点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94467" y="73660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573867" y="73660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拓扑感知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294467" y="76708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573867" y="76708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带宽控制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94467" y="79756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573867" y="7975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超级节点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227" y="469950"/>
            <a:ext cx="85445" cy="341782"/>
          </a:xfrm>
          <a:custGeom>
            <a:avLst/>
            <a:gdLst/>
            <a:ahLst/>
            <a:cxnLst/>
            <a:rect l="l" t="t" r="r" b="b"/>
            <a:pathLst>
              <a:path w="85445" h="341782">
                <a:moveTo>
                  <a:pt x="0" y="0"/>
                </a:moveTo>
                <a:lnTo>
                  <a:pt x="85445" y="0"/>
                </a:lnTo>
                <a:lnTo>
                  <a:pt x="85445" y="341782"/>
                </a:lnTo>
                <a:lnTo>
                  <a:pt x="0" y="341782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841" y="427227"/>
            <a:ext cx="4806307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28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学习成果检验：从概念到系统设计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589" y="1153514"/>
            <a:ext cx="15380184" cy="1217598"/>
          </a:xfrm>
          <a:custGeom>
            <a:avLst/>
            <a:gdLst/>
            <a:ahLst/>
            <a:cxnLst/>
            <a:rect l="l" t="t" r="r" b="b"/>
            <a:pathLst>
              <a:path w="15380184" h="1217598">
                <a:moveTo>
                  <a:pt x="42723" y="0"/>
                </a:moveTo>
                <a:lnTo>
                  <a:pt x="15294733" y="0"/>
                </a:lnTo>
                <a:cubicBezTo>
                  <a:pt x="15341926" y="0"/>
                  <a:pt x="15380184" y="38258"/>
                  <a:pt x="15380184" y="85451"/>
                </a:cubicBezTo>
                <a:lnTo>
                  <a:pt x="15380184" y="1132147"/>
                </a:lnTo>
                <a:cubicBezTo>
                  <a:pt x="15380184" y="1179340"/>
                  <a:pt x="15341926" y="1217598"/>
                  <a:pt x="15294733" y="1217598"/>
                </a:cubicBezTo>
                <a:lnTo>
                  <a:pt x="42723" y="1217598"/>
                </a:lnTo>
                <a:cubicBezTo>
                  <a:pt x="19143" y="1217598"/>
                  <a:pt x="0" y="1198454"/>
                  <a:pt x="0" y="1174875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8589" y="1153514"/>
            <a:ext cx="42723" cy="1217598"/>
          </a:xfrm>
          <a:custGeom>
            <a:avLst/>
            <a:gdLst/>
            <a:ahLst/>
            <a:cxnLst/>
            <a:rect l="l" t="t" r="r" b="b"/>
            <a:pathLst>
              <a:path w="42723" h="1217598">
                <a:moveTo>
                  <a:pt x="42723" y="0"/>
                </a:moveTo>
                <a:lnTo>
                  <a:pt x="42723" y="0"/>
                </a:lnTo>
                <a:lnTo>
                  <a:pt x="42723" y="1217598"/>
                </a:lnTo>
                <a:lnTo>
                  <a:pt x="42723" y="1217598"/>
                </a:lnTo>
                <a:cubicBezTo>
                  <a:pt x="19128" y="1217598"/>
                  <a:pt x="0" y="1198470"/>
                  <a:pt x="0" y="1174875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99585" y="1409850"/>
            <a:ext cx="288378" cy="256336"/>
          </a:xfrm>
          <a:custGeom>
            <a:avLst/>
            <a:gdLst/>
            <a:ahLst/>
            <a:cxnLst/>
            <a:rect l="l" t="t" r="r" b="b"/>
            <a:pathLst>
              <a:path w="288378" h="256336">
                <a:moveTo>
                  <a:pt x="24032" y="98029"/>
                </a:moveTo>
                <a:lnTo>
                  <a:pt x="128769" y="141135"/>
                </a:lnTo>
                <a:cubicBezTo>
                  <a:pt x="133675" y="143138"/>
                  <a:pt x="138882" y="144189"/>
                  <a:pt x="144189" y="144189"/>
                </a:cubicBezTo>
                <a:cubicBezTo>
                  <a:pt x="149496" y="144189"/>
                  <a:pt x="154703" y="143138"/>
                  <a:pt x="159609" y="141135"/>
                </a:cubicBezTo>
                <a:lnTo>
                  <a:pt x="280969" y="91170"/>
                </a:lnTo>
                <a:cubicBezTo>
                  <a:pt x="285475" y="89317"/>
                  <a:pt x="288378" y="84961"/>
                  <a:pt x="288378" y="80105"/>
                </a:cubicBezTo>
                <a:cubicBezTo>
                  <a:pt x="288378" y="75249"/>
                  <a:pt x="285475" y="70893"/>
                  <a:pt x="280969" y="69041"/>
                </a:cubicBezTo>
                <a:lnTo>
                  <a:pt x="159609" y="19075"/>
                </a:lnTo>
                <a:cubicBezTo>
                  <a:pt x="154703" y="17072"/>
                  <a:pt x="149496" y="16021"/>
                  <a:pt x="144189" y="16021"/>
                </a:cubicBezTo>
                <a:cubicBezTo>
                  <a:pt x="138882" y="16021"/>
                  <a:pt x="133675" y="17072"/>
                  <a:pt x="128769" y="19075"/>
                </a:cubicBezTo>
                <a:lnTo>
                  <a:pt x="7410" y="69041"/>
                </a:lnTo>
                <a:cubicBezTo>
                  <a:pt x="2904" y="70893"/>
                  <a:pt x="0" y="75249"/>
                  <a:pt x="0" y="80105"/>
                </a:cubicBezTo>
                <a:lnTo>
                  <a:pt x="0" y="228300"/>
                </a:lnTo>
                <a:cubicBezTo>
                  <a:pt x="0" y="234958"/>
                  <a:pt x="5357" y="240315"/>
                  <a:pt x="12016" y="240315"/>
                </a:cubicBezTo>
                <a:cubicBezTo>
                  <a:pt x="18675" y="240315"/>
                  <a:pt x="24032" y="234958"/>
                  <a:pt x="24032" y="228300"/>
                </a:cubicBezTo>
                <a:lnTo>
                  <a:pt x="24032" y="98029"/>
                </a:lnTo>
                <a:close/>
                <a:moveTo>
                  <a:pt x="48063" y="133926"/>
                </a:moveTo>
                <a:lnTo>
                  <a:pt x="48063" y="192252"/>
                </a:lnTo>
                <a:cubicBezTo>
                  <a:pt x="48063" y="218787"/>
                  <a:pt x="91120" y="240315"/>
                  <a:pt x="144189" y="240315"/>
                </a:cubicBezTo>
                <a:cubicBezTo>
                  <a:pt x="197259" y="240315"/>
                  <a:pt x="240315" y="218787"/>
                  <a:pt x="240315" y="192252"/>
                </a:cubicBezTo>
                <a:lnTo>
                  <a:pt x="240315" y="133876"/>
                </a:lnTo>
                <a:lnTo>
                  <a:pt x="168771" y="163364"/>
                </a:lnTo>
                <a:cubicBezTo>
                  <a:pt x="160961" y="166569"/>
                  <a:pt x="152650" y="168221"/>
                  <a:pt x="144189" y="168221"/>
                </a:cubicBezTo>
                <a:cubicBezTo>
                  <a:pt x="135728" y="168221"/>
                  <a:pt x="127417" y="166569"/>
                  <a:pt x="119607" y="163364"/>
                </a:cubicBezTo>
                <a:lnTo>
                  <a:pt x="48063" y="133876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32152" y="1367127"/>
            <a:ext cx="1356447" cy="3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18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学习目标达成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3564" y="1879800"/>
            <a:ext cx="15017041" cy="277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通过本章学习，读者应达到以下能力目标，实现从"能听懂概念"到"能看懂论文、敢设计系统"的跨越：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589" y="2542004"/>
            <a:ext cx="7593966" cy="2289754"/>
          </a:xfrm>
          <a:custGeom>
            <a:avLst/>
            <a:gdLst/>
            <a:ahLst/>
            <a:cxnLst/>
            <a:rect l="l" t="t" r="r" b="b"/>
            <a:pathLst>
              <a:path w="7593966" h="2947869">
                <a:moveTo>
                  <a:pt x="42723" y="0"/>
                </a:moveTo>
                <a:lnTo>
                  <a:pt x="7508507" y="0"/>
                </a:lnTo>
                <a:cubicBezTo>
                  <a:pt x="7555705" y="0"/>
                  <a:pt x="7593966" y="38261"/>
                  <a:pt x="7593966" y="85459"/>
                </a:cubicBezTo>
                <a:lnTo>
                  <a:pt x="7593966" y="2862410"/>
                </a:lnTo>
                <a:cubicBezTo>
                  <a:pt x="7593966" y="2909607"/>
                  <a:pt x="7555705" y="2947869"/>
                  <a:pt x="7508507" y="2947869"/>
                </a:cubicBezTo>
                <a:lnTo>
                  <a:pt x="42723" y="2947869"/>
                </a:lnTo>
                <a:cubicBezTo>
                  <a:pt x="19143" y="2947869"/>
                  <a:pt x="0" y="2928725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48589" y="2542003"/>
            <a:ext cx="42723" cy="2268000"/>
          </a:xfrm>
          <a:custGeom>
            <a:avLst/>
            <a:gdLst/>
            <a:ahLst/>
            <a:cxnLst/>
            <a:rect l="l" t="t" r="r" b="b"/>
            <a:pathLst>
              <a:path w="42723" h="2947869">
                <a:moveTo>
                  <a:pt x="42723" y="0"/>
                </a:moveTo>
                <a:lnTo>
                  <a:pt x="42723" y="0"/>
                </a:lnTo>
                <a:lnTo>
                  <a:pt x="42723" y="2947869"/>
                </a:lnTo>
                <a:lnTo>
                  <a:pt x="42723" y="2947869"/>
                </a:lnTo>
                <a:cubicBezTo>
                  <a:pt x="19128" y="2947869"/>
                  <a:pt x="0" y="2928741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83564" y="2755616"/>
            <a:ext cx="427227" cy="427227"/>
          </a:xfrm>
          <a:custGeom>
            <a:avLst/>
            <a:gdLst/>
            <a:ahLst/>
            <a:cxnLst/>
            <a:rect l="l" t="t" r="r" b="b"/>
            <a:pathLst>
              <a:path w="427227" h="427227">
                <a:moveTo>
                  <a:pt x="213614" y="0"/>
                </a:moveTo>
                <a:lnTo>
                  <a:pt x="213614" y="0"/>
                </a:lnTo>
                <a:cubicBezTo>
                  <a:pt x="331510" y="0"/>
                  <a:pt x="427227" y="95717"/>
                  <a:pt x="427227" y="213614"/>
                </a:cubicBezTo>
                <a:lnTo>
                  <a:pt x="427227" y="213614"/>
                </a:lnTo>
                <a:cubicBezTo>
                  <a:pt x="427227" y="331510"/>
                  <a:pt x="331510" y="427227"/>
                  <a:pt x="213614" y="427227"/>
                </a:cubicBezTo>
                <a:lnTo>
                  <a:pt x="213614" y="427227"/>
                </a:lnTo>
                <a:cubicBezTo>
                  <a:pt x="95717" y="427227"/>
                  <a:pt x="0" y="331510"/>
                  <a:pt x="0" y="213614"/>
                </a:cubicBezTo>
                <a:lnTo>
                  <a:pt x="0" y="213614"/>
                </a:lnTo>
                <a:cubicBezTo>
                  <a:pt x="0" y="95717"/>
                  <a:pt x="95717" y="0"/>
                  <a:pt x="21361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0160" y="2755616"/>
            <a:ext cx="534034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82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8959" y="2819700"/>
            <a:ext cx="1132152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理解核心痛点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3564" y="3311012"/>
            <a:ext cx="7230823" cy="277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能够说明 Gossip 协议相对于传统中心化或强一致方案所解决的</a:t>
            </a:r>
            <a:r>
              <a:rPr lang="en-US" sz="1346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核心瓶颈</a:t>
            </a: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4271" y="3759601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55921" y="3716878"/>
            <a:ext cx="230702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中心节点扩展瓶颈与单点故障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4271" y="4101382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55921" y="4058660"/>
            <a:ext cx="2136137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强一致协议的通信开销问题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4271" y="4443164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55921" y="4400442"/>
            <a:ext cx="1965246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网络分区下的可用性降低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33555" y="2542003"/>
            <a:ext cx="7593966" cy="2289671"/>
          </a:xfrm>
          <a:custGeom>
            <a:avLst/>
            <a:gdLst/>
            <a:ahLst/>
            <a:cxnLst/>
            <a:rect l="l" t="t" r="r" b="b"/>
            <a:pathLst>
              <a:path w="7593966" h="2947869">
                <a:moveTo>
                  <a:pt x="42723" y="0"/>
                </a:moveTo>
                <a:lnTo>
                  <a:pt x="7508507" y="0"/>
                </a:lnTo>
                <a:cubicBezTo>
                  <a:pt x="7555705" y="0"/>
                  <a:pt x="7593966" y="38261"/>
                  <a:pt x="7593966" y="85459"/>
                </a:cubicBezTo>
                <a:lnTo>
                  <a:pt x="7593966" y="2862410"/>
                </a:lnTo>
                <a:cubicBezTo>
                  <a:pt x="7593966" y="2909607"/>
                  <a:pt x="7555705" y="2947869"/>
                  <a:pt x="7508507" y="2947869"/>
                </a:cubicBezTo>
                <a:lnTo>
                  <a:pt x="42723" y="2947869"/>
                </a:lnTo>
                <a:cubicBezTo>
                  <a:pt x="19143" y="2947869"/>
                  <a:pt x="0" y="2928725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33555" y="2542003"/>
            <a:ext cx="42723" cy="2268000"/>
          </a:xfrm>
          <a:custGeom>
            <a:avLst/>
            <a:gdLst/>
            <a:ahLst/>
            <a:cxnLst/>
            <a:rect l="l" t="t" r="r" b="b"/>
            <a:pathLst>
              <a:path w="42723" h="2947869">
                <a:moveTo>
                  <a:pt x="42723" y="0"/>
                </a:moveTo>
                <a:lnTo>
                  <a:pt x="42723" y="0"/>
                </a:lnTo>
                <a:lnTo>
                  <a:pt x="42723" y="2947869"/>
                </a:lnTo>
                <a:lnTo>
                  <a:pt x="42723" y="2947869"/>
                </a:lnTo>
                <a:cubicBezTo>
                  <a:pt x="19128" y="2947869"/>
                  <a:pt x="0" y="2928741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468530" y="2755616"/>
            <a:ext cx="427227" cy="427227"/>
          </a:xfrm>
          <a:custGeom>
            <a:avLst/>
            <a:gdLst/>
            <a:ahLst/>
            <a:cxnLst/>
            <a:rect l="l" t="t" r="r" b="b"/>
            <a:pathLst>
              <a:path w="427227" h="427227">
                <a:moveTo>
                  <a:pt x="213614" y="0"/>
                </a:moveTo>
                <a:lnTo>
                  <a:pt x="213614" y="0"/>
                </a:lnTo>
                <a:cubicBezTo>
                  <a:pt x="331510" y="0"/>
                  <a:pt x="427227" y="95717"/>
                  <a:pt x="427227" y="213614"/>
                </a:cubicBezTo>
                <a:lnTo>
                  <a:pt x="427227" y="213614"/>
                </a:lnTo>
                <a:cubicBezTo>
                  <a:pt x="427227" y="331510"/>
                  <a:pt x="331510" y="427227"/>
                  <a:pt x="213614" y="427227"/>
                </a:cubicBezTo>
                <a:lnTo>
                  <a:pt x="213614" y="427227"/>
                </a:lnTo>
                <a:cubicBezTo>
                  <a:pt x="95717" y="427227"/>
                  <a:pt x="0" y="331510"/>
                  <a:pt x="0" y="213614"/>
                </a:cubicBezTo>
                <a:lnTo>
                  <a:pt x="0" y="213614"/>
                </a:lnTo>
                <a:cubicBezTo>
                  <a:pt x="0" y="95717"/>
                  <a:pt x="95717" y="0"/>
                  <a:pt x="213614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415127" y="2755616"/>
            <a:ext cx="534034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8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23926" y="2819700"/>
            <a:ext cx="1132152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掌握系统模型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68530" y="3311012"/>
            <a:ext cx="7230823" cy="277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能够用系统模型语言描述 Gossip 的</a:t>
            </a:r>
            <a:r>
              <a:rPr lang="en-US" sz="1346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基本假设、故障模型和一致性保证</a:t>
            </a: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99237" y="3759601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740888" y="3716878"/>
            <a:ext cx="2477919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节点模型、通信模型、故障模型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99237" y="4101382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40888" y="4058660"/>
            <a:ext cx="1794355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最终一致性的数学证明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99237" y="4443164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40888" y="4400442"/>
            <a:ext cx="1965246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收敛性分析与复杂度计算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8589" y="4926917"/>
            <a:ext cx="7593966" cy="2289755"/>
          </a:xfrm>
          <a:custGeom>
            <a:avLst/>
            <a:gdLst/>
            <a:ahLst/>
            <a:cxnLst/>
            <a:rect l="l" t="t" r="r" b="b"/>
            <a:pathLst>
              <a:path w="7593966" h="2947869">
                <a:moveTo>
                  <a:pt x="42723" y="0"/>
                </a:moveTo>
                <a:lnTo>
                  <a:pt x="7508507" y="0"/>
                </a:lnTo>
                <a:cubicBezTo>
                  <a:pt x="7555705" y="0"/>
                  <a:pt x="7593966" y="38261"/>
                  <a:pt x="7593966" y="85459"/>
                </a:cubicBezTo>
                <a:lnTo>
                  <a:pt x="7593966" y="2862410"/>
                </a:lnTo>
                <a:cubicBezTo>
                  <a:pt x="7593966" y="2909607"/>
                  <a:pt x="7555705" y="2947869"/>
                  <a:pt x="7508507" y="2947869"/>
                </a:cubicBezTo>
                <a:lnTo>
                  <a:pt x="42723" y="2947869"/>
                </a:lnTo>
                <a:cubicBezTo>
                  <a:pt x="19143" y="2947869"/>
                  <a:pt x="0" y="2928725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48589" y="4926917"/>
            <a:ext cx="42723" cy="2268000"/>
          </a:xfrm>
          <a:custGeom>
            <a:avLst/>
            <a:gdLst/>
            <a:ahLst/>
            <a:cxnLst/>
            <a:rect l="l" t="t" r="r" b="b"/>
            <a:pathLst>
              <a:path w="42723" h="2947869">
                <a:moveTo>
                  <a:pt x="42723" y="0"/>
                </a:moveTo>
                <a:lnTo>
                  <a:pt x="42723" y="0"/>
                </a:lnTo>
                <a:lnTo>
                  <a:pt x="42723" y="2947869"/>
                </a:lnTo>
                <a:lnTo>
                  <a:pt x="42723" y="2947869"/>
                </a:lnTo>
                <a:cubicBezTo>
                  <a:pt x="19128" y="2947869"/>
                  <a:pt x="0" y="2928741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83564" y="5140531"/>
            <a:ext cx="427227" cy="427227"/>
          </a:xfrm>
          <a:custGeom>
            <a:avLst/>
            <a:gdLst/>
            <a:ahLst/>
            <a:cxnLst/>
            <a:rect l="l" t="t" r="r" b="b"/>
            <a:pathLst>
              <a:path w="427227" h="427227">
                <a:moveTo>
                  <a:pt x="213614" y="0"/>
                </a:moveTo>
                <a:lnTo>
                  <a:pt x="213614" y="0"/>
                </a:lnTo>
                <a:cubicBezTo>
                  <a:pt x="331510" y="0"/>
                  <a:pt x="427227" y="95717"/>
                  <a:pt x="427227" y="213614"/>
                </a:cubicBezTo>
                <a:lnTo>
                  <a:pt x="427227" y="213614"/>
                </a:lnTo>
                <a:cubicBezTo>
                  <a:pt x="427227" y="331510"/>
                  <a:pt x="331510" y="427227"/>
                  <a:pt x="213614" y="427227"/>
                </a:cubicBezTo>
                <a:lnTo>
                  <a:pt x="213614" y="427227"/>
                </a:lnTo>
                <a:cubicBezTo>
                  <a:pt x="95717" y="427227"/>
                  <a:pt x="0" y="331510"/>
                  <a:pt x="0" y="213614"/>
                </a:cubicBezTo>
                <a:lnTo>
                  <a:pt x="0" y="213614"/>
                </a:lnTo>
                <a:cubicBezTo>
                  <a:pt x="0" y="95717"/>
                  <a:pt x="95717" y="0"/>
                  <a:pt x="21361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0160" y="5140531"/>
            <a:ext cx="534034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82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38959" y="5204615"/>
            <a:ext cx="1132152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分析经典系统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3564" y="5695926"/>
            <a:ext cx="7230823" cy="277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能够结合 SWIM、Dynamo 等经典系统，画出并讲清其 Gossip </a:t>
            </a:r>
            <a:r>
              <a:rPr lang="en-US" sz="1346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流程与设计取舍</a:t>
            </a: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4271" y="6144515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55921" y="6101792"/>
            <a:ext cx="2296347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SWIM 的故障检测与传播机制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14271" y="6486297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55921" y="6443574"/>
            <a:ext cx="2328389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Dynamo 的一致性哈希与反熵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4271" y="6828078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55921" y="6785356"/>
            <a:ext cx="2146817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Cassandra 的副本维护策略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33555" y="4926917"/>
            <a:ext cx="7593966" cy="2289755"/>
          </a:xfrm>
          <a:custGeom>
            <a:avLst/>
            <a:gdLst/>
            <a:ahLst/>
            <a:cxnLst/>
            <a:rect l="l" t="t" r="r" b="b"/>
            <a:pathLst>
              <a:path w="7593966" h="2947869">
                <a:moveTo>
                  <a:pt x="42723" y="0"/>
                </a:moveTo>
                <a:lnTo>
                  <a:pt x="7508507" y="0"/>
                </a:lnTo>
                <a:cubicBezTo>
                  <a:pt x="7555705" y="0"/>
                  <a:pt x="7593966" y="38261"/>
                  <a:pt x="7593966" y="85459"/>
                </a:cubicBezTo>
                <a:lnTo>
                  <a:pt x="7593966" y="2862410"/>
                </a:lnTo>
                <a:cubicBezTo>
                  <a:pt x="7593966" y="2909607"/>
                  <a:pt x="7555705" y="2947869"/>
                  <a:pt x="7508507" y="2947869"/>
                </a:cubicBezTo>
                <a:lnTo>
                  <a:pt x="42723" y="2947869"/>
                </a:lnTo>
                <a:cubicBezTo>
                  <a:pt x="19143" y="2947869"/>
                  <a:pt x="0" y="2928725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233555" y="4926917"/>
            <a:ext cx="42723" cy="2268000"/>
          </a:xfrm>
          <a:custGeom>
            <a:avLst/>
            <a:gdLst/>
            <a:ahLst/>
            <a:cxnLst/>
            <a:rect l="l" t="t" r="r" b="b"/>
            <a:pathLst>
              <a:path w="42723" h="2947869">
                <a:moveTo>
                  <a:pt x="42723" y="0"/>
                </a:moveTo>
                <a:lnTo>
                  <a:pt x="42723" y="0"/>
                </a:lnTo>
                <a:lnTo>
                  <a:pt x="42723" y="2947869"/>
                </a:lnTo>
                <a:lnTo>
                  <a:pt x="42723" y="2947869"/>
                </a:lnTo>
                <a:cubicBezTo>
                  <a:pt x="19128" y="2947869"/>
                  <a:pt x="0" y="2928741"/>
                  <a:pt x="0" y="2905146"/>
                </a:cubicBezTo>
                <a:lnTo>
                  <a:pt x="0" y="42723"/>
                </a:lnTo>
                <a:cubicBezTo>
                  <a:pt x="0" y="19143"/>
                  <a:pt x="19143" y="0"/>
                  <a:pt x="4272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468530" y="5140531"/>
            <a:ext cx="427227" cy="427227"/>
          </a:xfrm>
          <a:custGeom>
            <a:avLst/>
            <a:gdLst/>
            <a:ahLst/>
            <a:cxnLst/>
            <a:rect l="l" t="t" r="r" b="b"/>
            <a:pathLst>
              <a:path w="427227" h="427227">
                <a:moveTo>
                  <a:pt x="213614" y="0"/>
                </a:moveTo>
                <a:lnTo>
                  <a:pt x="213614" y="0"/>
                </a:lnTo>
                <a:cubicBezTo>
                  <a:pt x="331510" y="0"/>
                  <a:pt x="427227" y="95717"/>
                  <a:pt x="427227" y="213614"/>
                </a:cubicBezTo>
                <a:lnTo>
                  <a:pt x="427227" y="213614"/>
                </a:lnTo>
                <a:cubicBezTo>
                  <a:pt x="427227" y="331510"/>
                  <a:pt x="331510" y="427227"/>
                  <a:pt x="213614" y="427227"/>
                </a:cubicBezTo>
                <a:lnTo>
                  <a:pt x="213614" y="427227"/>
                </a:lnTo>
                <a:cubicBezTo>
                  <a:pt x="95717" y="427227"/>
                  <a:pt x="0" y="331510"/>
                  <a:pt x="0" y="213614"/>
                </a:cubicBezTo>
                <a:lnTo>
                  <a:pt x="0" y="213614"/>
                </a:lnTo>
                <a:cubicBezTo>
                  <a:pt x="0" y="95717"/>
                  <a:pt x="95717" y="0"/>
                  <a:pt x="213614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415127" y="5140531"/>
            <a:ext cx="534034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8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23926" y="5204615"/>
            <a:ext cx="1303043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系统设计与调优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68530" y="5695926"/>
            <a:ext cx="7230823" cy="277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能够根据具体业务负载和基础设施条件，给出合理的 Gossip </a:t>
            </a:r>
            <a:r>
              <a:rPr lang="en-US" sz="1346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参数配置与调优思路</a:t>
            </a: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99237" y="6144515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740888" y="6101792"/>
            <a:ext cx="2574045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高频小批量 vs 低频批量模式选择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99237" y="6486297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740888" y="6443574"/>
            <a:ext cx="1965246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跨机房部署的差异化配置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99237" y="6828078"/>
            <a:ext cx="130838" cy="149530"/>
          </a:xfrm>
          <a:custGeom>
            <a:avLst/>
            <a:gdLst/>
            <a:ahLst/>
            <a:cxnLst/>
            <a:rect l="l" t="t" r="r" b="b"/>
            <a:pathLst>
              <a:path w="130838" h="149530">
                <a:moveTo>
                  <a:pt x="126983" y="20473"/>
                </a:moveTo>
                <a:cubicBezTo>
                  <a:pt x="131160" y="23510"/>
                  <a:pt x="132094" y="29351"/>
                  <a:pt x="129057" y="33527"/>
                </a:cubicBezTo>
                <a:lnTo>
                  <a:pt x="54292" y="136329"/>
                </a:lnTo>
                <a:cubicBezTo>
                  <a:pt x="52686" y="138548"/>
                  <a:pt x="50203" y="139921"/>
                  <a:pt x="47458" y="140155"/>
                </a:cubicBezTo>
                <a:cubicBezTo>
                  <a:pt x="44713" y="140388"/>
                  <a:pt x="42055" y="139366"/>
                  <a:pt x="40128" y="137439"/>
                </a:cubicBezTo>
                <a:lnTo>
                  <a:pt x="2745" y="100056"/>
                </a:lnTo>
                <a:cubicBezTo>
                  <a:pt x="-905" y="96406"/>
                  <a:pt x="-905" y="90477"/>
                  <a:pt x="2745" y="86826"/>
                </a:cubicBezTo>
                <a:cubicBezTo>
                  <a:pt x="6396" y="83176"/>
                  <a:pt x="12325" y="83176"/>
                  <a:pt x="15975" y="86826"/>
                </a:cubicBezTo>
                <a:lnTo>
                  <a:pt x="45618" y="116470"/>
                </a:lnTo>
                <a:lnTo>
                  <a:pt x="113958" y="22517"/>
                </a:lnTo>
                <a:cubicBezTo>
                  <a:pt x="116995" y="18341"/>
                  <a:pt x="122836" y="17406"/>
                  <a:pt x="127013" y="2044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740888" y="6785356"/>
            <a:ext cx="2136137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常见工程问题的识别与解决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69950" y="7430286"/>
            <a:ext cx="15401545" cy="1324405"/>
          </a:xfrm>
          <a:custGeom>
            <a:avLst/>
            <a:gdLst/>
            <a:ahLst/>
            <a:cxnLst/>
            <a:rect l="l" t="t" r="r" b="b"/>
            <a:pathLst>
              <a:path w="15401545" h="1324405">
                <a:moveTo>
                  <a:pt x="85451" y="0"/>
                </a:moveTo>
                <a:lnTo>
                  <a:pt x="15316095" y="0"/>
                </a:lnTo>
                <a:cubicBezTo>
                  <a:pt x="15363288" y="0"/>
                  <a:pt x="15401545" y="38258"/>
                  <a:pt x="15401545" y="85451"/>
                </a:cubicBezTo>
                <a:lnTo>
                  <a:pt x="15401545" y="1238954"/>
                </a:lnTo>
                <a:cubicBezTo>
                  <a:pt x="15401545" y="1286147"/>
                  <a:pt x="15363288" y="1324405"/>
                  <a:pt x="15316095" y="1324405"/>
                </a:cubicBezTo>
                <a:lnTo>
                  <a:pt x="85451" y="1324405"/>
                </a:lnTo>
                <a:cubicBezTo>
                  <a:pt x="38258" y="1324405"/>
                  <a:pt x="0" y="1286147"/>
                  <a:pt x="0" y="1238954"/>
                </a:cubicBezTo>
                <a:lnTo>
                  <a:pt x="0" y="85451"/>
                </a:lnTo>
                <a:cubicBezTo>
                  <a:pt x="0" y="38289"/>
                  <a:pt x="38289" y="0"/>
                  <a:pt x="85451" y="0"/>
                </a:cubicBezTo>
                <a:close/>
              </a:path>
            </a:pathLst>
          </a:custGeom>
          <a:solidFill>
            <a:srgbClr val="6ED3C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704925" y="7643899"/>
            <a:ext cx="192252" cy="256336"/>
          </a:xfrm>
          <a:custGeom>
            <a:avLst/>
            <a:gdLst/>
            <a:ahLst/>
            <a:cxnLst/>
            <a:rect l="l" t="t" r="r" b="b"/>
            <a:pathLst>
              <a:path w="192252" h="256336">
                <a:moveTo>
                  <a:pt x="146642" y="192252"/>
                </a:moveTo>
                <a:cubicBezTo>
                  <a:pt x="150297" y="181088"/>
                  <a:pt x="157607" y="170974"/>
                  <a:pt x="165868" y="162263"/>
                </a:cubicBezTo>
                <a:cubicBezTo>
                  <a:pt x="182239" y="145040"/>
                  <a:pt x="192252" y="121760"/>
                  <a:pt x="192252" y="96126"/>
                </a:cubicBezTo>
                <a:cubicBezTo>
                  <a:pt x="192252" y="43057"/>
                  <a:pt x="149196" y="0"/>
                  <a:pt x="96126" y="0"/>
                </a:cubicBezTo>
                <a:cubicBezTo>
                  <a:pt x="43057" y="0"/>
                  <a:pt x="0" y="43057"/>
                  <a:pt x="0" y="96126"/>
                </a:cubicBezTo>
                <a:cubicBezTo>
                  <a:pt x="0" y="121760"/>
                  <a:pt x="10013" y="145040"/>
                  <a:pt x="26385" y="162263"/>
                </a:cubicBezTo>
                <a:cubicBezTo>
                  <a:pt x="34645" y="170974"/>
                  <a:pt x="42005" y="181088"/>
                  <a:pt x="45610" y="192252"/>
                </a:cubicBezTo>
                <a:lnTo>
                  <a:pt x="146592" y="192252"/>
                </a:lnTo>
                <a:close/>
                <a:moveTo>
                  <a:pt x="144189" y="216284"/>
                </a:moveTo>
                <a:lnTo>
                  <a:pt x="48063" y="216284"/>
                </a:lnTo>
                <a:lnTo>
                  <a:pt x="48063" y="224294"/>
                </a:lnTo>
                <a:cubicBezTo>
                  <a:pt x="48063" y="246423"/>
                  <a:pt x="65987" y="264347"/>
                  <a:pt x="88116" y="264347"/>
                </a:cubicBezTo>
                <a:lnTo>
                  <a:pt x="104137" y="264347"/>
                </a:lnTo>
                <a:cubicBezTo>
                  <a:pt x="126266" y="264347"/>
                  <a:pt x="144189" y="246423"/>
                  <a:pt x="144189" y="224294"/>
                </a:cubicBezTo>
                <a:lnTo>
                  <a:pt x="144189" y="216284"/>
                </a:lnTo>
                <a:close/>
                <a:moveTo>
                  <a:pt x="92121" y="56074"/>
                </a:moveTo>
                <a:cubicBezTo>
                  <a:pt x="72195" y="56074"/>
                  <a:pt x="56074" y="72195"/>
                  <a:pt x="56074" y="92121"/>
                </a:cubicBezTo>
                <a:cubicBezTo>
                  <a:pt x="56074" y="98780"/>
                  <a:pt x="50717" y="104137"/>
                  <a:pt x="44058" y="104137"/>
                </a:cubicBezTo>
                <a:cubicBezTo>
                  <a:pt x="37399" y="104137"/>
                  <a:pt x="32042" y="98780"/>
                  <a:pt x="32042" y="92121"/>
                </a:cubicBezTo>
                <a:cubicBezTo>
                  <a:pt x="32042" y="58927"/>
                  <a:pt x="58927" y="32042"/>
                  <a:pt x="92121" y="32042"/>
                </a:cubicBezTo>
                <a:cubicBezTo>
                  <a:pt x="98780" y="32042"/>
                  <a:pt x="104137" y="37399"/>
                  <a:pt x="104137" y="44058"/>
                </a:cubicBezTo>
                <a:cubicBezTo>
                  <a:pt x="104137" y="50717"/>
                  <a:pt x="98780" y="56074"/>
                  <a:pt x="92121" y="5607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089430" y="7601176"/>
            <a:ext cx="14717982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从理论到实践的价值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89430" y="8028404"/>
            <a:ext cx="14696620" cy="555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通过深入理解 Gossip 协议的理论基础与工程实践，我们可以在设计分布式系统时更加自如地在</a:t>
            </a:r>
            <a:r>
              <a:rPr lang="en-US" sz="1346" b="1" dirty="0">
                <a:solidFill>
                  <a:srgbClr val="6ED3C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一致性、可用性和性能</a:t>
            </a: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之间做出平衡，将"</a:t>
            </a:r>
            <a:r>
              <a:rPr lang="en-US" sz="1346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最终一致、强可用</a:t>
            </a:r>
            <a:r>
              <a:rPr lang="en-US" sz="1346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"的理念切实落入具体架构方案之中。这不仅是对协议的掌握，更是对分布式系统设计哲学深刻理解，是成为优秀分布式系统工程师的必备素养。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a4e9575b84e52b275cb54544bdaa68d45d1b6a0f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683" b="68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962896" y="1892300"/>
            <a:ext cx="833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1E8E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谢谢观看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31115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096246" y="3568700"/>
            <a:ext cx="806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 Gossip 协议，构建高可用分布式系统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49600" y="4838700"/>
            <a:ext cx="3048000" cy="1981200"/>
          </a:xfrm>
          <a:custGeom>
            <a:avLst/>
            <a:gdLst/>
            <a:ahLst/>
            <a:cxnLst/>
            <a:rect l="l" t="t" r="r" b="b"/>
            <a:pathLst>
              <a:path w="3048000" h="1981200">
                <a:moveTo>
                  <a:pt x="101596" y="0"/>
                </a:moveTo>
                <a:lnTo>
                  <a:pt x="2946404" y="0"/>
                </a:lnTo>
                <a:cubicBezTo>
                  <a:pt x="3002514" y="0"/>
                  <a:pt x="3048000" y="45486"/>
                  <a:pt x="3048000" y="101596"/>
                </a:cubicBezTo>
                <a:lnTo>
                  <a:pt x="3048000" y="1879604"/>
                </a:lnTo>
                <a:cubicBezTo>
                  <a:pt x="3048000" y="1935714"/>
                  <a:pt x="3002514" y="1981200"/>
                  <a:pt x="29464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445000" y="514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390900" y="5753100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理论掌握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03600" y="62103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理解核心原理与数学基础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04000" y="4838700"/>
            <a:ext cx="3048000" cy="1981200"/>
          </a:xfrm>
          <a:custGeom>
            <a:avLst/>
            <a:gdLst/>
            <a:ahLst/>
            <a:cxnLst/>
            <a:rect l="l" t="t" r="r" b="b"/>
            <a:pathLst>
              <a:path w="3048000" h="1981200">
                <a:moveTo>
                  <a:pt x="101596" y="0"/>
                </a:moveTo>
                <a:lnTo>
                  <a:pt x="2946404" y="0"/>
                </a:lnTo>
                <a:cubicBezTo>
                  <a:pt x="3002514" y="0"/>
                  <a:pt x="3048000" y="45486"/>
                  <a:pt x="3048000" y="101596"/>
                </a:cubicBezTo>
                <a:lnTo>
                  <a:pt x="3048000" y="1879604"/>
                </a:lnTo>
                <a:cubicBezTo>
                  <a:pt x="3048000" y="1935714"/>
                  <a:pt x="3002514" y="1981200"/>
                  <a:pt x="29464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870825" y="5143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845300" y="5753100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实践能力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0" y="62103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掌握工程应用与调优技巧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058400" y="4838700"/>
            <a:ext cx="3048000" cy="1981200"/>
          </a:xfrm>
          <a:custGeom>
            <a:avLst/>
            <a:gdLst/>
            <a:ahLst/>
            <a:cxnLst/>
            <a:rect l="l" t="t" r="r" b="b"/>
            <a:pathLst>
              <a:path w="3048000" h="1981200">
                <a:moveTo>
                  <a:pt x="101596" y="0"/>
                </a:moveTo>
                <a:lnTo>
                  <a:pt x="2946404" y="0"/>
                </a:lnTo>
                <a:cubicBezTo>
                  <a:pt x="3002514" y="0"/>
                  <a:pt x="3048000" y="45486"/>
                  <a:pt x="3048000" y="101596"/>
                </a:cubicBezTo>
                <a:lnTo>
                  <a:pt x="3048000" y="1879604"/>
                </a:lnTo>
                <a:cubicBezTo>
                  <a:pt x="3048000" y="1935714"/>
                  <a:pt x="3002514" y="1981200"/>
                  <a:pt x="29464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5F87A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1353800" y="514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299700" y="5753100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1E8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系统设计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312400" y="62103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能够设计高可用分布式架构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27588" y="74295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从概念理解到架构设计，从参数调优到问题解决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27588" y="78867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89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Gossip 协议为构建可扩展、高容错的分布式系统提供了坚实基础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2398</Words>
  <Application>Microsoft Macintosh PowerPoint</Application>
  <PresentationFormat>自定义</PresentationFormat>
  <Paragraphs>797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Arial</vt:lpstr>
      <vt:lpstr>MiSans</vt:lpstr>
      <vt:lpstr>微软雅黑</vt:lpstr>
      <vt:lpstr>得意黑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gossip-protocol-intro</dc:title>
  <dc:subject>gossip-protocol-intro</dc:subject>
  <dc:creator>Kimi</dc:creator>
  <cp:lastModifiedBy>王 天青</cp:lastModifiedBy>
  <cp:revision>7</cp:revision>
  <dcterms:created xsi:type="dcterms:W3CDTF">2025-12-19T03:25:02Z</dcterms:created>
  <dcterms:modified xsi:type="dcterms:W3CDTF">2025-12-19T03:44:20Z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{"Label":"gossip-protocol-intro","ContentProducer":"001191110108MACG2KBH8F10000","ProduceID":"19b34928-7202-8c4b-8000-00003f6da588","ReservedCode1":"","ContentPropagator":"001191110108MACG2KBH8F20000","PropagateID":"19b34928-7202-8c4b-8000-00003f6da588","ReservedCode2":""}</vt:lpwstr>
  </property>
</Properties>
</file>