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6256000" cy="9144000"/>
  <p:notesSz cx="9144000" cy="16256000"/>
  <p:embeddedFontLst>
    <p:embeddedFont>
      <p:font typeface="微软雅黑" panose="020B0503020204020204" pitchFamily="34" charset="-122"/>
      <p:regular r:id="rId28"/>
      <p:bold r:id="rId29"/>
    </p:embeddedFont>
    <p:embeddedFont>
      <p:font typeface="MiSans" pitchFamily="2" charset="-122"/>
      <p:regular r:id="rId3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984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5848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mgraph.com/2efa878688fe18e7e942dfb6a3079999157b0f8b.png"/>
          <p:cNvPicPr>
            <a:picLocks noChangeAspect="1"/>
          </p:cNvPicPr>
          <p:nvPr/>
        </p:nvPicPr>
        <p:blipFill>
          <a:blip r:embed="rId3">
            <a:alphaModFix amt="40000"/>
          </a:blip>
          <a:srcRect l="5337" r="5337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333842">
                  <a:alpha val="85000"/>
                </a:srgbClr>
              </a:gs>
              <a:gs pos="100000">
                <a:srgbClr val="32C7B4">
                  <a:alpha val="2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14350" y="1924050"/>
            <a:ext cx="4000500" cy="571500"/>
          </a:xfrm>
          <a:custGeom>
            <a:avLst/>
            <a:gdLst/>
            <a:ahLst/>
            <a:cxnLst/>
            <a:rect l="l" t="t" r="r" b="b"/>
            <a:pathLst>
              <a:path w="4000500" h="571500">
                <a:moveTo>
                  <a:pt x="101601" y="0"/>
                </a:moveTo>
                <a:lnTo>
                  <a:pt x="3898899" y="0"/>
                </a:lnTo>
                <a:cubicBezTo>
                  <a:pt x="3955012" y="0"/>
                  <a:pt x="4000500" y="45488"/>
                  <a:pt x="4000500" y="101601"/>
                </a:cubicBezTo>
                <a:lnTo>
                  <a:pt x="4000500" y="469899"/>
                </a:lnTo>
                <a:cubicBezTo>
                  <a:pt x="4000500" y="526012"/>
                  <a:pt x="3955012" y="571500"/>
                  <a:pt x="3898899" y="571500"/>
                </a:cubicBezTo>
                <a:lnTo>
                  <a:pt x="101601" y="571500"/>
                </a:lnTo>
                <a:cubicBezTo>
                  <a:pt x="45488" y="571500"/>
                  <a:pt x="0" y="526012"/>
                  <a:pt x="0" y="469899"/>
                </a:cubicBezTo>
                <a:lnTo>
                  <a:pt x="0" y="101601"/>
                </a:lnTo>
                <a:cubicBezTo>
                  <a:pt x="0" y="45488"/>
                  <a:pt x="45488" y="0"/>
                  <a:pt x="101601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 w="12700">
            <a:solidFill>
              <a:srgbClr val="32C7B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723900" y="2057400"/>
            <a:ext cx="369103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kern="0" spc="90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STREAM COMPUTING COURSE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3009900"/>
            <a:ext cx="15697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从ETL到流式计算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理论与实践入门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5600700"/>
            <a:ext cx="990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完整构建流式计算知识体系 · 从基础概念到生产实践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66167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685800" y="6794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15342" y="2580"/>
                </a:moveTo>
                <a:cubicBezTo>
                  <a:pt x="122734" y="-843"/>
                  <a:pt x="131266" y="-843"/>
                  <a:pt x="138658" y="2580"/>
                </a:cubicBezTo>
                <a:lnTo>
                  <a:pt x="247104" y="52685"/>
                </a:lnTo>
                <a:cubicBezTo>
                  <a:pt x="251321" y="54620"/>
                  <a:pt x="254000" y="58837"/>
                  <a:pt x="254000" y="63500"/>
                </a:cubicBezTo>
                <a:cubicBezTo>
                  <a:pt x="254000" y="68163"/>
                  <a:pt x="251321" y="72380"/>
                  <a:pt x="247104" y="74315"/>
                </a:cubicBezTo>
                <a:lnTo>
                  <a:pt x="138658" y="124420"/>
                </a:lnTo>
                <a:cubicBezTo>
                  <a:pt x="131266" y="127843"/>
                  <a:pt x="122734" y="127843"/>
                  <a:pt x="115342" y="124420"/>
                </a:cubicBezTo>
                <a:lnTo>
                  <a:pt x="6896" y="74315"/>
                </a:lnTo>
                <a:cubicBezTo>
                  <a:pt x="2679" y="72330"/>
                  <a:pt x="0" y="68114"/>
                  <a:pt x="0" y="63500"/>
                </a:cubicBezTo>
                <a:cubicBezTo>
                  <a:pt x="0" y="58886"/>
                  <a:pt x="2679" y="54620"/>
                  <a:pt x="6896" y="52685"/>
                </a:cubicBezTo>
                <a:lnTo>
                  <a:pt x="115342" y="2580"/>
                </a:lnTo>
                <a:close/>
                <a:moveTo>
                  <a:pt x="23862" y="108347"/>
                </a:moveTo>
                <a:lnTo>
                  <a:pt x="105370" y="146000"/>
                </a:lnTo>
                <a:cubicBezTo>
                  <a:pt x="119112" y="152350"/>
                  <a:pt x="134938" y="152350"/>
                  <a:pt x="148679" y="146000"/>
                </a:cubicBezTo>
                <a:lnTo>
                  <a:pt x="230188" y="108347"/>
                </a:lnTo>
                <a:lnTo>
                  <a:pt x="247104" y="116185"/>
                </a:lnTo>
                <a:cubicBezTo>
                  <a:pt x="251321" y="118120"/>
                  <a:pt x="254000" y="122337"/>
                  <a:pt x="254000" y="127000"/>
                </a:cubicBezTo>
                <a:cubicBezTo>
                  <a:pt x="254000" y="131663"/>
                  <a:pt x="251321" y="135880"/>
                  <a:pt x="247104" y="137815"/>
                </a:cubicBezTo>
                <a:lnTo>
                  <a:pt x="138658" y="187920"/>
                </a:lnTo>
                <a:cubicBezTo>
                  <a:pt x="131266" y="191343"/>
                  <a:pt x="122734" y="191343"/>
                  <a:pt x="115342" y="187920"/>
                </a:cubicBezTo>
                <a:lnTo>
                  <a:pt x="6896" y="137815"/>
                </a:lnTo>
                <a:cubicBezTo>
                  <a:pt x="2679" y="135830"/>
                  <a:pt x="0" y="131614"/>
                  <a:pt x="0" y="127000"/>
                </a:cubicBezTo>
                <a:cubicBezTo>
                  <a:pt x="0" y="122386"/>
                  <a:pt x="2679" y="118120"/>
                  <a:pt x="6896" y="116185"/>
                </a:cubicBezTo>
                <a:lnTo>
                  <a:pt x="23812" y="108347"/>
                </a:lnTo>
                <a:close/>
                <a:moveTo>
                  <a:pt x="6896" y="179685"/>
                </a:moveTo>
                <a:lnTo>
                  <a:pt x="23812" y="171847"/>
                </a:lnTo>
                <a:lnTo>
                  <a:pt x="105321" y="209500"/>
                </a:lnTo>
                <a:cubicBezTo>
                  <a:pt x="119063" y="215850"/>
                  <a:pt x="134888" y="215850"/>
                  <a:pt x="148630" y="209500"/>
                </a:cubicBezTo>
                <a:lnTo>
                  <a:pt x="230138" y="171847"/>
                </a:lnTo>
                <a:lnTo>
                  <a:pt x="247055" y="179685"/>
                </a:lnTo>
                <a:cubicBezTo>
                  <a:pt x="251271" y="181620"/>
                  <a:pt x="253950" y="185837"/>
                  <a:pt x="253950" y="190500"/>
                </a:cubicBezTo>
                <a:cubicBezTo>
                  <a:pt x="253950" y="195163"/>
                  <a:pt x="251271" y="199380"/>
                  <a:pt x="247055" y="201315"/>
                </a:cubicBezTo>
                <a:lnTo>
                  <a:pt x="138609" y="251420"/>
                </a:lnTo>
                <a:cubicBezTo>
                  <a:pt x="131217" y="254843"/>
                  <a:pt x="122684" y="254843"/>
                  <a:pt x="115292" y="251420"/>
                </a:cubicBezTo>
                <a:lnTo>
                  <a:pt x="6896" y="201315"/>
                </a:lnTo>
                <a:cubicBezTo>
                  <a:pt x="2679" y="199330"/>
                  <a:pt x="0" y="195114"/>
                  <a:pt x="0" y="190500"/>
                </a:cubicBezTo>
                <a:cubicBezTo>
                  <a:pt x="0" y="185886"/>
                  <a:pt x="2679" y="181620"/>
                  <a:pt x="6896" y="179685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1270000" y="6616700"/>
            <a:ext cx="914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课程结构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70000" y="6870700"/>
            <a:ext cx="939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3大篇章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496641" y="66167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2658566" y="67945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78991" y="595"/>
                </a:moveTo>
                <a:cubicBezTo>
                  <a:pt x="170557" y="-1836"/>
                  <a:pt x="161776" y="3076"/>
                  <a:pt x="159345" y="11509"/>
                </a:cubicBezTo>
                <a:lnTo>
                  <a:pt x="95845" y="233759"/>
                </a:lnTo>
                <a:cubicBezTo>
                  <a:pt x="93414" y="242193"/>
                  <a:pt x="98326" y="250974"/>
                  <a:pt x="106759" y="253405"/>
                </a:cubicBezTo>
                <a:cubicBezTo>
                  <a:pt x="115193" y="255836"/>
                  <a:pt x="123974" y="250924"/>
                  <a:pt x="126405" y="242491"/>
                </a:cubicBezTo>
                <a:lnTo>
                  <a:pt x="189905" y="20241"/>
                </a:lnTo>
                <a:cubicBezTo>
                  <a:pt x="192336" y="11807"/>
                  <a:pt x="187424" y="3026"/>
                  <a:pt x="178991" y="595"/>
                </a:cubicBezTo>
                <a:close/>
                <a:moveTo>
                  <a:pt x="211038" y="68114"/>
                </a:moveTo>
                <a:cubicBezTo>
                  <a:pt x="204837" y="74315"/>
                  <a:pt x="204837" y="84386"/>
                  <a:pt x="211038" y="90587"/>
                </a:cubicBezTo>
                <a:lnTo>
                  <a:pt x="247452" y="127000"/>
                </a:lnTo>
                <a:lnTo>
                  <a:pt x="211038" y="163413"/>
                </a:lnTo>
                <a:cubicBezTo>
                  <a:pt x="204837" y="169614"/>
                  <a:pt x="204837" y="179685"/>
                  <a:pt x="211038" y="185886"/>
                </a:cubicBezTo>
                <a:cubicBezTo>
                  <a:pt x="217239" y="192087"/>
                  <a:pt x="227310" y="192087"/>
                  <a:pt x="233511" y="185886"/>
                </a:cubicBezTo>
                <a:lnTo>
                  <a:pt x="281136" y="138261"/>
                </a:lnTo>
                <a:cubicBezTo>
                  <a:pt x="287338" y="132060"/>
                  <a:pt x="287338" y="121989"/>
                  <a:pt x="281136" y="115788"/>
                </a:cubicBezTo>
                <a:lnTo>
                  <a:pt x="233511" y="68163"/>
                </a:lnTo>
                <a:cubicBezTo>
                  <a:pt x="227310" y="61962"/>
                  <a:pt x="217239" y="61962"/>
                  <a:pt x="211038" y="68163"/>
                </a:cubicBezTo>
                <a:close/>
                <a:moveTo>
                  <a:pt x="74761" y="68114"/>
                </a:moveTo>
                <a:cubicBezTo>
                  <a:pt x="68560" y="61912"/>
                  <a:pt x="58489" y="61912"/>
                  <a:pt x="52288" y="68114"/>
                </a:cubicBezTo>
                <a:lnTo>
                  <a:pt x="4663" y="115739"/>
                </a:lnTo>
                <a:cubicBezTo>
                  <a:pt x="-1538" y="121940"/>
                  <a:pt x="-1538" y="132011"/>
                  <a:pt x="4663" y="138212"/>
                </a:cubicBezTo>
                <a:lnTo>
                  <a:pt x="52288" y="185837"/>
                </a:lnTo>
                <a:cubicBezTo>
                  <a:pt x="58489" y="192038"/>
                  <a:pt x="68560" y="192038"/>
                  <a:pt x="74761" y="185837"/>
                </a:cubicBezTo>
                <a:cubicBezTo>
                  <a:pt x="80962" y="179636"/>
                  <a:pt x="80962" y="169565"/>
                  <a:pt x="74761" y="163364"/>
                </a:cubicBezTo>
                <a:lnTo>
                  <a:pt x="38348" y="127000"/>
                </a:lnTo>
                <a:lnTo>
                  <a:pt x="74712" y="90587"/>
                </a:lnTo>
                <a:cubicBezTo>
                  <a:pt x="80913" y="84386"/>
                  <a:pt x="80913" y="74315"/>
                  <a:pt x="74712" y="68114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3258641" y="6616700"/>
            <a:ext cx="1054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实战案例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258641" y="6870700"/>
            <a:ext cx="1079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5+个案例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624983" y="66167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4802783" y="6794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9531" y="27781"/>
                </a:moveTo>
                <a:cubicBezTo>
                  <a:pt x="59531" y="12452"/>
                  <a:pt x="71983" y="0"/>
                  <a:pt x="87313" y="0"/>
                </a:cubicBezTo>
                <a:lnTo>
                  <a:pt x="99219" y="0"/>
                </a:lnTo>
                <a:cubicBezTo>
                  <a:pt x="108000" y="0"/>
                  <a:pt x="115094" y="7094"/>
                  <a:pt x="115094" y="15875"/>
                </a:cubicBezTo>
                <a:lnTo>
                  <a:pt x="115094" y="238125"/>
                </a:lnTo>
                <a:cubicBezTo>
                  <a:pt x="115094" y="246906"/>
                  <a:pt x="108000" y="254000"/>
                  <a:pt x="99219" y="254000"/>
                </a:cubicBezTo>
                <a:lnTo>
                  <a:pt x="83344" y="254000"/>
                </a:lnTo>
                <a:cubicBezTo>
                  <a:pt x="68560" y="254000"/>
                  <a:pt x="56108" y="243880"/>
                  <a:pt x="52586" y="230188"/>
                </a:cubicBezTo>
                <a:cubicBezTo>
                  <a:pt x="52239" y="230188"/>
                  <a:pt x="51941" y="230188"/>
                  <a:pt x="51594" y="230188"/>
                </a:cubicBezTo>
                <a:cubicBezTo>
                  <a:pt x="29666" y="230188"/>
                  <a:pt x="11906" y="212427"/>
                  <a:pt x="11906" y="190500"/>
                </a:cubicBezTo>
                <a:cubicBezTo>
                  <a:pt x="11906" y="181570"/>
                  <a:pt x="14883" y="173335"/>
                  <a:pt x="19844" y="166688"/>
                </a:cubicBezTo>
                <a:cubicBezTo>
                  <a:pt x="10220" y="159445"/>
                  <a:pt x="3969" y="147935"/>
                  <a:pt x="3969" y="134938"/>
                </a:cubicBezTo>
                <a:cubicBezTo>
                  <a:pt x="3969" y="119608"/>
                  <a:pt x="12700" y="106263"/>
                  <a:pt x="25400" y="99665"/>
                </a:cubicBezTo>
                <a:cubicBezTo>
                  <a:pt x="21878" y="93712"/>
                  <a:pt x="19844" y="86767"/>
                  <a:pt x="19844" y="79375"/>
                </a:cubicBezTo>
                <a:cubicBezTo>
                  <a:pt x="19844" y="57448"/>
                  <a:pt x="37604" y="39688"/>
                  <a:pt x="59531" y="39688"/>
                </a:cubicBezTo>
                <a:lnTo>
                  <a:pt x="59531" y="27781"/>
                </a:lnTo>
                <a:close/>
                <a:moveTo>
                  <a:pt x="194469" y="27781"/>
                </a:moveTo>
                <a:lnTo>
                  <a:pt x="194469" y="39688"/>
                </a:lnTo>
                <a:cubicBezTo>
                  <a:pt x="216396" y="39688"/>
                  <a:pt x="234156" y="57448"/>
                  <a:pt x="234156" y="79375"/>
                </a:cubicBezTo>
                <a:cubicBezTo>
                  <a:pt x="234156" y="86816"/>
                  <a:pt x="232122" y="93762"/>
                  <a:pt x="228600" y="99665"/>
                </a:cubicBezTo>
                <a:cubicBezTo>
                  <a:pt x="241350" y="106263"/>
                  <a:pt x="250031" y="119559"/>
                  <a:pt x="250031" y="134938"/>
                </a:cubicBezTo>
                <a:cubicBezTo>
                  <a:pt x="250031" y="147935"/>
                  <a:pt x="243780" y="159445"/>
                  <a:pt x="234156" y="166688"/>
                </a:cubicBezTo>
                <a:cubicBezTo>
                  <a:pt x="239117" y="173335"/>
                  <a:pt x="242094" y="181570"/>
                  <a:pt x="242094" y="190500"/>
                </a:cubicBezTo>
                <a:cubicBezTo>
                  <a:pt x="242094" y="212427"/>
                  <a:pt x="224334" y="230188"/>
                  <a:pt x="202406" y="230188"/>
                </a:cubicBezTo>
                <a:cubicBezTo>
                  <a:pt x="202059" y="230188"/>
                  <a:pt x="201761" y="230188"/>
                  <a:pt x="201414" y="230188"/>
                </a:cubicBezTo>
                <a:cubicBezTo>
                  <a:pt x="197892" y="243880"/>
                  <a:pt x="185440" y="254000"/>
                  <a:pt x="170656" y="254000"/>
                </a:cubicBezTo>
                <a:lnTo>
                  <a:pt x="154781" y="254000"/>
                </a:lnTo>
                <a:cubicBezTo>
                  <a:pt x="146000" y="254000"/>
                  <a:pt x="138906" y="246906"/>
                  <a:pt x="138906" y="238125"/>
                </a:cubicBezTo>
                <a:lnTo>
                  <a:pt x="138906" y="15875"/>
                </a:lnTo>
                <a:cubicBezTo>
                  <a:pt x="138906" y="7094"/>
                  <a:pt x="146000" y="0"/>
                  <a:pt x="154781" y="0"/>
                </a:cubicBezTo>
                <a:lnTo>
                  <a:pt x="166688" y="0"/>
                </a:lnTo>
                <a:cubicBezTo>
                  <a:pt x="182017" y="0"/>
                  <a:pt x="194469" y="12452"/>
                  <a:pt x="194469" y="27781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5386983" y="6616700"/>
            <a:ext cx="1231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学习目标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386983" y="6870700"/>
            <a:ext cx="1257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系统化掌握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课程目录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08000" y="12700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33400" y="1727200"/>
            <a:ext cx="4851400" cy="3556000"/>
          </a:xfrm>
          <a:custGeom>
            <a:avLst/>
            <a:gdLst/>
            <a:ahLst/>
            <a:cxnLst/>
            <a:rect l="l" t="t" r="r" b="b"/>
            <a:pathLst>
              <a:path w="4851400" h="3556000">
                <a:moveTo>
                  <a:pt x="50800" y="0"/>
                </a:moveTo>
                <a:lnTo>
                  <a:pt x="4698990" y="0"/>
                </a:lnTo>
                <a:cubicBezTo>
                  <a:pt x="4783164" y="0"/>
                  <a:pt x="4851400" y="68236"/>
                  <a:pt x="4851400" y="152410"/>
                </a:cubicBezTo>
                <a:lnTo>
                  <a:pt x="4851400" y="3403590"/>
                </a:lnTo>
                <a:cubicBezTo>
                  <a:pt x="4851400" y="3487764"/>
                  <a:pt x="4783164" y="3556000"/>
                  <a:pt x="4698990" y="3556000"/>
                </a:cubicBezTo>
                <a:lnTo>
                  <a:pt x="50800" y="3556000"/>
                </a:lnTo>
                <a:cubicBezTo>
                  <a:pt x="22744" y="3556000"/>
                  <a:pt x="0" y="3533256"/>
                  <a:pt x="0" y="350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33400" y="1727200"/>
            <a:ext cx="50800" cy="3556000"/>
          </a:xfrm>
          <a:custGeom>
            <a:avLst/>
            <a:gdLst/>
            <a:ahLst/>
            <a:cxnLst/>
            <a:rect l="l" t="t" r="r" b="b"/>
            <a:pathLst>
              <a:path w="50800" h="3556000">
                <a:moveTo>
                  <a:pt x="50800" y="0"/>
                </a:moveTo>
                <a:lnTo>
                  <a:pt x="50800" y="0"/>
                </a:lnTo>
                <a:lnTo>
                  <a:pt x="50800" y="3556000"/>
                </a:lnTo>
                <a:lnTo>
                  <a:pt x="50800" y="3556000"/>
                </a:lnTo>
                <a:cubicBezTo>
                  <a:pt x="22763" y="3556000"/>
                  <a:pt x="0" y="3533237"/>
                  <a:pt x="0" y="350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63600" y="20320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01600" y="0"/>
                </a:moveTo>
                <a:lnTo>
                  <a:pt x="711200" y="0"/>
                </a:lnTo>
                <a:cubicBezTo>
                  <a:pt x="767275" y="0"/>
                  <a:pt x="812800" y="45525"/>
                  <a:pt x="812800" y="101600"/>
                </a:cubicBezTo>
                <a:lnTo>
                  <a:pt x="812800" y="711200"/>
                </a:lnTo>
                <a:cubicBezTo>
                  <a:pt x="812800" y="767275"/>
                  <a:pt x="767275" y="812800"/>
                  <a:pt x="7112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75630" y="2209800"/>
            <a:ext cx="58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3600" y="2997200"/>
            <a:ext cx="4368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基础概念篇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3600" y="3505200"/>
            <a:ext cx="431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从典型案例到理论演进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33450" y="4051300"/>
            <a:ext cx="88900" cy="177800"/>
          </a:xfrm>
          <a:custGeom>
            <a:avLst/>
            <a:gdLst/>
            <a:ahLst/>
            <a:cxnLst/>
            <a:rect l="l" t="t" r="r" b="b"/>
            <a:pathLst>
              <a:path w="88900" h="177800">
                <a:moveTo>
                  <a:pt x="85809" y="81052"/>
                </a:moveTo>
                <a:cubicBezTo>
                  <a:pt x="90150" y="85393"/>
                  <a:pt x="90150" y="92442"/>
                  <a:pt x="85809" y="96783"/>
                </a:cubicBezTo>
                <a:lnTo>
                  <a:pt x="30247" y="152345"/>
                </a:lnTo>
                <a:cubicBezTo>
                  <a:pt x="25906" y="156686"/>
                  <a:pt x="18857" y="156686"/>
                  <a:pt x="14516" y="152345"/>
                </a:cubicBezTo>
                <a:cubicBezTo>
                  <a:pt x="10175" y="148005"/>
                  <a:pt x="10175" y="140955"/>
                  <a:pt x="14516" y="136614"/>
                </a:cubicBezTo>
                <a:lnTo>
                  <a:pt x="62230" y="88900"/>
                </a:lnTo>
                <a:lnTo>
                  <a:pt x="14550" y="41186"/>
                </a:lnTo>
                <a:cubicBezTo>
                  <a:pt x="10210" y="36845"/>
                  <a:pt x="10210" y="29795"/>
                  <a:pt x="14550" y="25455"/>
                </a:cubicBezTo>
                <a:cubicBezTo>
                  <a:pt x="18891" y="21114"/>
                  <a:pt x="25941" y="21114"/>
                  <a:pt x="30282" y="25455"/>
                </a:cubicBezTo>
                <a:lnTo>
                  <a:pt x="85844" y="81017"/>
                </a:ln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193800" y="4013200"/>
            <a:ext cx="3975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典型应用案例解析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33450" y="4406900"/>
            <a:ext cx="88900" cy="177800"/>
          </a:xfrm>
          <a:custGeom>
            <a:avLst/>
            <a:gdLst/>
            <a:ahLst/>
            <a:cxnLst/>
            <a:rect l="l" t="t" r="r" b="b"/>
            <a:pathLst>
              <a:path w="88900" h="177800">
                <a:moveTo>
                  <a:pt x="85809" y="81052"/>
                </a:moveTo>
                <a:cubicBezTo>
                  <a:pt x="90150" y="85393"/>
                  <a:pt x="90150" y="92442"/>
                  <a:pt x="85809" y="96783"/>
                </a:cubicBezTo>
                <a:lnTo>
                  <a:pt x="30247" y="152345"/>
                </a:lnTo>
                <a:cubicBezTo>
                  <a:pt x="25906" y="156686"/>
                  <a:pt x="18857" y="156686"/>
                  <a:pt x="14516" y="152345"/>
                </a:cubicBezTo>
                <a:cubicBezTo>
                  <a:pt x="10175" y="148005"/>
                  <a:pt x="10175" y="140955"/>
                  <a:pt x="14516" y="136614"/>
                </a:cubicBezTo>
                <a:lnTo>
                  <a:pt x="62230" y="88900"/>
                </a:lnTo>
                <a:lnTo>
                  <a:pt x="14550" y="41186"/>
                </a:lnTo>
                <a:cubicBezTo>
                  <a:pt x="10210" y="36845"/>
                  <a:pt x="10210" y="29795"/>
                  <a:pt x="14550" y="25455"/>
                </a:cubicBezTo>
                <a:cubicBezTo>
                  <a:pt x="18891" y="21114"/>
                  <a:pt x="25941" y="21114"/>
                  <a:pt x="30282" y="25455"/>
                </a:cubicBezTo>
                <a:lnTo>
                  <a:pt x="85844" y="81017"/>
                </a:ln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193800" y="4368800"/>
            <a:ext cx="3975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数据处理技术演进脉络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33450" y="4762500"/>
            <a:ext cx="88900" cy="177800"/>
          </a:xfrm>
          <a:custGeom>
            <a:avLst/>
            <a:gdLst/>
            <a:ahLst/>
            <a:cxnLst/>
            <a:rect l="l" t="t" r="r" b="b"/>
            <a:pathLst>
              <a:path w="88900" h="177800">
                <a:moveTo>
                  <a:pt x="85809" y="81052"/>
                </a:moveTo>
                <a:cubicBezTo>
                  <a:pt x="90150" y="85393"/>
                  <a:pt x="90150" y="92442"/>
                  <a:pt x="85809" y="96783"/>
                </a:cubicBezTo>
                <a:lnTo>
                  <a:pt x="30247" y="152345"/>
                </a:lnTo>
                <a:cubicBezTo>
                  <a:pt x="25906" y="156686"/>
                  <a:pt x="18857" y="156686"/>
                  <a:pt x="14516" y="152345"/>
                </a:cubicBezTo>
                <a:cubicBezTo>
                  <a:pt x="10175" y="148005"/>
                  <a:pt x="10175" y="140955"/>
                  <a:pt x="14516" y="136614"/>
                </a:cubicBezTo>
                <a:lnTo>
                  <a:pt x="62230" y="88900"/>
                </a:lnTo>
                <a:lnTo>
                  <a:pt x="14550" y="41186"/>
                </a:lnTo>
                <a:cubicBezTo>
                  <a:pt x="10210" y="36845"/>
                  <a:pt x="10210" y="29795"/>
                  <a:pt x="14550" y="25455"/>
                </a:cubicBezTo>
                <a:cubicBezTo>
                  <a:pt x="18891" y="21114"/>
                  <a:pt x="25941" y="21114"/>
                  <a:pt x="30282" y="25455"/>
                </a:cubicBezTo>
                <a:lnTo>
                  <a:pt x="85844" y="81017"/>
                </a:ln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193800" y="4724400"/>
            <a:ext cx="3975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流式计算核心理论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15000" y="1727200"/>
            <a:ext cx="4851400" cy="3556000"/>
          </a:xfrm>
          <a:custGeom>
            <a:avLst/>
            <a:gdLst/>
            <a:ahLst/>
            <a:cxnLst/>
            <a:rect l="l" t="t" r="r" b="b"/>
            <a:pathLst>
              <a:path w="4851400" h="3556000">
                <a:moveTo>
                  <a:pt x="50800" y="0"/>
                </a:moveTo>
                <a:lnTo>
                  <a:pt x="4698990" y="0"/>
                </a:lnTo>
                <a:cubicBezTo>
                  <a:pt x="4783164" y="0"/>
                  <a:pt x="4851400" y="68236"/>
                  <a:pt x="4851400" y="152410"/>
                </a:cubicBezTo>
                <a:lnTo>
                  <a:pt x="4851400" y="3403590"/>
                </a:lnTo>
                <a:cubicBezTo>
                  <a:pt x="4851400" y="3487764"/>
                  <a:pt x="4783164" y="3556000"/>
                  <a:pt x="4698990" y="3556000"/>
                </a:cubicBezTo>
                <a:lnTo>
                  <a:pt x="50800" y="3556000"/>
                </a:lnTo>
                <a:cubicBezTo>
                  <a:pt x="22744" y="3556000"/>
                  <a:pt x="0" y="3533256"/>
                  <a:pt x="0" y="350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5715000" y="1727200"/>
            <a:ext cx="50800" cy="3556000"/>
          </a:xfrm>
          <a:custGeom>
            <a:avLst/>
            <a:gdLst/>
            <a:ahLst/>
            <a:cxnLst/>
            <a:rect l="l" t="t" r="r" b="b"/>
            <a:pathLst>
              <a:path w="50800" h="3556000">
                <a:moveTo>
                  <a:pt x="50800" y="0"/>
                </a:moveTo>
                <a:lnTo>
                  <a:pt x="50800" y="0"/>
                </a:lnTo>
                <a:lnTo>
                  <a:pt x="50800" y="3556000"/>
                </a:lnTo>
                <a:lnTo>
                  <a:pt x="50800" y="3556000"/>
                </a:lnTo>
                <a:cubicBezTo>
                  <a:pt x="22763" y="3556000"/>
                  <a:pt x="0" y="3533237"/>
                  <a:pt x="0" y="350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67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6045200" y="20320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01600" y="0"/>
                </a:moveTo>
                <a:lnTo>
                  <a:pt x="711200" y="0"/>
                </a:lnTo>
                <a:cubicBezTo>
                  <a:pt x="767275" y="0"/>
                  <a:pt x="812800" y="45525"/>
                  <a:pt x="812800" y="101600"/>
                </a:cubicBezTo>
                <a:lnTo>
                  <a:pt x="812800" y="711200"/>
                </a:lnTo>
                <a:cubicBezTo>
                  <a:pt x="812800" y="767275"/>
                  <a:pt x="767275" y="812800"/>
                  <a:pt x="7112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225084" y="2209800"/>
            <a:ext cx="64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</a:p>
        </p:txBody>
      </p:sp>
      <p:sp>
        <p:nvSpPr>
          <p:cNvPr id="20" name="Text 18"/>
          <p:cNvSpPr/>
          <p:nvPr/>
        </p:nvSpPr>
        <p:spPr>
          <a:xfrm>
            <a:off x="6045200" y="2997200"/>
            <a:ext cx="4368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技术入门篇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45200" y="3505200"/>
            <a:ext cx="431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Apache Flink实战指南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15050" y="4051300"/>
            <a:ext cx="88900" cy="177800"/>
          </a:xfrm>
          <a:custGeom>
            <a:avLst/>
            <a:gdLst/>
            <a:ahLst/>
            <a:cxnLst/>
            <a:rect l="l" t="t" r="r" b="b"/>
            <a:pathLst>
              <a:path w="88900" h="177800">
                <a:moveTo>
                  <a:pt x="85809" y="81052"/>
                </a:moveTo>
                <a:cubicBezTo>
                  <a:pt x="90150" y="85393"/>
                  <a:pt x="90150" y="92442"/>
                  <a:pt x="85809" y="96783"/>
                </a:cubicBezTo>
                <a:lnTo>
                  <a:pt x="30247" y="152345"/>
                </a:lnTo>
                <a:cubicBezTo>
                  <a:pt x="25906" y="156686"/>
                  <a:pt x="18857" y="156686"/>
                  <a:pt x="14516" y="152345"/>
                </a:cubicBezTo>
                <a:cubicBezTo>
                  <a:pt x="10175" y="148005"/>
                  <a:pt x="10175" y="140955"/>
                  <a:pt x="14516" y="136614"/>
                </a:cubicBezTo>
                <a:lnTo>
                  <a:pt x="62230" y="88900"/>
                </a:lnTo>
                <a:lnTo>
                  <a:pt x="14550" y="41186"/>
                </a:lnTo>
                <a:cubicBezTo>
                  <a:pt x="10210" y="36845"/>
                  <a:pt x="10210" y="29795"/>
                  <a:pt x="14550" y="25455"/>
                </a:cubicBezTo>
                <a:cubicBezTo>
                  <a:pt x="18891" y="21114"/>
                  <a:pt x="25941" y="21114"/>
                  <a:pt x="30282" y="25455"/>
                </a:cubicBezTo>
                <a:lnTo>
                  <a:pt x="85844" y="81017"/>
                </a:lnTo>
                <a:close/>
              </a:path>
            </a:pathLst>
          </a:custGeom>
          <a:solidFill>
            <a:srgbClr val="5F67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375400" y="4013200"/>
            <a:ext cx="3975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Flink核心架构与运行机制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15050" y="4406900"/>
            <a:ext cx="88900" cy="177800"/>
          </a:xfrm>
          <a:custGeom>
            <a:avLst/>
            <a:gdLst/>
            <a:ahLst/>
            <a:cxnLst/>
            <a:rect l="l" t="t" r="r" b="b"/>
            <a:pathLst>
              <a:path w="88900" h="177800">
                <a:moveTo>
                  <a:pt x="85809" y="81052"/>
                </a:moveTo>
                <a:cubicBezTo>
                  <a:pt x="90150" y="85393"/>
                  <a:pt x="90150" y="92442"/>
                  <a:pt x="85809" y="96783"/>
                </a:cubicBezTo>
                <a:lnTo>
                  <a:pt x="30247" y="152345"/>
                </a:lnTo>
                <a:cubicBezTo>
                  <a:pt x="25906" y="156686"/>
                  <a:pt x="18857" y="156686"/>
                  <a:pt x="14516" y="152345"/>
                </a:cubicBezTo>
                <a:cubicBezTo>
                  <a:pt x="10175" y="148005"/>
                  <a:pt x="10175" y="140955"/>
                  <a:pt x="14516" y="136614"/>
                </a:cubicBezTo>
                <a:lnTo>
                  <a:pt x="62230" y="88900"/>
                </a:lnTo>
                <a:lnTo>
                  <a:pt x="14550" y="41186"/>
                </a:lnTo>
                <a:cubicBezTo>
                  <a:pt x="10210" y="36845"/>
                  <a:pt x="10210" y="29795"/>
                  <a:pt x="14550" y="25455"/>
                </a:cubicBezTo>
                <a:cubicBezTo>
                  <a:pt x="18891" y="21114"/>
                  <a:pt x="25941" y="21114"/>
                  <a:pt x="30282" y="25455"/>
                </a:cubicBezTo>
                <a:lnTo>
                  <a:pt x="85844" y="81017"/>
                </a:lnTo>
                <a:close/>
              </a:path>
            </a:pathLst>
          </a:custGeom>
          <a:solidFill>
            <a:srgbClr val="5F67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375400" y="4368800"/>
            <a:ext cx="3975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DataStream API基础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15050" y="4762500"/>
            <a:ext cx="88900" cy="177800"/>
          </a:xfrm>
          <a:custGeom>
            <a:avLst/>
            <a:gdLst/>
            <a:ahLst/>
            <a:cxnLst/>
            <a:rect l="l" t="t" r="r" b="b"/>
            <a:pathLst>
              <a:path w="88900" h="177800">
                <a:moveTo>
                  <a:pt x="85809" y="81052"/>
                </a:moveTo>
                <a:cubicBezTo>
                  <a:pt x="90150" y="85393"/>
                  <a:pt x="90150" y="92442"/>
                  <a:pt x="85809" y="96783"/>
                </a:cubicBezTo>
                <a:lnTo>
                  <a:pt x="30247" y="152345"/>
                </a:lnTo>
                <a:cubicBezTo>
                  <a:pt x="25906" y="156686"/>
                  <a:pt x="18857" y="156686"/>
                  <a:pt x="14516" y="152345"/>
                </a:cubicBezTo>
                <a:cubicBezTo>
                  <a:pt x="10175" y="148005"/>
                  <a:pt x="10175" y="140955"/>
                  <a:pt x="14516" y="136614"/>
                </a:cubicBezTo>
                <a:lnTo>
                  <a:pt x="62230" y="88900"/>
                </a:lnTo>
                <a:lnTo>
                  <a:pt x="14550" y="41186"/>
                </a:lnTo>
                <a:cubicBezTo>
                  <a:pt x="10210" y="36845"/>
                  <a:pt x="10210" y="29795"/>
                  <a:pt x="14550" y="25455"/>
                </a:cubicBezTo>
                <a:cubicBezTo>
                  <a:pt x="18891" y="21114"/>
                  <a:pt x="25941" y="21114"/>
                  <a:pt x="30282" y="25455"/>
                </a:cubicBezTo>
                <a:lnTo>
                  <a:pt x="85844" y="81017"/>
                </a:lnTo>
                <a:close/>
              </a:path>
            </a:pathLst>
          </a:custGeom>
          <a:solidFill>
            <a:srgbClr val="5F67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375400" y="4724400"/>
            <a:ext cx="3975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实战案例演练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896600" y="1727200"/>
            <a:ext cx="4851400" cy="3556000"/>
          </a:xfrm>
          <a:custGeom>
            <a:avLst/>
            <a:gdLst/>
            <a:ahLst/>
            <a:cxnLst/>
            <a:rect l="l" t="t" r="r" b="b"/>
            <a:pathLst>
              <a:path w="4851400" h="3556000">
                <a:moveTo>
                  <a:pt x="50800" y="0"/>
                </a:moveTo>
                <a:lnTo>
                  <a:pt x="4698990" y="0"/>
                </a:lnTo>
                <a:cubicBezTo>
                  <a:pt x="4783164" y="0"/>
                  <a:pt x="4851400" y="68236"/>
                  <a:pt x="4851400" y="152410"/>
                </a:cubicBezTo>
                <a:lnTo>
                  <a:pt x="4851400" y="3403590"/>
                </a:lnTo>
                <a:cubicBezTo>
                  <a:pt x="4851400" y="3487764"/>
                  <a:pt x="4783164" y="3556000"/>
                  <a:pt x="4698990" y="3556000"/>
                </a:cubicBezTo>
                <a:lnTo>
                  <a:pt x="50800" y="3556000"/>
                </a:lnTo>
                <a:cubicBezTo>
                  <a:pt x="22744" y="3556000"/>
                  <a:pt x="0" y="3533256"/>
                  <a:pt x="0" y="350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10896600" y="1727200"/>
            <a:ext cx="50800" cy="3556000"/>
          </a:xfrm>
          <a:custGeom>
            <a:avLst/>
            <a:gdLst/>
            <a:ahLst/>
            <a:cxnLst/>
            <a:rect l="l" t="t" r="r" b="b"/>
            <a:pathLst>
              <a:path w="50800" h="3556000">
                <a:moveTo>
                  <a:pt x="50800" y="0"/>
                </a:moveTo>
                <a:lnTo>
                  <a:pt x="50800" y="0"/>
                </a:lnTo>
                <a:lnTo>
                  <a:pt x="50800" y="3556000"/>
                </a:lnTo>
                <a:lnTo>
                  <a:pt x="50800" y="3556000"/>
                </a:lnTo>
                <a:cubicBezTo>
                  <a:pt x="22763" y="3556000"/>
                  <a:pt x="0" y="3533237"/>
                  <a:pt x="0" y="350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11226800" y="20320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01600" y="0"/>
                </a:moveTo>
                <a:lnTo>
                  <a:pt x="711200" y="0"/>
                </a:lnTo>
                <a:cubicBezTo>
                  <a:pt x="767275" y="0"/>
                  <a:pt x="812800" y="45525"/>
                  <a:pt x="812800" y="101600"/>
                </a:cubicBezTo>
                <a:lnTo>
                  <a:pt x="812800" y="711200"/>
                </a:lnTo>
                <a:cubicBezTo>
                  <a:pt x="812800" y="767275"/>
                  <a:pt x="767275" y="812800"/>
                  <a:pt x="7112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1401723" y="2209800"/>
            <a:ext cx="64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226800" y="2997200"/>
            <a:ext cx="4368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进阶应用篇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226800" y="3505200"/>
            <a:ext cx="431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时间、窗口与状态管理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1296650" y="4051300"/>
            <a:ext cx="88900" cy="177800"/>
          </a:xfrm>
          <a:custGeom>
            <a:avLst/>
            <a:gdLst/>
            <a:ahLst/>
            <a:cxnLst/>
            <a:rect l="l" t="t" r="r" b="b"/>
            <a:pathLst>
              <a:path w="88900" h="177800">
                <a:moveTo>
                  <a:pt x="85809" y="81052"/>
                </a:moveTo>
                <a:cubicBezTo>
                  <a:pt x="90150" y="85393"/>
                  <a:pt x="90150" y="92442"/>
                  <a:pt x="85809" y="96783"/>
                </a:cubicBezTo>
                <a:lnTo>
                  <a:pt x="30247" y="152345"/>
                </a:lnTo>
                <a:cubicBezTo>
                  <a:pt x="25906" y="156686"/>
                  <a:pt x="18857" y="156686"/>
                  <a:pt x="14516" y="152345"/>
                </a:cubicBezTo>
                <a:cubicBezTo>
                  <a:pt x="10175" y="148005"/>
                  <a:pt x="10175" y="140955"/>
                  <a:pt x="14516" y="136614"/>
                </a:cubicBezTo>
                <a:lnTo>
                  <a:pt x="62230" y="88900"/>
                </a:lnTo>
                <a:lnTo>
                  <a:pt x="14550" y="41186"/>
                </a:lnTo>
                <a:cubicBezTo>
                  <a:pt x="10210" y="36845"/>
                  <a:pt x="10210" y="29795"/>
                  <a:pt x="14550" y="25455"/>
                </a:cubicBezTo>
                <a:cubicBezTo>
                  <a:pt x="18891" y="21114"/>
                  <a:pt x="25941" y="21114"/>
                  <a:pt x="30282" y="25455"/>
                </a:cubicBezTo>
                <a:lnTo>
                  <a:pt x="85844" y="81017"/>
                </a:ln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11557000" y="4013200"/>
            <a:ext cx="3975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时间与窗口处理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1296650" y="4406900"/>
            <a:ext cx="88900" cy="177800"/>
          </a:xfrm>
          <a:custGeom>
            <a:avLst/>
            <a:gdLst/>
            <a:ahLst/>
            <a:cxnLst/>
            <a:rect l="l" t="t" r="r" b="b"/>
            <a:pathLst>
              <a:path w="88900" h="177800">
                <a:moveTo>
                  <a:pt x="85809" y="81052"/>
                </a:moveTo>
                <a:cubicBezTo>
                  <a:pt x="90150" y="85393"/>
                  <a:pt x="90150" y="92442"/>
                  <a:pt x="85809" y="96783"/>
                </a:cubicBezTo>
                <a:lnTo>
                  <a:pt x="30247" y="152345"/>
                </a:lnTo>
                <a:cubicBezTo>
                  <a:pt x="25906" y="156686"/>
                  <a:pt x="18857" y="156686"/>
                  <a:pt x="14516" y="152345"/>
                </a:cubicBezTo>
                <a:cubicBezTo>
                  <a:pt x="10175" y="148005"/>
                  <a:pt x="10175" y="140955"/>
                  <a:pt x="14516" y="136614"/>
                </a:cubicBezTo>
                <a:lnTo>
                  <a:pt x="62230" y="88900"/>
                </a:lnTo>
                <a:lnTo>
                  <a:pt x="14550" y="41186"/>
                </a:lnTo>
                <a:cubicBezTo>
                  <a:pt x="10210" y="36845"/>
                  <a:pt x="10210" y="29795"/>
                  <a:pt x="14550" y="25455"/>
                </a:cubicBezTo>
                <a:cubicBezTo>
                  <a:pt x="18891" y="21114"/>
                  <a:pt x="25941" y="21114"/>
                  <a:pt x="30282" y="25455"/>
                </a:cubicBezTo>
                <a:lnTo>
                  <a:pt x="85844" y="81017"/>
                </a:ln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11557000" y="4368800"/>
            <a:ext cx="3975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状态管理与容错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1296650" y="4762500"/>
            <a:ext cx="88900" cy="177800"/>
          </a:xfrm>
          <a:custGeom>
            <a:avLst/>
            <a:gdLst/>
            <a:ahLst/>
            <a:cxnLst/>
            <a:rect l="l" t="t" r="r" b="b"/>
            <a:pathLst>
              <a:path w="88900" h="177800">
                <a:moveTo>
                  <a:pt x="85809" y="81052"/>
                </a:moveTo>
                <a:cubicBezTo>
                  <a:pt x="90150" y="85393"/>
                  <a:pt x="90150" y="92442"/>
                  <a:pt x="85809" y="96783"/>
                </a:cubicBezTo>
                <a:lnTo>
                  <a:pt x="30247" y="152345"/>
                </a:lnTo>
                <a:cubicBezTo>
                  <a:pt x="25906" y="156686"/>
                  <a:pt x="18857" y="156686"/>
                  <a:pt x="14516" y="152345"/>
                </a:cubicBezTo>
                <a:cubicBezTo>
                  <a:pt x="10175" y="148005"/>
                  <a:pt x="10175" y="140955"/>
                  <a:pt x="14516" y="136614"/>
                </a:cubicBezTo>
                <a:lnTo>
                  <a:pt x="62230" y="88900"/>
                </a:lnTo>
                <a:lnTo>
                  <a:pt x="14550" y="41186"/>
                </a:lnTo>
                <a:cubicBezTo>
                  <a:pt x="10210" y="36845"/>
                  <a:pt x="10210" y="29795"/>
                  <a:pt x="14550" y="25455"/>
                </a:cubicBezTo>
                <a:cubicBezTo>
                  <a:pt x="18891" y="21114"/>
                  <a:pt x="25941" y="21114"/>
                  <a:pt x="30282" y="25455"/>
                </a:cubicBezTo>
                <a:lnTo>
                  <a:pt x="85844" y="81017"/>
                </a:ln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11557000" y="4724400"/>
            <a:ext cx="3975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生产级应用实践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14350" y="5594350"/>
            <a:ext cx="3644900" cy="1181100"/>
          </a:xfrm>
          <a:custGeom>
            <a:avLst/>
            <a:gdLst/>
            <a:ahLst/>
            <a:cxnLst/>
            <a:rect l="l" t="t" r="r" b="b"/>
            <a:pathLst>
              <a:path w="3644900" h="1181100">
                <a:moveTo>
                  <a:pt x="101598" y="0"/>
                </a:moveTo>
                <a:lnTo>
                  <a:pt x="3543302" y="0"/>
                </a:lnTo>
                <a:cubicBezTo>
                  <a:pt x="3599413" y="0"/>
                  <a:pt x="3644900" y="45487"/>
                  <a:pt x="3644900" y="101598"/>
                </a:cubicBezTo>
                <a:lnTo>
                  <a:pt x="3644900" y="1079502"/>
                </a:lnTo>
                <a:cubicBezTo>
                  <a:pt x="3644900" y="1135613"/>
                  <a:pt x="3599413" y="1181100"/>
                  <a:pt x="3543302" y="1181100"/>
                </a:cubicBezTo>
                <a:lnTo>
                  <a:pt x="101598" y="1181100"/>
                </a:lnTo>
                <a:cubicBezTo>
                  <a:pt x="45487" y="1181100"/>
                  <a:pt x="0" y="1135613"/>
                  <a:pt x="0" y="10795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333842">
              <a:alpha val="50196"/>
            </a:srgbClr>
          </a:solidFill>
          <a:ln w="12700">
            <a:solidFill>
              <a:srgbClr val="32C7B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628650" y="5803900"/>
            <a:ext cx="341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25+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79450" y="6311900"/>
            <a:ext cx="3314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核心知识点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375150" y="5594350"/>
            <a:ext cx="3644900" cy="1181100"/>
          </a:xfrm>
          <a:custGeom>
            <a:avLst/>
            <a:gdLst/>
            <a:ahLst/>
            <a:cxnLst/>
            <a:rect l="l" t="t" r="r" b="b"/>
            <a:pathLst>
              <a:path w="3644900" h="1181100">
                <a:moveTo>
                  <a:pt x="101598" y="0"/>
                </a:moveTo>
                <a:lnTo>
                  <a:pt x="3543302" y="0"/>
                </a:lnTo>
                <a:cubicBezTo>
                  <a:pt x="3599413" y="0"/>
                  <a:pt x="3644900" y="45487"/>
                  <a:pt x="3644900" y="101598"/>
                </a:cubicBezTo>
                <a:lnTo>
                  <a:pt x="3644900" y="1079502"/>
                </a:lnTo>
                <a:cubicBezTo>
                  <a:pt x="3644900" y="1135613"/>
                  <a:pt x="3599413" y="1181100"/>
                  <a:pt x="3543302" y="1181100"/>
                </a:cubicBezTo>
                <a:lnTo>
                  <a:pt x="101598" y="1181100"/>
                </a:lnTo>
                <a:cubicBezTo>
                  <a:pt x="45487" y="1181100"/>
                  <a:pt x="0" y="1135613"/>
                  <a:pt x="0" y="10795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333842">
              <a:alpha val="50196"/>
            </a:srgbClr>
          </a:solidFill>
          <a:ln w="12700">
            <a:solidFill>
              <a:srgbClr val="32C7B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4489450" y="5803900"/>
            <a:ext cx="341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10+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540250" y="6311900"/>
            <a:ext cx="3314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实战代码示例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235950" y="5594350"/>
            <a:ext cx="3644900" cy="1181100"/>
          </a:xfrm>
          <a:custGeom>
            <a:avLst/>
            <a:gdLst/>
            <a:ahLst/>
            <a:cxnLst/>
            <a:rect l="l" t="t" r="r" b="b"/>
            <a:pathLst>
              <a:path w="3644900" h="1181100">
                <a:moveTo>
                  <a:pt x="101598" y="0"/>
                </a:moveTo>
                <a:lnTo>
                  <a:pt x="3543302" y="0"/>
                </a:lnTo>
                <a:cubicBezTo>
                  <a:pt x="3599413" y="0"/>
                  <a:pt x="3644900" y="45487"/>
                  <a:pt x="3644900" y="101598"/>
                </a:cubicBezTo>
                <a:lnTo>
                  <a:pt x="3644900" y="1079502"/>
                </a:lnTo>
                <a:cubicBezTo>
                  <a:pt x="3644900" y="1135613"/>
                  <a:pt x="3599413" y="1181100"/>
                  <a:pt x="3543302" y="1181100"/>
                </a:cubicBezTo>
                <a:lnTo>
                  <a:pt x="101598" y="1181100"/>
                </a:lnTo>
                <a:cubicBezTo>
                  <a:pt x="45487" y="1181100"/>
                  <a:pt x="0" y="1135613"/>
                  <a:pt x="0" y="10795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333842">
              <a:alpha val="50196"/>
            </a:srgbClr>
          </a:solidFill>
          <a:ln w="12700">
            <a:solidFill>
              <a:srgbClr val="32C7B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8350250" y="5803900"/>
            <a:ext cx="341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401050" y="6311900"/>
            <a:ext cx="3314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生产级案例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2096750" y="5594350"/>
            <a:ext cx="3644900" cy="1181100"/>
          </a:xfrm>
          <a:custGeom>
            <a:avLst/>
            <a:gdLst/>
            <a:ahLst/>
            <a:cxnLst/>
            <a:rect l="l" t="t" r="r" b="b"/>
            <a:pathLst>
              <a:path w="3644900" h="1181100">
                <a:moveTo>
                  <a:pt x="101598" y="0"/>
                </a:moveTo>
                <a:lnTo>
                  <a:pt x="3543302" y="0"/>
                </a:lnTo>
                <a:cubicBezTo>
                  <a:pt x="3599413" y="0"/>
                  <a:pt x="3644900" y="45487"/>
                  <a:pt x="3644900" y="101598"/>
                </a:cubicBezTo>
                <a:lnTo>
                  <a:pt x="3644900" y="1079502"/>
                </a:lnTo>
                <a:cubicBezTo>
                  <a:pt x="3644900" y="1135613"/>
                  <a:pt x="3599413" y="1181100"/>
                  <a:pt x="3543302" y="1181100"/>
                </a:cubicBezTo>
                <a:lnTo>
                  <a:pt x="101598" y="1181100"/>
                </a:lnTo>
                <a:cubicBezTo>
                  <a:pt x="45487" y="1181100"/>
                  <a:pt x="0" y="1135613"/>
                  <a:pt x="0" y="10795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333842">
              <a:alpha val="50196"/>
            </a:srgbClr>
          </a:solidFill>
          <a:ln w="12700">
            <a:solidFill>
              <a:srgbClr val="32C7B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12211050" y="5803900"/>
            <a:ext cx="341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2261850" y="6311900"/>
            <a:ext cx="3314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完整技术栈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iro.medium.com/c00452d8b24b144a71a068e4dc9e11933439214d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32" b="32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>
                  <a:alpha val="9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33400" y="1778000"/>
            <a:ext cx="1905000" cy="711200"/>
          </a:xfrm>
          <a:custGeom>
            <a:avLst/>
            <a:gdLst/>
            <a:ahLst/>
            <a:cxnLst/>
            <a:rect l="l" t="t" r="r" b="b"/>
            <a:pathLst>
              <a:path w="1905000" h="711200">
                <a:moveTo>
                  <a:pt x="0" y="0"/>
                </a:moveTo>
                <a:lnTo>
                  <a:pt x="1905000" y="0"/>
                </a:lnTo>
                <a:lnTo>
                  <a:pt x="19050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533400" y="1778000"/>
            <a:ext cx="50800" cy="711200"/>
          </a:xfrm>
          <a:custGeom>
            <a:avLst/>
            <a:gdLst/>
            <a:ahLst/>
            <a:cxnLst/>
            <a:rect l="l" t="t" r="r" b="b"/>
            <a:pathLst>
              <a:path w="50800" h="711200">
                <a:moveTo>
                  <a:pt x="0" y="0"/>
                </a:moveTo>
                <a:lnTo>
                  <a:pt x="50800" y="0"/>
                </a:lnTo>
                <a:lnTo>
                  <a:pt x="508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863600" y="1930400"/>
            <a:ext cx="1421309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kern="0" spc="120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PART 01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2794000"/>
            <a:ext cx="1569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基础概念篇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8000" y="4241800"/>
            <a:ext cx="87249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从典型应用案例出发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建立流式计算理论体系与认知框架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14350" y="5975350"/>
            <a:ext cx="3098800" cy="1384300"/>
          </a:xfrm>
          <a:custGeom>
            <a:avLst/>
            <a:gdLst/>
            <a:ahLst/>
            <a:cxnLst/>
            <a:rect l="l" t="t" r="r" b="b"/>
            <a:pathLst>
              <a:path w="3098800" h="1384300">
                <a:moveTo>
                  <a:pt x="101594" y="0"/>
                </a:moveTo>
                <a:lnTo>
                  <a:pt x="2997206" y="0"/>
                </a:lnTo>
                <a:cubicBezTo>
                  <a:pt x="3053315" y="0"/>
                  <a:pt x="3098800" y="45485"/>
                  <a:pt x="3098800" y="101594"/>
                </a:cubicBezTo>
                <a:lnTo>
                  <a:pt x="3098800" y="1282706"/>
                </a:lnTo>
                <a:cubicBezTo>
                  <a:pt x="3098800" y="1338815"/>
                  <a:pt x="3053315" y="1384300"/>
                  <a:pt x="2997206" y="1384300"/>
                </a:cubicBezTo>
                <a:lnTo>
                  <a:pt x="101594" y="1384300"/>
                </a:lnTo>
                <a:cubicBezTo>
                  <a:pt x="45485" y="1384300"/>
                  <a:pt x="0" y="1338815"/>
                  <a:pt x="0" y="1282706"/>
                </a:cubicBezTo>
                <a:lnTo>
                  <a:pt x="0" y="101594"/>
                </a:lnTo>
                <a:cubicBezTo>
                  <a:pt x="0" y="45485"/>
                  <a:pt x="45485" y="0"/>
                  <a:pt x="101594" y="0"/>
                </a:cubicBezTo>
                <a:close/>
              </a:path>
            </a:pathLst>
          </a:custGeom>
          <a:solidFill>
            <a:srgbClr val="333842">
              <a:alpha val="80000"/>
            </a:srgbClr>
          </a:solidFill>
          <a:ln w="12700">
            <a:solidFill>
              <a:srgbClr val="32C7B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755650" y="62357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34888" y="10021"/>
                </a:moveTo>
                <a:cubicBezTo>
                  <a:pt x="130026" y="7243"/>
                  <a:pt x="124023" y="7243"/>
                  <a:pt x="119112" y="10021"/>
                </a:cubicBezTo>
                <a:lnTo>
                  <a:pt x="7987" y="73521"/>
                </a:lnTo>
                <a:cubicBezTo>
                  <a:pt x="1736" y="77093"/>
                  <a:pt x="-1339" y="84435"/>
                  <a:pt x="496" y="91380"/>
                </a:cubicBezTo>
                <a:cubicBezTo>
                  <a:pt x="2332" y="98326"/>
                  <a:pt x="8682" y="103188"/>
                  <a:pt x="15875" y="103188"/>
                </a:cubicBezTo>
                <a:lnTo>
                  <a:pt x="31750" y="103188"/>
                </a:lnTo>
                <a:lnTo>
                  <a:pt x="31750" y="206375"/>
                </a:lnTo>
                <a:lnTo>
                  <a:pt x="31750" y="206375"/>
                </a:lnTo>
                <a:lnTo>
                  <a:pt x="6350" y="225425"/>
                </a:lnTo>
                <a:cubicBezTo>
                  <a:pt x="2332" y="228402"/>
                  <a:pt x="0" y="233114"/>
                  <a:pt x="0" y="238125"/>
                </a:cubicBezTo>
                <a:cubicBezTo>
                  <a:pt x="0" y="246906"/>
                  <a:pt x="7094" y="254000"/>
                  <a:pt x="15875" y="254000"/>
                </a:cubicBezTo>
                <a:lnTo>
                  <a:pt x="238125" y="254000"/>
                </a:lnTo>
                <a:cubicBezTo>
                  <a:pt x="246906" y="254000"/>
                  <a:pt x="254000" y="246906"/>
                  <a:pt x="254000" y="238125"/>
                </a:cubicBezTo>
                <a:cubicBezTo>
                  <a:pt x="254000" y="233114"/>
                  <a:pt x="251668" y="228402"/>
                  <a:pt x="247650" y="225425"/>
                </a:cubicBezTo>
                <a:lnTo>
                  <a:pt x="222250" y="206375"/>
                </a:lnTo>
                <a:lnTo>
                  <a:pt x="222250" y="103188"/>
                </a:lnTo>
                <a:lnTo>
                  <a:pt x="238125" y="103188"/>
                </a:lnTo>
                <a:cubicBezTo>
                  <a:pt x="245318" y="103188"/>
                  <a:pt x="251619" y="98326"/>
                  <a:pt x="253454" y="91380"/>
                </a:cubicBezTo>
                <a:cubicBezTo>
                  <a:pt x="255290" y="84435"/>
                  <a:pt x="252214" y="77093"/>
                  <a:pt x="245963" y="73521"/>
                </a:cubicBezTo>
                <a:lnTo>
                  <a:pt x="134838" y="10021"/>
                </a:lnTo>
                <a:close/>
                <a:moveTo>
                  <a:pt x="198438" y="103188"/>
                </a:moveTo>
                <a:lnTo>
                  <a:pt x="198438" y="206375"/>
                </a:lnTo>
                <a:lnTo>
                  <a:pt x="166688" y="206375"/>
                </a:lnTo>
                <a:lnTo>
                  <a:pt x="166688" y="103188"/>
                </a:lnTo>
                <a:lnTo>
                  <a:pt x="198438" y="103188"/>
                </a:lnTo>
                <a:close/>
                <a:moveTo>
                  <a:pt x="142875" y="103188"/>
                </a:moveTo>
                <a:lnTo>
                  <a:pt x="142875" y="206375"/>
                </a:lnTo>
                <a:lnTo>
                  <a:pt x="111125" y="206375"/>
                </a:lnTo>
                <a:lnTo>
                  <a:pt x="111125" y="103188"/>
                </a:lnTo>
                <a:lnTo>
                  <a:pt x="142875" y="103188"/>
                </a:lnTo>
                <a:close/>
                <a:moveTo>
                  <a:pt x="87313" y="103188"/>
                </a:moveTo>
                <a:lnTo>
                  <a:pt x="87313" y="206375"/>
                </a:lnTo>
                <a:lnTo>
                  <a:pt x="55563" y="206375"/>
                </a:lnTo>
                <a:lnTo>
                  <a:pt x="55563" y="103188"/>
                </a:lnTo>
                <a:lnTo>
                  <a:pt x="87313" y="103188"/>
                </a:lnTo>
                <a:close/>
                <a:moveTo>
                  <a:pt x="127000" y="47625"/>
                </a:moveTo>
                <a:cubicBezTo>
                  <a:pt x="135762" y="47625"/>
                  <a:pt x="142875" y="54738"/>
                  <a:pt x="142875" y="63500"/>
                </a:cubicBezTo>
                <a:cubicBezTo>
                  <a:pt x="142875" y="72262"/>
                  <a:pt x="135762" y="79375"/>
                  <a:pt x="127000" y="79375"/>
                </a:cubicBezTo>
                <a:cubicBezTo>
                  <a:pt x="118238" y="79375"/>
                  <a:pt x="111125" y="72262"/>
                  <a:pt x="111125" y="63500"/>
                </a:cubicBezTo>
                <a:cubicBezTo>
                  <a:pt x="111125" y="54738"/>
                  <a:pt x="118238" y="47625"/>
                  <a:pt x="127000" y="47625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1193800" y="618490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典型案例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23900" y="6642100"/>
            <a:ext cx="27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银行批处理 · 电商分析 · 实时风控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833217" y="5975350"/>
            <a:ext cx="3098800" cy="1384300"/>
          </a:xfrm>
          <a:custGeom>
            <a:avLst/>
            <a:gdLst/>
            <a:ahLst/>
            <a:cxnLst/>
            <a:rect l="l" t="t" r="r" b="b"/>
            <a:pathLst>
              <a:path w="3098800" h="1384300">
                <a:moveTo>
                  <a:pt x="101594" y="0"/>
                </a:moveTo>
                <a:lnTo>
                  <a:pt x="2997206" y="0"/>
                </a:lnTo>
                <a:cubicBezTo>
                  <a:pt x="3053315" y="0"/>
                  <a:pt x="3098800" y="45485"/>
                  <a:pt x="3098800" y="101594"/>
                </a:cubicBezTo>
                <a:lnTo>
                  <a:pt x="3098800" y="1282706"/>
                </a:lnTo>
                <a:cubicBezTo>
                  <a:pt x="3098800" y="1338815"/>
                  <a:pt x="3053315" y="1384300"/>
                  <a:pt x="2997206" y="1384300"/>
                </a:cubicBezTo>
                <a:lnTo>
                  <a:pt x="101594" y="1384300"/>
                </a:lnTo>
                <a:cubicBezTo>
                  <a:pt x="45485" y="1384300"/>
                  <a:pt x="0" y="1338815"/>
                  <a:pt x="0" y="1282706"/>
                </a:cubicBezTo>
                <a:lnTo>
                  <a:pt x="0" y="101594"/>
                </a:lnTo>
                <a:cubicBezTo>
                  <a:pt x="0" y="45485"/>
                  <a:pt x="45485" y="0"/>
                  <a:pt x="101594" y="0"/>
                </a:cubicBezTo>
                <a:close/>
              </a:path>
            </a:pathLst>
          </a:custGeom>
          <a:solidFill>
            <a:srgbClr val="333842">
              <a:alpha val="80000"/>
            </a:srgbClr>
          </a:solidFill>
          <a:ln w="12700">
            <a:solidFill>
              <a:srgbClr val="32C7B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4058642" y="62357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42875" y="31750"/>
                </a:moveTo>
                <a:cubicBezTo>
                  <a:pt x="195461" y="31750"/>
                  <a:pt x="238125" y="74414"/>
                  <a:pt x="238125" y="127000"/>
                </a:cubicBezTo>
                <a:cubicBezTo>
                  <a:pt x="238125" y="179586"/>
                  <a:pt x="195461" y="222250"/>
                  <a:pt x="142875" y="222250"/>
                </a:cubicBezTo>
                <a:cubicBezTo>
                  <a:pt x="110530" y="222250"/>
                  <a:pt x="81905" y="206127"/>
                  <a:pt x="64691" y="181421"/>
                </a:cubicBezTo>
                <a:cubicBezTo>
                  <a:pt x="59680" y="174228"/>
                  <a:pt x="49758" y="172492"/>
                  <a:pt x="42565" y="177502"/>
                </a:cubicBezTo>
                <a:cubicBezTo>
                  <a:pt x="35371" y="182513"/>
                  <a:pt x="33635" y="192435"/>
                  <a:pt x="38646" y="199628"/>
                </a:cubicBezTo>
                <a:cubicBezTo>
                  <a:pt x="61565" y="232470"/>
                  <a:pt x="99715" y="254000"/>
                  <a:pt x="142875" y="254000"/>
                </a:cubicBezTo>
                <a:cubicBezTo>
                  <a:pt x="213023" y="254000"/>
                  <a:pt x="269875" y="197148"/>
                  <a:pt x="269875" y="127000"/>
                </a:cubicBezTo>
                <a:cubicBezTo>
                  <a:pt x="269875" y="56852"/>
                  <a:pt x="213023" y="0"/>
                  <a:pt x="142875" y="0"/>
                </a:cubicBezTo>
                <a:cubicBezTo>
                  <a:pt x="100360" y="0"/>
                  <a:pt x="62756" y="20886"/>
                  <a:pt x="39688" y="52933"/>
                </a:cubicBezTo>
                <a:lnTo>
                  <a:pt x="39688" y="39688"/>
                </a:lnTo>
                <a:cubicBezTo>
                  <a:pt x="39688" y="30907"/>
                  <a:pt x="32593" y="23812"/>
                  <a:pt x="23812" y="23812"/>
                </a:cubicBezTo>
                <a:cubicBezTo>
                  <a:pt x="15032" y="23812"/>
                  <a:pt x="7938" y="30907"/>
                  <a:pt x="7938" y="39688"/>
                </a:cubicBezTo>
                <a:lnTo>
                  <a:pt x="7938" y="95250"/>
                </a:lnTo>
                <a:cubicBezTo>
                  <a:pt x="7938" y="104031"/>
                  <a:pt x="15032" y="111125"/>
                  <a:pt x="23812" y="111125"/>
                </a:cubicBezTo>
                <a:lnTo>
                  <a:pt x="36016" y="111125"/>
                </a:lnTo>
                <a:cubicBezTo>
                  <a:pt x="36264" y="111125"/>
                  <a:pt x="36513" y="111125"/>
                  <a:pt x="36761" y="111125"/>
                </a:cubicBezTo>
                <a:lnTo>
                  <a:pt x="79425" y="111125"/>
                </a:lnTo>
                <a:cubicBezTo>
                  <a:pt x="88205" y="111125"/>
                  <a:pt x="95300" y="104031"/>
                  <a:pt x="95300" y="95250"/>
                </a:cubicBezTo>
                <a:cubicBezTo>
                  <a:pt x="95300" y="86469"/>
                  <a:pt x="88205" y="79375"/>
                  <a:pt x="79425" y="79375"/>
                </a:cubicBezTo>
                <a:lnTo>
                  <a:pt x="60424" y="79375"/>
                </a:lnTo>
                <a:cubicBezTo>
                  <a:pt x="76845" y="50899"/>
                  <a:pt x="107652" y="31750"/>
                  <a:pt x="142875" y="31750"/>
                </a:cubicBezTo>
                <a:close/>
                <a:moveTo>
                  <a:pt x="154781" y="75406"/>
                </a:moveTo>
                <a:cubicBezTo>
                  <a:pt x="154781" y="68808"/>
                  <a:pt x="149473" y="63500"/>
                  <a:pt x="142875" y="63500"/>
                </a:cubicBezTo>
                <a:cubicBezTo>
                  <a:pt x="136277" y="63500"/>
                  <a:pt x="130969" y="68808"/>
                  <a:pt x="130969" y="75406"/>
                </a:cubicBezTo>
                <a:lnTo>
                  <a:pt x="130969" y="127000"/>
                </a:lnTo>
                <a:cubicBezTo>
                  <a:pt x="130969" y="130175"/>
                  <a:pt x="132209" y="133201"/>
                  <a:pt x="134441" y="135434"/>
                </a:cubicBezTo>
                <a:lnTo>
                  <a:pt x="170160" y="171152"/>
                </a:lnTo>
                <a:cubicBezTo>
                  <a:pt x="174823" y="175816"/>
                  <a:pt x="182364" y="175816"/>
                  <a:pt x="186978" y="171152"/>
                </a:cubicBezTo>
                <a:cubicBezTo>
                  <a:pt x="191591" y="166489"/>
                  <a:pt x="191641" y="158948"/>
                  <a:pt x="186978" y="154335"/>
                </a:cubicBezTo>
                <a:lnTo>
                  <a:pt x="154732" y="122089"/>
                </a:lnTo>
                <a:lnTo>
                  <a:pt x="154732" y="75406"/>
                </a:ln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4512667" y="618490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技术演进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042767" y="6642100"/>
            <a:ext cx="2768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批处理 → 分布式 → 流式计算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152184" y="5975350"/>
            <a:ext cx="3098800" cy="1384300"/>
          </a:xfrm>
          <a:custGeom>
            <a:avLst/>
            <a:gdLst/>
            <a:ahLst/>
            <a:cxnLst/>
            <a:rect l="l" t="t" r="r" b="b"/>
            <a:pathLst>
              <a:path w="3098800" h="1384300">
                <a:moveTo>
                  <a:pt x="101594" y="0"/>
                </a:moveTo>
                <a:lnTo>
                  <a:pt x="2997206" y="0"/>
                </a:lnTo>
                <a:cubicBezTo>
                  <a:pt x="3053315" y="0"/>
                  <a:pt x="3098800" y="45485"/>
                  <a:pt x="3098800" y="101594"/>
                </a:cubicBezTo>
                <a:lnTo>
                  <a:pt x="3098800" y="1282706"/>
                </a:lnTo>
                <a:cubicBezTo>
                  <a:pt x="3098800" y="1338815"/>
                  <a:pt x="3053315" y="1384300"/>
                  <a:pt x="2997206" y="1384300"/>
                </a:cubicBezTo>
                <a:lnTo>
                  <a:pt x="101594" y="1384300"/>
                </a:lnTo>
                <a:cubicBezTo>
                  <a:pt x="45485" y="1384300"/>
                  <a:pt x="0" y="1338815"/>
                  <a:pt x="0" y="1282706"/>
                </a:cubicBezTo>
                <a:lnTo>
                  <a:pt x="0" y="101594"/>
                </a:lnTo>
                <a:cubicBezTo>
                  <a:pt x="0" y="45485"/>
                  <a:pt x="45485" y="0"/>
                  <a:pt x="101594" y="0"/>
                </a:cubicBezTo>
                <a:close/>
              </a:path>
            </a:pathLst>
          </a:custGeom>
          <a:solidFill>
            <a:srgbClr val="333842">
              <a:alpha val="80000"/>
            </a:srgbClr>
          </a:solidFill>
          <a:ln w="12700">
            <a:solidFill>
              <a:srgbClr val="32C7B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7425234" y="62357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145306" y="190500"/>
                </a:moveTo>
                <a:cubicBezTo>
                  <a:pt x="148927" y="179437"/>
                  <a:pt x="156170" y="169416"/>
                  <a:pt x="164356" y="160784"/>
                </a:cubicBezTo>
                <a:cubicBezTo>
                  <a:pt x="180578" y="143718"/>
                  <a:pt x="190500" y="120650"/>
                  <a:pt x="190500" y="95250"/>
                </a:cubicBezTo>
                <a:cubicBezTo>
                  <a:pt x="190500" y="42664"/>
                  <a:pt x="147836" y="0"/>
                  <a:pt x="95250" y="0"/>
                </a:cubicBezTo>
                <a:cubicBezTo>
                  <a:pt x="42664" y="0"/>
                  <a:pt x="0" y="42664"/>
                  <a:pt x="0" y="95250"/>
                </a:cubicBezTo>
                <a:cubicBezTo>
                  <a:pt x="0" y="120650"/>
                  <a:pt x="9922" y="143718"/>
                  <a:pt x="26144" y="160784"/>
                </a:cubicBezTo>
                <a:cubicBezTo>
                  <a:pt x="34330" y="169416"/>
                  <a:pt x="41622" y="179437"/>
                  <a:pt x="45194" y="190500"/>
                </a:cubicBezTo>
                <a:lnTo>
                  <a:pt x="145256" y="190500"/>
                </a:lnTo>
                <a:close/>
                <a:moveTo>
                  <a:pt x="142875" y="214313"/>
                </a:moveTo>
                <a:lnTo>
                  <a:pt x="47625" y="214313"/>
                </a:lnTo>
                <a:lnTo>
                  <a:pt x="47625" y="222250"/>
                </a:lnTo>
                <a:cubicBezTo>
                  <a:pt x="47625" y="244177"/>
                  <a:pt x="65385" y="261937"/>
                  <a:pt x="87313" y="261937"/>
                </a:cubicBezTo>
                <a:lnTo>
                  <a:pt x="103188" y="261937"/>
                </a:lnTo>
                <a:cubicBezTo>
                  <a:pt x="125115" y="261937"/>
                  <a:pt x="142875" y="244177"/>
                  <a:pt x="142875" y="222250"/>
                </a:cubicBezTo>
                <a:lnTo>
                  <a:pt x="142875" y="214313"/>
                </a:lnTo>
                <a:close/>
                <a:moveTo>
                  <a:pt x="91281" y="55563"/>
                </a:moveTo>
                <a:cubicBezTo>
                  <a:pt x="71537" y="55563"/>
                  <a:pt x="55563" y="71537"/>
                  <a:pt x="55563" y="91281"/>
                </a:cubicBezTo>
                <a:cubicBezTo>
                  <a:pt x="55563" y="97879"/>
                  <a:pt x="50254" y="103188"/>
                  <a:pt x="43656" y="103188"/>
                </a:cubicBezTo>
                <a:cubicBezTo>
                  <a:pt x="37058" y="103188"/>
                  <a:pt x="31750" y="97879"/>
                  <a:pt x="31750" y="91281"/>
                </a:cubicBezTo>
                <a:cubicBezTo>
                  <a:pt x="31750" y="58390"/>
                  <a:pt x="58390" y="31750"/>
                  <a:pt x="91281" y="31750"/>
                </a:cubicBezTo>
                <a:cubicBezTo>
                  <a:pt x="97879" y="31750"/>
                  <a:pt x="103188" y="37058"/>
                  <a:pt x="103188" y="43656"/>
                </a:cubicBezTo>
                <a:cubicBezTo>
                  <a:pt x="103188" y="50254"/>
                  <a:pt x="97879" y="55563"/>
                  <a:pt x="91281" y="55563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7831634" y="618490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理论框架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361734" y="6642100"/>
            <a:ext cx="2768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数据流 · 时间语义 · 窗口 · 状态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1303" y="481303"/>
            <a:ext cx="481303" cy="481303"/>
          </a:xfrm>
          <a:custGeom>
            <a:avLst/>
            <a:gdLst/>
            <a:ahLst/>
            <a:cxnLst/>
            <a:rect l="l" t="t" r="r" b="b"/>
            <a:pathLst>
              <a:path w="481303" h="481303">
                <a:moveTo>
                  <a:pt x="96261" y="0"/>
                </a:moveTo>
                <a:lnTo>
                  <a:pt x="385042" y="0"/>
                </a:lnTo>
                <a:cubicBezTo>
                  <a:pt x="438205" y="0"/>
                  <a:pt x="481303" y="43097"/>
                  <a:pt x="481303" y="96261"/>
                </a:cubicBezTo>
                <a:lnTo>
                  <a:pt x="481303" y="385042"/>
                </a:lnTo>
                <a:cubicBezTo>
                  <a:pt x="481303" y="438205"/>
                  <a:pt x="438205" y="481303"/>
                  <a:pt x="385042" y="481303"/>
                </a:cubicBezTo>
                <a:lnTo>
                  <a:pt x="96261" y="481303"/>
                </a:lnTo>
                <a:cubicBezTo>
                  <a:pt x="43097" y="481303"/>
                  <a:pt x="0" y="438205"/>
                  <a:pt x="0" y="385042"/>
                </a:cubicBezTo>
                <a:lnTo>
                  <a:pt x="0" y="96261"/>
                </a:lnTo>
                <a:cubicBezTo>
                  <a:pt x="0" y="43097"/>
                  <a:pt x="43097" y="0"/>
                  <a:pt x="96261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616669" y="613661"/>
            <a:ext cx="216586" cy="216586"/>
          </a:xfrm>
          <a:custGeom>
            <a:avLst/>
            <a:gdLst/>
            <a:ahLst/>
            <a:cxnLst/>
            <a:rect l="l" t="t" r="r" b="b"/>
            <a:pathLst>
              <a:path w="216586" h="216586">
                <a:moveTo>
                  <a:pt x="27073" y="27073"/>
                </a:moveTo>
                <a:cubicBezTo>
                  <a:pt x="12141" y="27073"/>
                  <a:pt x="0" y="39214"/>
                  <a:pt x="0" y="54147"/>
                </a:cubicBezTo>
                <a:lnTo>
                  <a:pt x="0" y="162440"/>
                </a:lnTo>
                <a:cubicBezTo>
                  <a:pt x="0" y="177372"/>
                  <a:pt x="12141" y="189513"/>
                  <a:pt x="27073" y="189513"/>
                </a:cubicBezTo>
                <a:lnTo>
                  <a:pt x="189513" y="189513"/>
                </a:lnTo>
                <a:cubicBezTo>
                  <a:pt x="204446" y="189513"/>
                  <a:pt x="216586" y="177372"/>
                  <a:pt x="216586" y="162440"/>
                </a:cubicBezTo>
                <a:lnTo>
                  <a:pt x="216586" y="54147"/>
                </a:lnTo>
                <a:cubicBezTo>
                  <a:pt x="216586" y="39214"/>
                  <a:pt x="204446" y="27073"/>
                  <a:pt x="189513" y="27073"/>
                </a:cubicBezTo>
                <a:lnTo>
                  <a:pt x="27073" y="27073"/>
                </a:lnTo>
                <a:close/>
                <a:moveTo>
                  <a:pt x="67683" y="135366"/>
                </a:moveTo>
                <a:cubicBezTo>
                  <a:pt x="67683" y="142837"/>
                  <a:pt x="61618" y="148903"/>
                  <a:pt x="54147" y="148903"/>
                </a:cubicBezTo>
                <a:cubicBezTo>
                  <a:pt x="46675" y="148903"/>
                  <a:pt x="40610" y="142837"/>
                  <a:pt x="40610" y="135366"/>
                </a:cubicBezTo>
                <a:cubicBezTo>
                  <a:pt x="40610" y="127895"/>
                  <a:pt x="46675" y="121830"/>
                  <a:pt x="54147" y="121830"/>
                </a:cubicBezTo>
                <a:cubicBezTo>
                  <a:pt x="61618" y="121830"/>
                  <a:pt x="67683" y="127895"/>
                  <a:pt x="67683" y="135366"/>
                </a:cubicBezTo>
                <a:close/>
                <a:moveTo>
                  <a:pt x="54147" y="94756"/>
                </a:moveTo>
                <a:cubicBezTo>
                  <a:pt x="46675" y="94756"/>
                  <a:pt x="40610" y="88691"/>
                  <a:pt x="40610" y="81220"/>
                </a:cubicBezTo>
                <a:cubicBezTo>
                  <a:pt x="40610" y="73749"/>
                  <a:pt x="46675" y="67683"/>
                  <a:pt x="54147" y="67683"/>
                </a:cubicBezTo>
                <a:cubicBezTo>
                  <a:pt x="61618" y="67683"/>
                  <a:pt x="67683" y="73749"/>
                  <a:pt x="67683" y="81220"/>
                </a:cubicBezTo>
                <a:cubicBezTo>
                  <a:pt x="67683" y="88691"/>
                  <a:pt x="61618" y="94756"/>
                  <a:pt x="54147" y="94756"/>
                </a:cubicBezTo>
                <a:close/>
                <a:moveTo>
                  <a:pt x="104909" y="71067"/>
                </a:moveTo>
                <a:lnTo>
                  <a:pt x="165824" y="71067"/>
                </a:lnTo>
                <a:cubicBezTo>
                  <a:pt x="171450" y="71067"/>
                  <a:pt x="175976" y="75594"/>
                  <a:pt x="175976" y="81220"/>
                </a:cubicBezTo>
                <a:cubicBezTo>
                  <a:pt x="175976" y="86846"/>
                  <a:pt x="171450" y="91372"/>
                  <a:pt x="165824" y="91372"/>
                </a:cubicBezTo>
                <a:lnTo>
                  <a:pt x="104909" y="91372"/>
                </a:lnTo>
                <a:cubicBezTo>
                  <a:pt x="99283" y="91372"/>
                  <a:pt x="94756" y="86846"/>
                  <a:pt x="94756" y="81220"/>
                </a:cubicBezTo>
                <a:cubicBezTo>
                  <a:pt x="94756" y="75594"/>
                  <a:pt x="99283" y="71067"/>
                  <a:pt x="104909" y="71067"/>
                </a:cubicBezTo>
                <a:close/>
                <a:moveTo>
                  <a:pt x="104909" y="125214"/>
                </a:moveTo>
                <a:lnTo>
                  <a:pt x="165824" y="125214"/>
                </a:lnTo>
                <a:cubicBezTo>
                  <a:pt x="171450" y="125214"/>
                  <a:pt x="175976" y="129740"/>
                  <a:pt x="175976" y="135366"/>
                </a:cubicBezTo>
                <a:cubicBezTo>
                  <a:pt x="175976" y="140993"/>
                  <a:pt x="171450" y="145519"/>
                  <a:pt x="165824" y="145519"/>
                </a:cubicBezTo>
                <a:lnTo>
                  <a:pt x="104909" y="145519"/>
                </a:lnTo>
                <a:cubicBezTo>
                  <a:pt x="99283" y="145519"/>
                  <a:pt x="94756" y="140993"/>
                  <a:pt x="94756" y="135366"/>
                </a:cubicBezTo>
                <a:cubicBezTo>
                  <a:pt x="94756" y="129740"/>
                  <a:pt x="99283" y="125214"/>
                  <a:pt x="104909" y="125214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106996" y="481303"/>
            <a:ext cx="3681966" cy="481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411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典型应用案例全景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06996" y="1058866"/>
            <a:ext cx="14775994" cy="336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5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通过三个典型案例理解不同数据处理技术的应用场景与技术特征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5368" y="1684560"/>
            <a:ext cx="15269329" cy="2093667"/>
          </a:xfrm>
          <a:custGeom>
            <a:avLst/>
            <a:gdLst/>
            <a:ahLst/>
            <a:cxnLst/>
            <a:rect l="l" t="t" r="r" b="b"/>
            <a:pathLst>
              <a:path w="15269329" h="2093667">
                <a:moveTo>
                  <a:pt x="48130" y="0"/>
                </a:moveTo>
                <a:lnTo>
                  <a:pt x="15124929" y="0"/>
                </a:lnTo>
                <a:cubicBezTo>
                  <a:pt x="15204679" y="0"/>
                  <a:pt x="15269329" y="64650"/>
                  <a:pt x="15269329" y="144400"/>
                </a:cubicBezTo>
                <a:lnTo>
                  <a:pt x="15269329" y="1949267"/>
                </a:lnTo>
                <a:cubicBezTo>
                  <a:pt x="15269329" y="2028963"/>
                  <a:pt x="15204626" y="2093667"/>
                  <a:pt x="15124929" y="2093667"/>
                </a:cubicBezTo>
                <a:lnTo>
                  <a:pt x="48130" y="2093667"/>
                </a:lnTo>
                <a:cubicBezTo>
                  <a:pt x="21549" y="2093667"/>
                  <a:pt x="0" y="2072118"/>
                  <a:pt x="0" y="2045537"/>
                </a:cubicBezTo>
                <a:lnTo>
                  <a:pt x="0" y="48130"/>
                </a:lnTo>
                <a:cubicBezTo>
                  <a:pt x="0" y="21549"/>
                  <a:pt x="21549" y="0"/>
                  <a:pt x="48130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05368" y="1684560"/>
            <a:ext cx="48130" cy="2093667"/>
          </a:xfrm>
          <a:custGeom>
            <a:avLst/>
            <a:gdLst/>
            <a:ahLst/>
            <a:cxnLst/>
            <a:rect l="l" t="t" r="r" b="b"/>
            <a:pathLst>
              <a:path w="48130" h="2093667">
                <a:moveTo>
                  <a:pt x="48130" y="0"/>
                </a:moveTo>
                <a:lnTo>
                  <a:pt x="48130" y="0"/>
                </a:lnTo>
                <a:lnTo>
                  <a:pt x="48130" y="2093667"/>
                </a:lnTo>
                <a:lnTo>
                  <a:pt x="48130" y="2093667"/>
                </a:lnTo>
                <a:cubicBezTo>
                  <a:pt x="21549" y="2093667"/>
                  <a:pt x="0" y="2072118"/>
                  <a:pt x="0" y="2045537"/>
                </a:cubicBezTo>
                <a:lnTo>
                  <a:pt x="0" y="48130"/>
                </a:lnTo>
                <a:cubicBezTo>
                  <a:pt x="0" y="21549"/>
                  <a:pt x="21549" y="0"/>
                  <a:pt x="48130" y="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70084" y="1925211"/>
            <a:ext cx="673824" cy="673824"/>
          </a:xfrm>
          <a:custGeom>
            <a:avLst/>
            <a:gdLst/>
            <a:ahLst/>
            <a:cxnLst/>
            <a:rect l="l" t="t" r="r" b="b"/>
            <a:pathLst>
              <a:path w="673824" h="673824">
                <a:moveTo>
                  <a:pt x="96262" y="0"/>
                </a:moveTo>
                <a:lnTo>
                  <a:pt x="577561" y="0"/>
                </a:lnTo>
                <a:cubicBezTo>
                  <a:pt x="630726" y="0"/>
                  <a:pt x="673824" y="43098"/>
                  <a:pt x="673824" y="96262"/>
                </a:cubicBezTo>
                <a:lnTo>
                  <a:pt x="673824" y="577561"/>
                </a:lnTo>
                <a:cubicBezTo>
                  <a:pt x="673824" y="630726"/>
                  <a:pt x="630726" y="673824"/>
                  <a:pt x="577561" y="673824"/>
                </a:cubicBezTo>
                <a:lnTo>
                  <a:pt x="96262" y="673824"/>
                </a:lnTo>
                <a:cubicBezTo>
                  <a:pt x="43098" y="673824"/>
                  <a:pt x="0" y="630726"/>
                  <a:pt x="0" y="577561"/>
                </a:cubicBezTo>
                <a:lnTo>
                  <a:pt x="0" y="96262"/>
                </a:lnTo>
                <a:cubicBezTo>
                  <a:pt x="0" y="43134"/>
                  <a:pt x="43134" y="0"/>
                  <a:pt x="96262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962605" y="2117732"/>
            <a:ext cx="288782" cy="288782"/>
          </a:xfrm>
          <a:custGeom>
            <a:avLst/>
            <a:gdLst/>
            <a:ahLst/>
            <a:cxnLst/>
            <a:rect l="l" t="t" r="r" b="b"/>
            <a:pathLst>
              <a:path w="288782" h="288782">
                <a:moveTo>
                  <a:pt x="153359" y="11393"/>
                </a:moveTo>
                <a:cubicBezTo>
                  <a:pt x="147831" y="8235"/>
                  <a:pt x="141007" y="8235"/>
                  <a:pt x="135423" y="11393"/>
                </a:cubicBezTo>
                <a:lnTo>
                  <a:pt x="9081" y="83589"/>
                </a:lnTo>
                <a:cubicBezTo>
                  <a:pt x="1974" y="87650"/>
                  <a:pt x="-1523" y="95997"/>
                  <a:pt x="564" y="103894"/>
                </a:cubicBezTo>
                <a:cubicBezTo>
                  <a:pt x="2651" y="111790"/>
                  <a:pt x="9870" y="117318"/>
                  <a:pt x="18049" y="117318"/>
                </a:cubicBezTo>
                <a:lnTo>
                  <a:pt x="36098" y="117318"/>
                </a:lnTo>
                <a:lnTo>
                  <a:pt x="36098" y="234635"/>
                </a:lnTo>
                <a:lnTo>
                  <a:pt x="36098" y="234635"/>
                </a:lnTo>
                <a:lnTo>
                  <a:pt x="7220" y="256294"/>
                </a:lnTo>
                <a:cubicBezTo>
                  <a:pt x="2651" y="259678"/>
                  <a:pt x="0" y="265036"/>
                  <a:pt x="0" y="270733"/>
                </a:cubicBezTo>
                <a:cubicBezTo>
                  <a:pt x="0" y="280716"/>
                  <a:pt x="8066" y="288782"/>
                  <a:pt x="18049" y="288782"/>
                </a:cubicBezTo>
                <a:lnTo>
                  <a:pt x="270733" y="288782"/>
                </a:lnTo>
                <a:cubicBezTo>
                  <a:pt x="280716" y="288782"/>
                  <a:pt x="288782" y="280716"/>
                  <a:pt x="288782" y="270733"/>
                </a:cubicBezTo>
                <a:cubicBezTo>
                  <a:pt x="288782" y="265036"/>
                  <a:pt x="286131" y="259678"/>
                  <a:pt x="281562" y="256294"/>
                </a:cubicBezTo>
                <a:lnTo>
                  <a:pt x="252684" y="234635"/>
                </a:lnTo>
                <a:lnTo>
                  <a:pt x="252684" y="117318"/>
                </a:lnTo>
                <a:lnTo>
                  <a:pt x="270733" y="117318"/>
                </a:lnTo>
                <a:cubicBezTo>
                  <a:pt x="278911" y="117318"/>
                  <a:pt x="286074" y="111790"/>
                  <a:pt x="288161" y="103894"/>
                </a:cubicBezTo>
                <a:cubicBezTo>
                  <a:pt x="290248" y="95997"/>
                  <a:pt x="286751" y="87650"/>
                  <a:pt x="279644" y="83589"/>
                </a:cubicBezTo>
                <a:lnTo>
                  <a:pt x="153302" y="11393"/>
                </a:lnTo>
                <a:close/>
                <a:moveTo>
                  <a:pt x="225611" y="117318"/>
                </a:moveTo>
                <a:lnTo>
                  <a:pt x="225611" y="234635"/>
                </a:lnTo>
                <a:lnTo>
                  <a:pt x="189513" y="234635"/>
                </a:lnTo>
                <a:lnTo>
                  <a:pt x="189513" y="117318"/>
                </a:lnTo>
                <a:lnTo>
                  <a:pt x="225611" y="117318"/>
                </a:lnTo>
                <a:close/>
                <a:moveTo>
                  <a:pt x="162440" y="117318"/>
                </a:moveTo>
                <a:lnTo>
                  <a:pt x="162440" y="234635"/>
                </a:lnTo>
                <a:lnTo>
                  <a:pt x="126342" y="234635"/>
                </a:lnTo>
                <a:lnTo>
                  <a:pt x="126342" y="117318"/>
                </a:lnTo>
                <a:lnTo>
                  <a:pt x="162440" y="117318"/>
                </a:lnTo>
                <a:close/>
                <a:moveTo>
                  <a:pt x="99269" y="117318"/>
                </a:moveTo>
                <a:lnTo>
                  <a:pt x="99269" y="234635"/>
                </a:lnTo>
                <a:lnTo>
                  <a:pt x="63171" y="234635"/>
                </a:lnTo>
                <a:lnTo>
                  <a:pt x="63171" y="117318"/>
                </a:lnTo>
                <a:lnTo>
                  <a:pt x="99269" y="117318"/>
                </a:lnTo>
                <a:close/>
                <a:moveTo>
                  <a:pt x="144391" y="54147"/>
                </a:moveTo>
                <a:cubicBezTo>
                  <a:pt x="154352" y="54147"/>
                  <a:pt x="162440" y="62234"/>
                  <a:pt x="162440" y="72195"/>
                </a:cubicBezTo>
                <a:cubicBezTo>
                  <a:pt x="162440" y="82157"/>
                  <a:pt x="154352" y="90244"/>
                  <a:pt x="144391" y="90244"/>
                </a:cubicBezTo>
                <a:cubicBezTo>
                  <a:pt x="134429" y="90244"/>
                  <a:pt x="126342" y="82157"/>
                  <a:pt x="126342" y="72195"/>
                </a:cubicBezTo>
                <a:cubicBezTo>
                  <a:pt x="126342" y="62234"/>
                  <a:pt x="134429" y="54147"/>
                  <a:pt x="144391" y="54147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636429" y="1925211"/>
            <a:ext cx="2743426" cy="385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74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银行日终批处理系统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4614682" y="1949276"/>
            <a:ext cx="926508" cy="336912"/>
          </a:xfrm>
          <a:custGeom>
            <a:avLst/>
            <a:gdLst/>
            <a:ahLst/>
            <a:cxnLst/>
            <a:rect l="l" t="t" r="r" b="b"/>
            <a:pathLst>
              <a:path w="926508" h="336912">
                <a:moveTo>
                  <a:pt x="168456" y="0"/>
                </a:moveTo>
                <a:lnTo>
                  <a:pt x="758052" y="0"/>
                </a:lnTo>
                <a:cubicBezTo>
                  <a:pt x="851025" y="0"/>
                  <a:pt x="926508" y="75483"/>
                  <a:pt x="926508" y="168456"/>
                </a:cubicBezTo>
                <a:lnTo>
                  <a:pt x="926508" y="168456"/>
                </a:lnTo>
                <a:cubicBezTo>
                  <a:pt x="926508" y="261429"/>
                  <a:pt x="851025" y="336912"/>
                  <a:pt x="758052" y="336912"/>
                </a:cubicBezTo>
                <a:lnTo>
                  <a:pt x="168456" y="336912"/>
                </a:lnTo>
                <a:cubicBezTo>
                  <a:pt x="75420" y="336912"/>
                  <a:pt x="0" y="261492"/>
                  <a:pt x="0" y="168456"/>
                </a:cubicBezTo>
                <a:lnTo>
                  <a:pt x="0" y="168456"/>
                </a:lnTo>
                <a:cubicBezTo>
                  <a:pt x="0" y="75420"/>
                  <a:pt x="75420" y="0"/>
                  <a:pt x="168456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4614682" y="1949276"/>
            <a:ext cx="1010736" cy="336912"/>
          </a:xfrm>
          <a:prstGeom prst="rect">
            <a:avLst/>
          </a:prstGeom>
          <a:noFill/>
          <a:ln/>
        </p:spPr>
        <p:txBody>
          <a:bodyPr wrap="square" lIns="144391" tIns="48130" rIns="144391" bIns="48130" rtlCol="0" anchor="ctr"/>
          <a:lstStyle/>
          <a:p>
            <a:pPr>
              <a:lnSpc>
                <a:spcPct val="120000"/>
              </a:lnSpc>
            </a:pPr>
            <a:r>
              <a:rPr lang="en-US" sz="1326" dirty="0" err="1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传统ETL</a:t>
            </a:r>
            <a:endParaRPr lang="en-US" sz="1326" dirty="0">
              <a:solidFill>
                <a:srgbClr val="32C7B4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564234" y="2454644"/>
            <a:ext cx="3477412" cy="385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74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1000万+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94315" y="2839686"/>
            <a:ext cx="3417249" cy="240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26" dirty="0">
                <a:solidFill>
                  <a:srgbClr val="E1E3E6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日交易笔数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87050" y="2454644"/>
            <a:ext cx="3477412" cy="385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74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500亿+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17132" y="2839686"/>
            <a:ext cx="3417249" cy="240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26" dirty="0">
                <a:solidFill>
                  <a:srgbClr val="E1E3E6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日交易金额(CNY)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09961" y="2454644"/>
            <a:ext cx="3477412" cy="385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74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4-6小时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40042" y="2839686"/>
            <a:ext cx="3417249" cy="240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26" dirty="0">
                <a:solidFill>
                  <a:srgbClr val="E1E3E6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处理窗口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132777" y="2454644"/>
            <a:ext cx="3477412" cy="385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74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T+1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162859" y="2839686"/>
            <a:ext cx="3417249" cy="240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26" dirty="0">
                <a:solidFill>
                  <a:srgbClr val="E1E3E6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数据延迟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36429" y="3224728"/>
            <a:ext cx="13993877" cy="312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16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跨行转账对账：核心交易系统、渠道系统、外部支付系统的数据整合与清算。采用Oracle/PostgreSQL分层存储，夜间批量ETL处理，生成监管报表。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5368" y="3970748"/>
            <a:ext cx="15269329" cy="2093667"/>
          </a:xfrm>
          <a:custGeom>
            <a:avLst/>
            <a:gdLst/>
            <a:ahLst/>
            <a:cxnLst/>
            <a:rect l="l" t="t" r="r" b="b"/>
            <a:pathLst>
              <a:path w="15269329" h="2093667">
                <a:moveTo>
                  <a:pt x="48130" y="0"/>
                </a:moveTo>
                <a:lnTo>
                  <a:pt x="15124929" y="0"/>
                </a:lnTo>
                <a:cubicBezTo>
                  <a:pt x="15204679" y="0"/>
                  <a:pt x="15269329" y="64650"/>
                  <a:pt x="15269329" y="144400"/>
                </a:cubicBezTo>
                <a:lnTo>
                  <a:pt x="15269329" y="1949267"/>
                </a:lnTo>
                <a:cubicBezTo>
                  <a:pt x="15269329" y="2028963"/>
                  <a:pt x="15204626" y="2093667"/>
                  <a:pt x="15124929" y="2093667"/>
                </a:cubicBezTo>
                <a:lnTo>
                  <a:pt x="48130" y="2093667"/>
                </a:lnTo>
                <a:cubicBezTo>
                  <a:pt x="21549" y="2093667"/>
                  <a:pt x="0" y="2072118"/>
                  <a:pt x="0" y="2045537"/>
                </a:cubicBezTo>
                <a:lnTo>
                  <a:pt x="0" y="48130"/>
                </a:lnTo>
                <a:cubicBezTo>
                  <a:pt x="0" y="21549"/>
                  <a:pt x="21549" y="0"/>
                  <a:pt x="48130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505368" y="3970748"/>
            <a:ext cx="48130" cy="2093667"/>
          </a:xfrm>
          <a:custGeom>
            <a:avLst/>
            <a:gdLst/>
            <a:ahLst/>
            <a:cxnLst/>
            <a:rect l="l" t="t" r="r" b="b"/>
            <a:pathLst>
              <a:path w="48130" h="2093667">
                <a:moveTo>
                  <a:pt x="48130" y="0"/>
                </a:moveTo>
                <a:lnTo>
                  <a:pt x="48130" y="0"/>
                </a:lnTo>
                <a:lnTo>
                  <a:pt x="48130" y="2093667"/>
                </a:lnTo>
                <a:lnTo>
                  <a:pt x="48130" y="2093667"/>
                </a:lnTo>
                <a:cubicBezTo>
                  <a:pt x="21549" y="2093667"/>
                  <a:pt x="0" y="2072118"/>
                  <a:pt x="0" y="2045537"/>
                </a:cubicBezTo>
                <a:lnTo>
                  <a:pt x="0" y="48130"/>
                </a:lnTo>
                <a:cubicBezTo>
                  <a:pt x="0" y="21549"/>
                  <a:pt x="21549" y="0"/>
                  <a:pt x="48130" y="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770084" y="4211399"/>
            <a:ext cx="673824" cy="673824"/>
          </a:xfrm>
          <a:custGeom>
            <a:avLst/>
            <a:gdLst/>
            <a:ahLst/>
            <a:cxnLst/>
            <a:rect l="l" t="t" r="r" b="b"/>
            <a:pathLst>
              <a:path w="673824" h="673824">
                <a:moveTo>
                  <a:pt x="96262" y="0"/>
                </a:moveTo>
                <a:lnTo>
                  <a:pt x="577561" y="0"/>
                </a:lnTo>
                <a:cubicBezTo>
                  <a:pt x="630726" y="0"/>
                  <a:pt x="673824" y="43098"/>
                  <a:pt x="673824" y="96262"/>
                </a:cubicBezTo>
                <a:lnTo>
                  <a:pt x="673824" y="577561"/>
                </a:lnTo>
                <a:cubicBezTo>
                  <a:pt x="673824" y="630726"/>
                  <a:pt x="630726" y="673824"/>
                  <a:pt x="577561" y="673824"/>
                </a:cubicBezTo>
                <a:lnTo>
                  <a:pt x="96262" y="673824"/>
                </a:lnTo>
                <a:cubicBezTo>
                  <a:pt x="43098" y="673824"/>
                  <a:pt x="0" y="630726"/>
                  <a:pt x="0" y="577561"/>
                </a:cubicBezTo>
                <a:lnTo>
                  <a:pt x="0" y="96262"/>
                </a:lnTo>
                <a:cubicBezTo>
                  <a:pt x="0" y="43134"/>
                  <a:pt x="43134" y="0"/>
                  <a:pt x="96262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926508" y="4403920"/>
            <a:ext cx="360977" cy="288782"/>
          </a:xfrm>
          <a:custGeom>
            <a:avLst/>
            <a:gdLst/>
            <a:ahLst/>
            <a:cxnLst/>
            <a:rect l="l" t="t" r="r" b="b"/>
            <a:pathLst>
              <a:path w="360977" h="288782">
                <a:moveTo>
                  <a:pt x="13537" y="-9024"/>
                </a:moveTo>
                <a:cubicBezTo>
                  <a:pt x="6035" y="-9024"/>
                  <a:pt x="0" y="-2989"/>
                  <a:pt x="0" y="4512"/>
                </a:cubicBezTo>
                <a:cubicBezTo>
                  <a:pt x="0" y="12014"/>
                  <a:pt x="6035" y="18049"/>
                  <a:pt x="13537" y="18049"/>
                </a:cubicBezTo>
                <a:lnTo>
                  <a:pt x="39087" y="18049"/>
                </a:lnTo>
                <a:cubicBezTo>
                  <a:pt x="41287" y="18049"/>
                  <a:pt x="43148" y="19628"/>
                  <a:pt x="43543" y="21771"/>
                </a:cubicBezTo>
                <a:lnTo>
                  <a:pt x="72929" y="183252"/>
                </a:lnTo>
                <a:cubicBezTo>
                  <a:pt x="76426" y="202542"/>
                  <a:pt x="93234" y="216586"/>
                  <a:pt x="112862" y="216586"/>
                </a:cubicBezTo>
                <a:lnTo>
                  <a:pt x="257196" y="216586"/>
                </a:lnTo>
                <a:cubicBezTo>
                  <a:pt x="264698" y="216586"/>
                  <a:pt x="270733" y="210551"/>
                  <a:pt x="270733" y="203050"/>
                </a:cubicBezTo>
                <a:cubicBezTo>
                  <a:pt x="270733" y="195548"/>
                  <a:pt x="264698" y="189513"/>
                  <a:pt x="257196" y="189513"/>
                </a:cubicBezTo>
                <a:lnTo>
                  <a:pt x="112862" y="189513"/>
                </a:lnTo>
                <a:cubicBezTo>
                  <a:pt x="106319" y="189513"/>
                  <a:pt x="100735" y="184832"/>
                  <a:pt x="99551" y="178402"/>
                </a:cubicBezTo>
                <a:lnTo>
                  <a:pt x="96674" y="162440"/>
                </a:lnTo>
                <a:lnTo>
                  <a:pt x="267913" y="162440"/>
                </a:lnTo>
                <a:cubicBezTo>
                  <a:pt x="285285" y="162440"/>
                  <a:pt x="300175" y="150087"/>
                  <a:pt x="303390" y="132997"/>
                </a:cubicBezTo>
                <a:lnTo>
                  <a:pt x="320875" y="39425"/>
                </a:lnTo>
                <a:cubicBezTo>
                  <a:pt x="322962" y="28314"/>
                  <a:pt x="314445" y="18049"/>
                  <a:pt x="303108" y="18049"/>
                </a:cubicBezTo>
                <a:lnTo>
                  <a:pt x="70334" y="18049"/>
                </a:lnTo>
                <a:lnTo>
                  <a:pt x="70109" y="16921"/>
                </a:lnTo>
                <a:cubicBezTo>
                  <a:pt x="67401" y="1918"/>
                  <a:pt x="54316" y="-9024"/>
                  <a:pt x="39031" y="-9024"/>
                </a:cubicBezTo>
                <a:lnTo>
                  <a:pt x="13537" y="-9024"/>
                </a:lnTo>
                <a:close/>
                <a:moveTo>
                  <a:pt x="117318" y="288782"/>
                </a:moveTo>
                <a:cubicBezTo>
                  <a:pt x="132260" y="288782"/>
                  <a:pt x="144391" y="276651"/>
                  <a:pt x="144391" y="261708"/>
                </a:cubicBezTo>
                <a:cubicBezTo>
                  <a:pt x="144391" y="246766"/>
                  <a:pt x="132260" y="234635"/>
                  <a:pt x="117318" y="234635"/>
                </a:cubicBezTo>
                <a:cubicBezTo>
                  <a:pt x="102375" y="234635"/>
                  <a:pt x="90244" y="246766"/>
                  <a:pt x="90244" y="261708"/>
                </a:cubicBezTo>
                <a:cubicBezTo>
                  <a:pt x="90244" y="276651"/>
                  <a:pt x="102375" y="288782"/>
                  <a:pt x="117318" y="288782"/>
                </a:cubicBezTo>
                <a:close/>
                <a:moveTo>
                  <a:pt x="243660" y="288782"/>
                </a:moveTo>
                <a:cubicBezTo>
                  <a:pt x="258602" y="288782"/>
                  <a:pt x="270733" y="276651"/>
                  <a:pt x="270733" y="261708"/>
                </a:cubicBezTo>
                <a:cubicBezTo>
                  <a:pt x="270733" y="246766"/>
                  <a:pt x="258602" y="234635"/>
                  <a:pt x="243660" y="234635"/>
                </a:cubicBezTo>
                <a:cubicBezTo>
                  <a:pt x="228717" y="234635"/>
                  <a:pt x="216586" y="246766"/>
                  <a:pt x="216586" y="261708"/>
                </a:cubicBezTo>
                <a:cubicBezTo>
                  <a:pt x="216586" y="276651"/>
                  <a:pt x="228717" y="288782"/>
                  <a:pt x="243660" y="288782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636429" y="4211399"/>
            <a:ext cx="2454644" cy="385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74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电商用户行为分析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4235845" y="4235464"/>
            <a:ext cx="1299517" cy="336912"/>
          </a:xfrm>
          <a:custGeom>
            <a:avLst/>
            <a:gdLst/>
            <a:ahLst/>
            <a:cxnLst/>
            <a:rect l="l" t="t" r="r" b="b"/>
            <a:pathLst>
              <a:path w="1299517" h="336912">
                <a:moveTo>
                  <a:pt x="168456" y="0"/>
                </a:moveTo>
                <a:lnTo>
                  <a:pt x="1131061" y="0"/>
                </a:lnTo>
                <a:cubicBezTo>
                  <a:pt x="1224097" y="0"/>
                  <a:pt x="1299517" y="75420"/>
                  <a:pt x="1299517" y="168456"/>
                </a:cubicBezTo>
                <a:lnTo>
                  <a:pt x="1299517" y="168456"/>
                </a:lnTo>
                <a:cubicBezTo>
                  <a:pt x="1299517" y="261492"/>
                  <a:pt x="1224097" y="336912"/>
                  <a:pt x="1131061" y="336912"/>
                </a:cubicBezTo>
                <a:lnTo>
                  <a:pt x="168456" y="336912"/>
                </a:lnTo>
                <a:cubicBezTo>
                  <a:pt x="75420" y="336912"/>
                  <a:pt x="0" y="261492"/>
                  <a:pt x="0" y="168456"/>
                </a:cubicBezTo>
                <a:lnTo>
                  <a:pt x="0" y="168456"/>
                </a:lnTo>
                <a:cubicBezTo>
                  <a:pt x="0" y="75420"/>
                  <a:pt x="75420" y="0"/>
                  <a:pt x="168456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14235845" y="4235464"/>
            <a:ext cx="1383745" cy="336912"/>
          </a:xfrm>
          <a:prstGeom prst="rect">
            <a:avLst/>
          </a:prstGeom>
          <a:noFill/>
          <a:ln/>
        </p:spPr>
        <p:txBody>
          <a:bodyPr wrap="square" lIns="144391" tIns="48130" rIns="144391" bIns="48130" rtlCol="0" anchor="ctr"/>
          <a:lstStyle/>
          <a:p>
            <a:pPr>
              <a:lnSpc>
                <a:spcPct val="120000"/>
              </a:lnSpc>
            </a:pPr>
            <a:r>
              <a:rPr lang="en-US" sz="1326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分布式批处理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564234" y="4740832"/>
            <a:ext cx="3477412" cy="385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74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5亿+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594315" y="5125874"/>
            <a:ext cx="3417249" cy="240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26" dirty="0">
                <a:solidFill>
                  <a:srgbClr val="E1E3E6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日行为日志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087050" y="4740832"/>
            <a:ext cx="3477412" cy="385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74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1亿+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117132" y="5125874"/>
            <a:ext cx="3417249" cy="240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26" dirty="0">
                <a:solidFill>
                  <a:srgbClr val="E1E3E6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活跃用户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609961" y="4740832"/>
            <a:ext cx="3477412" cy="385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74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分钟级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640042" y="5125874"/>
            <a:ext cx="3417249" cy="240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26" dirty="0">
                <a:solidFill>
                  <a:srgbClr val="E1E3E6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处理延迟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2132777" y="4740832"/>
            <a:ext cx="3477412" cy="385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74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TB-PB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2162859" y="5125874"/>
            <a:ext cx="3417249" cy="240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26" dirty="0">
                <a:solidFill>
                  <a:srgbClr val="E1E3E6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数据规模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636429" y="5510916"/>
            <a:ext cx="13993877" cy="312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16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用户行为离线分析：基于Flume/Kafka/Spark的混合处理架构，支持用户画像、商品推荐、营销效果评估。批流一体架构实现T+1深度分析与分钟级近实时监控。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05368" y="6256936"/>
            <a:ext cx="15269329" cy="2093667"/>
          </a:xfrm>
          <a:custGeom>
            <a:avLst/>
            <a:gdLst/>
            <a:ahLst/>
            <a:cxnLst/>
            <a:rect l="l" t="t" r="r" b="b"/>
            <a:pathLst>
              <a:path w="15269329" h="2093667">
                <a:moveTo>
                  <a:pt x="48130" y="0"/>
                </a:moveTo>
                <a:lnTo>
                  <a:pt x="15124929" y="0"/>
                </a:lnTo>
                <a:cubicBezTo>
                  <a:pt x="15204679" y="0"/>
                  <a:pt x="15269329" y="64650"/>
                  <a:pt x="15269329" y="144400"/>
                </a:cubicBezTo>
                <a:lnTo>
                  <a:pt x="15269329" y="1949267"/>
                </a:lnTo>
                <a:cubicBezTo>
                  <a:pt x="15269329" y="2028963"/>
                  <a:pt x="15204626" y="2093667"/>
                  <a:pt x="15124929" y="2093667"/>
                </a:cubicBezTo>
                <a:lnTo>
                  <a:pt x="48130" y="2093667"/>
                </a:lnTo>
                <a:cubicBezTo>
                  <a:pt x="21549" y="2093667"/>
                  <a:pt x="0" y="2072118"/>
                  <a:pt x="0" y="2045537"/>
                </a:cubicBezTo>
                <a:lnTo>
                  <a:pt x="0" y="48130"/>
                </a:lnTo>
                <a:cubicBezTo>
                  <a:pt x="0" y="21549"/>
                  <a:pt x="21549" y="0"/>
                  <a:pt x="48130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505368" y="6256936"/>
            <a:ext cx="48130" cy="2093667"/>
          </a:xfrm>
          <a:custGeom>
            <a:avLst/>
            <a:gdLst/>
            <a:ahLst/>
            <a:cxnLst/>
            <a:rect l="l" t="t" r="r" b="b"/>
            <a:pathLst>
              <a:path w="48130" h="2093667">
                <a:moveTo>
                  <a:pt x="48130" y="0"/>
                </a:moveTo>
                <a:lnTo>
                  <a:pt x="48130" y="0"/>
                </a:lnTo>
                <a:lnTo>
                  <a:pt x="48130" y="2093667"/>
                </a:lnTo>
                <a:lnTo>
                  <a:pt x="48130" y="2093667"/>
                </a:lnTo>
                <a:cubicBezTo>
                  <a:pt x="21549" y="2093667"/>
                  <a:pt x="0" y="2072118"/>
                  <a:pt x="0" y="2045537"/>
                </a:cubicBezTo>
                <a:lnTo>
                  <a:pt x="0" y="48130"/>
                </a:lnTo>
                <a:cubicBezTo>
                  <a:pt x="0" y="21549"/>
                  <a:pt x="21549" y="0"/>
                  <a:pt x="48130" y="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770084" y="6497587"/>
            <a:ext cx="673824" cy="673824"/>
          </a:xfrm>
          <a:custGeom>
            <a:avLst/>
            <a:gdLst/>
            <a:ahLst/>
            <a:cxnLst/>
            <a:rect l="l" t="t" r="r" b="b"/>
            <a:pathLst>
              <a:path w="673824" h="673824">
                <a:moveTo>
                  <a:pt x="96262" y="0"/>
                </a:moveTo>
                <a:lnTo>
                  <a:pt x="577561" y="0"/>
                </a:lnTo>
                <a:cubicBezTo>
                  <a:pt x="630726" y="0"/>
                  <a:pt x="673824" y="43098"/>
                  <a:pt x="673824" y="96262"/>
                </a:cubicBezTo>
                <a:lnTo>
                  <a:pt x="673824" y="577561"/>
                </a:lnTo>
                <a:cubicBezTo>
                  <a:pt x="673824" y="630726"/>
                  <a:pt x="630726" y="673824"/>
                  <a:pt x="577561" y="673824"/>
                </a:cubicBezTo>
                <a:lnTo>
                  <a:pt x="96262" y="673824"/>
                </a:lnTo>
                <a:cubicBezTo>
                  <a:pt x="43098" y="673824"/>
                  <a:pt x="0" y="630726"/>
                  <a:pt x="0" y="577561"/>
                </a:cubicBezTo>
                <a:lnTo>
                  <a:pt x="0" y="96262"/>
                </a:lnTo>
                <a:cubicBezTo>
                  <a:pt x="0" y="43134"/>
                  <a:pt x="43134" y="0"/>
                  <a:pt x="96262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962605" y="6690108"/>
            <a:ext cx="288782" cy="288782"/>
          </a:xfrm>
          <a:custGeom>
            <a:avLst/>
            <a:gdLst/>
            <a:ahLst/>
            <a:cxnLst/>
            <a:rect l="l" t="t" r="r" b="b"/>
            <a:pathLst>
              <a:path w="288782" h="288782">
                <a:moveTo>
                  <a:pt x="144391" y="0"/>
                </a:moveTo>
                <a:cubicBezTo>
                  <a:pt x="146985" y="0"/>
                  <a:pt x="149580" y="564"/>
                  <a:pt x="151949" y="1636"/>
                </a:cubicBezTo>
                <a:lnTo>
                  <a:pt x="258211" y="46701"/>
                </a:lnTo>
                <a:cubicBezTo>
                  <a:pt x="270620" y="51947"/>
                  <a:pt x="279870" y="64186"/>
                  <a:pt x="279814" y="78964"/>
                </a:cubicBezTo>
                <a:cubicBezTo>
                  <a:pt x="279532" y="134915"/>
                  <a:pt x="256519" y="237286"/>
                  <a:pt x="159338" y="283818"/>
                </a:cubicBezTo>
                <a:cubicBezTo>
                  <a:pt x="149918" y="288330"/>
                  <a:pt x="138976" y="288330"/>
                  <a:pt x="129557" y="283818"/>
                </a:cubicBezTo>
                <a:cubicBezTo>
                  <a:pt x="32319" y="237286"/>
                  <a:pt x="9363" y="134915"/>
                  <a:pt x="9081" y="78964"/>
                </a:cubicBezTo>
                <a:cubicBezTo>
                  <a:pt x="9024" y="64186"/>
                  <a:pt x="18274" y="51947"/>
                  <a:pt x="30683" y="46701"/>
                </a:cubicBezTo>
                <a:lnTo>
                  <a:pt x="136889" y="1636"/>
                </a:lnTo>
                <a:cubicBezTo>
                  <a:pt x="139258" y="564"/>
                  <a:pt x="141796" y="0"/>
                  <a:pt x="144391" y="0"/>
                </a:cubicBezTo>
                <a:close/>
                <a:moveTo>
                  <a:pt x="144391" y="37677"/>
                </a:moveTo>
                <a:lnTo>
                  <a:pt x="144391" y="250935"/>
                </a:lnTo>
                <a:cubicBezTo>
                  <a:pt x="222226" y="213258"/>
                  <a:pt x="243152" y="129783"/>
                  <a:pt x="243660" y="79810"/>
                </a:cubicBezTo>
                <a:lnTo>
                  <a:pt x="144391" y="37733"/>
                </a:lnTo>
                <a:lnTo>
                  <a:pt x="144391" y="37733"/>
                </a:ln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1636429" y="6497587"/>
            <a:ext cx="2454644" cy="385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74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实时欺诈检测系统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4572756" y="6521652"/>
            <a:ext cx="962605" cy="336912"/>
          </a:xfrm>
          <a:custGeom>
            <a:avLst/>
            <a:gdLst/>
            <a:ahLst/>
            <a:cxnLst/>
            <a:rect l="l" t="t" r="r" b="b"/>
            <a:pathLst>
              <a:path w="962605" h="336912">
                <a:moveTo>
                  <a:pt x="168456" y="0"/>
                </a:moveTo>
                <a:lnTo>
                  <a:pt x="794150" y="0"/>
                </a:lnTo>
                <a:cubicBezTo>
                  <a:pt x="887123" y="0"/>
                  <a:pt x="962605" y="75483"/>
                  <a:pt x="962605" y="168456"/>
                </a:cubicBezTo>
                <a:lnTo>
                  <a:pt x="962605" y="168456"/>
                </a:lnTo>
                <a:cubicBezTo>
                  <a:pt x="962605" y="261429"/>
                  <a:pt x="887123" y="336912"/>
                  <a:pt x="794150" y="336912"/>
                </a:cubicBezTo>
                <a:lnTo>
                  <a:pt x="168456" y="336912"/>
                </a:lnTo>
                <a:cubicBezTo>
                  <a:pt x="75420" y="336912"/>
                  <a:pt x="0" y="261492"/>
                  <a:pt x="0" y="168456"/>
                </a:cubicBezTo>
                <a:lnTo>
                  <a:pt x="0" y="168456"/>
                </a:lnTo>
                <a:cubicBezTo>
                  <a:pt x="0" y="75420"/>
                  <a:pt x="75420" y="0"/>
                  <a:pt x="168456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14572756" y="6521652"/>
            <a:ext cx="1046833" cy="336912"/>
          </a:xfrm>
          <a:prstGeom prst="rect">
            <a:avLst/>
          </a:prstGeom>
          <a:noFill/>
          <a:ln/>
        </p:spPr>
        <p:txBody>
          <a:bodyPr wrap="square" lIns="144391" tIns="48130" rIns="144391" bIns="48130" rtlCol="0" anchor="ctr"/>
          <a:lstStyle/>
          <a:p>
            <a:pPr>
              <a:lnSpc>
                <a:spcPct val="120000"/>
              </a:lnSpc>
            </a:pPr>
            <a:r>
              <a:rPr lang="en-US" sz="1326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流式计算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564234" y="7027020"/>
            <a:ext cx="3477412" cy="385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74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500万+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594315" y="7412062"/>
            <a:ext cx="3417249" cy="240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26" dirty="0">
                <a:solidFill>
                  <a:srgbClr val="E1E3E6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日交易笔数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087050" y="7027020"/>
            <a:ext cx="3477412" cy="385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74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100亿+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117132" y="7412062"/>
            <a:ext cx="3417249" cy="240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26" dirty="0">
                <a:solidFill>
                  <a:srgbClr val="E1E3E6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日交易金额(CNY)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609961" y="7027020"/>
            <a:ext cx="3477412" cy="385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74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&lt;100ms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640042" y="7412062"/>
            <a:ext cx="3417249" cy="240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26" dirty="0">
                <a:solidFill>
                  <a:srgbClr val="E1E3E6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处理延迟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2132777" y="7027020"/>
            <a:ext cx="3477412" cy="385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74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7×24h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2162859" y="7412062"/>
            <a:ext cx="3417249" cy="240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26" dirty="0">
                <a:solidFill>
                  <a:srgbClr val="E1E3E6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持续运行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636429" y="7797104"/>
            <a:ext cx="13993877" cy="312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16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信用卡实时反欺诈：基于Flink的流式处理架构，毫秒级风险决策。支持复杂规则引擎、机器学习模型、实时特征计算，保障金融交易安全。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7125" y="497125"/>
            <a:ext cx="497125" cy="497125"/>
          </a:xfrm>
          <a:custGeom>
            <a:avLst/>
            <a:gdLst/>
            <a:ahLst/>
            <a:cxnLst/>
            <a:rect l="l" t="t" r="r" b="b"/>
            <a:pathLst>
              <a:path w="497125" h="497125">
                <a:moveTo>
                  <a:pt x="99425" y="0"/>
                </a:moveTo>
                <a:lnTo>
                  <a:pt x="397700" y="0"/>
                </a:lnTo>
                <a:cubicBezTo>
                  <a:pt x="452611" y="0"/>
                  <a:pt x="497125" y="44514"/>
                  <a:pt x="497125" y="99425"/>
                </a:cubicBezTo>
                <a:lnTo>
                  <a:pt x="497125" y="397700"/>
                </a:lnTo>
                <a:cubicBezTo>
                  <a:pt x="497125" y="452611"/>
                  <a:pt x="452611" y="497125"/>
                  <a:pt x="397700" y="497125"/>
                </a:cubicBezTo>
                <a:lnTo>
                  <a:pt x="99425" y="497125"/>
                </a:lnTo>
                <a:cubicBezTo>
                  <a:pt x="44514" y="497125"/>
                  <a:pt x="0" y="452611"/>
                  <a:pt x="0" y="397700"/>
                </a:cubicBezTo>
                <a:lnTo>
                  <a:pt x="0" y="99425"/>
                </a:lnTo>
                <a:cubicBezTo>
                  <a:pt x="0" y="44551"/>
                  <a:pt x="44551" y="0"/>
                  <a:pt x="99425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636942" y="633835"/>
            <a:ext cx="223706" cy="223706"/>
          </a:xfrm>
          <a:custGeom>
            <a:avLst/>
            <a:gdLst/>
            <a:ahLst/>
            <a:cxnLst/>
            <a:rect l="l" t="t" r="r" b="b"/>
            <a:pathLst>
              <a:path w="223706" h="223706">
                <a:moveTo>
                  <a:pt x="118800" y="8826"/>
                </a:moveTo>
                <a:cubicBezTo>
                  <a:pt x="114518" y="6379"/>
                  <a:pt x="109232" y="6379"/>
                  <a:pt x="104906" y="8826"/>
                </a:cubicBezTo>
                <a:lnTo>
                  <a:pt x="7035" y="64753"/>
                </a:lnTo>
                <a:cubicBezTo>
                  <a:pt x="1529" y="67898"/>
                  <a:pt x="-1180" y="74365"/>
                  <a:pt x="437" y="80482"/>
                </a:cubicBezTo>
                <a:cubicBezTo>
                  <a:pt x="2054" y="86599"/>
                  <a:pt x="7646" y="90881"/>
                  <a:pt x="13982" y="90881"/>
                </a:cubicBezTo>
                <a:lnTo>
                  <a:pt x="27963" y="90881"/>
                </a:lnTo>
                <a:lnTo>
                  <a:pt x="27963" y="181761"/>
                </a:lnTo>
                <a:lnTo>
                  <a:pt x="27963" y="181761"/>
                </a:lnTo>
                <a:lnTo>
                  <a:pt x="5593" y="198539"/>
                </a:lnTo>
                <a:cubicBezTo>
                  <a:pt x="2054" y="201161"/>
                  <a:pt x="0" y="205312"/>
                  <a:pt x="0" y="209725"/>
                </a:cubicBezTo>
                <a:cubicBezTo>
                  <a:pt x="0" y="217458"/>
                  <a:pt x="6248" y="223706"/>
                  <a:pt x="13982" y="223706"/>
                </a:cubicBezTo>
                <a:lnTo>
                  <a:pt x="209725" y="223706"/>
                </a:lnTo>
                <a:cubicBezTo>
                  <a:pt x="217458" y="223706"/>
                  <a:pt x="223706" y="217458"/>
                  <a:pt x="223706" y="209725"/>
                </a:cubicBezTo>
                <a:cubicBezTo>
                  <a:pt x="223706" y="205312"/>
                  <a:pt x="221653" y="201161"/>
                  <a:pt x="218114" y="198539"/>
                </a:cubicBezTo>
                <a:lnTo>
                  <a:pt x="195743" y="181761"/>
                </a:lnTo>
                <a:lnTo>
                  <a:pt x="195743" y="90881"/>
                </a:lnTo>
                <a:lnTo>
                  <a:pt x="209725" y="90881"/>
                </a:lnTo>
                <a:cubicBezTo>
                  <a:pt x="216060" y="90881"/>
                  <a:pt x="221609" y="86599"/>
                  <a:pt x="223226" y="80482"/>
                </a:cubicBezTo>
                <a:cubicBezTo>
                  <a:pt x="224842" y="74365"/>
                  <a:pt x="222133" y="67898"/>
                  <a:pt x="216628" y="64753"/>
                </a:cubicBezTo>
                <a:lnTo>
                  <a:pt x="118757" y="8826"/>
                </a:lnTo>
                <a:close/>
                <a:moveTo>
                  <a:pt x="174771" y="90881"/>
                </a:moveTo>
                <a:lnTo>
                  <a:pt x="174771" y="181761"/>
                </a:lnTo>
                <a:lnTo>
                  <a:pt x="146807" y="181761"/>
                </a:lnTo>
                <a:lnTo>
                  <a:pt x="146807" y="90881"/>
                </a:lnTo>
                <a:lnTo>
                  <a:pt x="174771" y="90881"/>
                </a:lnTo>
                <a:close/>
                <a:moveTo>
                  <a:pt x="125835" y="90881"/>
                </a:moveTo>
                <a:lnTo>
                  <a:pt x="125835" y="181761"/>
                </a:lnTo>
                <a:lnTo>
                  <a:pt x="97872" y="181761"/>
                </a:lnTo>
                <a:lnTo>
                  <a:pt x="97872" y="90881"/>
                </a:lnTo>
                <a:lnTo>
                  <a:pt x="125835" y="90881"/>
                </a:lnTo>
                <a:close/>
                <a:moveTo>
                  <a:pt x="76899" y="90881"/>
                </a:moveTo>
                <a:lnTo>
                  <a:pt x="76899" y="181761"/>
                </a:lnTo>
                <a:lnTo>
                  <a:pt x="48936" y="181761"/>
                </a:lnTo>
                <a:lnTo>
                  <a:pt x="48936" y="90881"/>
                </a:lnTo>
                <a:lnTo>
                  <a:pt x="76899" y="90881"/>
                </a:lnTo>
                <a:close/>
                <a:moveTo>
                  <a:pt x="111853" y="41945"/>
                </a:moveTo>
                <a:cubicBezTo>
                  <a:pt x="119570" y="41945"/>
                  <a:pt x="125835" y="48210"/>
                  <a:pt x="125835" y="55927"/>
                </a:cubicBezTo>
                <a:cubicBezTo>
                  <a:pt x="125835" y="63643"/>
                  <a:pt x="119570" y="69908"/>
                  <a:pt x="111853" y="69908"/>
                </a:cubicBezTo>
                <a:cubicBezTo>
                  <a:pt x="104137" y="69908"/>
                  <a:pt x="97872" y="63643"/>
                  <a:pt x="97872" y="55927"/>
                </a:cubicBezTo>
                <a:cubicBezTo>
                  <a:pt x="97872" y="48210"/>
                  <a:pt x="104137" y="41945"/>
                  <a:pt x="111853" y="41945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143388" y="497125"/>
            <a:ext cx="6040073" cy="497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52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案例一：银行日终批处理系统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388" y="1093676"/>
            <a:ext cx="14727339" cy="347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61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传统ETL的典型应用场景，展示批处理的技术特征与工程实现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7125" y="1690226"/>
            <a:ext cx="7506593" cy="4672979"/>
          </a:xfrm>
          <a:custGeom>
            <a:avLst/>
            <a:gdLst/>
            <a:ahLst/>
            <a:cxnLst/>
            <a:rect l="l" t="t" r="r" b="b"/>
            <a:pathLst>
              <a:path w="7506593" h="4672979">
                <a:moveTo>
                  <a:pt x="149115" y="0"/>
                </a:moveTo>
                <a:lnTo>
                  <a:pt x="7357479" y="0"/>
                </a:lnTo>
                <a:cubicBezTo>
                  <a:pt x="7439832" y="0"/>
                  <a:pt x="7506593" y="66761"/>
                  <a:pt x="7506593" y="149115"/>
                </a:cubicBezTo>
                <a:lnTo>
                  <a:pt x="7506593" y="4523864"/>
                </a:lnTo>
                <a:cubicBezTo>
                  <a:pt x="7506593" y="4606218"/>
                  <a:pt x="7439832" y="4672979"/>
                  <a:pt x="7357479" y="4672979"/>
                </a:cubicBezTo>
                <a:lnTo>
                  <a:pt x="149115" y="4672979"/>
                </a:lnTo>
                <a:cubicBezTo>
                  <a:pt x="66761" y="4672979"/>
                  <a:pt x="0" y="4606218"/>
                  <a:pt x="0" y="4523864"/>
                </a:cubicBezTo>
                <a:lnTo>
                  <a:pt x="0" y="149115"/>
                </a:lnTo>
                <a:cubicBezTo>
                  <a:pt x="0" y="66816"/>
                  <a:pt x="66816" y="0"/>
                  <a:pt x="149115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92294" y="1988502"/>
            <a:ext cx="217492" cy="248563"/>
          </a:xfrm>
          <a:custGeom>
            <a:avLst/>
            <a:gdLst/>
            <a:ahLst/>
            <a:cxnLst/>
            <a:rect l="l" t="t" r="r" b="b"/>
            <a:pathLst>
              <a:path w="217492" h="248563">
                <a:moveTo>
                  <a:pt x="217492" y="99911"/>
                </a:moveTo>
                <a:cubicBezTo>
                  <a:pt x="210307" y="104668"/>
                  <a:pt x="202054" y="108503"/>
                  <a:pt x="193461" y="111562"/>
                </a:cubicBezTo>
                <a:cubicBezTo>
                  <a:pt x="170644" y="119718"/>
                  <a:pt x="140690" y="124281"/>
                  <a:pt x="108746" y="124281"/>
                </a:cubicBezTo>
                <a:cubicBezTo>
                  <a:pt x="76802" y="124281"/>
                  <a:pt x="46800" y="119669"/>
                  <a:pt x="24031" y="111562"/>
                </a:cubicBezTo>
                <a:cubicBezTo>
                  <a:pt x="15487" y="108503"/>
                  <a:pt x="7185" y="104668"/>
                  <a:pt x="0" y="99911"/>
                </a:cubicBezTo>
                <a:lnTo>
                  <a:pt x="0" y="139817"/>
                </a:lnTo>
                <a:cubicBezTo>
                  <a:pt x="0" y="161274"/>
                  <a:pt x="48693" y="178654"/>
                  <a:pt x="108746" y="178654"/>
                </a:cubicBezTo>
                <a:cubicBezTo>
                  <a:pt x="168799" y="178654"/>
                  <a:pt x="217492" y="161274"/>
                  <a:pt x="217492" y="139817"/>
                </a:cubicBezTo>
                <a:lnTo>
                  <a:pt x="217492" y="99911"/>
                </a:lnTo>
                <a:close/>
                <a:moveTo>
                  <a:pt x="217492" y="62141"/>
                </a:moveTo>
                <a:lnTo>
                  <a:pt x="217492" y="38838"/>
                </a:lnTo>
                <a:cubicBezTo>
                  <a:pt x="217492" y="17380"/>
                  <a:pt x="168799" y="0"/>
                  <a:pt x="108746" y="0"/>
                </a:cubicBezTo>
                <a:cubicBezTo>
                  <a:pt x="48693" y="0"/>
                  <a:pt x="0" y="17380"/>
                  <a:pt x="0" y="38838"/>
                </a:cubicBezTo>
                <a:lnTo>
                  <a:pt x="0" y="62141"/>
                </a:lnTo>
                <a:cubicBezTo>
                  <a:pt x="0" y="83599"/>
                  <a:pt x="48693" y="100979"/>
                  <a:pt x="108746" y="100979"/>
                </a:cubicBezTo>
                <a:cubicBezTo>
                  <a:pt x="168799" y="100979"/>
                  <a:pt x="217492" y="83599"/>
                  <a:pt x="217492" y="62141"/>
                </a:cubicBezTo>
                <a:close/>
                <a:moveTo>
                  <a:pt x="193461" y="189238"/>
                </a:moveTo>
                <a:cubicBezTo>
                  <a:pt x="170693" y="197345"/>
                  <a:pt x="140739" y="201957"/>
                  <a:pt x="108746" y="201957"/>
                </a:cubicBezTo>
                <a:cubicBezTo>
                  <a:pt x="76753" y="201957"/>
                  <a:pt x="46800" y="197345"/>
                  <a:pt x="24031" y="189238"/>
                </a:cubicBezTo>
                <a:cubicBezTo>
                  <a:pt x="15487" y="186179"/>
                  <a:pt x="7185" y="182344"/>
                  <a:pt x="0" y="177586"/>
                </a:cubicBezTo>
                <a:lnTo>
                  <a:pt x="0" y="209725"/>
                </a:lnTo>
                <a:cubicBezTo>
                  <a:pt x="0" y="231183"/>
                  <a:pt x="48693" y="248563"/>
                  <a:pt x="108746" y="248563"/>
                </a:cubicBezTo>
                <a:cubicBezTo>
                  <a:pt x="168799" y="248563"/>
                  <a:pt x="217492" y="231183"/>
                  <a:pt x="217492" y="209725"/>
                </a:cubicBezTo>
                <a:lnTo>
                  <a:pt x="217492" y="177586"/>
                </a:lnTo>
                <a:cubicBezTo>
                  <a:pt x="210307" y="182344"/>
                  <a:pt x="202054" y="186179"/>
                  <a:pt x="193461" y="189238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56391" y="1938789"/>
            <a:ext cx="6823046" cy="347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57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数据来源与存储架构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5688" y="2485627"/>
            <a:ext cx="7009468" cy="1193101"/>
          </a:xfrm>
          <a:custGeom>
            <a:avLst/>
            <a:gdLst/>
            <a:ahLst/>
            <a:cxnLst/>
            <a:rect l="l" t="t" r="r" b="b"/>
            <a:pathLst>
              <a:path w="7009468" h="1193101">
                <a:moveTo>
                  <a:pt x="99421" y="0"/>
                </a:moveTo>
                <a:lnTo>
                  <a:pt x="6910047" y="0"/>
                </a:lnTo>
                <a:cubicBezTo>
                  <a:pt x="6964956" y="0"/>
                  <a:pt x="7009468" y="44512"/>
                  <a:pt x="7009468" y="99421"/>
                </a:cubicBezTo>
                <a:lnTo>
                  <a:pt x="7009468" y="1093680"/>
                </a:lnTo>
                <a:cubicBezTo>
                  <a:pt x="7009468" y="1148589"/>
                  <a:pt x="6964956" y="1193101"/>
                  <a:pt x="6910047" y="1193101"/>
                </a:cubicBezTo>
                <a:lnTo>
                  <a:pt x="99421" y="1193101"/>
                </a:lnTo>
                <a:cubicBezTo>
                  <a:pt x="44512" y="1193101"/>
                  <a:pt x="0" y="1148589"/>
                  <a:pt x="0" y="1093680"/>
                </a:cubicBezTo>
                <a:lnTo>
                  <a:pt x="0" y="99421"/>
                </a:lnTo>
                <a:cubicBezTo>
                  <a:pt x="0" y="44549"/>
                  <a:pt x="44549" y="0"/>
                  <a:pt x="9942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894826" y="2734190"/>
            <a:ext cx="99425" cy="99425"/>
          </a:xfrm>
          <a:custGeom>
            <a:avLst/>
            <a:gdLst/>
            <a:ahLst/>
            <a:cxnLst/>
            <a:rect l="l" t="t" r="r" b="b"/>
            <a:pathLst>
              <a:path w="99425" h="99425">
                <a:moveTo>
                  <a:pt x="49713" y="0"/>
                </a:moveTo>
                <a:lnTo>
                  <a:pt x="49713" y="0"/>
                </a:lnTo>
                <a:cubicBezTo>
                  <a:pt x="77150" y="0"/>
                  <a:pt x="99425" y="22275"/>
                  <a:pt x="99425" y="49713"/>
                </a:cubicBezTo>
                <a:lnTo>
                  <a:pt x="99425" y="49713"/>
                </a:lnTo>
                <a:cubicBezTo>
                  <a:pt x="99425" y="77150"/>
                  <a:pt x="77150" y="99425"/>
                  <a:pt x="49713" y="99425"/>
                </a:cubicBezTo>
                <a:lnTo>
                  <a:pt x="49713" y="99425"/>
                </a:lnTo>
                <a:cubicBezTo>
                  <a:pt x="22275" y="99425"/>
                  <a:pt x="0" y="77150"/>
                  <a:pt x="0" y="49713"/>
                </a:cubicBezTo>
                <a:lnTo>
                  <a:pt x="0" y="49713"/>
                </a:lnTo>
                <a:cubicBezTo>
                  <a:pt x="0" y="22275"/>
                  <a:pt x="22275" y="0"/>
                  <a:pt x="49713" y="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093676" y="2634765"/>
            <a:ext cx="1292526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6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核心交易系统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3676" y="3032465"/>
            <a:ext cx="6599339" cy="497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Oracle数据库存储内部转账记录，包含交易流水号、账户信息、金额、渠道类型等关键字段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5688" y="3827865"/>
            <a:ext cx="7009468" cy="1193101"/>
          </a:xfrm>
          <a:custGeom>
            <a:avLst/>
            <a:gdLst/>
            <a:ahLst/>
            <a:cxnLst/>
            <a:rect l="l" t="t" r="r" b="b"/>
            <a:pathLst>
              <a:path w="7009468" h="1193101">
                <a:moveTo>
                  <a:pt x="99421" y="0"/>
                </a:moveTo>
                <a:lnTo>
                  <a:pt x="6910047" y="0"/>
                </a:lnTo>
                <a:cubicBezTo>
                  <a:pt x="6964956" y="0"/>
                  <a:pt x="7009468" y="44512"/>
                  <a:pt x="7009468" y="99421"/>
                </a:cubicBezTo>
                <a:lnTo>
                  <a:pt x="7009468" y="1093680"/>
                </a:lnTo>
                <a:cubicBezTo>
                  <a:pt x="7009468" y="1148589"/>
                  <a:pt x="6964956" y="1193101"/>
                  <a:pt x="6910047" y="1193101"/>
                </a:cubicBezTo>
                <a:lnTo>
                  <a:pt x="99421" y="1193101"/>
                </a:lnTo>
                <a:cubicBezTo>
                  <a:pt x="44512" y="1193101"/>
                  <a:pt x="0" y="1148589"/>
                  <a:pt x="0" y="1093680"/>
                </a:cubicBezTo>
                <a:lnTo>
                  <a:pt x="0" y="99421"/>
                </a:lnTo>
                <a:cubicBezTo>
                  <a:pt x="0" y="44549"/>
                  <a:pt x="44549" y="0"/>
                  <a:pt x="9942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894826" y="4076428"/>
            <a:ext cx="99425" cy="99425"/>
          </a:xfrm>
          <a:custGeom>
            <a:avLst/>
            <a:gdLst/>
            <a:ahLst/>
            <a:cxnLst/>
            <a:rect l="l" t="t" r="r" b="b"/>
            <a:pathLst>
              <a:path w="99425" h="99425">
                <a:moveTo>
                  <a:pt x="49713" y="0"/>
                </a:moveTo>
                <a:lnTo>
                  <a:pt x="49713" y="0"/>
                </a:lnTo>
                <a:cubicBezTo>
                  <a:pt x="77150" y="0"/>
                  <a:pt x="99425" y="22275"/>
                  <a:pt x="99425" y="49713"/>
                </a:cubicBezTo>
                <a:lnTo>
                  <a:pt x="99425" y="49713"/>
                </a:lnTo>
                <a:cubicBezTo>
                  <a:pt x="99425" y="77150"/>
                  <a:pt x="77150" y="99425"/>
                  <a:pt x="49713" y="99425"/>
                </a:cubicBezTo>
                <a:lnTo>
                  <a:pt x="49713" y="99425"/>
                </a:lnTo>
                <a:cubicBezTo>
                  <a:pt x="22275" y="99425"/>
                  <a:pt x="0" y="77150"/>
                  <a:pt x="0" y="49713"/>
                </a:cubicBezTo>
                <a:lnTo>
                  <a:pt x="0" y="49713"/>
                </a:lnTo>
                <a:cubicBezTo>
                  <a:pt x="0" y="22275"/>
                  <a:pt x="22275" y="0"/>
                  <a:pt x="49713" y="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093676" y="3977003"/>
            <a:ext cx="894826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6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渠道系统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3676" y="4374703"/>
            <a:ext cx="6599339" cy="497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网银、手机银行、ATM系统通过SFTP提供TXT格式对账文件，包含交易明细和汇总信息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45688" y="5170104"/>
            <a:ext cx="7009468" cy="944538"/>
          </a:xfrm>
          <a:custGeom>
            <a:avLst/>
            <a:gdLst/>
            <a:ahLst/>
            <a:cxnLst/>
            <a:rect l="l" t="t" r="r" b="b"/>
            <a:pathLst>
              <a:path w="7009468" h="944538">
                <a:moveTo>
                  <a:pt x="99422" y="0"/>
                </a:moveTo>
                <a:lnTo>
                  <a:pt x="6910046" y="0"/>
                </a:lnTo>
                <a:cubicBezTo>
                  <a:pt x="6964955" y="0"/>
                  <a:pt x="7009468" y="44513"/>
                  <a:pt x="7009468" y="99422"/>
                </a:cubicBezTo>
                <a:lnTo>
                  <a:pt x="7009468" y="845116"/>
                </a:lnTo>
                <a:cubicBezTo>
                  <a:pt x="7009468" y="900025"/>
                  <a:pt x="6964955" y="944538"/>
                  <a:pt x="6910046" y="944538"/>
                </a:cubicBezTo>
                <a:lnTo>
                  <a:pt x="99422" y="944538"/>
                </a:lnTo>
                <a:cubicBezTo>
                  <a:pt x="44550" y="944538"/>
                  <a:pt x="0" y="899989"/>
                  <a:pt x="0" y="845116"/>
                </a:cubicBezTo>
                <a:lnTo>
                  <a:pt x="0" y="99422"/>
                </a:lnTo>
                <a:cubicBezTo>
                  <a:pt x="0" y="44550"/>
                  <a:pt x="44550" y="0"/>
                  <a:pt x="9942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894826" y="5418667"/>
            <a:ext cx="99425" cy="99425"/>
          </a:xfrm>
          <a:custGeom>
            <a:avLst/>
            <a:gdLst/>
            <a:ahLst/>
            <a:cxnLst/>
            <a:rect l="l" t="t" r="r" b="b"/>
            <a:pathLst>
              <a:path w="99425" h="99425">
                <a:moveTo>
                  <a:pt x="49713" y="0"/>
                </a:moveTo>
                <a:lnTo>
                  <a:pt x="49713" y="0"/>
                </a:lnTo>
                <a:cubicBezTo>
                  <a:pt x="77150" y="0"/>
                  <a:pt x="99425" y="22275"/>
                  <a:pt x="99425" y="49713"/>
                </a:cubicBezTo>
                <a:lnTo>
                  <a:pt x="99425" y="49713"/>
                </a:lnTo>
                <a:cubicBezTo>
                  <a:pt x="99425" y="77150"/>
                  <a:pt x="77150" y="99425"/>
                  <a:pt x="49713" y="99425"/>
                </a:cubicBezTo>
                <a:lnTo>
                  <a:pt x="49713" y="99425"/>
                </a:lnTo>
                <a:cubicBezTo>
                  <a:pt x="22275" y="99425"/>
                  <a:pt x="0" y="77150"/>
                  <a:pt x="0" y="49713"/>
                </a:cubicBezTo>
                <a:lnTo>
                  <a:pt x="0" y="49713"/>
                </a:lnTo>
                <a:cubicBezTo>
                  <a:pt x="0" y="22275"/>
                  <a:pt x="22275" y="0"/>
                  <a:pt x="49713" y="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093676" y="5319242"/>
            <a:ext cx="1292526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6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外部支付系统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93676" y="5716942"/>
            <a:ext cx="6599339" cy="2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银联、网联、央行支付系统提供XML/CSV/定长文本格式的官方对账文件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55000" y="1690226"/>
            <a:ext cx="7506593" cy="4672979"/>
          </a:xfrm>
          <a:custGeom>
            <a:avLst/>
            <a:gdLst/>
            <a:ahLst/>
            <a:cxnLst/>
            <a:rect l="l" t="t" r="r" b="b"/>
            <a:pathLst>
              <a:path w="7506593" h="4672979">
                <a:moveTo>
                  <a:pt x="149115" y="0"/>
                </a:moveTo>
                <a:lnTo>
                  <a:pt x="7357479" y="0"/>
                </a:lnTo>
                <a:cubicBezTo>
                  <a:pt x="7439832" y="0"/>
                  <a:pt x="7506593" y="66761"/>
                  <a:pt x="7506593" y="149115"/>
                </a:cubicBezTo>
                <a:lnTo>
                  <a:pt x="7506593" y="4523864"/>
                </a:lnTo>
                <a:cubicBezTo>
                  <a:pt x="7506593" y="4606218"/>
                  <a:pt x="7439832" y="4672979"/>
                  <a:pt x="7357479" y="4672979"/>
                </a:cubicBezTo>
                <a:lnTo>
                  <a:pt x="149115" y="4672979"/>
                </a:lnTo>
                <a:cubicBezTo>
                  <a:pt x="66761" y="4672979"/>
                  <a:pt x="0" y="4606218"/>
                  <a:pt x="0" y="4523864"/>
                </a:cubicBezTo>
                <a:lnTo>
                  <a:pt x="0" y="149115"/>
                </a:lnTo>
                <a:cubicBezTo>
                  <a:pt x="0" y="66816"/>
                  <a:pt x="66816" y="0"/>
                  <a:pt x="149115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8534633" y="1988502"/>
            <a:ext cx="248563" cy="248563"/>
          </a:xfrm>
          <a:custGeom>
            <a:avLst/>
            <a:gdLst/>
            <a:ahLst/>
            <a:cxnLst/>
            <a:rect l="l" t="t" r="r" b="b"/>
            <a:pathLst>
              <a:path w="248563" h="248563">
                <a:moveTo>
                  <a:pt x="112873" y="2524"/>
                </a:moveTo>
                <a:cubicBezTo>
                  <a:pt x="120106" y="-825"/>
                  <a:pt x="128456" y="-825"/>
                  <a:pt x="135690" y="2524"/>
                </a:cubicBezTo>
                <a:lnTo>
                  <a:pt x="241815" y="51557"/>
                </a:lnTo>
                <a:cubicBezTo>
                  <a:pt x="245941" y="53451"/>
                  <a:pt x="248563" y="57577"/>
                  <a:pt x="248563" y="62141"/>
                </a:cubicBezTo>
                <a:cubicBezTo>
                  <a:pt x="248563" y="66704"/>
                  <a:pt x="245941" y="70831"/>
                  <a:pt x="241815" y="72724"/>
                </a:cubicBezTo>
                <a:lnTo>
                  <a:pt x="135690" y="121757"/>
                </a:lnTo>
                <a:cubicBezTo>
                  <a:pt x="128456" y="125107"/>
                  <a:pt x="120106" y="125107"/>
                  <a:pt x="112873" y="121757"/>
                </a:cubicBezTo>
                <a:lnTo>
                  <a:pt x="6748" y="72724"/>
                </a:lnTo>
                <a:cubicBezTo>
                  <a:pt x="2622" y="70782"/>
                  <a:pt x="0" y="66656"/>
                  <a:pt x="0" y="62141"/>
                </a:cubicBezTo>
                <a:cubicBezTo>
                  <a:pt x="0" y="57626"/>
                  <a:pt x="2622" y="53451"/>
                  <a:pt x="6748" y="51557"/>
                </a:cubicBezTo>
                <a:lnTo>
                  <a:pt x="112873" y="2524"/>
                </a:lnTo>
                <a:close/>
                <a:moveTo>
                  <a:pt x="23351" y="106028"/>
                </a:moveTo>
                <a:lnTo>
                  <a:pt x="103115" y="142875"/>
                </a:lnTo>
                <a:cubicBezTo>
                  <a:pt x="116562" y="149089"/>
                  <a:pt x="132049" y="149089"/>
                  <a:pt x="145497" y="142875"/>
                </a:cubicBezTo>
                <a:lnTo>
                  <a:pt x="225260" y="106028"/>
                </a:lnTo>
                <a:lnTo>
                  <a:pt x="241815" y="113698"/>
                </a:lnTo>
                <a:cubicBezTo>
                  <a:pt x="245941" y="115591"/>
                  <a:pt x="248563" y="119718"/>
                  <a:pt x="248563" y="124281"/>
                </a:cubicBezTo>
                <a:cubicBezTo>
                  <a:pt x="248563" y="128845"/>
                  <a:pt x="245941" y="132971"/>
                  <a:pt x="241815" y="134865"/>
                </a:cubicBezTo>
                <a:lnTo>
                  <a:pt x="135690" y="183898"/>
                </a:lnTo>
                <a:cubicBezTo>
                  <a:pt x="128456" y="187247"/>
                  <a:pt x="120106" y="187247"/>
                  <a:pt x="112873" y="183898"/>
                </a:cubicBezTo>
                <a:lnTo>
                  <a:pt x="6748" y="134865"/>
                </a:lnTo>
                <a:cubicBezTo>
                  <a:pt x="2622" y="132923"/>
                  <a:pt x="0" y="128796"/>
                  <a:pt x="0" y="124281"/>
                </a:cubicBezTo>
                <a:cubicBezTo>
                  <a:pt x="0" y="119766"/>
                  <a:pt x="2622" y="115591"/>
                  <a:pt x="6748" y="113698"/>
                </a:cubicBezTo>
                <a:lnTo>
                  <a:pt x="23303" y="106028"/>
                </a:lnTo>
                <a:close/>
                <a:moveTo>
                  <a:pt x="6748" y="175839"/>
                </a:moveTo>
                <a:lnTo>
                  <a:pt x="23303" y="168168"/>
                </a:lnTo>
                <a:lnTo>
                  <a:pt x="103066" y="205016"/>
                </a:lnTo>
                <a:cubicBezTo>
                  <a:pt x="116514" y="211230"/>
                  <a:pt x="132000" y="211230"/>
                  <a:pt x="145448" y="205016"/>
                </a:cubicBezTo>
                <a:lnTo>
                  <a:pt x="225211" y="168168"/>
                </a:lnTo>
                <a:lnTo>
                  <a:pt x="241766" y="175839"/>
                </a:lnTo>
                <a:cubicBezTo>
                  <a:pt x="245893" y="177732"/>
                  <a:pt x="248514" y="181859"/>
                  <a:pt x="248514" y="186422"/>
                </a:cubicBezTo>
                <a:cubicBezTo>
                  <a:pt x="248514" y="190985"/>
                  <a:pt x="245893" y="195112"/>
                  <a:pt x="241766" y="197005"/>
                </a:cubicBezTo>
                <a:lnTo>
                  <a:pt x="135641" y="246038"/>
                </a:lnTo>
                <a:cubicBezTo>
                  <a:pt x="128408" y="249388"/>
                  <a:pt x="120058" y="249388"/>
                  <a:pt x="112824" y="246038"/>
                </a:cubicBezTo>
                <a:lnTo>
                  <a:pt x="6748" y="197005"/>
                </a:lnTo>
                <a:cubicBezTo>
                  <a:pt x="2622" y="195063"/>
                  <a:pt x="0" y="190937"/>
                  <a:pt x="0" y="186422"/>
                </a:cubicBezTo>
                <a:cubicBezTo>
                  <a:pt x="0" y="181907"/>
                  <a:pt x="2622" y="177732"/>
                  <a:pt x="6748" y="175839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814266" y="1938789"/>
            <a:ext cx="6823046" cy="347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57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ETL处理流程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503563" y="2485627"/>
            <a:ext cx="497125" cy="497125"/>
          </a:xfrm>
          <a:custGeom>
            <a:avLst/>
            <a:gdLst/>
            <a:ahLst/>
            <a:cxnLst/>
            <a:rect l="l" t="t" r="r" b="b"/>
            <a:pathLst>
              <a:path w="497125" h="497125">
                <a:moveTo>
                  <a:pt x="99425" y="0"/>
                </a:moveTo>
                <a:lnTo>
                  <a:pt x="397700" y="0"/>
                </a:lnTo>
                <a:cubicBezTo>
                  <a:pt x="452611" y="0"/>
                  <a:pt x="497125" y="44514"/>
                  <a:pt x="497125" y="99425"/>
                </a:cubicBezTo>
                <a:lnTo>
                  <a:pt x="497125" y="397700"/>
                </a:lnTo>
                <a:cubicBezTo>
                  <a:pt x="497125" y="452611"/>
                  <a:pt x="452611" y="497125"/>
                  <a:pt x="397700" y="497125"/>
                </a:cubicBezTo>
                <a:lnTo>
                  <a:pt x="99425" y="497125"/>
                </a:lnTo>
                <a:cubicBezTo>
                  <a:pt x="44514" y="497125"/>
                  <a:pt x="0" y="452611"/>
                  <a:pt x="0" y="397700"/>
                </a:cubicBezTo>
                <a:lnTo>
                  <a:pt x="0" y="99425"/>
                </a:lnTo>
                <a:cubicBezTo>
                  <a:pt x="0" y="44551"/>
                  <a:pt x="44551" y="0"/>
                  <a:pt x="99425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693189" y="2585052"/>
            <a:ext cx="211278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6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49826" y="2485627"/>
            <a:ext cx="6475058" cy="347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61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抽取 Extract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49826" y="2883327"/>
            <a:ext cx="6450202" cy="497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从Oracle核心系统、渠道SFTP、外部支付系统抽取当日交易数据，采用增量抽取策略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503563" y="3529590"/>
            <a:ext cx="497125" cy="497125"/>
          </a:xfrm>
          <a:custGeom>
            <a:avLst/>
            <a:gdLst/>
            <a:ahLst/>
            <a:cxnLst/>
            <a:rect l="l" t="t" r="r" b="b"/>
            <a:pathLst>
              <a:path w="497125" h="497125">
                <a:moveTo>
                  <a:pt x="99425" y="0"/>
                </a:moveTo>
                <a:lnTo>
                  <a:pt x="397700" y="0"/>
                </a:lnTo>
                <a:cubicBezTo>
                  <a:pt x="452611" y="0"/>
                  <a:pt x="497125" y="44514"/>
                  <a:pt x="497125" y="99425"/>
                </a:cubicBezTo>
                <a:lnTo>
                  <a:pt x="497125" y="397700"/>
                </a:lnTo>
                <a:cubicBezTo>
                  <a:pt x="497125" y="452611"/>
                  <a:pt x="452611" y="497125"/>
                  <a:pt x="397700" y="497125"/>
                </a:cubicBezTo>
                <a:lnTo>
                  <a:pt x="99425" y="497125"/>
                </a:lnTo>
                <a:cubicBezTo>
                  <a:pt x="44514" y="497125"/>
                  <a:pt x="0" y="452611"/>
                  <a:pt x="0" y="397700"/>
                </a:cubicBezTo>
                <a:lnTo>
                  <a:pt x="0" y="99425"/>
                </a:lnTo>
                <a:cubicBezTo>
                  <a:pt x="0" y="44551"/>
                  <a:pt x="44551" y="0"/>
                  <a:pt x="99425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692509" y="3629015"/>
            <a:ext cx="223706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6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149826" y="3529590"/>
            <a:ext cx="6475058" cy="347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61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转换 Transform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49826" y="3927291"/>
            <a:ext cx="6450202" cy="497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数据清洗与标准化、币种转换、交易关联、对账关键处理（流水号匹配、金额校验）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503563" y="4573554"/>
            <a:ext cx="497125" cy="497125"/>
          </a:xfrm>
          <a:custGeom>
            <a:avLst/>
            <a:gdLst/>
            <a:ahLst/>
            <a:cxnLst/>
            <a:rect l="l" t="t" r="r" b="b"/>
            <a:pathLst>
              <a:path w="497125" h="497125">
                <a:moveTo>
                  <a:pt x="99425" y="0"/>
                </a:moveTo>
                <a:lnTo>
                  <a:pt x="397700" y="0"/>
                </a:lnTo>
                <a:cubicBezTo>
                  <a:pt x="452611" y="0"/>
                  <a:pt x="497125" y="44514"/>
                  <a:pt x="497125" y="99425"/>
                </a:cubicBezTo>
                <a:lnTo>
                  <a:pt x="497125" y="397700"/>
                </a:lnTo>
                <a:cubicBezTo>
                  <a:pt x="497125" y="452611"/>
                  <a:pt x="452611" y="497125"/>
                  <a:pt x="397700" y="497125"/>
                </a:cubicBezTo>
                <a:lnTo>
                  <a:pt x="99425" y="497125"/>
                </a:lnTo>
                <a:cubicBezTo>
                  <a:pt x="44514" y="497125"/>
                  <a:pt x="0" y="452611"/>
                  <a:pt x="0" y="397700"/>
                </a:cubicBezTo>
                <a:lnTo>
                  <a:pt x="0" y="99425"/>
                </a:lnTo>
                <a:cubicBezTo>
                  <a:pt x="0" y="44551"/>
                  <a:pt x="44551" y="0"/>
                  <a:pt x="99425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696393" y="4672979"/>
            <a:ext cx="211278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6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149826" y="4573554"/>
            <a:ext cx="6475058" cy="347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61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加载 Load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149826" y="4971254"/>
            <a:ext cx="6450202" cy="2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对账结果加载、数据仓库加载、监管报表生成、异常处理加载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97125" y="6562055"/>
            <a:ext cx="15261749" cy="2087927"/>
          </a:xfrm>
          <a:custGeom>
            <a:avLst/>
            <a:gdLst/>
            <a:ahLst/>
            <a:cxnLst/>
            <a:rect l="l" t="t" r="r" b="b"/>
            <a:pathLst>
              <a:path w="15261749" h="2087927">
                <a:moveTo>
                  <a:pt x="149141" y="0"/>
                </a:moveTo>
                <a:lnTo>
                  <a:pt x="15112609" y="0"/>
                </a:lnTo>
                <a:cubicBezTo>
                  <a:pt x="15194977" y="0"/>
                  <a:pt x="15261749" y="66773"/>
                  <a:pt x="15261749" y="149141"/>
                </a:cubicBezTo>
                <a:lnTo>
                  <a:pt x="15261749" y="1938786"/>
                </a:lnTo>
                <a:cubicBezTo>
                  <a:pt x="15261749" y="2021154"/>
                  <a:pt x="15194977" y="2087927"/>
                  <a:pt x="15112609" y="2087927"/>
                </a:cubicBezTo>
                <a:lnTo>
                  <a:pt x="149141" y="2087927"/>
                </a:lnTo>
                <a:cubicBezTo>
                  <a:pt x="66773" y="2087927"/>
                  <a:pt x="0" y="2021154"/>
                  <a:pt x="0" y="1938786"/>
                </a:cubicBezTo>
                <a:lnTo>
                  <a:pt x="0" y="149141"/>
                </a:lnTo>
                <a:cubicBezTo>
                  <a:pt x="0" y="66828"/>
                  <a:pt x="66828" y="0"/>
                  <a:pt x="149141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727046" y="6810618"/>
            <a:ext cx="248563" cy="248563"/>
          </a:xfrm>
          <a:custGeom>
            <a:avLst/>
            <a:gdLst/>
            <a:ahLst/>
            <a:cxnLst/>
            <a:rect l="l" t="t" r="r" b="b"/>
            <a:pathLst>
              <a:path w="248563" h="248563">
                <a:moveTo>
                  <a:pt x="124281" y="0"/>
                </a:moveTo>
                <a:cubicBezTo>
                  <a:pt x="131418" y="0"/>
                  <a:pt x="137972" y="3932"/>
                  <a:pt x="141370" y="10195"/>
                </a:cubicBezTo>
                <a:lnTo>
                  <a:pt x="246232" y="204385"/>
                </a:lnTo>
                <a:cubicBezTo>
                  <a:pt x="249485" y="210404"/>
                  <a:pt x="249339" y="217687"/>
                  <a:pt x="245844" y="223561"/>
                </a:cubicBezTo>
                <a:cubicBezTo>
                  <a:pt x="242349" y="229435"/>
                  <a:pt x="235989" y="233028"/>
                  <a:pt x="229144" y="233028"/>
                </a:cubicBezTo>
                <a:lnTo>
                  <a:pt x="19419" y="233028"/>
                </a:lnTo>
                <a:cubicBezTo>
                  <a:pt x="12574" y="233028"/>
                  <a:pt x="6263" y="229435"/>
                  <a:pt x="2719" y="223561"/>
                </a:cubicBezTo>
                <a:cubicBezTo>
                  <a:pt x="-825" y="217687"/>
                  <a:pt x="-922" y="210404"/>
                  <a:pt x="2330" y="204385"/>
                </a:cubicBezTo>
                <a:lnTo>
                  <a:pt x="107193" y="10195"/>
                </a:lnTo>
                <a:cubicBezTo>
                  <a:pt x="110591" y="3932"/>
                  <a:pt x="117145" y="0"/>
                  <a:pt x="124281" y="0"/>
                </a:cubicBezTo>
                <a:close/>
                <a:moveTo>
                  <a:pt x="124281" y="81560"/>
                </a:moveTo>
                <a:cubicBezTo>
                  <a:pt x="117825" y="81560"/>
                  <a:pt x="112630" y="86754"/>
                  <a:pt x="112630" y="93211"/>
                </a:cubicBezTo>
                <a:lnTo>
                  <a:pt x="112630" y="147584"/>
                </a:lnTo>
                <a:cubicBezTo>
                  <a:pt x="112630" y="154041"/>
                  <a:pt x="117825" y="159235"/>
                  <a:pt x="124281" y="159235"/>
                </a:cubicBezTo>
                <a:cubicBezTo>
                  <a:pt x="130738" y="159235"/>
                  <a:pt x="135933" y="154041"/>
                  <a:pt x="135933" y="147584"/>
                </a:cubicBezTo>
                <a:lnTo>
                  <a:pt x="135933" y="93211"/>
                </a:lnTo>
                <a:cubicBezTo>
                  <a:pt x="135933" y="86754"/>
                  <a:pt x="130738" y="81560"/>
                  <a:pt x="124281" y="81560"/>
                </a:cubicBezTo>
                <a:close/>
                <a:moveTo>
                  <a:pt x="137244" y="186422"/>
                </a:moveTo>
                <a:cubicBezTo>
                  <a:pt x="137538" y="181611"/>
                  <a:pt x="135139" y="177033"/>
                  <a:pt x="131014" y="174538"/>
                </a:cubicBezTo>
                <a:cubicBezTo>
                  <a:pt x="126890" y="172043"/>
                  <a:pt x="121721" y="172043"/>
                  <a:pt x="117597" y="174538"/>
                </a:cubicBezTo>
                <a:cubicBezTo>
                  <a:pt x="113472" y="177033"/>
                  <a:pt x="111073" y="181611"/>
                  <a:pt x="111368" y="186422"/>
                </a:cubicBezTo>
                <a:cubicBezTo>
                  <a:pt x="111073" y="191233"/>
                  <a:pt x="113472" y="195811"/>
                  <a:pt x="117597" y="198306"/>
                </a:cubicBezTo>
                <a:cubicBezTo>
                  <a:pt x="121721" y="200801"/>
                  <a:pt x="126890" y="200801"/>
                  <a:pt x="131014" y="198306"/>
                </a:cubicBezTo>
                <a:cubicBezTo>
                  <a:pt x="135139" y="195811"/>
                  <a:pt x="137538" y="191233"/>
                  <a:pt x="137244" y="186422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1006679" y="6760905"/>
            <a:ext cx="14677627" cy="347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57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传统ETL的技术局限性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95976" y="7258031"/>
            <a:ext cx="4822116" cy="1193101"/>
          </a:xfrm>
          <a:custGeom>
            <a:avLst/>
            <a:gdLst/>
            <a:ahLst/>
            <a:cxnLst/>
            <a:rect l="l" t="t" r="r" b="b"/>
            <a:pathLst>
              <a:path w="4822116" h="1193101">
                <a:moveTo>
                  <a:pt x="99421" y="0"/>
                </a:moveTo>
                <a:lnTo>
                  <a:pt x="4722695" y="0"/>
                </a:lnTo>
                <a:cubicBezTo>
                  <a:pt x="4777604" y="0"/>
                  <a:pt x="4822116" y="44512"/>
                  <a:pt x="4822116" y="99421"/>
                </a:cubicBezTo>
                <a:lnTo>
                  <a:pt x="4822116" y="1093680"/>
                </a:lnTo>
                <a:cubicBezTo>
                  <a:pt x="4822116" y="1148589"/>
                  <a:pt x="4777604" y="1193101"/>
                  <a:pt x="4722695" y="1193101"/>
                </a:cubicBezTo>
                <a:lnTo>
                  <a:pt x="99421" y="1193101"/>
                </a:lnTo>
                <a:cubicBezTo>
                  <a:pt x="44512" y="1193101"/>
                  <a:pt x="0" y="1148589"/>
                  <a:pt x="0" y="1093680"/>
                </a:cubicBezTo>
                <a:lnTo>
                  <a:pt x="0" y="99421"/>
                </a:lnTo>
                <a:cubicBezTo>
                  <a:pt x="0" y="44549"/>
                  <a:pt x="44549" y="0"/>
                  <a:pt x="9942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869969" y="7456881"/>
            <a:ext cx="198850" cy="198850"/>
          </a:xfrm>
          <a:custGeom>
            <a:avLst/>
            <a:gdLst/>
            <a:ahLst/>
            <a:cxnLst/>
            <a:rect l="l" t="t" r="r" b="b"/>
            <a:pathLst>
              <a:path w="198850" h="198850">
                <a:moveTo>
                  <a:pt x="99425" y="0"/>
                </a:moveTo>
                <a:cubicBezTo>
                  <a:pt x="154299" y="0"/>
                  <a:pt x="198850" y="44551"/>
                  <a:pt x="198850" y="99425"/>
                </a:cubicBezTo>
                <a:cubicBezTo>
                  <a:pt x="198850" y="154299"/>
                  <a:pt x="154299" y="198850"/>
                  <a:pt x="99425" y="198850"/>
                </a:cubicBezTo>
                <a:cubicBezTo>
                  <a:pt x="44551" y="198850"/>
                  <a:pt x="0" y="154299"/>
                  <a:pt x="0" y="99425"/>
                </a:cubicBezTo>
                <a:cubicBezTo>
                  <a:pt x="0" y="44551"/>
                  <a:pt x="44551" y="0"/>
                  <a:pt x="99425" y="0"/>
                </a:cubicBezTo>
                <a:close/>
                <a:moveTo>
                  <a:pt x="90104" y="46606"/>
                </a:moveTo>
                <a:lnTo>
                  <a:pt x="90104" y="99425"/>
                </a:lnTo>
                <a:cubicBezTo>
                  <a:pt x="90104" y="102532"/>
                  <a:pt x="91657" y="105445"/>
                  <a:pt x="94260" y="107193"/>
                </a:cubicBezTo>
                <a:lnTo>
                  <a:pt x="131544" y="132049"/>
                </a:lnTo>
                <a:cubicBezTo>
                  <a:pt x="135816" y="134923"/>
                  <a:pt x="141603" y="133758"/>
                  <a:pt x="144477" y="129447"/>
                </a:cubicBezTo>
                <a:cubicBezTo>
                  <a:pt x="147351" y="125136"/>
                  <a:pt x="146186" y="119388"/>
                  <a:pt x="141875" y="116514"/>
                </a:cubicBezTo>
                <a:lnTo>
                  <a:pt x="108746" y="94454"/>
                </a:lnTo>
                <a:lnTo>
                  <a:pt x="108746" y="46606"/>
                </a:lnTo>
                <a:cubicBezTo>
                  <a:pt x="108746" y="41440"/>
                  <a:pt x="104591" y="37284"/>
                  <a:pt x="99425" y="37284"/>
                </a:cubicBezTo>
                <a:cubicBezTo>
                  <a:pt x="94260" y="37284"/>
                  <a:pt x="90104" y="41440"/>
                  <a:pt x="90104" y="46606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1193101" y="7407168"/>
            <a:ext cx="1093676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6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时效性局限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45113" y="7804869"/>
            <a:ext cx="4610838" cy="497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T+1的数据处理延迟，无法实时反映业务状况，决策基于历史数据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718690" y="7258031"/>
            <a:ext cx="4822116" cy="1193101"/>
          </a:xfrm>
          <a:custGeom>
            <a:avLst/>
            <a:gdLst/>
            <a:ahLst/>
            <a:cxnLst/>
            <a:rect l="l" t="t" r="r" b="b"/>
            <a:pathLst>
              <a:path w="4822116" h="1193101">
                <a:moveTo>
                  <a:pt x="99421" y="0"/>
                </a:moveTo>
                <a:lnTo>
                  <a:pt x="4722695" y="0"/>
                </a:lnTo>
                <a:cubicBezTo>
                  <a:pt x="4777604" y="0"/>
                  <a:pt x="4822116" y="44512"/>
                  <a:pt x="4822116" y="99421"/>
                </a:cubicBezTo>
                <a:lnTo>
                  <a:pt x="4822116" y="1093680"/>
                </a:lnTo>
                <a:cubicBezTo>
                  <a:pt x="4822116" y="1148589"/>
                  <a:pt x="4777604" y="1193101"/>
                  <a:pt x="4722695" y="1193101"/>
                </a:cubicBezTo>
                <a:lnTo>
                  <a:pt x="99421" y="1193101"/>
                </a:lnTo>
                <a:cubicBezTo>
                  <a:pt x="44512" y="1193101"/>
                  <a:pt x="0" y="1148589"/>
                  <a:pt x="0" y="1093680"/>
                </a:cubicBezTo>
                <a:lnTo>
                  <a:pt x="0" y="99421"/>
                </a:lnTo>
                <a:cubicBezTo>
                  <a:pt x="0" y="44549"/>
                  <a:pt x="44549" y="0"/>
                  <a:pt x="9942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5905112" y="7456881"/>
            <a:ext cx="173994" cy="198850"/>
          </a:xfrm>
          <a:custGeom>
            <a:avLst/>
            <a:gdLst/>
            <a:ahLst/>
            <a:cxnLst/>
            <a:rect l="l" t="t" r="r" b="b"/>
            <a:pathLst>
              <a:path w="173994" h="198850">
                <a:moveTo>
                  <a:pt x="24856" y="12428"/>
                </a:moveTo>
                <a:cubicBezTo>
                  <a:pt x="11146" y="12428"/>
                  <a:pt x="0" y="23575"/>
                  <a:pt x="0" y="37284"/>
                </a:cubicBezTo>
                <a:lnTo>
                  <a:pt x="0" y="62141"/>
                </a:lnTo>
                <a:cubicBezTo>
                  <a:pt x="0" y="75850"/>
                  <a:pt x="11146" y="86997"/>
                  <a:pt x="24856" y="86997"/>
                </a:cubicBezTo>
                <a:lnTo>
                  <a:pt x="149138" y="86997"/>
                </a:lnTo>
                <a:cubicBezTo>
                  <a:pt x="162847" y="86997"/>
                  <a:pt x="173994" y="75850"/>
                  <a:pt x="173994" y="62141"/>
                </a:cubicBezTo>
                <a:lnTo>
                  <a:pt x="173994" y="37284"/>
                </a:lnTo>
                <a:cubicBezTo>
                  <a:pt x="173994" y="23575"/>
                  <a:pt x="162847" y="12428"/>
                  <a:pt x="149138" y="12428"/>
                </a:cubicBezTo>
                <a:lnTo>
                  <a:pt x="24856" y="12428"/>
                </a:lnTo>
                <a:close/>
                <a:moveTo>
                  <a:pt x="108746" y="40391"/>
                </a:moveTo>
                <a:cubicBezTo>
                  <a:pt x="113891" y="40391"/>
                  <a:pt x="118067" y="44568"/>
                  <a:pt x="118067" y="49713"/>
                </a:cubicBezTo>
                <a:cubicBezTo>
                  <a:pt x="118067" y="54857"/>
                  <a:pt x="113891" y="59034"/>
                  <a:pt x="108746" y="59034"/>
                </a:cubicBezTo>
                <a:cubicBezTo>
                  <a:pt x="103602" y="59034"/>
                  <a:pt x="99425" y="54857"/>
                  <a:pt x="99425" y="49713"/>
                </a:cubicBezTo>
                <a:cubicBezTo>
                  <a:pt x="99425" y="44568"/>
                  <a:pt x="103602" y="40391"/>
                  <a:pt x="108746" y="40391"/>
                </a:cubicBezTo>
                <a:close/>
                <a:moveTo>
                  <a:pt x="130495" y="49713"/>
                </a:moveTo>
                <a:cubicBezTo>
                  <a:pt x="130495" y="44568"/>
                  <a:pt x="134672" y="40391"/>
                  <a:pt x="139817" y="40391"/>
                </a:cubicBezTo>
                <a:cubicBezTo>
                  <a:pt x="144961" y="40391"/>
                  <a:pt x="149138" y="44568"/>
                  <a:pt x="149138" y="49713"/>
                </a:cubicBezTo>
                <a:cubicBezTo>
                  <a:pt x="149138" y="54857"/>
                  <a:pt x="144961" y="59034"/>
                  <a:pt x="139817" y="59034"/>
                </a:cubicBezTo>
                <a:cubicBezTo>
                  <a:pt x="134672" y="59034"/>
                  <a:pt x="130495" y="54857"/>
                  <a:pt x="130495" y="49713"/>
                </a:cubicBezTo>
                <a:close/>
                <a:moveTo>
                  <a:pt x="24856" y="111853"/>
                </a:moveTo>
                <a:cubicBezTo>
                  <a:pt x="11146" y="111853"/>
                  <a:pt x="0" y="123000"/>
                  <a:pt x="0" y="136709"/>
                </a:cubicBezTo>
                <a:lnTo>
                  <a:pt x="0" y="161566"/>
                </a:lnTo>
                <a:cubicBezTo>
                  <a:pt x="0" y="175276"/>
                  <a:pt x="11146" y="186422"/>
                  <a:pt x="24856" y="186422"/>
                </a:cubicBezTo>
                <a:lnTo>
                  <a:pt x="149138" y="186422"/>
                </a:lnTo>
                <a:cubicBezTo>
                  <a:pt x="162847" y="186422"/>
                  <a:pt x="173994" y="175276"/>
                  <a:pt x="173994" y="161566"/>
                </a:cubicBezTo>
                <a:lnTo>
                  <a:pt x="173994" y="136709"/>
                </a:lnTo>
                <a:cubicBezTo>
                  <a:pt x="173994" y="123000"/>
                  <a:pt x="162847" y="111853"/>
                  <a:pt x="149138" y="111853"/>
                </a:cubicBezTo>
                <a:lnTo>
                  <a:pt x="24856" y="111853"/>
                </a:lnTo>
                <a:close/>
                <a:moveTo>
                  <a:pt x="108746" y="139817"/>
                </a:moveTo>
                <a:cubicBezTo>
                  <a:pt x="113891" y="139817"/>
                  <a:pt x="118067" y="143993"/>
                  <a:pt x="118067" y="149138"/>
                </a:cubicBezTo>
                <a:cubicBezTo>
                  <a:pt x="118067" y="154282"/>
                  <a:pt x="113891" y="158459"/>
                  <a:pt x="108746" y="158459"/>
                </a:cubicBezTo>
                <a:cubicBezTo>
                  <a:pt x="103602" y="158459"/>
                  <a:pt x="99425" y="154282"/>
                  <a:pt x="99425" y="149138"/>
                </a:cubicBezTo>
                <a:cubicBezTo>
                  <a:pt x="99425" y="143993"/>
                  <a:pt x="103602" y="139817"/>
                  <a:pt x="108746" y="139817"/>
                </a:cubicBezTo>
                <a:close/>
                <a:moveTo>
                  <a:pt x="130495" y="149138"/>
                </a:moveTo>
                <a:cubicBezTo>
                  <a:pt x="130495" y="143993"/>
                  <a:pt x="134672" y="139817"/>
                  <a:pt x="139817" y="139817"/>
                </a:cubicBezTo>
                <a:cubicBezTo>
                  <a:pt x="144961" y="139817"/>
                  <a:pt x="149138" y="143993"/>
                  <a:pt x="149138" y="149138"/>
                </a:cubicBezTo>
                <a:cubicBezTo>
                  <a:pt x="149138" y="154282"/>
                  <a:pt x="144961" y="158459"/>
                  <a:pt x="139817" y="158459"/>
                </a:cubicBezTo>
                <a:cubicBezTo>
                  <a:pt x="134672" y="158459"/>
                  <a:pt x="130495" y="154282"/>
                  <a:pt x="130495" y="149138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6215815" y="7407168"/>
            <a:ext cx="1292526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6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资源利用局限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867827" y="7804869"/>
            <a:ext cx="4610838" cy="497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夜间集中处理导致资源使用峰值，日间资源闲置，硬件投资回报率低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0741501" y="7258031"/>
            <a:ext cx="4822116" cy="1193101"/>
          </a:xfrm>
          <a:custGeom>
            <a:avLst/>
            <a:gdLst/>
            <a:ahLst/>
            <a:cxnLst/>
            <a:rect l="l" t="t" r="r" b="b"/>
            <a:pathLst>
              <a:path w="4822116" h="1193101">
                <a:moveTo>
                  <a:pt x="99421" y="0"/>
                </a:moveTo>
                <a:lnTo>
                  <a:pt x="4722695" y="0"/>
                </a:lnTo>
                <a:cubicBezTo>
                  <a:pt x="4777604" y="0"/>
                  <a:pt x="4822116" y="44512"/>
                  <a:pt x="4822116" y="99421"/>
                </a:cubicBezTo>
                <a:lnTo>
                  <a:pt x="4822116" y="1093680"/>
                </a:lnTo>
                <a:cubicBezTo>
                  <a:pt x="4822116" y="1148589"/>
                  <a:pt x="4777604" y="1193101"/>
                  <a:pt x="4722695" y="1193101"/>
                </a:cubicBezTo>
                <a:lnTo>
                  <a:pt x="99421" y="1193101"/>
                </a:lnTo>
                <a:cubicBezTo>
                  <a:pt x="44512" y="1193101"/>
                  <a:pt x="0" y="1148589"/>
                  <a:pt x="0" y="1093680"/>
                </a:cubicBezTo>
                <a:lnTo>
                  <a:pt x="0" y="99421"/>
                </a:lnTo>
                <a:cubicBezTo>
                  <a:pt x="0" y="44549"/>
                  <a:pt x="44549" y="0"/>
                  <a:pt x="9942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10915495" y="7456881"/>
            <a:ext cx="198850" cy="198850"/>
          </a:xfrm>
          <a:custGeom>
            <a:avLst/>
            <a:gdLst/>
            <a:ahLst/>
            <a:cxnLst/>
            <a:rect l="l" t="t" r="r" b="b"/>
            <a:pathLst>
              <a:path w="198850" h="198850">
                <a:moveTo>
                  <a:pt x="75773" y="3690"/>
                </a:moveTo>
                <a:cubicBezTo>
                  <a:pt x="76938" y="-2058"/>
                  <a:pt x="82026" y="-6214"/>
                  <a:pt x="87929" y="-6214"/>
                </a:cubicBezTo>
                <a:lnTo>
                  <a:pt x="111154" y="-6214"/>
                </a:lnTo>
                <a:cubicBezTo>
                  <a:pt x="117057" y="-6214"/>
                  <a:pt x="122145" y="-2058"/>
                  <a:pt x="123310" y="3690"/>
                </a:cubicBezTo>
                <a:lnTo>
                  <a:pt x="128942" y="30876"/>
                </a:lnTo>
                <a:cubicBezTo>
                  <a:pt x="134418" y="33206"/>
                  <a:pt x="139545" y="36197"/>
                  <a:pt x="144205" y="39731"/>
                </a:cubicBezTo>
                <a:lnTo>
                  <a:pt x="170537" y="30993"/>
                </a:lnTo>
                <a:cubicBezTo>
                  <a:pt x="176130" y="29128"/>
                  <a:pt x="182266" y="31459"/>
                  <a:pt x="185218" y="36585"/>
                </a:cubicBezTo>
                <a:lnTo>
                  <a:pt x="196831" y="56703"/>
                </a:lnTo>
                <a:cubicBezTo>
                  <a:pt x="199782" y="61830"/>
                  <a:pt x="198734" y="68277"/>
                  <a:pt x="194306" y="72200"/>
                </a:cubicBezTo>
                <a:lnTo>
                  <a:pt x="173606" y="90609"/>
                </a:lnTo>
                <a:cubicBezTo>
                  <a:pt x="173955" y="93483"/>
                  <a:pt x="174110" y="96435"/>
                  <a:pt x="174110" y="99425"/>
                </a:cubicBezTo>
                <a:cubicBezTo>
                  <a:pt x="174110" y="102416"/>
                  <a:pt x="173916" y="105367"/>
                  <a:pt x="173606" y="108241"/>
                </a:cubicBezTo>
                <a:lnTo>
                  <a:pt x="194345" y="126689"/>
                </a:lnTo>
                <a:cubicBezTo>
                  <a:pt x="198772" y="130612"/>
                  <a:pt x="199782" y="137098"/>
                  <a:pt x="196869" y="142186"/>
                </a:cubicBezTo>
                <a:lnTo>
                  <a:pt x="185257" y="162304"/>
                </a:lnTo>
                <a:cubicBezTo>
                  <a:pt x="182305" y="167391"/>
                  <a:pt x="176169" y="169761"/>
                  <a:pt x="170576" y="167896"/>
                </a:cubicBezTo>
                <a:lnTo>
                  <a:pt x="144244" y="159158"/>
                </a:lnTo>
                <a:cubicBezTo>
                  <a:pt x="139545" y="162692"/>
                  <a:pt x="134418" y="165644"/>
                  <a:pt x="128981" y="168013"/>
                </a:cubicBezTo>
                <a:lnTo>
                  <a:pt x="123388" y="195161"/>
                </a:lnTo>
                <a:cubicBezTo>
                  <a:pt x="122184" y="200947"/>
                  <a:pt x="117096" y="205064"/>
                  <a:pt x="111232" y="205064"/>
                </a:cubicBezTo>
                <a:lnTo>
                  <a:pt x="88007" y="205064"/>
                </a:lnTo>
                <a:cubicBezTo>
                  <a:pt x="82103" y="205064"/>
                  <a:pt x="77016" y="200909"/>
                  <a:pt x="75850" y="195161"/>
                </a:cubicBezTo>
                <a:lnTo>
                  <a:pt x="70258" y="168013"/>
                </a:lnTo>
                <a:cubicBezTo>
                  <a:pt x="64782" y="165683"/>
                  <a:pt x="59694" y="162692"/>
                  <a:pt x="54994" y="159158"/>
                </a:cubicBezTo>
                <a:lnTo>
                  <a:pt x="28546" y="167896"/>
                </a:lnTo>
                <a:cubicBezTo>
                  <a:pt x="22953" y="169761"/>
                  <a:pt x="16817" y="167430"/>
                  <a:pt x="13865" y="162304"/>
                </a:cubicBezTo>
                <a:lnTo>
                  <a:pt x="2253" y="142186"/>
                </a:lnTo>
                <a:cubicBezTo>
                  <a:pt x="-699" y="137059"/>
                  <a:pt x="350" y="130612"/>
                  <a:pt x="4777" y="126689"/>
                </a:cubicBezTo>
                <a:lnTo>
                  <a:pt x="25517" y="108241"/>
                </a:lnTo>
                <a:cubicBezTo>
                  <a:pt x="25167" y="105367"/>
                  <a:pt x="25012" y="102416"/>
                  <a:pt x="25012" y="99425"/>
                </a:cubicBezTo>
                <a:cubicBezTo>
                  <a:pt x="25012" y="96435"/>
                  <a:pt x="25206" y="93483"/>
                  <a:pt x="25517" y="90609"/>
                </a:cubicBezTo>
                <a:lnTo>
                  <a:pt x="4777" y="72161"/>
                </a:lnTo>
                <a:cubicBezTo>
                  <a:pt x="350" y="68238"/>
                  <a:pt x="-660" y="61752"/>
                  <a:pt x="2253" y="56665"/>
                </a:cubicBezTo>
                <a:lnTo>
                  <a:pt x="13865" y="36546"/>
                </a:lnTo>
                <a:cubicBezTo>
                  <a:pt x="16817" y="31420"/>
                  <a:pt x="22953" y="29090"/>
                  <a:pt x="28546" y="30954"/>
                </a:cubicBezTo>
                <a:lnTo>
                  <a:pt x="54878" y="39692"/>
                </a:lnTo>
                <a:cubicBezTo>
                  <a:pt x="59577" y="36158"/>
                  <a:pt x="64704" y="33206"/>
                  <a:pt x="70141" y="30837"/>
                </a:cubicBezTo>
                <a:lnTo>
                  <a:pt x="75773" y="3690"/>
                </a:lnTo>
                <a:close/>
                <a:moveTo>
                  <a:pt x="99542" y="130495"/>
                </a:moveTo>
                <a:cubicBezTo>
                  <a:pt x="110642" y="130454"/>
                  <a:pt x="120877" y="124493"/>
                  <a:pt x="126391" y="114859"/>
                </a:cubicBezTo>
                <a:cubicBezTo>
                  <a:pt x="131905" y="105225"/>
                  <a:pt x="131861" y="93381"/>
                  <a:pt x="126275" y="83789"/>
                </a:cubicBezTo>
                <a:cubicBezTo>
                  <a:pt x="120688" y="74197"/>
                  <a:pt x="110409" y="68313"/>
                  <a:pt x="99309" y="68355"/>
                </a:cubicBezTo>
                <a:cubicBezTo>
                  <a:pt x="88208" y="68396"/>
                  <a:pt x="77973" y="74357"/>
                  <a:pt x="72459" y="83991"/>
                </a:cubicBezTo>
                <a:cubicBezTo>
                  <a:pt x="66945" y="93625"/>
                  <a:pt x="66989" y="105469"/>
                  <a:pt x="72576" y="115061"/>
                </a:cubicBezTo>
                <a:cubicBezTo>
                  <a:pt x="78162" y="124654"/>
                  <a:pt x="88441" y="130537"/>
                  <a:pt x="99542" y="130495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11238626" y="7407168"/>
            <a:ext cx="1093676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6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灵活性局限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890638" y="7804869"/>
            <a:ext cx="4610838" cy="497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处理逻辑变更需要重新开发部署，代码修改和测试周期长，无法快速适应市场变化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9800" y="499800"/>
            <a:ext cx="499800" cy="499800"/>
          </a:xfrm>
          <a:custGeom>
            <a:avLst/>
            <a:gdLst/>
            <a:ahLst/>
            <a:cxnLst/>
            <a:rect l="l" t="t" r="r" b="b"/>
            <a:pathLst>
              <a:path w="499800" h="499800">
                <a:moveTo>
                  <a:pt x="99960" y="0"/>
                </a:moveTo>
                <a:lnTo>
                  <a:pt x="399840" y="0"/>
                </a:lnTo>
                <a:cubicBezTo>
                  <a:pt x="455010" y="0"/>
                  <a:pt x="499800" y="44791"/>
                  <a:pt x="499800" y="99960"/>
                </a:cubicBezTo>
                <a:lnTo>
                  <a:pt x="499800" y="399840"/>
                </a:lnTo>
                <a:cubicBezTo>
                  <a:pt x="499800" y="455010"/>
                  <a:pt x="455010" y="499800"/>
                  <a:pt x="399840" y="499800"/>
                </a:cubicBezTo>
                <a:lnTo>
                  <a:pt x="99960" y="499800"/>
                </a:lnTo>
                <a:cubicBezTo>
                  <a:pt x="44791" y="499800"/>
                  <a:pt x="0" y="455010"/>
                  <a:pt x="0" y="399840"/>
                </a:cubicBezTo>
                <a:lnTo>
                  <a:pt x="0" y="99960"/>
                </a:lnTo>
                <a:cubicBezTo>
                  <a:pt x="0" y="44791"/>
                  <a:pt x="44791" y="0"/>
                  <a:pt x="99960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612255" y="637245"/>
            <a:ext cx="281138" cy="224910"/>
          </a:xfrm>
          <a:custGeom>
            <a:avLst/>
            <a:gdLst/>
            <a:ahLst/>
            <a:cxnLst/>
            <a:rect l="l" t="t" r="r" b="b"/>
            <a:pathLst>
              <a:path w="281138" h="224910">
                <a:moveTo>
                  <a:pt x="10543" y="-7028"/>
                </a:moveTo>
                <a:cubicBezTo>
                  <a:pt x="4700" y="-7028"/>
                  <a:pt x="0" y="-2328"/>
                  <a:pt x="0" y="3514"/>
                </a:cubicBezTo>
                <a:cubicBezTo>
                  <a:pt x="0" y="9357"/>
                  <a:pt x="4700" y="14057"/>
                  <a:pt x="10543" y="14057"/>
                </a:cubicBezTo>
                <a:lnTo>
                  <a:pt x="30442" y="14057"/>
                </a:lnTo>
                <a:cubicBezTo>
                  <a:pt x="32155" y="14057"/>
                  <a:pt x="33605" y="15287"/>
                  <a:pt x="33912" y="16956"/>
                </a:cubicBezTo>
                <a:lnTo>
                  <a:pt x="56799" y="142721"/>
                </a:lnTo>
                <a:cubicBezTo>
                  <a:pt x="59522" y="157745"/>
                  <a:pt x="72613" y="168683"/>
                  <a:pt x="87899" y="168683"/>
                </a:cubicBezTo>
                <a:lnTo>
                  <a:pt x="200311" y="168683"/>
                </a:lnTo>
                <a:cubicBezTo>
                  <a:pt x="206153" y="168683"/>
                  <a:pt x="210853" y="163982"/>
                  <a:pt x="210853" y="158140"/>
                </a:cubicBezTo>
                <a:cubicBezTo>
                  <a:pt x="210853" y="152298"/>
                  <a:pt x="206153" y="147597"/>
                  <a:pt x="200311" y="147597"/>
                </a:cubicBezTo>
                <a:lnTo>
                  <a:pt x="87899" y="147597"/>
                </a:lnTo>
                <a:cubicBezTo>
                  <a:pt x="82804" y="147597"/>
                  <a:pt x="78455" y="143951"/>
                  <a:pt x="77532" y="138943"/>
                </a:cubicBezTo>
                <a:lnTo>
                  <a:pt x="75292" y="126512"/>
                </a:lnTo>
                <a:lnTo>
                  <a:pt x="208657" y="126512"/>
                </a:lnTo>
                <a:cubicBezTo>
                  <a:pt x="222187" y="126512"/>
                  <a:pt x="233783" y="116892"/>
                  <a:pt x="236287" y="103582"/>
                </a:cubicBezTo>
                <a:lnTo>
                  <a:pt x="249905" y="30705"/>
                </a:lnTo>
                <a:cubicBezTo>
                  <a:pt x="251530" y="22052"/>
                  <a:pt x="244897" y="14057"/>
                  <a:pt x="236068" y="14057"/>
                </a:cubicBezTo>
                <a:lnTo>
                  <a:pt x="54778" y="14057"/>
                </a:lnTo>
                <a:lnTo>
                  <a:pt x="54602" y="13178"/>
                </a:lnTo>
                <a:cubicBezTo>
                  <a:pt x="52494" y="1494"/>
                  <a:pt x="42302" y="-7028"/>
                  <a:pt x="30398" y="-7028"/>
                </a:cubicBezTo>
                <a:lnTo>
                  <a:pt x="10543" y="-7028"/>
                </a:lnTo>
                <a:close/>
                <a:moveTo>
                  <a:pt x="91370" y="224910"/>
                </a:moveTo>
                <a:cubicBezTo>
                  <a:pt x="103007" y="224910"/>
                  <a:pt x="112455" y="215462"/>
                  <a:pt x="112455" y="203825"/>
                </a:cubicBezTo>
                <a:cubicBezTo>
                  <a:pt x="112455" y="192187"/>
                  <a:pt x="103007" y="182739"/>
                  <a:pt x="91370" y="182739"/>
                </a:cubicBezTo>
                <a:cubicBezTo>
                  <a:pt x="79732" y="182739"/>
                  <a:pt x="70284" y="192187"/>
                  <a:pt x="70284" y="203825"/>
                </a:cubicBezTo>
                <a:cubicBezTo>
                  <a:pt x="70284" y="215462"/>
                  <a:pt x="79732" y="224910"/>
                  <a:pt x="91370" y="224910"/>
                </a:cubicBezTo>
                <a:close/>
                <a:moveTo>
                  <a:pt x="189768" y="224910"/>
                </a:moveTo>
                <a:cubicBezTo>
                  <a:pt x="201405" y="224910"/>
                  <a:pt x="210853" y="215462"/>
                  <a:pt x="210853" y="203825"/>
                </a:cubicBezTo>
                <a:cubicBezTo>
                  <a:pt x="210853" y="192187"/>
                  <a:pt x="201405" y="182739"/>
                  <a:pt x="189768" y="182739"/>
                </a:cubicBezTo>
                <a:cubicBezTo>
                  <a:pt x="178131" y="182739"/>
                  <a:pt x="168683" y="192187"/>
                  <a:pt x="168683" y="203825"/>
                </a:cubicBezTo>
                <a:cubicBezTo>
                  <a:pt x="168683" y="215462"/>
                  <a:pt x="178131" y="224910"/>
                  <a:pt x="189768" y="22491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149540" y="499800"/>
            <a:ext cx="5622752" cy="499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542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案例二：电商用户行为分析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9540" y="1099560"/>
            <a:ext cx="14719115" cy="349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71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分布式批处理的典型应用，展示混合架构的设计与实现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9800" y="1649341"/>
            <a:ext cx="9033888" cy="6997202"/>
          </a:xfrm>
          <a:custGeom>
            <a:avLst/>
            <a:gdLst/>
            <a:ahLst/>
            <a:cxnLst/>
            <a:rect l="l" t="t" r="r" b="b"/>
            <a:pathLst>
              <a:path w="9033888" h="6997202">
                <a:moveTo>
                  <a:pt x="149950" y="0"/>
                </a:moveTo>
                <a:lnTo>
                  <a:pt x="8883938" y="0"/>
                </a:lnTo>
                <a:cubicBezTo>
                  <a:pt x="8966753" y="0"/>
                  <a:pt x="9033888" y="67135"/>
                  <a:pt x="9033888" y="149950"/>
                </a:cubicBezTo>
                <a:lnTo>
                  <a:pt x="9033888" y="6847252"/>
                </a:lnTo>
                <a:cubicBezTo>
                  <a:pt x="9033888" y="6930067"/>
                  <a:pt x="8966753" y="6997202"/>
                  <a:pt x="8883938" y="6997202"/>
                </a:cubicBezTo>
                <a:lnTo>
                  <a:pt x="149950" y="6997202"/>
                </a:lnTo>
                <a:cubicBezTo>
                  <a:pt x="67135" y="6997202"/>
                  <a:pt x="0" y="6930067"/>
                  <a:pt x="0" y="6847252"/>
                </a:cubicBezTo>
                <a:lnTo>
                  <a:pt x="0" y="149950"/>
                </a:lnTo>
                <a:cubicBezTo>
                  <a:pt x="0" y="67190"/>
                  <a:pt x="67190" y="0"/>
                  <a:pt x="149950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30958" y="1899241"/>
            <a:ext cx="249900" cy="249900"/>
          </a:xfrm>
          <a:custGeom>
            <a:avLst/>
            <a:gdLst/>
            <a:ahLst/>
            <a:cxnLst/>
            <a:rect l="l" t="t" r="r" b="b"/>
            <a:pathLst>
              <a:path w="249900" h="249900">
                <a:moveTo>
                  <a:pt x="93713" y="31238"/>
                </a:moveTo>
                <a:cubicBezTo>
                  <a:pt x="93713" y="22598"/>
                  <a:pt x="100692" y="15619"/>
                  <a:pt x="109331" y="15619"/>
                </a:cubicBezTo>
                <a:lnTo>
                  <a:pt x="140569" y="15619"/>
                </a:lnTo>
                <a:cubicBezTo>
                  <a:pt x="149208" y="15619"/>
                  <a:pt x="156188" y="22598"/>
                  <a:pt x="156188" y="31238"/>
                </a:cubicBezTo>
                <a:lnTo>
                  <a:pt x="156188" y="62475"/>
                </a:lnTo>
                <a:cubicBezTo>
                  <a:pt x="156188" y="71114"/>
                  <a:pt x="149208" y="78094"/>
                  <a:pt x="140569" y="78094"/>
                </a:cubicBezTo>
                <a:lnTo>
                  <a:pt x="136664" y="78094"/>
                </a:lnTo>
                <a:lnTo>
                  <a:pt x="136664" y="109331"/>
                </a:lnTo>
                <a:lnTo>
                  <a:pt x="195234" y="109331"/>
                </a:lnTo>
                <a:cubicBezTo>
                  <a:pt x="214660" y="109331"/>
                  <a:pt x="230377" y="125048"/>
                  <a:pt x="230377" y="144473"/>
                </a:cubicBezTo>
                <a:lnTo>
                  <a:pt x="230377" y="171806"/>
                </a:lnTo>
                <a:lnTo>
                  <a:pt x="234281" y="171806"/>
                </a:lnTo>
                <a:cubicBezTo>
                  <a:pt x="242920" y="171806"/>
                  <a:pt x="249900" y="178786"/>
                  <a:pt x="249900" y="187425"/>
                </a:cubicBezTo>
                <a:lnTo>
                  <a:pt x="249900" y="218663"/>
                </a:lnTo>
                <a:cubicBezTo>
                  <a:pt x="249900" y="227302"/>
                  <a:pt x="242920" y="234281"/>
                  <a:pt x="234281" y="234281"/>
                </a:cubicBezTo>
                <a:lnTo>
                  <a:pt x="203044" y="234281"/>
                </a:lnTo>
                <a:cubicBezTo>
                  <a:pt x="194405" y="234281"/>
                  <a:pt x="187425" y="227302"/>
                  <a:pt x="187425" y="218663"/>
                </a:cubicBezTo>
                <a:lnTo>
                  <a:pt x="187425" y="187425"/>
                </a:lnTo>
                <a:cubicBezTo>
                  <a:pt x="187425" y="178786"/>
                  <a:pt x="194405" y="171806"/>
                  <a:pt x="203044" y="171806"/>
                </a:cubicBezTo>
                <a:lnTo>
                  <a:pt x="206949" y="171806"/>
                </a:lnTo>
                <a:lnTo>
                  <a:pt x="206949" y="144473"/>
                </a:lnTo>
                <a:cubicBezTo>
                  <a:pt x="206949" y="137982"/>
                  <a:pt x="201726" y="132759"/>
                  <a:pt x="195234" y="132759"/>
                </a:cubicBezTo>
                <a:lnTo>
                  <a:pt x="136664" y="132759"/>
                </a:lnTo>
                <a:lnTo>
                  <a:pt x="136664" y="171806"/>
                </a:lnTo>
                <a:lnTo>
                  <a:pt x="140569" y="171806"/>
                </a:lnTo>
                <a:cubicBezTo>
                  <a:pt x="149208" y="171806"/>
                  <a:pt x="156188" y="178786"/>
                  <a:pt x="156188" y="187425"/>
                </a:cubicBezTo>
                <a:lnTo>
                  <a:pt x="156188" y="218663"/>
                </a:lnTo>
                <a:cubicBezTo>
                  <a:pt x="156188" y="227302"/>
                  <a:pt x="149208" y="234281"/>
                  <a:pt x="140569" y="234281"/>
                </a:cubicBezTo>
                <a:lnTo>
                  <a:pt x="109331" y="234281"/>
                </a:lnTo>
                <a:cubicBezTo>
                  <a:pt x="100692" y="234281"/>
                  <a:pt x="93713" y="227302"/>
                  <a:pt x="93713" y="218663"/>
                </a:cubicBezTo>
                <a:lnTo>
                  <a:pt x="93713" y="187425"/>
                </a:lnTo>
                <a:cubicBezTo>
                  <a:pt x="93713" y="178786"/>
                  <a:pt x="100692" y="171806"/>
                  <a:pt x="109331" y="171806"/>
                </a:cubicBezTo>
                <a:lnTo>
                  <a:pt x="113236" y="171806"/>
                </a:lnTo>
                <a:lnTo>
                  <a:pt x="113236" y="132759"/>
                </a:lnTo>
                <a:lnTo>
                  <a:pt x="54666" y="132759"/>
                </a:lnTo>
                <a:cubicBezTo>
                  <a:pt x="48174" y="132759"/>
                  <a:pt x="42952" y="137982"/>
                  <a:pt x="42952" y="144473"/>
                </a:cubicBezTo>
                <a:lnTo>
                  <a:pt x="42952" y="171806"/>
                </a:lnTo>
                <a:lnTo>
                  <a:pt x="46856" y="171806"/>
                </a:lnTo>
                <a:cubicBezTo>
                  <a:pt x="55495" y="171806"/>
                  <a:pt x="62475" y="178786"/>
                  <a:pt x="62475" y="187425"/>
                </a:cubicBezTo>
                <a:lnTo>
                  <a:pt x="62475" y="218663"/>
                </a:lnTo>
                <a:cubicBezTo>
                  <a:pt x="62475" y="227302"/>
                  <a:pt x="55495" y="234281"/>
                  <a:pt x="46856" y="234281"/>
                </a:cubicBezTo>
                <a:lnTo>
                  <a:pt x="15619" y="234281"/>
                </a:lnTo>
                <a:cubicBezTo>
                  <a:pt x="6980" y="234281"/>
                  <a:pt x="0" y="227302"/>
                  <a:pt x="0" y="218663"/>
                </a:cubicBezTo>
                <a:lnTo>
                  <a:pt x="0" y="187425"/>
                </a:lnTo>
                <a:cubicBezTo>
                  <a:pt x="0" y="178786"/>
                  <a:pt x="6980" y="171806"/>
                  <a:pt x="15619" y="171806"/>
                </a:cubicBezTo>
                <a:lnTo>
                  <a:pt x="19523" y="171806"/>
                </a:lnTo>
                <a:lnTo>
                  <a:pt x="19523" y="144473"/>
                </a:lnTo>
                <a:cubicBezTo>
                  <a:pt x="19523" y="125048"/>
                  <a:pt x="35240" y="109331"/>
                  <a:pt x="54666" y="109331"/>
                </a:cubicBezTo>
                <a:lnTo>
                  <a:pt x="113236" y="109331"/>
                </a:lnTo>
                <a:lnTo>
                  <a:pt x="113236" y="78094"/>
                </a:lnTo>
                <a:lnTo>
                  <a:pt x="109331" y="78094"/>
                </a:lnTo>
                <a:cubicBezTo>
                  <a:pt x="100692" y="78094"/>
                  <a:pt x="93713" y="71114"/>
                  <a:pt x="93713" y="62475"/>
                </a:cubicBezTo>
                <a:lnTo>
                  <a:pt x="93713" y="31238"/>
                </a:ln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12095" y="1849261"/>
            <a:ext cx="8446623" cy="349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68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混合处理架构流程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2215" y="2349061"/>
            <a:ext cx="8621553" cy="749700"/>
          </a:xfrm>
          <a:custGeom>
            <a:avLst/>
            <a:gdLst/>
            <a:ahLst/>
            <a:cxnLst/>
            <a:rect l="l" t="t" r="r" b="b"/>
            <a:pathLst>
              <a:path w="8621553" h="749700">
                <a:moveTo>
                  <a:pt x="24990" y="0"/>
                </a:moveTo>
                <a:lnTo>
                  <a:pt x="8521595" y="0"/>
                </a:lnTo>
                <a:cubicBezTo>
                  <a:pt x="8576800" y="0"/>
                  <a:pt x="8621553" y="44753"/>
                  <a:pt x="8621553" y="99958"/>
                </a:cubicBezTo>
                <a:lnTo>
                  <a:pt x="8621553" y="649743"/>
                </a:lnTo>
                <a:cubicBezTo>
                  <a:pt x="8621553" y="704948"/>
                  <a:pt x="8576800" y="749700"/>
                  <a:pt x="8521595" y="749700"/>
                </a:cubicBezTo>
                <a:lnTo>
                  <a:pt x="24990" y="749700"/>
                </a:lnTo>
                <a:cubicBezTo>
                  <a:pt x="11198" y="749700"/>
                  <a:pt x="0" y="738503"/>
                  <a:pt x="0" y="724710"/>
                </a:cubicBezTo>
                <a:lnTo>
                  <a:pt x="0" y="24990"/>
                </a:lnTo>
                <a:cubicBezTo>
                  <a:pt x="0" y="11198"/>
                  <a:pt x="11198" y="0"/>
                  <a:pt x="2499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712215" y="2349061"/>
            <a:ext cx="24990" cy="749700"/>
          </a:xfrm>
          <a:custGeom>
            <a:avLst/>
            <a:gdLst/>
            <a:ahLst/>
            <a:cxnLst/>
            <a:rect l="l" t="t" r="r" b="b"/>
            <a:pathLst>
              <a:path w="24990" h="749700">
                <a:moveTo>
                  <a:pt x="24990" y="0"/>
                </a:moveTo>
                <a:lnTo>
                  <a:pt x="24990" y="0"/>
                </a:lnTo>
                <a:lnTo>
                  <a:pt x="24990" y="749700"/>
                </a:lnTo>
                <a:lnTo>
                  <a:pt x="24990" y="749700"/>
                </a:lnTo>
                <a:cubicBezTo>
                  <a:pt x="11198" y="749700"/>
                  <a:pt x="0" y="738503"/>
                  <a:pt x="0" y="724710"/>
                </a:cubicBezTo>
                <a:lnTo>
                  <a:pt x="0" y="24990"/>
                </a:lnTo>
                <a:cubicBezTo>
                  <a:pt x="0" y="11198"/>
                  <a:pt x="11198" y="0"/>
                  <a:pt x="24990" y="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24670" y="2474011"/>
            <a:ext cx="262395" cy="24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03075" y="2449021"/>
            <a:ext cx="1099560" cy="29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4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数据源系统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24550" y="2748901"/>
            <a:ext cx="8196723" cy="24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用户行为日志、订单数据、画像数据、商品数据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936698" y="3688467"/>
            <a:ext cx="168683" cy="224910"/>
          </a:xfrm>
          <a:custGeom>
            <a:avLst/>
            <a:gdLst/>
            <a:ahLst/>
            <a:cxnLst/>
            <a:rect l="l" t="t" r="r" b="b"/>
            <a:pathLst>
              <a:path w="168683" h="224910">
                <a:moveTo>
                  <a:pt x="74414" y="220781"/>
                </a:moveTo>
                <a:cubicBezTo>
                  <a:pt x="79905" y="226272"/>
                  <a:pt x="88822" y="226272"/>
                  <a:pt x="94313" y="220781"/>
                </a:cubicBezTo>
                <a:lnTo>
                  <a:pt x="164597" y="150496"/>
                </a:lnTo>
                <a:cubicBezTo>
                  <a:pt x="170088" y="145005"/>
                  <a:pt x="170088" y="136088"/>
                  <a:pt x="164597" y="130597"/>
                </a:cubicBezTo>
                <a:cubicBezTo>
                  <a:pt x="159106" y="125106"/>
                  <a:pt x="150189" y="125106"/>
                  <a:pt x="144698" y="130597"/>
                </a:cubicBezTo>
                <a:lnTo>
                  <a:pt x="98398" y="176897"/>
                </a:lnTo>
                <a:lnTo>
                  <a:pt x="98398" y="14057"/>
                </a:lnTo>
                <a:cubicBezTo>
                  <a:pt x="98398" y="6282"/>
                  <a:pt x="92116" y="0"/>
                  <a:pt x="84341" y="0"/>
                </a:cubicBezTo>
                <a:cubicBezTo>
                  <a:pt x="76566" y="0"/>
                  <a:pt x="70284" y="6282"/>
                  <a:pt x="70284" y="14057"/>
                </a:cubicBezTo>
                <a:lnTo>
                  <a:pt x="70284" y="176897"/>
                </a:lnTo>
                <a:lnTo>
                  <a:pt x="23985" y="130597"/>
                </a:lnTo>
                <a:cubicBezTo>
                  <a:pt x="18494" y="125106"/>
                  <a:pt x="9576" y="125106"/>
                  <a:pt x="4085" y="130597"/>
                </a:cubicBezTo>
                <a:cubicBezTo>
                  <a:pt x="-1406" y="136088"/>
                  <a:pt x="-1406" y="145005"/>
                  <a:pt x="4085" y="150496"/>
                </a:cubicBezTo>
                <a:lnTo>
                  <a:pt x="74370" y="220781"/>
                </a:ln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712215" y="4503082"/>
            <a:ext cx="8621553" cy="749700"/>
          </a:xfrm>
          <a:custGeom>
            <a:avLst/>
            <a:gdLst/>
            <a:ahLst/>
            <a:cxnLst/>
            <a:rect l="l" t="t" r="r" b="b"/>
            <a:pathLst>
              <a:path w="8621553" h="749700">
                <a:moveTo>
                  <a:pt x="24990" y="0"/>
                </a:moveTo>
                <a:lnTo>
                  <a:pt x="8521595" y="0"/>
                </a:lnTo>
                <a:cubicBezTo>
                  <a:pt x="8576800" y="0"/>
                  <a:pt x="8621553" y="44753"/>
                  <a:pt x="8621553" y="99958"/>
                </a:cubicBezTo>
                <a:lnTo>
                  <a:pt x="8621553" y="649743"/>
                </a:lnTo>
                <a:cubicBezTo>
                  <a:pt x="8621553" y="704948"/>
                  <a:pt x="8576800" y="749700"/>
                  <a:pt x="8521595" y="749700"/>
                </a:cubicBezTo>
                <a:lnTo>
                  <a:pt x="24990" y="749700"/>
                </a:lnTo>
                <a:cubicBezTo>
                  <a:pt x="11198" y="749700"/>
                  <a:pt x="0" y="738503"/>
                  <a:pt x="0" y="724710"/>
                </a:cubicBezTo>
                <a:lnTo>
                  <a:pt x="0" y="24990"/>
                </a:lnTo>
                <a:cubicBezTo>
                  <a:pt x="0" y="11198"/>
                  <a:pt x="11198" y="0"/>
                  <a:pt x="2499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712215" y="4503082"/>
            <a:ext cx="24990" cy="749700"/>
          </a:xfrm>
          <a:custGeom>
            <a:avLst/>
            <a:gdLst/>
            <a:ahLst/>
            <a:cxnLst/>
            <a:rect l="l" t="t" r="r" b="b"/>
            <a:pathLst>
              <a:path w="24990" h="749700">
                <a:moveTo>
                  <a:pt x="24990" y="0"/>
                </a:moveTo>
                <a:lnTo>
                  <a:pt x="24990" y="0"/>
                </a:lnTo>
                <a:lnTo>
                  <a:pt x="24990" y="749700"/>
                </a:lnTo>
                <a:lnTo>
                  <a:pt x="24990" y="749700"/>
                </a:lnTo>
                <a:cubicBezTo>
                  <a:pt x="11198" y="749700"/>
                  <a:pt x="0" y="738503"/>
                  <a:pt x="0" y="724710"/>
                </a:cubicBezTo>
                <a:lnTo>
                  <a:pt x="0" y="24990"/>
                </a:lnTo>
                <a:cubicBezTo>
                  <a:pt x="0" y="11198"/>
                  <a:pt x="11198" y="0"/>
                  <a:pt x="24990" y="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24670" y="4628032"/>
            <a:ext cx="299880" cy="24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32653" y="4603042"/>
            <a:ext cx="1099560" cy="29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4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数据采集层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24550" y="4902922"/>
            <a:ext cx="8196723" cy="24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Flume实时采集日志 · Kafka Connect同步数据库 · Debezium CDC捕获变更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936698" y="5842488"/>
            <a:ext cx="168683" cy="224910"/>
          </a:xfrm>
          <a:custGeom>
            <a:avLst/>
            <a:gdLst/>
            <a:ahLst/>
            <a:cxnLst/>
            <a:rect l="l" t="t" r="r" b="b"/>
            <a:pathLst>
              <a:path w="168683" h="224910">
                <a:moveTo>
                  <a:pt x="74414" y="220781"/>
                </a:moveTo>
                <a:cubicBezTo>
                  <a:pt x="79905" y="226272"/>
                  <a:pt x="88822" y="226272"/>
                  <a:pt x="94313" y="220781"/>
                </a:cubicBezTo>
                <a:lnTo>
                  <a:pt x="164597" y="150496"/>
                </a:lnTo>
                <a:cubicBezTo>
                  <a:pt x="170088" y="145005"/>
                  <a:pt x="170088" y="136088"/>
                  <a:pt x="164597" y="130597"/>
                </a:cubicBezTo>
                <a:cubicBezTo>
                  <a:pt x="159106" y="125106"/>
                  <a:pt x="150189" y="125106"/>
                  <a:pt x="144698" y="130597"/>
                </a:cubicBezTo>
                <a:lnTo>
                  <a:pt x="98398" y="176897"/>
                </a:lnTo>
                <a:lnTo>
                  <a:pt x="98398" y="14057"/>
                </a:lnTo>
                <a:cubicBezTo>
                  <a:pt x="98398" y="6282"/>
                  <a:pt x="92116" y="0"/>
                  <a:pt x="84341" y="0"/>
                </a:cubicBezTo>
                <a:cubicBezTo>
                  <a:pt x="76566" y="0"/>
                  <a:pt x="70284" y="6282"/>
                  <a:pt x="70284" y="14057"/>
                </a:cubicBezTo>
                <a:lnTo>
                  <a:pt x="70284" y="176897"/>
                </a:lnTo>
                <a:lnTo>
                  <a:pt x="23985" y="130597"/>
                </a:lnTo>
                <a:cubicBezTo>
                  <a:pt x="18494" y="125106"/>
                  <a:pt x="9576" y="125106"/>
                  <a:pt x="4085" y="130597"/>
                </a:cubicBezTo>
                <a:cubicBezTo>
                  <a:pt x="-1406" y="136088"/>
                  <a:pt x="-1406" y="145005"/>
                  <a:pt x="4085" y="150496"/>
                </a:cubicBezTo>
                <a:lnTo>
                  <a:pt x="74370" y="220781"/>
                </a:ln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712215" y="6657104"/>
            <a:ext cx="8621553" cy="749700"/>
          </a:xfrm>
          <a:custGeom>
            <a:avLst/>
            <a:gdLst/>
            <a:ahLst/>
            <a:cxnLst/>
            <a:rect l="l" t="t" r="r" b="b"/>
            <a:pathLst>
              <a:path w="8621553" h="749700">
                <a:moveTo>
                  <a:pt x="24990" y="0"/>
                </a:moveTo>
                <a:lnTo>
                  <a:pt x="8521595" y="0"/>
                </a:lnTo>
                <a:cubicBezTo>
                  <a:pt x="8576800" y="0"/>
                  <a:pt x="8621553" y="44753"/>
                  <a:pt x="8621553" y="99958"/>
                </a:cubicBezTo>
                <a:lnTo>
                  <a:pt x="8621553" y="649743"/>
                </a:lnTo>
                <a:cubicBezTo>
                  <a:pt x="8621553" y="704948"/>
                  <a:pt x="8576800" y="749700"/>
                  <a:pt x="8521595" y="749700"/>
                </a:cubicBezTo>
                <a:lnTo>
                  <a:pt x="24990" y="749700"/>
                </a:lnTo>
                <a:cubicBezTo>
                  <a:pt x="11198" y="749700"/>
                  <a:pt x="0" y="738503"/>
                  <a:pt x="0" y="724710"/>
                </a:cubicBezTo>
                <a:lnTo>
                  <a:pt x="0" y="24990"/>
                </a:lnTo>
                <a:cubicBezTo>
                  <a:pt x="0" y="11198"/>
                  <a:pt x="11198" y="0"/>
                  <a:pt x="2499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712215" y="6657104"/>
            <a:ext cx="24990" cy="749700"/>
          </a:xfrm>
          <a:custGeom>
            <a:avLst/>
            <a:gdLst/>
            <a:ahLst/>
            <a:cxnLst/>
            <a:rect l="l" t="t" r="r" b="b"/>
            <a:pathLst>
              <a:path w="24990" h="749700">
                <a:moveTo>
                  <a:pt x="24990" y="0"/>
                </a:moveTo>
                <a:lnTo>
                  <a:pt x="24990" y="0"/>
                </a:lnTo>
                <a:lnTo>
                  <a:pt x="24990" y="749700"/>
                </a:lnTo>
                <a:lnTo>
                  <a:pt x="24990" y="749700"/>
                </a:lnTo>
                <a:cubicBezTo>
                  <a:pt x="11198" y="749700"/>
                  <a:pt x="0" y="738503"/>
                  <a:pt x="0" y="724710"/>
                </a:cubicBezTo>
                <a:lnTo>
                  <a:pt x="0" y="24990"/>
                </a:lnTo>
                <a:cubicBezTo>
                  <a:pt x="0" y="11198"/>
                  <a:pt x="11198" y="0"/>
                  <a:pt x="24990" y="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24670" y="6782054"/>
            <a:ext cx="299880" cy="24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37241" y="6757064"/>
            <a:ext cx="1099560" cy="29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4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消息队列层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24550" y="7056944"/>
            <a:ext cx="8196723" cy="24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Kafka集群实现数据缓冲与解耦，支持批处理和近实时双链路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321728" y="7996510"/>
            <a:ext cx="1224510" cy="24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7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近实时处理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327975" y="8246410"/>
            <a:ext cx="1212015" cy="199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81" dirty="0">
                <a:solidFill>
                  <a:srgbClr val="E1E3E6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 Streaming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94646" y="7996510"/>
            <a:ext cx="924630" cy="24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7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批处理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00894" y="8246410"/>
            <a:ext cx="912135" cy="199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81" dirty="0">
                <a:solidFill>
                  <a:srgbClr val="E1E3E6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 Batch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736048" y="1649341"/>
            <a:ext cx="6022592" cy="3498601"/>
          </a:xfrm>
          <a:custGeom>
            <a:avLst/>
            <a:gdLst/>
            <a:ahLst/>
            <a:cxnLst/>
            <a:rect l="l" t="t" r="r" b="b"/>
            <a:pathLst>
              <a:path w="6022592" h="3498601">
                <a:moveTo>
                  <a:pt x="149950" y="0"/>
                </a:moveTo>
                <a:lnTo>
                  <a:pt x="5872642" y="0"/>
                </a:lnTo>
                <a:cubicBezTo>
                  <a:pt x="5955457" y="0"/>
                  <a:pt x="6022592" y="67135"/>
                  <a:pt x="6022592" y="149950"/>
                </a:cubicBezTo>
                <a:lnTo>
                  <a:pt x="6022592" y="3348651"/>
                </a:lnTo>
                <a:cubicBezTo>
                  <a:pt x="6022592" y="3431466"/>
                  <a:pt x="5955457" y="3498601"/>
                  <a:pt x="5872642" y="3498601"/>
                </a:cubicBezTo>
                <a:lnTo>
                  <a:pt x="149950" y="3498601"/>
                </a:lnTo>
                <a:cubicBezTo>
                  <a:pt x="67135" y="3498601"/>
                  <a:pt x="0" y="3431466"/>
                  <a:pt x="0" y="3348651"/>
                </a:cubicBezTo>
                <a:lnTo>
                  <a:pt x="0" y="149950"/>
                </a:lnTo>
                <a:cubicBezTo>
                  <a:pt x="0" y="67190"/>
                  <a:pt x="67190" y="0"/>
                  <a:pt x="149950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9967206" y="1899241"/>
            <a:ext cx="249900" cy="249900"/>
          </a:xfrm>
          <a:custGeom>
            <a:avLst/>
            <a:gdLst/>
            <a:ahLst/>
            <a:cxnLst/>
            <a:rect l="l" t="t" r="r" b="b"/>
            <a:pathLst>
              <a:path w="249900" h="249900">
                <a:moveTo>
                  <a:pt x="31238" y="31238"/>
                </a:moveTo>
                <a:cubicBezTo>
                  <a:pt x="31238" y="22598"/>
                  <a:pt x="24258" y="15619"/>
                  <a:pt x="15619" y="15619"/>
                </a:cubicBezTo>
                <a:cubicBezTo>
                  <a:pt x="6980" y="15619"/>
                  <a:pt x="0" y="22598"/>
                  <a:pt x="0" y="31238"/>
                </a:cubicBezTo>
                <a:lnTo>
                  <a:pt x="0" y="195234"/>
                </a:lnTo>
                <a:cubicBezTo>
                  <a:pt x="0" y="216808"/>
                  <a:pt x="17473" y="234281"/>
                  <a:pt x="39047" y="234281"/>
                </a:cubicBezTo>
                <a:lnTo>
                  <a:pt x="234281" y="234281"/>
                </a:lnTo>
                <a:cubicBezTo>
                  <a:pt x="242920" y="234281"/>
                  <a:pt x="249900" y="227302"/>
                  <a:pt x="249900" y="218663"/>
                </a:cubicBezTo>
                <a:cubicBezTo>
                  <a:pt x="249900" y="210023"/>
                  <a:pt x="242920" y="203044"/>
                  <a:pt x="234281" y="203044"/>
                </a:cubicBezTo>
                <a:lnTo>
                  <a:pt x="39047" y="203044"/>
                </a:lnTo>
                <a:cubicBezTo>
                  <a:pt x="34752" y="203044"/>
                  <a:pt x="31238" y="199530"/>
                  <a:pt x="31238" y="195234"/>
                </a:cubicBezTo>
                <a:lnTo>
                  <a:pt x="31238" y="31238"/>
                </a:lnTo>
                <a:close/>
                <a:moveTo>
                  <a:pt x="229693" y="73506"/>
                </a:moveTo>
                <a:cubicBezTo>
                  <a:pt x="235794" y="67405"/>
                  <a:pt x="235794" y="57497"/>
                  <a:pt x="229693" y="51395"/>
                </a:cubicBezTo>
                <a:cubicBezTo>
                  <a:pt x="223592" y="45294"/>
                  <a:pt x="213684" y="45294"/>
                  <a:pt x="207583" y="51395"/>
                </a:cubicBezTo>
                <a:lnTo>
                  <a:pt x="156188" y="102840"/>
                </a:lnTo>
                <a:lnTo>
                  <a:pt x="128171" y="74872"/>
                </a:lnTo>
                <a:cubicBezTo>
                  <a:pt x="122070" y="68771"/>
                  <a:pt x="112162" y="68771"/>
                  <a:pt x="106061" y="74872"/>
                </a:cubicBezTo>
                <a:lnTo>
                  <a:pt x="59205" y="121729"/>
                </a:lnTo>
                <a:cubicBezTo>
                  <a:pt x="53104" y="127830"/>
                  <a:pt x="53104" y="137738"/>
                  <a:pt x="59205" y="143839"/>
                </a:cubicBezTo>
                <a:cubicBezTo>
                  <a:pt x="65306" y="149940"/>
                  <a:pt x="75214" y="149940"/>
                  <a:pt x="81315" y="143839"/>
                </a:cubicBezTo>
                <a:lnTo>
                  <a:pt x="117141" y="108013"/>
                </a:lnTo>
                <a:lnTo>
                  <a:pt x="145157" y="136030"/>
                </a:lnTo>
                <a:cubicBezTo>
                  <a:pt x="151258" y="142131"/>
                  <a:pt x="161166" y="142131"/>
                  <a:pt x="167267" y="136030"/>
                </a:cubicBezTo>
                <a:lnTo>
                  <a:pt x="229742" y="73555"/>
                </a:ln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0248344" y="1849261"/>
            <a:ext cx="5435327" cy="349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68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技术实现特点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935968" y="2349061"/>
            <a:ext cx="5622752" cy="799680"/>
          </a:xfrm>
          <a:custGeom>
            <a:avLst/>
            <a:gdLst/>
            <a:ahLst/>
            <a:cxnLst/>
            <a:rect l="l" t="t" r="r" b="b"/>
            <a:pathLst>
              <a:path w="5622752" h="799680">
                <a:moveTo>
                  <a:pt x="99960" y="0"/>
                </a:moveTo>
                <a:lnTo>
                  <a:pt x="5522792" y="0"/>
                </a:lnTo>
                <a:cubicBezTo>
                  <a:pt x="5577998" y="0"/>
                  <a:pt x="5622752" y="44754"/>
                  <a:pt x="5622752" y="99960"/>
                </a:cubicBezTo>
                <a:lnTo>
                  <a:pt x="5622752" y="699720"/>
                </a:lnTo>
                <a:cubicBezTo>
                  <a:pt x="5622752" y="754927"/>
                  <a:pt x="5577998" y="799680"/>
                  <a:pt x="5522792" y="799680"/>
                </a:cubicBezTo>
                <a:lnTo>
                  <a:pt x="99960" y="799680"/>
                </a:lnTo>
                <a:cubicBezTo>
                  <a:pt x="44791" y="799680"/>
                  <a:pt x="0" y="754890"/>
                  <a:pt x="0" y="699720"/>
                </a:cubicBezTo>
                <a:lnTo>
                  <a:pt x="0" y="99960"/>
                </a:lnTo>
                <a:cubicBezTo>
                  <a:pt x="0" y="44791"/>
                  <a:pt x="44791" y="0"/>
                  <a:pt x="9996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0035929" y="2449021"/>
            <a:ext cx="899640" cy="29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4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处理模式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4660739" y="2449021"/>
            <a:ext cx="799680" cy="299880"/>
          </a:xfrm>
          <a:custGeom>
            <a:avLst/>
            <a:gdLst/>
            <a:ahLst/>
            <a:cxnLst/>
            <a:rect l="l" t="t" r="r" b="b"/>
            <a:pathLst>
              <a:path w="799680" h="299880">
                <a:moveTo>
                  <a:pt x="149940" y="0"/>
                </a:moveTo>
                <a:lnTo>
                  <a:pt x="649740" y="0"/>
                </a:lnTo>
                <a:cubicBezTo>
                  <a:pt x="732550" y="0"/>
                  <a:pt x="799680" y="67130"/>
                  <a:pt x="799680" y="149940"/>
                </a:cubicBezTo>
                <a:lnTo>
                  <a:pt x="799680" y="149940"/>
                </a:lnTo>
                <a:cubicBezTo>
                  <a:pt x="799680" y="232750"/>
                  <a:pt x="732550" y="299880"/>
                  <a:pt x="649740" y="299880"/>
                </a:cubicBezTo>
                <a:lnTo>
                  <a:pt x="149940" y="299880"/>
                </a:lnTo>
                <a:cubicBezTo>
                  <a:pt x="67130" y="299880"/>
                  <a:pt x="0" y="232750"/>
                  <a:pt x="0" y="149940"/>
                </a:cubicBezTo>
                <a:lnTo>
                  <a:pt x="0" y="149940"/>
                </a:lnTo>
                <a:cubicBezTo>
                  <a:pt x="0" y="67130"/>
                  <a:pt x="67130" y="0"/>
                  <a:pt x="149940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14660739" y="2449021"/>
            <a:ext cx="874650" cy="299880"/>
          </a:xfrm>
          <a:prstGeom prst="rect">
            <a:avLst/>
          </a:prstGeom>
          <a:noFill/>
          <a:ln/>
        </p:spPr>
        <p:txBody>
          <a:bodyPr wrap="square" lIns="99960" tIns="49980" rIns="99960" bIns="49980" rtlCol="0" anchor="ctr"/>
          <a:lstStyle/>
          <a:p>
            <a:pPr>
              <a:lnSpc>
                <a:spcPct val="110000"/>
              </a:lnSpc>
            </a:pPr>
            <a:r>
              <a:rPr lang="en-US" sz="118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混合模式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035929" y="2798881"/>
            <a:ext cx="5510297" cy="24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批处理+近实时处理，支持离线深度分析和实时监控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935968" y="3248701"/>
            <a:ext cx="5622752" cy="799680"/>
          </a:xfrm>
          <a:custGeom>
            <a:avLst/>
            <a:gdLst/>
            <a:ahLst/>
            <a:cxnLst/>
            <a:rect l="l" t="t" r="r" b="b"/>
            <a:pathLst>
              <a:path w="5622752" h="799680">
                <a:moveTo>
                  <a:pt x="99960" y="0"/>
                </a:moveTo>
                <a:lnTo>
                  <a:pt x="5522792" y="0"/>
                </a:lnTo>
                <a:cubicBezTo>
                  <a:pt x="5577998" y="0"/>
                  <a:pt x="5622752" y="44754"/>
                  <a:pt x="5622752" y="99960"/>
                </a:cubicBezTo>
                <a:lnTo>
                  <a:pt x="5622752" y="699720"/>
                </a:lnTo>
                <a:cubicBezTo>
                  <a:pt x="5622752" y="754927"/>
                  <a:pt x="5577998" y="799680"/>
                  <a:pt x="5522792" y="799680"/>
                </a:cubicBezTo>
                <a:lnTo>
                  <a:pt x="99960" y="799680"/>
                </a:lnTo>
                <a:cubicBezTo>
                  <a:pt x="44791" y="799680"/>
                  <a:pt x="0" y="754890"/>
                  <a:pt x="0" y="699720"/>
                </a:cubicBezTo>
                <a:lnTo>
                  <a:pt x="0" y="99960"/>
                </a:lnTo>
                <a:cubicBezTo>
                  <a:pt x="0" y="44791"/>
                  <a:pt x="44791" y="0"/>
                  <a:pt x="9996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10035929" y="3348661"/>
            <a:ext cx="899640" cy="29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4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处理规模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4662497" y="3348661"/>
            <a:ext cx="799680" cy="299880"/>
          </a:xfrm>
          <a:custGeom>
            <a:avLst/>
            <a:gdLst/>
            <a:ahLst/>
            <a:cxnLst/>
            <a:rect l="l" t="t" r="r" b="b"/>
            <a:pathLst>
              <a:path w="799680" h="299880">
                <a:moveTo>
                  <a:pt x="149940" y="0"/>
                </a:moveTo>
                <a:lnTo>
                  <a:pt x="649740" y="0"/>
                </a:lnTo>
                <a:cubicBezTo>
                  <a:pt x="732550" y="0"/>
                  <a:pt x="799680" y="67130"/>
                  <a:pt x="799680" y="149940"/>
                </a:cubicBezTo>
                <a:lnTo>
                  <a:pt x="799680" y="149940"/>
                </a:lnTo>
                <a:cubicBezTo>
                  <a:pt x="799680" y="232750"/>
                  <a:pt x="732550" y="299880"/>
                  <a:pt x="649740" y="299880"/>
                </a:cubicBezTo>
                <a:lnTo>
                  <a:pt x="149940" y="299880"/>
                </a:lnTo>
                <a:cubicBezTo>
                  <a:pt x="67130" y="299880"/>
                  <a:pt x="0" y="232750"/>
                  <a:pt x="0" y="149940"/>
                </a:cubicBezTo>
                <a:lnTo>
                  <a:pt x="0" y="149940"/>
                </a:lnTo>
                <a:cubicBezTo>
                  <a:pt x="0" y="67130"/>
                  <a:pt x="67130" y="0"/>
                  <a:pt x="149940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14662497" y="3348661"/>
            <a:ext cx="874650" cy="299880"/>
          </a:xfrm>
          <a:prstGeom prst="rect">
            <a:avLst/>
          </a:prstGeom>
          <a:noFill/>
          <a:ln/>
        </p:spPr>
        <p:txBody>
          <a:bodyPr wrap="square" lIns="99960" tIns="49980" rIns="99960" bIns="49980" rtlCol="0" anchor="ctr"/>
          <a:lstStyle/>
          <a:p>
            <a:pPr>
              <a:lnSpc>
                <a:spcPct val="110000"/>
              </a:lnSpc>
            </a:pPr>
            <a:r>
              <a:rPr lang="en-US" sz="118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TB-PB级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035929" y="3698521"/>
            <a:ext cx="5510297" cy="24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需要高度可扩展的分布式架构支持海量数据处理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935968" y="4148341"/>
            <a:ext cx="5622752" cy="799680"/>
          </a:xfrm>
          <a:custGeom>
            <a:avLst/>
            <a:gdLst/>
            <a:ahLst/>
            <a:cxnLst/>
            <a:rect l="l" t="t" r="r" b="b"/>
            <a:pathLst>
              <a:path w="5622752" h="799680">
                <a:moveTo>
                  <a:pt x="99960" y="0"/>
                </a:moveTo>
                <a:lnTo>
                  <a:pt x="5522792" y="0"/>
                </a:lnTo>
                <a:cubicBezTo>
                  <a:pt x="5577998" y="0"/>
                  <a:pt x="5622752" y="44754"/>
                  <a:pt x="5622752" y="99960"/>
                </a:cubicBezTo>
                <a:lnTo>
                  <a:pt x="5622752" y="699720"/>
                </a:lnTo>
                <a:cubicBezTo>
                  <a:pt x="5622752" y="754927"/>
                  <a:pt x="5577998" y="799680"/>
                  <a:pt x="5522792" y="799680"/>
                </a:cubicBezTo>
                <a:lnTo>
                  <a:pt x="99960" y="799680"/>
                </a:lnTo>
                <a:cubicBezTo>
                  <a:pt x="44791" y="799680"/>
                  <a:pt x="0" y="754890"/>
                  <a:pt x="0" y="699720"/>
                </a:cubicBezTo>
                <a:lnTo>
                  <a:pt x="0" y="99960"/>
                </a:lnTo>
                <a:cubicBezTo>
                  <a:pt x="0" y="44791"/>
                  <a:pt x="44791" y="0"/>
                  <a:pt x="9996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10035929" y="4248301"/>
            <a:ext cx="899640" cy="29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4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架构特点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4360859" y="4248301"/>
            <a:ext cx="1099560" cy="299880"/>
          </a:xfrm>
          <a:custGeom>
            <a:avLst/>
            <a:gdLst/>
            <a:ahLst/>
            <a:cxnLst/>
            <a:rect l="l" t="t" r="r" b="b"/>
            <a:pathLst>
              <a:path w="1099560" h="299880">
                <a:moveTo>
                  <a:pt x="149940" y="0"/>
                </a:moveTo>
                <a:lnTo>
                  <a:pt x="949620" y="0"/>
                </a:lnTo>
                <a:cubicBezTo>
                  <a:pt x="1032430" y="0"/>
                  <a:pt x="1099560" y="67130"/>
                  <a:pt x="1099560" y="149940"/>
                </a:cubicBezTo>
                <a:lnTo>
                  <a:pt x="1099560" y="149940"/>
                </a:lnTo>
                <a:cubicBezTo>
                  <a:pt x="1099560" y="232750"/>
                  <a:pt x="1032430" y="299880"/>
                  <a:pt x="949620" y="299880"/>
                </a:cubicBezTo>
                <a:lnTo>
                  <a:pt x="149940" y="299880"/>
                </a:lnTo>
                <a:cubicBezTo>
                  <a:pt x="67130" y="299880"/>
                  <a:pt x="0" y="232750"/>
                  <a:pt x="0" y="149940"/>
                </a:cubicBezTo>
                <a:lnTo>
                  <a:pt x="0" y="149940"/>
                </a:lnTo>
                <a:cubicBezTo>
                  <a:pt x="0" y="67130"/>
                  <a:pt x="67130" y="0"/>
                  <a:pt x="149940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14360859" y="4248301"/>
            <a:ext cx="1174530" cy="299880"/>
          </a:xfrm>
          <a:prstGeom prst="rect">
            <a:avLst/>
          </a:prstGeom>
          <a:noFill/>
          <a:ln/>
        </p:spPr>
        <p:txBody>
          <a:bodyPr wrap="square" lIns="99960" tIns="49980" rIns="99960" bIns="49980" rtlCol="0" anchor="ctr"/>
          <a:lstStyle/>
          <a:p>
            <a:pPr>
              <a:lnSpc>
                <a:spcPct val="110000"/>
              </a:lnSpc>
            </a:pPr>
            <a:r>
              <a:rPr lang="en-US" sz="118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消息队列解耦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035929" y="4598161"/>
            <a:ext cx="5510297" cy="24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Kafka解耦数据生产和消费，提高系统弹性和可维护性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9736048" y="5297882"/>
            <a:ext cx="6022592" cy="3348661"/>
          </a:xfrm>
          <a:custGeom>
            <a:avLst/>
            <a:gdLst/>
            <a:ahLst/>
            <a:cxnLst/>
            <a:rect l="l" t="t" r="r" b="b"/>
            <a:pathLst>
              <a:path w="6022592" h="3348661">
                <a:moveTo>
                  <a:pt x="149953" y="0"/>
                </a:moveTo>
                <a:lnTo>
                  <a:pt x="5872639" y="0"/>
                </a:lnTo>
                <a:cubicBezTo>
                  <a:pt x="5955456" y="0"/>
                  <a:pt x="6022592" y="67136"/>
                  <a:pt x="6022592" y="149953"/>
                </a:cubicBezTo>
                <a:lnTo>
                  <a:pt x="6022592" y="3198708"/>
                </a:lnTo>
                <a:cubicBezTo>
                  <a:pt x="6022592" y="3281525"/>
                  <a:pt x="5955456" y="3348661"/>
                  <a:pt x="5872639" y="3348661"/>
                </a:cubicBezTo>
                <a:lnTo>
                  <a:pt x="149953" y="3348661"/>
                </a:lnTo>
                <a:cubicBezTo>
                  <a:pt x="67136" y="3348661"/>
                  <a:pt x="0" y="3281525"/>
                  <a:pt x="0" y="3198708"/>
                </a:cubicBezTo>
                <a:lnTo>
                  <a:pt x="0" y="149953"/>
                </a:lnTo>
                <a:cubicBezTo>
                  <a:pt x="0" y="67192"/>
                  <a:pt x="67192" y="0"/>
                  <a:pt x="149953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9951587" y="5547782"/>
            <a:ext cx="281138" cy="249900"/>
          </a:xfrm>
          <a:custGeom>
            <a:avLst/>
            <a:gdLst/>
            <a:ahLst/>
            <a:cxnLst/>
            <a:rect l="l" t="t" r="r" b="b"/>
            <a:pathLst>
              <a:path w="281138" h="249900">
                <a:moveTo>
                  <a:pt x="109380" y="47393"/>
                </a:moveTo>
                <a:lnTo>
                  <a:pt x="109380" y="71602"/>
                </a:lnTo>
                <a:lnTo>
                  <a:pt x="109624" y="71846"/>
                </a:lnTo>
                <a:cubicBezTo>
                  <a:pt x="112797" y="31628"/>
                  <a:pt x="146426" y="0"/>
                  <a:pt x="187474" y="0"/>
                </a:cubicBezTo>
                <a:cubicBezTo>
                  <a:pt x="197284" y="0"/>
                  <a:pt x="206704" y="1806"/>
                  <a:pt x="215344" y="5125"/>
                </a:cubicBezTo>
                <a:cubicBezTo>
                  <a:pt x="220224" y="6980"/>
                  <a:pt x="221103" y="13178"/>
                  <a:pt x="217442" y="16888"/>
                </a:cubicBezTo>
                <a:lnTo>
                  <a:pt x="174149" y="60181"/>
                </a:lnTo>
                <a:cubicBezTo>
                  <a:pt x="172685" y="61645"/>
                  <a:pt x="171855" y="63646"/>
                  <a:pt x="171855" y="65696"/>
                </a:cubicBezTo>
                <a:lnTo>
                  <a:pt x="171855" y="85903"/>
                </a:lnTo>
                <a:cubicBezTo>
                  <a:pt x="171855" y="90198"/>
                  <a:pt x="175369" y="93713"/>
                  <a:pt x="179664" y="93713"/>
                </a:cubicBezTo>
                <a:lnTo>
                  <a:pt x="199871" y="93713"/>
                </a:lnTo>
                <a:cubicBezTo>
                  <a:pt x="201921" y="93713"/>
                  <a:pt x="203922" y="92883"/>
                  <a:pt x="205387" y="91419"/>
                </a:cubicBezTo>
                <a:lnTo>
                  <a:pt x="248680" y="48125"/>
                </a:lnTo>
                <a:cubicBezTo>
                  <a:pt x="252389" y="44416"/>
                  <a:pt x="258588" y="45343"/>
                  <a:pt x="260443" y="50224"/>
                </a:cubicBezTo>
                <a:cubicBezTo>
                  <a:pt x="263762" y="58863"/>
                  <a:pt x="265568" y="68283"/>
                  <a:pt x="265568" y="78094"/>
                </a:cubicBezTo>
                <a:cubicBezTo>
                  <a:pt x="265568" y="107672"/>
                  <a:pt x="249119" y="133443"/>
                  <a:pt x="224812" y="146670"/>
                </a:cubicBezTo>
                <a:lnTo>
                  <a:pt x="264591" y="186449"/>
                </a:lnTo>
                <a:cubicBezTo>
                  <a:pt x="273719" y="195576"/>
                  <a:pt x="273719" y="210414"/>
                  <a:pt x="264591" y="219590"/>
                </a:cubicBezTo>
                <a:lnTo>
                  <a:pt x="235257" y="248924"/>
                </a:lnTo>
                <a:cubicBezTo>
                  <a:pt x="226130" y="258051"/>
                  <a:pt x="211292" y="258051"/>
                  <a:pt x="202116" y="248924"/>
                </a:cubicBezTo>
                <a:lnTo>
                  <a:pt x="140618" y="187425"/>
                </a:lnTo>
                <a:cubicBezTo>
                  <a:pt x="127244" y="174051"/>
                  <a:pt x="124218" y="154284"/>
                  <a:pt x="131588" y="137982"/>
                </a:cubicBezTo>
                <a:lnTo>
                  <a:pt x="87319" y="93713"/>
                </a:lnTo>
                <a:lnTo>
                  <a:pt x="63110" y="93713"/>
                </a:lnTo>
                <a:cubicBezTo>
                  <a:pt x="57887" y="93713"/>
                  <a:pt x="53006" y="91126"/>
                  <a:pt x="50126" y="86782"/>
                </a:cubicBezTo>
                <a:lnTo>
                  <a:pt x="11421" y="28748"/>
                </a:lnTo>
                <a:cubicBezTo>
                  <a:pt x="9371" y="25673"/>
                  <a:pt x="9762" y="21525"/>
                  <a:pt x="12397" y="18889"/>
                </a:cubicBezTo>
                <a:lnTo>
                  <a:pt x="34556" y="-3270"/>
                </a:lnTo>
                <a:cubicBezTo>
                  <a:pt x="37192" y="-5906"/>
                  <a:pt x="41292" y="-6296"/>
                  <a:pt x="44416" y="-4246"/>
                </a:cubicBezTo>
                <a:lnTo>
                  <a:pt x="102449" y="34410"/>
                </a:lnTo>
                <a:cubicBezTo>
                  <a:pt x="106793" y="37290"/>
                  <a:pt x="109380" y="42171"/>
                  <a:pt x="109380" y="47393"/>
                </a:cubicBezTo>
                <a:close/>
                <a:moveTo>
                  <a:pt x="105231" y="144766"/>
                </a:moveTo>
                <a:cubicBezTo>
                  <a:pt x="102156" y="162826"/>
                  <a:pt x="106403" y="181910"/>
                  <a:pt x="118117" y="197187"/>
                </a:cubicBezTo>
                <a:lnTo>
                  <a:pt x="71749" y="243506"/>
                </a:lnTo>
                <a:cubicBezTo>
                  <a:pt x="58033" y="257221"/>
                  <a:pt x="35777" y="257221"/>
                  <a:pt x="22061" y="243506"/>
                </a:cubicBezTo>
                <a:cubicBezTo>
                  <a:pt x="8346" y="229791"/>
                  <a:pt x="8346" y="207534"/>
                  <a:pt x="22061" y="193819"/>
                </a:cubicBezTo>
                <a:lnTo>
                  <a:pt x="88148" y="127732"/>
                </a:lnTo>
                <a:lnTo>
                  <a:pt x="105231" y="144815"/>
                </a:ln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10248344" y="5497802"/>
            <a:ext cx="5435327" cy="349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68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核心技术栈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9935968" y="6097562"/>
            <a:ext cx="99960" cy="99960"/>
          </a:xfrm>
          <a:custGeom>
            <a:avLst/>
            <a:gdLst/>
            <a:ahLst/>
            <a:cxnLst/>
            <a:rect l="l" t="t" r="r" b="b"/>
            <a:pathLst>
              <a:path w="99960" h="99960">
                <a:moveTo>
                  <a:pt x="49980" y="0"/>
                </a:moveTo>
                <a:lnTo>
                  <a:pt x="49980" y="0"/>
                </a:lnTo>
                <a:cubicBezTo>
                  <a:pt x="77565" y="0"/>
                  <a:pt x="99960" y="22395"/>
                  <a:pt x="99960" y="49980"/>
                </a:cubicBezTo>
                <a:lnTo>
                  <a:pt x="99960" y="49980"/>
                </a:lnTo>
                <a:cubicBezTo>
                  <a:pt x="99960" y="77565"/>
                  <a:pt x="77565" y="99960"/>
                  <a:pt x="49980" y="99960"/>
                </a:cubicBezTo>
                <a:lnTo>
                  <a:pt x="49980" y="99960"/>
                </a:lnTo>
                <a:cubicBezTo>
                  <a:pt x="22395" y="99960"/>
                  <a:pt x="0" y="77565"/>
                  <a:pt x="0" y="49980"/>
                </a:cubicBezTo>
                <a:lnTo>
                  <a:pt x="0" y="49980"/>
                </a:lnTo>
                <a:cubicBezTo>
                  <a:pt x="0" y="22395"/>
                  <a:pt x="22395" y="0"/>
                  <a:pt x="49980" y="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10135889" y="5997602"/>
            <a:ext cx="4635646" cy="29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4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数据采集：Flume, Kafka Connect, Debezium CDC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9935968" y="6447422"/>
            <a:ext cx="99960" cy="99960"/>
          </a:xfrm>
          <a:custGeom>
            <a:avLst/>
            <a:gdLst/>
            <a:ahLst/>
            <a:cxnLst/>
            <a:rect l="l" t="t" r="r" b="b"/>
            <a:pathLst>
              <a:path w="99960" h="99960">
                <a:moveTo>
                  <a:pt x="49980" y="0"/>
                </a:moveTo>
                <a:lnTo>
                  <a:pt x="49980" y="0"/>
                </a:lnTo>
                <a:cubicBezTo>
                  <a:pt x="77565" y="0"/>
                  <a:pt x="99960" y="22395"/>
                  <a:pt x="99960" y="49980"/>
                </a:cubicBezTo>
                <a:lnTo>
                  <a:pt x="99960" y="49980"/>
                </a:lnTo>
                <a:cubicBezTo>
                  <a:pt x="99960" y="77565"/>
                  <a:pt x="77565" y="99960"/>
                  <a:pt x="49980" y="99960"/>
                </a:cubicBezTo>
                <a:lnTo>
                  <a:pt x="49980" y="99960"/>
                </a:lnTo>
                <a:cubicBezTo>
                  <a:pt x="22395" y="99960"/>
                  <a:pt x="0" y="77565"/>
                  <a:pt x="0" y="49980"/>
                </a:cubicBezTo>
                <a:lnTo>
                  <a:pt x="0" y="49980"/>
                </a:lnTo>
                <a:cubicBezTo>
                  <a:pt x="0" y="22395"/>
                  <a:pt x="22395" y="0"/>
                  <a:pt x="49980" y="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10135889" y="6347462"/>
            <a:ext cx="4435726" cy="29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4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分布式计算：Spark SQL, Spark ML, MapReduce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9935968" y="6797282"/>
            <a:ext cx="99960" cy="99960"/>
          </a:xfrm>
          <a:custGeom>
            <a:avLst/>
            <a:gdLst/>
            <a:ahLst/>
            <a:cxnLst/>
            <a:rect l="l" t="t" r="r" b="b"/>
            <a:pathLst>
              <a:path w="99960" h="99960">
                <a:moveTo>
                  <a:pt x="49980" y="0"/>
                </a:moveTo>
                <a:lnTo>
                  <a:pt x="49980" y="0"/>
                </a:lnTo>
                <a:cubicBezTo>
                  <a:pt x="77565" y="0"/>
                  <a:pt x="99960" y="22395"/>
                  <a:pt x="99960" y="49980"/>
                </a:cubicBezTo>
                <a:lnTo>
                  <a:pt x="99960" y="49980"/>
                </a:lnTo>
                <a:cubicBezTo>
                  <a:pt x="99960" y="77565"/>
                  <a:pt x="77565" y="99960"/>
                  <a:pt x="49980" y="99960"/>
                </a:cubicBezTo>
                <a:lnTo>
                  <a:pt x="49980" y="99960"/>
                </a:lnTo>
                <a:cubicBezTo>
                  <a:pt x="22395" y="99960"/>
                  <a:pt x="0" y="77565"/>
                  <a:pt x="0" y="49980"/>
                </a:cubicBezTo>
                <a:lnTo>
                  <a:pt x="0" y="49980"/>
                </a:lnTo>
                <a:cubicBezTo>
                  <a:pt x="0" y="22395"/>
                  <a:pt x="22395" y="0"/>
                  <a:pt x="49980" y="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10135889" y="6697322"/>
            <a:ext cx="3323671" cy="29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4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数据存储：Hive, ClickHouse, HBase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9935968" y="7147142"/>
            <a:ext cx="99960" cy="99960"/>
          </a:xfrm>
          <a:custGeom>
            <a:avLst/>
            <a:gdLst/>
            <a:ahLst/>
            <a:cxnLst/>
            <a:rect l="l" t="t" r="r" b="b"/>
            <a:pathLst>
              <a:path w="99960" h="99960">
                <a:moveTo>
                  <a:pt x="49980" y="0"/>
                </a:moveTo>
                <a:lnTo>
                  <a:pt x="49980" y="0"/>
                </a:lnTo>
                <a:cubicBezTo>
                  <a:pt x="77565" y="0"/>
                  <a:pt x="99960" y="22395"/>
                  <a:pt x="99960" y="49980"/>
                </a:cubicBezTo>
                <a:lnTo>
                  <a:pt x="99960" y="49980"/>
                </a:lnTo>
                <a:cubicBezTo>
                  <a:pt x="99960" y="77565"/>
                  <a:pt x="77565" y="99960"/>
                  <a:pt x="49980" y="99960"/>
                </a:cubicBezTo>
                <a:lnTo>
                  <a:pt x="49980" y="99960"/>
                </a:lnTo>
                <a:cubicBezTo>
                  <a:pt x="22395" y="99960"/>
                  <a:pt x="0" y="77565"/>
                  <a:pt x="0" y="49980"/>
                </a:cubicBezTo>
                <a:lnTo>
                  <a:pt x="0" y="49980"/>
                </a:lnTo>
                <a:cubicBezTo>
                  <a:pt x="0" y="22395"/>
                  <a:pt x="22395" y="0"/>
                  <a:pt x="49980" y="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10135889" y="7047182"/>
            <a:ext cx="2374051" cy="29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4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资源调度：YARN, Airflow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650875" y="647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168400" y="508000"/>
            <a:ext cx="571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案例三：实时欺诈检测系统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68400" y="1117600"/>
            <a:ext cx="14693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流式计算的典型应用，展示Flink实现毫秒级风险决策的架构设计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1676400"/>
            <a:ext cx="4940300" cy="6654800"/>
          </a:xfrm>
          <a:custGeom>
            <a:avLst/>
            <a:gdLst/>
            <a:ahLst/>
            <a:cxnLst/>
            <a:rect l="l" t="t" r="r" b="b"/>
            <a:pathLst>
              <a:path w="4940300" h="6654800">
                <a:moveTo>
                  <a:pt x="152408" y="0"/>
                </a:moveTo>
                <a:lnTo>
                  <a:pt x="4787892" y="0"/>
                </a:lnTo>
                <a:cubicBezTo>
                  <a:pt x="4872064" y="0"/>
                  <a:pt x="4940300" y="68236"/>
                  <a:pt x="4940300" y="152408"/>
                </a:cubicBezTo>
                <a:lnTo>
                  <a:pt x="4940300" y="6502392"/>
                </a:lnTo>
                <a:cubicBezTo>
                  <a:pt x="4940300" y="6586564"/>
                  <a:pt x="4872064" y="6654800"/>
                  <a:pt x="4787892" y="6654800"/>
                </a:cubicBezTo>
                <a:lnTo>
                  <a:pt x="152408" y="6654800"/>
                </a:lnTo>
                <a:cubicBezTo>
                  <a:pt x="68236" y="6654800"/>
                  <a:pt x="0" y="6586564"/>
                  <a:pt x="0" y="6502392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42950" y="19304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15342" y="2580"/>
                </a:moveTo>
                <a:cubicBezTo>
                  <a:pt x="122734" y="-843"/>
                  <a:pt x="131266" y="-843"/>
                  <a:pt x="138658" y="2580"/>
                </a:cubicBezTo>
                <a:lnTo>
                  <a:pt x="247104" y="52685"/>
                </a:lnTo>
                <a:cubicBezTo>
                  <a:pt x="251321" y="54620"/>
                  <a:pt x="254000" y="58837"/>
                  <a:pt x="254000" y="63500"/>
                </a:cubicBezTo>
                <a:cubicBezTo>
                  <a:pt x="254000" y="68163"/>
                  <a:pt x="251321" y="72380"/>
                  <a:pt x="247104" y="74315"/>
                </a:cubicBezTo>
                <a:lnTo>
                  <a:pt x="138658" y="124420"/>
                </a:lnTo>
                <a:cubicBezTo>
                  <a:pt x="131266" y="127843"/>
                  <a:pt x="122734" y="127843"/>
                  <a:pt x="115342" y="124420"/>
                </a:cubicBezTo>
                <a:lnTo>
                  <a:pt x="6896" y="74315"/>
                </a:lnTo>
                <a:cubicBezTo>
                  <a:pt x="2679" y="72330"/>
                  <a:pt x="0" y="68114"/>
                  <a:pt x="0" y="63500"/>
                </a:cubicBezTo>
                <a:cubicBezTo>
                  <a:pt x="0" y="58886"/>
                  <a:pt x="2679" y="54620"/>
                  <a:pt x="6896" y="52685"/>
                </a:cubicBezTo>
                <a:lnTo>
                  <a:pt x="115342" y="2580"/>
                </a:lnTo>
                <a:close/>
                <a:moveTo>
                  <a:pt x="23862" y="108347"/>
                </a:moveTo>
                <a:lnTo>
                  <a:pt x="105370" y="146000"/>
                </a:lnTo>
                <a:cubicBezTo>
                  <a:pt x="119112" y="152350"/>
                  <a:pt x="134938" y="152350"/>
                  <a:pt x="148679" y="146000"/>
                </a:cubicBezTo>
                <a:lnTo>
                  <a:pt x="230188" y="108347"/>
                </a:lnTo>
                <a:lnTo>
                  <a:pt x="247104" y="116185"/>
                </a:lnTo>
                <a:cubicBezTo>
                  <a:pt x="251321" y="118120"/>
                  <a:pt x="254000" y="122337"/>
                  <a:pt x="254000" y="127000"/>
                </a:cubicBezTo>
                <a:cubicBezTo>
                  <a:pt x="254000" y="131663"/>
                  <a:pt x="251321" y="135880"/>
                  <a:pt x="247104" y="137815"/>
                </a:cubicBezTo>
                <a:lnTo>
                  <a:pt x="138658" y="187920"/>
                </a:lnTo>
                <a:cubicBezTo>
                  <a:pt x="131266" y="191343"/>
                  <a:pt x="122734" y="191343"/>
                  <a:pt x="115342" y="187920"/>
                </a:cubicBezTo>
                <a:lnTo>
                  <a:pt x="6896" y="137815"/>
                </a:lnTo>
                <a:cubicBezTo>
                  <a:pt x="2679" y="135830"/>
                  <a:pt x="0" y="131614"/>
                  <a:pt x="0" y="127000"/>
                </a:cubicBezTo>
                <a:cubicBezTo>
                  <a:pt x="0" y="122386"/>
                  <a:pt x="2679" y="118120"/>
                  <a:pt x="6896" y="116185"/>
                </a:cubicBezTo>
                <a:lnTo>
                  <a:pt x="23812" y="108347"/>
                </a:lnTo>
                <a:close/>
                <a:moveTo>
                  <a:pt x="6896" y="179685"/>
                </a:moveTo>
                <a:lnTo>
                  <a:pt x="23812" y="171847"/>
                </a:lnTo>
                <a:lnTo>
                  <a:pt x="105321" y="209500"/>
                </a:lnTo>
                <a:cubicBezTo>
                  <a:pt x="119063" y="215850"/>
                  <a:pt x="134888" y="215850"/>
                  <a:pt x="148630" y="209500"/>
                </a:cubicBezTo>
                <a:lnTo>
                  <a:pt x="230138" y="171847"/>
                </a:lnTo>
                <a:lnTo>
                  <a:pt x="247055" y="179685"/>
                </a:lnTo>
                <a:cubicBezTo>
                  <a:pt x="251271" y="181620"/>
                  <a:pt x="253950" y="185837"/>
                  <a:pt x="253950" y="190500"/>
                </a:cubicBezTo>
                <a:cubicBezTo>
                  <a:pt x="253950" y="195163"/>
                  <a:pt x="251271" y="199380"/>
                  <a:pt x="247055" y="201315"/>
                </a:cubicBezTo>
                <a:lnTo>
                  <a:pt x="138609" y="251420"/>
                </a:lnTo>
                <a:cubicBezTo>
                  <a:pt x="131217" y="254843"/>
                  <a:pt x="122684" y="254843"/>
                  <a:pt x="115292" y="251420"/>
                </a:cubicBezTo>
                <a:lnTo>
                  <a:pt x="6896" y="201315"/>
                </a:lnTo>
                <a:cubicBezTo>
                  <a:pt x="2679" y="199330"/>
                  <a:pt x="0" y="195114"/>
                  <a:pt x="0" y="190500"/>
                </a:cubicBezTo>
                <a:cubicBezTo>
                  <a:pt x="0" y="185886"/>
                  <a:pt x="2679" y="181620"/>
                  <a:pt x="6896" y="179685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28700" y="1879600"/>
            <a:ext cx="4343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五层架构设计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23900" y="2387600"/>
            <a:ext cx="4521200" cy="1066800"/>
          </a:xfrm>
          <a:custGeom>
            <a:avLst/>
            <a:gdLst/>
            <a:ahLst/>
            <a:cxnLst/>
            <a:rect l="l" t="t" r="r" b="b"/>
            <a:pathLst>
              <a:path w="4521200" h="1066800">
                <a:moveTo>
                  <a:pt x="25400" y="0"/>
                </a:moveTo>
                <a:lnTo>
                  <a:pt x="4419598" y="0"/>
                </a:lnTo>
                <a:cubicBezTo>
                  <a:pt x="4475711" y="0"/>
                  <a:pt x="4521200" y="45489"/>
                  <a:pt x="4521200" y="101602"/>
                </a:cubicBezTo>
                <a:lnTo>
                  <a:pt x="4521200" y="965198"/>
                </a:lnTo>
                <a:cubicBezTo>
                  <a:pt x="4521200" y="1021311"/>
                  <a:pt x="4475711" y="1066800"/>
                  <a:pt x="4419598" y="1066800"/>
                </a:cubicBezTo>
                <a:lnTo>
                  <a:pt x="25400" y="1066800"/>
                </a:lnTo>
                <a:cubicBezTo>
                  <a:pt x="11372" y="1066800"/>
                  <a:pt x="0" y="1055428"/>
                  <a:pt x="0" y="10414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723900" y="2387600"/>
            <a:ext cx="25400" cy="1066800"/>
          </a:xfrm>
          <a:custGeom>
            <a:avLst/>
            <a:gdLst/>
            <a:ahLst/>
            <a:cxnLst/>
            <a:rect l="l" t="t" r="r" b="b"/>
            <a:pathLst>
              <a:path w="25400" h="1066800">
                <a:moveTo>
                  <a:pt x="25400" y="0"/>
                </a:moveTo>
                <a:lnTo>
                  <a:pt x="25400" y="0"/>
                </a:lnTo>
                <a:lnTo>
                  <a:pt x="25400" y="1066800"/>
                </a:lnTo>
                <a:lnTo>
                  <a:pt x="25400" y="1066800"/>
                </a:lnTo>
                <a:cubicBezTo>
                  <a:pt x="11381" y="1066800"/>
                  <a:pt x="0" y="1055419"/>
                  <a:pt x="0" y="10414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38200" y="2514600"/>
            <a:ext cx="266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21172" y="2489200"/>
            <a:ext cx="111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数据摄入层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2844800"/>
            <a:ext cx="4089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Kafka集群：高吞吐接收交易事件流，支持&gt;10k TPS，多副本保证高可用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23900" y="3556000"/>
            <a:ext cx="4521200" cy="1066800"/>
          </a:xfrm>
          <a:custGeom>
            <a:avLst/>
            <a:gdLst/>
            <a:ahLst/>
            <a:cxnLst/>
            <a:rect l="l" t="t" r="r" b="b"/>
            <a:pathLst>
              <a:path w="4521200" h="1066800">
                <a:moveTo>
                  <a:pt x="25400" y="0"/>
                </a:moveTo>
                <a:lnTo>
                  <a:pt x="4419598" y="0"/>
                </a:lnTo>
                <a:cubicBezTo>
                  <a:pt x="4475711" y="0"/>
                  <a:pt x="4521200" y="45489"/>
                  <a:pt x="4521200" y="101602"/>
                </a:cubicBezTo>
                <a:lnTo>
                  <a:pt x="4521200" y="965198"/>
                </a:lnTo>
                <a:cubicBezTo>
                  <a:pt x="4521200" y="1021311"/>
                  <a:pt x="4475711" y="1066800"/>
                  <a:pt x="4419598" y="1066800"/>
                </a:cubicBezTo>
                <a:lnTo>
                  <a:pt x="25400" y="1066800"/>
                </a:lnTo>
                <a:cubicBezTo>
                  <a:pt x="11372" y="1066800"/>
                  <a:pt x="0" y="1055428"/>
                  <a:pt x="0" y="10414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723900" y="3556000"/>
            <a:ext cx="25400" cy="1066800"/>
          </a:xfrm>
          <a:custGeom>
            <a:avLst/>
            <a:gdLst/>
            <a:ahLst/>
            <a:cxnLst/>
            <a:rect l="l" t="t" r="r" b="b"/>
            <a:pathLst>
              <a:path w="25400" h="1066800">
                <a:moveTo>
                  <a:pt x="25400" y="0"/>
                </a:moveTo>
                <a:lnTo>
                  <a:pt x="25400" y="0"/>
                </a:lnTo>
                <a:lnTo>
                  <a:pt x="25400" y="1066800"/>
                </a:lnTo>
                <a:lnTo>
                  <a:pt x="25400" y="1066800"/>
                </a:lnTo>
                <a:cubicBezTo>
                  <a:pt x="11381" y="1066800"/>
                  <a:pt x="0" y="1055419"/>
                  <a:pt x="0" y="10414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38200" y="3683000"/>
            <a:ext cx="304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51235" y="3657600"/>
            <a:ext cx="111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流处理引擎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4013200"/>
            <a:ext cx="4089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Flink集群：实时数据清洗、CEP模式检测、Exactly-Once语义保证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23900" y="4724400"/>
            <a:ext cx="4521200" cy="1066800"/>
          </a:xfrm>
          <a:custGeom>
            <a:avLst/>
            <a:gdLst/>
            <a:ahLst/>
            <a:cxnLst/>
            <a:rect l="l" t="t" r="r" b="b"/>
            <a:pathLst>
              <a:path w="4521200" h="1066800">
                <a:moveTo>
                  <a:pt x="25400" y="0"/>
                </a:moveTo>
                <a:lnTo>
                  <a:pt x="4419598" y="0"/>
                </a:lnTo>
                <a:cubicBezTo>
                  <a:pt x="4475711" y="0"/>
                  <a:pt x="4521200" y="45489"/>
                  <a:pt x="4521200" y="101602"/>
                </a:cubicBezTo>
                <a:lnTo>
                  <a:pt x="4521200" y="965198"/>
                </a:lnTo>
                <a:cubicBezTo>
                  <a:pt x="4521200" y="1021311"/>
                  <a:pt x="4475711" y="1066800"/>
                  <a:pt x="4419598" y="1066800"/>
                </a:cubicBezTo>
                <a:lnTo>
                  <a:pt x="25400" y="1066800"/>
                </a:lnTo>
                <a:cubicBezTo>
                  <a:pt x="11372" y="1066800"/>
                  <a:pt x="0" y="1055428"/>
                  <a:pt x="0" y="10414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723900" y="4724400"/>
            <a:ext cx="25400" cy="1066800"/>
          </a:xfrm>
          <a:custGeom>
            <a:avLst/>
            <a:gdLst/>
            <a:ahLst/>
            <a:cxnLst/>
            <a:rect l="l" t="t" r="r" b="b"/>
            <a:pathLst>
              <a:path w="25400" h="1066800">
                <a:moveTo>
                  <a:pt x="25400" y="0"/>
                </a:moveTo>
                <a:lnTo>
                  <a:pt x="25400" y="0"/>
                </a:lnTo>
                <a:lnTo>
                  <a:pt x="25400" y="1066800"/>
                </a:lnTo>
                <a:lnTo>
                  <a:pt x="25400" y="1066800"/>
                </a:lnTo>
                <a:cubicBezTo>
                  <a:pt x="11381" y="1066800"/>
                  <a:pt x="0" y="1055419"/>
                  <a:pt x="0" y="10414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38200" y="4851400"/>
            <a:ext cx="304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55898" y="4826000"/>
            <a:ext cx="111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规则计算层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43000" y="5181600"/>
            <a:ext cx="4089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Drools规则引擎+TensorFlow Serving：执行风控规则与ML模型推理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23900" y="5892800"/>
            <a:ext cx="4521200" cy="1066800"/>
          </a:xfrm>
          <a:custGeom>
            <a:avLst/>
            <a:gdLst/>
            <a:ahLst/>
            <a:cxnLst/>
            <a:rect l="l" t="t" r="r" b="b"/>
            <a:pathLst>
              <a:path w="4521200" h="1066800">
                <a:moveTo>
                  <a:pt x="25400" y="0"/>
                </a:moveTo>
                <a:lnTo>
                  <a:pt x="4419598" y="0"/>
                </a:lnTo>
                <a:cubicBezTo>
                  <a:pt x="4475711" y="0"/>
                  <a:pt x="4521200" y="45489"/>
                  <a:pt x="4521200" y="101602"/>
                </a:cubicBezTo>
                <a:lnTo>
                  <a:pt x="4521200" y="965198"/>
                </a:lnTo>
                <a:cubicBezTo>
                  <a:pt x="4521200" y="1021311"/>
                  <a:pt x="4475711" y="1066800"/>
                  <a:pt x="4419598" y="1066800"/>
                </a:cubicBezTo>
                <a:lnTo>
                  <a:pt x="25400" y="1066800"/>
                </a:lnTo>
                <a:cubicBezTo>
                  <a:pt x="11372" y="1066800"/>
                  <a:pt x="0" y="1055428"/>
                  <a:pt x="0" y="10414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723900" y="5892800"/>
            <a:ext cx="25400" cy="1066800"/>
          </a:xfrm>
          <a:custGeom>
            <a:avLst/>
            <a:gdLst/>
            <a:ahLst/>
            <a:cxnLst/>
            <a:rect l="l" t="t" r="r" b="b"/>
            <a:pathLst>
              <a:path w="25400" h="1066800">
                <a:moveTo>
                  <a:pt x="25400" y="0"/>
                </a:moveTo>
                <a:lnTo>
                  <a:pt x="25400" y="0"/>
                </a:lnTo>
                <a:lnTo>
                  <a:pt x="25400" y="1066800"/>
                </a:lnTo>
                <a:lnTo>
                  <a:pt x="25400" y="1066800"/>
                </a:lnTo>
                <a:cubicBezTo>
                  <a:pt x="11381" y="1066800"/>
                  <a:pt x="0" y="1055419"/>
                  <a:pt x="0" y="10414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38200" y="6019800"/>
            <a:ext cx="304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55502" y="5994400"/>
            <a:ext cx="111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状态存储层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43000" y="6350000"/>
            <a:ext cx="4089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Redis+RocksDB+HBase：实时状态管理、大状态持久化、历史数据查询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23900" y="7061200"/>
            <a:ext cx="4521200" cy="1066800"/>
          </a:xfrm>
          <a:custGeom>
            <a:avLst/>
            <a:gdLst/>
            <a:ahLst/>
            <a:cxnLst/>
            <a:rect l="l" t="t" r="r" b="b"/>
            <a:pathLst>
              <a:path w="4521200" h="1066800">
                <a:moveTo>
                  <a:pt x="25400" y="0"/>
                </a:moveTo>
                <a:lnTo>
                  <a:pt x="4419598" y="0"/>
                </a:lnTo>
                <a:cubicBezTo>
                  <a:pt x="4475711" y="0"/>
                  <a:pt x="4521200" y="45489"/>
                  <a:pt x="4521200" y="101602"/>
                </a:cubicBezTo>
                <a:lnTo>
                  <a:pt x="4521200" y="965198"/>
                </a:lnTo>
                <a:cubicBezTo>
                  <a:pt x="4521200" y="1021311"/>
                  <a:pt x="4475711" y="1066800"/>
                  <a:pt x="4419598" y="1066800"/>
                </a:cubicBezTo>
                <a:lnTo>
                  <a:pt x="25400" y="1066800"/>
                </a:lnTo>
                <a:cubicBezTo>
                  <a:pt x="11372" y="1066800"/>
                  <a:pt x="0" y="1055428"/>
                  <a:pt x="0" y="10414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723900" y="7061200"/>
            <a:ext cx="25400" cy="1066800"/>
          </a:xfrm>
          <a:custGeom>
            <a:avLst/>
            <a:gdLst/>
            <a:ahLst/>
            <a:cxnLst/>
            <a:rect l="l" t="t" r="r" b="b"/>
            <a:pathLst>
              <a:path w="25400" h="1066800">
                <a:moveTo>
                  <a:pt x="25400" y="0"/>
                </a:moveTo>
                <a:lnTo>
                  <a:pt x="25400" y="0"/>
                </a:lnTo>
                <a:lnTo>
                  <a:pt x="25400" y="1066800"/>
                </a:lnTo>
                <a:lnTo>
                  <a:pt x="25400" y="1066800"/>
                </a:lnTo>
                <a:cubicBezTo>
                  <a:pt x="11381" y="1066800"/>
                  <a:pt x="0" y="1055419"/>
                  <a:pt x="0" y="10414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38200" y="7188200"/>
            <a:ext cx="304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57486" y="7162800"/>
            <a:ext cx="111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决策输出层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43000" y="7518400"/>
            <a:ext cx="4089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业务大屏+风控系统+监控告警：实时可视化、决策执行、异常通知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655667" y="1676400"/>
            <a:ext cx="10096500" cy="3149600"/>
          </a:xfrm>
          <a:custGeom>
            <a:avLst/>
            <a:gdLst/>
            <a:ahLst/>
            <a:cxnLst/>
            <a:rect l="l" t="t" r="r" b="b"/>
            <a:pathLst>
              <a:path w="10096500" h="3149600">
                <a:moveTo>
                  <a:pt x="152409" y="0"/>
                </a:moveTo>
                <a:lnTo>
                  <a:pt x="9944091" y="0"/>
                </a:lnTo>
                <a:cubicBezTo>
                  <a:pt x="10028208" y="0"/>
                  <a:pt x="10096500" y="68292"/>
                  <a:pt x="10096500" y="152409"/>
                </a:cubicBezTo>
                <a:lnTo>
                  <a:pt x="10096500" y="2997191"/>
                </a:lnTo>
                <a:cubicBezTo>
                  <a:pt x="10096500" y="3081364"/>
                  <a:pt x="10028264" y="3149600"/>
                  <a:pt x="9944091" y="3149600"/>
                </a:cubicBezTo>
                <a:lnTo>
                  <a:pt x="152409" y="3149600"/>
                </a:lnTo>
                <a:cubicBezTo>
                  <a:pt x="68292" y="3149600"/>
                  <a:pt x="0" y="3081308"/>
                  <a:pt x="0" y="2997191"/>
                </a:cubicBezTo>
                <a:lnTo>
                  <a:pt x="0" y="152409"/>
                </a:lnTo>
                <a:cubicBezTo>
                  <a:pt x="0" y="68292"/>
                  <a:pt x="68292" y="0"/>
                  <a:pt x="152409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5906492" y="19304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39688" y="51594"/>
                </a:moveTo>
                <a:cubicBezTo>
                  <a:pt x="46259" y="51594"/>
                  <a:pt x="51594" y="46259"/>
                  <a:pt x="51594" y="39688"/>
                </a:cubicBezTo>
                <a:cubicBezTo>
                  <a:pt x="51594" y="33116"/>
                  <a:pt x="46259" y="27781"/>
                  <a:pt x="39688" y="27781"/>
                </a:cubicBezTo>
                <a:cubicBezTo>
                  <a:pt x="33116" y="27781"/>
                  <a:pt x="27781" y="33116"/>
                  <a:pt x="27781" y="39688"/>
                </a:cubicBezTo>
                <a:cubicBezTo>
                  <a:pt x="27781" y="46259"/>
                  <a:pt x="33116" y="51594"/>
                  <a:pt x="39688" y="51594"/>
                </a:cubicBezTo>
                <a:close/>
                <a:moveTo>
                  <a:pt x="79375" y="39688"/>
                </a:moveTo>
                <a:cubicBezTo>
                  <a:pt x="79375" y="55959"/>
                  <a:pt x="69602" y="69949"/>
                  <a:pt x="55563" y="76051"/>
                </a:cubicBezTo>
                <a:lnTo>
                  <a:pt x="55563" y="111125"/>
                </a:lnTo>
                <a:lnTo>
                  <a:pt x="142875" y="111125"/>
                </a:lnTo>
                <a:cubicBezTo>
                  <a:pt x="156021" y="111125"/>
                  <a:pt x="166688" y="100459"/>
                  <a:pt x="166688" y="87313"/>
                </a:cubicBezTo>
                <a:lnTo>
                  <a:pt x="166688" y="76051"/>
                </a:lnTo>
                <a:cubicBezTo>
                  <a:pt x="152648" y="69949"/>
                  <a:pt x="142875" y="55959"/>
                  <a:pt x="142875" y="39688"/>
                </a:cubicBezTo>
                <a:cubicBezTo>
                  <a:pt x="142875" y="17760"/>
                  <a:pt x="160635" y="0"/>
                  <a:pt x="182563" y="0"/>
                </a:cubicBezTo>
                <a:cubicBezTo>
                  <a:pt x="204490" y="0"/>
                  <a:pt x="222250" y="17760"/>
                  <a:pt x="222250" y="39688"/>
                </a:cubicBezTo>
                <a:cubicBezTo>
                  <a:pt x="222250" y="55959"/>
                  <a:pt x="212477" y="69949"/>
                  <a:pt x="198438" y="76051"/>
                </a:cubicBezTo>
                <a:lnTo>
                  <a:pt x="198438" y="87313"/>
                </a:lnTo>
                <a:cubicBezTo>
                  <a:pt x="198438" y="118021"/>
                  <a:pt x="173583" y="142875"/>
                  <a:pt x="142875" y="142875"/>
                </a:cubicBezTo>
                <a:lnTo>
                  <a:pt x="55563" y="142875"/>
                </a:lnTo>
                <a:lnTo>
                  <a:pt x="55563" y="177949"/>
                </a:lnTo>
                <a:cubicBezTo>
                  <a:pt x="69602" y="184051"/>
                  <a:pt x="79375" y="198041"/>
                  <a:pt x="79375" y="214313"/>
                </a:cubicBezTo>
                <a:cubicBezTo>
                  <a:pt x="79375" y="236240"/>
                  <a:pt x="61615" y="254000"/>
                  <a:pt x="39688" y="254000"/>
                </a:cubicBezTo>
                <a:cubicBezTo>
                  <a:pt x="17760" y="254000"/>
                  <a:pt x="0" y="236240"/>
                  <a:pt x="0" y="214313"/>
                </a:cubicBezTo>
                <a:cubicBezTo>
                  <a:pt x="0" y="198041"/>
                  <a:pt x="9773" y="184051"/>
                  <a:pt x="23812" y="177949"/>
                </a:cubicBezTo>
                <a:lnTo>
                  <a:pt x="23812" y="76101"/>
                </a:lnTo>
                <a:cubicBezTo>
                  <a:pt x="9773" y="69949"/>
                  <a:pt x="0" y="55959"/>
                  <a:pt x="0" y="39688"/>
                </a:cubicBezTo>
                <a:cubicBezTo>
                  <a:pt x="0" y="17760"/>
                  <a:pt x="17760" y="0"/>
                  <a:pt x="39688" y="0"/>
                </a:cubicBezTo>
                <a:cubicBezTo>
                  <a:pt x="61615" y="0"/>
                  <a:pt x="79375" y="17760"/>
                  <a:pt x="79375" y="39688"/>
                </a:cubicBezTo>
                <a:close/>
                <a:moveTo>
                  <a:pt x="194469" y="39688"/>
                </a:moveTo>
                <a:cubicBezTo>
                  <a:pt x="194469" y="33116"/>
                  <a:pt x="189134" y="27781"/>
                  <a:pt x="182563" y="27781"/>
                </a:cubicBezTo>
                <a:cubicBezTo>
                  <a:pt x="175991" y="27781"/>
                  <a:pt x="170656" y="33116"/>
                  <a:pt x="170656" y="39688"/>
                </a:cubicBezTo>
                <a:cubicBezTo>
                  <a:pt x="170656" y="46259"/>
                  <a:pt x="175991" y="51594"/>
                  <a:pt x="182563" y="51594"/>
                </a:cubicBezTo>
                <a:cubicBezTo>
                  <a:pt x="189134" y="51594"/>
                  <a:pt x="194469" y="46259"/>
                  <a:pt x="194469" y="39688"/>
                </a:cubicBezTo>
                <a:close/>
                <a:moveTo>
                  <a:pt x="39688" y="226219"/>
                </a:moveTo>
                <a:cubicBezTo>
                  <a:pt x="46259" y="226219"/>
                  <a:pt x="51594" y="220884"/>
                  <a:pt x="51594" y="214313"/>
                </a:cubicBezTo>
                <a:cubicBezTo>
                  <a:pt x="51594" y="207741"/>
                  <a:pt x="46259" y="202406"/>
                  <a:pt x="39688" y="202406"/>
                </a:cubicBezTo>
                <a:cubicBezTo>
                  <a:pt x="33116" y="202406"/>
                  <a:pt x="27781" y="207741"/>
                  <a:pt x="27781" y="214313"/>
                </a:cubicBezTo>
                <a:cubicBezTo>
                  <a:pt x="27781" y="220884"/>
                  <a:pt x="33116" y="226219"/>
                  <a:pt x="39688" y="226219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176367" y="1879600"/>
            <a:ext cx="9499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Flink流式处理流程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58867" y="2387600"/>
            <a:ext cx="9690100" cy="2235200"/>
          </a:xfrm>
          <a:custGeom>
            <a:avLst/>
            <a:gdLst/>
            <a:ahLst/>
            <a:cxnLst/>
            <a:rect l="l" t="t" r="r" b="b"/>
            <a:pathLst>
              <a:path w="9690100" h="2235200">
                <a:moveTo>
                  <a:pt x="152396" y="0"/>
                </a:moveTo>
                <a:lnTo>
                  <a:pt x="9537704" y="0"/>
                </a:lnTo>
                <a:cubicBezTo>
                  <a:pt x="9621870" y="0"/>
                  <a:pt x="9690100" y="68230"/>
                  <a:pt x="9690100" y="152396"/>
                </a:cubicBezTo>
                <a:lnTo>
                  <a:pt x="9690100" y="2082804"/>
                </a:lnTo>
                <a:cubicBezTo>
                  <a:pt x="9690100" y="2166970"/>
                  <a:pt x="9621870" y="2235200"/>
                  <a:pt x="9537704" y="2235200"/>
                </a:cubicBezTo>
                <a:lnTo>
                  <a:pt x="152396" y="2235200"/>
                </a:lnTo>
                <a:cubicBezTo>
                  <a:pt x="68230" y="2235200"/>
                  <a:pt x="0" y="2166970"/>
                  <a:pt x="0" y="2082804"/>
                </a:cubicBezTo>
                <a:lnTo>
                  <a:pt x="0" y="152396"/>
                </a:lnTo>
                <a:cubicBezTo>
                  <a:pt x="0" y="68286"/>
                  <a:pt x="68286" y="0"/>
                  <a:pt x="152396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6771084" y="2540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6999684" y="2768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71152" y="135434"/>
                </a:moveTo>
                <a:cubicBezTo>
                  <a:pt x="175816" y="130770"/>
                  <a:pt x="175816" y="123230"/>
                  <a:pt x="171152" y="118616"/>
                </a:cubicBezTo>
                <a:lnTo>
                  <a:pt x="99715" y="47129"/>
                </a:lnTo>
                <a:cubicBezTo>
                  <a:pt x="96292" y="43706"/>
                  <a:pt x="91182" y="42714"/>
                  <a:pt x="86717" y="44549"/>
                </a:cubicBezTo>
                <a:cubicBezTo>
                  <a:pt x="82252" y="46385"/>
                  <a:pt x="79375" y="50750"/>
                  <a:pt x="79375" y="55563"/>
                </a:cubicBezTo>
                <a:lnTo>
                  <a:pt x="79375" y="95250"/>
                </a:lnTo>
                <a:lnTo>
                  <a:pt x="23812" y="95250"/>
                </a:lnTo>
                <a:cubicBezTo>
                  <a:pt x="10666" y="95250"/>
                  <a:pt x="0" y="105916"/>
                  <a:pt x="0" y="119063"/>
                </a:cubicBezTo>
                <a:lnTo>
                  <a:pt x="0" y="134938"/>
                </a:lnTo>
                <a:cubicBezTo>
                  <a:pt x="0" y="148084"/>
                  <a:pt x="10666" y="158750"/>
                  <a:pt x="23812" y="158750"/>
                </a:cubicBezTo>
                <a:lnTo>
                  <a:pt x="79375" y="158750"/>
                </a:lnTo>
                <a:lnTo>
                  <a:pt x="79375" y="198438"/>
                </a:lnTo>
                <a:cubicBezTo>
                  <a:pt x="79375" y="203250"/>
                  <a:pt x="82252" y="207615"/>
                  <a:pt x="86717" y="209451"/>
                </a:cubicBezTo>
                <a:cubicBezTo>
                  <a:pt x="91182" y="211286"/>
                  <a:pt x="96292" y="210294"/>
                  <a:pt x="99715" y="206871"/>
                </a:cubicBezTo>
                <a:lnTo>
                  <a:pt x="171152" y="135434"/>
                </a:lnTo>
                <a:close/>
                <a:moveTo>
                  <a:pt x="174625" y="206375"/>
                </a:moveTo>
                <a:cubicBezTo>
                  <a:pt x="165844" y="206375"/>
                  <a:pt x="158750" y="213469"/>
                  <a:pt x="158750" y="222250"/>
                </a:cubicBezTo>
                <a:cubicBezTo>
                  <a:pt x="158750" y="231031"/>
                  <a:pt x="165844" y="238125"/>
                  <a:pt x="174625" y="238125"/>
                </a:cubicBezTo>
                <a:lnTo>
                  <a:pt x="206375" y="238125"/>
                </a:lnTo>
                <a:cubicBezTo>
                  <a:pt x="232668" y="238125"/>
                  <a:pt x="254000" y="216793"/>
                  <a:pt x="254000" y="190500"/>
                </a:cubicBezTo>
                <a:lnTo>
                  <a:pt x="254000" y="63500"/>
                </a:lnTo>
                <a:cubicBezTo>
                  <a:pt x="254000" y="37207"/>
                  <a:pt x="232668" y="15875"/>
                  <a:pt x="206375" y="15875"/>
                </a:cubicBezTo>
                <a:lnTo>
                  <a:pt x="174625" y="15875"/>
                </a:lnTo>
                <a:cubicBezTo>
                  <a:pt x="165844" y="15875"/>
                  <a:pt x="158750" y="22969"/>
                  <a:pt x="158750" y="31750"/>
                </a:cubicBezTo>
                <a:cubicBezTo>
                  <a:pt x="158750" y="40531"/>
                  <a:pt x="165844" y="47625"/>
                  <a:pt x="174625" y="47625"/>
                </a:cubicBezTo>
                <a:lnTo>
                  <a:pt x="206375" y="47625"/>
                </a:lnTo>
                <a:cubicBezTo>
                  <a:pt x="215156" y="47625"/>
                  <a:pt x="222250" y="54719"/>
                  <a:pt x="222250" y="63500"/>
                </a:cubicBezTo>
                <a:lnTo>
                  <a:pt x="222250" y="190500"/>
                </a:lnTo>
                <a:cubicBezTo>
                  <a:pt x="222250" y="199281"/>
                  <a:pt x="215156" y="206375"/>
                  <a:pt x="206375" y="206375"/>
                </a:cubicBezTo>
                <a:lnTo>
                  <a:pt x="174625" y="206375"/>
                </a:ln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5960467" y="3352800"/>
            <a:ext cx="233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Source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966817" y="3708400"/>
            <a:ext cx="2324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Kafka消费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维表关联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154517" y="2540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9351367" y="2768600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206325" y="104428"/>
                </a:moveTo>
                <a:cubicBezTo>
                  <a:pt x="212378" y="102791"/>
                  <a:pt x="218728" y="105668"/>
                  <a:pt x="221456" y="111274"/>
                </a:cubicBezTo>
                <a:lnTo>
                  <a:pt x="230684" y="129927"/>
                </a:lnTo>
                <a:cubicBezTo>
                  <a:pt x="235793" y="130621"/>
                  <a:pt x="240804" y="132011"/>
                  <a:pt x="245517" y="133945"/>
                </a:cubicBezTo>
                <a:lnTo>
                  <a:pt x="262880" y="122386"/>
                </a:lnTo>
                <a:cubicBezTo>
                  <a:pt x="268089" y="118914"/>
                  <a:pt x="274985" y="119608"/>
                  <a:pt x="279400" y="124023"/>
                </a:cubicBezTo>
                <a:lnTo>
                  <a:pt x="288925" y="133548"/>
                </a:lnTo>
                <a:cubicBezTo>
                  <a:pt x="293340" y="137964"/>
                  <a:pt x="294035" y="144909"/>
                  <a:pt x="290562" y="150068"/>
                </a:cubicBezTo>
                <a:lnTo>
                  <a:pt x="279003" y="167382"/>
                </a:lnTo>
                <a:cubicBezTo>
                  <a:pt x="279946" y="169714"/>
                  <a:pt x="280789" y="172145"/>
                  <a:pt x="281484" y="174675"/>
                </a:cubicBezTo>
                <a:cubicBezTo>
                  <a:pt x="282178" y="177205"/>
                  <a:pt x="282625" y="179685"/>
                  <a:pt x="282972" y="182215"/>
                </a:cubicBezTo>
                <a:lnTo>
                  <a:pt x="301675" y="191443"/>
                </a:lnTo>
                <a:cubicBezTo>
                  <a:pt x="307280" y="194221"/>
                  <a:pt x="310158" y="200571"/>
                  <a:pt x="308521" y="206573"/>
                </a:cubicBezTo>
                <a:lnTo>
                  <a:pt x="305048" y="219571"/>
                </a:lnTo>
                <a:cubicBezTo>
                  <a:pt x="303411" y="225574"/>
                  <a:pt x="297805" y="229642"/>
                  <a:pt x="291554" y="229245"/>
                </a:cubicBezTo>
                <a:lnTo>
                  <a:pt x="270718" y="227905"/>
                </a:lnTo>
                <a:cubicBezTo>
                  <a:pt x="267593" y="231924"/>
                  <a:pt x="263971" y="235645"/>
                  <a:pt x="259854" y="238820"/>
                </a:cubicBezTo>
                <a:lnTo>
                  <a:pt x="261193" y="259606"/>
                </a:lnTo>
                <a:cubicBezTo>
                  <a:pt x="261590" y="265857"/>
                  <a:pt x="257522" y="271512"/>
                  <a:pt x="251520" y="273100"/>
                </a:cubicBezTo>
                <a:lnTo>
                  <a:pt x="238522" y="276572"/>
                </a:lnTo>
                <a:cubicBezTo>
                  <a:pt x="232470" y="278209"/>
                  <a:pt x="226169" y="275332"/>
                  <a:pt x="223391" y="269726"/>
                </a:cubicBezTo>
                <a:lnTo>
                  <a:pt x="214164" y="251073"/>
                </a:lnTo>
                <a:cubicBezTo>
                  <a:pt x="209054" y="250379"/>
                  <a:pt x="204043" y="248989"/>
                  <a:pt x="199330" y="247055"/>
                </a:cubicBezTo>
                <a:lnTo>
                  <a:pt x="181967" y="258614"/>
                </a:lnTo>
                <a:cubicBezTo>
                  <a:pt x="176758" y="262086"/>
                  <a:pt x="169863" y="261392"/>
                  <a:pt x="165447" y="256977"/>
                </a:cubicBezTo>
                <a:lnTo>
                  <a:pt x="155922" y="247452"/>
                </a:lnTo>
                <a:cubicBezTo>
                  <a:pt x="151507" y="243036"/>
                  <a:pt x="150813" y="236141"/>
                  <a:pt x="154285" y="230932"/>
                </a:cubicBezTo>
                <a:lnTo>
                  <a:pt x="165844" y="213568"/>
                </a:lnTo>
                <a:cubicBezTo>
                  <a:pt x="164902" y="211237"/>
                  <a:pt x="164058" y="208806"/>
                  <a:pt x="163364" y="206276"/>
                </a:cubicBezTo>
                <a:cubicBezTo>
                  <a:pt x="162669" y="203746"/>
                  <a:pt x="162223" y="201216"/>
                  <a:pt x="161875" y="198735"/>
                </a:cubicBezTo>
                <a:lnTo>
                  <a:pt x="143173" y="189508"/>
                </a:lnTo>
                <a:cubicBezTo>
                  <a:pt x="137567" y="186730"/>
                  <a:pt x="134739" y="180380"/>
                  <a:pt x="136327" y="174377"/>
                </a:cubicBezTo>
                <a:lnTo>
                  <a:pt x="139799" y="161379"/>
                </a:lnTo>
                <a:cubicBezTo>
                  <a:pt x="141436" y="155377"/>
                  <a:pt x="147042" y="151309"/>
                  <a:pt x="153293" y="151705"/>
                </a:cubicBezTo>
                <a:lnTo>
                  <a:pt x="174079" y="153045"/>
                </a:lnTo>
                <a:cubicBezTo>
                  <a:pt x="177205" y="149027"/>
                  <a:pt x="180826" y="145306"/>
                  <a:pt x="184944" y="142131"/>
                </a:cubicBezTo>
                <a:lnTo>
                  <a:pt x="183604" y="121394"/>
                </a:lnTo>
                <a:cubicBezTo>
                  <a:pt x="183207" y="115143"/>
                  <a:pt x="187275" y="109488"/>
                  <a:pt x="193278" y="107900"/>
                </a:cubicBezTo>
                <a:lnTo>
                  <a:pt x="206276" y="104428"/>
                </a:lnTo>
                <a:close/>
                <a:moveTo>
                  <a:pt x="222448" y="168672"/>
                </a:moveTo>
                <a:cubicBezTo>
                  <a:pt x="210401" y="168686"/>
                  <a:pt x="200631" y="178478"/>
                  <a:pt x="200645" y="190525"/>
                </a:cubicBezTo>
                <a:cubicBezTo>
                  <a:pt x="200659" y="202572"/>
                  <a:pt x="210451" y="212342"/>
                  <a:pt x="222498" y="212328"/>
                </a:cubicBezTo>
                <a:cubicBezTo>
                  <a:pt x="234545" y="212314"/>
                  <a:pt x="244315" y="202522"/>
                  <a:pt x="244301" y="190475"/>
                </a:cubicBezTo>
                <a:cubicBezTo>
                  <a:pt x="244288" y="178428"/>
                  <a:pt x="234496" y="168658"/>
                  <a:pt x="222448" y="168672"/>
                </a:cubicBezTo>
                <a:close/>
                <a:moveTo>
                  <a:pt x="111571" y="-22572"/>
                </a:moveTo>
                <a:lnTo>
                  <a:pt x="124569" y="-19100"/>
                </a:lnTo>
                <a:cubicBezTo>
                  <a:pt x="130572" y="-17462"/>
                  <a:pt x="134640" y="-11807"/>
                  <a:pt x="134243" y="-5606"/>
                </a:cubicBezTo>
                <a:lnTo>
                  <a:pt x="132904" y="15131"/>
                </a:lnTo>
                <a:cubicBezTo>
                  <a:pt x="137021" y="18306"/>
                  <a:pt x="140643" y="21977"/>
                  <a:pt x="143768" y="26045"/>
                </a:cubicBezTo>
                <a:lnTo>
                  <a:pt x="164604" y="24705"/>
                </a:lnTo>
                <a:cubicBezTo>
                  <a:pt x="170805" y="24309"/>
                  <a:pt x="176461" y="28377"/>
                  <a:pt x="178098" y="34379"/>
                </a:cubicBezTo>
                <a:lnTo>
                  <a:pt x="181570" y="47377"/>
                </a:lnTo>
                <a:cubicBezTo>
                  <a:pt x="183158" y="53380"/>
                  <a:pt x="180330" y="59730"/>
                  <a:pt x="174724" y="62508"/>
                </a:cubicBezTo>
                <a:lnTo>
                  <a:pt x="156021" y="71735"/>
                </a:lnTo>
                <a:cubicBezTo>
                  <a:pt x="155674" y="74265"/>
                  <a:pt x="155178" y="76795"/>
                  <a:pt x="154533" y="79276"/>
                </a:cubicBezTo>
                <a:cubicBezTo>
                  <a:pt x="153888" y="81756"/>
                  <a:pt x="152995" y="84237"/>
                  <a:pt x="152053" y="86568"/>
                </a:cubicBezTo>
                <a:lnTo>
                  <a:pt x="163612" y="103932"/>
                </a:lnTo>
                <a:cubicBezTo>
                  <a:pt x="167084" y="109141"/>
                  <a:pt x="166390" y="116036"/>
                  <a:pt x="161975" y="120452"/>
                </a:cubicBezTo>
                <a:lnTo>
                  <a:pt x="152450" y="129977"/>
                </a:lnTo>
                <a:cubicBezTo>
                  <a:pt x="148034" y="134392"/>
                  <a:pt x="141139" y="135086"/>
                  <a:pt x="135930" y="131614"/>
                </a:cubicBezTo>
                <a:lnTo>
                  <a:pt x="118566" y="120055"/>
                </a:lnTo>
                <a:cubicBezTo>
                  <a:pt x="113854" y="121989"/>
                  <a:pt x="108843" y="123379"/>
                  <a:pt x="103733" y="124073"/>
                </a:cubicBezTo>
                <a:lnTo>
                  <a:pt x="94506" y="142726"/>
                </a:lnTo>
                <a:cubicBezTo>
                  <a:pt x="91728" y="148332"/>
                  <a:pt x="85378" y="151160"/>
                  <a:pt x="79375" y="149572"/>
                </a:cubicBezTo>
                <a:lnTo>
                  <a:pt x="66377" y="146100"/>
                </a:lnTo>
                <a:cubicBezTo>
                  <a:pt x="60325" y="144463"/>
                  <a:pt x="56307" y="138807"/>
                  <a:pt x="56704" y="132606"/>
                </a:cubicBezTo>
                <a:lnTo>
                  <a:pt x="58043" y="111820"/>
                </a:lnTo>
                <a:cubicBezTo>
                  <a:pt x="53925" y="108645"/>
                  <a:pt x="50304" y="104973"/>
                  <a:pt x="47179" y="100905"/>
                </a:cubicBezTo>
                <a:lnTo>
                  <a:pt x="26343" y="102245"/>
                </a:lnTo>
                <a:cubicBezTo>
                  <a:pt x="20141" y="102642"/>
                  <a:pt x="14486" y="98574"/>
                  <a:pt x="12849" y="92571"/>
                </a:cubicBezTo>
                <a:lnTo>
                  <a:pt x="9376" y="79573"/>
                </a:lnTo>
                <a:cubicBezTo>
                  <a:pt x="7789" y="73571"/>
                  <a:pt x="10616" y="67221"/>
                  <a:pt x="16222" y="64443"/>
                </a:cubicBezTo>
                <a:lnTo>
                  <a:pt x="34925" y="55215"/>
                </a:lnTo>
                <a:cubicBezTo>
                  <a:pt x="35272" y="52685"/>
                  <a:pt x="35768" y="50205"/>
                  <a:pt x="36413" y="47675"/>
                </a:cubicBezTo>
                <a:cubicBezTo>
                  <a:pt x="37108" y="45145"/>
                  <a:pt x="37902" y="42714"/>
                  <a:pt x="38894" y="40382"/>
                </a:cubicBezTo>
                <a:lnTo>
                  <a:pt x="27335" y="23068"/>
                </a:lnTo>
                <a:cubicBezTo>
                  <a:pt x="23862" y="17859"/>
                  <a:pt x="24557" y="10964"/>
                  <a:pt x="28972" y="6548"/>
                </a:cubicBezTo>
                <a:lnTo>
                  <a:pt x="38497" y="-2977"/>
                </a:lnTo>
                <a:cubicBezTo>
                  <a:pt x="42912" y="-7392"/>
                  <a:pt x="49808" y="-8086"/>
                  <a:pt x="55017" y="-4614"/>
                </a:cubicBezTo>
                <a:lnTo>
                  <a:pt x="72380" y="6945"/>
                </a:lnTo>
                <a:cubicBezTo>
                  <a:pt x="77093" y="5011"/>
                  <a:pt x="82104" y="3621"/>
                  <a:pt x="87213" y="2927"/>
                </a:cubicBezTo>
                <a:lnTo>
                  <a:pt x="96441" y="-15726"/>
                </a:lnTo>
                <a:cubicBezTo>
                  <a:pt x="99219" y="-21332"/>
                  <a:pt x="105519" y="-24160"/>
                  <a:pt x="111571" y="-22572"/>
                </a:cubicBezTo>
                <a:close/>
                <a:moveTo>
                  <a:pt x="95448" y="41672"/>
                </a:moveTo>
                <a:cubicBezTo>
                  <a:pt x="83401" y="41672"/>
                  <a:pt x="73620" y="51453"/>
                  <a:pt x="73620" y="63500"/>
                </a:cubicBezTo>
                <a:cubicBezTo>
                  <a:pt x="73620" y="75547"/>
                  <a:pt x="83401" y="85328"/>
                  <a:pt x="95448" y="85328"/>
                </a:cubicBezTo>
                <a:cubicBezTo>
                  <a:pt x="107496" y="85328"/>
                  <a:pt x="117277" y="75547"/>
                  <a:pt x="117277" y="63500"/>
                </a:cubicBezTo>
                <a:cubicBezTo>
                  <a:pt x="117277" y="51453"/>
                  <a:pt x="107496" y="41672"/>
                  <a:pt x="95448" y="41672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8343801" y="3352800"/>
            <a:ext cx="233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350151" y="3708400"/>
            <a:ext cx="23241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Watermark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特征提取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窗口CEP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1537851" y="2540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11750576" y="27686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84138" y="76101"/>
                </a:moveTo>
                <a:lnTo>
                  <a:pt x="74861" y="66824"/>
                </a:lnTo>
                <a:cubicBezTo>
                  <a:pt x="68659" y="60623"/>
                  <a:pt x="68659" y="50552"/>
                  <a:pt x="74861" y="44351"/>
                </a:cubicBezTo>
                <a:lnTo>
                  <a:pt x="131763" y="-12601"/>
                </a:lnTo>
                <a:cubicBezTo>
                  <a:pt x="137964" y="-18802"/>
                  <a:pt x="148034" y="-18802"/>
                  <a:pt x="154236" y="-12601"/>
                </a:cubicBezTo>
                <a:lnTo>
                  <a:pt x="163513" y="-3274"/>
                </a:lnTo>
                <a:cubicBezTo>
                  <a:pt x="169714" y="2927"/>
                  <a:pt x="169714" y="12998"/>
                  <a:pt x="163513" y="19199"/>
                </a:cubicBezTo>
                <a:lnTo>
                  <a:pt x="106611" y="76101"/>
                </a:lnTo>
                <a:cubicBezTo>
                  <a:pt x="100409" y="82302"/>
                  <a:pt x="90339" y="82302"/>
                  <a:pt x="84138" y="76101"/>
                </a:cubicBezTo>
                <a:close/>
                <a:moveTo>
                  <a:pt x="136922" y="105023"/>
                </a:moveTo>
                <a:lnTo>
                  <a:pt x="121345" y="89446"/>
                </a:lnTo>
                <a:lnTo>
                  <a:pt x="176907" y="33883"/>
                </a:lnTo>
                <a:lnTo>
                  <a:pt x="236141" y="93117"/>
                </a:lnTo>
                <a:lnTo>
                  <a:pt x="180578" y="148679"/>
                </a:lnTo>
                <a:lnTo>
                  <a:pt x="165001" y="133102"/>
                </a:lnTo>
                <a:lnTo>
                  <a:pt x="49907" y="248196"/>
                </a:lnTo>
                <a:cubicBezTo>
                  <a:pt x="42168" y="255935"/>
                  <a:pt x="29617" y="255935"/>
                  <a:pt x="21828" y="248196"/>
                </a:cubicBezTo>
                <a:cubicBezTo>
                  <a:pt x="14039" y="240457"/>
                  <a:pt x="14089" y="227905"/>
                  <a:pt x="21828" y="220117"/>
                </a:cubicBezTo>
                <a:lnTo>
                  <a:pt x="136922" y="105023"/>
                </a:lnTo>
                <a:close/>
                <a:moveTo>
                  <a:pt x="193923" y="185837"/>
                </a:moveTo>
                <a:cubicBezTo>
                  <a:pt x="187722" y="179636"/>
                  <a:pt x="187722" y="169565"/>
                  <a:pt x="193923" y="163364"/>
                </a:cubicBezTo>
                <a:lnTo>
                  <a:pt x="250825" y="106462"/>
                </a:lnTo>
                <a:cubicBezTo>
                  <a:pt x="257026" y="100261"/>
                  <a:pt x="267097" y="100261"/>
                  <a:pt x="273298" y="106462"/>
                </a:cubicBezTo>
                <a:lnTo>
                  <a:pt x="282575" y="115739"/>
                </a:lnTo>
                <a:cubicBezTo>
                  <a:pt x="288776" y="121940"/>
                  <a:pt x="288776" y="132011"/>
                  <a:pt x="282575" y="138212"/>
                </a:cubicBezTo>
                <a:lnTo>
                  <a:pt x="225673" y="195163"/>
                </a:lnTo>
                <a:cubicBezTo>
                  <a:pt x="219472" y="201364"/>
                  <a:pt x="209401" y="201364"/>
                  <a:pt x="203200" y="195163"/>
                </a:cubicBezTo>
                <a:lnTo>
                  <a:pt x="193923" y="185886"/>
                </a:ln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10727234" y="3352800"/>
            <a:ext cx="233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Rule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733584" y="3708400"/>
            <a:ext cx="2324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规则引擎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模型推理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3921284" y="2540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14149884" y="2768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50527" y="135434"/>
                </a:moveTo>
                <a:cubicBezTo>
                  <a:pt x="255191" y="130770"/>
                  <a:pt x="255191" y="123230"/>
                  <a:pt x="250527" y="118616"/>
                </a:cubicBezTo>
                <a:lnTo>
                  <a:pt x="179090" y="47129"/>
                </a:lnTo>
                <a:cubicBezTo>
                  <a:pt x="175667" y="43706"/>
                  <a:pt x="170557" y="42714"/>
                  <a:pt x="166092" y="44549"/>
                </a:cubicBezTo>
                <a:cubicBezTo>
                  <a:pt x="161627" y="46385"/>
                  <a:pt x="158750" y="50750"/>
                  <a:pt x="158750" y="55563"/>
                </a:cubicBezTo>
                <a:lnTo>
                  <a:pt x="158750" y="95250"/>
                </a:lnTo>
                <a:lnTo>
                  <a:pt x="103188" y="95250"/>
                </a:lnTo>
                <a:cubicBezTo>
                  <a:pt x="90041" y="95250"/>
                  <a:pt x="79375" y="105916"/>
                  <a:pt x="79375" y="119063"/>
                </a:cubicBezTo>
                <a:lnTo>
                  <a:pt x="79375" y="134938"/>
                </a:lnTo>
                <a:cubicBezTo>
                  <a:pt x="79375" y="148084"/>
                  <a:pt x="90041" y="158750"/>
                  <a:pt x="103188" y="158750"/>
                </a:cubicBezTo>
                <a:lnTo>
                  <a:pt x="158750" y="158750"/>
                </a:lnTo>
                <a:lnTo>
                  <a:pt x="158750" y="198438"/>
                </a:lnTo>
                <a:cubicBezTo>
                  <a:pt x="158750" y="203250"/>
                  <a:pt x="161627" y="207615"/>
                  <a:pt x="166092" y="209451"/>
                </a:cubicBezTo>
                <a:cubicBezTo>
                  <a:pt x="170557" y="211286"/>
                  <a:pt x="175667" y="210294"/>
                  <a:pt x="179090" y="206871"/>
                </a:cubicBezTo>
                <a:lnTo>
                  <a:pt x="250527" y="135434"/>
                </a:lnTo>
                <a:close/>
                <a:moveTo>
                  <a:pt x="79375" y="47625"/>
                </a:moveTo>
                <a:cubicBezTo>
                  <a:pt x="88156" y="47625"/>
                  <a:pt x="95250" y="40531"/>
                  <a:pt x="95250" y="31750"/>
                </a:cubicBezTo>
                <a:cubicBezTo>
                  <a:pt x="95250" y="22969"/>
                  <a:pt x="88156" y="15875"/>
                  <a:pt x="79375" y="15875"/>
                </a:cubicBezTo>
                <a:lnTo>
                  <a:pt x="47625" y="15875"/>
                </a:lnTo>
                <a:cubicBezTo>
                  <a:pt x="21332" y="15875"/>
                  <a:pt x="0" y="37207"/>
                  <a:pt x="0" y="63500"/>
                </a:cubicBezTo>
                <a:lnTo>
                  <a:pt x="0" y="190500"/>
                </a:lnTo>
                <a:cubicBezTo>
                  <a:pt x="0" y="216793"/>
                  <a:pt x="21332" y="238125"/>
                  <a:pt x="47625" y="238125"/>
                </a:cubicBezTo>
                <a:lnTo>
                  <a:pt x="79375" y="238125"/>
                </a:lnTo>
                <a:cubicBezTo>
                  <a:pt x="88156" y="238125"/>
                  <a:pt x="95250" y="231031"/>
                  <a:pt x="95250" y="222250"/>
                </a:cubicBezTo>
                <a:cubicBezTo>
                  <a:pt x="95250" y="213469"/>
                  <a:pt x="88156" y="206375"/>
                  <a:pt x="79375" y="206375"/>
                </a:cubicBezTo>
                <a:lnTo>
                  <a:pt x="47625" y="206375"/>
                </a:lnTo>
                <a:cubicBezTo>
                  <a:pt x="38844" y="206375"/>
                  <a:pt x="31750" y="199281"/>
                  <a:pt x="31750" y="190500"/>
                </a:cubicBezTo>
                <a:lnTo>
                  <a:pt x="31750" y="63500"/>
                </a:lnTo>
                <a:cubicBezTo>
                  <a:pt x="31750" y="54719"/>
                  <a:pt x="38844" y="47625"/>
                  <a:pt x="47625" y="47625"/>
                </a:cubicBezTo>
                <a:lnTo>
                  <a:pt x="79375" y="47625"/>
                </a:ln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13110567" y="3352800"/>
            <a:ext cx="233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Sink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3116917" y="3708400"/>
            <a:ext cx="2324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决策输出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监控告警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655667" y="5029200"/>
            <a:ext cx="10096500" cy="3302000"/>
          </a:xfrm>
          <a:custGeom>
            <a:avLst/>
            <a:gdLst/>
            <a:ahLst/>
            <a:cxnLst/>
            <a:rect l="l" t="t" r="r" b="b"/>
            <a:pathLst>
              <a:path w="10096500" h="3302000">
                <a:moveTo>
                  <a:pt x="152387" y="0"/>
                </a:moveTo>
                <a:lnTo>
                  <a:pt x="9944113" y="0"/>
                </a:lnTo>
                <a:cubicBezTo>
                  <a:pt x="10028274" y="0"/>
                  <a:pt x="10096500" y="68226"/>
                  <a:pt x="10096500" y="152387"/>
                </a:cubicBezTo>
                <a:lnTo>
                  <a:pt x="10096500" y="3149613"/>
                </a:lnTo>
                <a:cubicBezTo>
                  <a:pt x="10096500" y="3233774"/>
                  <a:pt x="10028274" y="3302000"/>
                  <a:pt x="9944113" y="3302000"/>
                </a:cubicBezTo>
                <a:lnTo>
                  <a:pt x="152387" y="3302000"/>
                </a:lnTo>
                <a:cubicBezTo>
                  <a:pt x="68226" y="3302000"/>
                  <a:pt x="0" y="3233774"/>
                  <a:pt x="0" y="3149613"/>
                </a:cubicBezTo>
                <a:lnTo>
                  <a:pt x="0" y="152387"/>
                </a:lnTo>
                <a:cubicBezTo>
                  <a:pt x="0" y="68226"/>
                  <a:pt x="68226" y="0"/>
                  <a:pt x="152387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5890617" y="5283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71586" y="0"/>
                </a:moveTo>
                <a:lnTo>
                  <a:pt x="182711" y="0"/>
                </a:lnTo>
                <a:cubicBezTo>
                  <a:pt x="195858" y="0"/>
                  <a:pt x="206573" y="10815"/>
                  <a:pt x="206077" y="23912"/>
                </a:cubicBezTo>
                <a:cubicBezTo>
                  <a:pt x="205978" y="26541"/>
                  <a:pt x="205879" y="29170"/>
                  <a:pt x="205730" y="31750"/>
                </a:cubicBezTo>
                <a:lnTo>
                  <a:pt x="230336" y="31750"/>
                </a:lnTo>
                <a:cubicBezTo>
                  <a:pt x="243284" y="31750"/>
                  <a:pt x="254695" y="42466"/>
                  <a:pt x="253702" y="56455"/>
                </a:cubicBezTo>
                <a:cubicBezTo>
                  <a:pt x="249982" y="107900"/>
                  <a:pt x="223689" y="136178"/>
                  <a:pt x="195163" y="150961"/>
                </a:cubicBezTo>
                <a:cubicBezTo>
                  <a:pt x="187325" y="155029"/>
                  <a:pt x="179338" y="158055"/>
                  <a:pt x="171748" y="160288"/>
                </a:cubicBezTo>
                <a:cubicBezTo>
                  <a:pt x="161727" y="174476"/>
                  <a:pt x="151309" y="181967"/>
                  <a:pt x="143024" y="185986"/>
                </a:cubicBezTo>
                <a:lnTo>
                  <a:pt x="143024" y="222250"/>
                </a:lnTo>
                <a:lnTo>
                  <a:pt x="174774" y="222250"/>
                </a:lnTo>
                <a:cubicBezTo>
                  <a:pt x="183555" y="222250"/>
                  <a:pt x="190649" y="229344"/>
                  <a:pt x="190649" y="238125"/>
                </a:cubicBezTo>
                <a:cubicBezTo>
                  <a:pt x="190649" y="246906"/>
                  <a:pt x="183555" y="254000"/>
                  <a:pt x="174774" y="254000"/>
                </a:cubicBezTo>
                <a:lnTo>
                  <a:pt x="79524" y="254000"/>
                </a:lnTo>
                <a:cubicBezTo>
                  <a:pt x="70743" y="254000"/>
                  <a:pt x="63649" y="246906"/>
                  <a:pt x="63649" y="238125"/>
                </a:cubicBezTo>
                <a:cubicBezTo>
                  <a:pt x="63649" y="229344"/>
                  <a:pt x="70743" y="222250"/>
                  <a:pt x="79524" y="222250"/>
                </a:cubicBezTo>
                <a:lnTo>
                  <a:pt x="111274" y="222250"/>
                </a:lnTo>
                <a:lnTo>
                  <a:pt x="111274" y="185986"/>
                </a:lnTo>
                <a:cubicBezTo>
                  <a:pt x="103336" y="182166"/>
                  <a:pt x="93464" y="175071"/>
                  <a:pt x="83840" y="162024"/>
                </a:cubicBezTo>
                <a:cubicBezTo>
                  <a:pt x="74712" y="159643"/>
                  <a:pt x="64790" y="156021"/>
                  <a:pt x="55116" y="150564"/>
                </a:cubicBezTo>
                <a:cubicBezTo>
                  <a:pt x="28277" y="135533"/>
                  <a:pt x="4068" y="107206"/>
                  <a:pt x="595" y="56356"/>
                </a:cubicBezTo>
                <a:cubicBezTo>
                  <a:pt x="-347" y="42416"/>
                  <a:pt x="11013" y="31700"/>
                  <a:pt x="23961" y="31700"/>
                </a:cubicBezTo>
                <a:lnTo>
                  <a:pt x="48568" y="31700"/>
                </a:lnTo>
                <a:cubicBezTo>
                  <a:pt x="48419" y="29121"/>
                  <a:pt x="48320" y="26541"/>
                  <a:pt x="48220" y="23862"/>
                </a:cubicBezTo>
                <a:cubicBezTo>
                  <a:pt x="47724" y="10716"/>
                  <a:pt x="58440" y="-50"/>
                  <a:pt x="71586" y="-50"/>
                </a:cubicBezTo>
                <a:close/>
                <a:moveTo>
                  <a:pt x="50354" y="55563"/>
                </a:moveTo>
                <a:lnTo>
                  <a:pt x="24358" y="55563"/>
                </a:lnTo>
                <a:cubicBezTo>
                  <a:pt x="27434" y="97582"/>
                  <a:pt x="46732" y="118616"/>
                  <a:pt x="66625" y="129778"/>
                </a:cubicBezTo>
                <a:cubicBezTo>
                  <a:pt x="59482" y="111274"/>
                  <a:pt x="53578" y="87114"/>
                  <a:pt x="50354" y="55563"/>
                </a:cubicBezTo>
                <a:close/>
                <a:moveTo>
                  <a:pt x="188516" y="127397"/>
                </a:moveTo>
                <a:cubicBezTo>
                  <a:pt x="208607" y="115590"/>
                  <a:pt x="226764" y="94605"/>
                  <a:pt x="229840" y="55563"/>
                </a:cubicBezTo>
                <a:lnTo>
                  <a:pt x="203895" y="55563"/>
                </a:lnTo>
                <a:cubicBezTo>
                  <a:pt x="200819" y="85775"/>
                  <a:pt x="195263" y="109240"/>
                  <a:pt x="188516" y="127397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6176367" y="5232400"/>
            <a:ext cx="9499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业务价值与技术优势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5858867" y="6731000"/>
            <a:ext cx="2311400" cy="914400"/>
          </a:xfrm>
          <a:custGeom>
            <a:avLst/>
            <a:gdLst/>
            <a:ahLst/>
            <a:cxnLst/>
            <a:rect l="l" t="t" r="r" b="b"/>
            <a:pathLst>
              <a:path w="2311400" h="914400">
                <a:moveTo>
                  <a:pt x="101599" y="0"/>
                </a:moveTo>
                <a:lnTo>
                  <a:pt x="2209801" y="0"/>
                </a:lnTo>
                <a:cubicBezTo>
                  <a:pt x="2265913" y="0"/>
                  <a:pt x="2311400" y="45487"/>
                  <a:pt x="2311400" y="101599"/>
                </a:cubicBezTo>
                <a:lnTo>
                  <a:pt x="2311400" y="812801"/>
                </a:lnTo>
                <a:cubicBezTo>
                  <a:pt x="2311400" y="868913"/>
                  <a:pt x="2265913" y="914400"/>
                  <a:pt x="22098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5884267" y="6832600"/>
            <a:ext cx="2260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&lt;100ms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5916017" y="7289800"/>
            <a:ext cx="219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实时性能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318401" y="6731000"/>
            <a:ext cx="2311400" cy="914400"/>
          </a:xfrm>
          <a:custGeom>
            <a:avLst/>
            <a:gdLst/>
            <a:ahLst/>
            <a:cxnLst/>
            <a:rect l="l" t="t" r="r" b="b"/>
            <a:pathLst>
              <a:path w="2311400" h="914400">
                <a:moveTo>
                  <a:pt x="101599" y="0"/>
                </a:moveTo>
                <a:lnTo>
                  <a:pt x="2209801" y="0"/>
                </a:lnTo>
                <a:cubicBezTo>
                  <a:pt x="2265913" y="0"/>
                  <a:pt x="2311400" y="45487"/>
                  <a:pt x="2311400" y="101599"/>
                </a:cubicBezTo>
                <a:lnTo>
                  <a:pt x="2311400" y="812801"/>
                </a:lnTo>
                <a:cubicBezTo>
                  <a:pt x="2311400" y="868913"/>
                  <a:pt x="2265913" y="914400"/>
                  <a:pt x="22098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8343801" y="6832600"/>
            <a:ext cx="2260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&gt;10k TPS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375551" y="7289800"/>
            <a:ext cx="219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处理能力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10778034" y="6731000"/>
            <a:ext cx="2311400" cy="914400"/>
          </a:xfrm>
          <a:custGeom>
            <a:avLst/>
            <a:gdLst/>
            <a:ahLst/>
            <a:cxnLst/>
            <a:rect l="l" t="t" r="r" b="b"/>
            <a:pathLst>
              <a:path w="2311400" h="914400">
                <a:moveTo>
                  <a:pt x="101599" y="0"/>
                </a:moveTo>
                <a:lnTo>
                  <a:pt x="2209801" y="0"/>
                </a:lnTo>
                <a:cubicBezTo>
                  <a:pt x="2265913" y="0"/>
                  <a:pt x="2311400" y="45487"/>
                  <a:pt x="2311400" y="101599"/>
                </a:cubicBezTo>
                <a:lnTo>
                  <a:pt x="2311400" y="812801"/>
                </a:lnTo>
                <a:cubicBezTo>
                  <a:pt x="2311400" y="868913"/>
                  <a:pt x="2265913" y="914400"/>
                  <a:pt x="22098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/>
          <p:nvPr/>
        </p:nvSpPr>
        <p:spPr>
          <a:xfrm>
            <a:off x="10803434" y="6832600"/>
            <a:ext cx="2260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100+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10835184" y="7289800"/>
            <a:ext cx="219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规则复杂度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13237567" y="6731000"/>
            <a:ext cx="2311400" cy="914400"/>
          </a:xfrm>
          <a:custGeom>
            <a:avLst/>
            <a:gdLst/>
            <a:ahLst/>
            <a:cxnLst/>
            <a:rect l="l" t="t" r="r" b="b"/>
            <a:pathLst>
              <a:path w="2311400" h="914400">
                <a:moveTo>
                  <a:pt x="101599" y="0"/>
                </a:moveTo>
                <a:lnTo>
                  <a:pt x="2209801" y="0"/>
                </a:lnTo>
                <a:cubicBezTo>
                  <a:pt x="2265913" y="0"/>
                  <a:pt x="2311400" y="45487"/>
                  <a:pt x="2311400" y="101599"/>
                </a:cubicBezTo>
                <a:lnTo>
                  <a:pt x="2311400" y="812801"/>
                </a:lnTo>
                <a:cubicBezTo>
                  <a:pt x="2311400" y="868913"/>
                  <a:pt x="2265913" y="914400"/>
                  <a:pt x="22098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7" name="Text 65"/>
          <p:cNvSpPr/>
          <p:nvPr/>
        </p:nvSpPr>
        <p:spPr>
          <a:xfrm>
            <a:off x="13262967" y="6832600"/>
            <a:ext cx="2260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7×24h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3294717" y="7289800"/>
            <a:ext cx="219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可用性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23333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84667" y="0"/>
                </a:moveTo>
                <a:lnTo>
                  <a:pt x="338667" y="0"/>
                </a:lnTo>
                <a:cubicBezTo>
                  <a:pt x="385427" y="0"/>
                  <a:pt x="423333" y="37907"/>
                  <a:pt x="423333" y="84667"/>
                </a:cubicBezTo>
                <a:lnTo>
                  <a:pt x="423333" y="338667"/>
                </a:lnTo>
                <a:cubicBezTo>
                  <a:pt x="423333" y="385427"/>
                  <a:pt x="385427" y="423333"/>
                  <a:pt x="338667" y="423333"/>
                </a:cubicBezTo>
                <a:lnTo>
                  <a:pt x="84667" y="423333"/>
                </a:lnTo>
                <a:cubicBezTo>
                  <a:pt x="37907" y="423333"/>
                  <a:pt x="0" y="385427"/>
                  <a:pt x="0" y="338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30490" y="5397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23812"/>
                </a:moveTo>
                <a:cubicBezTo>
                  <a:pt x="146596" y="23812"/>
                  <a:pt x="178594" y="55811"/>
                  <a:pt x="178594" y="95250"/>
                </a:cubicBezTo>
                <a:cubicBezTo>
                  <a:pt x="178594" y="134689"/>
                  <a:pt x="146596" y="166688"/>
                  <a:pt x="107156" y="166688"/>
                </a:cubicBezTo>
                <a:cubicBezTo>
                  <a:pt x="82897" y="166688"/>
                  <a:pt x="61429" y="154595"/>
                  <a:pt x="48518" y="136066"/>
                </a:cubicBezTo>
                <a:cubicBezTo>
                  <a:pt x="44760" y="130671"/>
                  <a:pt x="37319" y="129369"/>
                  <a:pt x="31924" y="133127"/>
                </a:cubicBezTo>
                <a:cubicBezTo>
                  <a:pt x="26529" y="136885"/>
                  <a:pt x="25226" y="144326"/>
                  <a:pt x="28984" y="149721"/>
                </a:cubicBezTo>
                <a:cubicBezTo>
                  <a:pt x="46174" y="174352"/>
                  <a:pt x="74786" y="190500"/>
                  <a:pt x="107156" y="190500"/>
                </a:cubicBezTo>
                <a:cubicBezTo>
                  <a:pt x="159767" y="190500"/>
                  <a:pt x="202406" y="147861"/>
                  <a:pt x="202406" y="95250"/>
                </a:cubicBezTo>
                <a:cubicBezTo>
                  <a:pt x="202406" y="42639"/>
                  <a:pt x="159767" y="0"/>
                  <a:pt x="107156" y="0"/>
                </a:cubicBezTo>
                <a:cubicBezTo>
                  <a:pt x="75270" y="0"/>
                  <a:pt x="47067" y="15664"/>
                  <a:pt x="29766" y="39700"/>
                </a:cubicBezTo>
                <a:lnTo>
                  <a:pt x="29766" y="29766"/>
                </a:lnTo>
                <a:cubicBezTo>
                  <a:pt x="29766" y="23180"/>
                  <a:pt x="24445" y="17859"/>
                  <a:pt x="17859" y="17859"/>
                </a:cubicBezTo>
                <a:cubicBezTo>
                  <a:pt x="11274" y="17859"/>
                  <a:pt x="5953" y="23180"/>
                  <a:pt x="5953" y="29766"/>
                </a:cubicBezTo>
                <a:lnTo>
                  <a:pt x="5953" y="71438"/>
                </a:lnTo>
                <a:cubicBezTo>
                  <a:pt x="5953" y="78023"/>
                  <a:pt x="11274" y="83344"/>
                  <a:pt x="17859" y="83344"/>
                </a:cubicBezTo>
                <a:lnTo>
                  <a:pt x="27012" y="83344"/>
                </a:lnTo>
                <a:cubicBezTo>
                  <a:pt x="27198" y="83344"/>
                  <a:pt x="27384" y="83344"/>
                  <a:pt x="27570" y="83344"/>
                </a:cubicBezTo>
                <a:lnTo>
                  <a:pt x="59568" y="83344"/>
                </a:lnTo>
                <a:cubicBezTo>
                  <a:pt x="66154" y="83344"/>
                  <a:pt x="71475" y="78023"/>
                  <a:pt x="71475" y="71438"/>
                </a:cubicBezTo>
                <a:cubicBezTo>
                  <a:pt x="71475" y="64852"/>
                  <a:pt x="66154" y="59531"/>
                  <a:pt x="59568" y="59531"/>
                </a:cubicBezTo>
                <a:lnTo>
                  <a:pt x="45318" y="59531"/>
                </a:lnTo>
                <a:cubicBezTo>
                  <a:pt x="57634" y="38174"/>
                  <a:pt x="80739" y="23812"/>
                  <a:pt x="107156" y="23812"/>
                </a:cubicBezTo>
                <a:close/>
                <a:moveTo>
                  <a:pt x="116086" y="56555"/>
                </a:moveTo>
                <a:cubicBezTo>
                  <a:pt x="116086" y="51606"/>
                  <a:pt x="112105" y="47625"/>
                  <a:pt x="107156" y="47625"/>
                </a:cubicBezTo>
                <a:cubicBezTo>
                  <a:pt x="102208" y="47625"/>
                  <a:pt x="98227" y="51606"/>
                  <a:pt x="98227" y="56555"/>
                </a:cubicBezTo>
                <a:lnTo>
                  <a:pt x="98227" y="95250"/>
                </a:lnTo>
                <a:cubicBezTo>
                  <a:pt x="98227" y="97631"/>
                  <a:pt x="99157" y="99901"/>
                  <a:pt x="100831" y="101575"/>
                </a:cubicBezTo>
                <a:lnTo>
                  <a:pt x="127620" y="128364"/>
                </a:lnTo>
                <a:cubicBezTo>
                  <a:pt x="131118" y="131862"/>
                  <a:pt x="136773" y="131862"/>
                  <a:pt x="140233" y="128364"/>
                </a:cubicBezTo>
                <a:cubicBezTo>
                  <a:pt x="143694" y="124867"/>
                  <a:pt x="143731" y="119211"/>
                  <a:pt x="140233" y="115751"/>
                </a:cubicBezTo>
                <a:lnTo>
                  <a:pt x="116049" y="91567"/>
                </a:lnTo>
                <a:lnTo>
                  <a:pt x="116049" y="56555"/>
                </a:ln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973667" y="423333"/>
            <a:ext cx="4000500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数据处理技术演进脉络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73667" y="931333"/>
            <a:ext cx="14954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从批处理到流式计算的技术演进历程与内在逻辑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4500" y="1397000"/>
            <a:ext cx="5005917" cy="4021667"/>
          </a:xfrm>
          <a:custGeom>
            <a:avLst/>
            <a:gdLst/>
            <a:ahLst/>
            <a:cxnLst/>
            <a:rect l="l" t="t" r="r" b="b"/>
            <a:pathLst>
              <a:path w="5005917" h="4021667">
                <a:moveTo>
                  <a:pt x="42333" y="0"/>
                </a:moveTo>
                <a:lnTo>
                  <a:pt x="4878912" y="0"/>
                </a:lnTo>
                <a:cubicBezTo>
                  <a:pt x="4949055" y="0"/>
                  <a:pt x="5005917" y="56862"/>
                  <a:pt x="5005917" y="127004"/>
                </a:cubicBezTo>
                <a:lnTo>
                  <a:pt x="5005917" y="3894662"/>
                </a:lnTo>
                <a:cubicBezTo>
                  <a:pt x="5005917" y="3964805"/>
                  <a:pt x="4949055" y="4021667"/>
                  <a:pt x="4878912" y="4021667"/>
                </a:cubicBezTo>
                <a:lnTo>
                  <a:pt x="42333" y="4021667"/>
                </a:lnTo>
                <a:cubicBezTo>
                  <a:pt x="18953" y="4021667"/>
                  <a:pt x="0" y="4002713"/>
                  <a:pt x="0" y="3979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44500" y="1397000"/>
            <a:ext cx="42333" cy="4021667"/>
          </a:xfrm>
          <a:custGeom>
            <a:avLst/>
            <a:gdLst/>
            <a:ahLst/>
            <a:cxnLst/>
            <a:rect l="l" t="t" r="r" b="b"/>
            <a:pathLst>
              <a:path w="42333" h="4021667">
                <a:moveTo>
                  <a:pt x="42333" y="0"/>
                </a:moveTo>
                <a:lnTo>
                  <a:pt x="42333" y="0"/>
                </a:lnTo>
                <a:lnTo>
                  <a:pt x="42333" y="4021667"/>
                </a:lnTo>
                <a:lnTo>
                  <a:pt x="42333" y="4021667"/>
                </a:lnTo>
                <a:cubicBezTo>
                  <a:pt x="18953" y="4021667"/>
                  <a:pt x="0" y="4002713"/>
                  <a:pt x="0" y="3979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F67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35000" y="1566333"/>
            <a:ext cx="592667" cy="592667"/>
          </a:xfrm>
          <a:custGeom>
            <a:avLst/>
            <a:gdLst/>
            <a:ahLst/>
            <a:cxnLst/>
            <a:rect l="l" t="t" r="r" b="b"/>
            <a:pathLst>
              <a:path w="592667" h="592667">
                <a:moveTo>
                  <a:pt x="84668" y="0"/>
                </a:moveTo>
                <a:lnTo>
                  <a:pt x="507998" y="0"/>
                </a:lnTo>
                <a:cubicBezTo>
                  <a:pt x="554759" y="0"/>
                  <a:pt x="592667" y="37907"/>
                  <a:pt x="592667" y="84668"/>
                </a:cubicBezTo>
                <a:lnTo>
                  <a:pt x="592667" y="507998"/>
                </a:lnTo>
                <a:cubicBezTo>
                  <a:pt x="592667" y="554759"/>
                  <a:pt x="554759" y="592667"/>
                  <a:pt x="507998" y="592667"/>
                </a:cubicBezTo>
                <a:lnTo>
                  <a:pt x="84668" y="592667"/>
                </a:lnTo>
                <a:cubicBezTo>
                  <a:pt x="37907" y="592667"/>
                  <a:pt x="0" y="554759"/>
                  <a:pt x="0" y="507998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820208" y="1735667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222250" y="102096"/>
                </a:moveTo>
                <a:cubicBezTo>
                  <a:pt x="214908" y="106958"/>
                  <a:pt x="206474" y="110877"/>
                  <a:pt x="197693" y="114002"/>
                </a:cubicBezTo>
                <a:cubicBezTo>
                  <a:pt x="174377" y="122337"/>
                  <a:pt x="143768" y="127000"/>
                  <a:pt x="111125" y="127000"/>
                </a:cubicBezTo>
                <a:cubicBezTo>
                  <a:pt x="78482" y="127000"/>
                  <a:pt x="47823" y="122287"/>
                  <a:pt x="24557" y="114002"/>
                </a:cubicBezTo>
                <a:cubicBezTo>
                  <a:pt x="15825" y="110877"/>
                  <a:pt x="7342" y="106958"/>
                  <a:pt x="0" y="102096"/>
                </a:cubicBezTo>
                <a:lnTo>
                  <a:pt x="0" y="142875"/>
                </a:lnTo>
                <a:cubicBezTo>
                  <a:pt x="0" y="164802"/>
                  <a:pt x="49758" y="182563"/>
                  <a:pt x="111125" y="182563"/>
                </a:cubicBezTo>
                <a:cubicBezTo>
                  <a:pt x="172492" y="182563"/>
                  <a:pt x="222250" y="164802"/>
                  <a:pt x="222250" y="142875"/>
                </a:cubicBezTo>
                <a:lnTo>
                  <a:pt x="222250" y="102096"/>
                </a:lnTo>
                <a:close/>
                <a:moveTo>
                  <a:pt x="222250" y="63500"/>
                </a:moveTo>
                <a:lnTo>
                  <a:pt x="222250" y="39688"/>
                </a:lnTo>
                <a:cubicBezTo>
                  <a:pt x="222250" y="17760"/>
                  <a:pt x="172492" y="0"/>
                  <a:pt x="111125" y="0"/>
                </a:cubicBezTo>
                <a:cubicBezTo>
                  <a:pt x="49758" y="0"/>
                  <a:pt x="0" y="17760"/>
                  <a:pt x="0" y="39688"/>
                </a:cubicBezTo>
                <a:lnTo>
                  <a:pt x="0" y="63500"/>
                </a:lnTo>
                <a:cubicBezTo>
                  <a:pt x="0" y="85427"/>
                  <a:pt x="49758" y="103188"/>
                  <a:pt x="111125" y="103188"/>
                </a:cubicBezTo>
                <a:cubicBezTo>
                  <a:pt x="172492" y="103188"/>
                  <a:pt x="222250" y="85427"/>
                  <a:pt x="222250" y="63500"/>
                </a:cubicBezTo>
                <a:close/>
                <a:moveTo>
                  <a:pt x="197693" y="193377"/>
                </a:moveTo>
                <a:cubicBezTo>
                  <a:pt x="174427" y="201662"/>
                  <a:pt x="143818" y="206375"/>
                  <a:pt x="111125" y="206375"/>
                </a:cubicBezTo>
                <a:cubicBezTo>
                  <a:pt x="78432" y="206375"/>
                  <a:pt x="47823" y="201662"/>
                  <a:pt x="24557" y="193377"/>
                </a:cubicBezTo>
                <a:cubicBezTo>
                  <a:pt x="15825" y="190252"/>
                  <a:pt x="7342" y="186333"/>
                  <a:pt x="0" y="181471"/>
                </a:cubicBezTo>
                <a:lnTo>
                  <a:pt x="0" y="214313"/>
                </a:lnTo>
                <a:cubicBezTo>
                  <a:pt x="0" y="236240"/>
                  <a:pt x="49758" y="254000"/>
                  <a:pt x="111125" y="254000"/>
                </a:cubicBezTo>
                <a:cubicBezTo>
                  <a:pt x="172492" y="254000"/>
                  <a:pt x="222250" y="236240"/>
                  <a:pt x="222250" y="214313"/>
                </a:cubicBezTo>
                <a:lnTo>
                  <a:pt x="222250" y="181471"/>
                </a:lnTo>
                <a:cubicBezTo>
                  <a:pt x="214908" y="186333"/>
                  <a:pt x="206474" y="190252"/>
                  <a:pt x="197693" y="193377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354667" y="1587500"/>
            <a:ext cx="1397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早期批处理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54667" y="1926167"/>
            <a:ext cx="1344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1960s-1990s</a:t>
            </a:r>
          </a:p>
        </p:txBody>
      </p:sp>
      <p:sp>
        <p:nvSpPr>
          <p:cNvPr id="12" name="Shape 10"/>
          <p:cNvSpPr/>
          <p:nvPr/>
        </p:nvSpPr>
        <p:spPr>
          <a:xfrm>
            <a:off x="635000" y="2286000"/>
            <a:ext cx="4646083" cy="677333"/>
          </a:xfrm>
          <a:custGeom>
            <a:avLst/>
            <a:gdLst/>
            <a:ahLst/>
            <a:cxnLst/>
            <a:rect l="l" t="t" r="r" b="b"/>
            <a:pathLst>
              <a:path w="4646083" h="677333">
                <a:moveTo>
                  <a:pt x="84667" y="0"/>
                </a:moveTo>
                <a:lnTo>
                  <a:pt x="4561417" y="0"/>
                </a:lnTo>
                <a:cubicBezTo>
                  <a:pt x="4608177" y="0"/>
                  <a:pt x="4646083" y="37907"/>
                  <a:pt x="4646083" y="84667"/>
                </a:cubicBezTo>
                <a:lnTo>
                  <a:pt x="4646083" y="592667"/>
                </a:lnTo>
                <a:cubicBezTo>
                  <a:pt x="4646083" y="639427"/>
                  <a:pt x="4608177" y="677333"/>
                  <a:pt x="4561417" y="677333"/>
                </a:cubicBezTo>
                <a:lnTo>
                  <a:pt x="84667" y="677333"/>
                </a:lnTo>
                <a:cubicBezTo>
                  <a:pt x="37907" y="677333"/>
                  <a:pt x="0" y="639427"/>
                  <a:pt x="0" y="592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719667" y="2370667"/>
            <a:ext cx="4561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理论基础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9667" y="2667000"/>
            <a:ext cx="45508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冯·诺依曼顺序处理模型，Codd关系数据库理论(1970)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5000" y="3048000"/>
            <a:ext cx="4646083" cy="677333"/>
          </a:xfrm>
          <a:custGeom>
            <a:avLst/>
            <a:gdLst/>
            <a:ahLst/>
            <a:cxnLst/>
            <a:rect l="l" t="t" r="r" b="b"/>
            <a:pathLst>
              <a:path w="4646083" h="677333">
                <a:moveTo>
                  <a:pt x="84667" y="0"/>
                </a:moveTo>
                <a:lnTo>
                  <a:pt x="4561417" y="0"/>
                </a:lnTo>
                <a:cubicBezTo>
                  <a:pt x="4608177" y="0"/>
                  <a:pt x="4646083" y="37907"/>
                  <a:pt x="4646083" y="84667"/>
                </a:cubicBezTo>
                <a:lnTo>
                  <a:pt x="4646083" y="592667"/>
                </a:lnTo>
                <a:cubicBezTo>
                  <a:pt x="4646083" y="639427"/>
                  <a:pt x="4608177" y="677333"/>
                  <a:pt x="4561417" y="677333"/>
                </a:cubicBezTo>
                <a:lnTo>
                  <a:pt x="84667" y="677333"/>
                </a:lnTo>
                <a:cubicBezTo>
                  <a:pt x="37907" y="677333"/>
                  <a:pt x="0" y="639427"/>
                  <a:pt x="0" y="592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719667" y="3132667"/>
            <a:ext cx="4561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技术代表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9667" y="3429000"/>
            <a:ext cx="45508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IBM OS/360批处理系统、大型机作业调度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5000" y="3810000"/>
            <a:ext cx="4646083" cy="677333"/>
          </a:xfrm>
          <a:custGeom>
            <a:avLst/>
            <a:gdLst/>
            <a:ahLst/>
            <a:cxnLst/>
            <a:rect l="l" t="t" r="r" b="b"/>
            <a:pathLst>
              <a:path w="4646083" h="677333">
                <a:moveTo>
                  <a:pt x="84667" y="0"/>
                </a:moveTo>
                <a:lnTo>
                  <a:pt x="4561417" y="0"/>
                </a:lnTo>
                <a:cubicBezTo>
                  <a:pt x="4608177" y="0"/>
                  <a:pt x="4646083" y="37907"/>
                  <a:pt x="4646083" y="84667"/>
                </a:cubicBezTo>
                <a:lnTo>
                  <a:pt x="4646083" y="592667"/>
                </a:lnTo>
                <a:cubicBezTo>
                  <a:pt x="4646083" y="639427"/>
                  <a:pt x="4608177" y="677333"/>
                  <a:pt x="4561417" y="677333"/>
                </a:cubicBezTo>
                <a:lnTo>
                  <a:pt x="84667" y="677333"/>
                </a:lnTo>
                <a:cubicBezTo>
                  <a:pt x="37907" y="677333"/>
                  <a:pt x="0" y="639427"/>
                  <a:pt x="0" y="592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719667" y="3894667"/>
            <a:ext cx="4561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典型案例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9667" y="4191000"/>
            <a:ext cx="45508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银行日终批处理：每日夜间处理生成财务报表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5000" y="4572000"/>
            <a:ext cx="4646083" cy="677333"/>
          </a:xfrm>
          <a:custGeom>
            <a:avLst/>
            <a:gdLst/>
            <a:ahLst/>
            <a:cxnLst/>
            <a:rect l="l" t="t" r="r" b="b"/>
            <a:pathLst>
              <a:path w="4646083" h="677333">
                <a:moveTo>
                  <a:pt x="84667" y="0"/>
                </a:moveTo>
                <a:lnTo>
                  <a:pt x="4561417" y="0"/>
                </a:lnTo>
                <a:cubicBezTo>
                  <a:pt x="4608177" y="0"/>
                  <a:pt x="4646083" y="37907"/>
                  <a:pt x="4646083" y="84667"/>
                </a:cubicBezTo>
                <a:lnTo>
                  <a:pt x="4646083" y="592667"/>
                </a:lnTo>
                <a:cubicBezTo>
                  <a:pt x="4646083" y="639427"/>
                  <a:pt x="4608177" y="677333"/>
                  <a:pt x="4561417" y="677333"/>
                </a:cubicBezTo>
                <a:lnTo>
                  <a:pt x="84667" y="677333"/>
                </a:lnTo>
                <a:cubicBezTo>
                  <a:pt x="37907" y="677333"/>
                  <a:pt x="0" y="639427"/>
                  <a:pt x="0" y="592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719667" y="4656667"/>
            <a:ext cx="4561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核心局限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9667" y="4953000"/>
            <a:ext cx="45508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处理延迟高(T+1)，无法满足实时性要求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637361" y="1397000"/>
            <a:ext cx="5005917" cy="4021667"/>
          </a:xfrm>
          <a:custGeom>
            <a:avLst/>
            <a:gdLst/>
            <a:ahLst/>
            <a:cxnLst/>
            <a:rect l="l" t="t" r="r" b="b"/>
            <a:pathLst>
              <a:path w="5005917" h="4021667">
                <a:moveTo>
                  <a:pt x="42333" y="0"/>
                </a:moveTo>
                <a:lnTo>
                  <a:pt x="4878912" y="0"/>
                </a:lnTo>
                <a:cubicBezTo>
                  <a:pt x="4949055" y="0"/>
                  <a:pt x="5005917" y="56862"/>
                  <a:pt x="5005917" y="127004"/>
                </a:cubicBezTo>
                <a:lnTo>
                  <a:pt x="5005917" y="3894662"/>
                </a:lnTo>
                <a:cubicBezTo>
                  <a:pt x="5005917" y="3964805"/>
                  <a:pt x="4949055" y="4021667"/>
                  <a:pt x="4878912" y="4021667"/>
                </a:cubicBezTo>
                <a:lnTo>
                  <a:pt x="42333" y="4021667"/>
                </a:lnTo>
                <a:cubicBezTo>
                  <a:pt x="18953" y="4021667"/>
                  <a:pt x="0" y="4002713"/>
                  <a:pt x="0" y="3979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5637361" y="1397000"/>
            <a:ext cx="42333" cy="4021667"/>
          </a:xfrm>
          <a:custGeom>
            <a:avLst/>
            <a:gdLst/>
            <a:ahLst/>
            <a:cxnLst/>
            <a:rect l="l" t="t" r="r" b="b"/>
            <a:pathLst>
              <a:path w="42333" h="4021667">
                <a:moveTo>
                  <a:pt x="42333" y="0"/>
                </a:moveTo>
                <a:lnTo>
                  <a:pt x="42333" y="0"/>
                </a:lnTo>
                <a:lnTo>
                  <a:pt x="42333" y="4021667"/>
                </a:lnTo>
                <a:lnTo>
                  <a:pt x="42333" y="4021667"/>
                </a:lnTo>
                <a:cubicBezTo>
                  <a:pt x="18953" y="4021667"/>
                  <a:pt x="0" y="4002713"/>
                  <a:pt x="0" y="3979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5827861" y="1566333"/>
            <a:ext cx="592667" cy="592667"/>
          </a:xfrm>
          <a:custGeom>
            <a:avLst/>
            <a:gdLst/>
            <a:ahLst/>
            <a:cxnLst/>
            <a:rect l="l" t="t" r="r" b="b"/>
            <a:pathLst>
              <a:path w="592667" h="592667">
                <a:moveTo>
                  <a:pt x="84668" y="0"/>
                </a:moveTo>
                <a:lnTo>
                  <a:pt x="507998" y="0"/>
                </a:lnTo>
                <a:cubicBezTo>
                  <a:pt x="554759" y="0"/>
                  <a:pt x="592667" y="37907"/>
                  <a:pt x="592667" y="84668"/>
                </a:cubicBezTo>
                <a:lnTo>
                  <a:pt x="592667" y="507998"/>
                </a:lnTo>
                <a:cubicBezTo>
                  <a:pt x="592667" y="554759"/>
                  <a:pt x="554759" y="592667"/>
                  <a:pt x="507998" y="592667"/>
                </a:cubicBezTo>
                <a:lnTo>
                  <a:pt x="84668" y="592667"/>
                </a:lnTo>
                <a:cubicBezTo>
                  <a:pt x="37907" y="592667"/>
                  <a:pt x="0" y="554759"/>
                  <a:pt x="0" y="507998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6013070" y="1735667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31750" y="15875"/>
                </a:moveTo>
                <a:cubicBezTo>
                  <a:pt x="14238" y="15875"/>
                  <a:pt x="0" y="30113"/>
                  <a:pt x="0" y="47625"/>
                </a:cubicBezTo>
                <a:lnTo>
                  <a:pt x="0" y="79375"/>
                </a:lnTo>
                <a:cubicBezTo>
                  <a:pt x="0" y="96887"/>
                  <a:pt x="14238" y="111125"/>
                  <a:pt x="31750" y="111125"/>
                </a:cubicBezTo>
                <a:lnTo>
                  <a:pt x="190500" y="111125"/>
                </a:lnTo>
                <a:cubicBezTo>
                  <a:pt x="208012" y="111125"/>
                  <a:pt x="222250" y="96887"/>
                  <a:pt x="222250" y="79375"/>
                </a:cubicBezTo>
                <a:lnTo>
                  <a:pt x="222250" y="47625"/>
                </a:lnTo>
                <a:cubicBezTo>
                  <a:pt x="222250" y="30113"/>
                  <a:pt x="208012" y="15875"/>
                  <a:pt x="190500" y="15875"/>
                </a:cubicBezTo>
                <a:lnTo>
                  <a:pt x="31750" y="15875"/>
                </a:lnTo>
                <a:close/>
                <a:moveTo>
                  <a:pt x="138906" y="51594"/>
                </a:moveTo>
                <a:cubicBezTo>
                  <a:pt x="145477" y="51594"/>
                  <a:pt x="150813" y="56929"/>
                  <a:pt x="150813" y="63500"/>
                </a:cubicBezTo>
                <a:cubicBezTo>
                  <a:pt x="150813" y="70071"/>
                  <a:pt x="145477" y="75406"/>
                  <a:pt x="138906" y="75406"/>
                </a:cubicBezTo>
                <a:cubicBezTo>
                  <a:pt x="132335" y="75406"/>
                  <a:pt x="127000" y="70071"/>
                  <a:pt x="127000" y="63500"/>
                </a:cubicBezTo>
                <a:cubicBezTo>
                  <a:pt x="127000" y="56929"/>
                  <a:pt x="132335" y="51594"/>
                  <a:pt x="138906" y="51594"/>
                </a:cubicBezTo>
                <a:close/>
                <a:moveTo>
                  <a:pt x="166688" y="63500"/>
                </a:moveTo>
                <a:cubicBezTo>
                  <a:pt x="166688" y="56929"/>
                  <a:pt x="172023" y="51594"/>
                  <a:pt x="178594" y="51594"/>
                </a:cubicBezTo>
                <a:cubicBezTo>
                  <a:pt x="185165" y="51594"/>
                  <a:pt x="190500" y="56929"/>
                  <a:pt x="190500" y="63500"/>
                </a:cubicBezTo>
                <a:cubicBezTo>
                  <a:pt x="190500" y="70071"/>
                  <a:pt x="185165" y="75406"/>
                  <a:pt x="178594" y="75406"/>
                </a:cubicBezTo>
                <a:cubicBezTo>
                  <a:pt x="172023" y="75406"/>
                  <a:pt x="166688" y="70071"/>
                  <a:pt x="166688" y="63500"/>
                </a:cubicBezTo>
                <a:close/>
                <a:moveTo>
                  <a:pt x="31750" y="142875"/>
                </a:moveTo>
                <a:cubicBezTo>
                  <a:pt x="14238" y="142875"/>
                  <a:pt x="0" y="157113"/>
                  <a:pt x="0" y="174625"/>
                </a:cubicBezTo>
                <a:lnTo>
                  <a:pt x="0" y="206375"/>
                </a:lnTo>
                <a:cubicBezTo>
                  <a:pt x="0" y="223887"/>
                  <a:pt x="14238" y="238125"/>
                  <a:pt x="31750" y="238125"/>
                </a:cubicBezTo>
                <a:lnTo>
                  <a:pt x="190500" y="238125"/>
                </a:lnTo>
                <a:cubicBezTo>
                  <a:pt x="208012" y="238125"/>
                  <a:pt x="222250" y="223887"/>
                  <a:pt x="222250" y="206375"/>
                </a:cubicBezTo>
                <a:lnTo>
                  <a:pt x="222250" y="174625"/>
                </a:lnTo>
                <a:cubicBezTo>
                  <a:pt x="222250" y="157113"/>
                  <a:pt x="208012" y="142875"/>
                  <a:pt x="190500" y="142875"/>
                </a:cubicBezTo>
                <a:lnTo>
                  <a:pt x="31750" y="142875"/>
                </a:lnTo>
                <a:close/>
                <a:moveTo>
                  <a:pt x="138906" y="178594"/>
                </a:moveTo>
                <a:cubicBezTo>
                  <a:pt x="145477" y="178594"/>
                  <a:pt x="150813" y="183929"/>
                  <a:pt x="150813" y="190500"/>
                </a:cubicBezTo>
                <a:cubicBezTo>
                  <a:pt x="150813" y="197071"/>
                  <a:pt x="145477" y="202406"/>
                  <a:pt x="138906" y="202406"/>
                </a:cubicBezTo>
                <a:cubicBezTo>
                  <a:pt x="132335" y="202406"/>
                  <a:pt x="127000" y="197071"/>
                  <a:pt x="127000" y="190500"/>
                </a:cubicBezTo>
                <a:cubicBezTo>
                  <a:pt x="127000" y="183929"/>
                  <a:pt x="132335" y="178594"/>
                  <a:pt x="138906" y="178594"/>
                </a:cubicBezTo>
                <a:close/>
                <a:moveTo>
                  <a:pt x="166688" y="190500"/>
                </a:moveTo>
                <a:cubicBezTo>
                  <a:pt x="166688" y="183929"/>
                  <a:pt x="172023" y="178594"/>
                  <a:pt x="178594" y="178594"/>
                </a:cubicBezTo>
                <a:cubicBezTo>
                  <a:pt x="185165" y="178594"/>
                  <a:pt x="190500" y="183929"/>
                  <a:pt x="190500" y="190500"/>
                </a:cubicBezTo>
                <a:cubicBezTo>
                  <a:pt x="190500" y="197071"/>
                  <a:pt x="185165" y="202406"/>
                  <a:pt x="178594" y="202406"/>
                </a:cubicBezTo>
                <a:cubicBezTo>
                  <a:pt x="172023" y="202406"/>
                  <a:pt x="166688" y="197071"/>
                  <a:pt x="166688" y="19050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547528" y="1587500"/>
            <a:ext cx="1651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分布式批处理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47528" y="1926167"/>
            <a:ext cx="1598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2000s-2010s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827861" y="2286000"/>
            <a:ext cx="4646083" cy="677333"/>
          </a:xfrm>
          <a:custGeom>
            <a:avLst/>
            <a:gdLst/>
            <a:ahLst/>
            <a:cxnLst/>
            <a:rect l="l" t="t" r="r" b="b"/>
            <a:pathLst>
              <a:path w="4646083" h="677333">
                <a:moveTo>
                  <a:pt x="84667" y="0"/>
                </a:moveTo>
                <a:lnTo>
                  <a:pt x="4561417" y="0"/>
                </a:lnTo>
                <a:cubicBezTo>
                  <a:pt x="4608177" y="0"/>
                  <a:pt x="4646083" y="37907"/>
                  <a:pt x="4646083" y="84667"/>
                </a:cubicBezTo>
                <a:lnTo>
                  <a:pt x="4646083" y="592667"/>
                </a:lnTo>
                <a:cubicBezTo>
                  <a:pt x="4646083" y="639427"/>
                  <a:pt x="4608177" y="677333"/>
                  <a:pt x="4561417" y="677333"/>
                </a:cubicBezTo>
                <a:lnTo>
                  <a:pt x="84667" y="677333"/>
                </a:lnTo>
                <a:cubicBezTo>
                  <a:pt x="37907" y="677333"/>
                  <a:pt x="0" y="639427"/>
                  <a:pt x="0" y="592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5912528" y="2370667"/>
            <a:ext cx="4561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里程碑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912528" y="2667000"/>
            <a:ext cx="45508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Google MapReduce论文(2004)，函数式编程在分布式的应用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827861" y="3048000"/>
            <a:ext cx="4646083" cy="677333"/>
          </a:xfrm>
          <a:custGeom>
            <a:avLst/>
            <a:gdLst/>
            <a:ahLst/>
            <a:cxnLst/>
            <a:rect l="l" t="t" r="r" b="b"/>
            <a:pathLst>
              <a:path w="4646083" h="677333">
                <a:moveTo>
                  <a:pt x="84667" y="0"/>
                </a:moveTo>
                <a:lnTo>
                  <a:pt x="4561417" y="0"/>
                </a:lnTo>
                <a:cubicBezTo>
                  <a:pt x="4608177" y="0"/>
                  <a:pt x="4646083" y="37907"/>
                  <a:pt x="4646083" y="84667"/>
                </a:cubicBezTo>
                <a:lnTo>
                  <a:pt x="4646083" y="592667"/>
                </a:lnTo>
                <a:cubicBezTo>
                  <a:pt x="4646083" y="639427"/>
                  <a:pt x="4608177" y="677333"/>
                  <a:pt x="4561417" y="677333"/>
                </a:cubicBezTo>
                <a:lnTo>
                  <a:pt x="84667" y="677333"/>
                </a:lnTo>
                <a:cubicBezTo>
                  <a:pt x="37907" y="677333"/>
                  <a:pt x="0" y="639427"/>
                  <a:pt x="0" y="592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5912528" y="3132667"/>
            <a:ext cx="4561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技术生态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912528" y="3429000"/>
            <a:ext cx="45508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Hadoop生态(HDFS/HBase/Hive)，UC Berkeley BDAS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827861" y="3810000"/>
            <a:ext cx="4646083" cy="677333"/>
          </a:xfrm>
          <a:custGeom>
            <a:avLst/>
            <a:gdLst/>
            <a:ahLst/>
            <a:cxnLst/>
            <a:rect l="l" t="t" r="r" b="b"/>
            <a:pathLst>
              <a:path w="4646083" h="677333">
                <a:moveTo>
                  <a:pt x="84667" y="0"/>
                </a:moveTo>
                <a:lnTo>
                  <a:pt x="4561417" y="0"/>
                </a:lnTo>
                <a:cubicBezTo>
                  <a:pt x="4608177" y="0"/>
                  <a:pt x="4646083" y="37907"/>
                  <a:pt x="4646083" y="84667"/>
                </a:cubicBezTo>
                <a:lnTo>
                  <a:pt x="4646083" y="592667"/>
                </a:lnTo>
                <a:cubicBezTo>
                  <a:pt x="4646083" y="639427"/>
                  <a:pt x="4608177" y="677333"/>
                  <a:pt x="4561417" y="677333"/>
                </a:cubicBezTo>
                <a:lnTo>
                  <a:pt x="84667" y="677333"/>
                </a:lnTo>
                <a:cubicBezTo>
                  <a:pt x="37907" y="677333"/>
                  <a:pt x="0" y="639427"/>
                  <a:pt x="0" y="592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5912528" y="3894667"/>
            <a:ext cx="4561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典型案例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912528" y="4191000"/>
            <a:ext cx="45508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电商用户行为分析：使用Hadoop处理TB级点击流数据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827861" y="4572000"/>
            <a:ext cx="4646083" cy="677333"/>
          </a:xfrm>
          <a:custGeom>
            <a:avLst/>
            <a:gdLst/>
            <a:ahLst/>
            <a:cxnLst/>
            <a:rect l="l" t="t" r="r" b="b"/>
            <a:pathLst>
              <a:path w="4646083" h="677333">
                <a:moveTo>
                  <a:pt x="84667" y="0"/>
                </a:moveTo>
                <a:lnTo>
                  <a:pt x="4561417" y="0"/>
                </a:lnTo>
                <a:cubicBezTo>
                  <a:pt x="4608177" y="0"/>
                  <a:pt x="4646083" y="37907"/>
                  <a:pt x="4646083" y="84667"/>
                </a:cubicBezTo>
                <a:lnTo>
                  <a:pt x="4646083" y="592667"/>
                </a:lnTo>
                <a:cubicBezTo>
                  <a:pt x="4646083" y="639427"/>
                  <a:pt x="4608177" y="677333"/>
                  <a:pt x="4561417" y="677333"/>
                </a:cubicBezTo>
                <a:lnTo>
                  <a:pt x="84667" y="677333"/>
                </a:lnTo>
                <a:cubicBezTo>
                  <a:pt x="37907" y="677333"/>
                  <a:pt x="0" y="639427"/>
                  <a:pt x="0" y="592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5912528" y="4656667"/>
            <a:ext cx="4561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学术影响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912528" y="4953000"/>
            <a:ext cx="45508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数据局部性优化，移动计算而非数据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830223" y="1397000"/>
            <a:ext cx="5005917" cy="4021667"/>
          </a:xfrm>
          <a:custGeom>
            <a:avLst/>
            <a:gdLst/>
            <a:ahLst/>
            <a:cxnLst/>
            <a:rect l="l" t="t" r="r" b="b"/>
            <a:pathLst>
              <a:path w="5005917" h="4021667">
                <a:moveTo>
                  <a:pt x="42333" y="0"/>
                </a:moveTo>
                <a:lnTo>
                  <a:pt x="4878912" y="0"/>
                </a:lnTo>
                <a:cubicBezTo>
                  <a:pt x="4949055" y="0"/>
                  <a:pt x="5005917" y="56862"/>
                  <a:pt x="5005917" y="127004"/>
                </a:cubicBezTo>
                <a:lnTo>
                  <a:pt x="5005917" y="3894662"/>
                </a:lnTo>
                <a:cubicBezTo>
                  <a:pt x="5005917" y="3964805"/>
                  <a:pt x="4949055" y="4021667"/>
                  <a:pt x="4878912" y="4021667"/>
                </a:cubicBezTo>
                <a:lnTo>
                  <a:pt x="42333" y="4021667"/>
                </a:lnTo>
                <a:cubicBezTo>
                  <a:pt x="18953" y="4021667"/>
                  <a:pt x="0" y="4002713"/>
                  <a:pt x="0" y="3979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10830223" y="1397000"/>
            <a:ext cx="42333" cy="4021667"/>
          </a:xfrm>
          <a:custGeom>
            <a:avLst/>
            <a:gdLst/>
            <a:ahLst/>
            <a:cxnLst/>
            <a:rect l="l" t="t" r="r" b="b"/>
            <a:pathLst>
              <a:path w="42333" h="4021667">
                <a:moveTo>
                  <a:pt x="42333" y="0"/>
                </a:moveTo>
                <a:lnTo>
                  <a:pt x="42333" y="0"/>
                </a:lnTo>
                <a:lnTo>
                  <a:pt x="42333" y="4021667"/>
                </a:lnTo>
                <a:lnTo>
                  <a:pt x="42333" y="4021667"/>
                </a:lnTo>
                <a:cubicBezTo>
                  <a:pt x="18953" y="4021667"/>
                  <a:pt x="0" y="4002713"/>
                  <a:pt x="0" y="3979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11020723" y="1566333"/>
            <a:ext cx="592667" cy="592667"/>
          </a:xfrm>
          <a:custGeom>
            <a:avLst/>
            <a:gdLst/>
            <a:ahLst/>
            <a:cxnLst/>
            <a:rect l="l" t="t" r="r" b="b"/>
            <a:pathLst>
              <a:path w="592667" h="592667">
                <a:moveTo>
                  <a:pt x="84668" y="0"/>
                </a:moveTo>
                <a:lnTo>
                  <a:pt x="507998" y="0"/>
                </a:lnTo>
                <a:cubicBezTo>
                  <a:pt x="554759" y="0"/>
                  <a:pt x="592667" y="37907"/>
                  <a:pt x="592667" y="84668"/>
                </a:cubicBezTo>
                <a:lnTo>
                  <a:pt x="592667" y="507998"/>
                </a:lnTo>
                <a:cubicBezTo>
                  <a:pt x="592667" y="554759"/>
                  <a:pt x="554759" y="592667"/>
                  <a:pt x="507998" y="592667"/>
                </a:cubicBezTo>
                <a:lnTo>
                  <a:pt x="84668" y="592667"/>
                </a:lnTo>
                <a:cubicBezTo>
                  <a:pt x="37907" y="592667"/>
                  <a:pt x="0" y="554759"/>
                  <a:pt x="0" y="507998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11205931" y="1735667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168077" y="-4911"/>
                </a:moveTo>
                <a:cubicBezTo>
                  <a:pt x="173980" y="-645"/>
                  <a:pt x="176163" y="7094"/>
                  <a:pt x="173484" y="13841"/>
                </a:cubicBezTo>
                <a:lnTo>
                  <a:pt x="134590" y="111125"/>
                </a:lnTo>
                <a:lnTo>
                  <a:pt x="206375" y="111125"/>
                </a:lnTo>
                <a:cubicBezTo>
                  <a:pt x="213072" y="111125"/>
                  <a:pt x="219025" y="115292"/>
                  <a:pt x="221307" y="121593"/>
                </a:cubicBezTo>
                <a:cubicBezTo>
                  <a:pt x="223589" y="127893"/>
                  <a:pt x="221655" y="134938"/>
                  <a:pt x="216545" y="139204"/>
                </a:cubicBezTo>
                <a:lnTo>
                  <a:pt x="73670" y="258266"/>
                </a:lnTo>
                <a:cubicBezTo>
                  <a:pt x="68064" y="262930"/>
                  <a:pt x="60077" y="263178"/>
                  <a:pt x="54173" y="258911"/>
                </a:cubicBezTo>
                <a:cubicBezTo>
                  <a:pt x="48270" y="254645"/>
                  <a:pt x="46087" y="246906"/>
                  <a:pt x="48766" y="240159"/>
                </a:cubicBezTo>
                <a:lnTo>
                  <a:pt x="87660" y="142875"/>
                </a:lnTo>
                <a:lnTo>
                  <a:pt x="15875" y="142875"/>
                </a:lnTo>
                <a:cubicBezTo>
                  <a:pt x="9178" y="142875"/>
                  <a:pt x="3225" y="138708"/>
                  <a:pt x="943" y="132407"/>
                </a:cubicBezTo>
                <a:cubicBezTo>
                  <a:pt x="-1339" y="126107"/>
                  <a:pt x="595" y="119062"/>
                  <a:pt x="5705" y="114796"/>
                </a:cubicBezTo>
                <a:lnTo>
                  <a:pt x="148580" y="-4266"/>
                </a:lnTo>
                <a:cubicBezTo>
                  <a:pt x="154186" y="-8930"/>
                  <a:pt x="162173" y="-9178"/>
                  <a:pt x="168077" y="-4911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11740389" y="1587500"/>
            <a:ext cx="1143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流式计算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740389" y="1926167"/>
            <a:ext cx="1090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2010s-至今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1020723" y="2286000"/>
            <a:ext cx="4646083" cy="677333"/>
          </a:xfrm>
          <a:custGeom>
            <a:avLst/>
            <a:gdLst/>
            <a:ahLst/>
            <a:cxnLst/>
            <a:rect l="l" t="t" r="r" b="b"/>
            <a:pathLst>
              <a:path w="4646083" h="677333">
                <a:moveTo>
                  <a:pt x="84667" y="0"/>
                </a:moveTo>
                <a:lnTo>
                  <a:pt x="4561417" y="0"/>
                </a:lnTo>
                <a:cubicBezTo>
                  <a:pt x="4608177" y="0"/>
                  <a:pt x="4646083" y="37907"/>
                  <a:pt x="4646083" y="84667"/>
                </a:cubicBezTo>
                <a:lnTo>
                  <a:pt x="4646083" y="592667"/>
                </a:lnTo>
                <a:cubicBezTo>
                  <a:pt x="4646083" y="639427"/>
                  <a:pt x="4608177" y="677333"/>
                  <a:pt x="4561417" y="677333"/>
                </a:cubicBezTo>
                <a:lnTo>
                  <a:pt x="84667" y="677333"/>
                </a:lnTo>
                <a:cubicBezTo>
                  <a:pt x="37907" y="677333"/>
                  <a:pt x="0" y="639427"/>
                  <a:pt x="0" y="592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11105389" y="2370667"/>
            <a:ext cx="4561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理论突破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1105389" y="2667000"/>
            <a:ext cx="45508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无界数据流形式化定义，事件时间处理，水印机制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1020723" y="3048000"/>
            <a:ext cx="4646083" cy="677333"/>
          </a:xfrm>
          <a:custGeom>
            <a:avLst/>
            <a:gdLst/>
            <a:ahLst/>
            <a:cxnLst/>
            <a:rect l="l" t="t" r="r" b="b"/>
            <a:pathLst>
              <a:path w="4646083" h="677333">
                <a:moveTo>
                  <a:pt x="84667" y="0"/>
                </a:moveTo>
                <a:lnTo>
                  <a:pt x="4561417" y="0"/>
                </a:lnTo>
                <a:cubicBezTo>
                  <a:pt x="4608177" y="0"/>
                  <a:pt x="4646083" y="37907"/>
                  <a:pt x="4646083" y="84667"/>
                </a:cubicBezTo>
                <a:lnTo>
                  <a:pt x="4646083" y="592667"/>
                </a:lnTo>
                <a:cubicBezTo>
                  <a:pt x="4646083" y="639427"/>
                  <a:pt x="4608177" y="677333"/>
                  <a:pt x="4561417" y="677333"/>
                </a:cubicBezTo>
                <a:lnTo>
                  <a:pt x="84667" y="677333"/>
                </a:lnTo>
                <a:cubicBezTo>
                  <a:pt x="37907" y="677333"/>
                  <a:pt x="0" y="639427"/>
                  <a:pt x="0" y="592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11105389" y="3132667"/>
            <a:ext cx="4561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技术驱动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1105389" y="3429000"/>
            <a:ext cx="45508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互联网、物联网、5G产生海量实时数据流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1020723" y="3810000"/>
            <a:ext cx="4646083" cy="677333"/>
          </a:xfrm>
          <a:custGeom>
            <a:avLst/>
            <a:gdLst/>
            <a:ahLst/>
            <a:cxnLst/>
            <a:rect l="l" t="t" r="r" b="b"/>
            <a:pathLst>
              <a:path w="4646083" h="677333">
                <a:moveTo>
                  <a:pt x="84667" y="0"/>
                </a:moveTo>
                <a:lnTo>
                  <a:pt x="4561417" y="0"/>
                </a:lnTo>
                <a:cubicBezTo>
                  <a:pt x="4608177" y="0"/>
                  <a:pt x="4646083" y="37907"/>
                  <a:pt x="4646083" y="84667"/>
                </a:cubicBezTo>
                <a:lnTo>
                  <a:pt x="4646083" y="592667"/>
                </a:lnTo>
                <a:cubicBezTo>
                  <a:pt x="4646083" y="639427"/>
                  <a:pt x="4608177" y="677333"/>
                  <a:pt x="4561417" y="677333"/>
                </a:cubicBezTo>
                <a:lnTo>
                  <a:pt x="84667" y="677333"/>
                </a:lnTo>
                <a:cubicBezTo>
                  <a:pt x="37907" y="677333"/>
                  <a:pt x="0" y="639427"/>
                  <a:pt x="0" y="592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11105389" y="3894667"/>
            <a:ext cx="4561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典型案例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1105389" y="4191000"/>
            <a:ext cx="45508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实时欺诈检测：Flink毫秒级识别可疑交易模式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1020723" y="4572000"/>
            <a:ext cx="4646083" cy="677333"/>
          </a:xfrm>
          <a:custGeom>
            <a:avLst/>
            <a:gdLst/>
            <a:ahLst/>
            <a:cxnLst/>
            <a:rect l="l" t="t" r="r" b="b"/>
            <a:pathLst>
              <a:path w="4646083" h="677333">
                <a:moveTo>
                  <a:pt x="84667" y="0"/>
                </a:moveTo>
                <a:lnTo>
                  <a:pt x="4561417" y="0"/>
                </a:lnTo>
                <a:cubicBezTo>
                  <a:pt x="4608177" y="0"/>
                  <a:pt x="4646083" y="37907"/>
                  <a:pt x="4646083" y="84667"/>
                </a:cubicBezTo>
                <a:lnTo>
                  <a:pt x="4646083" y="592667"/>
                </a:lnTo>
                <a:cubicBezTo>
                  <a:pt x="4646083" y="639427"/>
                  <a:pt x="4608177" y="677333"/>
                  <a:pt x="4561417" y="677333"/>
                </a:cubicBezTo>
                <a:lnTo>
                  <a:pt x="84667" y="677333"/>
                </a:lnTo>
                <a:cubicBezTo>
                  <a:pt x="37907" y="677333"/>
                  <a:pt x="0" y="639427"/>
                  <a:pt x="0" y="592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11105389" y="4656667"/>
            <a:ext cx="4561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核心优势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1105389" y="4953000"/>
            <a:ext cx="45508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毫秒级延迟，内置状态管理，Exactly-Once语义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423333" y="5588000"/>
            <a:ext cx="15409333" cy="3492500"/>
          </a:xfrm>
          <a:custGeom>
            <a:avLst/>
            <a:gdLst/>
            <a:ahLst/>
            <a:cxnLst/>
            <a:rect l="l" t="t" r="r" b="b"/>
            <a:pathLst>
              <a:path w="15409333" h="3492500">
                <a:moveTo>
                  <a:pt x="126987" y="0"/>
                </a:moveTo>
                <a:lnTo>
                  <a:pt x="15282346" y="0"/>
                </a:lnTo>
                <a:cubicBezTo>
                  <a:pt x="15352479" y="0"/>
                  <a:pt x="15409333" y="56854"/>
                  <a:pt x="15409333" y="126987"/>
                </a:cubicBezTo>
                <a:lnTo>
                  <a:pt x="15409333" y="3365513"/>
                </a:lnTo>
                <a:cubicBezTo>
                  <a:pt x="15409333" y="3435646"/>
                  <a:pt x="15352479" y="3492500"/>
                  <a:pt x="15282346" y="3492500"/>
                </a:cubicBezTo>
                <a:lnTo>
                  <a:pt x="126987" y="3492500"/>
                </a:lnTo>
                <a:cubicBezTo>
                  <a:pt x="56854" y="3492500"/>
                  <a:pt x="0" y="3435646"/>
                  <a:pt x="0" y="3365513"/>
                </a:cubicBezTo>
                <a:lnTo>
                  <a:pt x="0" y="126987"/>
                </a:lnTo>
                <a:cubicBezTo>
                  <a:pt x="0" y="56901"/>
                  <a:pt x="56901" y="0"/>
                  <a:pt x="126987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Shape 59"/>
          <p:cNvSpPr/>
          <p:nvPr/>
        </p:nvSpPr>
        <p:spPr>
          <a:xfrm>
            <a:off x="592667" y="5799667"/>
            <a:ext cx="264583" cy="211667"/>
          </a:xfrm>
          <a:custGeom>
            <a:avLst/>
            <a:gdLst/>
            <a:ahLst/>
            <a:cxnLst/>
            <a:rect l="l" t="t" r="r" b="b"/>
            <a:pathLst>
              <a:path w="264583" h="211667">
                <a:moveTo>
                  <a:pt x="158750" y="13229"/>
                </a:moveTo>
                <a:lnTo>
                  <a:pt x="211667" y="13229"/>
                </a:lnTo>
                <a:cubicBezTo>
                  <a:pt x="218984" y="13229"/>
                  <a:pt x="224896" y="19141"/>
                  <a:pt x="224896" y="26458"/>
                </a:cubicBezTo>
                <a:cubicBezTo>
                  <a:pt x="224896" y="33776"/>
                  <a:pt x="218984" y="39688"/>
                  <a:pt x="211667" y="39688"/>
                </a:cubicBezTo>
                <a:lnTo>
                  <a:pt x="164703" y="39688"/>
                </a:lnTo>
                <a:cubicBezTo>
                  <a:pt x="162553" y="50354"/>
                  <a:pt x="155236" y="59159"/>
                  <a:pt x="145521" y="63376"/>
                </a:cubicBezTo>
                <a:lnTo>
                  <a:pt x="145521" y="185208"/>
                </a:lnTo>
                <a:lnTo>
                  <a:pt x="211667" y="185208"/>
                </a:lnTo>
                <a:cubicBezTo>
                  <a:pt x="218984" y="185208"/>
                  <a:pt x="224896" y="191120"/>
                  <a:pt x="224896" y="198438"/>
                </a:cubicBezTo>
                <a:cubicBezTo>
                  <a:pt x="224896" y="205755"/>
                  <a:pt x="218984" y="211667"/>
                  <a:pt x="211667" y="211667"/>
                </a:cubicBezTo>
                <a:lnTo>
                  <a:pt x="52917" y="211667"/>
                </a:lnTo>
                <a:cubicBezTo>
                  <a:pt x="45599" y="211667"/>
                  <a:pt x="39688" y="205755"/>
                  <a:pt x="39688" y="198438"/>
                </a:cubicBezTo>
                <a:cubicBezTo>
                  <a:pt x="39688" y="191120"/>
                  <a:pt x="45599" y="185208"/>
                  <a:pt x="52917" y="185208"/>
                </a:cubicBezTo>
                <a:lnTo>
                  <a:pt x="119063" y="185208"/>
                </a:lnTo>
                <a:lnTo>
                  <a:pt x="119063" y="63376"/>
                </a:lnTo>
                <a:cubicBezTo>
                  <a:pt x="109347" y="59118"/>
                  <a:pt x="102030" y="50312"/>
                  <a:pt x="99880" y="39688"/>
                </a:cubicBezTo>
                <a:lnTo>
                  <a:pt x="52917" y="39688"/>
                </a:lnTo>
                <a:cubicBezTo>
                  <a:pt x="45599" y="39688"/>
                  <a:pt x="39688" y="33776"/>
                  <a:pt x="39688" y="26458"/>
                </a:cubicBezTo>
                <a:cubicBezTo>
                  <a:pt x="39688" y="19141"/>
                  <a:pt x="45599" y="13229"/>
                  <a:pt x="52917" y="13229"/>
                </a:cubicBezTo>
                <a:lnTo>
                  <a:pt x="105833" y="13229"/>
                </a:lnTo>
                <a:cubicBezTo>
                  <a:pt x="111869" y="5209"/>
                  <a:pt x="121460" y="0"/>
                  <a:pt x="132292" y="0"/>
                </a:cubicBezTo>
                <a:cubicBezTo>
                  <a:pt x="143123" y="0"/>
                  <a:pt x="152714" y="5209"/>
                  <a:pt x="158750" y="13229"/>
                </a:cubicBezTo>
                <a:close/>
                <a:moveTo>
                  <a:pt x="181736" y="132292"/>
                </a:moveTo>
                <a:lnTo>
                  <a:pt x="241598" y="132292"/>
                </a:lnTo>
                <a:lnTo>
                  <a:pt x="211667" y="80946"/>
                </a:lnTo>
                <a:lnTo>
                  <a:pt x="181736" y="132292"/>
                </a:lnTo>
                <a:close/>
                <a:moveTo>
                  <a:pt x="211667" y="171979"/>
                </a:moveTo>
                <a:cubicBezTo>
                  <a:pt x="185663" y="171979"/>
                  <a:pt x="164042" y="157923"/>
                  <a:pt x="159577" y="139361"/>
                </a:cubicBezTo>
                <a:cubicBezTo>
                  <a:pt x="158502" y="134813"/>
                  <a:pt x="159990" y="130142"/>
                  <a:pt x="162347" y="126090"/>
                </a:cubicBezTo>
                <a:lnTo>
                  <a:pt x="201703" y="58622"/>
                </a:lnTo>
                <a:cubicBezTo>
                  <a:pt x="203771" y="55066"/>
                  <a:pt x="207574" y="52917"/>
                  <a:pt x="211667" y="52917"/>
                </a:cubicBezTo>
                <a:cubicBezTo>
                  <a:pt x="215759" y="52917"/>
                  <a:pt x="219563" y="55108"/>
                  <a:pt x="221630" y="58622"/>
                </a:cubicBezTo>
                <a:lnTo>
                  <a:pt x="260987" y="126090"/>
                </a:lnTo>
                <a:cubicBezTo>
                  <a:pt x="263343" y="130142"/>
                  <a:pt x="264831" y="134813"/>
                  <a:pt x="263757" y="139361"/>
                </a:cubicBezTo>
                <a:cubicBezTo>
                  <a:pt x="259292" y="157882"/>
                  <a:pt x="237670" y="171979"/>
                  <a:pt x="211667" y="171979"/>
                </a:cubicBezTo>
                <a:close/>
                <a:moveTo>
                  <a:pt x="52421" y="80946"/>
                </a:moveTo>
                <a:lnTo>
                  <a:pt x="22490" y="132292"/>
                </a:lnTo>
                <a:lnTo>
                  <a:pt x="82393" y="132292"/>
                </a:lnTo>
                <a:lnTo>
                  <a:pt x="52421" y="80946"/>
                </a:lnTo>
                <a:close/>
                <a:moveTo>
                  <a:pt x="372" y="139361"/>
                </a:moveTo>
                <a:cubicBezTo>
                  <a:pt x="-703" y="134813"/>
                  <a:pt x="785" y="130142"/>
                  <a:pt x="3142" y="126090"/>
                </a:cubicBezTo>
                <a:lnTo>
                  <a:pt x="42499" y="58622"/>
                </a:lnTo>
                <a:cubicBezTo>
                  <a:pt x="44566" y="55066"/>
                  <a:pt x="48369" y="52917"/>
                  <a:pt x="52462" y="52917"/>
                </a:cubicBezTo>
                <a:cubicBezTo>
                  <a:pt x="56555" y="52917"/>
                  <a:pt x="60358" y="55108"/>
                  <a:pt x="62425" y="58622"/>
                </a:cubicBezTo>
                <a:lnTo>
                  <a:pt x="101782" y="126090"/>
                </a:lnTo>
                <a:cubicBezTo>
                  <a:pt x="104138" y="130142"/>
                  <a:pt x="105627" y="134813"/>
                  <a:pt x="104552" y="139361"/>
                </a:cubicBezTo>
                <a:cubicBezTo>
                  <a:pt x="100087" y="157882"/>
                  <a:pt x="78465" y="171979"/>
                  <a:pt x="52462" y="171979"/>
                </a:cubicBezTo>
                <a:cubicBezTo>
                  <a:pt x="26458" y="171979"/>
                  <a:pt x="4837" y="157923"/>
                  <a:pt x="372" y="139361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857250" y="5757333"/>
            <a:ext cx="149119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三阶段核心维度对比</a:t>
            </a:r>
            <a:endParaRPr lang="en-US" sz="160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2667" y="6180667"/>
          <a:ext cx="15070666" cy="2730497"/>
        </p:xfrm>
        <a:graphic>
          <a:graphicData uri="http://schemas.openxmlformats.org/drawingml/2006/table">
            <a:tbl>
              <a:tblPr/>
              <a:tblGrid>
                <a:gridCol w="3090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9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071"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32C7B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维度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5F6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5F677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早期批处理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5F6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32C7B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分布式批处理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5F6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32C7B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流式计算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5F6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071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E1E3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计算模型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5F6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1E3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基于集合论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5F6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1E3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基于分布式集合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5F6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1E3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基于数据流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5F6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071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E1E3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时间观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3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1E3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处理时间主导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3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1E3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处理时间为主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3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1E3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事件时间为核心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3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071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E1E3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数据特征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3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1E3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有界、静态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3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1E3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有界、大规模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3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1E3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无界、实时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3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071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E1E3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延迟要求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3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1E3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小时/天级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3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1E3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分钟/小时级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3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1E3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毫秒/秒级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3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071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E1E3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一致性模型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3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1E3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强一致性(ACID)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3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1E3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数据最终可见性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3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1E3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精确一次语义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3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071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E1E3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状态管理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3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1E3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外部数据库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3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1E3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分布式文件系统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3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1E3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内置状态管理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3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8810" y="468810"/>
            <a:ext cx="468810" cy="468810"/>
          </a:xfrm>
          <a:custGeom>
            <a:avLst/>
            <a:gdLst/>
            <a:ahLst/>
            <a:cxnLst/>
            <a:rect l="l" t="t" r="r" b="b"/>
            <a:pathLst>
              <a:path w="468810" h="468810">
                <a:moveTo>
                  <a:pt x="93762" y="0"/>
                </a:moveTo>
                <a:lnTo>
                  <a:pt x="375048" y="0"/>
                </a:lnTo>
                <a:cubicBezTo>
                  <a:pt x="426797" y="0"/>
                  <a:pt x="468810" y="42013"/>
                  <a:pt x="468810" y="93762"/>
                </a:cubicBezTo>
                <a:lnTo>
                  <a:pt x="468810" y="375048"/>
                </a:lnTo>
                <a:cubicBezTo>
                  <a:pt x="468810" y="426797"/>
                  <a:pt x="426797" y="468810"/>
                  <a:pt x="375048" y="468810"/>
                </a:cubicBezTo>
                <a:lnTo>
                  <a:pt x="93762" y="468810"/>
                </a:lnTo>
                <a:cubicBezTo>
                  <a:pt x="42013" y="468810"/>
                  <a:pt x="0" y="426797"/>
                  <a:pt x="0" y="375048"/>
                </a:cubicBezTo>
                <a:lnTo>
                  <a:pt x="0" y="93762"/>
                </a:lnTo>
                <a:cubicBezTo>
                  <a:pt x="0" y="42013"/>
                  <a:pt x="42013" y="0"/>
                  <a:pt x="93762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600663" y="597733"/>
            <a:ext cx="210965" cy="210965"/>
          </a:xfrm>
          <a:custGeom>
            <a:avLst/>
            <a:gdLst/>
            <a:ahLst/>
            <a:cxnLst/>
            <a:rect l="l" t="t" r="r" b="b"/>
            <a:pathLst>
              <a:path w="210965" h="210965">
                <a:moveTo>
                  <a:pt x="207091" y="62053"/>
                </a:moveTo>
                <a:lnTo>
                  <a:pt x="167536" y="101609"/>
                </a:lnTo>
                <a:cubicBezTo>
                  <a:pt x="163745" y="105400"/>
                  <a:pt x="158100" y="106512"/>
                  <a:pt x="153155" y="104452"/>
                </a:cubicBezTo>
                <a:cubicBezTo>
                  <a:pt x="148211" y="102392"/>
                  <a:pt x="145038" y="97612"/>
                  <a:pt x="145038" y="92297"/>
                </a:cubicBezTo>
                <a:lnTo>
                  <a:pt x="145038" y="65926"/>
                </a:lnTo>
                <a:lnTo>
                  <a:pt x="13185" y="65926"/>
                </a:lnTo>
                <a:cubicBezTo>
                  <a:pt x="5892" y="65926"/>
                  <a:pt x="0" y="60034"/>
                  <a:pt x="0" y="52741"/>
                </a:cubicBezTo>
                <a:cubicBezTo>
                  <a:pt x="0" y="45448"/>
                  <a:pt x="5892" y="39556"/>
                  <a:pt x="13185" y="39556"/>
                </a:cubicBezTo>
                <a:lnTo>
                  <a:pt x="145038" y="39556"/>
                </a:lnTo>
                <a:lnTo>
                  <a:pt x="145038" y="13185"/>
                </a:lnTo>
                <a:cubicBezTo>
                  <a:pt x="145038" y="7870"/>
                  <a:pt x="148252" y="3049"/>
                  <a:pt x="153197" y="989"/>
                </a:cubicBezTo>
                <a:cubicBezTo>
                  <a:pt x="158141" y="-1071"/>
                  <a:pt x="163786" y="82"/>
                  <a:pt x="167577" y="3832"/>
                </a:cubicBezTo>
                <a:lnTo>
                  <a:pt x="207133" y="43388"/>
                </a:lnTo>
                <a:cubicBezTo>
                  <a:pt x="212283" y="48538"/>
                  <a:pt x="212283" y="56903"/>
                  <a:pt x="207133" y="62053"/>
                </a:cubicBezTo>
                <a:close/>
                <a:moveTo>
                  <a:pt x="43388" y="207091"/>
                </a:moveTo>
                <a:lnTo>
                  <a:pt x="3832" y="167536"/>
                </a:lnTo>
                <a:cubicBezTo>
                  <a:pt x="-1319" y="162385"/>
                  <a:pt x="-1319" y="154021"/>
                  <a:pt x="3832" y="148870"/>
                </a:cubicBezTo>
                <a:lnTo>
                  <a:pt x="43388" y="109314"/>
                </a:lnTo>
                <a:cubicBezTo>
                  <a:pt x="47179" y="105524"/>
                  <a:pt x="52824" y="104411"/>
                  <a:pt x="57768" y="106471"/>
                </a:cubicBezTo>
                <a:cubicBezTo>
                  <a:pt x="62713" y="108531"/>
                  <a:pt x="65926" y="113352"/>
                  <a:pt x="65926" y="118668"/>
                </a:cubicBezTo>
                <a:lnTo>
                  <a:pt x="65926" y="145038"/>
                </a:lnTo>
                <a:lnTo>
                  <a:pt x="197779" y="145038"/>
                </a:lnTo>
                <a:cubicBezTo>
                  <a:pt x="205072" y="145038"/>
                  <a:pt x="210965" y="150930"/>
                  <a:pt x="210965" y="158224"/>
                </a:cubicBezTo>
                <a:cubicBezTo>
                  <a:pt x="210965" y="165517"/>
                  <a:pt x="205072" y="171409"/>
                  <a:pt x="197779" y="171409"/>
                </a:cubicBezTo>
                <a:lnTo>
                  <a:pt x="65926" y="171409"/>
                </a:lnTo>
                <a:lnTo>
                  <a:pt x="65926" y="197779"/>
                </a:lnTo>
                <a:cubicBezTo>
                  <a:pt x="65926" y="203095"/>
                  <a:pt x="62713" y="207916"/>
                  <a:pt x="57768" y="209976"/>
                </a:cubicBezTo>
                <a:cubicBezTo>
                  <a:pt x="52824" y="212036"/>
                  <a:pt x="47179" y="210882"/>
                  <a:pt x="43388" y="207133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078264" y="468810"/>
            <a:ext cx="5719487" cy="468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322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范式转变：从Store到Process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78264" y="1031383"/>
            <a:ext cx="14814408" cy="328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61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数据处理范式从存储优先到计算优先的认知深化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8810" y="1547074"/>
            <a:ext cx="4981110" cy="4359937"/>
          </a:xfrm>
          <a:custGeom>
            <a:avLst/>
            <a:gdLst/>
            <a:ahLst/>
            <a:cxnLst/>
            <a:rect l="l" t="t" r="r" b="b"/>
            <a:pathLst>
              <a:path w="4981110" h="4359937">
                <a:moveTo>
                  <a:pt x="140652" y="0"/>
                </a:moveTo>
                <a:lnTo>
                  <a:pt x="4840459" y="0"/>
                </a:lnTo>
                <a:cubicBezTo>
                  <a:pt x="4918138" y="0"/>
                  <a:pt x="4981110" y="62972"/>
                  <a:pt x="4981110" y="140652"/>
                </a:cubicBezTo>
                <a:lnTo>
                  <a:pt x="4981110" y="4219285"/>
                </a:lnTo>
                <a:cubicBezTo>
                  <a:pt x="4981110" y="4296965"/>
                  <a:pt x="4918138" y="4359937"/>
                  <a:pt x="4840459" y="4359937"/>
                </a:cubicBezTo>
                <a:lnTo>
                  <a:pt x="140652" y="4359937"/>
                </a:lnTo>
                <a:cubicBezTo>
                  <a:pt x="62972" y="4359937"/>
                  <a:pt x="0" y="4296965"/>
                  <a:pt x="0" y="4219285"/>
                </a:cubicBezTo>
                <a:lnTo>
                  <a:pt x="0" y="140652"/>
                </a:lnTo>
                <a:cubicBezTo>
                  <a:pt x="0" y="63024"/>
                  <a:pt x="63024" y="0"/>
                  <a:pt x="140652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2583585" y="1734598"/>
            <a:ext cx="750097" cy="750097"/>
          </a:xfrm>
          <a:custGeom>
            <a:avLst/>
            <a:gdLst/>
            <a:ahLst/>
            <a:cxnLst/>
            <a:rect l="l" t="t" r="r" b="b"/>
            <a:pathLst>
              <a:path w="750097" h="750097">
                <a:moveTo>
                  <a:pt x="93762" y="0"/>
                </a:moveTo>
                <a:lnTo>
                  <a:pt x="656335" y="0"/>
                </a:lnTo>
                <a:cubicBezTo>
                  <a:pt x="708083" y="0"/>
                  <a:pt x="750097" y="42013"/>
                  <a:pt x="750097" y="93762"/>
                </a:cubicBezTo>
                <a:lnTo>
                  <a:pt x="750097" y="656335"/>
                </a:lnTo>
                <a:cubicBezTo>
                  <a:pt x="750097" y="708083"/>
                  <a:pt x="708083" y="750097"/>
                  <a:pt x="656335" y="750097"/>
                </a:cubicBezTo>
                <a:lnTo>
                  <a:pt x="93762" y="750097"/>
                </a:lnTo>
                <a:cubicBezTo>
                  <a:pt x="42013" y="750097"/>
                  <a:pt x="0" y="708083"/>
                  <a:pt x="0" y="656335"/>
                </a:cubicBezTo>
                <a:lnTo>
                  <a:pt x="0" y="93762"/>
                </a:lnTo>
                <a:cubicBezTo>
                  <a:pt x="0" y="42013"/>
                  <a:pt x="42013" y="0"/>
                  <a:pt x="93762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2707838" y="1922123"/>
            <a:ext cx="503971" cy="375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15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1.0</a:t>
            </a:r>
          </a:p>
        </p:txBody>
      </p:sp>
      <p:sp>
        <p:nvSpPr>
          <p:cNvPr id="9" name="Text 7"/>
          <p:cNvSpPr/>
          <p:nvPr/>
        </p:nvSpPr>
        <p:spPr>
          <a:xfrm>
            <a:off x="597733" y="2578457"/>
            <a:ext cx="4723265" cy="328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46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Store-then-Process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5314" y="2906624"/>
            <a:ext cx="4688104" cy="234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92" dirty="0">
                <a:solidFill>
                  <a:srgbClr val="5F67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先存储后处理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6335" y="3281673"/>
            <a:ext cx="4606062" cy="750097"/>
          </a:xfrm>
          <a:custGeom>
            <a:avLst/>
            <a:gdLst/>
            <a:ahLst/>
            <a:cxnLst/>
            <a:rect l="l" t="t" r="r" b="b"/>
            <a:pathLst>
              <a:path w="4606062" h="750097">
                <a:moveTo>
                  <a:pt x="93762" y="0"/>
                </a:moveTo>
                <a:lnTo>
                  <a:pt x="4512300" y="0"/>
                </a:lnTo>
                <a:cubicBezTo>
                  <a:pt x="4564049" y="0"/>
                  <a:pt x="4606062" y="42013"/>
                  <a:pt x="4606062" y="93762"/>
                </a:cubicBezTo>
                <a:lnTo>
                  <a:pt x="4606062" y="656335"/>
                </a:lnTo>
                <a:cubicBezTo>
                  <a:pt x="4606062" y="708083"/>
                  <a:pt x="4564049" y="750097"/>
                  <a:pt x="4512300" y="750097"/>
                </a:cubicBezTo>
                <a:lnTo>
                  <a:pt x="93762" y="750097"/>
                </a:lnTo>
                <a:cubicBezTo>
                  <a:pt x="42013" y="750097"/>
                  <a:pt x="0" y="708083"/>
                  <a:pt x="0" y="656335"/>
                </a:cubicBezTo>
                <a:lnTo>
                  <a:pt x="0" y="93762"/>
                </a:lnTo>
                <a:cubicBezTo>
                  <a:pt x="0" y="42013"/>
                  <a:pt x="42013" y="0"/>
                  <a:pt x="9376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750097" y="3375435"/>
            <a:ext cx="4512300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7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核心假设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50097" y="3703602"/>
            <a:ext cx="4500580" cy="234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数据是稀缺资源，存储是主要挑战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6335" y="4125531"/>
            <a:ext cx="4606062" cy="750097"/>
          </a:xfrm>
          <a:custGeom>
            <a:avLst/>
            <a:gdLst/>
            <a:ahLst/>
            <a:cxnLst/>
            <a:rect l="l" t="t" r="r" b="b"/>
            <a:pathLst>
              <a:path w="4606062" h="750097">
                <a:moveTo>
                  <a:pt x="93762" y="0"/>
                </a:moveTo>
                <a:lnTo>
                  <a:pt x="4512300" y="0"/>
                </a:lnTo>
                <a:cubicBezTo>
                  <a:pt x="4564049" y="0"/>
                  <a:pt x="4606062" y="42013"/>
                  <a:pt x="4606062" y="93762"/>
                </a:cubicBezTo>
                <a:lnTo>
                  <a:pt x="4606062" y="656335"/>
                </a:lnTo>
                <a:cubicBezTo>
                  <a:pt x="4606062" y="708083"/>
                  <a:pt x="4564049" y="750097"/>
                  <a:pt x="4512300" y="750097"/>
                </a:cubicBezTo>
                <a:lnTo>
                  <a:pt x="93762" y="750097"/>
                </a:lnTo>
                <a:cubicBezTo>
                  <a:pt x="42013" y="750097"/>
                  <a:pt x="0" y="708083"/>
                  <a:pt x="0" y="656335"/>
                </a:cubicBezTo>
                <a:lnTo>
                  <a:pt x="0" y="93762"/>
                </a:lnTo>
                <a:cubicBezTo>
                  <a:pt x="0" y="42013"/>
                  <a:pt x="42013" y="0"/>
                  <a:pt x="9376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50097" y="4219293"/>
            <a:ext cx="4512300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7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设计哲学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50097" y="4547461"/>
            <a:ext cx="4500580" cy="234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以存储为中心优化系统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6335" y="4969390"/>
            <a:ext cx="4606062" cy="750097"/>
          </a:xfrm>
          <a:custGeom>
            <a:avLst/>
            <a:gdLst/>
            <a:ahLst/>
            <a:cxnLst/>
            <a:rect l="l" t="t" r="r" b="b"/>
            <a:pathLst>
              <a:path w="4606062" h="750097">
                <a:moveTo>
                  <a:pt x="93762" y="0"/>
                </a:moveTo>
                <a:lnTo>
                  <a:pt x="4512300" y="0"/>
                </a:lnTo>
                <a:cubicBezTo>
                  <a:pt x="4564049" y="0"/>
                  <a:pt x="4606062" y="42013"/>
                  <a:pt x="4606062" y="93762"/>
                </a:cubicBezTo>
                <a:lnTo>
                  <a:pt x="4606062" y="656335"/>
                </a:lnTo>
                <a:cubicBezTo>
                  <a:pt x="4606062" y="708083"/>
                  <a:pt x="4564049" y="750097"/>
                  <a:pt x="4512300" y="750097"/>
                </a:cubicBezTo>
                <a:lnTo>
                  <a:pt x="93762" y="750097"/>
                </a:lnTo>
                <a:cubicBezTo>
                  <a:pt x="42013" y="750097"/>
                  <a:pt x="0" y="708083"/>
                  <a:pt x="0" y="656335"/>
                </a:cubicBezTo>
                <a:lnTo>
                  <a:pt x="0" y="93762"/>
                </a:lnTo>
                <a:cubicBezTo>
                  <a:pt x="0" y="42013"/>
                  <a:pt x="42013" y="0"/>
                  <a:pt x="9376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750097" y="5063152"/>
            <a:ext cx="4512300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7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典型应用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50097" y="5391319"/>
            <a:ext cx="4500580" cy="234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传统数据仓库、ETL工具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36071" y="1547074"/>
            <a:ext cx="4981110" cy="4359937"/>
          </a:xfrm>
          <a:custGeom>
            <a:avLst/>
            <a:gdLst/>
            <a:ahLst/>
            <a:cxnLst/>
            <a:rect l="l" t="t" r="r" b="b"/>
            <a:pathLst>
              <a:path w="4981110" h="4359937">
                <a:moveTo>
                  <a:pt x="140652" y="0"/>
                </a:moveTo>
                <a:lnTo>
                  <a:pt x="4840459" y="0"/>
                </a:lnTo>
                <a:cubicBezTo>
                  <a:pt x="4918138" y="0"/>
                  <a:pt x="4981110" y="62972"/>
                  <a:pt x="4981110" y="140652"/>
                </a:cubicBezTo>
                <a:lnTo>
                  <a:pt x="4981110" y="4219285"/>
                </a:lnTo>
                <a:cubicBezTo>
                  <a:pt x="4981110" y="4296965"/>
                  <a:pt x="4918138" y="4359937"/>
                  <a:pt x="4840459" y="4359937"/>
                </a:cubicBezTo>
                <a:lnTo>
                  <a:pt x="140652" y="4359937"/>
                </a:lnTo>
                <a:cubicBezTo>
                  <a:pt x="62972" y="4359937"/>
                  <a:pt x="0" y="4296965"/>
                  <a:pt x="0" y="4219285"/>
                </a:cubicBezTo>
                <a:lnTo>
                  <a:pt x="0" y="140652"/>
                </a:lnTo>
                <a:cubicBezTo>
                  <a:pt x="0" y="63024"/>
                  <a:pt x="63024" y="0"/>
                  <a:pt x="140652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7750937" y="1734598"/>
            <a:ext cx="750097" cy="750097"/>
          </a:xfrm>
          <a:custGeom>
            <a:avLst/>
            <a:gdLst/>
            <a:ahLst/>
            <a:cxnLst/>
            <a:rect l="l" t="t" r="r" b="b"/>
            <a:pathLst>
              <a:path w="750097" h="750097">
                <a:moveTo>
                  <a:pt x="93762" y="0"/>
                </a:moveTo>
                <a:lnTo>
                  <a:pt x="656335" y="0"/>
                </a:lnTo>
                <a:cubicBezTo>
                  <a:pt x="708083" y="0"/>
                  <a:pt x="750097" y="42013"/>
                  <a:pt x="750097" y="93762"/>
                </a:cubicBezTo>
                <a:lnTo>
                  <a:pt x="750097" y="656335"/>
                </a:lnTo>
                <a:cubicBezTo>
                  <a:pt x="750097" y="708083"/>
                  <a:pt x="708083" y="750097"/>
                  <a:pt x="656335" y="750097"/>
                </a:cubicBezTo>
                <a:lnTo>
                  <a:pt x="93762" y="750097"/>
                </a:lnTo>
                <a:cubicBezTo>
                  <a:pt x="42013" y="750097"/>
                  <a:pt x="0" y="708083"/>
                  <a:pt x="0" y="656335"/>
                </a:cubicBezTo>
                <a:lnTo>
                  <a:pt x="0" y="93762"/>
                </a:lnTo>
                <a:cubicBezTo>
                  <a:pt x="0" y="42013"/>
                  <a:pt x="42013" y="0"/>
                  <a:pt x="93762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7851384" y="1922123"/>
            <a:ext cx="550852" cy="375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15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64994" y="2578457"/>
            <a:ext cx="4723265" cy="328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46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Store-and-Process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82575" y="2906624"/>
            <a:ext cx="4688104" cy="234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92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存储与处理并重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823596" y="3281673"/>
            <a:ext cx="4606062" cy="750097"/>
          </a:xfrm>
          <a:custGeom>
            <a:avLst/>
            <a:gdLst/>
            <a:ahLst/>
            <a:cxnLst/>
            <a:rect l="l" t="t" r="r" b="b"/>
            <a:pathLst>
              <a:path w="4606062" h="750097">
                <a:moveTo>
                  <a:pt x="93762" y="0"/>
                </a:moveTo>
                <a:lnTo>
                  <a:pt x="4512300" y="0"/>
                </a:lnTo>
                <a:cubicBezTo>
                  <a:pt x="4564049" y="0"/>
                  <a:pt x="4606062" y="42013"/>
                  <a:pt x="4606062" y="93762"/>
                </a:cubicBezTo>
                <a:lnTo>
                  <a:pt x="4606062" y="656335"/>
                </a:lnTo>
                <a:cubicBezTo>
                  <a:pt x="4606062" y="708083"/>
                  <a:pt x="4564049" y="750097"/>
                  <a:pt x="4512300" y="750097"/>
                </a:cubicBezTo>
                <a:lnTo>
                  <a:pt x="93762" y="750097"/>
                </a:lnTo>
                <a:cubicBezTo>
                  <a:pt x="42013" y="750097"/>
                  <a:pt x="0" y="708083"/>
                  <a:pt x="0" y="656335"/>
                </a:cubicBezTo>
                <a:lnTo>
                  <a:pt x="0" y="93762"/>
                </a:lnTo>
                <a:cubicBezTo>
                  <a:pt x="0" y="42013"/>
                  <a:pt x="42013" y="0"/>
                  <a:pt x="9376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5917358" y="3375435"/>
            <a:ext cx="4512300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7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核心假设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917358" y="3703602"/>
            <a:ext cx="4500580" cy="234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数据量大，需要分布式处理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823596" y="4125531"/>
            <a:ext cx="4606062" cy="750097"/>
          </a:xfrm>
          <a:custGeom>
            <a:avLst/>
            <a:gdLst/>
            <a:ahLst/>
            <a:cxnLst/>
            <a:rect l="l" t="t" r="r" b="b"/>
            <a:pathLst>
              <a:path w="4606062" h="750097">
                <a:moveTo>
                  <a:pt x="93762" y="0"/>
                </a:moveTo>
                <a:lnTo>
                  <a:pt x="4512300" y="0"/>
                </a:lnTo>
                <a:cubicBezTo>
                  <a:pt x="4564049" y="0"/>
                  <a:pt x="4606062" y="42013"/>
                  <a:pt x="4606062" y="93762"/>
                </a:cubicBezTo>
                <a:lnTo>
                  <a:pt x="4606062" y="656335"/>
                </a:lnTo>
                <a:cubicBezTo>
                  <a:pt x="4606062" y="708083"/>
                  <a:pt x="4564049" y="750097"/>
                  <a:pt x="4512300" y="750097"/>
                </a:cubicBezTo>
                <a:lnTo>
                  <a:pt x="93762" y="750097"/>
                </a:lnTo>
                <a:cubicBezTo>
                  <a:pt x="42013" y="750097"/>
                  <a:pt x="0" y="708083"/>
                  <a:pt x="0" y="656335"/>
                </a:cubicBezTo>
                <a:lnTo>
                  <a:pt x="0" y="93762"/>
                </a:lnTo>
                <a:cubicBezTo>
                  <a:pt x="0" y="42013"/>
                  <a:pt x="42013" y="0"/>
                  <a:pt x="9376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5917358" y="4219293"/>
            <a:ext cx="4512300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7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设计哲学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917358" y="4547461"/>
            <a:ext cx="4500580" cy="234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数据局部性优化，移动计算而非数据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823596" y="4969390"/>
            <a:ext cx="4606062" cy="750097"/>
          </a:xfrm>
          <a:custGeom>
            <a:avLst/>
            <a:gdLst/>
            <a:ahLst/>
            <a:cxnLst/>
            <a:rect l="l" t="t" r="r" b="b"/>
            <a:pathLst>
              <a:path w="4606062" h="750097">
                <a:moveTo>
                  <a:pt x="93762" y="0"/>
                </a:moveTo>
                <a:lnTo>
                  <a:pt x="4512300" y="0"/>
                </a:lnTo>
                <a:cubicBezTo>
                  <a:pt x="4564049" y="0"/>
                  <a:pt x="4606062" y="42013"/>
                  <a:pt x="4606062" y="93762"/>
                </a:cubicBezTo>
                <a:lnTo>
                  <a:pt x="4606062" y="656335"/>
                </a:lnTo>
                <a:cubicBezTo>
                  <a:pt x="4606062" y="708083"/>
                  <a:pt x="4564049" y="750097"/>
                  <a:pt x="4512300" y="750097"/>
                </a:cubicBezTo>
                <a:lnTo>
                  <a:pt x="93762" y="750097"/>
                </a:lnTo>
                <a:cubicBezTo>
                  <a:pt x="42013" y="750097"/>
                  <a:pt x="0" y="708083"/>
                  <a:pt x="0" y="656335"/>
                </a:cubicBezTo>
                <a:lnTo>
                  <a:pt x="0" y="93762"/>
                </a:lnTo>
                <a:cubicBezTo>
                  <a:pt x="0" y="42013"/>
                  <a:pt x="42013" y="0"/>
                  <a:pt x="9376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5917358" y="5063152"/>
            <a:ext cx="4512300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7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典型应用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917358" y="5391319"/>
            <a:ext cx="4500580" cy="234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Hadoop生态、Spark批处理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0803424" y="1547074"/>
            <a:ext cx="4981110" cy="4359937"/>
          </a:xfrm>
          <a:custGeom>
            <a:avLst/>
            <a:gdLst/>
            <a:ahLst/>
            <a:cxnLst/>
            <a:rect l="l" t="t" r="r" b="b"/>
            <a:pathLst>
              <a:path w="4981110" h="4359937">
                <a:moveTo>
                  <a:pt x="140652" y="0"/>
                </a:moveTo>
                <a:lnTo>
                  <a:pt x="4840459" y="0"/>
                </a:lnTo>
                <a:cubicBezTo>
                  <a:pt x="4918138" y="0"/>
                  <a:pt x="4981110" y="62972"/>
                  <a:pt x="4981110" y="140652"/>
                </a:cubicBezTo>
                <a:lnTo>
                  <a:pt x="4981110" y="4219285"/>
                </a:lnTo>
                <a:cubicBezTo>
                  <a:pt x="4981110" y="4296965"/>
                  <a:pt x="4918138" y="4359937"/>
                  <a:pt x="4840459" y="4359937"/>
                </a:cubicBezTo>
                <a:lnTo>
                  <a:pt x="140652" y="4359937"/>
                </a:lnTo>
                <a:cubicBezTo>
                  <a:pt x="62972" y="4359937"/>
                  <a:pt x="0" y="4296965"/>
                  <a:pt x="0" y="4219285"/>
                </a:cubicBezTo>
                <a:lnTo>
                  <a:pt x="0" y="140652"/>
                </a:lnTo>
                <a:cubicBezTo>
                  <a:pt x="0" y="63024"/>
                  <a:pt x="63024" y="0"/>
                  <a:pt x="140652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12918290" y="1734598"/>
            <a:ext cx="750097" cy="750097"/>
          </a:xfrm>
          <a:custGeom>
            <a:avLst/>
            <a:gdLst/>
            <a:ahLst/>
            <a:cxnLst/>
            <a:rect l="l" t="t" r="r" b="b"/>
            <a:pathLst>
              <a:path w="750097" h="750097">
                <a:moveTo>
                  <a:pt x="93762" y="0"/>
                </a:moveTo>
                <a:lnTo>
                  <a:pt x="656335" y="0"/>
                </a:lnTo>
                <a:cubicBezTo>
                  <a:pt x="708083" y="0"/>
                  <a:pt x="750097" y="42013"/>
                  <a:pt x="750097" y="93762"/>
                </a:cubicBezTo>
                <a:lnTo>
                  <a:pt x="750097" y="656335"/>
                </a:lnTo>
                <a:cubicBezTo>
                  <a:pt x="750097" y="708083"/>
                  <a:pt x="708083" y="750097"/>
                  <a:pt x="656335" y="750097"/>
                </a:cubicBezTo>
                <a:lnTo>
                  <a:pt x="93762" y="750097"/>
                </a:lnTo>
                <a:cubicBezTo>
                  <a:pt x="42013" y="750097"/>
                  <a:pt x="0" y="708083"/>
                  <a:pt x="0" y="656335"/>
                </a:cubicBezTo>
                <a:lnTo>
                  <a:pt x="0" y="93762"/>
                </a:lnTo>
                <a:cubicBezTo>
                  <a:pt x="0" y="42013"/>
                  <a:pt x="42013" y="0"/>
                  <a:pt x="93762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13015074" y="1922123"/>
            <a:ext cx="550852" cy="375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15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3.0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932347" y="2578457"/>
            <a:ext cx="4723265" cy="328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46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Process-as-arrive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949927" y="2906624"/>
            <a:ext cx="4688104" cy="234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92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边到达边处理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990948" y="3281673"/>
            <a:ext cx="4606062" cy="750097"/>
          </a:xfrm>
          <a:custGeom>
            <a:avLst/>
            <a:gdLst/>
            <a:ahLst/>
            <a:cxnLst/>
            <a:rect l="l" t="t" r="r" b="b"/>
            <a:pathLst>
              <a:path w="4606062" h="750097">
                <a:moveTo>
                  <a:pt x="93762" y="0"/>
                </a:moveTo>
                <a:lnTo>
                  <a:pt x="4512300" y="0"/>
                </a:lnTo>
                <a:cubicBezTo>
                  <a:pt x="4564049" y="0"/>
                  <a:pt x="4606062" y="42013"/>
                  <a:pt x="4606062" y="93762"/>
                </a:cubicBezTo>
                <a:lnTo>
                  <a:pt x="4606062" y="656335"/>
                </a:lnTo>
                <a:cubicBezTo>
                  <a:pt x="4606062" y="708083"/>
                  <a:pt x="4564049" y="750097"/>
                  <a:pt x="4512300" y="750097"/>
                </a:cubicBezTo>
                <a:lnTo>
                  <a:pt x="93762" y="750097"/>
                </a:lnTo>
                <a:cubicBezTo>
                  <a:pt x="42013" y="750097"/>
                  <a:pt x="0" y="708083"/>
                  <a:pt x="0" y="656335"/>
                </a:cubicBezTo>
                <a:lnTo>
                  <a:pt x="0" y="93762"/>
                </a:lnTo>
                <a:cubicBezTo>
                  <a:pt x="0" y="42013"/>
                  <a:pt x="42013" y="0"/>
                  <a:pt x="9376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11084710" y="3375435"/>
            <a:ext cx="4512300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7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核心假设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084710" y="3703602"/>
            <a:ext cx="4500580" cy="234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数据是无限流，实时性是关键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990948" y="4125531"/>
            <a:ext cx="4606062" cy="750097"/>
          </a:xfrm>
          <a:custGeom>
            <a:avLst/>
            <a:gdLst/>
            <a:ahLst/>
            <a:cxnLst/>
            <a:rect l="l" t="t" r="r" b="b"/>
            <a:pathLst>
              <a:path w="4606062" h="750097">
                <a:moveTo>
                  <a:pt x="93762" y="0"/>
                </a:moveTo>
                <a:lnTo>
                  <a:pt x="4512300" y="0"/>
                </a:lnTo>
                <a:cubicBezTo>
                  <a:pt x="4564049" y="0"/>
                  <a:pt x="4606062" y="42013"/>
                  <a:pt x="4606062" y="93762"/>
                </a:cubicBezTo>
                <a:lnTo>
                  <a:pt x="4606062" y="656335"/>
                </a:lnTo>
                <a:cubicBezTo>
                  <a:pt x="4606062" y="708083"/>
                  <a:pt x="4564049" y="750097"/>
                  <a:pt x="4512300" y="750097"/>
                </a:cubicBezTo>
                <a:lnTo>
                  <a:pt x="93762" y="750097"/>
                </a:lnTo>
                <a:cubicBezTo>
                  <a:pt x="42013" y="750097"/>
                  <a:pt x="0" y="708083"/>
                  <a:pt x="0" y="656335"/>
                </a:cubicBezTo>
                <a:lnTo>
                  <a:pt x="0" y="93762"/>
                </a:lnTo>
                <a:cubicBezTo>
                  <a:pt x="0" y="42013"/>
                  <a:pt x="42013" y="0"/>
                  <a:pt x="9376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11084710" y="4219293"/>
            <a:ext cx="4512300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7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设计哲学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084710" y="4547461"/>
            <a:ext cx="4500580" cy="234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以计算为中心，内存优先，延迟优化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0990948" y="4969390"/>
            <a:ext cx="4606062" cy="750097"/>
          </a:xfrm>
          <a:custGeom>
            <a:avLst/>
            <a:gdLst/>
            <a:ahLst/>
            <a:cxnLst/>
            <a:rect l="l" t="t" r="r" b="b"/>
            <a:pathLst>
              <a:path w="4606062" h="750097">
                <a:moveTo>
                  <a:pt x="93762" y="0"/>
                </a:moveTo>
                <a:lnTo>
                  <a:pt x="4512300" y="0"/>
                </a:lnTo>
                <a:cubicBezTo>
                  <a:pt x="4564049" y="0"/>
                  <a:pt x="4606062" y="42013"/>
                  <a:pt x="4606062" y="93762"/>
                </a:cubicBezTo>
                <a:lnTo>
                  <a:pt x="4606062" y="656335"/>
                </a:lnTo>
                <a:cubicBezTo>
                  <a:pt x="4606062" y="708083"/>
                  <a:pt x="4564049" y="750097"/>
                  <a:pt x="4512300" y="750097"/>
                </a:cubicBezTo>
                <a:lnTo>
                  <a:pt x="93762" y="750097"/>
                </a:lnTo>
                <a:cubicBezTo>
                  <a:pt x="42013" y="750097"/>
                  <a:pt x="0" y="708083"/>
                  <a:pt x="0" y="656335"/>
                </a:cubicBezTo>
                <a:lnTo>
                  <a:pt x="0" y="93762"/>
                </a:lnTo>
                <a:cubicBezTo>
                  <a:pt x="0" y="42013"/>
                  <a:pt x="42013" y="0"/>
                  <a:pt x="9376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11084710" y="5063152"/>
            <a:ext cx="4512300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7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典型应用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084710" y="5391319"/>
            <a:ext cx="4500580" cy="234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Flink、Kafka Streams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68810" y="6094535"/>
            <a:ext cx="15318379" cy="2344052"/>
          </a:xfrm>
          <a:custGeom>
            <a:avLst/>
            <a:gdLst/>
            <a:ahLst/>
            <a:cxnLst/>
            <a:rect l="l" t="t" r="r" b="b"/>
            <a:pathLst>
              <a:path w="15318379" h="2344052">
                <a:moveTo>
                  <a:pt x="140643" y="0"/>
                </a:moveTo>
                <a:lnTo>
                  <a:pt x="15177736" y="0"/>
                </a:lnTo>
                <a:cubicBezTo>
                  <a:pt x="15255411" y="0"/>
                  <a:pt x="15318379" y="62968"/>
                  <a:pt x="15318379" y="140643"/>
                </a:cubicBezTo>
                <a:lnTo>
                  <a:pt x="15318379" y="2203409"/>
                </a:lnTo>
                <a:cubicBezTo>
                  <a:pt x="15318379" y="2281084"/>
                  <a:pt x="15255411" y="2344052"/>
                  <a:pt x="15177736" y="2344052"/>
                </a:cubicBezTo>
                <a:lnTo>
                  <a:pt x="140643" y="2344052"/>
                </a:lnTo>
                <a:cubicBezTo>
                  <a:pt x="63020" y="2344052"/>
                  <a:pt x="0" y="2281032"/>
                  <a:pt x="0" y="2203409"/>
                </a:cubicBezTo>
                <a:lnTo>
                  <a:pt x="0" y="140643"/>
                </a:lnTo>
                <a:cubicBezTo>
                  <a:pt x="0" y="63020"/>
                  <a:pt x="63020" y="0"/>
                  <a:pt x="140643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685635" y="6328940"/>
            <a:ext cx="234405" cy="234405"/>
          </a:xfrm>
          <a:custGeom>
            <a:avLst/>
            <a:gdLst/>
            <a:ahLst/>
            <a:cxnLst/>
            <a:rect l="l" t="t" r="r" b="b"/>
            <a:pathLst>
              <a:path w="234405" h="234405">
                <a:moveTo>
                  <a:pt x="54939" y="25638"/>
                </a:moveTo>
                <a:cubicBezTo>
                  <a:pt x="54939" y="11491"/>
                  <a:pt x="66430" y="0"/>
                  <a:pt x="80577" y="0"/>
                </a:cubicBezTo>
                <a:lnTo>
                  <a:pt x="91565" y="0"/>
                </a:lnTo>
                <a:cubicBezTo>
                  <a:pt x="99668" y="0"/>
                  <a:pt x="106215" y="6547"/>
                  <a:pt x="106215" y="14650"/>
                </a:cubicBezTo>
                <a:lnTo>
                  <a:pt x="106215" y="219755"/>
                </a:lnTo>
                <a:cubicBezTo>
                  <a:pt x="106215" y="227858"/>
                  <a:pt x="99668" y="234405"/>
                  <a:pt x="91565" y="234405"/>
                </a:cubicBezTo>
                <a:lnTo>
                  <a:pt x="76914" y="234405"/>
                </a:lnTo>
                <a:cubicBezTo>
                  <a:pt x="63271" y="234405"/>
                  <a:pt x="51780" y="225066"/>
                  <a:pt x="48529" y="212430"/>
                </a:cubicBezTo>
                <a:cubicBezTo>
                  <a:pt x="48209" y="212430"/>
                  <a:pt x="47934" y="212430"/>
                  <a:pt x="47614" y="212430"/>
                </a:cubicBezTo>
                <a:cubicBezTo>
                  <a:pt x="27378" y="212430"/>
                  <a:pt x="10988" y="196040"/>
                  <a:pt x="10988" y="175804"/>
                </a:cubicBezTo>
                <a:cubicBezTo>
                  <a:pt x="10988" y="167563"/>
                  <a:pt x="13735" y="159963"/>
                  <a:pt x="18313" y="153828"/>
                </a:cubicBezTo>
                <a:cubicBezTo>
                  <a:pt x="9431" y="147144"/>
                  <a:pt x="3663" y="136523"/>
                  <a:pt x="3663" y="124528"/>
                </a:cubicBezTo>
                <a:cubicBezTo>
                  <a:pt x="3663" y="110381"/>
                  <a:pt x="11720" y="98066"/>
                  <a:pt x="23441" y="91977"/>
                </a:cubicBezTo>
                <a:cubicBezTo>
                  <a:pt x="20190" y="86483"/>
                  <a:pt x="18313" y="80073"/>
                  <a:pt x="18313" y="73252"/>
                </a:cubicBezTo>
                <a:cubicBezTo>
                  <a:pt x="18313" y="53016"/>
                  <a:pt x="34703" y="36626"/>
                  <a:pt x="54939" y="36626"/>
                </a:cubicBezTo>
                <a:lnTo>
                  <a:pt x="54939" y="25638"/>
                </a:lnTo>
                <a:close/>
                <a:moveTo>
                  <a:pt x="179466" y="25638"/>
                </a:moveTo>
                <a:lnTo>
                  <a:pt x="179466" y="36626"/>
                </a:lnTo>
                <a:cubicBezTo>
                  <a:pt x="199702" y="36626"/>
                  <a:pt x="216092" y="53016"/>
                  <a:pt x="216092" y="73252"/>
                </a:cubicBezTo>
                <a:cubicBezTo>
                  <a:pt x="216092" y="80119"/>
                  <a:pt x="214215" y="86528"/>
                  <a:pt x="210965" y="91977"/>
                </a:cubicBezTo>
                <a:cubicBezTo>
                  <a:pt x="222731" y="98066"/>
                  <a:pt x="230743" y="110335"/>
                  <a:pt x="230743" y="124528"/>
                </a:cubicBezTo>
                <a:cubicBezTo>
                  <a:pt x="230743" y="136523"/>
                  <a:pt x="224974" y="147144"/>
                  <a:pt x="216092" y="153828"/>
                </a:cubicBezTo>
                <a:cubicBezTo>
                  <a:pt x="220671" y="159963"/>
                  <a:pt x="223417" y="167563"/>
                  <a:pt x="223417" y="175804"/>
                </a:cubicBezTo>
                <a:cubicBezTo>
                  <a:pt x="223417" y="196040"/>
                  <a:pt x="207027" y="212430"/>
                  <a:pt x="186792" y="212430"/>
                </a:cubicBezTo>
                <a:cubicBezTo>
                  <a:pt x="186471" y="212430"/>
                  <a:pt x="186196" y="212430"/>
                  <a:pt x="185876" y="212430"/>
                </a:cubicBezTo>
                <a:cubicBezTo>
                  <a:pt x="182625" y="225066"/>
                  <a:pt x="171134" y="234405"/>
                  <a:pt x="157491" y="234405"/>
                </a:cubicBezTo>
                <a:lnTo>
                  <a:pt x="142841" y="234405"/>
                </a:lnTo>
                <a:cubicBezTo>
                  <a:pt x="134737" y="234405"/>
                  <a:pt x="128190" y="227858"/>
                  <a:pt x="128190" y="219755"/>
                </a:cubicBezTo>
                <a:lnTo>
                  <a:pt x="128190" y="14650"/>
                </a:lnTo>
                <a:cubicBezTo>
                  <a:pt x="128190" y="6547"/>
                  <a:pt x="134737" y="0"/>
                  <a:pt x="142841" y="0"/>
                </a:cubicBezTo>
                <a:lnTo>
                  <a:pt x="153828" y="0"/>
                </a:lnTo>
                <a:cubicBezTo>
                  <a:pt x="167975" y="0"/>
                  <a:pt x="179466" y="11491"/>
                  <a:pt x="179466" y="25638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949341" y="6282059"/>
            <a:ext cx="14767527" cy="328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46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认知深化的四个维度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56335" y="6750870"/>
            <a:ext cx="3598120" cy="1500193"/>
          </a:xfrm>
          <a:custGeom>
            <a:avLst/>
            <a:gdLst/>
            <a:ahLst/>
            <a:cxnLst/>
            <a:rect l="l" t="t" r="r" b="b"/>
            <a:pathLst>
              <a:path w="3598120" h="1500193">
                <a:moveTo>
                  <a:pt x="93762" y="0"/>
                </a:moveTo>
                <a:lnTo>
                  <a:pt x="3504358" y="0"/>
                </a:lnTo>
                <a:cubicBezTo>
                  <a:pt x="3556106" y="0"/>
                  <a:pt x="3598120" y="42013"/>
                  <a:pt x="3598120" y="93762"/>
                </a:cubicBezTo>
                <a:lnTo>
                  <a:pt x="3598120" y="1406431"/>
                </a:lnTo>
                <a:cubicBezTo>
                  <a:pt x="3598120" y="1458180"/>
                  <a:pt x="3556106" y="1500193"/>
                  <a:pt x="3504358" y="1500193"/>
                </a:cubicBezTo>
                <a:lnTo>
                  <a:pt x="93762" y="1500193"/>
                </a:lnTo>
                <a:cubicBezTo>
                  <a:pt x="42013" y="1500193"/>
                  <a:pt x="0" y="1458180"/>
                  <a:pt x="0" y="1406431"/>
                </a:cubicBezTo>
                <a:lnTo>
                  <a:pt x="0" y="93762"/>
                </a:lnTo>
                <a:cubicBezTo>
                  <a:pt x="0" y="42013"/>
                  <a:pt x="42013" y="0"/>
                  <a:pt x="9376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2172094" y="6891513"/>
            <a:ext cx="562572" cy="562572"/>
          </a:xfrm>
          <a:custGeom>
            <a:avLst/>
            <a:gdLst/>
            <a:ahLst/>
            <a:cxnLst/>
            <a:rect l="l" t="t" r="r" b="b"/>
            <a:pathLst>
              <a:path w="562572" h="562572">
                <a:moveTo>
                  <a:pt x="93764" y="0"/>
                </a:moveTo>
                <a:lnTo>
                  <a:pt x="468809" y="0"/>
                </a:lnTo>
                <a:cubicBezTo>
                  <a:pt x="520593" y="0"/>
                  <a:pt x="562572" y="41980"/>
                  <a:pt x="562572" y="93764"/>
                </a:cubicBezTo>
                <a:lnTo>
                  <a:pt x="562572" y="468809"/>
                </a:lnTo>
                <a:cubicBezTo>
                  <a:pt x="562572" y="520593"/>
                  <a:pt x="520593" y="562572"/>
                  <a:pt x="468809" y="562572"/>
                </a:cubicBezTo>
                <a:lnTo>
                  <a:pt x="93764" y="562572"/>
                </a:lnTo>
                <a:cubicBezTo>
                  <a:pt x="41980" y="562572"/>
                  <a:pt x="0" y="520593"/>
                  <a:pt x="0" y="468809"/>
                </a:cubicBezTo>
                <a:lnTo>
                  <a:pt x="0" y="93764"/>
                </a:lnTo>
                <a:cubicBezTo>
                  <a:pt x="0" y="41980"/>
                  <a:pt x="41980" y="0"/>
                  <a:pt x="93764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2350828" y="7055596"/>
            <a:ext cx="205105" cy="234405"/>
          </a:xfrm>
          <a:custGeom>
            <a:avLst/>
            <a:gdLst/>
            <a:ahLst/>
            <a:cxnLst/>
            <a:rect l="l" t="t" r="r" b="b"/>
            <a:pathLst>
              <a:path w="205105" h="234405">
                <a:moveTo>
                  <a:pt x="205105" y="94220"/>
                </a:moveTo>
                <a:cubicBezTo>
                  <a:pt x="198329" y="98707"/>
                  <a:pt x="190546" y="102323"/>
                  <a:pt x="182442" y="105208"/>
                </a:cubicBezTo>
                <a:cubicBezTo>
                  <a:pt x="160925" y="112899"/>
                  <a:pt x="132677" y="117203"/>
                  <a:pt x="102552" y="117203"/>
                </a:cubicBezTo>
                <a:cubicBezTo>
                  <a:pt x="72428" y="117203"/>
                  <a:pt x="44134" y="112853"/>
                  <a:pt x="22662" y="105208"/>
                </a:cubicBezTo>
                <a:cubicBezTo>
                  <a:pt x="14605" y="102323"/>
                  <a:pt x="6776" y="98707"/>
                  <a:pt x="0" y="94220"/>
                </a:cubicBezTo>
                <a:lnTo>
                  <a:pt x="0" y="131853"/>
                </a:lnTo>
                <a:cubicBezTo>
                  <a:pt x="0" y="152089"/>
                  <a:pt x="45920" y="168479"/>
                  <a:pt x="102552" y="168479"/>
                </a:cubicBezTo>
                <a:cubicBezTo>
                  <a:pt x="159185" y="168479"/>
                  <a:pt x="205105" y="152089"/>
                  <a:pt x="205105" y="131853"/>
                </a:cubicBezTo>
                <a:lnTo>
                  <a:pt x="205105" y="94220"/>
                </a:lnTo>
                <a:close/>
                <a:moveTo>
                  <a:pt x="205105" y="58601"/>
                </a:moveTo>
                <a:lnTo>
                  <a:pt x="205105" y="36626"/>
                </a:lnTo>
                <a:cubicBezTo>
                  <a:pt x="205105" y="16390"/>
                  <a:pt x="159185" y="0"/>
                  <a:pt x="102552" y="0"/>
                </a:cubicBezTo>
                <a:cubicBezTo>
                  <a:pt x="45920" y="0"/>
                  <a:pt x="0" y="16390"/>
                  <a:pt x="0" y="36626"/>
                </a:cubicBezTo>
                <a:lnTo>
                  <a:pt x="0" y="58601"/>
                </a:lnTo>
                <a:cubicBezTo>
                  <a:pt x="0" y="78837"/>
                  <a:pt x="45920" y="95227"/>
                  <a:pt x="102552" y="95227"/>
                </a:cubicBezTo>
                <a:cubicBezTo>
                  <a:pt x="159185" y="95227"/>
                  <a:pt x="205105" y="78837"/>
                  <a:pt x="205105" y="58601"/>
                </a:cubicBezTo>
                <a:close/>
                <a:moveTo>
                  <a:pt x="182442" y="178459"/>
                </a:moveTo>
                <a:cubicBezTo>
                  <a:pt x="160970" y="186105"/>
                  <a:pt x="132723" y="190454"/>
                  <a:pt x="102552" y="190454"/>
                </a:cubicBezTo>
                <a:cubicBezTo>
                  <a:pt x="72382" y="190454"/>
                  <a:pt x="44134" y="186105"/>
                  <a:pt x="22662" y="178459"/>
                </a:cubicBezTo>
                <a:cubicBezTo>
                  <a:pt x="14605" y="175575"/>
                  <a:pt x="6776" y="171958"/>
                  <a:pt x="0" y="167472"/>
                </a:cubicBezTo>
                <a:lnTo>
                  <a:pt x="0" y="197779"/>
                </a:lnTo>
                <a:cubicBezTo>
                  <a:pt x="0" y="218015"/>
                  <a:pt x="45920" y="234405"/>
                  <a:pt x="102552" y="234405"/>
                </a:cubicBezTo>
                <a:cubicBezTo>
                  <a:pt x="159185" y="234405"/>
                  <a:pt x="205105" y="218015"/>
                  <a:pt x="205105" y="197779"/>
                </a:cubicBezTo>
                <a:lnTo>
                  <a:pt x="205105" y="167472"/>
                </a:lnTo>
                <a:cubicBezTo>
                  <a:pt x="198329" y="171958"/>
                  <a:pt x="190546" y="175575"/>
                  <a:pt x="182442" y="178459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750097" y="7547847"/>
            <a:ext cx="3410596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77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数据视角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55957" y="7876014"/>
            <a:ext cx="3398875" cy="234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92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从数据持久化为中心转向数据流动为中心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4438041" y="6750870"/>
            <a:ext cx="3598120" cy="1500193"/>
          </a:xfrm>
          <a:custGeom>
            <a:avLst/>
            <a:gdLst/>
            <a:ahLst/>
            <a:cxnLst/>
            <a:rect l="l" t="t" r="r" b="b"/>
            <a:pathLst>
              <a:path w="3598120" h="1500193">
                <a:moveTo>
                  <a:pt x="93762" y="0"/>
                </a:moveTo>
                <a:lnTo>
                  <a:pt x="3504358" y="0"/>
                </a:lnTo>
                <a:cubicBezTo>
                  <a:pt x="3556106" y="0"/>
                  <a:pt x="3598120" y="42013"/>
                  <a:pt x="3598120" y="93762"/>
                </a:cubicBezTo>
                <a:lnTo>
                  <a:pt x="3598120" y="1406431"/>
                </a:lnTo>
                <a:cubicBezTo>
                  <a:pt x="3598120" y="1458180"/>
                  <a:pt x="3556106" y="1500193"/>
                  <a:pt x="3504358" y="1500193"/>
                </a:cubicBezTo>
                <a:lnTo>
                  <a:pt x="93762" y="1500193"/>
                </a:lnTo>
                <a:cubicBezTo>
                  <a:pt x="42013" y="1500193"/>
                  <a:pt x="0" y="1458180"/>
                  <a:pt x="0" y="1406431"/>
                </a:cubicBezTo>
                <a:lnTo>
                  <a:pt x="0" y="93762"/>
                </a:lnTo>
                <a:cubicBezTo>
                  <a:pt x="0" y="42013"/>
                  <a:pt x="42013" y="0"/>
                  <a:pt x="9376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5953800" y="6891513"/>
            <a:ext cx="562572" cy="562572"/>
          </a:xfrm>
          <a:custGeom>
            <a:avLst/>
            <a:gdLst/>
            <a:ahLst/>
            <a:cxnLst/>
            <a:rect l="l" t="t" r="r" b="b"/>
            <a:pathLst>
              <a:path w="562572" h="562572">
                <a:moveTo>
                  <a:pt x="93764" y="0"/>
                </a:moveTo>
                <a:lnTo>
                  <a:pt x="468809" y="0"/>
                </a:lnTo>
                <a:cubicBezTo>
                  <a:pt x="520593" y="0"/>
                  <a:pt x="562572" y="41980"/>
                  <a:pt x="562572" y="93764"/>
                </a:cubicBezTo>
                <a:lnTo>
                  <a:pt x="562572" y="468809"/>
                </a:lnTo>
                <a:cubicBezTo>
                  <a:pt x="562572" y="520593"/>
                  <a:pt x="520593" y="562572"/>
                  <a:pt x="468809" y="562572"/>
                </a:cubicBezTo>
                <a:lnTo>
                  <a:pt x="93764" y="562572"/>
                </a:lnTo>
                <a:cubicBezTo>
                  <a:pt x="41980" y="562572"/>
                  <a:pt x="0" y="520593"/>
                  <a:pt x="0" y="468809"/>
                </a:cubicBezTo>
                <a:lnTo>
                  <a:pt x="0" y="93764"/>
                </a:lnTo>
                <a:cubicBezTo>
                  <a:pt x="0" y="41980"/>
                  <a:pt x="41980" y="0"/>
                  <a:pt x="93764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>
            <a:off x="6117884" y="7055596"/>
            <a:ext cx="234405" cy="234405"/>
          </a:xfrm>
          <a:custGeom>
            <a:avLst/>
            <a:gdLst/>
            <a:ahLst/>
            <a:cxnLst/>
            <a:rect l="l" t="t" r="r" b="b"/>
            <a:pathLst>
              <a:path w="234405" h="234405">
                <a:moveTo>
                  <a:pt x="117203" y="234405"/>
                </a:moveTo>
                <a:cubicBezTo>
                  <a:pt x="181888" y="234405"/>
                  <a:pt x="234405" y="181888"/>
                  <a:pt x="234405" y="117203"/>
                </a:cubicBezTo>
                <a:cubicBezTo>
                  <a:pt x="234405" y="52517"/>
                  <a:pt x="181888" y="0"/>
                  <a:pt x="117203" y="0"/>
                </a:cubicBezTo>
                <a:cubicBezTo>
                  <a:pt x="52517" y="0"/>
                  <a:pt x="0" y="52517"/>
                  <a:pt x="0" y="117203"/>
                </a:cubicBezTo>
                <a:cubicBezTo>
                  <a:pt x="0" y="181888"/>
                  <a:pt x="52517" y="234405"/>
                  <a:pt x="117203" y="234405"/>
                </a:cubicBezTo>
                <a:close/>
                <a:moveTo>
                  <a:pt x="155843" y="97379"/>
                </a:moveTo>
                <a:lnTo>
                  <a:pt x="119217" y="155980"/>
                </a:lnTo>
                <a:cubicBezTo>
                  <a:pt x="117294" y="159048"/>
                  <a:pt x="113998" y="160970"/>
                  <a:pt x="110381" y="161154"/>
                </a:cubicBezTo>
                <a:cubicBezTo>
                  <a:pt x="106764" y="161337"/>
                  <a:pt x="103285" y="159689"/>
                  <a:pt x="101133" y="156758"/>
                </a:cubicBezTo>
                <a:lnTo>
                  <a:pt x="79158" y="127458"/>
                </a:lnTo>
                <a:cubicBezTo>
                  <a:pt x="75495" y="122605"/>
                  <a:pt x="76502" y="115738"/>
                  <a:pt x="81355" y="112075"/>
                </a:cubicBezTo>
                <a:cubicBezTo>
                  <a:pt x="86208" y="108412"/>
                  <a:pt x="93075" y="109420"/>
                  <a:pt x="96738" y="114273"/>
                </a:cubicBezTo>
                <a:lnTo>
                  <a:pt x="109099" y="130754"/>
                </a:lnTo>
                <a:lnTo>
                  <a:pt x="137209" y="85750"/>
                </a:lnTo>
                <a:cubicBezTo>
                  <a:pt x="140414" y="80623"/>
                  <a:pt x="147190" y="79020"/>
                  <a:pt x="152363" y="82271"/>
                </a:cubicBezTo>
                <a:cubicBezTo>
                  <a:pt x="157537" y="85521"/>
                  <a:pt x="159093" y="92251"/>
                  <a:pt x="155843" y="97425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4531803" y="7547847"/>
            <a:ext cx="3410596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77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正确性范式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4537663" y="7876014"/>
            <a:ext cx="3398875" cy="234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92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从结果正确性优先转向时效性与正确性平衡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219748" y="6750870"/>
            <a:ext cx="3598120" cy="1500193"/>
          </a:xfrm>
          <a:custGeom>
            <a:avLst/>
            <a:gdLst/>
            <a:ahLst/>
            <a:cxnLst/>
            <a:rect l="l" t="t" r="r" b="b"/>
            <a:pathLst>
              <a:path w="3598120" h="1500193">
                <a:moveTo>
                  <a:pt x="93762" y="0"/>
                </a:moveTo>
                <a:lnTo>
                  <a:pt x="3504358" y="0"/>
                </a:lnTo>
                <a:cubicBezTo>
                  <a:pt x="3556106" y="0"/>
                  <a:pt x="3598120" y="42013"/>
                  <a:pt x="3598120" y="93762"/>
                </a:cubicBezTo>
                <a:lnTo>
                  <a:pt x="3598120" y="1406431"/>
                </a:lnTo>
                <a:cubicBezTo>
                  <a:pt x="3598120" y="1458180"/>
                  <a:pt x="3556106" y="1500193"/>
                  <a:pt x="3504358" y="1500193"/>
                </a:cubicBezTo>
                <a:lnTo>
                  <a:pt x="93762" y="1500193"/>
                </a:lnTo>
                <a:cubicBezTo>
                  <a:pt x="42013" y="1500193"/>
                  <a:pt x="0" y="1458180"/>
                  <a:pt x="0" y="1406431"/>
                </a:cubicBezTo>
                <a:lnTo>
                  <a:pt x="0" y="93762"/>
                </a:lnTo>
                <a:cubicBezTo>
                  <a:pt x="0" y="42013"/>
                  <a:pt x="42013" y="0"/>
                  <a:pt x="9376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60"/>
          <p:cNvSpPr/>
          <p:nvPr/>
        </p:nvSpPr>
        <p:spPr>
          <a:xfrm>
            <a:off x="9735507" y="6891513"/>
            <a:ext cx="562572" cy="562572"/>
          </a:xfrm>
          <a:custGeom>
            <a:avLst/>
            <a:gdLst/>
            <a:ahLst/>
            <a:cxnLst/>
            <a:rect l="l" t="t" r="r" b="b"/>
            <a:pathLst>
              <a:path w="562572" h="562572">
                <a:moveTo>
                  <a:pt x="93764" y="0"/>
                </a:moveTo>
                <a:lnTo>
                  <a:pt x="468809" y="0"/>
                </a:lnTo>
                <a:cubicBezTo>
                  <a:pt x="520593" y="0"/>
                  <a:pt x="562572" y="41980"/>
                  <a:pt x="562572" y="93764"/>
                </a:cubicBezTo>
                <a:lnTo>
                  <a:pt x="562572" y="468809"/>
                </a:lnTo>
                <a:cubicBezTo>
                  <a:pt x="562572" y="520593"/>
                  <a:pt x="520593" y="562572"/>
                  <a:pt x="468809" y="562572"/>
                </a:cubicBezTo>
                <a:lnTo>
                  <a:pt x="93764" y="562572"/>
                </a:lnTo>
                <a:cubicBezTo>
                  <a:pt x="41980" y="562572"/>
                  <a:pt x="0" y="520593"/>
                  <a:pt x="0" y="468809"/>
                </a:cubicBezTo>
                <a:lnTo>
                  <a:pt x="0" y="93764"/>
                </a:lnTo>
                <a:cubicBezTo>
                  <a:pt x="0" y="41980"/>
                  <a:pt x="41980" y="0"/>
                  <a:pt x="93764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Shape 61"/>
          <p:cNvSpPr/>
          <p:nvPr/>
        </p:nvSpPr>
        <p:spPr>
          <a:xfrm>
            <a:off x="9899590" y="7055596"/>
            <a:ext cx="234405" cy="234405"/>
          </a:xfrm>
          <a:custGeom>
            <a:avLst/>
            <a:gdLst/>
            <a:ahLst/>
            <a:cxnLst/>
            <a:rect l="l" t="t" r="r" b="b"/>
            <a:pathLst>
              <a:path w="234405" h="234405">
                <a:moveTo>
                  <a:pt x="117203" y="0"/>
                </a:moveTo>
                <a:cubicBezTo>
                  <a:pt x="119309" y="0"/>
                  <a:pt x="121415" y="458"/>
                  <a:pt x="123337" y="1328"/>
                </a:cubicBezTo>
                <a:lnTo>
                  <a:pt x="209591" y="37908"/>
                </a:lnTo>
                <a:cubicBezTo>
                  <a:pt x="219663" y="42165"/>
                  <a:pt x="227172" y="52100"/>
                  <a:pt x="227126" y="64095"/>
                </a:cubicBezTo>
                <a:cubicBezTo>
                  <a:pt x="226897" y="109511"/>
                  <a:pt x="208218" y="192606"/>
                  <a:pt x="129335" y="230376"/>
                </a:cubicBezTo>
                <a:cubicBezTo>
                  <a:pt x="121689" y="234039"/>
                  <a:pt x="112807" y="234039"/>
                  <a:pt x="105162" y="230376"/>
                </a:cubicBezTo>
                <a:cubicBezTo>
                  <a:pt x="26233" y="192606"/>
                  <a:pt x="7600" y="109511"/>
                  <a:pt x="7371" y="64095"/>
                </a:cubicBezTo>
                <a:cubicBezTo>
                  <a:pt x="7325" y="52100"/>
                  <a:pt x="14833" y="42165"/>
                  <a:pt x="24906" y="37908"/>
                </a:cubicBezTo>
                <a:lnTo>
                  <a:pt x="111114" y="1328"/>
                </a:lnTo>
                <a:cubicBezTo>
                  <a:pt x="113036" y="458"/>
                  <a:pt x="115097" y="0"/>
                  <a:pt x="117203" y="0"/>
                </a:cubicBezTo>
                <a:close/>
                <a:moveTo>
                  <a:pt x="117203" y="30583"/>
                </a:moveTo>
                <a:lnTo>
                  <a:pt x="117203" y="203685"/>
                </a:lnTo>
                <a:cubicBezTo>
                  <a:pt x="180382" y="173103"/>
                  <a:pt x="197367" y="105345"/>
                  <a:pt x="197779" y="64782"/>
                </a:cubicBezTo>
                <a:lnTo>
                  <a:pt x="117203" y="30628"/>
                </a:lnTo>
                <a:lnTo>
                  <a:pt x="117203" y="30628"/>
                </a:ln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/>
          <p:nvPr/>
        </p:nvSpPr>
        <p:spPr>
          <a:xfrm>
            <a:off x="8313510" y="7547847"/>
            <a:ext cx="3410596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77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系统韧性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319370" y="7876014"/>
            <a:ext cx="3398875" cy="234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92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从静态稳定性追求转向动态弹性容错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12001454" y="6750870"/>
            <a:ext cx="3598120" cy="1500193"/>
          </a:xfrm>
          <a:custGeom>
            <a:avLst/>
            <a:gdLst/>
            <a:ahLst/>
            <a:cxnLst/>
            <a:rect l="l" t="t" r="r" b="b"/>
            <a:pathLst>
              <a:path w="3598120" h="1500193">
                <a:moveTo>
                  <a:pt x="93762" y="0"/>
                </a:moveTo>
                <a:lnTo>
                  <a:pt x="3504358" y="0"/>
                </a:lnTo>
                <a:cubicBezTo>
                  <a:pt x="3556106" y="0"/>
                  <a:pt x="3598120" y="42013"/>
                  <a:pt x="3598120" y="93762"/>
                </a:cubicBezTo>
                <a:lnTo>
                  <a:pt x="3598120" y="1406431"/>
                </a:lnTo>
                <a:cubicBezTo>
                  <a:pt x="3598120" y="1458180"/>
                  <a:pt x="3556106" y="1500193"/>
                  <a:pt x="3504358" y="1500193"/>
                </a:cubicBezTo>
                <a:lnTo>
                  <a:pt x="93762" y="1500193"/>
                </a:lnTo>
                <a:cubicBezTo>
                  <a:pt x="42013" y="1500193"/>
                  <a:pt x="0" y="1458180"/>
                  <a:pt x="0" y="1406431"/>
                </a:cubicBezTo>
                <a:lnTo>
                  <a:pt x="0" y="93762"/>
                </a:lnTo>
                <a:cubicBezTo>
                  <a:pt x="0" y="42013"/>
                  <a:pt x="42013" y="0"/>
                  <a:pt x="9376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7" name="Shape 65"/>
          <p:cNvSpPr/>
          <p:nvPr/>
        </p:nvSpPr>
        <p:spPr>
          <a:xfrm>
            <a:off x="13517305" y="6891513"/>
            <a:ext cx="562572" cy="562572"/>
          </a:xfrm>
          <a:custGeom>
            <a:avLst/>
            <a:gdLst/>
            <a:ahLst/>
            <a:cxnLst/>
            <a:rect l="l" t="t" r="r" b="b"/>
            <a:pathLst>
              <a:path w="562572" h="562572">
                <a:moveTo>
                  <a:pt x="93764" y="0"/>
                </a:moveTo>
                <a:lnTo>
                  <a:pt x="468809" y="0"/>
                </a:lnTo>
                <a:cubicBezTo>
                  <a:pt x="520593" y="0"/>
                  <a:pt x="562572" y="41980"/>
                  <a:pt x="562572" y="93764"/>
                </a:cubicBezTo>
                <a:lnTo>
                  <a:pt x="562572" y="468809"/>
                </a:lnTo>
                <a:cubicBezTo>
                  <a:pt x="562572" y="520593"/>
                  <a:pt x="520593" y="562572"/>
                  <a:pt x="468809" y="562572"/>
                </a:cubicBezTo>
                <a:lnTo>
                  <a:pt x="93764" y="562572"/>
                </a:lnTo>
                <a:cubicBezTo>
                  <a:pt x="41980" y="562572"/>
                  <a:pt x="0" y="520593"/>
                  <a:pt x="0" y="468809"/>
                </a:cubicBezTo>
                <a:lnTo>
                  <a:pt x="0" y="93764"/>
                </a:lnTo>
                <a:cubicBezTo>
                  <a:pt x="0" y="41980"/>
                  <a:pt x="41980" y="0"/>
                  <a:pt x="93764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8" name="Shape 66"/>
          <p:cNvSpPr/>
          <p:nvPr/>
        </p:nvSpPr>
        <p:spPr>
          <a:xfrm>
            <a:off x="13681389" y="7055596"/>
            <a:ext cx="234405" cy="234405"/>
          </a:xfrm>
          <a:custGeom>
            <a:avLst/>
            <a:gdLst/>
            <a:ahLst/>
            <a:cxnLst/>
            <a:rect l="l" t="t" r="r" b="b"/>
            <a:pathLst>
              <a:path w="234405" h="234405">
                <a:moveTo>
                  <a:pt x="0" y="117203"/>
                </a:moveTo>
                <a:cubicBezTo>
                  <a:pt x="0" y="52517"/>
                  <a:pt x="52517" y="0"/>
                  <a:pt x="117203" y="0"/>
                </a:cubicBezTo>
                <a:cubicBezTo>
                  <a:pt x="181888" y="0"/>
                  <a:pt x="234405" y="52517"/>
                  <a:pt x="234405" y="117203"/>
                </a:cubicBezTo>
                <a:cubicBezTo>
                  <a:pt x="234405" y="181888"/>
                  <a:pt x="181888" y="234405"/>
                  <a:pt x="117203" y="234405"/>
                </a:cubicBezTo>
                <a:cubicBezTo>
                  <a:pt x="52517" y="234405"/>
                  <a:pt x="0" y="181888"/>
                  <a:pt x="0" y="117203"/>
                </a:cubicBezTo>
                <a:close/>
                <a:moveTo>
                  <a:pt x="131853" y="43951"/>
                </a:moveTo>
                <a:cubicBezTo>
                  <a:pt x="131853" y="35865"/>
                  <a:pt x="125288" y="29301"/>
                  <a:pt x="117203" y="29301"/>
                </a:cubicBezTo>
                <a:cubicBezTo>
                  <a:pt x="109117" y="29301"/>
                  <a:pt x="102552" y="35865"/>
                  <a:pt x="102552" y="43951"/>
                </a:cubicBezTo>
                <a:cubicBezTo>
                  <a:pt x="102552" y="52037"/>
                  <a:pt x="109117" y="58601"/>
                  <a:pt x="117203" y="58601"/>
                </a:cubicBezTo>
                <a:cubicBezTo>
                  <a:pt x="125288" y="58601"/>
                  <a:pt x="131853" y="52037"/>
                  <a:pt x="131853" y="43951"/>
                </a:cubicBezTo>
                <a:close/>
                <a:moveTo>
                  <a:pt x="117203" y="190454"/>
                </a:moveTo>
                <a:cubicBezTo>
                  <a:pt x="133364" y="190454"/>
                  <a:pt x="146503" y="177315"/>
                  <a:pt x="146503" y="161154"/>
                </a:cubicBezTo>
                <a:cubicBezTo>
                  <a:pt x="146503" y="153737"/>
                  <a:pt x="143756" y="146915"/>
                  <a:pt x="139178" y="141788"/>
                </a:cubicBezTo>
                <a:lnTo>
                  <a:pt x="170997" y="78196"/>
                </a:lnTo>
                <a:cubicBezTo>
                  <a:pt x="173698" y="72748"/>
                  <a:pt x="171500" y="66155"/>
                  <a:pt x="166098" y="63454"/>
                </a:cubicBezTo>
                <a:cubicBezTo>
                  <a:pt x="160696" y="60753"/>
                  <a:pt x="154057" y="62951"/>
                  <a:pt x="151356" y="68353"/>
                </a:cubicBezTo>
                <a:lnTo>
                  <a:pt x="119537" y="131944"/>
                </a:lnTo>
                <a:cubicBezTo>
                  <a:pt x="118759" y="131899"/>
                  <a:pt x="117981" y="131853"/>
                  <a:pt x="117203" y="131853"/>
                </a:cubicBezTo>
                <a:cubicBezTo>
                  <a:pt x="101041" y="131853"/>
                  <a:pt x="87902" y="144992"/>
                  <a:pt x="87902" y="161154"/>
                </a:cubicBezTo>
                <a:cubicBezTo>
                  <a:pt x="87902" y="177315"/>
                  <a:pt x="101041" y="190454"/>
                  <a:pt x="117203" y="190454"/>
                </a:cubicBezTo>
                <a:close/>
                <a:moveTo>
                  <a:pt x="80577" y="65926"/>
                </a:moveTo>
                <a:cubicBezTo>
                  <a:pt x="80577" y="57841"/>
                  <a:pt x="74012" y="51276"/>
                  <a:pt x="65926" y="51276"/>
                </a:cubicBezTo>
                <a:cubicBezTo>
                  <a:pt x="57841" y="51276"/>
                  <a:pt x="51276" y="57841"/>
                  <a:pt x="51276" y="65926"/>
                </a:cubicBezTo>
                <a:cubicBezTo>
                  <a:pt x="51276" y="74012"/>
                  <a:pt x="57841" y="80577"/>
                  <a:pt x="65926" y="80577"/>
                </a:cubicBezTo>
                <a:cubicBezTo>
                  <a:pt x="74012" y="80577"/>
                  <a:pt x="80577" y="74012"/>
                  <a:pt x="80577" y="65926"/>
                </a:cubicBezTo>
                <a:close/>
                <a:moveTo>
                  <a:pt x="43951" y="131853"/>
                </a:moveTo>
                <a:cubicBezTo>
                  <a:pt x="52037" y="131853"/>
                  <a:pt x="58601" y="125288"/>
                  <a:pt x="58601" y="117203"/>
                </a:cubicBezTo>
                <a:cubicBezTo>
                  <a:pt x="58601" y="109117"/>
                  <a:pt x="52037" y="102552"/>
                  <a:pt x="43951" y="102552"/>
                </a:cubicBezTo>
                <a:cubicBezTo>
                  <a:pt x="35865" y="102552"/>
                  <a:pt x="29301" y="109117"/>
                  <a:pt x="29301" y="117203"/>
                </a:cubicBezTo>
                <a:cubicBezTo>
                  <a:pt x="29301" y="125288"/>
                  <a:pt x="35865" y="131853"/>
                  <a:pt x="43951" y="131853"/>
                </a:cubicBezTo>
                <a:close/>
                <a:moveTo>
                  <a:pt x="205105" y="117203"/>
                </a:moveTo>
                <a:cubicBezTo>
                  <a:pt x="205105" y="109117"/>
                  <a:pt x="198540" y="102552"/>
                  <a:pt x="190454" y="102552"/>
                </a:cubicBezTo>
                <a:cubicBezTo>
                  <a:pt x="182368" y="102552"/>
                  <a:pt x="175804" y="109117"/>
                  <a:pt x="175804" y="117203"/>
                </a:cubicBezTo>
                <a:cubicBezTo>
                  <a:pt x="175804" y="125288"/>
                  <a:pt x="182368" y="131853"/>
                  <a:pt x="190454" y="131853"/>
                </a:cubicBezTo>
                <a:cubicBezTo>
                  <a:pt x="198540" y="131853"/>
                  <a:pt x="205105" y="125288"/>
                  <a:pt x="205105" y="117203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9" name="Text 67"/>
          <p:cNvSpPr/>
          <p:nvPr/>
        </p:nvSpPr>
        <p:spPr>
          <a:xfrm>
            <a:off x="12095216" y="7547847"/>
            <a:ext cx="3410596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77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性能优化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12101076" y="7876014"/>
            <a:ext cx="3398875" cy="234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92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从资源利用率优化转向实时响应性能优化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3850" y="443850"/>
            <a:ext cx="443850" cy="443850"/>
          </a:xfrm>
          <a:custGeom>
            <a:avLst/>
            <a:gdLst/>
            <a:ahLst/>
            <a:cxnLst/>
            <a:rect l="l" t="t" r="r" b="b"/>
            <a:pathLst>
              <a:path w="443850" h="443850">
                <a:moveTo>
                  <a:pt x="88770" y="0"/>
                </a:moveTo>
                <a:lnTo>
                  <a:pt x="355080" y="0"/>
                </a:lnTo>
                <a:cubicBezTo>
                  <a:pt x="404106" y="0"/>
                  <a:pt x="443850" y="39744"/>
                  <a:pt x="443850" y="88770"/>
                </a:cubicBezTo>
                <a:lnTo>
                  <a:pt x="443850" y="355080"/>
                </a:lnTo>
                <a:cubicBezTo>
                  <a:pt x="443850" y="404106"/>
                  <a:pt x="404106" y="443850"/>
                  <a:pt x="355080" y="443850"/>
                </a:cubicBezTo>
                <a:lnTo>
                  <a:pt x="88770" y="443850"/>
                </a:lnTo>
                <a:cubicBezTo>
                  <a:pt x="39744" y="443850"/>
                  <a:pt x="0" y="404106"/>
                  <a:pt x="0" y="355080"/>
                </a:cubicBezTo>
                <a:lnTo>
                  <a:pt x="0" y="88770"/>
                </a:lnTo>
                <a:cubicBezTo>
                  <a:pt x="0" y="39776"/>
                  <a:pt x="39776" y="0"/>
                  <a:pt x="88770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68683" y="565909"/>
            <a:ext cx="199732" cy="199732"/>
          </a:xfrm>
          <a:custGeom>
            <a:avLst/>
            <a:gdLst/>
            <a:ahLst/>
            <a:cxnLst/>
            <a:rect l="l" t="t" r="r" b="b"/>
            <a:pathLst>
              <a:path w="199732" h="199732">
                <a:moveTo>
                  <a:pt x="46812" y="21846"/>
                </a:moveTo>
                <a:cubicBezTo>
                  <a:pt x="46812" y="9792"/>
                  <a:pt x="56604" y="0"/>
                  <a:pt x="68658" y="0"/>
                </a:cubicBezTo>
                <a:lnTo>
                  <a:pt x="78020" y="0"/>
                </a:lnTo>
                <a:cubicBezTo>
                  <a:pt x="84925" y="0"/>
                  <a:pt x="90504" y="5578"/>
                  <a:pt x="90504" y="12483"/>
                </a:cubicBezTo>
                <a:lnTo>
                  <a:pt x="90504" y="187249"/>
                </a:lnTo>
                <a:cubicBezTo>
                  <a:pt x="90504" y="194154"/>
                  <a:pt x="84925" y="199732"/>
                  <a:pt x="78020" y="199732"/>
                </a:cubicBezTo>
                <a:lnTo>
                  <a:pt x="65537" y="199732"/>
                </a:lnTo>
                <a:cubicBezTo>
                  <a:pt x="53912" y="199732"/>
                  <a:pt x="44121" y="191774"/>
                  <a:pt x="41351" y="181008"/>
                </a:cubicBezTo>
                <a:cubicBezTo>
                  <a:pt x="41078" y="181008"/>
                  <a:pt x="40844" y="181008"/>
                  <a:pt x="40571" y="181008"/>
                </a:cubicBezTo>
                <a:cubicBezTo>
                  <a:pt x="23328" y="181008"/>
                  <a:pt x="9362" y="167042"/>
                  <a:pt x="9362" y="149799"/>
                </a:cubicBezTo>
                <a:cubicBezTo>
                  <a:pt x="9362" y="142777"/>
                  <a:pt x="11703" y="136302"/>
                  <a:pt x="15604" y="131074"/>
                </a:cubicBezTo>
                <a:cubicBezTo>
                  <a:pt x="8036" y="125379"/>
                  <a:pt x="3121" y="116329"/>
                  <a:pt x="3121" y="106108"/>
                </a:cubicBezTo>
                <a:cubicBezTo>
                  <a:pt x="3121" y="94054"/>
                  <a:pt x="9987" y="83560"/>
                  <a:pt x="19973" y="78372"/>
                </a:cubicBezTo>
                <a:cubicBezTo>
                  <a:pt x="17204" y="73690"/>
                  <a:pt x="15604" y="68229"/>
                  <a:pt x="15604" y="62416"/>
                </a:cubicBezTo>
                <a:cubicBezTo>
                  <a:pt x="15604" y="45174"/>
                  <a:pt x="29570" y="31208"/>
                  <a:pt x="46812" y="31208"/>
                </a:cubicBezTo>
                <a:lnTo>
                  <a:pt x="46812" y="21846"/>
                </a:lnTo>
                <a:close/>
                <a:moveTo>
                  <a:pt x="152920" y="21846"/>
                </a:moveTo>
                <a:lnTo>
                  <a:pt x="152920" y="31208"/>
                </a:lnTo>
                <a:cubicBezTo>
                  <a:pt x="170163" y="31208"/>
                  <a:pt x="184128" y="45174"/>
                  <a:pt x="184128" y="62416"/>
                </a:cubicBezTo>
                <a:cubicBezTo>
                  <a:pt x="184128" y="68268"/>
                  <a:pt x="182529" y="73729"/>
                  <a:pt x="179759" y="78372"/>
                </a:cubicBezTo>
                <a:cubicBezTo>
                  <a:pt x="189785" y="83560"/>
                  <a:pt x="196612" y="94015"/>
                  <a:pt x="196612" y="106108"/>
                </a:cubicBezTo>
                <a:cubicBezTo>
                  <a:pt x="196612" y="116329"/>
                  <a:pt x="191696" y="125379"/>
                  <a:pt x="184128" y="131074"/>
                </a:cubicBezTo>
                <a:cubicBezTo>
                  <a:pt x="188029" y="136302"/>
                  <a:pt x="190370" y="142777"/>
                  <a:pt x="190370" y="149799"/>
                </a:cubicBezTo>
                <a:cubicBezTo>
                  <a:pt x="190370" y="167042"/>
                  <a:pt x="176404" y="181008"/>
                  <a:pt x="159162" y="181008"/>
                </a:cubicBezTo>
                <a:cubicBezTo>
                  <a:pt x="158889" y="181008"/>
                  <a:pt x="158655" y="181008"/>
                  <a:pt x="158382" y="181008"/>
                </a:cubicBezTo>
                <a:cubicBezTo>
                  <a:pt x="155612" y="191774"/>
                  <a:pt x="145820" y="199732"/>
                  <a:pt x="134195" y="199732"/>
                </a:cubicBezTo>
                <a:lnTo>
                  <a:pt x="121712" y="199732"/>
                </a:lnTo>
                <a:cubicBezTo>
                  <a:pt x="114807" y="199732"/>
                  <a:pt x="109229" y="194154"/>
                  <a:pt x="109229" y="187249"/>
                </a:cubicBezTo>
                <a:lnTo>
                  <a:pt x="109229" y="12483"/>
                </a:lnTo>
                <a:cubicBezTo>
                  <a:pt x="109229" y="5578"/>
                  <a:pt x="114807" y="0"/>
                  <a:pt x="121712" y="0"/>
                </a:cubicBezTo>
                <a:lnTo>
                  <a:pt x="131074" y="0"/>
                </a:lnTo>
                <a:cubicBezTo>
                  <a:pt x="143129" y="0"/>
                  <a:pt x="152920" y="9792"/>
                  <a:pt x="152920" y="21846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020855" y="443850"/>
            <a:ext cx="4194381" cy="44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145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流式计算核心理论框架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20855" y="976470"/>
            <a:ext cx="14891162" cy="310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3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四大理论支柱：数据流模型、时间语义、窗口机制、状态管理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3850" y="1464704"/>
            <a:ext cx="7589832" cy="3328874"/>
          </a:xfrm>
          <a:custGeom>
            <a:avLst/>
            <a:gdLst/>
            <a:ahLst/>
            <a:cxnLst/>
            <a:rect l="l" t="t" r="r" b="b"/>
            <a:pathLst>
              <a:path w="7589832" h="3328874">
                <a:moveTo>
                  <a:pt x="133155" y="0"/>
                </a:moveTo>
                <a:lnTo>
                  <a:pt x="7456677" y="0"/>
                </a:lnTo>
                <a:cubicBezTo>
                  <a:pt x="7530217" y="0"/>
                  <a:pt x="7589832" y="59616"/>
                  <a:pt x="7589832" y="133155"/>
                </a:cubicBezTo>
                <a:lnTo>
                  <a:pt x="7589832" y="3195719"/>
                </a:lnTo>
                <a:cubicBezTo>
                  <a:pt x="7589832" y="3269258"/>
                  <a:pt x="7530217" y="3328874"/>
                  <a:pt x="7456677" y="3328874"/>
                </a:cubicBezTo>
                <a:lnTo>
                  <a:pt x="133155" y="3328874"/>
                </a:lnTo>
                <a:cubicBezTo>
                  <a:pt x="59616" y="3328874"/>
                  <a:pt x="0" y="3269258"/>
                  <a:pt x="0" y="3195719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21390" y="1642244"/>
            <a:ext cx="532620" cy="532620"/>
          </a:xfrm>
          <a:custGeom>
            <a:avLst/>
            <a:gdLst/>
            <a:ahLst/>
            <a:cxnLst/>
            <a:rect l="l" t="t" r="r" b="b"/>
            <a:pathLst>
              <a:path w="532620" h="532620">
                <a:moveTo>
                  <a:pt x="88772" y="0"/>
                </a:moveTo>
                <a:lnTo>
                  <a:pt x="443848" y="0"/>
                </a:lnTo>
                <a:cubicBezTo>
                  <a:pt x="492875" y="0"/>
                  <a:pt x="532620" y="39744"/>
                  <a:pt x="532620" y="88772"/>
                </a:cubicBezTo>
                <a:lnTo>
                  <a:pt x="532620" y="443848"/>
                </a:lnTo>
                <a:cubicBezTo>
                  <a:pt x="532620" y="492875"/>
                  <a:pt x="492875" y="532620"/>
                  <a:pt x="443848" y="532620"/>
                </a:cubicBezTo>
                <a:lnTo>
                  <a:pt x="88772" y="532620"/>
                </a:lnTo>
                <a:cubicBezTo>
                  <a:pt x="39744" y="532620"/>
                  <a:pt x="0" y="492875"/>
                  <a:pt x="0" y="443848"/>
                </a:cubicBezTo>
                <a:lnTo>
                  <a:pt x="0" y="88772"/>
                </a:lnTo>
                <a:cubicBezTo>
                  <a:pt x="0" y="39777"/>
                  <a:pt x="39777" y="0"/>
                  <a:pt x="88772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74483" y="1753207"/>
            <a:ext cx="332887" cy="310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47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7165" y="1731014"/>
            <a:ext cx="1464704" cy="355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97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数据流模型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1390" y="2308019"/>
            <a:ext cx="7234752" cy="710160"/>
          </a:xfrm>
          <a:custGeom>
            <a:avLst/>
            <a:gdLst/>
            <a:ahLst/>
            <a:cxnLst/>
            <a:rect l="l" t="t" r="r" b="b"/>
            <a:pathLst>
              <a:path w="7234752" h="710160">
                <a:moveTo>
                  <a:pt x="88770" y="0"/>
                </a:moveTo>
                <a:lnTo>
                  <a:pt x="7145982" y="0"/>
                </a:lnTo>
                <a:cubicBezTo>
                  <a:pt x="7195009" y="0"/>
                  <a:pt x="7234752" y="39744"/>
                  <a:pt x="7234752" y="88770"/>
                </a:cubicBezTo>
                <a:lnTo>
                  <a:pt x="7234752" y="621390"/>
                </a:lnTo>
                <a:cubicBezTo>
                  <a:pt x="7234752" y="670416"/>
                  <a:pt x="7195009" y="710160"/>
                  <a:pt x="7145982" y="710160"/>
                </a:cubicBezTo>
                <a:lnTo>
                  <a:pt x="88770" y="710160"/>
                </a:lnTo>
                <a:cubicBezTo>
                  <a:pt x="39744" y="710160"/>
                  <a:pt x="0" y="670416"/>
                  <a:pt x="0" y="621390"/>
                </a:cubicBezTo>
                <a:lnTo>
                  <a:pt x="0" y="88770"/>
                </a:lnTo>
                <a:cubicBezTo>
                  <a:pt x="0" y="39776"/>
                  <a:pt x="39776" y="0"/>
                  <a:pt x="8877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10160" y="2396789"/>
            <a:ext cx="7145982" cy="266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8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形式化定义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0160" y="2707484"/>
            <a:ext cx="7134886" cy="22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3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数据流 S = ⟨s₁, s₂, s₃, ...⟩ 无限序列，元素来自域 Σ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390" y="3106949"/>
            <a:ext cx="7234752" cy="710160"/>
          </a:xfrm>
          <a:custGeom>
            <a:avLst/>
            <a:gdLst/>
            <a:ahLst/>
            <a:cxnLst/>
            <a:rect l="l" t="t" r="r" b="b"/>
            <a:pathLst>
              <a:path w="7234752" h="710160">
                <a:moveTo>
                  <a:pt x="88770" y="0"/>
                </a:moveTo>
                <a:lnTo>
                  <a:pt x="7145982" y="0"/>
                </a:lnTo>
                <a:cubicBezTo>
                  <a:pt x="7195009" y="0"/>
                  <a:pt x="7234752" y="39744"/>
                  <a:pt x="7234752" y="88770"/>
                </a:cubicBezTo>
                <a:lnTo>
                  <a:pt x="7234752" y="621390"/>
                </a:lnTo>
                <a:cubicBezTo>
                  <a:pt x="7234752" y="670416"/>
                  <a:pt x="7195009" y="710160"/>
                  <a:pt x="7145982" y="710160"/>
                </a:cubicBezTo>
                <a:lnTo>
                  <a:pt x="88770" y="710160"/>
                </a:lnTo>
                <a:cubicBezTo>
                  <a:pt x="39744" y="710160"/>
                  <a:pt x="0" y="670416"/>
                  <a:pt x="0" y="621390"/>
                </a:cubicBezTo>
                <a:lnTo>
                  <a:pt x="0" y="88770"/>
                </a:lnTo>
                <a:cubicBezTo>
                  <a:pt x="0" y="39776"/>
                  <a:pt x="39776" y="0"/>
                  <a:pt x="8877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710160" y="3195719"/>
            <a:ext cx="7145982" cy="266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8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有界/无界数据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0160" y="3506414"/>
            <a:ext cx="7134886" cy="22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3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有界：∃N, |S| ≤ N；无界：∀N, |S| &gt; 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390" y="3905878"/>
            <a:ext cx="7234752" cy="710160"/>
          </a:xfrm>
          <a:custGeom>
            <a:avLst/>
            <a:gdLst/>
            <a:ahLst/>
            <a:cxnLst/>
            <a:rect l="l" t="t" r="r" b="b"/>
            <a:pathLst>
              <a:path w="7234752" h="710160">
                <a:moveTo>
                  <a:pt x="88770" y="0"/>
                </a:moveTo>
                <a:lnTo>
                  <a:pt x="7145982" y="0"/>
                </a:lnTo>
                <a:cubicBezTo>
                  <a:pt x="7195009" y="0"/>
                  <a:pt x="7234752" y="39744"/>
                  <a:pt x="7234752" y="88770"/>
                </a:cubicBezTo>
                <a:lnTo>
                  <a:pt x="7234752" y="621390"/>
                </a:lnTo>
                <a:cubicBezTo>
                  <a:pt x="7234752" y="670416"/>
                  <a:pt x="7195009" y="710160"/>
                  <a:pt x="7145982" y="710160"/>
                </a:cubicBezTo>
                <a:lnTo>
                  <a:pt x="88770" y="710160"/>
                </a:lnTo>
                <a:cubicBezTo>
                  <a:pt x="39744" y="710160"/>
                  <a:pt x="0" y="670416"/>
                  <a:pt x="0" y="621390"/>
                </a:cubicBezTo>
                <a:lnTo>
                  <a:pt x="0" y="88770"/>
                </a:lnTo>
                <a:cubicBezTo>
                  <a:pt x="0" y="39776"/>
                  <a:pt x="39776" y="0"/>
                  <a:pt x="8877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10160" y="3994648"/>
            <a:ext cx="7145982" cy="266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8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批流一体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0160" y="4305343"/>
            <a:ext cx="7134886" cy="22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3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有界数据是无界数据的特例，Bounded ⊂ Unbounded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16076" y="1464704"/>
            <a:ext cx="7589832" cy="3328874"/>
          </a:xfrm>
          <a:custGeom>
            <a:avLst/>
            <a:gdLst/>
            <a:ahLst/>
            <a:cxnLst/>
            <a:rect l="l" t="t" r="r" b="b"/>
            <a:pathLst>
              <a:path w="7589832" h="3328874">
                <a:moveTo>
                  <a:pt x="133155" y="0"/>
                </a:moveTo>
                <a:lnTo>
                  <a:pt x="7456677" y="0"/>
                </a:lnTo>
                <a:cubicBezTo>
                  <a:pt x="7530217" y="0"/>
                  <a:pt x="7589832" y="59616"/>
                  <a:pt x="7589832" y="133155"/>
                </a:cubicBezTo>
                <a:lnTo>
                  <a:pt x="7589832" y="3195719"/>
                </a:lnTo>
                <a:cubicBezTo>
                  <a:pt x="7589832" y="3269258"/>
                  <a:pt x="7530217" y="3328874"/>
                  <a:pt x="7456677" y="3328874"/>
                </a:cubicBezTo>
                <a:lnTo>
                  <a:pt x="133155" y="3328874"/>
                </a:lnTo>
                <a:cubicBezTo>
                  <a:pt x="59616" y="3328874"/>
                  <a:pt x="0" y="3269258"/>
                  <a:pt x="0" y="3195719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8393616" y="1642244"/>
            <a:ext cx="532620" cy="532620"/>
          </a:xfrm>
          <a:custGeom>
            <a:avLst/>
            <a:gdLst/>
            <a:ahLst/>
            <a:cxnLst/>
            <a:rect l="l" t="t" r="r" b="b"/>
            <a:pathLst>
              <a:path w="532620" h="532620">
                <a:moveTo>
                  <a:pt x="88772" y="0"/>
                </a:moveTo>
                <a:lnTo>
                  <a:pt x="443848" y="0"/>
                </a:lnTo>
                <a:cubicBezTo>
                  <a:pt x="492875" y="0"/>
                  <a:pt x="532620" y="39744"/>
                  <a:pt x="532620" y="88772"/>
                </a:cubicBezTo>
                <a:lnTo>
                  <a:pt x="532620" y="443848"/>
                </a:lnTo>
                <a:cubicBezTo>
                  <a:pt x="532620" y="492875"/>
                  <a:pt x="492875" y="532620"/>
                  <a:pt x="443848" y="532620"/>
                </a:cubicBezTo>
                <a:lnTo>
                  <a:pt x="88772" y="532620"/>
                </a:lnTo>
                <a:cubicBezTo>
                  <a:pt x="39744" y="532620"/>
                  <a:pt x="0" y="492875"/>
                  <a:pt x="0" y="443848"/>
                </a:cubicBezTo>
                <a:lnTo>
                  <a:pt x="0" y="88772"/>
                </a:lnTo>
                <a:cubicBezTo>
                  <a:pt x="0" y="39777"/>
                  <a:pt x="39777" y="0"/>
                  <a:pt x="88772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527985" y="1753207"/>
            <a:ext cx="377272" cy="310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47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059391" y="1731014"/>
            <a:ext cx="1198395" cy="355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97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时间语义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93616" y="2308019"/>
            <a:ext cx="7234752" cy="710160"/>
          </a:xfrm>
          <a:custGeom>
            <a:avLst/>
            <a:gdLst/>
            <a:ahLst/>
            <a:cxnLst/>
            <a:rect l="l" t="t" r="r" b="b"/>
            <a:pathLst>
              <a:path w="7234752" h="710160">
                <a:moveTo>
                  <a:pt x="88770" y="0"/>
                </a:moveTo>
                <a:lnTo>
                  <a:pt x="7145982" y="0"/>
                </a:lnTo>
                <a:cubicBezTo>
                  <a:pt x="7195009" y="0"/>
                  <a:pt x="7234752" y="39744"/>
                  <a:pt x="7234752" y="88770"/>
                </a:cubicBezTo>
                <a:lnTo>
                  <a:pt x="7234752" y="621390"/>
                </a:lnTo>
                <a:cubicBezTo>
                  <a:pt x="7234752" y="670416"/>
                  <a:pt x="7195009" y="710160"/>
                  <a:pt x="7145982" y="710160"/>
                </a:cubicBezTo>
                <a:lnTo>
                  <a:pt x="88770" y="710160"/>
                </a:lnTo>
                <a:cubicBezTo>
                  <a:pt x="39744" y="710160"/>
                  <a:pt x="0" y="670416"/>
                  <a:pt x="0" y="621390"/>
                </a:cubicBezTo>
                <a:lnTo>
                  <a:pt x="0" y="88770"/>
                </a:lnTo>
                <a:cubicBezTo>
                  <a:pt x="0" y="39776"/>
                  <a:pt x="39776" y="0"/>
                  <a:pt x="8877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8482386" y="2396789"/>
            <a:ext cx="7145982" cy="266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8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事件时间 t_event(e)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482386" y="2707484"/>
            <a:ext cx="7134886" cy="22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3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事件在源系统发生的业务时间，结果确定，不受处理顺序影响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93616" y="3106949"/>
            <a:ext cx="7234752" cy="710160"/>
          </a:xfrm>
          <a:custGeom>
            <a:avLst/>
            <a:gdLst/>
            <a:ahLst/>
            <a:cxnLst/>
            <a:rect l="l" t="t" r="r" b="b"/>
            <a:pathLst>
              <a:path w="7234752" h="710160">
                <a:moveTo>
                  <a:pt x="88770" y="0"/>
                </a:moveTo>
                <a:lnTo>
                  <a:pt x="7145982" y="0"/>
                </a:lnTo>
                <a:cubicBezTo>
                  <a:pt x="7195009" y="0"/>
                  <a:pt x="7234752" y="39744"/>
                  <a:pt x="7234752" y="88770"/>
                </a:cubicBezTo>
                <a:lnTo>
                  <a:pt x="7234752" y="621390"/>
                </a:lnTo>
                <a:cubicBezTo>
                  <a:pt x="7234752" y="670416"/>
                  <a:pt x="7195009" y="710160"/>
                  <a:pt x="7145982" y="710160"/>
                </a:cubicBezTo>
                <a:lnTo>
                  <a:pt x="88770" y="710160"/>
                </a:lnTo>
                <a:cubicBezTo>
                  <a:pt x="39744" y="710160"/>
                  <a:pt x="0" y="670416"/>
                  <a:pt x="0" y="621390"/>
                </a:cubicBezTo>
                <a:lnTo>
                  <a:pt x="0" y="88770"/>
                </a:lnTo>
                <a:cubicBezTo>
                  <a:pt x="0" y="39776"/>
                  <a:pt x="39776" y="0"/>
                  <a:pt x="8877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482386" y="3195719"/>
            <a:ext cx="7145982" cy="266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8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处理时间 t_process(e)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82386" y="3506414"/>
            <a:ext cx="7134886" cy="22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3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事件被计算引擎处理的系统时间，延迟极低但结果不确定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393616" y="3905878"/>
            <a:ext cx="7234752" cy="710160"/>
          </a:xfrm>
          <a:custGeom>
            <a:avLst/>
            <a:gdLst/>
            <a:ahLst/>
            <a:cxnLst/>
            <a:rect l="l" t="t" r="r" b="b"/>
            <a:pathLst>
              <a:path w="7234752" h="710160">
                <a:moveTo>
                  <a:pt x="88770" y="0"/>
                </a:moveTo>
                <a:lnTo>
                  <a:pt x="7145982" y="0"/>
                </a:lnTo>
                <a:cubicBezTo>
                  <a:pt x="7195009" y="0"/>
                  <a:pt x="7234752" y="39744"/>
                  <a:pt x="7234752" y="88770"/>
                </a:cubicBezTo>
                <a:lnTo>
                  <a:pt x="7234752" y="621390"/>
                </a:lnTo>
                <a:cubicBezTo>
                  <a:pt x="7234752" y="670416"/>
                  <a:pt x="7195009" y="710160"/>
                  <a:pt x="7145982" y="710160"/>
                </a:cubicBezTo>
                <a:lnTo>
                  <a:pt x="88770" y="710160"/>
                </a:lnTo>
                <a:cubicBezTo>
                  <a:pt x="39744" y="710160"/>
                  <a:pt x="0" y="670416"/>
                  <a:pt x="0" y="621390"/>
                </a:cubicBezTo>
                <a:lnTo>
                  <a:pt x="0" y="88770"/>
                </a:lnTo>
                <a:cubicBezTo>
                  <a:pt x="0" y="39776"/>
                  <a:pt x="39776" y="0"/>
                  <a:pt x="8877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482386" y="3994648"/>
            <a:ext cx="7145982" cy="266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8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水印机制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482386" y="4305343"/>
            <a:ext cx="7134886" cy="22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3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Watermark(t) = max(event_time) - δ，处理乱序事件的理论解决方案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43850" y="4971118"/>
            <a:ext cx="7589832" cy="3328874"/>
          </a:xfrm>
          <a:custGeom>
            <a:avLst/>
            <a:gdLst/>
            <a:ahLst/>
            <a:cxnLst/>
            <a:rect l="l" t="t" r="r" b="b"/>
            <a:pathLst>
              <a:path w="7589832" h="3328874">
                <a:moveTo>
                  <a:pt x="133155" y="0"/>
                </a:moveTo>
                <a:lnTo>
                  <a:pt x="7456677" y="0"/>
                </a:lnTo>
                <a:cubicBezTo>
                  <a:pt x="7530217" y="0"/>
                  <a:pt x="7589832" y="59616"/>
                  <a:pt x="7589832" y="133155"/>
                </a:cubicBezTo>
                <a:lnTo>
                  <a:pt x="7589832" y="3195719"/>
                </a:lnTo>
                <a:cubicBezTo>
                  <a:pt x="7589832" y="3269258"/>
                  <a:pt x="7530217" y="3328874"/>
                  <a:pt x="7456677" y="3328874"/>
                </a:cubicBezTo>
                <a:lnTo>
                  <a:pt x="133155" y="3328874"/>
                </a:lnTo>
                <a:cubicBezTo>
                  <a:pt x="59616" y="3328874"/>
                  <a:pt x="0" y="3269258"/>
                  <a:pt x="0" y="3195719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621390" y="5148658"/>
            <a:ext cx="532620" cy="532620"/>
          </a:xfrm>
          <a:custGeom>
            <a:avLst/>
            <a:gdLst/>
            <a:ahLst/>
            <a:cxnLst/>
            <a:rect l="l" t="t" r="r" b="b"/>
            <a:pathLst>
              <a:path w="532620" h="532620">
                <a:moveTo>
                  <a:pt x="88772" y="0"/>
                </a:moveTo>
                <a:lnTo>
                  <a:pt x="443848" y="0"/>
                </a:lnTo>
                <a:cubicBezTo>
                  <a:pt x="492875" y="0"/>
                  <a:pt x="532620" y="39744"/>
                  <a:pt x="532620" y="88772"/>
                </a:cubicBezTo>
                <a:lnTo>
                  <a:pt x="532620" y="443848"/>
                </a:lnTo>
                <a:cubicBezTo>
                  <a:pt x="532620" y="492875"/>
                  <a:pt x="492875" y="532620"/>
                  <a:pt x="443848" y="532620"/>
                </a:cubicBezTo>
                <a:lnTo>
                  <a:pt x="88772" y="532620"/>
                </a:lnTo>
                <a:cubicBezTo>
                  <a:pt x="39744" y="532620"/>
                  <a:pt x="0" y="492875"/>
                  <a:pt x="0" y="443848"/>
                </a:cubicBezTo>
                <a:lnTo>
                  <a:pt x="0" y="88772"/>
                </a:lnTo>
                <a:cubicBezTo>
                  <a:pt x="0" y="39777"/>
                  <a:pt x="39777" y="0"/>
                  <a:pt x="88772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752811" y="5259620"/>
            <a:ext cx="377272" cy="310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47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287165" y="5237428"/>
            <a:ext cx="1198395" cy="355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97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窗口机制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21390" y="5814433"/>
            <a:ext cx="7234752" cy="710160"/>
          </a:xfrm>
          <a:custGeom>
            <a:avLst/>
            <a:gdLst/>
            <a:ahLst/>
            <a:cxnLst/>
            <a:rect l="l" t="t" r="r" b="b"/>
            <a:pathLst>
              <a:path w="7234752" h="710160">
                <a:moveTo>
                  <a:pt x="88770" y="0"/>
                </a:moveTo>
                <a:lnTo>
                  <a:pt x="7145982" y="0"/>
                </a:lnTo>
                <a:cubicBezTo>
                  <a:pt x="7195009" y="0"/>
                  <a:pt x="7234752" y="39744"/>
                  <a:pt x="7234752" y="88770"/>
                </a:cubicBezTo>
                <a:lnTo>
                  <a:pt x="7234752" y="621390"/>
                </a:lnTo>
                <a:cubicBezTo>
                  <a:pt x="7234752" y="670416"/>
                  <a:pt x="7195009" y="710160"/>
                  <a:pt x="7145982" y="710160"/>
                </a:cubicBezTo>
                <a:lnTo>
                  <a:pt x="88770" y="710160"/>
                </a:lnTo>
                <a:cubicBezTo>
                  <a:pt x="39744" y="710160"/>
                  <a:pt x="0" y="670416"/>
                  <a:pt x="0" y="621390"/>
                </a:cubicBezTo>
                <a:lnTo>
                  <a:pt x="0" y="88770"/>
                </a:lnTo>
                <a:cubicBezTo>
                  <a:pt x="0" y="39776"/>
                  <a:pt x="39776" y="0"/>
                  <a:pt x="8877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710160" y="5903203"/>
            <a:ext cx="798930" cy="266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8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滚动窗口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529447" y="5903203"/>
            <a:ext cx="1242780" cy="266310"/>
          </a:xfrm>
          <a:custGeom>
            <a:avLst/>
            <a:gdLst/>
            <a:ahLst/>
            <a:cxnLst/>
            <a:rect l="l" t="t" r="r" b="b"/>
            <a:pathLst>
              <a:path w="1242780" h="266310">
                <a:moveTo>
                  <a:pt x="133155" y="0"/>
                </a:moveTo>
                <a:lnTo>
                  <a:pt x="1109625" y="0"/>
                </a:lnTo>
                <a:cubicBezTo>
                  <a:pt x="1183164" y="0"/>
                  <a:pt x="1242780" y="59616"/>
                  <a:pt x="1242780" y="133155"/>
                </a:cubicBezTo>
                <a:lnTo>
                  <a:pt x="1242780" y="133155"/>
                </a:lnTo>
                <a:cubicBezTo>
                  <a:pt x="1242780" y="206694"/>
                  <a:pt x="1183164" y="266310"/>
                  <a:pt x="1109625" y="266310"/>
                </a:cubicBezTo>
                <a:lnTo>
                  <a:pt x="133155" y="266310"/>
                </a:lnTo>
                <a:cubicBezTo>
                  <a:pt x="59616" y="266310"/>
                  <a:pt x="0" y="206694"/>
                  <a:pt x="0" y="133155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6529447" y="5903203"/>
            <a:ext cx="1309357" cy="266310"/>
          </a:xfrm>
          <a:prstGeom prst="rect">
            <a:avLst/>
          </a:prstGeom>
          <a:noFill/>
          <a:ln/>
        </p:spPr>
        <p:txBody>
          <a:bodyPr wrap="square" lIns="88770" tIns="44385" rIns="88770" bIns="44385" rtlCol="0" anchor="ctr"/>
          <a:lstStyle/>
          <a:p>
            <a:pPr>
              <a:lnSpc>
                <a:spcPct val="110000"/>
              </a:lnSpc>
            </a:pPr>
            <a:r>
              <a:rPr lang="en-US" sz="1048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固定大小，无重叠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10160" y="6213898"/>
            <a:ext cx="7134886" cy="22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3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W(t) = {e | ⌊t_event(e)/S⌋ = k}，适用于定期统计报表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1390" y="6568977"/>
            <a:ext cx="7234752" cy="710160"/>
          </a:xfrm>
          <a:custGeom>
            <a:avLst/>
            <a:gdLst/>
            <a:ahLst/>
            <a:cxnLst/>
            <a:rect l="l" t="t" r="r" b="b"/>
            <a:pathLst>
              <a:path w="7234752" h="710160">
                <a:moveTo>
                  <a:pt x="88770" y="0"/>
                </a:moveTo>
                <a:lnTo>
                  <a:pt x="7145982" y="0"/>
                </a:lnTo>
                <a:cubicBezTo>
                  <a:pt x="7195009" y="0"/>
                  <a:pt x="7234752" y="39744"/>
                  <a:pt x="7234752" y="88770"/>
                </a:cubicBezTo>
                <a:lnTo>
                  <a:pt x="7234752" y="621390"/>
                </a:lnTo>
                <a:cubicBezTo>
                  <a:pt x="7234752" y="670416"/>
                  <a:pt x="7195009" y="710160"/>
                  <a:pt x="7145982" y="710160"/>
                </a:cubicBezTo>
                <a:lnTo>
                  <a:pt x="88770" y="710160"/>
                </a:lnTo>
                <a:cubicBezTo>
                  <a:pt x="39744" y="710160"/>
                  <a:pt x="0" y="670416"/>
                  <a:pt x="0" y="621390"/>
                </a:cubicBezTo>
                <a:lnTo>
                  <a:pt x="0" y="88770"/>
                </a:lnTo>
                <a:cubicBezTo>
                  <a:pt x="0" y="39776"/>
                  <a:pt x="39776" y="0"/>
                  <a:pt x="8877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710160" y="6657747"/>
            <a:ext cx="798930" cy="266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8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滑动窗口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529447" y="6657747"/>
            <a:ext cx="1242780" cy="266310"/>
          </a:xfrm>
          <a:custGeom>
            <a:avLst/>
            <a:gdLst/>
            <a:ahLst/>
            <a:cxnLst/>
            <a:rect l="l" t="t" r="r" b="b"/>
            <a:pathLst>
              <a:path w="1242780" h="266310">
                <a:moveTo>
                  <a:pt x="133155" y="0"/>
                </a:moveTo>
                <a:lnTo>
                  <a:pt x="1109625" y="0"/>
                </a:lnTo>
                <a:cubicBezTo>
                  <a:pt x="1183164" y="0"/>
                  <a:pt x="1242780" y="59616"/>
                  <a:pt x="1242780" y="133155"/>
                </a:cubicBezTo>
                <a:lnTo>
                  <a:pt x="1242780" y="133155"/>
                </a:lnTo>
                <a:cubicBezTo>
                  <a:pt x="1242780" y="206694"/>
                  <a:pt x="1183164" y="266310"/>
                  <a:pt x="1109625" y="266310"/>
                </a:cubicBezTo>
                <a:lnTo>
                  <a:pt x="133155" y="266310"/>
                </a:lnTo>
                <a:cubicBezTo>
                  <a:pt x="59616" y="266310"/>
                  <a:pt x="0" y="206694"/>
                  <a:pt x="0" y="133155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6529447" y="6657747"/>
            <a:ext cx="1309357" cy="266310"/>
          </a:xfrm>
          <a:prstGeom prst="rect">
            <a:avLst/>
          </a:prstGeom>
          <a:noFill/>
          <a:ln/>
        </p:spPr>
        <p:txBody>
          <a:bodyPr wrap="square" lIns="88770" tIns="44385" rIns="88770" bIns="44385" rtlCol="0" anchor="ctr"/>
          <a:lstStyle/>
          <a:p>
            <a:pPr>
              <a:lnSpc>
                <a:spcPct val="110000"/>
              </a:lnSpc>
            </a:pPr>
            <a:r>
              <a:rPr lang="en-US" sz="1048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固定大小，有重叠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10160" y="6968442"/>
            <a:ext cx="7134886" cy="22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3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W(t) = {e | t-S &lt; t_event(e) ≤ t}，适用于移动平均、实时趋势分析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1390" y="7323522"/>
            <a:ext cx="7234752" cy="710160"/>
          </a:xfrm>
          <a:custGeom>
            <a:avLst/>
            <a:gdLst/>
            <a:ahLst/>
            <a:cxnLst/>
            <a:rect l="l" t="t" r="r" b="b"/>
            <a:pathLst>
              <a:path w="7234752" h="710160">
                <a:moveTo>
                  <a:pt x="88770" y="0"/>
                </a:moveTo>
                <a:lnTo>
                  <a:pt x="7145982" y="0"/>
                </a:lnTo>
                <a:cubicBezTo>
                  <a:pt x="7195009" y="0"/>
                  <a:pt x="7234752" y="39744"/>
                  <a:pt x="7234752" y="88770"/>
                </a:cubicBezTo>
                <a:lnTo>
                  <a:pt x="7234752" y="621390"/>
                </a:lnTo>
                <a:cubicBezTo>
                  <a:pt x="7234752" y="670416"/>
                  <a:pt x="7195009" y="710160"/>
                  <a:pt x="7145982" y="710160"/>
                </a:cubicBezTo>
                <a:lnTo>
                  <a:pt x="88770" y="710160"/>
                </a:lnTo>
                <a:cubicBezTo>
                  <a:pt x="39744" y="710160"/>
                  <a:pt x="0" y="670416"/>
                  <a:pt x="0" y="621390"/>
                </a:cubicBezTo>
                <a:lnTo>
                  <a:pt x="0" y="88770"/>
                </a:lnTo>
                <a:cubicBezTo>
                  <a:pt x="0" y="39776"/>
                  <a:pt x="39776" y="0"/>
                  <a:pt x="8877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710160" y="7412292"/>
            <a:ext cx="798930" cy="266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8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会话窗口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795757" y="7412292"/>
            <a:ext cx="976470" cy="266310"/>
          </a:xfrm>
          <a:custGeom>
            <a:avLst/>
            <a:gdLst/>
            <a:ahLst/>
            <a:cxnLst/>
            <a:rect l="l" t="t" r="r" b="b"/>
            <a:pathLst>
              <a:path w="976470" h="266310">
                <a:moveTo>
                  <a:pt x="133155" y="0"/>
                </a:moveTo>
                <a:lnTo>
                  <a:pt x="843315" y="0"/>
                </a:lnTo>
                <a:cubicBezTo>
                  <a:pt x="916854" y="0"/>
                  <a:pt x="976470" y="59616"/>
                  <a:pt x="976470" y="133155"/>
                </a:cubicBezTo>
                <a:lnTo>
                  <a:pt x="976470" y="133155"/>
                </a:lnTo>
                <a:cubicBezTo>
                  <a:pt x="976470" y="206694"/>
                  <a:pt x="916854" y="266310"/>
                  <a:pt x="843315" y="266310"/>
                </a:cubicBezTo>
                <a:lnTo>
                  <a:pt x="133155" y="266310"/>
                </a:lnTo>
                <a:cubicBezTo>
                  <a:pt x="59616" y="266310"/>
                  <a:pt x="0" y="206694"/>
                  <a:pt x="0" y="133155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6795757" y="7412292"/>
            <a:ext cx="1043047" cy="266310"/>
          </a:xfrm>
          <a:prstGeom prst="rect">
            <a:avLst/>
          </a:prstGeom>
          <a:noFill/>
          <a:ln/>
        </p:spPr>
        <p:txBody>
          <a:bodyPr wrap="square" lIns="88770" tIns="44385" rIns="88770" bIns="44385" rtlCol="0" anchor="ctr"/>
          <a:lstStyle/>
          <a:p>
            <a:pPr>
              <a:lnSpc>
                <a:spcPct val="110000"/>
              </a:lnSpc>
            </a:pPr>
            <a:r>
              <a:rPr lang="en-US" sz="1048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基于活动间隔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10160" y="7722987"/>
            <a:ext cx="7134886" cy="22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3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session(e_i) = {e_j | |t_event(e_j)-t_event(e_i)| &lt; G}，适用于用户行为分析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216076" y="4971118"/>
            <a:ext cx="7589832" cy="3328874"/>
          </a:xfrm>
          <a:custGeom>
            <a:avLst/>
            <a:gdLst/>
            <a:ahLst/>
            <a:cxnLst/>
            <a:rect l="l" t="t" r="r" b="b"/>
            <a:pathLst>
              <a:path w="7589832" h="3328874">
                <a:moveTo>
                  <a:pt x="133155" y="0"/>
                </a:moveTo>
                <a:lnTo>
                  <a:pt x="7456677" y="0"/>
                </a:lnTo>
                <a:cubicBezTo>
                  <a:pt x="7530217" y="0"/>
                  <a:pt x="7589832" y="59616"/>
                  <a:pt x="7589832" y="133155"/>
                </a:cubicBezTo>
                <a:lnTo>
                  <a:pt x="7589832" y="3195719"/>
                </a:lnTo>
                <a:cubicBezTo>
                  <a:pt x="7589832" y="3269258"/>
                  <a:pt x="7530217" y="3328874"/>
                  <a:pt x="7456677" y="3328874"/>
                </a:cubicBezTo>
                <a:lnTo>
                  <a:pt x="133155" y="3328874"/>
                </a:lnTo>
                <a:cubicBezTo>
                  <a:pt x="59616" y="3328874"/>
                  <a:pt x="0" y="3269258"/>
                  <a:pt x="0" y="3195719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8393616" y="5148658"/>
            <a:ext cx="532620" cy="532620"/>
          </a:xfrm>
          <a:custGeom>
            <a:avLst/>
            <a:gdLst/>
            <a:ahLst/>
            <a:cxnLst/>
            <a:rect l="l" t="t" r="r" b="b"/>
            <a:pathLst>
              <a:path w="532620" h="532620">
                <a:moveTo>
                  <a:pt x="88772" y="0"/>
                </a:moveTo>
                <a:lnTo>
                  <a:pt x="443848" y="0"/>
                </a:lnTo>
                <a:cubicBezTo>
                  <a:pt x="492875" y="0"/>
                  <a:pt x="532620" y="39744"/>
                  <a:pt x="532620" y="88772"/>
                </a:cubicBezTo>
                <a:lnTo>
                  <a:pt x="532620" y="443848"/>
                </a:lnTo>
                <a:cubicBezTo>
                  <a:pt x="532620" y="492875"/>
                  <a:pt x="492875" y="532620"/>
                  <a:pt x="443848" y="532620"/>
                </a:cubicBezTo>
                <a:lnTo>
                  <a:pt x="88772" y="532620"/>
                </a:lnTo>
                <a:cubicBezTo>
                  <a:pt x="39744" y="532620"/>
                  <a:pt x="0" y="492875"/>
                  <a:pt x="0" y="443848"/>
                </a:cubicBezTo>
                <a:lnTo>
                  <a:pt x="0" y="88772"/>
                </a:lnTo>
                <a:cubicBezTo>
                  <a:pt x="0" y="39777"/>
                  <a:pt x="39777" y="0"/>
                  <a:pt x="88772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8525298" y="5259620"/>
            <a:ext cx="377272" cy="310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47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059391" y="5237428"/>
            <a:ext cx="1198395" cy="355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97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状态管理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393616" y="5814433"/>
            <a:ext cx="7234752" cy="710160"/>
          </a:xfrm>
          <a:custGeom>
            <a:avLst/>
            <a:gdLst/>
            <a:ahLst/>
            <a:cxnLst/>
            <a:rect l="l" t="t" r="r" b="b"/>
            <a:pathLst>
              <a:path w="7234752" h="710160">
                <a:moveTo>
                  <a:pt x="88770" y="0"/>
                </a:moveTo>
                <a:lnTo>
                  <a:pt x="7145982" y="0"/>
                </a:lnTo>
                <a:cubicBezTo>
                  <a:pt x="7195009" y="0"/>
                  <a:pt x="7234752" y="39744"/>
                  <a:pt x="7234752" y="88770"/>
                </a:cubicBezTo>
                <a:lnTo>
                  <a:pt x="7234752" y="621390"/>
                </a:lnTo>
                <a:cubicBezTo>
                  <a:pt x="7234752" y="670416"/>
                  <a:pt x="7195009" y="710160"/>
                  <a:pt x="7145982" y="710160"/>
                </a:cubicBezTo>
                <a:lnTo>
                  <a:pt x="88770" y="710160"/>
                </a:lnTo>
                <a:cubicBezTo>
                  <a:pt x="39744" y="710160"/>
                  <a:pt x="0" y="670416"/>
                  <a:pt x="0" y="621390"/>
                </a:cubicBezTo>
                <a:lnTo>
                  <a:pt x="0" y="88770"/>
                </a:lnTo>
                <a:cubicBezTo>
                  <a:pt x="0" y="39776"/>
                  <a:pt x="39776" y="0"/>
                  <a:pt x="8877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8482386" y="5903203"/>
            <a:ext cx="7145982" cy="266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8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键控状态 S_k: K → V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482386" y="6213898"/>
            <a:ext cx="7134886" cy="22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3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按键分区，保证相同键的状态更新在同一任务中处理。支持ValueState、ListState、MapState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393616" y="6613362"/>
            <a:ext cx="7234752" cy="710160"/>
          </a:xfrm>
          <a:custGeom>
            <a:avLst/>
            <a:gdLst/>
            <a:ahLst/>
            <a:cxnLst/>
            <a:rect l="l" t="t" r="r" b="b"/>
            <a:pathLst>
              <a:path w="7234752" h="710160">
                <a:moveTo>
                  <a:pt x="88770" y="0"/>
                </a:moveTo>
                <a:lnTo>
                  <a:pt x="7145982" y="0"/>
                </a:lnTo>
                <a:cubicBezTo>
                  <a:pt x="7195009" y="0"/>
                  <a:pt x="7234752" y="39744"/>
                  <a:pt x="7234752" y="88770"/>
                </a:cubicBezTo>
                <a:lnTo>
                  <a:pt x="7234752" y="621390"/>
                </a:lnTo>
                <a:cubicBezTo>
                  <a:pt x="7234752" y="670416"/>
                  <a:pt x="7195009" y="710160"/>
                  <a:pt x="7145982" y="710160"/>
                </a:cubicBezTo>
                <a:lnTo>
                  <a:pt x="88770" y="710160"/>
                </a:lnTo>
                <a:cubicBezTo>
                  <a:pt x="39744" y="710160"/>
                  <a:pt x="0" y="670416"/>
                  <a:pt x="0" y="621390"/>
                </a:cubicBezTo>
                <a:lnTo>
                  <a:pt x="0" y="88770"/>
                </a:lnTo>
                <a:cubicBezTo>
                  <a:pt x="0" y="39776"/>
                  <a:pt x="39776" y="0"/>
                  <a:pt x="8877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8482386" y="6702132"/>
            <a:ext cx="7145982" cy="266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8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算子状态 S_o: ℕ → V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482386" y="7012827"/>
            <a:ext cx="7134886" cy="22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3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状态与算子实例绑定，支持广播状态、列表状态。常用于连接器状态、窗口状态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393616" y="7412292"/>
            <a:ext cx="7234752" cy="710160"/>
          </a:xfrm>
          <a:custGeom>
            <a:avLst/>
            <a:gdLst/>
            <a:ahLst/>
            <a:cxnLst/>
            <a:rect l="l" t="t" r="r" b="b"/>
            <a:pathLst>
              <a:path w="7234752" h="710160">
                <a:moveTo>
                  <a:pt x="88770" y="0"/>
                </a:moveTo>
                <a:lnTo>
                  <a:pt x="7145982" y="0"/>
                </a:lnTo>
                <a:cubicBezTo>
                  <a:pt x="7195009" y="0"/>
                  <a:pt x="7234752" y="39744"/>
                  <a:pt x="7234752" y="88770"/>
                </a:cubicBezTo>
                <a:lnTo>
                  <a:pt x="7234752" y="621390"/>
                </a:lnTo>
                <a:cubicBezTo>
                  <a:pt x="7234752" y="670416"/>
                  <a:pt x="7195009" y="710160"/>
                  <a:pt x="7145982" y="710160"/>
                </a:cubicBezTo>
                <a:lnTo>
                  <a:pt x="88770" y="710160"/>
                </a:lnTo>
                <a:cubicBezTo>
                  <a:pt x="39744" y="710160"/>
                  <a:pt x="0" y="670416"/>
                  <a:pt x="0" y="621390"/>
                </a:cubicBezTo>
                <a:lnTo>
                  <a:pt x="0" y="88770"/>
                </a:lnTo>
                <a:cubicBezTo>
                  <a:pt x="0" y="39776"/>
                  <a:pt x="39776" y="0"/>
                  <a:pt x="8877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8482386" y="7501062"/>
            <a:ext cx="7145982" cy="266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8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容错机制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482386" y="7811757"/>
            <a:ext cx="7134886" cy="22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3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基于Chandy-Lamport分布式快照算法，检查点机制实现Exactly-Once语义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8132" y="448132"/>
            <a:ext cx="448132" cy="448132"/>
          </a:xfrm>
          <a:custGeom>
            <a:avLst/>
            <a:gdLst/>
            <a:ahLst/>
            <a:cxnLst/>
            <a:rect l="l" t="t" r="r" b="b"/>
            <a:pathLst>
              <a:path w="448132" h="448132">
                <a:moveTo>
                  <a:pt x="89626" y="0"/>
                </a:moveTo>
                <a:lnTo>
                  <a:pt x="358506" y="0"/>
                </a:lnTo>
                <a:cubicBezTo>
                  <a:pt x="408005" y="0"/>
                  <a:pt x="448132" y="40127"/>
                  <a:pt x="448132" y="89626"/>
                </a:cubicBezTo>
                <a:lnTo>
                  <a:pt x="448132" y="358506"/>
                </a:lnTo>
                <a:cubicBezTo>
                  <a:pt x="448132" y="408005"/>
                  <a:pt x="408005" y="448132"/>
                  <a:pt x="358506" y="448132"/>
                </a:cubicBezTo>
                <a:lnTo>
                  <a:pt x="89626" y="448132"/>
                </a:lnTo>
                <a:cubicBezTo>
                  <a:pt x="40127" y="448132"/>
                  <a:pt x="0" y="408005"/>
                  <a:pt x="0" y="358506"/>
                </a:cubicBezTo>
                <a:lnTo>
                  <a:pt x="0" y="89626"/>
                </a:lnTo>
                <a:cubicBezTo>
                  <a:pt x="0" y="40127"/>
                  <a:pt x="40127" y="0"/>
                  <a:pt x="89626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74170" y="571369"/>
            <a:ext cx="201660" cy="201660"/>
          </a:xfrm>
          <a:custGeom>
            <a:avLst/>
            <a:gdLst/>
            <a:ahLst/>
            <a:cxnLst/>
            <a:rect l="l" t="t" r="r" b="b"/>
            <a:pathLst>
              <a:path w="201660" h="201660">
                <a:moveTo>
                  <a:pt x="50415" y="126037"/>
                </a:moveTo>
                <a:lnTo>
                  <a:pt x="9650" y="126037"/>
                </a:lnTo>
                <a:cubicBezTo>
                  <a:pt x="-158" y="126037"/>
                  <a:pt x="-6184" y="115363"/>
                  <a:pt x="-1142" y="106935"/>
                </a:cubicBezTo>
                <a:lnTo>
                  <a:pt x="19693" y="72196"/>
                </a:lnTo>
                <a:cubicBezTo>
                  <a:pt x="23120" y="66485"/>
                  <a:pt x="29264" y="63019"/>
                  <a:pt x="35921" y="63019"/>
                </a:cubicBezTo>
                <a:lnTo>
                  <a:pt x="73338" y="63019"/>
                </a:lnTo>
                <a:cubicBezTo>
                  <a:pt x="103311" y="12249"/>
                  <a:pt x="148015" y="9689"/>
                  <a:pt x="177909" y="14061"/>
                </a:cubicBezTo>
                <a:cubicBezTo>
                  <a:pt x="182951" y="14809"/>
                  <a:pt x="186890" y="18748"/>
                  <a:pt x="187599" y="23750"/>
                </a:cubicBezTo>
                <a:cubicBezTo>
                  <a:pt x="191970" y="53645"/>
                  <a:pt x="189410" y="98348"/>
                  <a:pt x="138641" y="128322"/>
                </a:cubicBezTo>
                <a:lnTo>
                  <a:pt x="138641" y="165739"/>
                </a:lnTo>
                <a:cubicBezTo>
                  <a:pt x="138641" y="172395"/>
                  <a:pt x="135175" y="178540"/>
                  <a:pt x="129464" y="181966"/>
                </a:cubicBezTo>
                <a:lnTo>
                  <a:pt x="94725" y="202802"/>
                </a:lnTo>
                <a:cubicBezTo>
                  <a:pt x="86335" y="207843"/>
                  <a:pt x="75622" y="201778"/>
                  <a:pt x="75622" y="192010"/>
                </a:cubicBezTo>
                <a:lnTo>
                  <a:pt x="75622" y="151245"/>
                </a:lnTo>
                <a:cubicBezTo>
                  <a:pt x="75622" y="137341"/>
                  <a:pt x="64318" y="126037"/>
                  <a:pt x="50415" y="126037"/>
                </a:cubicBezTo>
                <a:lnTo>
                  <a:pt x="50375" y="126037"/>
                </a:lnTo>
                <a:close/>
                <a:moveTo>
                  <a:pt x="157547" y="63019"/>
                </a:moveTo>
                <a:cubicBezTo>
                  <a:pt x="157547" y="52584"/>
                  <a:pt x="149075" y="44113"/>
                  <a:pt x="138641" y="44113"/>
                </a:cubicBezTo>
                <a:cubicBezTo>
                  <a:pt x="128207" y="44113"/>
                  <a:pt x="119735" y="52584"/>
                  <a:pt x="119735" y="63019"/>
                </a:cubicBezTo>
                <a:cubicBezTo>
                  <a:pt x="119735" y="73453"/>
                  <a:pt x="128207" y="81924"/>
                  <a:pt x="138641" y="81924"/>
                </a:cubicBezTo>
                <a:cubicBezTo>
                  <a:pt x="149075" y="81924"/>
                  <a:pt x="157547" y="73453"/>
                  <a:pt x="157547" y="63019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030704" y="448132"/>
            <a:ext cx="4638170" cy="448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176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技术演进的关键驱动因素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30704" y="985891"/>
            <a:ext cx="14877993" cy="31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8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六大驱动因素共同推动从批处理到流式计算的范式转变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8132" y="1478837"/>
            <a:ext cx="4996675" cy="3360992"/>
          </a:xfrm>
          <a:custGeom>
            <a:avLst/>
            <a:gdLst/>
            <a:ahLst/>
            <a:cxnLst/>
            <a:rect l="l" t="t" r="r" b="b"/>
            <a:pathLst>
              <a:path w="4996675" h="3360992">
                <a:moveTo>
                  <a:pt x="134440" y="0"/>
                </a:moveTo>
                <a:lnTo>
                  <a:pt x="4862236" y="0"/>
                </a:lnTo>
                <a:cubicBezTo>
                  <a:pt x="4936485" y="0"/>
                  <a:pt x="4996675" y="60191"/>
                  <a:pt x="4996675" y="134440"/>
                </a:cubicBezTo>
                <a:lnTo>
                  <a:pt x="4996675" y="3226553"/>
                </a:lnTo>
                <a:cubicBezTo>
                  <a:pt x="4996675" y="3300802"/>
                  <a:pt x="4936485" y="3360992"/>
                  <a:pt x="4862236" y="3360992"/>
                </a:cubicBezTo>
                <a:lnTo>
                  <a:pt x="134440" y="3360992"/>
                </a:lnTo>
                <a:cubicBezTo>
                  <a:pt x="60191" y="3360992"/>
                  <a:pt x="0" y="3300802"/>
                  <a:pt x="0" y="3226553"/>
                </a:cubicBezTo>
                <a:lnTo>
                  <a:pt x="0" y="134440"/>
                </a:lnTo>
                <a:cubicBezTo>
                  <a:pt x="0" y="60191"/>
                  <a:pt x="60191" y="0"/>
                  <a:pt x="134440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27385" y="1658090"/>
            <a:ext cx="537759" cy="537759"/>
          </a:xfrm>
          <a:custGeom>
            <a:avLst/>
            <a:gdLst/>
            <a:ahLst/>
            <a:cxnLst/>
            <a:rect l="l" t="t" r="r" b="b"/>
            <a:pathLst>
              <a:path w="537759" h="537759">
                <a:moveTo>
                  <a:pt x="89628" y="0"/>
                </a:moveTo>
                <a:lnTo>
                  <a:pt x="448131" y="0"/>
                </a:lnTo>
                <a:cubicBezTo>
                  <a:pt x="497631" y="0"/>
                  <a:pt x="537759" y="40128"/>
                  <a:pt x="537759" y="89628"/>
                </a:cubicBezTo>
                <a:lnTo>
                  <a:pt x="537759" y="448131"/>
                </a:lnTo>
                <a:cubicBezTo>
                  <a:pt x="537759" y="497631"/>
                  <a:pt x="497631" y="537759"/>
                  <a:pt x="448131" y="537759"/>
                </a:cubicBezTo>
                <a:lnTo>
                  <a:pt x="89628" y="537759"/>
                </a:lnTo>
                <a:cubicBezTo>
                  <a:pt x="40128" y="537759"/>
                  <a:pt x="0" y="497631"/>
                  <a:pt x="0" y="448131"/>
                </a:cubicBezTo>
                <a:lnTo>
                  <a:pt x="0" y="89628"/>
                </a:lnTo>
                <a:cubicBezTo>
                  <a:pt x="0" y="40161"/>
                  <a:pt x="40161" y="0"/>
                  <a:pt x="89628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98236" y="1814936"/>
            <a:ext cx="196058" cy="224066"/>
          </a:xfrm>
          <a:custGeom>
            <a:avLst/>
            <a:gdLst/>
            <a:ahLst/>
            <a:cxnLst/>
            <a:rect l="l" t="t" r="r" b="b"/>
            <a:pathLst>
              <a:path w="196058" h="224066">
                <a:moveTo>
                  <a:pt x="196058" y="90064"/>
                </a:moveTo>
                <a:cubicBezTo>
                  <a:pt x="189581" y="94353"/>
                  <a:pt x="182141" y="97810"/>
                  <a:pt x="174395" y="100567"/>
                </a:cubicBezTo>
                <a:cubicBezTo>
                  <a:pt x="153827" y="107919"/>
                  <a:pt x="126825" y="112033"/>
                  <a:pt x="98029" y="112033"/>
                </a:cubicBezTo>
                <a:cubicBezTo>
                  <a:pt x="69233" y="112033"/>
                  <a:pt x="42187" y="107876"/>
                  <a:pt x="21663" y="100567"/>
                </a:cubicBezTo>
                <a:cubicBezTo>
                  <a:pt x="13960" y="97810"/>
                  <a:pt x="6477" y="94353"/>
                  <a:pt x="0" y="90064"/>
                </a:cubicBezTo>
                <a:lnTo>
                  <a:pt x="0" y="126037"/>
                </a:lnTo>
                <a:cubicBezTo>
                  <a:pt x="0" y="145380"/>
                  <a:pt x="43894" y="161048"/>
                  <a:pt x="98029" y="161048"/>
                </a:cubicBezTo>
                <a:cubicBezTo>
                  <a:pt x="152164" y="161048"/>
                  <a:pt x="196058" y="145380"/>
                  <a:pt x="196058" y="126037"/>
                </a:cubicBezTo>
                <a:lnTo>
                  <a:pt x="196058" y="90064"/>
                </a:lnTo>
                <a:close/>
                <a:moveTo>
                  <a:pt x="196058" y="56017"/>
                </a:moveTo>
                <a:lnTo>
                  <a:pt x="196058" y="35010"/>
                </a:lnTo>
                <a:cubicBezTo>
                  <a:pt x="196058" y="15667"/>
                  <a:pt x="152164" y="0"/>
                  <a:pt x="98029" y="0"/>
                </a:cubicBezTo>
                <a:cubicBezTo>
                  <a:pt x="43894" y="0"/>
                  <a:pt x="0" y="15667"/>
                  <a:pt x="0" y="35010"/>
                </a:cubicBezTo>
                <a:lnTo>
                  <a:pt x="0" y="56017"/>
                </a:lnTo>
                <a:cubicBezTo>
                  <a:pt x="0" y="75360"/>
                  <a:pt x="43894" y="91027"/>
                  <a:pt x="98029" y="91027"/>
                </a:cubicBezTo>
                <a:cubicBezTo>
                  <a:pt x="152164" y="91027"/>
                  <a:pt x="196058" y="75360"/>
                  <a:pt x="196058" y="56017"/>
                </a:cubicBezTo>
                <a:close/>
                <a:moveTo>
                  <a:pt x="174395" y="170588"/>
                </a:moveTo>
                <a:cubicBezTo>
                  <a:pt x="153870" y="177896"/>
                  <a:pt x="126869" y="182054"/>
                  <a:pt x="98029" y="182054"/>
                </a:cubicBezTo>
                <a:cubicBezTo>
                  <a:pt x="69189" y="182054"/>
                  <a:pt x="42187" y="177896"/>
                  <a:pt x="21663" y="170588"/>
                </a:cubicBezTo>
                <a:cubicBezTo>
                  <a:pt x="13960" y="167831"/>
                  <a:pt x="6477" y="164374"/>
                  <a:pt x="0" y="160085"/>
                </a:cubicBezTo>
                <a:lnTo>
                  <a:pt x="0" y="189056"/>
                </a:lnTo>
                <a:cubicBezTo>
                  <a:pt x="0" y="208399"/>
                  <a:pt x="43894" y="224066"/>
                  <a:pt x="98029" y="224066"/>
                </a:cubicBezTo>
                <a:cubicBezTo>
                  <a:pt x="152164" y="224066"/>
                  <a:pt x="196058" y="208399"/>
                  <a:pt x="196058" y="189056"/>
                </a:cubicBezTo>
                <a:lnTo>
                  <a:pt x="196058" y="160085"/>
                </a:lnTo>
                <a:cubicBezTo>
                  <a:pt x="189581" y="164374"/>
                  <a:pt x="182141" y="167831"/>
                  <a:pt x="174395" y="170588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299584" y="1770123"/>
            <a:ext cx="1456430" cy="31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64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数据特征转变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7385" y="2330288"/>
            <a:ext cx="4638170" cy="717012"/>
          </a:xfrm>
          <a:custGeom>
            <a:avLst/>
            <a:gdLst/>
            <a:ahLst/>
            <a:cxnLst/>
            <a:rect l="l" t="t" r="r" b="b"/>
            <a:pathLst>
              <a:path w="4638170" h="717012">
                <a:moveTo>
                  <a:pt x="89626" y="0"/>
                </a:moveTo>
                <a:lnTo>
                  <a:pt x="4548543" y="0"/>
                </a:lnTo>
                <a:cubicBezTo>
                  <a:pt x="4598042" y="0"/>
                  <a:pt x="4638170" y="40127"/>
                  <a:pt x="4638170" y="89626"/>
                </a:cubicBezTo>
                <a:lnTo>
                  <a:pt x="4638170" y="627385"/>
                </a:lnTo>
                <a:cubicBezTo>
                  <a:pt x="4638170" y="676885"/>
                  <a:pt x="4598042" y="717012"/>
                  <a:pt x="4548543" y="717012"/>
                </a:cubicBezTo>
                <a:lnTo>
                  <a:pt x="89626" y="717012"/>
                </a:lnTo>
                <a:cubicBezTo>
                  <a:pt x="40127" y="717012"/>
                  <a:pt x="0" y="676885"/>
                  <a:pt x="0" y="627385"/>
                </a:cubicBezTo>
                <a:lnTo>
                  <a:pt x="0" y="89626"/>
                </a:lnTo>
                <a:cubicBezTo>
                  <a:pt x="0" y="40127"/>
                  <a:pt x="40127" y="0"/>
                  <a:pt x="89626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17012" y="2419915"/>
            <a:ext cx="4548543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数据量级爆炸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7012" y="2733607"/>
            <a:ext cx="4537340" cy="224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5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从GB到PB再到EB级的数据增长，摩尔定律在数据领域的体现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385" y="3136926"/>
            <a:ext cx="4638170" cy="717012"/>
          </a:xfrm>
          <a:custGeom>
            <a:avLst/>
            <a:gdLst/>
            <a:ahLst/>
            <a:cxnLst/>
            <a:rect l="l" t="t" r="r" b="b"/>
            <a:pathLst>
              <a:path w="4638170" h="717012">
                <a:moveTo>
                  <a:pt x="89626" y="0"/>
                </a:moveTo>
                <a:lnTo>
                  <a:pt x="4548543" y="0"/>
                </a:lnTo>
                <a:cubicBezTo>
                  <a:pt x="4598042" y="0"/>
                  <a:pt x="4638170" y="40127"/>
                  <a:pt x="4638170" y="89626"/>
                </a:cubicBezTo>
                <a:lnTo>
                  <a:pt x="4638170" y="627385"/>
                </a:lnTo>
                <a:cubicBezTo>
                  <a:pt x="4638170" y="676885"/>
                  <a:pt x="4598042" y="717012"/>
                  <a:pt x="4548543" y="717012"/>
                </a:cubicBezTo>
                <a:lnTo>
                  <a:pt x="89626" y="717012"/>
                </a:lnTo>
                <a:cubicBezTo>
                  <a:pt x="40127" y="717012"/>
                  <a:pt x="0" y="676885"/>
                  <a:pt x="0" y="627385"/>
                </a:cubicBezTo>
                <a:lnTo>
                  <a:pt x="0" y="89626"/>
                </a:lnTo>
                <a:cubicBezTo>
                  <a:pt x="0" y="40127"/>
                  <a:pt x="40127" y="0"/>
                  <a:pt x="89626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717012" y="3226553"/>
            <a:ext cx="4548543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数据流速提升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7012" y="3540245"/>
            <a:ext cx="4537340" cy="224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5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从批量传输到实时流式传输，延迟要求从小时级到毫秒级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7385" y="3943564"/>
            <a:ext cx="4638170" cy="717012"/>
          </a:xfrm>
          <a:custGeom>
            <a:avLst/>
            <a:gdLst/>
            <a:ahLst/>
            <a:cxnLst/>
            <a:rect l="l" t="t" r="r" b="b"/>
            <a:pathLst>
              <a:path w="4638170" h="717012">
                <a:moveTo>
                  <a:pt x="89626" y="0"/>
                </a:moveTo>
                <a:lnTo>
                  <a:pt x="4548543" y="0"/>
                </a:lnTo>
                <a:cubicBezTo>
                  <a:pt x="4598042" y="0"/>
                  <a:pt x="4638170" y="40127"/>
                  <a:pt x="4638170" y="89626"/>
                </a:cubicBezTo>
                <a:lnTo>
                  <a:pt x="4638170" y="627385"/>
                </a:lnTo>
                <a:cubicBezTo>
                  <a:pt x="4638170" y="676885"/>
                  <a:pt x="4598042" y="717012"/>
                  <a:pt x="4548543" y="717012"/>
                </a:cubicBezTo>
                <a:lnTo>
                  <a:pt x="89626" y="717012"/>
                </a:lnTo>
                <a:cubicBezTo>
                  <a:pt x="40127" y="717012"/>
                  <a:pt x="0" y="676885"/>
                  <a:pt x="0" y="627385"/>
                </a:cubicBezTo>
                <a:lnTo>
                  <a:pt x="0" y="89626"/>
                </a:lnTo>
                <a:cubicBezTo>
                  <a:pt x="0" y="40127"/>
                  <a:pt x="40127" y="0"/>
                  <a:pt x="89626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17012" y="4033191"/>
            <a:ext cx="4548543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数据多样性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7012" y="4346884"/>
            <a:ext cx="4537340" cy="224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5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从结构化数据到半结构化、非结构化数据的全面覆盖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26511" y="1478837"/>
            <a:ext cx="4996675" cy="3360992"/>
          </a:xfrm>
          <a:custGeom>
            <a:avLst/>
            <a:gdLst/>
            <a:ahLst/>
            <a:cxnLst/>
            <a:rect l="l" t="t" r="r" b="b"/>
            <a:pathLst>
              <a:path w="4996675" h="3360992">
                <a:moveTo>
                  <a:pt x="134440" y="0"/>
                </a:moveTo>
                <a:lnTo>
                  <a:pt x="4862236" y="0"/>
                </a:lnTo>
                <a:cubicBezTo>
                  <a:pt x="4936485" y="0"/>
                  <a:pt x="4996675" y="60191"/>
                  <a:pt x="4996675" y="134440"/>
                </a:cubicBezTo>
                <a:lnTo>
                  <a:pt x="4996675" y="3226553"/>
                </a:lnTo>
                <a:cubicBezTo>
                  <a:pt x="4996675" y="3300802"/>
                  <a:pt x="4936485" y="3360992"/>
                  <a:pt x="4862236" y="3360992"/>
                </a:cubicBezTo>
                <a:lnTo>
                  <a:pt x="134440" y="3360992"/>
                </a:lnTo>
                <a:cubicBezTo>
                  <a:pt x="60191" y="3360992"/>
                  <a:pt x="0" y="3300802"/>
                  <a:pt x="0" y="3226553"/>
                </a:cubicBezTo>
                <a:lnTo>
                  <a:pt x="0" y="134440"/>
                </a:lnTo>
                <a:cubicBezTo>
                  <a:pt x="0" y="60191"/>
                  <a:pt x="60191" y="0"/>
                  <a:pt x="134440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5805764" y="1658090"/>
            <a:ext cx="537759" cy="537759"/>
          </a:xfrm>
          <a:custGeom>
            <a:avLst/>
            <a:gdLst/>
            <a:ahLst/>
            <a:cxnLst/>
            <a:rect l="l" t="t" r="r" b="b"/>
            <a:pathLst>
              <a:path w="537759" h="537759">
                <a:moveTo>
                  <a:pt x="89628" y="0"/>
                </a:moveTo>
                <a:lnTo>
                  <a:pt x="448131" y="0"/>
                </a:lnTo>
                <a:cubicBezTo>
                  <a:pt x="497631" y="0"/>
                  <a:pt x="537759" y="40128"/>
                  <a:pt x="537759" y="89628"/>
                </a:cubicBezTo>
                <a:lnTo>
                  <a:pt x="537759" y="448131"/>
                </a:lnTo>
                <a:cubicBezTo>
                  <a:pt x="537759" y="497631"/>
                  <a:pt x="497631" y="537759"/>
                  <a:pt x="448131" y="537759"/>
                </a:cubicBezTo>
                <a:lnTo>
                  <a:pt x="89628" y="537759"/>
                </a:lnTo>
                <a:cubicBezTo>
                  <a:pt x="40128" y="537759"/>
                  <a:pt x="0" y="497631"/>
                  <a:pt x="0" y="448131"/>
                </a:cubicBezTo>
                <a:lnTo>
                  <a:pt x="0" y="89628"/>
                </a:lnTo>
                <a:cubicBezTo>
                  <a:pt x="0" y="40161"/>
                  <a:pt x="40161" y="0"/>
                  <a:pt x="89628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5962611" y="1814936"/>
            <a:ext cx="224066" cy="224066"/>
          </a:xfrm>
          <a:custGeom>
            <a:avLst/>
            <a:gdLst/>
            <a:ahLst/>
            <a:cxnLst/>
            <a:rect l="l" t="t" r="r" b="b"/>
            <a:pathLst>
              <a:path w="224066" h="224066">
                <a:moveTo>
                  <a:pt x="28008" y="28008"/>
                </a:moveTo>
                <a:cubicBezTo>
                  <a:pt x="28008" y="20262"/>
                  <a:pt x="21750" y="14004"/>
                  <a:pt x="14004" y="14004"/>
                </a:cubicBezTo>
                <a:cubicBezTo>
                  <a:pt x="6258" y="14004"/>
                  <a:pt x="0" y="20262"/>
                  <a:pt x="0" y="28008"/>
                </a:cubicBezTo>
                <a:lnTo>
                  <a:pt x="0" y="175052"/>
                </a:lnTo>
                <a:cubicBezTo>
                  <a:pt x="0" y="194395"/>
                  <a:pt x="15667" y="210062"/>
                  <a:pt x="35010" y="210062"/>
                </a:cubicBezTo>
                <a:lnTo>
                  <a:pt x="210062" y="210062"/>
                </a:lnTo>
                <a:cubicBezTo>
                  <a:pt x="217808" y="210062"/>
                  <a:pt x="224066" y="203804"/>
                  <a:pt x="224066" y="196058"/>
                </a:cubicBezTo>
                <a:cubicBezTo>
                  <a:pt x="224066" y="188312"/>
                  <a:pt x="217808" y="182054"/>
                  <a:pt x="210062" y="182054"/>
                </a:cubicBezTo>
                <a:lnTo>
                  <a:pt x="35010" y="182054"/>
                </a:lnTo>
                <a:cubicBezTo>
                  <a:pt x="31159" y="182054"/>
                  <a:pt x="28008" y="178903"/>
                  <a:pt x="28008" y="175052"/>
                </a:cubicBezTo>
                <a:lnTo>
                  <a:pt x="28008" y="28008"/>
                </a:lnTo>
                <a:close/>
                <a:moveTo>
                  <a:pt x="205948" y="65907"/>
                </a:moveTo>
                <a:cubicBezTo>
                  <a:pt x="211419" y="60437"/>
                  <a:pt x="211419" y="51553"/>
                  <a:pt x="205948" y="46082"/>
                </a:cubicBezTo>
                <a:cubicBezTo>
                  <a:pt x="200478" y="40612"/>
                  <a:pt x="191594" y="40612"/>
                  <a:pt x="186124" y="46082"/>
                </a:cubicBezTo>
                <a:lnTo>
                  <a:pt x="140041" y="92208"/>
                </a:lnTo>
                <a:lnTo>
                  <a:pt x="114921" y="67132"/>
                </a:lnTo>
                <a:cubicBezTo>
                  <a:pt x="109451" y="61662"/>
                  <a:pt x="100567" y="61662"/>
                  <a:pt x="95097" y="67132"/>
                </a:cubicBezTo>
                <a:lnTo>
                  <a:pt x="53084" y="109145"/>
                </a:lnTo>
                <a:cubicBezTo>
                  <a:pt x="47614" y="114615"/>
                  <a:pt x="47614" y="123499"/>
                  <a:pt x="53084" y="128969"/>
                </a:cubicBezTo>
                <a:cubicBezTo>
                  <a:pt x="58555" y="134440"/>
                  <a:pt x="67439" y="134440"/>
                  <a:pt x="72909" y="128969"/>
                </a:cubicBezTo>
                <a:lnTo>
                  <a:pt x="105031" y="96847"/>
                </a:lnTo>
                <a:lnTo>
                  <a:pt x="130151" y="121967"/>
                </a:lnTo>
                <a:cubicBezTo>
                  <a:pt x="135621" y="127438"/>
                  <a:pt x="144505" y="127438"/>
                  <a:pt x="149976" y="121967"/>
                </a:cubicBezTo>
                <a:lnTo>
                  <a:pt x="205992" y="65951"/>
                </a:ln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477963" y="1770123"/>
            <a:ext cx="1456430" cy="31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64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业务需求升级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805764" y="2330288"/>
            <a:ext cx="4638170" cy="717012"/>
          </a:xfrm>
          <a:custGeom>
            <a:avLst/>
            <a:gdLst/>
            <a:ahLst/>
            <a:cxnLst/>
            <a:rect l="l" t="t" r="r" b="b"/>
            <a:pathLst>
              <a:path w="4638170" h="717012">
                <a:moveTo>
                  <a:pt x="89626" y="0"/>
                </a:moveTo>
                <a:lnTo>
                  <a:pt x="4548543" y="0"/>
                </a:lnTo>
                <a:cubicBezTo>
                  <a:pt x="4598042" y="0"/>
                  <a:pt x="4638170" y="40127"/>
                  <a:pt x="4638170" y="89626"/>
                </a:cubicBezTo>
                <a:lnTo>
                  <a:pt x="4638170" y="627385"/>
                </a:lnTo>
                <a:cubicBezTo>
                  <a:pt x="4638170" y="676885"/>
                  <a:pt x="4598042" y="717012"/>
                  <a:pt x="4548543" y="717012"/>
                </a:cubicBezTo>
                <a:lnTo>
                  <a:pt x="89626" y="717012"/>
                </a:lnTo>
                <a:cubicBezTo>
                  <a:pt x="40127" y="717012"/>
                  <a:pt x="0" y="676885"/>
                  <a:pt x="0" y="627385"/>
                </a:cubicBezTo>
                <a:lnTo>
                  <a:pt x="0" y="89626"/>
                </a:lnTo>
                <a:cubicBezTo>
                  <a:pt x="0" y="40127"/>
                  <a:pt x="40127" y="0"/>
                  <a:pt x="89626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895391" y="2419915"/>
            <a:ext cx="4548543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实时决策需求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895391" y="2733607"/>
            <a:ext cx="4537340" cy="224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5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金融风控、实时推荐、物联网监控等场景需要亚秒级响应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805764" y="3136926"/>
            <a:ext cx="4638170" cy="717012"/>
          </a:xfrm>
          <a:custGeom>
            <a:avLst/>
            <a:gdLst/>
            <a:ahLst/>
            <a:cxnLst/>
            <a:rect l="l" t="t" r="r" b="b"/>
            <a:pathLst>
              <a:path w="4638170" h="717012">
                <a:moveTo>
                  <a:pt x="89626" y="0"/>
                </a:moveTo>
                <a:lnTo>
                  <a:pt x="4548543" y="0"/>
                </a:lnTo>
                <a:cubicBezTo>
                  <a:pt x="4598042" y="0"/>
                  <a:pt x="4638170" y="40127"/>
                  <a:pt x="4638170" y="89626"/>
                </a:cubicBezTo>
                <a:lnTo>
                  <a:pt x="4638170" y="627385"/>
                </a:lnTo>
                <a:cubicBezTo>
                  <a:pt x="4638170" y="676885"/>
                  <a:pt x="4598042" y="717012"/>
                  <a:pt x="4548543" y="717012"/>
                </a:cubicBezTo>
                <a:lnTo>
                  <a:pt x="89626" y="717012"/>
                </a:lnTo>
                <a:cubicBezTo>
                  <a:pt x="40127" y="717012"/>
                  <a:pt x="0" y="676885"/>
                  <a:pt x="0" y="627385"/>
                </a:cubicBezTo>
                <a:lnTo>
                  <a:pt x="0" y="89626"/>
                </a:lnTo>
                <a:cubicBezTo>
                  <a:pt x="0" y="40127"/>
                  <a:pt x="40127" y="0"/>
                  <a:pt x="89626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5895391" y="3226553"/>
            <a:ext cx="4548543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用户体验优化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895391" y="3540245"/>
            <a:ext cx="4537340" cy="224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5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互联网产品对实时交互和即时反馈的要求不断提升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805764" y="3943564"/>
            <a:ext cx="4638170" cy="717012"/>
          </a:xfrm>
          <a:custGeom>
            <a:avLst/>
            <a:gdLst/>
            <a:ahLst/>
            <a:cxnLst/>
            <a:rect l="l" t="t" r="r" b="b"/>
            <a:pathLst>
              <a:path w="4638170" h="717012">
                <a:moveTo>
                  <a:pt x="89626" y="0"/>
                </a:moveTo>
                <a:lnTo>
                  <a:pt x="4548543" y="0"/>
                </a:lnTo>
                <a:cubicBezTo>
                  <a:pt x="4598042" y="0"/>
                  <a:pt x="4638170" y="40127"/>
                  <a:pt x="4638170" y="89626"/>
                </a:cubicBezTo>
                <a:lnTo>
                  <a:pt x="4638170" y="627385"/>
                </a:lnTo>
                <a:cubicBezTo>
                  <a:pt x="4638170" y="676885"/>
                  <a:pt x="4598042" y="717012"/>
                  <a:pt x="4548543" y="717012"/>
                </a:cubicBezTo>
                <a:lnTo>
                  <a:pt x="89626" y="717012"/>
                </a:lnTo>
                <a:cubicBezTo>
                  <a:pt x="40127" y="717012"/>
                  <a:pt x="0" y="676885"/>
                  <a:pt x="0" y="627385"/>
                </a:cubicBezTo>
                <a:lnTo>
                  <a:pt x="0" y="89626"/>
                </a:lnTo>
                <a:cubicBezTo>
                  <a:pt x="0" y="40127"/>
                  <a:pt x="40127" y="0"/>
                  <a:pt x="89626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5895391" y="4033191"/>
            <a:ext cx="4548543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竞争优势构建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895391" y="4346884"/>
            <a:ext cx="4537340" cy="224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5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实时数据处理能力成为企业的核心竞争优势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804890" y="1478837"/>
            <a:ext cx="4996675" cy="3360992"/>
          </a:xfrm>
          <a:custGeom>
            <a:avLst/>
            <a:gdLst/>
            <a:ahLst/>
            <a:cxnLst/>
            <a:rect l="l" t="t" r="r" b="b"/>
            <a:pathLst>
              <a:path w="4996675" h="3360992">
                <a:moveTo>
                  <a:pt x="134440" y="0"/>
                </a:moveTo>
                <a:lnTo>
                  <a:pt x="4862236" y="0"/>
                </a:lnTo>
                <a:cubicBezTo>
                  <a:pt x="4936485" y="0"/>
                  <a:pt x="4996675" y="60191"/>
                  <a:pt x="4996675" y="134440"/>
                </a:cubicBezTo>
                <a:lnTo>
                  <a:pt x="4996675" y="3226553"/>
                </a:lnTo>
                <a:cubicBezTo>
                  <a:pt x="4996675" y="3300802"/>
                  <a:pt x="4936485" y="3360992"/>
                  <a:pt x="4862236" y="3360992"/>
                </a:cubicBezTo>
                <a:lnTo>
                  <a:pt x="134440" y="3360992"/>
                </a:lnTo>
                <a:cubicBezTo>
                  <a:pt x="60191" y="3360992"/>
                  <a:pt x="0" y="3300802"/>
                  <a:pt x="0" y="3226553"/>
                </a:cubicBezTo>
                <a:lnTo>
                  <a:pt x="0" y="134440"/>
                </a:lnTo>
                <a:cubicBezTo>
                  <a:pt x="0" y="60191"/>
                  <a:pt x="60191" y="0"/>
                  <a:pt x="134440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10984143" y="1658090"/>
            <a:ext cx="537759" cy="537759"/>
          </a:xfrm>
          <a:custGeom>
            <a:avLst/>
            <a:gdLst/>
            <a:ahLst/>
            <a:cxnLst/>
            <a:rect l="l" t="t" r="r" b="b"/>
            <a:pathLst>
              <a:path w="537759" h="537759">
                <a:moveTo>
                  <a:pt x="89628" y="0"/>
                </a:moveTo>
                <a:lnTo>
                  <a:pt x="448131" y="0"/>
                </a:lnTo>
                <a:cubicBezTo>
                  <a:pt x="497631" y="0"/>
                  <a:pt x="537759" y="40128"/>
                  <a:pt x="537759" y="89628"/>
                </a:cubicBezTo>
                <a:lnTo>
                  <a:pt x="537759" y="448131"/>
                </a:lnTo>
                <a:cubicBezTo>
                  <a:pt x="537759" y="497631"/>
                  <a:pt x="497631" y="537759"/>
                  <a:pt x="448131" y="537759"/>
                </a:cubicBezTo>
                <a:lnTo>
                  <a:pt x="89628" y="537759"/>
                </a:lnTo>
                <a:cubicBezTo>
                  <a:pt x="40128" y="537759"/>
                  <a:pt x="0" y="497631"/>
                  <a:pt x="0" y="448131"/>
                </a:cubicBezTo>
                <a:lnTo>
                  <a:pt x="0" y="89628"/>
                </a:lnTo>
                <a:cubicBezTo>
                  <a:pt x="0" y="40161"/>
                  <a:pt x="40161" y="0"/>
                  <a:pt x="89628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11140990" y="1814936"/>
            <a:ext cx="224066" cy="224066"/>
          </a:xfrm>
          <a:custGeom>
            <a:avLst/>
            <a:gdLst/>
            <a:ahLst/>
            <a:cxnLst/>
            <a:rect l="l" t="t" r="r" b="b"/>
            <a:pathLst>
              <a:path w="224066" h="224066">
                <a:moveTo>
                  <a:pt x="77023" y="10503"/>
                </a:moveTo>
                <a:cubicBezTo>
                  <a:pt x="77023" y="4683"/>
                  <a:pt x="72340" y="0"/>
                  <a:pt x="66520" y="0"/>
                </a:cubicBezTo>
                <a:cubicBezTo>
                  <a:pt x="60699" y="0"/>
                  <a:pt x="56017" y="4683"/>
                  <a:pt x="56017" y="10503"/>
                </a:cubicBezTo>
                <a:lnTo>
                  <a:pt x="56017" y="28008"/>
                </a:lnTo>
                <a:cubicBezTo>
                  <a:pt x="40568" y="28008"/>
                  <a:pt x="28008" y="40568"/>
                  <a:pt x="28008" y="56017"/>
                </a:cubicBezTo>
                <a:lnTo>
                  <a:pt x="10503" y="56017"/>
                </a:lnTo>
                <a:cubicBezTo>
                  <a:pt x="4683" y="56017"/>
                  <a:pt x="0" y="60699"/>
                  <a:pt x="0" y="66520"/>
                </a:cubicBezTo>
                <a:cubicBezTo>
                  <a:pt x="0" y="72340"/>
                  <a:pt x="4683" y="77023"/>
                  <a:pt x="10503" y="77023"/>
                </a:cubicBezTo>
                <a:lnTo>
                  <a:pt x="28008" y="77023"/>
                </a:lnTo>
                <a:lnTo>
                  <a:pt x="28008" y="101530"/>
                </a:lnTo>
                <a:lnTo>
                  <a:pt x="10503" y="101530"/>
                </a:lnTo>
                <a:cubicBezTo>
                  <a:pt x="4683" y="101530"/>
                  <a:pt x="0" y="106213"/>
                  <a:pt x="0" y="112033"/>
                </a:cubicBezTo>
                <a:cubicBezTo>
                  <a:pt x="0" y="117854"/>
                  <a:pt x="4683" y="122536"/>
                  <a:pt x="10503" y="122536"/>
                </a:cubicBezTo>
                <a:lnTo>
                  <a:pt x="28008" y="122536"/>
                </a:lnTo>
                <a:lnTo>
                  <a:pt x="28008" y="147043"/>
                </a:lnTo>
                <a:lnTo>
                  <a:pt x="10503" y="147043"/>
                </a:lnTo>
                <a:cubicBezTo>
                  <a:pt x="4683" y="147043"/>
                  <a:pt x="0" y="151726"/>
                  <a:pt x="0" y="157547"/>
                </a:cubicBezTo>
                <a:cubicBezTo>
                  <a:pt x="0" y="163367"/>
                  <a:pt x="4683" y="168050"/>
                  <a:pt x="10503" y="168050"/>
                </a:cubicBezTo>
                <a:lnTo>
                  <a:pt x="28008" y="168050"/>
                </a:lnTo>
                <a:cubicBezTo>
                  <a:pt x="28008" y="183498"/>
                  <a:pt x="40568" y="196058"/>
                  <a:pt x="56017" y="196058"/>
                </a:cubicBezTo>
                <a:lnTo>
                  <a:pt x="56017" y="213563"/>
                </a:lnTo>
                <a:cubicBezTo>
                  <a:pt x="56017" y="219384"/>
                  <a:pt x="60699" y="224066"/>
                  <a:pt x="66520" y="224066"/>
                </a:cubicBezTo>
                <a:cubicBezTo>
                  <a:pt x="72340" y="224066"/>
                  <a:pt x="77023" y="219384"/>
                  <a:pt x="77023" y="213563"/>
                </a:cubicBezTo>
                <a:lnTo>
                  <a:pt x="77023" y="196058"/>
                </a:lnTo>
                <a:lnTo>
                  <a:pt x="101530" y="196058"/>
                </a:lnTo>
                <a:lnTo>
                  <a:pt x="101530" y="213563"/>
                </a:lnTo>
                <a:cubicBezTo>
                  <a:pt x="101530" y="219384"/>
                  <a:pt x="106213" y="224066"/>
                  <a:pt x="112033" y="224066"/>
                </a:cubicBezTo>
                <a:cubicBezTo>
                  <a:pt x="117854" y="224066"/>
                  <a:pt x="122536" y="219384"/>
                  <a:pt x="122536" y="213563"/>
                </a:cubicBezTo>
                <a:lnTo>
                  <a:pt x="122536" y="196058"/>
                </a:lnTo>
                <a:lnTo>
                  <a:pt x="147043" y="196058"/>
                </a:lnTo>
                <a:lnTo>
                  <a:pt x="147043" y="213563"/>
                </a:lnTo>
                <a:cubicBezTo>
                  <a:pt x="147043" y="219384"/>
                  <a:pt x="151726" y="224066"/>
                  <a:pt x="157547" y="224066"/>
                </a:cubicBezTo>
                <a:cubicBezTo>
                  <a:pt x="163367" y="224066"/>
                  <a:pt x="168050" y="219384"/>
                  <a:pt x="168050" y="213563"/>
                </a:cubicBezTo>
                <a:lnTo>
                  <a:pt x="168050" y="196058"/>
                </a:lnTo>
                <a:cubicBezTo>
                  <a:pt x="183498" y="196058"/>
                  <a:pt x="196058" y="183498"/>
                  <a:pt x="196058" y="168050"/>
                </a:cubicBezTo>
                <a:lnTo>
                  <a:pt x="213563" y="168050"/>
                </a:lnTo>
                <a:cubicBezTo>
                  <a:pt x="219384" y="168050"/>
                  <a:pt x="224066" y="163367"/>
                  <a:pt x="224066" y="157547"/>
                </a:cubicBezTo>
                <a:cubicBezTo>
                  <a:pt x="224066" y="151726"/>
                  <a:pt x="219384" y="147043"/>
                  <a:pt x="213563" y="147043"/>
                </a:cubicBezTo>
                <a:lnTo>
                  <a:pt x="196058" y="147043"/>
                </a:lnTo>
                <a:lnTo>
                  <a:pt x="196058" y="122536"/>
                </a:lnTo>
                <a:lnTo>
                  <a:pt x="213563" y="122536"/>
                </a:lnTo>
                <a:cubicBezTo>
                  <a:pt x="219384" y="122536"/>
                  <a:pt x="224066" y="117854"/>
                  <a:pt x="224066" y="112033"/>
                </a:cubicBezTo>
                <a:cubicBezTo>
                  <a:pt x="224066" y="106213"/>
                  <a:pt x="219384" y="101530"/>
                  <a:pt x="213563" y="101530"/>
                </a:cubicBezTo>
                <a:lnTo>
                  <a:pt x="196058" y="101530"/>
                </a:lnTo>
                <a:lnTo>
                  <a:pt x="196058" y="77023"/>
                </a:lnTo>
                <a:lnTo>
                  <a:pt x="213563" y="77023"/>
                </a:lnTo>
                <a:cubicBezTo>
                  <a:pt x="219384" y="77023"/>
                  <a:pt x="224066" y="72340"/>
                  <a:pt x="224066" y="66520"/>
                </a:cubicBezTo>
                <a:cubicBezTo>
                  <a:pt x="224066" y="60699"/>
                  <a:pt x="219384" y="56017"/>
                  <a:pt x="213563" y="56017"/>
                </a:cubicBezTo>
                <a:lnTo>
                  <a:pt x="196058" y="56017"/>
                </a:lnTo>
                <a:cubicBezTo>
                  <a:pt x="196058" y="40568"/>
                  <a:pt x="183498" y="28008"/>
                  <a:pt x="168050" y="28008"/>
                </a:cubicBezTo>
                <a:lnTo>
                  <a:pt x="168050" y="10503"/>
                </a:lnTo>
                <a:cubicBezTo>
                  <a:pt x="168050" y="4683"/>
                  <a:pt x="163367" y="0"/>
                  <a:pt x="157547" y="0"/>
                </a:cubicBezTo>
                <a:cubicBezTo>
                  <a:pt x="151726" y="0"/>
                  <a:pt x="147043" y="4683"/>
                  <a:pt x="147043" y="10503"/>
                </a:cubicBezTo>
                <a:lnTo>
                  <a:pt x="147043" y="28008"/>
                </a:lnTo>
                <a:lnTo>
                  <a:pt x="122536" y="28008"/>
                </a:lnTo>
                <a:lnTo>
                  <a:pt x="122536" y="10503"/>
                </a:lnTo>
                <a:cubicBezTo>
                  <a:pt x="122536" y="4683"/>
                  <a:pt x="117854" y="0"/>
                  <a:pt x="112033" y="0"/>
                </a:cubicBezTo>
                <a:cubicBezTo>
                  <a:pt x="106213" y="0"/>
                  <a:pt x="101530" y="4683"/>
                  <a:pt x="101530" y="10503"/>
                </a:cubicBezTo>
                <a:lnTo>
                  <a:pt x="101530" y="28008"/>
                </a:lnTo>
                <a:lnTo>
                  <a:pt x="77023" y="28008"/>
                </a:lnTo>
                <a:lnTo>
                  <a:pt x="77023" y="10503"/>
                </a:lnTo>
                <a:close/>
                <a:moveTo>
                  <a:pt x="70021" y="56017"/>
                </a:moveTo>
                <a:lnTo>
                  <a:pt x="154045" y="56017"/>
                </a:lnTo>
                <a:cubicBezTo>
                  <a:pt x="161792" y="56017"/>
                  <a:pt x="168050" y="62275"/>
                  <a:pt x="168050" y="70021"/>
                </a:cubicBezTo>
                <a:lnTo>
                  <a:pt x="168050" y="154045"/>
                </a:lnTo>
                <a:cubicBezTo>
                  <a:pt x="168050" y="161792"/>
                  <a:pt x="161792" y="168050"/>
                  <a:pt x="154045" y="168050"/>
                </a:cubicBezTo>
                <a:lnTo>
                  <a:pt x="70021" y="168050"/>
                </a:lnTo>
                <a:cubicBezTo>
                  <a:pt x="62275" y="168050"/>
                  <a:pt x="56017" y="161792"/>
                  <a:pt x="56017" y="154045"/>
                </a:cubicBezTo>
                <a:lnTo>
                  <a:pt x="56017" y="70021"/>
                </a:lnTo>
                <a:cubicBezTo>
                  <a:pt x="56017" y="62275"/>
                  <a:pt x="62275" y="56017"/>
                  <a:pt x="70021" y="56017"/>
                </a:cubicBezTo>
                <a:close/>
                <a:moveTo>
                  <a:pt x="77023" y="77023"/>
                </a:moveTo>
                <a:lnTo>
                  <a:pt x="77023" y="147043"/>
                </a:lnTo>
                <a:lnTo>
                  <a:pt x="147043" y="147043"/>
                </a:lnTo>
                <a:lnTo>
                  <a:pt x="147043" y="77023"/>
                </a:lnTo>
                <a:lnTo>
                  <a:pt x="77023" y="77023"/>
                </a:ln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11656342" y="1770123"/>
            <a:ext cx="1456430" cy="31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64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硬件技术进步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0984143" y="2330288"/>
            <a:ext cx="4638170" cy="717012"/>
          </a:xfrm>
          <a:custGeom>
            <a:avLst/>
            <a:gdLst/>
            <a:ahLst/>
            <a:cxnLst/>
            <a:rect l="l" t="t" r="r" b="b"/>
            <a:pathLst>
              <a:path w="4638170" h="717012">
                <a:moveTo>
                  <a:pt x="89626" y="0"/>
                </a:moveTo>
                <a:lnTo>
                  <a:pt x="4548543" y="0"/>
                </a:lnTo>
                <a:cubicBezTo>
                  <a:pt x="4598042" y="0"/>
                  <a:pt x="4638170" y="40127"/>
                  <a:pt x="4638170" y="89626"/>
                </a:cubicBezTo>
                <a:lnTo>
                  <a:pt x="4638170" y="627385"/>
                </a:lnTo>
                <a:cubicBezTo>
                  <a:pt x="4638170" y="676885"/>
                  <a:pt x="4598042" y="717012"/>
                  <a:pt x="4548543" y="717012"/>
                </a:cubicBezTo>
                <a:lnTo>
                  <a:pt x="89626" y="717012"/>
                </a:lnTo>
                <a:cubicBezTo>
                  <a:pt x="40127" y="717012"/>
                  <a:pt x="0" y="676885"/>
                  <a:pt x="0" y="627385"/>
                </a:cubicBezTo>
                <a:lnTo>
                  <a:pt x="0" y="89626"/>
                </a:lnTo>
                <a:cubicBezTo>
                  <a:pt x="0" y="40127"/>
                  <a:pt x="40127" y="0"/>
                  <a:pt x="89626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11073770" y="2419915"/>
            <a:ext cx="4548543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网络基础设施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073770" y="2733607"/>
            <a:ext cx="4537340" cy="224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5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从千兆到万兆、25G、100G网络的普及，网络延迟显著降低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984143" y="3136926"/>
            <a:ext cx="4638170" cy="717012"/>
          </a:xfrm>
          <a:custGeom>
            <a:avLst/>
            <a:gdLst/>
            <a:ahLst/>
            <a:cxnLst/>
            <a:rect l="l" t="t" r="r" b="b"/>
            <a:pathLst>
              <a:path w="4638170" h="717012">
                <a:moveTo>
                  <a:pt x="89626" y="0"/>
                </a:moveTo>
                <a:lnTo>
                  <a:pt x="4548543" y="0"/>
                </a:lnTo>
                <a:cubicBezTo>
                  <a:pt x="4598042" y="0"/>
                  <a:pt x="4638170" y="40127"/>
                  <a:pt x="4638170" y="89626"/>
                </a:cubicBezTo>
                <a:lnTo>
                  <a:pt x="4638170" y="627385"/>
                </a:lnTo>
                <a:cubicBezTo>
                  <a:pt x="4638170" y="676885"/>
                  <a:pt x="4598042" y="717012"/>
                  <a:pt x="4548543" y="717012"/>
                </a:cubicBezTo>
                <a:lnTo>
                  <a:pt x="89626" y="717012"/>
                </a:lnTo>
                <a:cubicBezTo>
                  <a:pt x="40127" y="717012"/>
                  <a:pt x="0" y="676885"/>
                  <a:pt x="0" y="627385"/>
                </a:cubicBezTo>
                <a:lnTo>
                  <a:pt x="0" y="89626"/>
                </a:lnTo>
                <a:cubicBezTo>
                  <a:pt x="0" y="40127"/>
                  <a:pt x="40127" y="0"/>
                  <a:pt x="89626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11073770" y="3226553"/>
            <a:ext cx="4548543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存储技术演进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073770" y="3540245"/>
            <a:ext cx="4537340" cy="224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5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HDD→SSD(IOPS数量级提升)，NVMe、持久内存(PMEM)成熟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984143" y="3943564"/>
            <a:ext cx="4638170" cy="717012"/>
          </a:xfrm>
          <a:custGeom>
            <a:avLst/>
            <a:gdLst/>
            <a:ahLst/>
            <a:cxnLst/>
            <a:rect l="l" t="t" r="r" b="b"/>
            <a:pathLst>
              <a:path w="4638170" h="717012">
                <a:moveTo>
                  <a:pt x="89626" y="0"/>
                </a:moveTo>
                <a:lnTo>
                  <a:pt x="4548543" y="0"/>
                </a:lnTo>
                <a:cubicBezTo>
                  <a:pt x="4598042" y="0"/>
                  <a:pt x="4638170" y="40127"/>
                  <a:pt x="4638170" y="89626"/>
                </a:cubicBezTo>
                <a:lnTo>
                  <a:pt x="4638170" y="627385"/>
                </a:lnTo>
                <a:cubicBezTo>
                  <a:pt x="4638170" y="676885"/>
                  <a:pt x="4598042" y="717012"/>
                  <a:pt x="4548543" y="717012"/>
                </a:cubicBezTo>
                <a:lnTo>
                  <a:pt x="89626" y="717012"/>
                </a:lnTo>
                <a:cubicBezTo>
                  <a:pt x="40127" y="717012"/>
                  <a:pt x="0" y="676885"/>
                  <a:pt x="0" y="627385"/>
                </a:cubicBezTo>
                <a:lnTo>
                  <a:pt x="0" y="89626"/>
                </a:lnTo>
                <a:cubicBezTo>
                  <a:pt x="0" y="40127"/>
                  <a:pt x="40127" y="0"/>
                  <a:pt x="89626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11073770" y="4033191"/>
            <a:ext cx="4548543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计算架构创新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073770" y="4346884"/>
            <a:ext cx="4537340" cy="224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5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多核→众核，GPU/TPU专用加速器，CPU+GPU+FPGA异构计算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48132" y="5019082"/>
            <a:ext cx="4996675" cy="2778420"/>
          </a:xfrm>
          <a:custGeom>
            <a:avLst/>
            <a:gdLst/>
            <a:ahLst/>
            <a:cxnLst/>
            <a:rect l="l" t="t" r="r" b="b"/>
            <a:pathLst>
              <a:path w="4996675" h="2778420">
                <a:moveTo>
                  <a:pt x="134448" y="0"/>
                </a:moveTo>
                <a:lnTo>
                  <a:pt x="4862228" y="0"/>
                </a:lnTo>
                <a:cubicBezTo>
                  <a:pt x="4936481" y="0"/>
                  <a:pt x="4996675" y="60194"/>
                  <a:pt x="4996675" y="134448"/>
                </a:cubicBezTo>
                <a:lnTo>
                  <a:pt x="4996675" y="2643973"/>
                </a:lnTo>
                <a:cubicBezTo>
                  <a:pt x="4996675" y="2718226"/>
                  <a:pt x="4936481" y="2778420"/>
                  <a:pt x="4862228" y="2778420"/>
                </a:cubicBezTo>
                <a:lnTo>
                  <a:pt x="134448" y="2778420"/>
                </a:lnTo>
                <a:cubicBezTo>
                  <a:pt x="60194" y="2778420"/>
                  <a:pt x="0" y="2718226"/>
                  <a:pt x="0" y="2643973"/>
                </a:cubicBezTo>
                <a:lnTo>
                  <a:pt x="0" y="134448"/>
                </a:lnTo>
                <a:cubicBezTo>
                  <a:pt x="0" y="60194"/>
                  <a:pt x="60194" y="0"/>
                  <a:pt x="134448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627385" y="5198335"/>
            <a:ext cx="537759" cy="537759"/>
          </a:xfrm>
          <a:custGeom>
            <a:avLst/>
            <a:gdLst/>
            <a:ahLst/>
            <a:cxnLst/>
            <a:rect l="l" t="t" r="r" b="b"/>
            <a:pathLst>
              <a:path w="537759" h="537759">
                <a:moveTo>
                  <a:pt x="89628" y="0"/>
                </a:moveTo>
                <a:lnTo>
                  <a:pt x="448131" y="0"/>
                </a:lnTo>
                <a:cubicBezTo>
                  <a:pt x="497631" y="0"/>
                  <a:pt x="537759" y="40128"/>
                  <a:pt x="537759" y="89628"/>
                </a:cubicBezTo>
                <a:lnTo>
                  <a:pt x="537759" y="448131"/>
                </a:lnTo>
                <a:cubicBezTo>
                  <a:pt x="537759" y="497631"/>
                  <a:pt x="497631" y="537759"/>
                  <a:pt x="448131" y="537759"/>
                </a:cubicBezTo>
                <a:lnTo>
                  <a:pt x="89628" y="537759"/>
                </a:lnTo>
                <a:cubicBezTo>
                  <a:pt x="40128" y="537759"/>
                  <a:pt x="0" y="497631"/>
                  <a:pt x="0" y="448131"/>
                </a:cubicBezTo>
                <a:lnTo>
                  <a:pt x="0" y="89628"/>
                </a:lnTo>
                <a:cubicBezTo>
                  <a:pt x="0" y="40161"/>
                  <a:pt x="40161" y="0"/>
                  <a:pt x="89628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770227" y="5355181"/>
            <a:ext cx="252074" cy="224066"/>
          </a:xfrm>
          <a:custGeom>
            <a:avLst/>
            <a:gdLst/>
            <a:ahLst/>
            <a:cxnLst/>
            <a:rect l="l" t="t" r="r" b="b"/>
            <a:pathLst>
              <a:path w="252074" h="224066">
                <a:moveTo>
                  <a:pt x="21006" y="85688"/>
                </a:moveTo>
                <a:lnTo>
                  <a:pt x="112558" y="123368"/>
                </a:lnTo>
                <a:cubicBezTo>
                  <a:pt x="116847" y="125118"/>
                  <a:pt x="121398" y="126037"/>
                  <a:pt x="126037" y="126037"/>
                </a:cubicBezTo>
                <a:cubicBezTo>
                  <a:pt x="130676" y="126037"/>
                  <a:pt x="135227" y="125118"/>
                  <a:pt x="139516" y="123368"/>
                </a:cubicBezTo>
                <a:lnTo>
                  <a:pt x="245598" y="79692"/>
                </a:lnTo>
                <a:cubicBezTo>
                  <a:pt x="249536" y="78073"/>
                  <a:pt x="252074" y="74266"/>
                  <a:pt x="252074" y="70021"/>
                </a:cubicBezTo>
                <a:cubicBezTo>
                  <a:pt x="252074" y="65776"/>
                  <a:pt x="249536" y="61968"/>
                  <a:pt x="245598" y="60349"/>
                </a:cubicBezTo>
                <a:lnTo>
                  <a:pt x="139516" y="16674"/>
                </a:lnTo>
                <a:cubicBezTo>
                  <a:pt x="135227" y="14923"/>
                  <a:pt x="130676" y="14004"/>
                  <a:pt x="126037" y="14004"/>
                </a:cubicBezTo>
                <a:cubicBezTo>
                  <a:pt x="121398" y="14004"/>
                  <a:pt x="116847" y="14923"/>
                  <a:pt x="112558" y="16674"/>
                </a:cubicBezTo>
                <a:lnTo>
                  <a:pt x="6477" y="60349"/>
                </a:lnTo>
                <a:cubicBezTo>
                  <a:pt x="2538" y="61968"/>
                  <a:pt x="0" y="65776"/>
                  <a:pt x="0" y="70021"/>
                </a:cubicBezTo>
                <a:lnTo>
                  <a:pt x="0" y="199559"/>
                </a:lnTo>
                <a:cubicBezTo>
                  <a:pt x="0" y="205379"/>
                  <a:pt x="4683" y="210062"/>
                  <a:pt x="10503" y="210062"/>
                </a:cubicBezTo>
                <a:cubicBezTo>
                  <a:pt x="16324" y="210062"/>
                  <a:pt x="21006" y="205379"/>
                  <a:pt x="21006" y="199559"/>
                </a:cubicBezTo>
                <a:lnTo>
                  <a:pt x="21006" y="85688"/>
                </a:lnTo>
                <a:close/>
                <a:moveTo>
                  <a:pt x="42012" y="117066"/>
                </a:moveTo>
                <a:lnTo>
                  <a:pt x="42012" y="168050"/>
                </a:lnTo>
                <a:cubicBezTo>
                  <a:pt x="42012" y="191244"/>
                  <a:pt x="79649" y="210062"/>
                  <a:pt x="126037" y="210062"/>
                </a:cubicBezTo>
                <a:cubicBezTo>
                  <a:pt x="172426" y="210062"/>
                  <a:pt x="210062" y="191244"/>
                  <a:pt x="210062" y="168050"/>
                </a:cubicBezTo>
                <a:lnTo>
                  <a:pt x="210062" y="117022"/>
                </a:lnTo>
                <a:lnTo>
                  <a:pt x="147525" y="142798"/>
                </a:lnTo>
                <a:cubicBezTo>
                  <a:pt x="140698" y="145599"/>
                  <a:pt x="133433" y="147043"/>
                  <a:pt x="126037" y="147043"/>
                </a:cubicBezTo>
                <a:cubicBezTo>
                  <a:pt x="118641" y="147043"/>
                  <a:pt x="111377" y="145599"/>
                  <a:pt x="104550" y="142798"/>
                </a:cubicBezTo>
                <a:lnTo>
                  <a:pt x="42012" y="117022"/>
                </a:ln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1299584" y="5310368"/>
            <a:ext cx="1008298" cy="31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64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理论突破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27385" y="5870533"/>
            <a:ext cx="4638170" cy="717012"/>
          </a:xfrm>
          <a:custGeom>
            <a:avLst/>
            <a:gdLst/>
            <a:ahLst/>
            <a:cxnLst/>
            <a:rect l="l" t="t" r="r" b="b"/>
            <a:pathLst>
              <a:path w="4638170" h="717012">
                <a:moveTo>
                  <a:pt x="89626" y="0"/>
                </a:moveTo>
                <a:lnTo>
                  <a:pt x="4548543" y="0"/>
                </a:lnTo>
                <a:cubicBezTo>
                  <a:pt x="4598042" y="0"/>
                  <a:pt x="4638170" y="40127"/>
                  <a:pt x="4638170" y="89626"/>
                </a:cubicBezTo>
                <a:lnTo>
                  <a:pt x="4638170" y="627385"/>
                </a:lnTo>
                <a:cubicBezTo>
                  <a:pt x="4638170" y="676885"/>
                  <a:pt x="4598042" y="717012"/>
                  <a:pt x="4548543" y="717012"/>
                </a:cubicBezTo>
                <a:lnTo>
                  <a:pt x="89626" y="717012"/>
                </a:lnTo>
                <a:cubicBezTo>
                  <a:pt x="40127" y="717012"/>
                  <a:pt x="0" y="676885"/>
                  <a:pt x="0" y="627385"/>
                </a:cubicBezTo>
                <a:lnTo>
                  <a:pt x="0" y="89626"/>
                </a:lnTo>
                <a:cubicBezTo>
                  <a:pt x="0" y="40127"/>
                  <a:pt x="40127" y="0"/>
                  <a:pt x="89626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717012" y="5960160"/>
            <a:ext cx="4548543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分布式系统理论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17012" y="6273853"/>
            <a:ext cx="4537340" cy="224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5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CAP定理深化，一致性模型发展，Paxos/Raft算法成熟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27385" y="6677172"/>
            <a:ext cx="4638170" cy="717012"/>
          </a:xfrm>
          <a:custGeom>
            <a:avLst/>
            <a:gdLst/>
            <a:ahLst/>
            <a:cxnLst/>
            <a:rect l="l" t="t" r="r" b="b"/>
            <a:pathLst>
              <a:path w="4638170" h="717012">
                <a:moveTo>
                  <a:pt x="89626" y="0"/>
                </a:moveTo>
                <a:lnTo>
                  <a:pt x="4548543" y="0"/>
                </a:lnTo>
                <a:cubicBezTo>
                  <a:pt x="4598042" y="0"/>
                  <a:pt x="4638170" y="40127"/>
                  <a:pt x="4638170" y="89626"/>
                </a:cubicBezTo>
                <a:lnTo>
                  <a:pt x="4638170" y="627385"/>
                </a:lnTo>
                <a:cubicBezTo>
                  <a:pt x="4638170" y="676885"/>
                  <a:pt x="4598042" y="717012"/>
                  <a:pt x="4548543" y="717012"/>
                </a:cubicBezTo>
                <a:lnTo>
                  <a:pt x="89626" y="717012"/>
                </a:lnTo>
                <a:cubicBezTo>
                  <a:pt x="40127" y="717012"/>
                  <a:pt x="0" y="676885"/>
                  <a:pt x="0" y="627385"/>
                </a:cubicBezTo>
                <a:lnTo>
                  <a:pt x="0" y="89626"/>
                </a:lnTo>
                <a:cubicBezTo>
                  <a:pt x="0" y="40127"/>
                  <a:pt x="40127" y="0"/>
                  <a:pt x="89626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717012" y="6766798"/>
            <a:ext cx="4548543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流处理算法理论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17012" y="7080491"/>
            <a:ext cx="4537340" cy="224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5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亚线性算法、近似算法、滑动窗口算法理论完善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626511" y="5019082"/>
            <a:ext cx="4996675" cy="2778420"/>
          </a:xfrm>
          <a:custGeom>
            <a:avLst/>
            <a:gdLst/>
            <a:ahLst/>
            <a:cxnLst/>
            <a:rect l="l" t="t" r="r" b="b"/>
            <a:pathLst>
              <a:path w="4996675" h="2778420">
                <a:moveTo>
                  <a:pt x="134448" y="0"/>
                </a:moveTo>
                <a:lnTo>
                  <a:pt x="4862228" y="0"/>
                </a:lnTo>
                <a:cubicBezTo>
                  <a:pt x="4936481" y="0"/>
                  <a:pt x="4996675" y="60194"/>
                  <a:pt x="4996675" y="134448"/>
                </a:cubicBezTo>
                <a:lnTo>
                  <a:pt x="4996675" y="2643973"/>
                </a:lnTo>
                <a:cubicBezTo>
                  <a:pt x="4996675" y="2718226"/>
                  <a:pt x="4936481" y="2778420"/>
                  <a:pt x="4862228" y="2778420"/>
                </a:cubicBezTo>
                <a:lnTo>
                  <a:pt x="134448" y="2778420"/>
                </a:lnTo>
                <a:cubicBezTo>
                  <a:pt x="60194" y="2778420"/>
                  <a:pt x="0" y="2718226"/>
                  <a:pt x="0" y="2643973"/>
                </a:cubicBezTo>
                <a:lnTo>
                  <a:pt x="0" y="134448"/>
                </a:lnTo>
                <a:cubicBezTo>
                  <a:pt x="0" y="60194"/>
                  <a:pt x="60194" y="0"/>
                  <a:pt x="134448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5805764" y="5198335"/>
            <a:ext cx="537759" cy="537759"/>
          </a:xfrm>
          <a:custGeom>
            <a:avLst/>
            <a:gdLst/>
            <a:ahLst/>
            <a:cxnLst/>
            <a:rect l="l" t="t" r="r" b="b"/>
            <a:pathLst>
              <a:path w="537759" h="537759">
                <a:moveTo>
                  <a:pt x="89628" y="0"/>
                </a:moveTo>
                <a:lnTo>
                  <a:pt x="448131" y="0"/>
                </a:lnTo>
                <a:cubicBezTo>
                  <a:pt x="497631" y="0"/>
                  <a:pt x="537759" y="40128"/>
                  <a:pt x="537759" y="89628"/>
                </a:cubicBezTo>
                <a:lnTo>
                  <a:pt x="537759" y="448131"/>
                </a:lnTo>
                <a:cubicBezTo>
                  <a:pt x="537759" y="497631"/>
                  <a:pt x="497631" y="537759"/>
                  <a:pt x="448131" y="537759"/>
                </a:cubicBezTo>
                <a:lnTo>
                  <a:pt x="89628" y="537759"/>
                </a:lnTo>
                <a:cubicBezTo>
                  <a:pt x="40128" y="537759"/>
                  <a:pt x="0" y="497631"/>
                  <a:pt x="0" y="448131"/>
                </a:cubicBezTo>
                <a:lnTo>
                  <a:pt x="0" y="89628"/>
                </a:lnTo>
                <a:cubicBezTo>
                  <a:pt x="0" y="40161"/>
                  <a:pt x="40161" y="0"/>
                  <a:pt x="89628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5976615" y="5355181"/>
            <a:ext cx="196058" cy="224066"/>
          </a:xfrm>
          <a:custGeom>
            <a:avLst/>
            <a:gdLst/>
            <a:ahLst/>
            <a:cxnLst/>
            <a:rect l="l" t="t" r="r" b="b"/>
            <a:pathLst>
              <a:path w="196058" h="224066">
                <a:moveTo>
                  <a:pt x="35010" y="45513"/>
                </a:moveTo>
                <a:cubicBezTo>
                  <a:pt x="40807" y="45513"/>
                  <a:pt x="45513" y="40807"/>
                  <a:pt x="45513" y="35010"/>
                </a:cubicBezTo>
                <a:cubicBezTo>
                  <a:pt x="45513" y="29214"/>
                  <a:pt x="40807" y="24507"/>
                  <a:pt x="35010" y="24507"/>
                </a:cubicBezTo>
                <a:cubicBezTo>
                  <a:pt x="29214" y="24507"/>
                  <a:pt x="24507" y="29214"/>
                  <a:pt x="24507" y="35010"/>
                </a:cubicBezTo>
                <a:cubicBezTo>
                  <a:pt x="24507" y="40807"/>
                  <a:pt x="29214" y="45513"/>
                  <a:pt x="35010" y="45513"/>
                </a:cubicBezTo>
                <a:close/>
                <a:moveTo>
                  <a:pt x="70021" y="35010"/>
                </a:moveTo>
                <a:cubicBezTo>
                  <a:pt x="70021" y="49365"/>
                  <a:pt x="61399" y="61706"/>
                  <a:pt x="49014" y="67089"/>
                </a:cubicBezTo>
                <a:lnTo>
                  <a:pt x="49014" y="98029"/>
                </a:lnTo>
                <a:lnTo>
                  <a:pt x="126037" y="98029"/>
                </a:lnTo>
                <a:cubicBezTo>
                  <a:pt x="137634" y="98029"/>
                  <a:pt x="147043" y="88620"/>
                  <a:pt x="147043" y="77023"/>
                </a:cubicBezTo>
                <a:lnTo>
                  <a:pt x="147043" y="67089"/>
                </a:lnTo>
                <a:cubicBezTo>
                  <a:pt x="134659" y="61706"/>
                  <a:pt x="126037" y="49365"/>
                  <a:pt x="126037" y="35010"/>
                </a:cubicBezTo>
                <a:cubicBezTo>
                  <a:pt x="126037" y="15667"/>
                  <a:pt x="141704" y="0"/>
                  <a:pt x="161048" y="0"/>
                </a:cubicBezTo>
                <a:cubicBezTo>
                  <a:pt x="180391" y="0"/>
                  <a:pt x="196058" y="15667"/>
                  <a:pt x="196058" y="35010"/>
                </a:cubicBezTo>
                <a:cubicBezTo>
                  <a:pt x="196058" y="49365"/>
                  <a:pt x="187437" y="61706"/>
                  <a:pt x="175052" y="67089"/>
                </a:cubicBezTo>
                <a:lnTo>
                  <a:pt x="175052" y="77023"/>
                </a:lnTo>
                <a:cubicBezTo>
                  <a:pt x="175052" y="104112"/>
                  <a:pt x="153126" y="126037"/>
                  <a:pt x="126037" y="126037"/>
                </a:cubicBezTo>
                <a:lnTo>
                  <a:pt x="49014" y="126037"/>
                </a:lnTo>
                <a:lnTo>
                  <a:pt x="49014" y="156978"/>
                </a:lnTo>
                <a:cubicBezTo>
                  <a:pt x="61399" y="162360"/>
                  <a:pt x="70021" y="174702"/>
                  <a:pt x="70021" y="189056"/>
                </a:cubicBezTo>
                <a:cubicBezTo>
                  <a:pt x="70021" y="208399"/>
                  <a:pt x="54354" y="224066"/>
                  <a:pt x="35010" y="224066"/>
                </a:cubicBezTo>
                <a:cubicBezTo>
                  <a:pt x="15667" y="224066"/>
                  <a:pt x="0" y="208399"/>
                  <a:pt x="0" y="189056"/>
                </a:cubicBezTo>
                <a:cubicBezTo>
                  <a:pt x="0" y="174702"/>
                  <a:pt x="8621" y="162360"/>
                  <a:pt x="21006" y="156978"/>
                </a:cubicBezTo>
                <a:lnTo>
                  <a:pt x="21006" y="67132"/>
                </a:lnTo>
                <a:cubicBezTo>
                  <a:pt x="8621" y="61706"/>
                  <a:pt x="0" y="49365"/>
                  <a:pt x="0" y="35010"/>
                </a:cubicBezTo>
                <a:cubicBezTo>
                  <a:pt x="0" y="15667"/>
                  <a:pt x="15667" y="0"/>
                  <a:pt x="35010" y="0"/>
                </a:cubicBezTo>
                <a:cubicBezTo>
                  <a:pt x="54354" y="0"/>
                  <a:pt x="70021" y="15667"/>
                  <a:pt x="70021" y="35010"/>
                </a:cubicBezTo>
                <a:close/>
                <a:moveTo>
                  <a:pt x="171551" y="35010"/>
                </a:moveTo>
                <a:cubicBezTo>
                  <a:pt x="171551" y="29214"/>
                  <a:pt x="166844" y="24507"/>
                  <a:pt x="161048" y="24507"/>
                </a:cubicBezTo>
                <a:cubicBezTo>
                  <a:pt x="155251" y="24507"/>
                  <a:pt x="150544" y="29214"/>
                  <a:pt x="150544" y="35010"/>
                </a:cubicBezTo>
                <a:cubicBezTo>
                  <a:pt x="150544" y="40807"/>
                  <a:pt x="155251" y="45513"/>
                  <a:pt x="161048" y="45513"/>
                </a:cubicBezTo>
                <a:cubicBezTo>
                  <a:pt x="166844" y="45513"/>
                  <a:pt x="171551" y="40807"/>
                  <a:pt x="171551" y="35010"/>
                </a:cubicBezTo>
                <a:close/>
                <a:moveTo>
                  <a:pt x="35010" y="199559"/>
                </a:moveTo>
                <a:cubicBezTo>
                  <a:pt x="40807" y="199559"/>
                  <a:pt x="45513" y="194853"/>
                  <a:pt x="45513" y="189056"/>
                </a:cubicBezTo>
                <a:cubicBezTo>
                  <a:pt x="45513" y="183259"/>
                  <a:pt x="40807" y="178553"/>
                  <a:pt x="35010" y="178553"/>
                </a:cubicBezTo>
                <a:cubicBezTo>
                  <a:pt x="29214" y="178553"/>
                  <a:pt x="24507" y="183259"/>
                  <a:pt x="24507" y="189056"/>
                </a:cubicBezTo>
                <a:cubicBezTo>
                  <a:pt x="24507" y="194853"/>
                  <a:pt x="29214" y="199559"/>
                  <a:pt x="35010" y="199559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6477963" y="5310368"/>
            <a:ext cx="1456430" cy="31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64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开源生态建设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5805764" y="5870533"/>
            <a:ext cx="4638170" cy="941078"/>
          </a:xfrm>
          <a:custGeom>
            <a:avLst/>
            <a:gdLst/>
            <a:ahLst/>
            <a:cxnLst/>
            <a:rect l="l" t="t" r="r" b="b"/>
            <a:pathLst>
              <a:path w="4638170" h="941078">
                <a:moveTo>
                  <a:pt x="89628" y="0"/>
                </a:moveTo>
                <a:lnTo>
                  <a:pt x="4548541" y="0"/>
                </a:lnTo>
                <a:cubicBezTo>
                  <a:pt x="4598042" y="0"/>
                  <a:pt x="4638170" y="40128"/>
                  <a:pt x="4638170" y="89628"/>
                </a:cubicBezTo>
                <a:lnTo>
                  <a:pt x="4638170" y="851450"/>
                </a:lnTo>
                <a:cubicBezTo>
                  <a:pt x="4638170" y="900950"/>
                  <a:pt x="4598042" y="941078"/>
                  <a:pt x="4548541" y="941078"/>
                </a:cubicBezTo>
                <a:lnTo>
                  <a:pt x="89628" y="941078"/>
                </a:lnTo>
                <a:cubicBezTo>
                  <a:pt x="40128" y="941078"/>
                  <a:pt x="0" y="900950"/>
                  <a:pt x="0" y="851450"/>
                </a:cubicBezTo>
                <a:lnTo>
                  <a:pt x="0" y="89628"/>
                </a:lnTo>
                <a:cubicBezTo>
                  <a:pt x="0" y="40128"/>
                  <a:pt x="40128" y="0"/>
                  <a:pt x="8962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5895391" y="5960160"/>
            <a:ext cx="4548543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Apache基金会生态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5895391" y="6273853"/>
            <a:ext cx="4537340" cy="448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5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批处理(Hadoop/Spark)，流处理(Flink/Storm)，消息中间件(Kafka/Pulsar)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5805764" y="6901238"/>
            <a:ext cx="4638170" cy="717012"/>
          </a:xfrm>
          <a:custGeom>
            <a:avLst/>
            <a:gdLst/>
            <a:ahLst/>
            <a:cxnLst/>
            <a:rect l="l" t="t" r="r" b="b"/>
            <a:pathLst>
              <a:path w="4638170" h="717012">
                <a:moveTo>
                  <a:pt x="89626" y="0"/>
                </a:moveTo>
                <a:lnTo>
                  <a:pt x="4548543" y="0"/>
                </a:lnTo>
                <a:cubicBezTo>
                  <a:pt x="4598042" y="0"/>
                  <a:pt x="4638170" y="40127"/>
                  <a:pt x="4638170" y="89626"/>
                </a:cubicBezTo>
                <a:lnTo>
                  <a:pt x="4638170" y="627385"/>
                </a:lnTo>
                <a:cubicBezTo>
                  <a:pt x="4638170" y="676885"/>
                  <a:pt x="4598042" y="717012"/>
                  <a:pt x="4548543" y="717012"/>
                </a:cubicBezTo>
                <a:lnTo>
                  <a:pt x="89626" y="717012"/>
                </a:lnTo>
                <a:cubicBezTo>
                  <a:pt x="40127" y="717012"/>
                  <a:pt x="0" y="676885"/>
                  <a:pt x="0" y="627385"/>
                </a:cubicBezTo>
                <a:lnTo>
                  <a:pt x="0" y="89626"/>
                </a:lnTo>
                <a:cubicBezTo>
                  <a:pt x="0" y="40127"/>
                  <a:pt x="40127" y="0"/>
                  <a:pt x="89626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Text 61"/>
          <p:cNvSpPr/>
          <p:nvPr/>
        </p:nvSpPr>
        <p:spPr>
          <a:xfrm>
            <a:off x="5895391" y="6990864"/>
            <a:ext cx="4548543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云原生技术推动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5895391" y="7304557"/>
            <a:ext cx="4537340" cy="224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5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Docker容器化，Kubernetes编排，Istio/Linkerd服务网格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10804890" y="5019082"/>
            <a:ext cx="4996675" cy="2778420"/>
          </a:xfrm>
          <a:custGeom>
            <a:avLst/>
            <a:gdLst/>
            <a:ahLst/>
            <a:cxnLst/>
            <a:rect l="l" t="t" r="r" b="b"/>
            <a:pathLst>
              <a:path w="4996675" h="2778420">
                <a:moveTo>
                  <a:pt x="134448" y="0"/>
                </a:moveTo>
                <a:lnTo>
                  <a:pt x="4862228" y="0"/>
                </a:lnTo>
                <a:cubicBezTo>
                  <a:pt x="4936481" y="0"/>
                  <a:pt x="4996675" y="60194"/>
                  <a:pt x="4996675" y="134448"/>
                </a:cubicBezTo>
                <a:lnTo>
                  <a:pt x="4996675" y="2643973"/>
                </a:lnTo>
                <a:cubicBezTo>
                  <a:pt x="4996675" y="2718226"/>
                  <a:pt x="4936481" y="2778420"/>
                  <a:pt x="4862228" y="2778420"/>
                </a:cubicBezTo>
                <a:lnTo>
                  <a:pt x="134448" y="2778420"/>
                </a:lnTo>
                <a:cubicBezTo>
                  <a:pt x="60194" y="2778420"/>
                  <a:pt x="0" y="2718226"/>
                  <a:pt x="0" y="2643973"/>
                </a:cubicBezTo>
                <a:lnTo>
                  <a:pt x="0" y="134448"/>
                </a:lnTo>
                <a:cubicBezTo>
                  <a:pt x="0" y="60194"/>
                  <a:pt x="60194" y="0"/>
                  <a:pt x="134448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Shape 64"/>
          <p:cNvSpPr/>
          <p:nvPr/>
        </p:nvSpPr>
        <p:spPr>
          <a:xfrm>
            <a:off x="10984143" y="5198335"/>
            <a:ext cx="537759" cy="537759"/>
          </a:xfrm>
          <a:custGeom>
            <a:avLst/>
            <a:gdLst/>
            <a:ahLst/>
            <a:cxnLst/>
            <a:rect l="l" t="t" r="r" b="b"/>
            <a:pathLst>
              <a:path w="537759" h="537759">
                <a:moveTo>
                  <a:pt x="89628" y="0"/>
                </a:moveTo>
                <a:lnTo>
                  <a:pt x="448131" y="0"/>
                </a:lnTo>
                <a:cubicBezTo>
                  <a:pt x="497631" y="0"/>
                  <a:pt x="537759" y="40128"/>
                  <a:pt x="537759" y="89628"/>
                </a:cubicBezTo>
                <a:lnTo>
                  <a:pt x="537759" y="448131"/>
                </a:lnTo>
                <a:cubicBezTo>
                  <a:pt x="537759" y="497631"/>
                  <a:pt x="497631" y="537759"/>
                  <a:pt x="448131" y="537759"/>
                </a:cubicBezTo>
                <a:lnTo>
                  <a:pt x="89628" y="537759"/>
                </a:lnTo>
                <a:cubicBezTo>
                  <a:pt x="40128" y="537759"/>
                  <a:pt x="0" y="497631"/>
                  <a:pt x="0" y="448131"/>
                </a:cubicBezTo>
                <a:lnTo>
                  <a:pt x="0" y="89628"/>
                </a:lnTo>
                <a:cubicBezTo>
                  <a:pt x="0" y="40161"/>
                  <a:pt x="40161" y="0"/>
                  <a:pt x="89628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7" name="Shape 65"/>
          <p:cNvSpPr/>
          <p:nvPr/>
        </p:nvSpPr>
        <p:spPr>
          <a:xfrm>
            <a:off x="11183002" y="5355181"/>
            <a:ext cx="140041" cy="224066"/>
          </a:xfrm>
          <a:custGeom>
            <a:avLst/>
            <a:gdLst/>
            <a:ahLst/>
            <a:cxnLst/>
            <a:rect l="l" t="t" r="r" b="b"/>
            <a:pathLst>
              <a:path w="140041" h="224066">
                <a:moveTo>
                  <a:pt x="59518" y="10503"/>
                </a:moveTo>
                <a:cubicBezTo>
                  <a:pt x="59518" y="4683"/>
                  <a:pt x="64200" y="0"/>
                  <a:pt x="70021" y="0"/>
                </a:cubicBezTo>
                <a:cubicBezTo>
                  <a:pt x="75841" y="0"/>
                  <a:pt x="80524" y="4683"/>
                  <a:pt x="80524" y="10503"/>
                </a:cubicBezTo>
                <a:lnTo>
                  <a:pt x="80524" y="28008"/>
                </a:lnTo>
                <a:lnTo>
                  <a:pt x="105031" y="28008"/>
                </a:lnTo>
                <a:cubicBezTo>
                  <a:pt x="112777" y="28008"/>
                  <a:pt x="119035" y="34266"/>
                  <a:pt x="119035" y="42012"/>
                </a:cubicBezTo>
                <a:cubicBezTo>
                  <a:pt x="119035" y="49758"/>
                  <a:pt x="112777" y="56017"/>
                  <a:pt x="105031" y="56017"/>
                </a:cubicBezTo>
                <a:lnTo>
                  <a:pt x="54747" y="56017"/>
                </a:lnTo>
                <a:cubicBezTo>
                  <a:pt x="43850" y="56017"/>
                  <a:pt x="35010" y="64857"/>
                  <a:pt x="35010" y="75754"/>
                </a:cubicBezTo>
                <a:cubicBezTo>
                  <a:pt x="35010" y="85600"/>
                  <a:pt x="42231" y="93915"/>
                  <a:pt x="51947" y="95316"/>
                </a:cubicBezTo>
                <a:lnTo>
                  <a:pt x="92033" y="101049"/>
                </a:lnTo>
                <a:cubicBezTo>
                  <a:pt x="115578" y="104418"/>
                  <a:pt x="133039" y="124549"/>
                  <a:pt x="133039" y="148313"/>
                </a:cubicBezTo>
                <a:cubicBezTo>
                  <a:pt x="133039" y="174702"/>
                  <a:pt x="111639" y="196058"/>
                  <a:pt x="85294" y="196058"/>
                </a:cubicBezTo>
                <a:lnTo>
                  <a:pt x="80524" y="196058"/>
                </a:lnTo>
                <a:lnTo>
                  <a:pt x="80524" y="213563"/>
                </a:lnTo>
                <a:cubicBezTo>
                  <a:pt x="80524" y="219384"/>
                  <a:pt x="75841" y="224066"/>
                  <a:pt x="70021" y="224066"/>
                </a:cubicBezTo>
                <a:cubicBezTo>
                  <a:pt x="64200" y="224066"/>
                  <a:pt x="59518" y="219384"/>
                  <a:pt x="59518" y="213563"/>
                </a:cubicBezTo>
                <a:lnTo>
                  <a:pt x="59518" y="196058"/>
                </a:lnTo>
                <a:lnTo>
                  <a:pt x="28008" y="196058"/>
                </a:lnTo>
                <a:cubicBezTo>
                  <a:pt x="20262" y="196058"/>
                  <a:pt x="14004" y="189800"/>
                  <a:pt x="14004" y="182054"/>
                </a:cubicBezTo>
                <a:cubicBezTo>
                  <a:pt x="14004" y="174308"/>
                  <a:pt x="20262" y="168050"/>
                  <a:pt x="28008" y="168050"/>
                </a:cubicBezTo>
                <a:lnTo>
                  <a:pt x="85294" y="168050"/>
                </a:lnTo>
                <a:cubicBezTo>
                  <a:pt x="96191" y="168050"/>
                  <a:pt x="105031" y="159210"/>
                  <a:pt x="105031" y="148313"/>
                </a:cubicBezTo>
                <a:cubicBezTo>
                  <a:pt x="105031" y="138466"/>
                  <a:pt x="97810" y="130151"/>
                  <a:pt x="88095" y="128751"/>
                </a:cubicBezTo>
                <a:lnTo>
                  <a:pt x="48008" y="123018"/>
                </a:lnTo>
                <a:cubicBezTo>
                  <a:pt x="24463" y="119692"/>
                  <a:pt x="7002" y="99517"/>
                  <a:pt x="7002" y="75754"/>
                </a:cubicBezTo>
                <a:cubicBezTo>
                  <a:pt x="7002" y="49408"/>
                  <a:pt x="28402" y="28008"/>
                  <a:pt x="54747" y="28008"/>
                </a:cubicBezTo>
                <a:lnTo>
                  <a:pt x="59518" y="28008"/>
                </a:lnTo>
                <a:lnTo>
                  <a:pt x="59518" y="10503"/>
                </a:ln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8" name="Text 66"/>
          <p:cNvSpPr/>
          <p:nvPr/>
        </p:nvSpPr>
        <p:spPr>
          <a:xfrm>
            <a:off x="11656342" y="5310368"/>
            <a:ext cx="1456430" cy="31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64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商业价值显现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10984143" y="5870533"/>
            <a:ext cx="4638170" cy="717012"/>
          </a:xfrm>
          <a:custGeom>
            <a:avLst/>
            <a:gdLst/>
            <a:ahLst/>
            <a:cxnLst/>
            <a:rect l="l" t="t" r="r" b="b"/>
            <a:pathLst>
              <a:path w="4638170" h="717012">
                <a:moveTo>
                  <a:pt x="89626" y="0"/>
                </a:moveTo>
                <a:lnTo>
                  <a:pt x="4548543" y="0"/>
                </a:lnTo>
                <a:cubicBezTo>
                  <a:pt x="4598042" y="0"/>
                  <a:pt x="4638170" y="40127"/>
                  <a:pt x="4638170" y="89626"/>
                </a:cubicBezTo>
                <a:lnTo>
                  <a:pt x="4638170" y="627385"/>
                </a:lnTo>
                <a:cubicBezTo>
                  <a:pt x="4638170" y="676885"/>
                  <a:pt x="4598042" y="717012"/>
                  <a:pt x="4548543" y="717012"/>
                </a:cubicBezTo>
                <a:lnTo>
                  <a:pt x="89626" y="717012"/>
                </a:lnTo>
                <a:cubicBezTo>
                  <a:pt x="40127" y="717012"/>
                  <a:pt x="0" y="676885"/>
                  <a:pt x="0" y="627385"/>
                </a:cubicBezTo>
                <a:lnTo>
                  <a:pt x="0" y="89626"/>
                </a:lnTo>
                <a:cubicBezTo>
                  <a:pt x="0" y="40127"/>
                  <a:pt x="40127" y="0"/>
                  <a:pt x="89626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0" name="Text 68"/>
          <p:cNvSpPr/>
          <p:nvPr/>
        </p:nvSpPr>
        <p:spPr>
          <a:xfrm>
            <a:off x="11073770" y="5960160"/>
            <a:ext cx="4548543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成本效益分析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11073770" y="6273853"/>
            <a:ext cx="4537340" cy="224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5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流式计算在某些场景下具有更好的TCO（总拥有成本）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10984143" y="6677172"/>
            <a:ext cx="4638170" cy="717012"/>
          </a:xfrm>
          <a:custGeom>
            <a:avLst/>
            <a:gdLst/>
            <a:ahLst/>
            <a:cxnLst/>
            <a:rect l="l" t="t" r="r" b="b"/>
            <a:pathLst>
              <a:path w="4638170" h="717012">
                <a:moveTo>
                  <a:pt x="89626" y="0"/>
                </a:moveTo>
                <a:lnTo>
                  <a:pt x="4548543" y="0"/>
                </a:lnTo>
                <a:cubicBezTo>
                  <a:pt x="4598042" y="0"/>
                  <a:pt x="4638170" y="40127"/>
                  <a:pt x="4638170" y="89626"/>
                </a:cubicBezTo>
                <a:lnTo>
                  <a:pt x="4638170" y="627385"/>
                </a:lnTo>
                <a:cubicBezTo>
                  <a:pt x="4638170" y="676885"/>
                  <a:pt x="4598042" y="717012"/>
                  <a:pt x="4548543" y="717012"/>
                </a:cubicBezTo>
                <a:lnTo>
                  <a:pt x="89626" y="717012"/>
                </a:lnTo>
                <a:cubicBezTo>
                  <a:pt x="40127" y="717012"/>
                  <a:pt x="0" y="676885"/>
                  <a:pt x="0" y="627385"/>
                </a:cubicBezTo>
                <a:lnTo>
                  <a:pt x="0" y="89626"/>
                </a:lnTo>
                <a:cubicBezTo>
                  <a:pt x="0" y="40127"/>
                  <a:pt x="40127" y="0"/>
                  <a:pt x="89626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3" name="Text 71"/>
          <p:cNvSpPr/>
          <p:nvPr/>
        </p:nvSpPr>
        <p:spPr>
          <a:xfrm>
            <a:off x="11073770" y="6766798"/>
            <a:ext cx="4548543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ROI明确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11073770" y="7080491"/>
            <a:ext cx="4537340" cy="224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5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实时数据处理带来的业务价值可以量化衡量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-blog.csdnimg.cn/c1850126ade32d995f9c595df471c9dd33c314f0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1014" b="1014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>
                  <a:alpha val="9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33400" y="1778000"/>
            <a:ext cx="1955800" cy="711200"/>
          </a:xfrm>
          <a:custGeom>
            <a:avLst/>
            <a:gdLst/>
            <a:ahLst/>
            <a:cxnLst/>
            <a:rect l="l" t="t" r="r" b="b"/>
            <a:pathLst>
              <a:path w="1955800" h="711200">
                <a:moveTo>
                  <a:pt x="0" y="0"/>
                </a:moveTo>
                <a:lnTo>
                  <a:pt x="1955800" y="0"/>
                </a:lnTo>
                <a:lnTo>
                  <a:pt x="19558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5F677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533400" y="1778000"/>
            <a:ext cx="50800" cy="711200"/>
          </a:xfrm>
          <a:custGeom>
            <a:avLst/>
            <a:gdLst/>
            <a:ahLst/>
            <a:cxnLst/>
            <a:rect l="l" t="t" r="r" b="b"/>
            <a:pathLst>
              <a:path w="50800" h="711200">
                <a:moveTo>
                  <a:pt x="0" y="0"/>
                </a:moveTo>
                <a:lnTo>
                  <a:pt x="50800" y="0"/>
                </a:lnTo>
                <a:lnTo>
                  <a:pt x="508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5F67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863600" y="1930400"/>
            <a:ext cx="1472803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kern="0" spc="120" dirty="0">
                <a:solidFill>
                  <a:srgbClr val="5F67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PART 02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2794000"/>
            <a:ext cx="1569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技术入门篇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8000" y="4241800"/>
            <a:ext cx="87249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5F67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以Apache Flink为核心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5F67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从架构到API，构建流式计算编程能力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14350" y="5975350"/>
            <a:ext cx="3098800" cy="1384300"/>
          </a:xfrm>
          <a:custGeom>
            <a:avLst/>
            <a:gdLst/>
            <a:ahLst/>
            <a:cxnLst/>
            <a:rect l="l" t="t" r="r" b="b"/>
            <a:pathLst>
              <a:path w="3098800" h="1384300">
                <a:moveTo>
                  <a:pt x="101594" y="0"/>
                </a:moveTo>
                <a:lnTo>
                  <a:pt x="2997206" y="0"/>
                </a:lnTo>
                <a:cubicBezTo>
                  <a:pt x="3053315" y="0"/>
                  <a:pt x="3098800" y="45485"/>
                  <a:pt x="3098800" y="101594"/>
                </a:cubicBezTo>
                <a:lnTo>
                  <a:pt x="3098800" y="1282706"/>
                </a:lnTo>
                <a:cubicBezTo>
                  <a:pt x="3098800" y="1338815"/>
                  <a:pt x="3053315" y="1384300"/>
                  <a:pt x="2997206" y="1384300"/>
                </a:cubicBezTo>
                <a:lnTo>
                  <a:pt x="101594" y="1384300"/>
                </a:lnTo>
                <a:cubicBezTo>
                  <a:pt x="45485" y="1384300"/>
                  <a:pt x="0" y="1338815"/>
                  <a:pt x="0" y="1282706"/>
                </a:cubicBezTo>
                <a:lnTo>
                  <a:pt x="0" y="101594"/>
                </a:lnTo>
                <a:cubicBezTo>
                  <a:pt x="0" y="45485"/>
                  <a:pt x="45485" y="0"/>
                  <a:pt x="101594" y="0"/>
                </a:cubicBezTo>
                <a:close/>
              </a:path>
            </a:pathLst>
          </a:custGeom>
          <a:solidFill>
            <a:srgbClr val="333842">
              <a:alpha val="80000"/>
            </a:srgbClr>
          </a:solidFill>
          <a:ln w="12700">
            <a:solidFill>
              <a:srgbClr val="5F677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723900" y="6235700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206325" y="104428"/>
                </a:moveTo>
                <a:cubicBezTo>
                  <a:pt x="212378" y="102791"/>
                  <a:pt x="218728" y="105668"/>
                  <a:pt x="221456" y="111274"/>
                </a:cubicBezTo>
                <a:lnTo>
                  <a:pt x="230684" y="129927"/>
                </a:lnTo>
                <a:cubicBezTo>
                  <a:pt x="235793" y="130621"/>
                  <a:pt x="240804" y="132011"/>
                  <a:pt x="245517" y="133945"/>
                </a:cubicBezTo>
                <a:lnTo>
                  <a:pt x="262880" y="122386"/>
                </a:lnTo>
                <a:cubicBezTo>
                  <a:pt x="268089" y="118914"/>
                  <a:pt x="274985" y="119608"/>
                  <a:pt x="279400" y="124023"/>
                </a:cubicBezTo>
                <a:lnTo>
                  <a:pt x="288925" y="133548"/>
                </a:lnTo>
                <a:cubicBezTo>
                  <a:pt x="293340" y="137964"/>
                  <a:pt x="294035" y="144909"/>
                  <a:pt x="290562" y="150068"/>
                </a:cubicBezTo>
                <a:lnTo>
                  <a:pt x="279003" y="167382"/>
                </a:lnTo>
                <a:cubicBezTo>
                  <a:pt x="279946" y="169714"/>
                  <a:pt x="280789" y="172145"/>
                  <a:pt x="281484" y="174675"/>
                </a:cubicBezTo>
                <a:cubicBezTo>
                  <a:pt x="282178" y="177205"/>
                  <a:pt x="282625" y="179685"/>
                  <a:pt x="282972" y="182215"/>
                </a:cubicBezTo>
                <a:lnTo>
                  <a:pt x="301675" y="191443"/>
                </a:lnTo>
                <a:cubicBezTo>
                  <a:pt x="307280" y="194221"/>
                  <a:pt x="310158" y="200571"/>
                  <a:pt x="308521" y="206573"/>
                </a:cubicBezTo>
                <a:lnTo>
                  <a:pt x="305048" y="219571"/>
                </a:lnTo>
                <a:cubicBezTo>
                  <a:pt x="303411" y="225574"/>
                  <a:pt x="297805" y="229642"/>
                  <a:pt x="291554" y="229245"/>
                </a:cubicBezTo>
                <a:lnTo>
                  <a:pt x="270718" y="227905"/>
                </a:lnTo>
                <a:cubicBezTo>
                  <a:pt x="267593" y="231924"/>
                  <a:pt x="263971" y="235645"/>
                  <a:pt x="259854" y="238820"/>
                </a:cubicBezTo>
                <a:lnTo>
                  <a:pt x="261193" y="259606"/>
                </a:lnTo>
                <a:cubicBezTo>
                  <a:pt x="261590" y="265857"/>
                  <a:pt x="257522" y="271512"/>
                  <a:pt x="251520" y="273100"/>
                </a:cubicBezTo>
                <a:lnTo>
                  <a:pt x="238522" y="276572"/>
                </a:lnTo>
                <a:cubicBezTo>
                  <a:pt x="232470" y="278209"/>
                  <a:pt x="226169" y="275332"/>
                  <a:pt x="223391" y="269726"/>
                </a:cubicBezTo>
                <a:lnTo>
                  <a:pt x="214164" y="251073"/>
                </a:lnTo>
                <a:cubicBezTo>
                  <a:pt x="209054" y="250379"/>
                  <a:pt x="204043" y="248989"/>
                  <a:pt x="199330" y="247055"/>
                </a:cubicBezTo>
                <a:lnTo>
                  <a:pt x="181967" y="258614"/>
                </a:lnTo>
                <a:cubicBezTo>
                  <a:pt x="176758" y="262086"/>
                  <a:pt x="169863" y="261392"/>
                  <a:pt x="165447" y="256977"/>
                </a:cubicBezTo>
                <a:lnTo>
                  <a:pt x="155922" y="247452"/>
                </a:lnTo>
                <a:cubicBezTo>
                  <a:pt x="151507" y="243036"/>
                  <a:pt x="150813" y="236141"/>
                  <a:pt x="154285" y="230932"/>
                </a:cubicBezTo>
                <a:lnTo>
                  <a:pt x="165844" y="213568"/>
                </a:lnTo>
                <a:cubicBezTo>
                  <a:pt x="164902" y="211237"/>
                  <a:pt x="164058" y="208806"/>
                  <a:pt x="163364" y="206276"/>
                </a:cubicBezTo>
                <a:cubicBezTo>
                  <a:pt x="162669" y="203746"/>
                  <a:pt x="162223" y="201216"/>
                  <a:pt x="161875" y="198735"/>
                </a:cubicBezTo>
                <a:lnTo>
                  <a:pt x="143173" y="189508"/>
                </a:lnTo>
                <a:cubicBezTo>
                  <a:pt x="137567" y="186730"/>
                  <a:pt x="134739" y="180380"/>
                  <a:pt x="136327" y="174377"/>
                </a:cubicBezTo>
                <a:lnTo>
                  <a:pt x="139799" y="161379"/>
                </a:lnTo>
                <a:cubicBezTo>
                  <a:pt x="141436" y="155377"/>
                  <a:pt x="147042" y="151309"/>
                  <a:pt x="153293" y="151705"/>
                </a:cubicBezTo>
                <a:lnTo>
                  <a:pt x="174079" y="153045"/>
                </a:lnTo>
                <a:cubicBezTo>
                  <a:pt x="177205" y="149027"/>
                  <a:pt x="180826" y="145306"/>
                  <a:pt x="184944" y="142131"/>
                </a:cubicBezTo>
                <a:lnTo>
                  <a:pt x="183604" y="121394"/>
                </a:lnTo>
                <a:cubicBezTo>
                  <a:pt x="183207" y="115143"/>
                  <a:pt x="187275" y="109488"/>
                  <a:pt x="193278" y="107900"/>
                </a:cubicBezTo>
                <a:lnTo>
                  <a:pt x="206276" y="104428"/>
                </a:lnTo>
                <a:close/>
                <a:moveTo>
                  <a:pt x="222448" y="168672"/>
                </a:moveTo>
                <a:cubicBezTo>
                  <a:pt x="210401" y="168686"/>
                  <a:pt x="200631" y="178478"/>
                  <a:pt x="200645" y="190525"/>
                </a:cubicBezTo>
                <a:cubicBezTo>
                  <a:pt x="200659" y="202572"/>
                  <a:pt x="210451" y="212342"/>
                  <a:pt x="222498" y="212328"/>
                </a:cubicBezTo>
                <a:cubicBezTo>
                  <a:pt x="234545" y="212314"/>
                  <a:pt x="244315" y="202522"/>
                  <a:pt x="244301" y="190475"/>
                </a:cubicBezTo>
                <a:cubicBezTo>
                  <a:pt x="244288" y="178428"/>
                  <a:pt x="234496" y="168658"/>
                  <a:pt x="222448" y="168672"/>
                </a:cubicBezTo>
                <a:close/>
                <a:moveTo>
                  <a:pt x="111571" y="-22572"/>
                </a:moveTo>
                <a:lnTo>
                  <a:pt x="124569" y="-19100"/>
                </a:lnTo>
                <a:cubicBezTo>
                  <a:pt x="130572" y="-17462"/>
                  <a:pt x="134640" y="-11807"/>
                  <a:pt x="134243" y="-5606"/>
                </a:cubicBezTo>
                <a:lnTo>
                  <a:pt x="132904" y="15131"/>
                </a:lnTo>
                <a:cubicBezTo>
                  <a:pt x="137021" y="18306"/>
                  <a:pt x="140643" y="21977"/>
                  <a:pt x="143768" y="26045"/>
                </a:cubicBezTo>
                <a:lnTo>
                  <a:pt x="164604" y="24705"/>
                </a:lnTo>
                <a:cubicBezTo>
                  <a:pt x="170805" y="24309"/>
                  <a:pt x="176461" y="28377"/>
                  <a:pt x="178098" y="34379"/>
                </a:cubicBezTo>
                <a:lnTo>
                  <a:pt x="181570" y="47377"/>
                </a:lnTo>
                <a:cubicBezTo>
                  <a:pt x="183158" y="53380"/>
                  <a:pt x="180330" y="59730"/>
                  <a:pt x="174724" y="62508"/>
                </a:cubicBezTo>
                <a:lnTo>
                  <a:pt x="156021" y="71735"/>
                </a:lnTo>
                <a:cubicBezTo>
                  <a:pt x="155674" y="74265"/>
                  <a:pt x="155178" y="76795"/>
                  <a:pt x="154533" y="79276"/>
                </a:cubicBezTo>
                <a:cubicBezTo>
                  <a:pt x="153888" y="81756"/>
                  <a:pt x="152995" y="84237"/>
                  <a:pt x="152053" y="86568"/>
                </a:cubicBezTo>
                <a:lnTo>
                  <a:pt x="163612" y="103932"/>
                </a:lnTo>
                <a:cubicBezTo>
                  <a:pt x="167084" y="109141"/>
                  <a:pt x="166390" y="116036"/>
                  <a:pt x="161975" y="120452"/>
                </a:cubicBezTo>
                <a:lnTo>
                  <a:pt x="152450" y="129977"/>
                </a:lnTo>
                <a:cubicBezTo>
                  <a:pt x="148034" y="134392"/>
                  <a:pt x="141139" y="135086"/>
                  <a:pt x="135930" y="131614"/>
                </a:cubicBezTo>
                <a:lnTo>
                  <a:pt x="118566" y="120055"/>
                </a:lnTo>
                <a:cubicBezTo>
                  <a:pt x="113854" y="121989"/>
                  <a:pt x="108843" y="123379"/>
                  <a:pt x="103733" y="124073"/>
                </a:cubicBezTo>
                <a:lnTo>
                  <a:pt x="94506" y="142726"/>
                </a:lnTo>
                <a:cubicBezTo>
                  <a:pt x="91728" y="148332"/>
                  <a:pt x="85378" y="151160"/>
                  <a:pt x="79375" y="149572"/>
                </a:cubicBezTo>
                <a:lnTo>
                  <a:pt x="66377" y="146100"/>
                </a:lnTo>
                <a:cubicBezTo>
                  <a:pt x="60325" y="144463"/>
                  <a:pt x="56307" y="138807"/>
                  <a:pt x="56704" y="132606"/>
                </a:cubicBezTo>
                <a:lnTo>
                  <a:pt x="58043" y="111820"/>
                </a:lnTo>
                <a:cubicBezTo>
                  <a:pt x="53925" y="108645"/>
                  <a:pt x="50304" y="104973"/>
                  <a:pt x="47179" y="100905"/>
                </a:cubicBezTo>
                <a:lnTo>
                  <a:pt x="26343" y="102245"/>
                </a:lnTo>
                <a:cubicBezTo>
                  <a:pt x="20141" y="102642"/>
                  <a:pt x="14486" y="98574"/>
                  <a:pt x="12849" y="92571"/>
                </a:cubicBezTo>
                <a:lnTo>
                  <a:pt x="9376" y="79573"/>
                </a:lnTo>
                <a:cubicBezTo>
                  <a:pt x="7789" y="73571"/>
                  <a:pt x="10616" y="67221"/>
                  <a:pt x="16222" y="64443"/>
                </a:cubicBezTo>
                <a:lnTo>
                  <a:pt x="34925" y="55215"/>
                </a:lnTo>
                <a:cubicBezTo>
                  <a:pt x="35272" y="52685"/>
                  <a:pt x="35768" y="50205"/>
                  <a:pt x="36413" y="47675"/>
                </a:cubicBezTo>
                <a:cubicBezTo>
                  <a:pt x="37108" y="45145"/>
                  <a:pt x="37902" y="42714"/>
                  <a:pt x="38894" y="40382"/>
                </a:cubicBezTo>
                <a:lnTo>
                  <a:pt x="27335" y="23068"/>
                </a:lnTo>
                <a:cubicBezTo>
                  <a:pt x="23862" y="17859"/>
                  <a:pt x="24557" y="10964"/>
                  <a:pt x="28972" y="6548"/>
                </a:cubicBezTo>
                <a:lnTo>
                  <a:pt x="38497" y="-2977"/>
                </a:lnTo>
                <a:cubicBezTo>
                  <a:pt x="42912" y="-7392"/>
                  <a:pt x="49808" y="-8086"/>
                  <a:pt x="55017" y="-4614"/>
                </a:cubicBezTo>
                <a:lnTo>
                  <a:pt x="72380" y="6945"/>
                </a:lnTo>
                <a:cubicBezTo>
                  <a:pt x="77093" y="5011"/>
                  <a:pt x="82104" y="3621"/>
                  <a:pt x="87213" y="2927"/>
                </a:cubicBezTo>
                <a:lnTo>
                  <a:pt x="96441" y="-15726"/>
                </a:lnTo>
                <a:cubicBezTo>
                  <a:pt x="99219" y="-21332"/>
                  <a:pt x="105519" y="-24160"/>
                  <a:pt x="111571" y="-22572"/>
                </a:cubicBezTo>
                <a:close/>
                <a:moveTo>
                  <a:pt x="95448" y="41672"/>
                </a:moveTo>
                <a:cubicBezTo>
                  <a:pt x="83401" y="41672"/>
                  <a:pt x="73620" y="51453"/>
                  <a:pt x="73620" y="63500"/>
                </a:cubicBezTo>
                <a:cubicBezTo>
                  <a:pt x="73620" y="75547"/>
                  <a:pt x="83401" y="85328"/>
                  <a:pt x="95448" y="85328"/>
                </a:cubicBezTo>
                <a:cubicBezTo>
                  <a:pt x="107496" y="85328"/>
                  <a:pt x="117277" y="75547"/>
                  <a:pt x="117277" y="63500"/>
                </a:cubicBezTo>
                <a:cubicBezTo>
                  <a:pt x="117277" y="51453"/>
                  <a:pt x="107496" y="41672"/>
                  <a:pt x="95448" y="41672"/>
                </a:cubicBezTo>
                <a:close/>
              </a:path>
            </a:pathLst>
          </a:custGeom>
          <a:solidFill>
            <a:srgbClr val="5F67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1193800" y="618490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核心架构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23900" y="6642100"/>
            <a:ext cx="27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JobManager · TaskManager · 并行度 · 算子链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833217" y="5975350"/>
            <a:ext cx="3098800" cy="1384300"/>
          </a:xfrm>
          <a:custGeom>
            <a:avLst/>
            <a:gdLst/>
            <a:ahLst/>
            <a:cxnLst/>
            <a:rect l="l" t="t" r="r" b="b"/>
            <a:pathLst>
              <a:path w="3098800" h="1384300">
                <a:moveTo>
                  <a:pt x="101594" y="0"/>
                </a:moveTo>
                <a:lnTo>
                  <a:pt x="2997206" y="0"/>
                </a:lnTo>
                <a:cubicBezTo>
                  <a:pt x="3053315" y="0"/>
                  <a:pt x="3098800" y="45485"/>
                  <a:pt x="3098800" y="101594"/>
                </a:cubicBezTo>
                <a:lnTo>
                  <a:pt x="3098800" y="1282706"/>
                </a:lnTo>
                <a:cubicBezTo>
                  <a:pt x="3098800" y="1338815"/>
                  <a:pt x="3053315" y="1384300"/>
                  <a:pt x="2997206" y="1384300"/>
                </a:cubicBezTo>
                <a:lnTo>
                  <a:pt x="101594" y="1384300"/>
                </a:lnTo>
                <a:cubicBezTo>
                  <a:pt x="45485" y="1384300"/>
                  <a:pt x="0" y="1338815"/>
                  <a:pt x="0" y="1282706"/>
                </a:cubicBezTo>
                <a:lnTo>
                  <a:pt x="0" y="101594"/>
                </a:lnTo>
                <a:cubicBezTo>
                  <a:pt x="0" y="45485"/>
                  <a:pt x="45485" y="0"/>
                  <a:pt x="101594" y="0"/>
                </a:cubicBezTo>
                <a:close/>
              </a:path>
            </a:pathLst>
          </a:custGeom>
          <a:solidFill>
            <a:srgbClr val="333842">
              <a:alpha val="80000"/>
            </a:srgbClr>
          </a:solidFill>
          <a:ln w="12700">
            <a:solidFill>
              <a:srgbClr val="5F677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4058642" y="62357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78991" y="595"/>
                </a:moveTo>
                <a:cubicBezTo>
                  <a:pt x="170557" y="-1836"/>
                  <a:pt x="161776" y="3076"/>
                  <a:pt x="159345" y="11509"/>
                </a:cubicBezTo>
                <a:lnTo>
                  <a:pt x="95845" y="233759"/>
                </a:lnTo>
                <a:cubicBezTo>
                  <a:pt x="93414" y="242193"/>
                  <a:pt x="98326" y="250974"/>
                  <a:pt x="106759" y="253405"/>
                </a:cubicBezTo>
                <a:cubicBezTo>
                  <a:pt x="115193" y="255836"/>
                  <a:pt x="123974" y="250924"/>
                  <a:pt x="126405" y="242491"/>
                </a:cubicBezTo>
                <a:lnTo>
                  <a:pt x="189905" y="20241"/>
                </a:lnTo>
                <a:cubicBezTo>
                  <a:pt x="192336" y="11807"/>
                  <a:pt x="187424" y="3026"/>
                  <a:pt x="178991" y="595"/>
                </a:cubicBezTo>
                <a:close/>
                <a:moveTo>
                  <a:pt x="211038" y="68114"/>
                </a:moveTo>
                <a:cubicBezTo>
                  <a:pt x="204837" y="74315"/>
                  <a:pt x="204837" y="84386"/>
                  <a:pt x="211038" y="90587"/>
                </a:cubicBezTo>
                <a:lnTo>
                  <a:pt x="247452" y="127000"/>
                </a:lnTo>
                <a:lnTo>
                  <a:pt x="211038" y="163413"/>
                </a:lnTo>
                <a:cubicBezTo>
                  <a:pt x="204837" y="169614"/>
                  <a:pt x="204837" y="179685"/>
                  <a:pt x="211038" y="185886"/>
                </a:cubicBezTo>
                <a:cubicBezTo>
                  <a:pt x="217239" y="192087"/>
                  <a:pt x="227310" y="192087"/>
                  <a:pt x="233511" y="185886"/>
                </a:cubicBezTo>
                <a:lnTo>
                  <a:pt x="281136" y="138261"/>
                </a:lnTo>
                <a:cubicBezTo>
                  <a:pt x="287338" y="132060"/>
                  <a:pt x="287338" y="121989"/>
                  <a:pt x="281136" y="115788"/>
                </a:cubicBezTo>
                <a:lnTo>
                  <a:pt x="233511" y="68163"/>
                </a:lnTo>
                <a:cubicBezTo>
                  <a:pt x="227310" y="61962"/>
                  <a:pt x="217239" y="61962"/>
                  <a:pt x="211038" y="68163"/>
                </a:cubicBezTo>
                <a:close/>
                <a:moveTo>
                  <a:pt x="74761" y="68114"/>
                </a:moveTo>
                <a:cubicBezTo>
                  <a:pt x="68560" y="61912"/>
                  <a:pt x="58489" y="61912"/>
                  <a:pt x="52288" y="68114"/>
                </a:cubicBezTo>
                <a:lnTo>
                  <a:pt x="4663" y="115739"/>
                </a:lnTo>
                <a:cubicBezTo>
                  <a:pt x="-1538" y="121940"/>
                  <a:pt x="-1538" y="132011"/>
                  <a:pt x="4663" y="138212"/>
                </a:cubicBezTo>
                <a:lnTo>
                  <a:pt x="52288" y="185837"/>
                </a:lnTo>
                <a:cubicBezTo>
                  <a:pt x="58489" y="192038"/>
                  <a:pt x="68560" y="192038"/>
                  <a:pt x="74761" y="185837"/>
                </a:cubicBezTo>
                <a:cubicBezTo>
                  <a:pt x="80962" y="179636"/>
                  <a:pt x="80962" y="169565"/>
                  <a:pt x="74761" y="163364"/>
                </a:cubicBezTo>
                <a:lnTo>
                  <a:pt x="38348" y="127000"/>
                </a:lnTo>
                <a:lnTo>
                  <a:pt x="74712" y="90587"/>
                </a:lnTo>
                <a:cubicBezTo>
                  <a:pt x="80913" y="84386"/>
                  <a:pt x="80913" y="74315"/>
                  <a:pt x="74712" y="68114"/>
                </a:cubicBezTo>
                <a:close/>
              </a:path>
            </a:pathLst>
          </a:custGeom>
          <a:solidFill>
            <a:srgbClr val="5F67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4512667" y="6184900"/>
            <a:ext cx="177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DataStream API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042767" y="6642100"/>
            <a:ext cx="2768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Source · Transformation · Sink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152184" y="5975350"/>
            <a:ext cx="3098800" cy="1384300"/>
          </a:xfrm>
          <a:custGeom>
            <a:avLst/>
            <a:gdLst/>
            <a:ahLst/>
            <a:cxnLst/>
            <a:rect l="l" t="t" r="r" b="b"/>
            <a:pathLst>
              <a:path w="3098800" h="1384300">
                <a:moveTo>
                  <a:pt x="101594" y="0"/>
                </a:moveTo>
                <a:lnTo>
                  <a:pt x="2997206" y="0"/>
                </a:lnTo>
                <a:cubicBezTo>
                  <a:pt x="3053315" y="0"/>
                  <a:pt x="3098800" y="45485"/>
                  <a:pt x="3098800" y="101594"/>
                </a:cubicBezTo>
                <a:lnTo>
                  <a:pt x="3098800" y="1282706"/>
                </a:lnTo>
                <a:cubicBezTo>
                  <a:pt x="3098800" y="1338815"/>
                  <a:pt x="3053315" y="1384300"/>
                  <a:pt x="2997206" y="1384300"/>
                </a:cubicBezTo>
                <a:lnTo>
                  <a:pt x="101594" y="1384300"/>
                </a:lnTo>
                <a:cubicBezTo>
                  <a:pt x="45485" y="1384300"/>
                  <a:pt x="0" y="1338815"/>
                  <a:pt x="0" y="1282706"/>
                </a:cubicBezTo>
                <a:lnTo>
                  <a:pt x="0" y="101594"/>
                </a:lnTo>
                <a:cubicBezTo>
                  <a:pt x="0" y="45485"/>
                  <a:pt x="45485" y="0"/>
                  <a:pt x="101594" y="0"/>
                </a:cubicBezTo>
                <a:close/>
              </a:path>
            </a:pathLst>
          </a:custGeom>
          <a:solidFill>
            <a:srgbClr val="333842">
              <a:alpha val="80000"/>
            </a:srgbClr>
          </a:solidFill>
          <a:ln w="12700">
            <a:solidFill>
              <a:srgbClr val="5F677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7361734" y="6235700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31750" y="47625"/>
                </a:moveTo>
                <a:cubicBezTo>
                  <a:pt x="31750" y="30113"/>
                  <a:pt x="45988" y="15875"/>
                  <a:pt x="63500" y="15875"/>
                </a:cubicBezTo>
                <a:lnTo>
                  <a:pt x="254000" y="15875"/>
                </a:lnTo>
                <a:cubicBezTo>
                  <a:pt x="271512" y="15875"/>
                  <a:pt x="285750" y="30113"/>
                  <a:pt x="285750" y="47625"/>
                </a:cubicBezTo>
                <a:lnTo>
                  <a:pt x="285750" y="166688"/>
                </a:lnTo>
                <a:lnTo>
                  <a:pt x="254000" y="166688"/>
                </a:lnTo>
                <a:lnTo>
                  <a:pt x="254000" y="47625"/>
                </a:lnTo>
                <a:lnTo>
                  <a:pt x="63500" y="47625"/>
                </a:lnTo>
                <a:lnTo>
                  <a:pt x="63500" y="166688"/>
                </a:lnTo>
                <a:lnTo>
                  <a:pt x="31750" y="166688"/>
                </a:lnTo>
                <a:lnTo>
                  <a:pt x="31750" y="47625"/>
                </a:lnTo>
                <a:close/>
                <a:moveTo>
                  <a:pt x="0" y="200025"/>
                </a:moveTo>
                <a:cubicBezTo>
                  <a:pt x="0" y="194766"/>
                  <a:pt x="4266" y="190500"/>
                  <a:pt x="9525" y="190500"/>
                </a:cubicBezTo>
                <a:lnTo>
                  <a:pt x="307975" y="190500"/>
                </a:lnTo>
                <a:cubicBezTo>
                  <a:pt x="313234" y="190500"/>
                  <a:pt x="317500" y="194766"/>
                  <a:pt x="317500" y="200025"/>
                </a:cubicBezTo>
                <a:cubicBezTo>
                  <a:pt x="317500" y="221059"/>
                  <a:pt x="300434" y="238125"/>
                  <a:pt x="279400" y="238125"/>
                </a:cubicBezTo>
                <a:lnTo>
                  <a:pt x="38100" y="238125"/>
                </a:lnTo>
                <a:cubicBezTo>
                  <a:pt x="17066" y="238125"/>
                  <a:pt x="0" y="221059"/>
                  <a:pt x="0" y="200025"/>
                </a:cubicBezTo>
                <a:close/>
                <a:moveTo>
                  <a:pt x="139402" y="103684"/>
                </a:moveTo>
                <a:lnTo>
                  <a:pt x="124023" y="119063"/>
                </a:lnTo>
                <a:lnTo>
                  <a:pt x="139402" y="134441"/>
                </a:lnTo>
                <a:cubicBezTo>
                  <a:pt x="144066" y="139105"/>
                  <a:pt x="144066" y="146645"/>
                  <a:pt x="139402" y="151259"/>
                </a:cubicBezTo>
                <a:cubicBezTo>
                  <a:pt x="134739" y="155873"/>
                  <a:pt x="127198" y="155922"/>
                  <a:pt x="122585" y="151259"/>
                </a:cubicBezTo>
                <a:lnTo>
                  <a:pt x="98772" y="127446"/>
                </a:lnTo>
                <a:cubicBezTo>
                  <a:pt x="94109" y="122783"/>
                  <a:pt x="94109" y="115243"/>
                  <a:pt x="98772" y="110629"/>
                </a:cubicBezTo>
                <a:lnTo>
                  <a:pt x="122585" y="86816"/>
                </a:lnTo>
                <a:cubicBezTo>
                  <a:pt x="127248" y="82153"/>
                  <a:pt x="134789" y="82153"/>
                  <a:pt x="139402" y="86816"/>
                </a:cubicBezTo>
                <a:cubicBezTo>
                  <a:pt x="144016" y="91480"/>
                  <a:pt x="144066" y="99020"/>
                  <a:pt x="139402" y="103634"/>
                </a:cubicBezTo>
                <a:close/>
                <a:moveTo>
                  <a:pt x="194965" y="86816"/>
                </a:moveTo>
                <a:lnTo>
                  <a:pt x="218777" y="110629"/>
                </a:lnTo>
                <a:cubicBezTo>
                  <a:pt x="223441" y="115292"/>
                  <a:pt x="223441" y="122833"/>
                  <a:pt x="218777" y="127446"/>
                </a:cubicBezTo>
                <a:lnTo>
                  <a:pt x="194965" y="151259"/>
                </a:lnTo>
                <a:cubicBezTo>
                  <a:pt x="190302" y="155922"/>
                  <a:pt x="182761" y="155922"/>
                  <a:pt x="178147" y="151259"/>
                </a:cubicBezTo>
                <a:cubicBezTo>
                  <a:pt x="173534" y="146596"/>
                  <a:pt x="173484" y="139055"/>
                  <a:pt x="178147" y="134441"/>
                </a:cubicBezTo>
                <a:lnTo>
                  <a:pt x="193526" y="119063"/>
                </a:lnTo>
                <a:lnTo>
                  <a:pt x="178147" y="103684"/>
                </a:lnTo>
                <a:cubicBezTo>
                  <a:pt x="173484" y="99020"/>
                  <a:pt x="173484" y="91480"/>
                  <a:pt x="178147" y="86866"/>
                </a:cubicBezTo>
                <a:cubicBezTo>
                  <a:pt x="182811" y="82252"/>
                  <a:pt x="190351" y="82203"/>
                  <a:pt x="194965" y="86866"/>
                </a:cubicBezTo>
                <a:close/>
              </a:path>
            </a:pathLst>
          </a:custGeom>
          <a:solidFill>
            <a:srgbClr val="5F67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7831634" y="618490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实战编程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361734" y="6642100"/>
            <a:ext cx="27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环境搭建 · WordCount · 订单统计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6343" y="486343"/>
            <a:ext cx="486343" cy="486343"/>
          </a:xfrm>
          <a:custGeom>
            <a:avLst/>
            <a:gdLst/>
            <a:ahLst/>
            <a:cxnLst/>
            <a:rect l="l" t="t" r="r" b="b"/>
            <a:pathLst>
              <a:path w="486343" h="486343">
                <a:moveTo>
                  <a:pt x="97269" y="0"/>
                </a:moveTo>
                <a:lnTo>
                  <a:pt x="389074" y="0"/>
                </a:lnTo>
                <a:cubicBezTo>
                  <a:pt x="442758" y="0"/>
                  <a:pt x="486343" y="43585"/>
                  <a:pt x="486343" y="97269"/>
                </a:cubicBezTo>
                <a:lnTo>
                  <a:pt x="486343" y="389074"/>
                </a:lnTo>
                <a:cubicBezTo>
                  <a:pt x="486343" y="442794"/>
                  <a:pt x="442794" y="486343"/>
                  <a:pt x="389074" y="486343"/>
                </a:cubicBezTo>
                <a:lnTo>
                  <a:pt x="97269" y="486343"/>
                </a:lnTo>
                <a:cubicBezTo>
                  <a:pt x="43585" y="486343"/>
                  <a:pt x="0" y="442758"/>
                  <a:pt x="0" y="389074"/>
                </a:cubicBezTo>
                <a:lnTo>
                  <a:pt x="0" y="97269"/>
                </a:lnTo>
                <a:cubicBezTo>
                  <a:pt x="0" y="43585"/>
                  <a:pt x="43585" y="0"/>
                  <a:pt x="97269" y="0"/>
                </a:cubicBezTo>
                <a:close/>
              </a:path>
            </a:pathLst>
          </a:custGeom>
          <a:solidFill>
            <a:srgbClr val="5F677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95770" y="620087"/>
            <a:ext cx="273568" cy="218854"/>
          </a:xfrm>
          <a:custGeom>
            <a:avLst/>
            <a:gdLst/>
            <a:ahLst/>
            <a:cxnLst/>
            <a:rect l="l" t="t" r="r" b="b"/>
            <a:pathLst>
              <a:path w="273568" h="218854">
                <a:moveTo>
                  <a:pt x="177776" y="89978"/>
                </a:moveTo>
                <a:cubicBezTo>
                  <a:pt x="182991" y="88568"/>
                  <a:pt x="188462" y="91047"/>
                  <a:pt x="190813" y="95877"/>
                </a:cubicBezTo>
                <a:lnTo>
                  <a:pt x="198764" y="111949"/>
                </a:lnTo>
                <a:cubicBezTo>
                  <a:pt x="203167" y="112547"/>
                  <a:pt x="207484" y="113744"/>
                  <a:pt x="211545" y="115411"/>
                </a:cubicBezTo>
                <a:lnTo>
                  <a:pt x="226505" y="105452"/>
                </a:lnTo>
                <a:cubicBezTo>
                  <a:pt x="230994" y="102460"/>
                  <a:pt x="236935" y="103058"/>
                  <a:pt x="240740" y="106862"/>
                </a:cubicBezTo>
                <a:lnTo>
                  <a:pt x="248947" y="115069"/>
                </a:lnTo>
                <a:cubicBezTo>
                  <a:pt x="252751" y="118874"/>
                  <a:pt x="253349" y="124858"/>
                  <a:pt x="250357" y="129303"/>
                </a:cubicBezTo>
                <a:lnTo>
                  <a:pt x="240398" y="144221"/>
                </a:lnTo>
                <a:cubicBezTo>
                  <a:pt x="241210" y="146230"/>
                  <a:pt x="241936" y="148325"/>
                  <a:pt x="242535" y="150505"/>
                </a:cubicBezTo>
                <a:cubicBezTo>
                  <a:pt x="243133" y="152685"/>
                  <a:pt x="243518" y="154822"/>
                  <a:pt x="243817" y="157002"/>
                </a:cubicBezTo>
                <a:lnTo>
                  <a:pt x="259932" y="164953"/>
                </a:lnTo>
                <a:cubicBezTo>
                  <a:pt x="264762" y="167346"/>
                  <a:pt x="267241" y="172818"/>
                  <a:pt x="265831" y="177990"/>
                </a:cubicBezTo>
                <a:lnTo>
                  <a:pt x="262839" y="189189"/>
                </a:lnTo>
                <a:cubicBezTo>
                  <a:pt x="261428" y="194361"/>
                  <a:pt x="256598" y="197866"/>
                  <a:pt x="251212" y="197524"/>
                </a:cubicBezTo>
                <a:lnTo>
                  <a:pt x="233259" y="196370"/>
                </a:lnTo>
                <a:cubicBezTo>
                  <a:pt x="230566" y="199833"/>
                  <a:pt x="227446" y="203039"/>
                  <a:pt x="223898" y="205774"/>
                </a:cubicBezTo>
                <a:lnTo>
                  <a:pt x="225052" y="223684"/>
                </a:lnTo>
                <a:cubicBezTo>
                  <a:pt x="225394" y="229070"/>
                  <a:pt x="221889" y="233943"/>
                  <a:pt x="216717" y="235311"/>
                </a:cubicBezTo>
                <a:lnTo>
                  <a:pt x="205518" y="238303"/>
                </a:lnTo>
                <a:cubicBezTo>
                  <a:pt x="200303" y="239714"/>
                  <a:pt x="194874" y="237234"/>
                  <a:pt x="192481" y="232404"/>
                </a:cubicBezTo>
                <a:lnTo>
                  <a:pt x="184530" y="216332"/>
                </a:lnTo>
                <a:cubicBezTo>
                  <a:pt x="180127" y="215734"/>
                  <a:pt x="175810" y="214537"/>
                  <a:pt x="171749" y="212870"/>
                </a:cubicBezTo>
                <a:lnTo>
                  <a:pt x="156788" y="222829"/>
                </a:lnTo>
                <a:cubicBezTo>
                  <a:pt x="152300" y="225822"/>
                  <a:pt x="146359" y="225223"/>
                  <a:pt x="142554" y="221419"/>
                </a:cubicBezTo>
                <a:lnTo>
                  <a:pt x="134347" y="213212"/>
                </a:lnTo>
                <a:cubicBezTo>
                  <a:pt x="130543" y="209408"/>
                  <a:pt x="129945" y="203466"/>
                  <a:pt x="132937" y="198978"/>
                </a:cubicBezTo>
                <a:lnTo>
                  <a:pt x="142896" y="184017"/>
                </a:lnTo>
                <a:cubicBezTo>
                  <a:pt x="142084" y="182008"/>
                  <a:pt x="141358" y="179914"/>
                  <a:pt x="140759" y="177734"/>
                </a:cubicBezTo>
                <a:cubicBezTo>
                  <a:pt x="140161" y="175554"/>
                  <a:pt x="139776" y="173374"/>
                  <a:pt x="139477" y="171236"/>
                </a:cubicBezTo>
                <a:lnTo>
                  <a:pt x="123362" y="163286"/>
                </a:lnTo>
                <a:cubicBezTo>
                  <a:pt x="118532" y="160892"/>
                  <a:pt x="116095" y="155421"/>
                  <a:pt x="117463" y="150249"/>
                </a:cubicBezTo>
                <a:lnTo>
                  <a:pt x="120455" y="139049"/>
                </a:lnTo>
                <a:cubicBezTo>
                  <a:pt x="121866" y="133877"/>
                  <a:pt x="126696" y="130372"/>
                  <a:pt x="132082" y="130714"/>
                </a:cubicBezTo>
                <a:lnTo>
                  <a:pt x="149992" y="131868"/>
                </a:lnTo>
                <a:cubicBezTo>
                  <a:pt x="152685" y="128406"/>
                  <a:pt x="155805" y="125200"/>
                  <a:pt x="159353" y="122464"/>
                </a:cubicBezTo>
                <a:lnTo>
                  <a:pt x="158199" y="104597"/>
                </a:lnTo>
                <a:cubicBezTo>
                  <a:pt x="157857" y="99211"/>
                  <a:pt x="161362" y="94338"/>
                  <a:pt x="166534" y="92970"/>
                </a:cubicBezTo>
                <a:lnTo>
                  <a:pt x="177734" y="89978"/>
                </a:lnTo>
                <a:close/>
                <a:moveTo>
                  <a:pt x="191668" y="145333"/>
                </a:moveTo>
                <a:cubicBezTo>
                  <a:pt x="181288" y="145345"/>
                  <a:pt x="172870" y="153782"/>
                  <a:pt x="172882" y="164162"/>
                </a:cubicBezTo>
                <a:cubicBezTo>
                  <a:pt x="172894" y="174542"/>
                  <a:pt x="181331" y="182960"/>
                  <a:pt x="191711" y="182948"/>
                </a:cubicBezTo>
                <a:cubicBezTo>
                  <a:pt x="202091" y="182937"/>
                  <a:pt x="210509" y="174500"/>
                  <a:pt x="210498" y="164119"/>
                </a:cubicBezTo>
                <a:cubicBezTo>
                  <a:pt x="210486" y="153739"/>
                  <a:pt x="202049" y="145321"/>
                  <a:pt x="191668" y="145333"/>
                </a:cubicBezTo>
                <a:close/>
                <a:moveTo>
                  <a:pt x="96133" y="-19449"/>
                </a:moveTo>
                <a:lnTo>
                  <a:pt x="107333" y="-16457"/>
                </a:lnTo>
                <a:cubicBezTo>
                  <a:pt x="112505" y="-15046"/>
                  <a:pt x="116010" y="-10173"/>
                  <a:pt x="115668" y="-4830"/>
                </a:cubicBezTo>
                <a:lnTo>
                  <a:pt x="114514" y="13037"/>
                </a:lnTo>
                <a:cubicBezTo>
                  <a:pt x="118062" y="15773"/>
                  <a:pt x="121182" y="18936"/>
                  <a:pt x="123875" y="22441"/>
                </a:cubicBezTo>
                <a:lnTo>
                  <a:pt x="141828" y="21287"/>
                </a:lnTo>
                <a:cubicBezTo>
                  <a:pt x="147171" y="20945"/>
                  <a:pt x="152044" y="24450"/>
                  <a:pt x="153454" y="29622"/>
                </a:cubicBezTo>
                <a:lnTo>
                  <a:pt x="156447" y="40821"/>
                </a:lnTo>
                <a:cubicBezTo>
                  <a:pt x="157814" y="45994"/>
                  <a:pt x="155378" y="51465"/>
                  <a:pt x="150548" y="53859"/>
                </a:cubicBezTo>
                <a:lnTo>
                  <a:pt x="134433" y="61809"/>
                </a:lnTo>
                <a:cubicBezTo>
                  <a:pt x="134134" y="63989"/>
                  <a:pt x="133706" y="66169"/>
                  <a:pt x="133151" y="68306"/>
                </a:cubicBezTo>
                <a:cubicBezTo>
                  <a:pt x="132595" y="70444"/>
                  <a:pt x="131825" y="72581"/>
                  <a:pt x="131013" y="74590"/>
                </a:cubicBezTo>
                <a:lnTo>
                  <a:pt x="140973" y="89551"/>
                </a:lnTo>
                <a:cubicBezTo>
                  <a:pt x="143965" y="94039"/>
                  <a:pt x="143367" y="99980"/>
                  <a:pt x="139562" y="103785"/>
                </a:cubicBezTo>
                <a:lnTo>
                  <a:pt x="131355" y="111992"/>
                </a:lnTo>
                <a:cubicBezTo>
                  <a:pt x="127551" y="115796"/>
                  <a:pt x="121609" y="116395"/>
                  <a:pt x="117121" y="113402"/>
                </a:cubicBezTo>
                <a:lnTo>
                  <a:pt x="102160" y="103443"/>
                </a:lnTo>
                <a:cubicBezTo>
                  <a:pt x="98100" y="105110"/>
                  <a:pt x="93782" y="106307"/>
                  <a:pt x="89380" y="106905"/>
                </a:cubicBezTo>
                <a:lnTo>
                  <a:pt x="81429" y="122977"/>
                </a:lnTo>
                <a:cubicBezTo>
                  <a:pt x="79035" y="127807"/>
                  <a:pt x="73564" y="130244"/>
                  <a:pt x="68392" y="128876"/>
                </a:cubicBezTo>
                <a:lnTo>
                  <a:pt x="57193" y="125884"/>
                </a:lnTo>
                <a:cubicBezTo>
                  <a:pt x="51978" y="124473"/>
                  <a:pt x="48516" y="119600"/>
                  <a:pt x="48857" y="114257"/>
                </a:cubicBezTo>
                <a:lnTo>
                  <a:pt x="50012" y="96347"/>
                </a:lnTo>
                <a:cubicBezTo>
                  <a:pt x="46464" y="93611"/>
                  <a:pt x="43343" y="90448"/>
                  <a:pt x="40650" y="86943"/>
                </a:cubicBezTo>
                <a:lnTo>
                  <a:pt x="22698" y="88097"/>
                </a:lnTo>
                <a:cubicBezTo>
                  <a:pt x="17354" y="88439"/>
                  <a:pt x="12482" y="84934"/>
                  <a:pt x="11071" y="79762"/>
                </a:cubicBezTo>
                <a:lnTo>
                  <a:pt x="8079" y="68563"/>
                </a:lnTo>
                <a:cubicBezTo>
                  <a:pt x="6711" y="63391"/>
                  <a:pt x="9147" y="57919"/>
                  <a:pt x="13978" y="55526"/>
                </a:cubicBezTo>
                <a:lnTo>
                  <a:pt x="30092" y="47575"/>
                </a:lnTo>
                <a:cubicBezTo>
                  <a:pt x="30392" y="45395"/>
                  <a:pt x="30819" y="43258"/>
                  <a:pt x="31375" y="41078"/>
                </a:cubicBezTo>
                <a:cubicBezTo>
                  <a:pt x="31973" y="38898"/>
                  <a:pt x="32657" y="36803"/>
                  <a:pt x="33512" y="34794"/>
                </a:cubicBezTo>
                <a:lnTo>
                  <a:pt x="23552" y="19876"/>
                </a:lnTo>
                <a:cubicBezTo>
                  <a:pt x="20560" y="15388"/>
                  <a:pt x="21159" y="9447"/>
                  <a:pt x="24963" y="5642"/>
                </a:cubicBezTo>
                <a:lnTo>
                  <a:pt x="33170" y="-2565"/>
                </a:lnTo>
                <a:cubicBezTo>
                  <a:pt x="36974" y="-6369"/>
                  <a:pt x="42916" y="-6967"/>
                  <a:pt x="47404" y="-3975"/>
                </a:cubicBezTo>
                <a:lnTo>
                  <a:pt x="62365" y="5984"/>
                </a:lnTo>
                <a:cubicBezTo>
                  <a:pt x="66426" y="4317"/>
                  <a:pt x="70743" y="3120"/>
                  <a:pt x="75146" y="2522"/>
                </a:cubicBezTo>
                <a:lnTo>
                  <a:pt x="83096" y="-13550"/>
                </a:lnTo>
                <a:cubicBezTo>
                  <a:pt x="85490" y="-18380"/>
                  <a:pt x="90919" y="-20817"/>
                  <a:pt x="96133" y="-19449"/>
                </a:cubicBezTo>
                <a:close/>
                <a:moveTo>
                  <a:pt x="82241" y="35906"/>
                </a:moveTo>
                <a:cubicBezTo>
                  <a:pt x="71861" y="35906"/>
                  <a:pt x="63434" y="44333"/>
                  <a:pt x="63434" y="54714"/>
                </a:cubicBezTo>
                <a:cubicBezTo>
                  <a:pt x="63434" y="65094"/>
                  <a:pt x="71861" y="73521"/>
                  <a:pt x="82241" y="73521"/>
                </a:cubicBezTo>
                <a:cubicBezTo>
                  <a:pt x="92622" y="73521"/>
                  <a:pt x="101049" y="65094"/>
                  <a:pt x="101049" y="54714"/>
                </a:cubicBezTo>
                <a:cubicBezTo>
                  <a:pt x="101049" y="44333"/>
                  <a:pt x="92622" y="35906"/>
                  <a:pt x="82241" y="35906"/>
                </a:cubicBezTo>
                <a:close/>
              </a:path>
            </a:pathLst>
          </a:custGeom>
          <a:solidFill>
            <a:srgbClr val="5F67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118588" y="486343"/>
            <a:ext cx="4547303" cy="486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447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Apache Flink核心架构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18588" y="1069954"/>
            <a:ext cx="14760497" cy="34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23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深入理解Flink的Master-Worker架构与核心逻辑概念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6343" y="1653565"/>
            <a:ext cx="9094606" cy="6565625"/>
          </a:xfrm>
          <a:custGeom>
            <a:avLst/>
            <a:gdLst/>
            <a:ahLst/>
            <a:cxnLst/>
            <a:rect l="l" t="t" r="r" b="b"/>
            <a:pathLst>
              <a:path w="9094606" h="6565625">
                <a:moveTo>
                  <a:pt x="145888" y="0"/>
                </a:moveTo>
                <a:lnTo>
                  <a:pt x="8948718" y="0"/>
                </a:lnTo>
                <a:cubicBezTo>
                  <a:pt x="9029289" y="0"/>
                  <a:pt x="9094606" y="65316"/>
                  <a:pt x="9094606" y="145888"/>
                </a:cubicBezTo>
                <a:lnTo>
                  <a:pt x="9094606" y="6419736"/>
                </a:lnTo>
                <a:cubicBezTo>
                  <a:pt x="9094606" y="6500308"/>
                  <a:pt x="9029289" y="6565625"/>
                  <a:pt x="8948718" y="6565625"/>
                </a:cubicBezTo>
                <a:lnTo>
                  <a:pt x="145888" y="6565625"/>
                </a:lnTo>
                <a:cubicBezTo>
                  <a:pt x="65316" y="6565625"/>
                  <a:pt x="0" y="6500308"/>
                  <a:pt x="0" y="6419736"/>
                </a:cubicBezTo>
                <a:lnTo>
                  <a:pt x="0" y="145888"/>
                </a:lnTo>
                <a:cubicBezTo>
                  <a:pt x="0" y="65316"/>
                  <a:pt x="65316" y="0"/>
                  <a:pt x="145888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11276" y="1896736"/>
            <a:ext cx="243171" cy="243171"/>
          </a:xfrm>
          <a:custGeom>
            <a:avLst/>
            <a:gdLst/>
            <a:ahLst/>
            <a:cxnLst/>
            <a:rect l="l" t="t" r="r" b="b"/>
            <a:pathLst>
              <a:path w="243171" h="243171">
                <a:moveTo>
                  <a:pt x="91189" y="30396"/>
                </a:moveTo>
                <a:cubicBezTo>
                  <a:pt x="91189" y="21990"/>
                  <a:pt x="97981" y="15198"/>
                  <a:pt x="106387" y="15198"/>
                </a:cubicBezTo>
                <a:lnTo>
                  <a:pt x="136784" y="15198"/>
                </a:lnTo>
                <a:cubicBezTo>
                  <a:pt x="145190" y="15198"/>
                  <a:pt x="151982" y="21990"/>
                  <a:pt x="151982" y="30396"/>
                </a:cubicBezTo>
                <a:lnTo>
                  <a:pt x="151982" y="60793"/>
                </a:lnTo>
                <a:cubicBezTo>
                  <a:pt x="151982" y="69199"/>
                  <a:pt x="145190" y="75991"/>
                  <a:pt x="136784" y="75991"/>
                </a:cubicBezTo>
                <a:lnTo>
                  <a:pt x="132984" y="75991"/>
                </a:lnTo>
                <a:lnTo>
                  <a:pt x="132984" y="106387"/>
                </a:lnTo>
                <a:lnTo>
                  <a:pt x="189978" y="106387"/>
                </a:lnTo>
                <a:cubicBezTo>
                  <a:pt x="208880" y="106387"/>
                  <a:pt x="224174" y="121681"/>
                  <a:pt x="224174" y="140583"/>
                </a:cubicBezTo>
                <a:lnTo>
                  <a:pt x="224174" y="167180"/>
                </a:lnTo>
                <a:lnTo>
                  <a:pt x="227973" y="167180"/>
                </a:lnTo>
                <a:cubicBezTo>
                  <a:pt x="236380" y="167180"/>
                  <a:pt x="243171" y="173972"/>
                  <a:pt x="243171" y="182378"/>
                </a:cubicBezTo>
                <a:lnTo>
                  <a:pt x="243171" y="212775"/>
                </a:lnTo>
                <a:cubicBezTo>
                  <a:pt x="243171" y="221181"/>
                  <a:pt x="236380" y="227973"/>
                  <a:pt x="227973" y="227973"/>
                </a:cubicBezTo>
                <a:lnTo>
                  <a:pt x="197577" y="227973"/>
                </a:lnTo>
                <a:cubicBezTo>
                  <a:pt x="189170" y="227973"/>
                  <a:pt x="182378" y="221181"/>
                  <a:pt x="182378" y="212775"/>
                </a:cubicBezTo>
                <a:lnTo>
                  <a:pt x="182378" y="182378"/>
                </a:lnTo>
                <a:cubicBezTo>
                  <a:pt x="182378" y="173972"/>
                  <a:pt x="189170" y="167180"/>
                  <a:pt x="197577" y="167180"/>
                </a:cubicBezTo>
                <a:lnTo>
                  <a:pt x="201376" y="167180"/>
                </a:lnTo>
                <a:lnTo>
                  <a:pt x="201376" y="140583"/>
                </a:lnTo>
                <a:cubicBezTo>
                  <a:pt x="201376" y="134267"/>
                  <a:pt x="196294" y="129185"/>
                  <a:pt x="189978" y="129185"/>
                </a:cubicBezTo>
                <a:lnTo>
                  <a:pt x="132984" y="129185"/>
                </a:lnTo>
                <a:lnTo>
                  <a:pt x="132984" y="167180"/>
                </a:lnTo>
                <a:lnTo>
                  <a:pt x="136784" y="167180"/>
                </a:lnTo>
                <a:cubicBezTo>
                  <a:pt x="145190" y="167180"/>
                  <a:pt x="151982" y="173972"/>
                  <a:pt x="151982" y="182378"/>
                </a:cubicBezTo>
                <a:lnTo>
                  <a:pt x="151982" y="212775"/>
                </a:lnTo>
                <a:cubicBezTo>
                  <a:pt x="151982" y="221181"/>
                  <a:pt x="145190" y="227973"/>
                  <a:pt x="136784" y="227973"/>
                </a:cubicBezTo>
                <a:lnTo>
                  <a:pt x="106387" y="227973"/>
                </a:lnTo>
                <a:cubicBezTo>
                  <a:pt x="97981" y="227973"/>
                  <a:pt x="91189" y="221181"/>
                  <a:pt x="91189" y="212775"/>
                </a:cubicBezTo>
                <a:lnTo>
                  <a:pt x="91189" y="182378"/>
                </a:lnTo>
                <a:cubicBezTo>
                  <a:pt x="91189" y="173972"/>
                  <a:pt x="97981" y="167180"/>
                  <a:pt x="106387" y="167180"/>
                </a:cubicBezTo>
                <a:lnTo>
                  <a:pt x="110187" y="167180"/>
                </a:lnTo>
                <a:lnTo>
                  <a:pt x="110187" y="129185"/>
                </a:lnTo>
                <a:lnTo>
                  <a:pt x="53194" y="129185"/>
                </a:lnTo>
                <a:cubicBezTo>
                  <a:pt x="46877" y="129185"/>
                  <a:pt x="41795" y="134267"/>
                  <a:pt x="41795" y="140583"/>
                </a:cubicBezTo>
                <a:lnTo>
                  <a:pt x="41795" y="167180"/>
                </a:lnTo>
                <a:lnTo>
                  <a:pt x="45595" y="167180"/>
                </a:lnTo>
                <a:cubicBezTo>
                  <a:pt x="54001" y="167180"/>
                  <a:pt x="60793" y="173972"/>
                  <a:pt x="60793" y="182378"/>
                </a:cubicBezTo>
                <a:lnTo>
                  <a:pt x="60793" y="212775"/>
                </a:lnTo>
                <a:cubicBezTo>
                  <a:pt x="60793" y="221181"/>
                  <a:pt x="54001" y="227973"/>
                  <a:pt x="45595" y="227973"/>
                </a:cubicBezTo>
                <a:lnTo>
                  <a:pt x="15198" y="227973"/>
                </a:lnTo>
                <a:cubicBezTo>
                  <a:pt x="6792" y="227973"/>
                  <a:pt x="0" y="221181"/>
                  <a:pt x="0" y="212775"/>
                </a:cubicBezTo>
                <a:lnTo>
                  <a:pt x="0" y="182378"/>
                </a:lnTo>
                <a:cubicBezTo>
                  <a:pt x="0" y="173972"/>
                  <a:pt x="6792" y="167180"/>
                  <a:pt x="15198" y="167180"/>
                </a:cubicBezTo>
                <a:lnTo>
                  <a:pt x="18998" y="167180"/>
                </a:lnTo>
                <a:lnTo>
                  <a:pt x="18998" y="140583"/>
                </a:lnTo>
                <a:cubicBezTo>
                  <a:pt x="18998" y="121681"/>
                  <a:pt x="34291" y="106387"/>
                  <a:pt x="53194" y="106387"/>
                </a:cubicBezTo>
                <a:lnTo>
                  <a:pt x="110187" y="106387"/>
                </a:lnTo>
                <a:lnTo>
                  <a:pt x="110187" y="75991"/>
                </a:lnTo>
                <a:lnTo>
                  <a:pt x="106387" y="75991"/>
                </a:lnTo>
                <a:cubicBezTo>
                  <a:pt x="97981" y="75991"/>
                  <a:pt x="91189" y="69199"/>
                  <a:pt x="91189" y="60793"/>
                </a:cubicBezTo>
                <a:lnTo>
                  <a:pt x="91189" y="30396"/>
                </a:ln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84844" y="1848102"/>
            <a:ext cx="8523153" cy="34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15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物理组件架构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93038" y="2334444"/>
            <a:ext cx="8693373" cy="1313125"/>
          </a:xfrm>
          <a:custGeom>
            <a:avLst/>
            <a:gdLst/>
            <a:ahLst/>
            <a:cxnLst/>
            <a:rect l="l" t="t" r="r" b="b"/>
            <a:pathLst>
              <a:path w="8693373" h="1313125">
                <a:moveTo>
                  <a:pt x="24317" y="0"/>
                </a:moveTo>
                <a:lnTo>
                  <a:pt x="8596110" y="0"/>
                </a:lnTo>
                <a:cubicBezTo>
                  <a:pt x="8649827" y="0"/>
                  <a:pt x="8693373" y="43546"/>
                  <a:pt x="8693373" y="97263"/>
                </a:cubicBezTo>
                <a:lnTo>
                  <a:pt x="8693373" y="1215862"/>
                </a:lnTo>
                <a:cubicBezTo>
                  <a:pt x="8693373" y="1269579"/>
                  <a:pt x="8649827" y="1313125"/>
                  <a:pt x="8596110" y="1313125"/>
                </a:cubicBezTo>
                <a:lnTo>
                  <a:pt x="24317" y="1313125"/>
                </a:lnTo>
                <a:cubicBezTo>
                  <a:pt x="10887" y="1313125"/>
                  <a:pt x="0" y="1302238"/>
                  <a:pt x="0" y="1288808"/>
                </a:cubicBezTo>
                <a:lnTo>
                  <a:pt x="0" y="24317"/>
                </a:lnTo>
                <a:cubicBezTo>
                  <a:pt x="0" y="10896"/>
                  <a:pt x="10896" y="0"/>
                  <a:pt x="2431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693038" y="2334444"/>
            <a:ext cx="24317" cy="1313125"/>
          </a:xfrm>
          <a:custGeom>
            <a:avLst/>
            <a:gdLst/>
            <a:ahLst/>
            <a:cxnLst/>
            <a:rect l="l" t="t" r="r" b="b"/>
            <a:pathLst>
              <a:path w="24317" h="1313125">
                <a:moveTo>
                  <a:pt x="24317" y="0"/>
                </a:moveTo>
                <a:lnTo>
                  <a:pt x="24317" y="0"/>
                </a:lnTo>
                <a:lnTo>
                  <a:pt x="24317" y="1313125"/>
                </a:lnTo>
                <a:lnTo>
                  <a:pt x="24317" y="1313125"/>
                </a:lnTo>
                <a:cubicBezTo>
                  <a:pt x="10887" y="1313125"/>
                  <a:pt x="0" y="1302238"/>
                  <a:pt x="0" y="1288808"/>
                </a:cubicBezTo>
                <a:lnTo>
                  <a:pt x="0" y="24317"/>
                </a:lnTo>
                <a:cubicBezTo>
                  <a:pt x="0" y="10896"/>
                  <a:pt x="10896" y="0"/>
                  <a:pt x="24317" y="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851099" y="2480347"/>
            <a:ext cx="583611" cy="583611"/>
          </a:xfrm>
          <a:custGeom>
            <a:avLst/>
            <a:gdLst/>
            <a:ahLst/>
            <a:cxnLst/>
            <a:rect l="l" t="t" r="r" b="b"/>
            <a:pathLst>
              <a:path w="583611" h="583611">
                <a:moveTo>
                  <a:pt x="97270" y="0"/>
                </a:moveTo>
                <a:lnTo>
                  <a:pt x="486341" y="0"/>
                </a:lnTo>
                <a:cubicBezTo>
                  <a:pt x="540062" y="0"/>
                  <a:pt x="583611" y="43549"/>
                  <a:pt x="583611" y="97270"/>
                </a:cubicBezTo>
                <a:lnTo>
                  <a:pt x="583611" y="486341"/>
                </a:lnTo>
                <a:cubicBezTo>
                  <a:pt x="583611" y="540062"/>
                  <a:pt x="540062" y="583611"/>
                  <a:pt x="486341" y="583611"/>
                </a:cubicBezTo>
                <a:lnTo>
                  <a:pt x="97270" y="583611"/>
                </a:lnTo>
                <a:cubicBezTo>
                  <a:pt x="43549" y="583611"/>
                  <a:pt x="0" y="540062"/>
                  <a:pt x="0" y="486341"/>
                </a:cubicBezTo>
                <a:lnTo>
                  <a:pt x="0" y="97270"/>
                </a:lnTo>
                <a:cubicBezTo>
                  <a:pt x="0" y="43549"/>
                  <a:pt x="43549" y="0"/>
                  <a:pt x="97270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1021319" y="2650567"/>
            <a:ext cx="243171" cy="243171"/>
          </a:xfrm>
          <a:custGeom>
            <a:avLst/>
            <a:gdLst/>
            <a:ahLst/>
            <a:cxnLst/>
            <a:rect l="l" t="t" r="r" b="b"/>
            <a:pathLst>
              <a:path w="243171" h="243171">
                <a:moveTo>
                  <a:pt x="56993" y="26597"/>
                </a:moveTo>
                <a:cubicBezTo>
                  <a:pt x="56993" y="11921"/>
                  <a:pt x="68914" y="0"/>
                  <a:pt x="83590" y="0"/>
                </a:cubicBezTo>
                <a:lnTo>
                  <a:pt x="94989" y="0"/>
                </a:lnTo>
                <a:cubicBezTo>
                  <a:pt x="103395" y="0"/>
                  <a:pt x="110187" y="6792"/>
                  <a:pt x="110187" y="15198"/>
                </a:cubicBezTo>
                <a:lnTo>
                  <a:pt x="110187" y="227973"/>
                </a:lnTo>
                <a:cubicBezTo>
                  <a:pt x="110187" y="236380"/>
                  <a:pt x="103395" y="243171"/>
                  <a:pt x="94989" y="243171"/>
                </a:cubicBezTo>
                <a:lnTo>
                  <a:pt x="79791" y="243171"/>
                </a:lnTo>
                <a:cubicBezTo>
                  <a:pt x="65637" y="243171"/>
                  <a:pt x="53716" y="233482"/>
                  <a:pt x="50344" y="220374"/>
                </a:cubicBezTo>
                <a:cubicBezTo>
                  <a:pt x="50012" y="220374"/>
                  <a:pt x="49727" y="220374"/>
                  <a:pt x="49394" y="220374"/>
                </a:cubicBezTo>
                <a:cubicBezTo>
                  <a:pt x="28402" y="220374"/>
                  <a:pt x="11399" y="203371"/>
                  <a:pt x="11399" y="182378"/>
                </a:cubicBezTo>
                <a:cubicBezTo>
                  <a:pt x="11399" y="173829"/>
                  <a:pt x="14248" y="165945"/>
                  <a:pt x="18998" y="159581"/>
                </a:cubicBezTo>
                <a:cubicBezTo>
                  <a:pt x="9784" y="152647"/>
                  <a:pt x="3800" y="141628"/>
                  <a:pt x="3800" y="129185"/>
                </a:cubicBezTo>
                <a:cubicBezTo>
                  <a:pt x="3800" y="114509"/>
                  <a:pt x="12159" y="101733"/>
                  <a:pt x="24317" y="95416"/>
                </a:cubicBezTo>
                <a:cubicBezTo>
                  <a:pt x="20945" y="89717"/>
                  <a:pt x="18998" y="83068"/>
                  <a:pt x="18998" y="75991"/>
                </a:cubicBezTo>
                <a:cubicBezTo>
                  <a:pt x="18998" y="54999"/>
                  <a:pt x="36001" y="37996"/>
                  <a:pt x="56993" y="37996"/>
                </a:cubicBezTo>
                <a:lnTo>
                  <a:pt x="56993" y="26597"/>
                </a:lnTo>
                <a:close/>
                <a:moveTo>
                  <a:pt x="186178" y="26597"/>
                </a:moveTo>
                <a:lnTo>
                  <a:pt x="186178" y="37996"/>
                </a:lnTo>
                <a:cubicBezTo>
                  <a:pt x="207171" y="37996"/>
                  <a:pt x="224174" y="54999"/>
                  <a:pt x="224174" y="75991"/>
                </a:cubicBezTo>
                <a:cubicBezTo>
                  <a:pt x="224174" y="83115"/>
                  <a:pt x="222226" y="89764"/>
                  <a:pt x="218854" y="95416"/>
                </a:cubicBezTo>
                <a:cubicBezTo>
                  <a:pt x="231060" y="101733"/>
                  <a:pt x="239372" y="114461"/>
                  <a:pt x="239372" y="129185"/>
                </a:cubicBezTo>
                <a:cubicBezTo>
                  <a:pt x="239372" y="141628"/>
                  <a:pt x="233387" y="152647"/>
                  <a:pt x="224174" y="159581"/>
                </a:cubicBezTo>
                <a:cubicBezTo>
                  <a:pt x="228923" y="165945"/>
                  <a:pt x="231773" y="173829"/>
                  <a:pt x="231773" y="182378"/>
                </a:cubicBezTo>
                <a:cubicBezTo>
                  <a:pt x="231773" y="203371"/>
                  <a:pt x="214770" y="220374"/>
                  <a:pt x="193777" y="220374"/>
                </a:cubicBezTo>
                <a:cubicBezTo>
                  <a:pt x="193445" y="220374"/>
                  <a:pt x="193160" y="220374"/>
                  <a:pt x="192827" y="220374"/>
                </a:cubicBezTo>
                <a:cubicBezTo>
                  <a:pt x="189455" y="233482"/>
                  <a:pt x="177534" y="243171"/>
                  <a:pt x="163381" y="243171"/>
                </a:cubicBezTo>
                <a:lnTo>
                  <a:pt x="148182" y="243171"/>
                </a:lnTo>
                <a:cubicBezTo>
                  <a:pt x="139776" y="243171"/>
                  <a:pt x="132984" y="236380"/>
                  <a:pt x="132984" y="227973"/>
                </a:cubicBezTo>
                <a:lnTo>
                  <a:pt x="132984" y="15198"/>
                </a:lnTo>
                <a:cubicBezTo>
                  <a:pt x="132984" y="6792"/>
                  <a:pt x="139776" y="0"/>
                  <a:pt x="148182" y="0"/>
                </a:cubicBezTo>
                <a:lnTo>
                  <a:pt x="159581" y="0"/>
                </a:lnTo>
                <a:cubicBezTo>
                  <a:pt x="174257" y="0"/>
                  <a:pt x="186178" y="11921"/>
                  <a:pt x="186178" y="26597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580613" y="2480347"/>
            <a:ext cx="7769322" cy="34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2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JobManager (Master)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80613" y="2869421"/>
            <a:ext cx="7745005" cy="243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作业的"大脑"，负责协调分布式执行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580613" y="3209861"/>
            <a:ext cx="924051" cy="291806"/>
          </a:xfrm>
          <a:custGeom>
            <a:avLst/>
            <a:gdLst/>
            <a:ahLst/>
            <a:cxnLst/>
            <a:rect l="l" t="t" r="r" b="b"/>
            <a:pathLst>
              <a:path w="924051" h="291806">
                <a:moveTo>
                  <a:pt x="145903" y="0"/>
                </a:moveTo>
                <a:lnTo>
                  <a:pt x="778148" y="0"/>
                </a:lnTo>
                <a:cubicBezTo>
                  <a:pt x="858728" y="0"/>
                  <a:pt x="924051" y="65323"/>
                  <a:pt x="924051" y="145903"/>
                </a:cubicBezTo>
                <a:lnTo>
                  <a:pt x="924051" y="145903"/>
                </a:lnTo>
                <a:cubicBezTo>
                  <a:pt x="924051" y="226483"/>
                  <a:pt x="858728" y="291806"/>
                  <a:pt x="778148" y="291806"/>
                </a:cubicBezTo>
                <a:lnTo>
                  <a:pt x="145903" y="291806"/>
                </a:lnTo>
                <a:cubicBezTo>
                  <a:pt x="65323" y="291806"/>
                  <a:pt x="0" y="226483"/>
                  <a:pt x="0" y="145903"/>
                </a:cubicBezTo>
                <a:lnTo>
                  <a:pt x="0" y="145903"/>
                </a:lnTo>
                <a:cubicBezTo>
                  <a:pt x="0" y="65323"/>
                  <a:pt x="65323" y="0"/>
                  <a:pt x="145903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580613" y="3209861"/>
            <a:ext cx="997002" cy="291806"/>
          </a:xfrm>
          <a:prstGeom prst="rect">
            <a:avLst/>
          </a:prstGeom>
          <a:noFill/>
          <a:ln/>
        </p:spPr>
        <p:txBody>
          <a:bodyPr wrap="square" lIns="97269" tIns="48634" rIns="97269" bIns="48634" rtlCol="0" anchor="ctr"/>
          <a:lstStyle/>
          <a:p>
            <a:pPr>
              <a:lnSpc>
                <a:spcPct val="110000"/>
              </a:lnSpc>
            </a:pPr>
            <a:r>
              <a:rPr lang="en-US" sz="1149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作业图管理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601933" y="3209861"/>
            <a:ext cx="778148" cy="291806"/>
          </a:xfrm>
          <a:custGeom>
            <a:avLst/>
            <a:gdLst/>
            <a:ahLst/>
            <a:cxnLst/>
            <a:rect l="l" t="t" r="r" b="b"/>
            <a:pathLst>
              <a:path w="778148" h="291806">
                <a:moveTo>
                  <a:pt x="145903" y="0"/>
                </a:moveTo>
                <a:lnTo>
                  <a:pt x="632245" y="0"/>
                </a:lnTo>
                <a:cubicBezTo>
                  <a:pt x="712825" y="0"/>
                  <a:pt x="778148" y="65323"/>
                  <a:pt x="778148" y="145903"/>
                </a:cubicBezTo>
                <a:lnTo>
                  <a:pt x="778148" y="145903"/>
                </a:lnTo>
                <a:cubicBezTo>
                  <a:pt x="778148" y="226483"/>
                  <a:pt x="712825" y="291806"/>
                  <a:pt x="632245" y="291806"/>
                </a:cubicBezTo>
                <a:lnTo>
                  <a:pt x="145903" y="291806"/>
                </a:lnTo>
                <a:cubicBezTo>
                  <a:pt x="65323" y="291806"/>
                  <a:pt x="0" y="226483"/>
                  <a:pt x="0" y="145903"/>
                </a:cubicBezTo>
                <a:lnTo>
                  <a:pt x="0" y="145903"/>
                </a:lnTo>
                <a:cubicBezTo>
                  <a:pt x="0" y="65323"/>
                  <a:pt x="65323" y="0"/>
                  <a:pt x="145903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2601933" y="3209861"/>
            <a:ext cx="851099" cy="291806"/>
          </a:xfrm>
          <a:prstGeom prst="rect">
            <a:avLst/>
          </a:prstGeom>
          <a:noFill/>
          <a:ln/>
        </p:spPr>
        <p:txBody>
          <a:bodyPr wrap="square" lIns="97269" tIns="48634" rIns="97269" bIns="48634" rtlCol="0" anchor="ctr"/>
          <a:lstStyle/>
          <a:p>
            <a:pPr>
              <a:lnSpc>
                <a:spcPct val="110000"/>
              </a:lnSpc>
            </a:pPr>
            <a:r>
              <a:rPr lang="en-US" sz="1149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任务调度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477349" y="3209861"/>
            <a:ext cx="924051" cy="291806"/>
          </a:xfrm>
          <a:custGeom>
            <a:avLst/>
            <a:gdLst/>
            <a:ahLst/>
            <a:cxnLst/>
            <a:rect l="l" t="t" r="r" b="b"/>
            <a:pathLst>
              <a:path w="924051" h="291806">
                <a:moveTo>
                  <a:pt x="145903" y="0"/>
                </a:moveTo>
                <a:lnTo>
                  <a:pt x="778148" y="0"/>
                </a:lnTo>
                <a:cubicBezTo>
                  <a:pt x="858728" y="0"/>
                  <a:pt x="924051" y="65323"/>
                  <a:pt x="924051" y="145903"/>
                </a:cubicBezTo>
                <a:lnTo>
                  <a:pt x="924051" y="145903"/>
                </a:lnTo>
                <a:cubicBezTo>
                  <a:pt x="924051" y="226483"/>
                  <a:pt x="858728" y="291806"/>
                  <a:pt x="778148" y="291806"/>
                </a:cubicBezTo>
                <a:lnTo>
                  <a:pt x="145903" y="291806"/>
                </a:lnTo>
                <a:cubicBezTo>
                  <a:pt x="65323" y="291806"/>
                  <a:pt x="0" y="226483"/>
                  <a:pt x="0" y="145903"/>
                </a:cubicBezTo>
                <a:lnTo>
                  <a:pt x="0" y="145903"/>
                </a:lnTo>
                <a:cubicBezTo>
                  <a:pt x="0" y="65323"/>
                  <a:pt x="65323" y="0"/>
                  <a:pt x="145903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3477349" y="3209861"/>
            <a:ext cx="997002" cy="291806"/>
          </a:xfrm>
          <a:prstGeom prst="rect">
            <a:avLst/>
          </a:prstGeom>
          <a:noFill/>
          <a:ln/>
        </p:spPr>
        <p:txBody>
          <a:bodyPr wrap="square" lIns="97269" tIns="48634" rIns="97269" bIns="48634" rtlCol="0" anchor="ctr"/>
          <a:lstStyle/>
          <a:p>
            <a:pPr>
              <a:lnSpc>
                <a:spcPct val="110000"/>
              </a:lnSpc>
            </a:pPr>
            <a:r>
              <a:rPr lang="en-US" sz="1149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检查点协调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98669" y="3209861"/>
            <a:ext cx="778148" cy="291806"/>
          </a:xfrm>
          <a:custGeom>
            <a:avLst/>
            <a:gdLst/>
            <a:ahLst/>
            <a:cxnLst/>
            <a:rect l="l" t="t" r="r" b="b"/>
            <a:pathLst>
              <a:path w="778148" h="291806">
                <a:moveTo>
                  <a:pt x="145903" y="0"/>
                </a:moveTo>
                <a:lnTo>
                  <a:pt x="632245" y="0"/>
                </a:lnTo>
                <a:cubicBezTo>
                  <a:pt x="712825" y="0"/>
                  <a:pt x="778148" y="65323"/>
                  <a:pt x="778148" y="145903"/>
                </a:cubicBezTo>
                <a:lnTo>
                  <a:pt x="778148" y="145903"/>
                </a:lnTo>
                <a:cubicBezTo>
                  <a:pt x="778148" y="226483"/>
                  <a:pt x="712825" y="291806"/>
                  <a:pt x="632245" y="291806"/>
                </a:cubicBezTo>
                <a:lnTo>
                  <a:pt x="145903" y="291806"/>
                </a:lnTo>
                <a:cubicBezTo>
                  <a:pt x="65323" y="291806"/>
                  <a:pt x="0" y="226483"/>
                  <a:pt x="0" y="145903"/>
                </a:cubicBezTo>
                <a:lnTo>
                  <a:pt x="0" y="145903"/>
                </a:lnTo>
                <a:cubicBezTo>
                  <a:pt x="0" y="65323"/>
                  <a:pt x="65323" y="0"/>
                  <a:pt x="145903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4498669" y="3209861"/>
            <a:ext cx="851099" cy="291806"/>
          </a:xfrm>
          <a:prstGeom prst="rect">
            <a:avLst/>
          </a:prstGeom>
          <a:noFill/>
          <a:ln/>
        </p:spPr>
        <p:txBody>
          <a:bodyPr wrap="square" lIns="97269" tIns="48634" rIns="97269" bIns="48634" rtlCol="0" anchor="ctr"/>
          <a:lstStyle/>
          <a:p>
            <a:pPr>
              <a:lnSpc>
                <a:spcPct val="110000"/>
              </a:lnSpc>
            </a:pPr>
            <a:r>
              <a:rPr lang="en-US" sz="1149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故障恢复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93038" y="3744838"/>
            <a:ext cx="8693373" cy="1313125"/>
          </a:xfrm>
          <a:custGeom>
            <a:avLst/>
            <a:gdLst/>
            <a:ahLst/>
            <a:cxnLst/>
            <a:rect l="l" t="t" r="r" b="b"/>
            <a:pathLst>
              <a:path w="8693373" h="1313125">
                <a:moveTo>
                  <a:pt x="24317" y="0"/>
                </a:moveTo>
                <a:lnTo>
                  <a:pt x="8596110" y="0"/>
                </a:lnTo>
                <a:cubicBezTo>
                  <a:pt x="8649827" y="0"/>
                  <a:pt x="8693373" y="43546"/>
                  <a:pt x="8693373" y="97263"/>
                </a:cubicBezTo>
                <a:lnTo>
                  <a:pt x="8693373" y="1215862"/>
                </a:lnTo>
                <a:cubicBezTo>
                  <a:pt x="8693373" y="1269579"/>
                  <a:pt x="8649827" y="1313125"/>
                  <a:pt x="8596110" y="1313125"/>
                </a:cubicBezTo>
                <a:lnTo>
                  <a:pt x="24317" y="1313125"/>
                </a:lnTo>
                <a:cubicBezTo>
                  <a:pt x="10887" y="1313125"/>
                  <a:pt x="0" y="1302238"/>
                  <a:pt x="0" y="1288808"/>
                </a:cubicBezTo>
                <a:lnTo>
                  <a:pt x="0" y="24317"/>
                </a:lnTo>
                <a:cubicBezTo>
                  <a:pt x="0" y="10896"/>
                  <a:pt x="10896" y="0"/>
                  <a:pt x="2431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93038" y="3744838"/>
            <a:ext cx="24317" cy="1313125"/>
          </a:xfrm>
          <a:custGeom>
            <a:avLst/>
            <a:gdLst/>
            <a:ahLst/>
            <a:cxnLst/>
            <a:rect l="l" t="t" r="r" b="b"/>
            <a:pathLst>
              <a:path w="24317" h="1313125">
                <a:moveTo>
                  <a:pt x="24317" y="0"/>
                </a:moveTo>
                <a:lnTo>
                  <a:pt x="24317" y="0"/>
                </a:lnTo>
                <a:lnTo>
                  <a:pt x="24317" y="1313125"/>
                </a:lnTo>
                <a:lnTo>
                  <a:pt x="24317" y="1313125"/>
                </a:lnTo>
                <a:cubicBezTo>
                  <a:pt x="10887" y="1313125"/>
                  <a:pt x="0" y="1302238"/>
                  <a:pt x="0" y="1288808"/>
                </a:cubicBezTo>
                <a:lnTo>
                  <a:pt x="0" y="24317"/>
                </a:lnTo>
                <a:cubicBezTo>
                  <a:pt x="0" y="10896"/>
                  <a:pt x="10896" y="0"/>
                  <a:pt x="24317" y="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51099" y="3890740"/>
            <a:ext cx="583611" cy="583611"/>
          </a:xfrm>
          <a:custGeom>
            <a:avLst/>
            <a:gdLst/>
            <a:ahLst/>
            <a:cxnLst/>
            <a:rect l="l" t="t" r="r" b="b"/>
            <a:pathLst>
              <a:path w="583611" h="583611">
                <a:moveTo>
                  <a:pt x="97270" y="0"/>
                </a:moveTo>
                <a:lnTo>
                  <a:pt x="486341" y="0"/>
                </a:lnTo>
                <a:cubicBezTo>
                  <a:pt x="540062" y="0"/>
                  <a:pt x="583611" y="43549"/>
                  <a:pt x="583611" y="97270"/>
                </a:cubicBezTo>
                <a:lnTo>
                  <a:pt x="583611" y="486341"/>
                </a:lnTo>
                <a:cubicBezTo>
                  <a:pt x="583611" y="540062"/>
                  <a:pt x="540062" y="583611"/>
                  <a:pt x="486341" y="583611"/>
                </a:cubicBezTo>
                <a:lnTo>
                  <a:pt x="97270" y="583611"/>
                </a:lnTo>
                <a:cubicBezTo>
                  <a:pt x="43549" y="583611"/>
                  <a:pt x="0" y="540062"/>
                  <a:pt x="0" y="486341"/>
                </a:cubicBezTo>
                <a:lnTo>
                  <a:pt x="0" y="97270"/>
                </a:lnTo>
                <a:cubicBezTo>
                  <a:pt x="0" y="43549"/>
                  <a:pt x="43549" y="0"/>
                  <a:pt x="97270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990923" y="4060960"/>
            <a:ext cx="303964" cy="243171"/>
          </a:xfrm>
          <a:custGeom>
            <a:avLst/>
            <a:gdLst/>
            <a:ahLst/>
            <a:cxnLst/>
            <a:rect l="l" t="t" r="r" b="b"/>
            <a:pathLst>
              <a:path w="303964" h="243171">
                <a:moveTo>
                  <a:pt x="197529" y="99976"/>
                </a:moveTo>
                <a:cubicBezTo>
                  <a:pt x="203323" y="98408"/>
                  <a:pt x="209403" y="101163"/>
                  <a:pt x="212015" y="106530"/>
                </a:cubicBezTo>
                <a:lnTo>
                  <a:pt x="220849" y="124388"/>
                </a:lnTo>
                <a:cubicBezTo>
                  <a:pt x="225741" y="125053"/>
                  <a:pt x="230538" y="126383"/>
                  <a:pt x="235050" y="128235"/>
                </a:cubicBezTo>
                <a:lnTo>
                  <a:pt x="251673" y="117169"/>
                </a:lnTo>
                <a:cubicBezTo>
                  <a:pt x="256660" y="113844"/>
                  <a:pt x="263261" y="114509"/>
                  <a:pt x="267488" y="118736"/>
                </a:cubicBezTo>
                <a:lnTo>
                  <a:pt x="276607" y="127855"/>
                </a:lnTo>
                <a:cubicBezTo>
                  <a:pt x="280834" y="132082"/>
                  <a:pt x="281499" y="138731"/>
                  <a:pt x="278175" y="143671"/>
                </a:cubicBezTo>
                <a:lnTo>
                  <a:pt x="267108" y="160246"/>
                </a:lnTo>
                <a:cubicBezTo>
                  <a:pt x="268011" y="162478"/>
                  <a:pt x="268818" y="164806"/>
                  <a:pt x="269483" y="167228"/>
                </a:cubicBezTo>
                <a:cubicBezTo>
                  <a:pt x="270148" y="169650"/>
                  <a:pt x="270576" y="172025"/>
                  <a:pt x="270908" y="174447"/>
                </a:cubicBezTo>
                <a:lnTo>
                  <a:pt x="288813" y="183281"/>
                </a:lnTo>
                <a:cubicBezTo>
                  <a:pt x="294180" y="185941"/>
                  <a:pt x="296935" y="192020"/>
                  <a:pt x="295368" y="197767"/>
                </a:cubicBezTo>
                <a:lnTo>
                  <a:pt x="292043" y="210210"/>
                </a:lnTo>
                <a:cubicBezTo>
                  <a:pt x="290476" y="215957"/>
                  <a:pt x="285109" y="219852"/>
                  <a:pt x="279125" y="219472"/>
                </a:cubicBezTo>
                <a:lnTo>
                  <a:pt x="259177" y="218189"/>
                </a:lnTo>
                <a:cubicBezTo>
                  <a:pt x="256185" y="222036"/>
                  <a:pt x="252718" y="225598"/>
                  <a:pt x="248776" y="228638"/>
                </a:cubicBezTo>
                <a:lnTo>
                  <a:pt x="250058" y="248538"/>
                </a:lnTo>
                <a:cubicBezTo>
                  <a:pt x="250438" y="254522"/>
                  <a:pt x="246543" y="259937"/>
                  <a:pt x="240797" y="261457"/>
                </a:cubicBezTo>
                <a:lnTo>
                  <a:pt x="228353" y="264781"/>
                </a:lnTo>
                <a:cubicBezTo>
                  <a:pt x="222559" y="266349"/>
                  <a:pt x="216527" y="263594"/>
                  <a:pt x="213867" y="258227"/>
                </a:cubicBezTo>
                <a:lnTo>
                  <a:pt x="205033" y="240369"/>
                </a:lnTo>
                <a:cubicBezTo>
                  <a:pt x="200141" y="239704"/>
                  <a:pt x="195344" y="238374"/>
                  <a:pt x="190832" y="236522"/>
                </a:cubicBezTo>
                <a:lnTo>
                  <a:pt x="174209" y="247588"/>
                </a:lnTo>
                <a:cubicBezTo>
                  <a:pt x="169223" y="250913"/>
                  <a:pt x="162621" y="250248"/>
                  <a:pt x="158394" y="246021"/>
                </a:cubicBezTo>
                <a:lnTo>
                  <a:pt x="149275" y="236902"/>
                </a:lnTo>
                <a:cubicBezTo>
                  <a:pt x="145048" y="232675"/>
                  <a:pt x="144383" y="226073"/>
                  <a:pt x="147708" y="221086"/>
                </a:cubicBezTo>
                <a:lnTo>
                  <a:pt x="158774" y="204463"/>
                </a:lnTo>
                <a:cubicBezTo>
                  <a:pt x="157871" y="202231"/>
                  <a:pt x="157064" y="199904"/>
                  <a:pt x="156399" y="197482"/>
                </a:cubicBezTo>
                <a:cubicBezTo>
                  <a:pt x="155734" y="195059"/>
                  <a:pt x="155307" y="192637"/>
                  <a:pt x="154974" y="190263"/>
                </a:cubicBezTo>
                <a:lnTo>
                  <a:pt x="137069" y="181429"/>
                </a:lnTo>
                <a:cubicBezTo>
                  <a:pt x="131702" y="178769"/>
                  <a:pt x="128995" y="172690"/>
                  <a:pt x="130515" y="166943"/>
                </a:cubicBezTo>
                <a:lnTo>
                  <a:pt x="133839" y="154499"/>
                </a:lnTo>
                <a:cubicBezTo>
                  <a:pt x="135407" y="148752"/>
                  <a:pt x="140773" y="144858"/>
                  <a:pt x="146758" y="145238"/>
                </a:cubicBezTo>
                <a:lnTo>
                  <a:pt x="166658" y="146520"/>
                </a:lnTo>
                <a:cubicBezTo>
                  <a:pt x="169650" y="142673"/>
                  <a:pt x="173117" y="139111"/>
                  <a:pt x="177059" y="136071"/>
                </a:cubicBezTo>
                <a:lnTo>
                  <a:pt x="175777" y="116219"/>
                </a:lnTo>
                <a:cubicBezTo>
                  <a:pt x="175397" y="110234"/>
                  <a:pt x="179291" y="104820"/>
                  <a:pt x="185038" y="103300"/>
                </a:cubicBezTo>
                <a:lnTo>
                  <a:pt x="197482" y="99976"/>
                </a:lnTo>
                <a:close/>
                <a:moveTo>
                  <a:pt x="212965" y="161481"/>
                </a:moveTo>
                <a:cubicBezTo>
                  <a:pt x="201431" y="161494"/>
                  <a:pt x="192078" y="170869"/>
                  <a:pt x="192091" y="182402"/>
                </a:cubicBezTo>
                <a:cubicBezTo>
                  <a:pt x="192104" y="193936"/>
                  <a:pt x="201479" y="203289"/>
                  <a:pt x="213012" y="203276"/>
                </a:cubicBezTo>
                <a:cubicBezTo>
                  <a:pt x="224546" y="203263"/>
                  <a:pt x="233899" y="193888"/>
                  <a:pt x="233886" y="182355"/>
                </a:cubicBezTo>
                <a:cubicBezTo>
                  <a:pt x="233873" y="170821"/>
                  <a:pt x="224499" y="161468"/>
                  <a:pt x="212965" y="161481"/>
                </a:cubicBezTo>
                <a:close/>
                <a:moveTo>
                  <a:pt x="106815" y="-21610"/>
                </a:moveTo>
                <a:lnTo>
                  <a:pt x="119258" y="-18285"/>
                </a:lnTo>
                <a:cubicBezTo>
                  <a:pt x="125005" y="-16718"/>
                  <a:pt x="128900" y="-11304"/>
                  <a:pt x="128520" y="-5367"/>
                </a:cubicBezTo>
                <a:lnTo>
                  <a:pt x="127237" y="14486"/>
                </a:lnTo>
                <a:cubicBezTo>
                  <a:pt x="131180" y="17525"/>
                  <a:pt x="134647" y="21040"/>
                  <a:pt x="137639" y="24935"/>
                </a:cubicBezTo>
                <a:lnTo>
                  <a:pt x="157586" y="23652"/>
                </a:lnTo>
                <a:cubicBezTo>
                  <a:pt x="163523" y="23272"/>
                  <a:pt x="168938" y="27167"/>
                  <a:pt x="170505" y="32914"/>
                </a:cubicBezTo>
                <a:lnTo>
                  <a:pt x="173829" y="45357"/>
                </a:lnTo>
                <a:cubicBezTo>
                  <a:pt x="175349" y="51104"/>
                  <a:pt x="172642" y="57183"/>
                  <a:pt x="167275" y="59843"/>
                </a:cubicBezTo>
                <a:lnTo>
                  <a:pt x="149370" y="68677"/>
                </a:lnTo>
                <a:cubicBezTo>
                  <a:pt x="149037" y="71099"/>
                  <a:pt x="148562" y="73521"/>
                  <a:pt x="147945" y="75896"/>
                </a:cubicBezTo>
                <a:cubicBezTo>
                  <a:pt x="147328" y="78271"/>
                  <a:pt x="146473" y="80645"/>
                  <a:pt x="145570" y="82878"/>
                </a:cubicBezTo>
                <a:lnTo>
                  <a:pt x="156636" y="99501"/>
                </a:lnTo>
                <a:cubicBezTo>
                  <a:pt x="159961" y="104488"/>
                  <a:pt x="159296" y="111089"/>
                  <a:pt x="155069" y="115316"/>
                </a:cubicBezTo>
                <a:lnTo>
                  <a:pt x="145950" y="124435"/>
                </a:lnTo>
                <a:cubicBezTo>
                  <a:pt x="141723" y="128662"/>
                  <a:pt x="135122" y="129327"/>
                  <a:pt x="130135" y="126003"/>
                </a:cubicBezTo>
                <a:lnTo>
                  <a:pt x="113512" y="114936"/>
                </a:lnTo>
                <a:cubicBezTo>
                  <a:pt x="109000" y="116789"/>
                  <a:pt x="104203" y="118119"/>
                  <a:pt x="99311" y="118783"/>
                </a:cubicBezTo>
                <a:lnTo>
                  <a:pt x="90477" y="136641"/>
                </a:lnTo>
                <a:cubicBezTo>
                  <a:pt x="87817" y="142008"/>
                  <a:pt x="81738" y="144715"/>
                  <a:pt x="75991" y="143196"/>
                </a:cubicBezTo>
                <a:lnTo>
                  <a:pt x="63547" y="139871"/>
                </a:lnTo>
                <a:cubicBezTo>
                  <a:pt x="57753" y="138304"/>
                  <a:pt x="53906" y="132889"/>
                  <a:pt x="54286" y="126953"/>
                </a:cubicBezTo>
                <a:lnTo>
                  <a:pt x="55568" y="107052"/>
                </a:lnTo>
                <a:cubicBezTo>
                  <a:pt x="51626" y="104013"/>
                  <a:pt x="48159" y="100498"/>
                  <a:pt x="45167" y="96604"/>
                </a:cubicBezTo>
                <a:lnTo>
                  <a:pt x="25220" y="97886"/>
                </a:lnTo>
                <a:cubicBezTo>
                  <a:pt x="19283" y="98266"/>
                  <a:pt x="13868" y="94371"/>
                  <a:pt x="12301" y="88625"/>
                </a:cubicBezTo>
                <a:lnTo>
                  <a:pt x="8976" y="76181"/>
                </a:lnTo>
                <a:cubicBezTo>
                  <a:pt x="7457" y="70434"/>
                  <a:pt x="10164" y="64355"/>
                  <a:pt x="15531" y="61695"/>
                </a:cubicBezTo>
                <a:lnTo>
                  <a:pt x="33436" y="52861"/>
                </a:lnTo>
                <a:cubicBezTo>
                  <a:pt x="33769" y="50439"/>
                  <a:pt x="34243" y="48064"/>
                  <a:pt x="34861" y="45642"/>
                </a:cubicBezTo>
                <a:cubicBezTo>
                  <a:pt x="35526" y="43220"/>
                  <a:pt x="36286" y="40893"/>
                  <a:pt x="37236" y="38660"/>
                </a:cubicBezTo>
                <a:lnTo>
                  <a:pt x="26169" y="22085"/>
                </a:lnTo>
                <a:cubicBezTo>
                  <a:pt x="22845" y="17098"/>
                  <a:pt x="23510" y="10496"/>
                  <a:pt x="27737" y="6269"/>
                </a:cubicBezTo>
                <a:lnTo>
                  <a:pt x="36856" y="-2850"/>
                </a:lnTo>
                <a:cubicBezTo>
                  <a:pt x="41083" y="-7077"/>
                  <a:pt x="47684" y="-7742"/>
                  <a:pt x="52671" y="-4417"/>
                </a:cubicBezTo>
                <a:lnTo>
                  <a:pt x="69294" y="6649"/>
                </a:lnTo>
                <a:cubicBezTo>
                  <a:pt x="73806" y="4797"/>
                  <a:pt x="78603" y="3467"/>
                  <a:pt x="83495" y="2802"/>
                </a:cubicBezTo>
                <a:lnTo>
                  <a:pt x="92329" y="-15056"/>
                </a:lnTo>
                <a:cubicBezTo>
                  <a:pt x="94989" y="-20423"/>
                  <a:pt x="101021" y="-23130"/>
                  <a:pt x="106815" y="-21610"/>
                </a:cubicBezTo>
                <a:close/>
                <a:moveTo>
                  <a:pt x="91379" y="39895"/>
                </a:moveTo>
                <a:cubicBezTo>
                  <a:pt x="79846" y="39895"/>
                  <a:pt x="70482" y="49259"/>
                  <a:pt x="70482" y="60793"/>
                </a:cubicBezTo>
                <a:cubicBezTo>
                  <a:pt x="70482" y="72326"/>
                  <a:pt x="79846" y="81690"/>
                  <a:pt x="91379" y="81690"/>
                </a:cubicBezTo>
                <a:cubicBezTo>
                  <a:pt x="102913" y="81690"/>
                  <a:pt x="112277" y="72326"/>
                  <a:pt x="112277" y="60793"/>
                </a:cubicBezTo>
                <a:cubicBezTo>
                  <a:pt x="112277" y="49259"/>
                  <a:pt x="102913" y="39895"/>
                  <a:pt x="91379" y="39895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580613" y="3890740"/>
            <a:ext cx="7769322" cy="34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2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TaskManager (Worker)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80613" y="4279815"/>
            <a:ext cx="7745005" cy="243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作业的"手脚"，负责执行具体的计算任务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580613" y="4620254"/>
            <a:ext cx="778148" cy="291806"/>
          </a:xfrm>
          <a:custGeom>
            <a:avLst/>
            <a:gdLst/>
            <a:ahLst/>
            <a:cxnLst/>
            <a:rect l="l" t="t" r="r" b="b"/>
            <a:pathLst>
              <a:path w="778148" h="291806">
                <a:moveTo>
                  <a:pt x="145903" y="0"/>
                </a:moveTo>
                <a:lnTo>
                  <a:pt x="632245" y="0"/>
                </a:lnTo>
                <a:cubicBezTo>
                  <a:pt x="712825" y="0"/>
                  <a:pt x="778148" y="65323"/>
                  <a:pt x="778148" y="145903"/>
                </a:cubicBezTo>
                <a:lnTo>
                  <a:pt x="778148" y="145903"/>
                </a:lnTo>
                <a:cubicBezTo>
                  <a:pt x="778148" y="226483"/>
                  <a:pt x="712825" y="291806"/>
                  <a:pt x="632245" y="291806"/>
                </a:cubicBezTo>
                <a:lnTo>
                  <a:pt x="145903" y="291806"/>
                </a:lnTo>
                <a:cubicBezTo>
                  <a:pt x="65323" y="291806"/>
                  <a:pt x="0" y="226483"/>
                  <a:pt x="0" y="145903"/>
                </a:cubicBezTo>
                <a:lnTo>
                  <a:pt x="0" y="145903"/>
                </a:lnTo>
                <a:cubicBezTo>
                  <a:pt x="0" y="65323"/>
                  <a:pt x="65323" y="0"/>
                  <a:pt x="145903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1580613" y="4620254"/>
            <a:ext cx="851099" cy="291806"/>
          </a:xfrm>
          <a:prstGeom prst="rect">
            <a:avLst/>
          </a:prstGeom>
          <a:noFill/>
          <a:ln/>
        </p:spPr>
        <p:txBody>
          <a:bodyPr wrap="square" lIns="97269" tIns="48634" rIns="97269" bIns="48634" rtlCol="0" anchor="ctr"/>
          <a:lstStyle/>
          <a:p>
            <a:pPr>
              <a:lnSpc>
                <a:spcPct val="110000"/>
              </a:lnSpc>
            </a:pPr>
            <a:r>
              <a:rPr lang="en-US" sz="1149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资源注册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2456030" y="4620254"/>
            <a:ext cx="778148" cy="291806"/>
          </a:xfrm>
          <a:custGeom>
            <a:avLst/>
            <a:gdLst/>
            <a:ahLst/>
            <a:cxnLst/>
            <a:rect l="l" t="t" r="r" b="b"/>
            <a:pathLst>
              <a:path w="778148" h="291806">
                <a:moveTo>
                  <a:pt x="145903" y="0"/>
                </a:moveTo>
                <a:lnTo>
                  <a:pt x="632245" y="0"/>
                </a:lnTo>
                <a:cubicBezTo>
                  <a:pt x="712825" y="0"/>
                  <a:pt x="778148" y="65323"/>
                  <a:pt x="778148" y="145903"/>
                </a:cubicBezTo>
                <a:lnTo>
                  <a:pt x="778148" y="145903"/>
                </a:lnTo>
                <a:cubicBezTo>
                  <a:pt x="778148" y="226483"/>
                  <a:pt x="712825" y="291806"/>
                  <a:pt x="632245" y="291806"/>
                </a:cubicBezTo>
                <a:lnTo>
                  <a:pt x="145903" y="291806"/>
                </a:lnTo>
                <a:cubicBezTo>
                  <a:pt x="65323" y="291806"/>
                  <a:pt x="0" y="226483"/>
                  <a:pt x="0" y="145903"/>
                </a:cubicBezTo>
                <a:lnTo>
                  <a:pt x="0" y="145903"/>
                </a:lnTo>
                <a:cubicBezTo>
                  <a:pt x="0" y="65323"/>
                  <a:pt x="65323" y="0"/>
                  <a:pt x="145903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2456030" y="4620254"/>
            <a:ext cx="851099" cy="291806"/>
          </a:xfrm>
          <a:prstGeom prst="rect">
            <a:avLst/>
          </a:prstGeom>
          <a:noFill/>
          <a:ln/>
        </p:spPr>
        <p:txBody>
          <a:bodyPr wrap="square" lIns="97269" tIns="48634" rIns="97269" bIns="48634" rtlCol="0" anchor="ctr"/>
          <a:lstStyle/>
          <a:p>
            <a:pPr>
              <a:lnSpc>
                <a:spcPct val="110000"/>
              </a:lnSpc>
            </a:pPr>
            <a:r>
              <a:rPr lang="en-US" sz="1149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任务执行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331447" y="4620254"/>
            <a:ext cx="778148" cy="291806"/>
          </a:xfrm>
          <a:custGeom>
            <a:avLst/>
            <a:gdLst/>
            <a:ahLst/>
            <a:cxnLst/>
            <a:rect l="l" t="t" r="r" b="b"/>
            <a:pathLst>
              <a:path w="778148" h="291806">
                <a:moveTo>
                  <a:pt x="145903" y="0"/>
                </a:moveTo>
                <a:lnTo>
                  <a:pt x="632245" y="0"/>
                </a:lnTo>
                <a:cubicBezTo>
                  <a:pt x="712825" y="0"/>
                  <a:pt x="778148" y="65323"/>
                  <a:pt x="778148" y="145903"/>
                </a:cubicBezTo>
                <a:lnTo>
                  <a:pt x="778148" y="145903"/>
                </a:lnTo>
                <a:cubicBezTo>
                  <a:pt x="778148" y="226483"/>
                  <a:pt x="712825" y="291806"/>
                  <a:pt x="632245" y="291806"/>
                </a:cubicBezTo>
                <a:lnTo>
                  <a:pt x="145903" y="291806"/>
                </a:lnTo>
                <a:cubicBezTo>
                  <a:pt x="65323" y="291806"/>
                  <a:pt x="0" y="226483"/>
                  <a:pt x="0" y="145903"/>
                </a:cubicBezTo>
                <a:lnTo>
                  <a:pt x="0" y="145903"/>
                </a:lnTo>
                <a:cubicBezTo>
                  <a:pt x="0" y="65323"/>
                  <a:pt x="65323" y="0"/>
                  <a:pt x="145903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3331447" y="4620254"/>
            <a:ext cx="851099" cy="291806"/>
          </a:xfrm>
          <a:prstGeom prst="rect">
            <a:avLst/>
          </a:prstGeom>
          <a:noFill/>
          <a:ln/>
        </p:spPr>
        <p:txBody>
          <a:bodyPr wrap="square" lIns="97269" tIns="48634" rIns="97269" bIns="48634" rtlCol="0" anchor="ctr"/>
          <a:lstStyle/>
          <a:p>
            <a:pPr>
              <a:lnSpc>
                <a:spcPct val="110000"/>
              </a:lnSpc>
            </a:pPr>
            <a:r>
              <a:rPr lang="en-US" sz="1149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状态管理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206863" y="4620254"/>
            <a:ext cx="778148" cy="291806"/>
          </a:xfrm>
          <a:custGeom>
            <a:avLst/>
            <a:gdLst/>
            <a:ahLst/>
            <a:cxnLst/>
            <a:rect l="l" t="t" r="r" b="b"/>
            <a:pathLst>
              <a:path w="778148" h="291806">
                <a:moveTo>
                  <a:pt x="145903" y="0"/>
                </a:moveTo>
                <a:lnTo>
                  <a:pt x="632245" y="0"/>
                </a:lnTo>
                <a:cubicBezTo>
                  <a:pt x="712825" y="0"/>
                  <a:pt x="778148" y="65323"/>
                  <a:pt x="778148" y="145903"/>
                </a:cubicBezTo>
                <a:lnTo>
                  <a:pt x="778148" y="145903"/>
                </a:lnTo>
                <a:cubicBezTo>
                  <a:pt x="778148" y="226483"/>
                  <a:pt x="712825" y="291806"/>
                  <a:pt x="632245" y="291806"/>
                </a:cubicBezTo>
                <a:lnTo>
                  <a:pt x="145903" y="291806"/>
                </a:lnTo>
                <a:cubicBezTo>
                  <a:pt x="65323" y="291806"/>
                  <a:pt x="0" y="226483"/>
                  <a:pt x="0" y="145903"/>
                </a:cubicBezTo>
                <a:lnTo>
                  <a:pt x="0" y="145903"/>
                </a:lnTo>
                <a:cubicBezTo>
                  <a:pt x="0" y="65323"/>
                  <a:pt x="65323" y="0"/>
                  <a:pt x="145903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4206863" y="4620254"/>
            <a:ext cx="851099" cy="291806"/>
          </a:xfrm>
          <a:prstGeom prst="rect">
            <a:avLst/>
          </a:prstGeom>
          <a:noFill/>
          <a:ln/>
        </p:spPr>
        <p:txBody>
          <a:bodyPr wrap="square" lIns="97269" tIns="48634" rIns="97269" bIns="48634" rtlCol="0" anchor="ctr"/>
          <a:lstStyle/>
          <a:p>
            <a:pPr>
              <a:lnSpc>
                <a:spcPct val="110000"/>
              </a:lnSpc>
            </a:pPr>
            <a:r>
              <a:rPr lang="en-US" sz="1149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数据交换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93038" y="5155231"/>
            <a:ext cx="8693373" cy="924051"/>
          </a:xfrm>
          <a:custGeom>
            <a:avLst/>
            <a:gdLst/>
            <a:ahLst/>
            <a:cxnLst/>
            <a:rect l="l" t="t" r="r" b="b"/>
            <a:pathLst>
              <a:path w="8693373" h="924051">
                <a:moveTo>
                  <a:pt x="24317" y="0"/>
                </a:moveTo>
                <a:lnTo>
                  <a:pt x="8596108" y="0"/>
                </a:lnTo>
                <a:cubicBezTo>
                  <a:pt x="8649790" y="0"/>
                  <a:pt x="8693373" y="43583"/>
                  <a:pt x="8693373" y="97266"/>
                </a:cubicBezTo>
                <a:lnTo>
                  <a:pt x="8693373" y="826785"/>
                </a:lnTo>
                <a:cubicBezTo>
                  <a:pt x="8693373" y="880468"/>
                  <a:pt x="8649790" y="924051"/>
                  <a:pt x="8596108" y="924051"/>
                </a:cubicBezTo>
                <a:lnTo>
                  <a:pt x="24317" y="924051"/>
                </a:lnTo>
                <a:cubicBezTo>
                  <a:pt x="10887" y="924051"/>
                  <a:pt x="0" y="913164"/>
                  <a:pt x="0" y="899734"/>
                </a:cubicBezTo>
                <a:lnTo>
                  <a:pt x="0" y="24317"/>
                </a:lnTo>
                <a:cubicBezTo>
                  <a:pt x="0" y="10896"/>
                  <a:pt x="10896" y="0"/>
                  <a:pt x="2431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693038" y="5155231"/>
            <a:ext cx="24317" cy="924051"/>
          </a:xfrm>
          <a:custGeom>
            <a:avLst/>
            <a:gdLst/>
            <a:ahLst/>
            <a:cxnLst/>
            <a:rect l="l" t="t" r="r" b="b"/>
            <a:pathLst>
              <a:path w="24317" h="924051">
                <a:moveTo>
                  <a:pt x="24317" y="0"/>
                </a:moveTo>
                <a:lnTo>
                  <a:pt x="24317" y="0"/>
                </a:lnTo>
                <a:lnTo>
                  <a:pt x="24317" y="924051"/>
                </a:lnTo>
                <a:lnTo>
                  <a:pt x="24317" y="924051"/>
                </a:lnTo>
                <a:cubicBezTo>
                  <a:pt x="10887" y="924051"/>
                  <a:pt x="0" y="913164"/>
                  <a:pt x="0" y="899734"/>
                </a:cubicBezTo>
                <a:lnTo>
                  <a:pt x="0" y="24317"/>
                </a:lnTo>
                <a:cubicBezTo>
                  <a:pt x="0" y="10896"/>
                  <a:pt x="10896" y="0"/>
                  <a:pt x="24317" y="0"/>
                </a:cubicBezTo>
                <a:close/>
              </a:path>
            </a:pathLst>
          </a:custGeom>
          <a:solidFill>
            <a:srgbClr val="5F67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851099" y="5301134"/>
            <a:ext cx="583611" cy="583611"/>
          </a:xfrm>
          <a:custGeom>
            <a:avLst/>
            <a:gdLst/>
            <a:ahLst/>
            <a:cxnLst/>
            <a:rect l="l" t="t" r="r" b="b"/>
            <a:pathLst>
              <a:path w="583611" h="583611">
                <a:moveTo>
                  <a:pt x="97270" y="0"/>
                </a:moveTo>
                <a:lnTo>
                  <a:pt x="486341" y="0"/>
                </a:lnTo>
                <a:cubicBezTo>
                  <a:pt x="540062" y="0"/>
                  <a:pt x="583611" y="43549"/>
                  <a:pt x="583611" y="97270"/>
                </a:cubicBezTo>
                <a:lnTo>
                  <a:pt x="583611" y="486341"/>
                </a:lnTo>
                <a:cubicBezTo>
                  <a:pt x="583611" y="540062"/>
                  <a:pt x="540062" y="583611"/>
                  <a:pt x="486341" y="583611"/>
                </a:cubicBezTo>
                <a:lnTo>
                  <a:pt x="97270" y="583611"/>
                </a:lnTo>
                <a:cubicBezTo>
                  <a:pt x="43549" y="583611"/>
                  <a:pt x="0" y="540062"/>
                  <a:pt x="0" y="486341"/>
                </a:cubicBezTo>
                <a:lnTo>
                  <a:pt x="0" y="97270"/>
                </a:lnTo>
                <a:cubicBezTo>
                  <a:pt x="0" y="43549"/>
                  <a:pt x="43549" y="0"/>
                  <a:pt x="97270" y="0"/>
                </a:cubicBezTo>
                <a:close/>
              </a:path>
            </a:pathLst>
          </a:custGeom>
          <a:solidFill>
            <a:srgbClr val="5F677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1036518" y="5471354"/>
            <a:ext cx="212775" cy="243171"/>
          </a:xfrm>
          <a:custGeom>
            <a:avLst/>
            <a:gdLst/>
            <a:ahLst/>
            <a:cxnLst/>
            <a:rect l="l" t="t" r="r" b="b"/>
            <a:pathLst>
              <a:path w="212775" h="243171">
                <a:moveTo>
                  <a:pt x="121586" y="51911"/>
                </a:moveTo>
                <a:lnTo>
                  <a:pt x="121586" y="151982"/>
                </a:lnTo>
                <a:cubicBezTo>
                  <a:pt x="121586" y="160389"/>
                  <a:pt x="114794" y="167180"/>
                  <a:pt x="106387" y="167180"/>
                </a:cubicBezTo>
                <a:cubicBezTo>
                  <a:pt x="97981" y="167180"/>
                  <a:pt x="91189" y="160389"/>
                  <a:pt x="91189" y="151982"/>
                </a:cubicBezTo>
                <a:lnTo>
                  <a:pt x="91189" y="51911"/>
                </a:lnTo>
                <a:lnTo>
                  <a:pt x="71527" y="71574"/>
                </a:lnTo>
                <a:cubicBezTo>
                  <a:pt x="65590" y="77511"/>
                  <a:pt x="55948" y="77511"/>
                  <a:pt x="50012" y="71574"/>
                </a:cubicBezTo>
                <a:cubicBezTo>
                  <a:pt x="44075" y="65637"/>
                  <a:pt x="44075" y="55996"/>
                  <a:pt x="50012" y="50059"/>
                </a:cubicBezTo>
                <a:lnTo>
                  <a:pt x="95606" y="4464"/>
                </a:lnTo>
                <a:cubicBezTo>
                  <a:pt x="101543" y="-1472"/>
                  <a:pt x="111184" y="-1472"/>
                  <a:pt x="117121" y="4464"/>
                </a:cubicBezTo>
                <a:lnTo>
                  <a:pt x="162716" y="50059"/>
                </a:lnTo>
                <a:cubicBezTo>
                  <a:pt x="168653" y="55996"/>
                  <a:pt x="168653" y="65637"/>
                  <a:pt x="162716" y="71574"/>
                </a:cubicBezTo>
                <a:cubicBezTo>
                  <a:pt x="156779" y="77511"/>
                  <a:pt x="147138" y="77511"/>
                  <a:pt x="141201" y="71574"/>
                </a:cubicBezTo>
                <a:lnTo>
                  <a:pt x="121586" y="51911"/>
                </a:lnTo>
                <a:close/>
                <a:moveTo>
                  <a:pt x="106387" y="189978"/>
                </a:moveTo>
                <a:cubicBezTo>
                  <a:pt x="127380" y="189978"/>
                  <a:pt x="144383" y="172975"/>
                  <a:pt x="144383" y="151982"/>
                </a:cubicBezTo>
                <a:lnTo>
                  <a:pt x="182378" y="151982"/>
                </a:lnTo>
                <a:cubicBezTo>
                  <a:pt x="199144" y="151982"/>
                  <a:pt x="212775" y="165613"/>
                  <a:pt x="212775" y="182378"/>
                </a:cubicBezTo>
                <a:lnTo>
                  <a:pt x="212775" y="197577"/>
                </a:lnTo>
                <a:cubicBezTo>
                  <a:pt x="212775" y="214342"/>
                  <a:pt x="199144" y="227973"/>
                  <a:pt x="182378" y="227973"/>
                </a:cubicBezTo>
                <a:lnTo>
                  <a:pt x="30396" y="227973"/>
                </a:lnTo>
                <a:cubicBezTo>
                  <a:pt x="13631" y="227973"/>
                  <a:pt x="0" y="214342"/>
                  <a:pt x="0" y="197577"/>
                </a:cubicBezTo>
                <a:lnTo>
                  <a:pt x="0" y="182378"/>
                </a:lnTo>
                <a:cubicBezTo>
                  <a:pt x="0" y="165613"/>
                  <a:pt x="13631" y="151982"/>
                  <a:pt x="30396" y="151982"/>
                </a:cubicBezTo>
                <a:lnTo>
                  <a:pt x="68392" y="151982"/>
                </a:lnTo>
                <a:cubicBezTo>
                  <a:pt x="68392" y="172975"/>
                  <a:pt x="85395" y="189978"/>
                  <a:pt x="106387" y="189978"/>
                </a:cubicBezTo>
                <a:close/>
                <a:moveTo>
                  <a:pt x="174779" y="201376"/>
                </a:moveTo>
                <a:cubicBezTo>
                  <a:pt x="181070" y="201376"/>
                  <a:pt x="186178" y="196269"/>
                  <a:pt x="186178" y="189978"/>
                </a:cubicBezTo>
                <a:cubicBezTo>
                  <a:pt x="186178" y="183686"/>
                  <a:pt x="181070" y="178579"/>
                  <a:pt x="174779" y="178579"/>
                </a:cubicBezTo>
                <a:cubicBezTo>
                  <a:pt x="168488" y="178579"/>
                  <a:pt x="163381" y="183686"/>
                  <a:pt x="163381" y="189978"/>
                </a:cubicBezTo>
                <a:cubicBezTo>
                  <a:pt x="163381" y="196269"/>
                  <a:pt x="168488" y="201376"/>
                  <a:pt x="174779" y="201376"/>
                </a:cubicBezTo>
                <a:close/>
              </a:path>
            </a:pathLst>
          </a:custGeom>
          <a:solidFill>
            <a:srgbClr val="5F67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1580613" y="5301134"/>
            <a:ext cx="7769322" cy="34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2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Client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580613" y="5690208"/>
            <a:ext cx="7745005" cy="243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作业提交入口，将用户代码编译为数据流图并提交给JobManager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772161" y="1653565"/>
            <a:ext cx="5994172" cy="3890740"/>
          </a:xfrm>
          <a:custGeom>
            <a:avLst/>
            <a:gdLst/>
            <a:ahLst/>
            <a:cxnLst/>
            <a:rect l="l" t="t" r="r" b="b"/>
            <a:pathLst>
              <a:path w="5994172" h="3890740">
                <a:moveTo>
                  <a:pt x="145903" y="0"/>
                </a:moveTo>
                <a:lnTo>
                  <a:pt x="5848269" y="0"/>
                </a:lnTo>
                <a:cubicBezTo>
                  <a:pt x="5928849" y="0"/>
                  <a:pt x="5994172" y="65323"/>
                  <a:pt x="5994172" y="145903"/>
                </a:cubicBezTo>
                <a:lnTo>
                  <a:pt x="5994172" y="3744838"/>
                </a:lnTo>
                <a:cubicBezTo>
                  <a:pt x="5994172" y="3825418"/>
                  <a:pt x="5928849" y="3890740"/>
                  <a:pt x="5848269" y="3890740"/>
                </a:cubicBezTo>
                <a:lnTo>
                  <a:pt x="145903" y="3890740"/>
                </a:lnTo>
                <a:cubicBezTo>
                  <a:pt x="65323" y="3890740"/>
                  <a:pt x="0" y="3825418"/>
                  <a:pt x="0" y="3744838"/>
                </a:cubicBezTo>
                <a:lnTo>
                  <a:pt x="0" y="145903"/>
                </a:lnTo>
                <a:cubicBezTo>
                  <a:pt x="0" y="65323"/>
                  <a:pt x="65323" y="0"/>
                  <a:pt x="145903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9997094" y="1896736"/>
            <a:ext cx="243171" cy="243171"/>
          </a:xfrm>
          <a:custGeom>
            <a:avLst/>
            <a:gdLst/>
            <a:ahLst/>
            <a:cxnLst/>
            <a:rect l="l" t="t" r="r" b="b"/>
            <a:pathLst>
              <a:path w="243171" h="243171">
                <a:moveTo>
                  <a:pt x="15198" y="30396"/>
                </a:moveTo>
                <a:cubicBezTo>
                  <a:pt x="6792" y="30396"/>
                  <a:pt x="0" y="37188"/>
                  <a:pt x="0" y="45595"/>
                </a:cubicBezTo>
                <a:cubicBezTo>
                  <a:pt x="0" y="54001"/>
                  <a:pt x="6792" y="60793"/>
                  <a:pt x="15198" y="60793"/>
                </a:cubicBezTo>
                <a:lnTo>
                  <a:pt x="56376" y="60793"/>
                </a:lnTo>
                <a:cubicBezTo>
                  <a:pt x="62218" y="74234"/>
                  <a:pt x="75611" y="83590"/>
                  <a:pt x="91189" y="83590"/>
                </a:cubicBezTo>
                <a:cubicBezTo>
                  <a:pt x="106767" y="83590"/>
                  <a:pt x="120161" y="74234"/>
                  <a:pt x="126003" y="60793"/>
                </a:cubicBezTo>
                <a:lnTo>
                  <a:pt x="227973" y="60793"/>
                </a:lnTo>
                <a:cubicBezTo>
                  <a:pt x="236380" y="60793"/>
                  <a:pt x="243171" y="54001"/>
                  <a:pt x="243171" y="45595"/>
                </a:cubicBezTo>
                <a:cubicBezTo>
                  <a:pt x="243171" y="37188"/>
                  <a:pt x="236380" y="30396"/>
                  <a:pt x="227973" y="30396"/>
                </a:cubicBezTo>
                <a:lnTo>
                  <a:pt x="126003" y="30396"/>
                </a:lnTo>
                <a:cubicBezTo>
                  <a:pt x="120161" y="16955"/>
                  <a:pt x="106767" y="7599"/>
                  <a:pt x="91189" y="7599"/>
                </a:cubicBezTo>
                <a:cubicBezTo>
                  <a:pt x="75611" y="7599"/>
                  <a:pt x="62218" y="16955"/>
                  <a:pt x="56376" y="30396"/>
                </a:cubicBezTo>
                <a:lnTo>
                  <a:pt x="15198" y="30396"/>
                </a:lnTo>
                <a:close/>
                <a:moveTo>
                  <a:pt x="15198" y="106387"/>
                </a:moveTo>
                <a:cubicBezTo>
                  <a:pt x="6792" y="106387"/>
                  <a:pt x="0" y="113179"/>
                  <a:pt x="0" y="121586"/>
                </a:cubicBezTo>
                <a:cubicBezTo>
                  <a:pt x="0" y="129992"/>
                  <a:pt x="6792" y="136784"/>
                  <a:pt x="15198" y="136784"/>
                </a:cubicBezTo>
                <a:lnTo>
                  <a:pt x="132367" y="136784"/>
                </a:lnTo>
                <a:cubicBezTo>
                  <a:pt x="138209" y="150225"/>
                  <a:pt x="151602" y="159581"/>
                  <a:pt x="167180" y="159581"/>
                </a:cubicBezTo>
                <a:cubicBezTo>
                  <a:pt x="182758" y="159581"/>
                  <a:pt x="196152" y="150225"/>
                  <a:pt x="201994" y="136784"/>
                </a:cubicBezTo>
                <a:lnTo>
                  <a:pt x="227973" y="136784"/>
                </a:lnTo>
                <a:cubicBezTo>
                  <a:pt x="236380" y="136784"/>
                  <a:pt x="243171" y="129992"/>
                  <a:pt x="243171" y="121586"/>
                </a:cubicBezTo>
                <a:cubicBezTo>
                  <a:pt x="243171" y="113179"/>
                  <a:pt x="236380" y="106387"/>
                  <a:pt x="227973" y="106387"/>
                </a:cubicBezTo>
                <a:lnTo>
                  <a:pt x="201994" y="106387"/>
                </a:lnTo>
                <a:cubicBezTo>
                  <a:pt x="196152" y="92947"/>
                  <a:pt x="182758" y="83590"/>
                  <a:pt x="167180" y="83590"/>
                </a:cubicBezTo>
                <a:cubicBezTo>
                  <a:pt x="151602" y="83590"/>
                  <a:pt x="138209" y="92947"/>
                  <a:pt x="132367" y="106387"/>
                </a:cubicBezTo>
                <a:lnTo>
                  <a:pt x="15198" y="106387"/>
                </a:lnTo>
                <a:close/>
                <a:moveTo>
                  <a:pt x="15198" y="182378"/>
                </a:moveTo>
                <a:cubicBezTo>
                  <a:pt x="6792" y="182378"/>
                  <a:pt x="0" y="189170"/>
                  <a:pt x="0" y="197577"/>
                </a:cubicBezTo>
                <a:cubicBezTo>
                  <a:pt x="0" y="205983"/>
                  <a:pt x="6792" y="212775"/>
                  <a:pt x="15198" y="212775"/>
                </a:cubicBezTo>
                <a:lnTo>
                  <a:pt x="41178" y="212775"/>
                </a:lnTo>
                <a:cubicBezTo>
                  <a:pt x="47019" y="226216"/>
                  <a:pt x="60413" y="235572"/>
                  <a:pt x="75991" y="235572"/>
                </a:cubicBezTo>
                <a:cubicBezTo>
                  <a:pt x="91569" y="235572"/>
                  <a:pt x="104963" y="226216"/>
                  <a:pt x="110804" y="212775"/>
                </a:cubicBezTo>
                <a:lnTo>
                  <a:pt x="227973" y="212775"/>
                </a:lnTo>
                <a:cubicBezTo>
                  <a:pt x="236380" y="212775"/>
                  <a:pt x="243171" y="205983"/>
                  <a:pt x="243171" y="197577"/>
                </a:cubicBezTo>
                <a:cubicBezTo>
                  <a:pt x="243171" y="189170"/>
                  <a:pt x="236380" y="182378"/>
                  <a:pt x="227973" y="182378"/>
                </a:cubicBezTo>
                <a:lnTo>
                  <a:pt x="110804" y="182378"/>
                </a:lnTo>
                <a:cubicBezTo>
                  <a:pt x="104963" y="168938"/>
                  <a:pt x="91569" y="159581"/>
                  <a:pt x="75991" y="159581"/>
                </a:cubicBezTo>
                <a:cubicBezTo>
                  <a:pt x="60413" y="159581"/>
                  <a:pt x="47019" y="168938"/>
                  <a:pt x="41178" y="182378"/>
                </a:cubicBezTo>
                <a:lnTo>
                  <a:pt x="15198" y="182378"/>
                </a:ln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10270662" y="1848102"/>
            <a:ext cx="5422720" cy="34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15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核心逻辑概念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966698" y="2334444"/>
            <a:ext cx="5605098" cy="778148"/>
          </a:xfrm>
          <a:custGeom>
            <a:avLst/>
            <a:gdLst/>
            <a:ahLst/>
            <a:cxnLst/>
            <a:rect l="l" t="t" r="r" b="b"/>
            <a:pathLst>
              <a:path w="5605098" h="778148">
                <a:moveTo>
                  <a:pt x="97269" y="0"/>
                </a:moveTo>
                <a:lnTo>
                  <a:pt x="5507829" y="0"/>
                </a:lnTo>
                <a:cubicBezTo>
                  <a:pt x="5561549" y="0"/>
                  <a:pt x="5605098" y="43549"/>
                  <a:pt x="5605098" y="97269"/>
                </a:cubicBezTo>
                <a:lnTo>
                  <a:pt x="5605098" y="680880"/>
                </a:lnTo>
                <a:cubicBezTo>
                  <a:pt x="5605098" y="734599"/>
                  <a:pt x="5561549" y="778148"/>
                  <a:pt x="5507829" y="778148"/>
                </a:cubicBezTo>
                <a:lnTo>
                  <a:pt x="97269" y="778148"/>
                </a:lnTo>
                <a:cubicBezTo>
                  <a:pt x="43585" y="778148"/>
                  <a:pt x="0" y="734564"/>
                  <a:pt x="0" y="680880"/>
                </a:cubicBezTo>
                <a:lnTo>
                  <a:pt x="0" y="97269"/>
                </a:lnTo>
                <a:cubicBezTo>
                  <a:pt x="0" y="43585"/>
                  <a:pt x="43585" y="0"/>
                  <a:pt x="9726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10063966" y="2431713"/>
            <a:ext cx="5507829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2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并行度 (Parallelism)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0063966" y="2772153"/>
            <a:ext cx="5495671" cy="243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一个算子同时执行的子任务数量。Source读取Kafka时通常设置为分区数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966698" y="3209861"/>
            <a:ext cx="5605098" cy="1021319"/>
          </a:xfrm>
          <a:custGeom>
            <a:avLst/>
            <a:gdLst/>
            <a:ahLst/>
            <a:cxnLst/>
            <a:rect l="l" t="t" r="r" b="b"/>
            <a:pathLst>
              <a:path w="5605098" h="1021319">
                <a:moveTo>
                  <a:pt x="97270" y="0"/>
                </a:moveTo>
                <a:lnTo>
                  <a:pt x="5507828" y="0"/>
                </a:lnTo>
                <a:cubicBezTo>
                  <a:pt x="5561549" y="0"/>
                  <a:pt x="5605098" y="43549"/>
                  <a:pt x="5605098" y="97270"/>
                </a:cubicBezTo>
                <a:lnTo>
                  <a:pt x="5605098" y="924049"/>
                </a:lnTo>
                <a:cubicBezTo>
                  <a:pt x="5605098" y="977770"/>
                  <a:pt x="5561549" y="1021319"/>
                  <a:pt x="5507828" y="1021319"/>
                </a:cubicBezTo>
                <a:lnTo>
                  <a:pt x="97270" y="1021319"/>
                </a:lnTo>
                <a:cubicBezTo>
                  <a:pt x="43549" y="1021319"/>
                  <a:pt x="0" y="977770"/>
                  <a:pt x="0" y="924049"/>
                </a:cubicBezTo>
                <a:lnTo>
                  <a:pt x="0" y="97270"/>
                </a:lnTo>
                <a:cubicBezTo>
                  <a:pt x="0" y="43549"/>
                  <a:pt x="43549" y="0"/>
                  <a:pt x="9727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10063966" y="3307129"/>
            <a:ext cx="5507829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2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任务槽 (Task Slot)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063966" y="3647569"/>
            <a:ext cx="5495671" cy="486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TaskManager的资源切片，代表一份固定的内存资源。支持算子链共享Slot提高资源利用率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9966698" y="4328449"/>
            <a:ext cx="5605098" cy="1021319"/>
          </a:xfrm>
          <a:custGeom>
            <a:avLst/>
            <a:gdLst/>
            <a:ahLst/>
            <a:cxnLst/>
            <a:rect l="l" t="t" r="r" b="b"/>
            <a:pathLst>
              <a:path w="5605098" h="1021319">
                <a:moveTo>
                  <a:pt x="97270" y="0"/>
                </a:moveTo>
                <a:lnTo>
                  <a:pt x="5507828" y="0"/>
                </a:lnTo>
                <a:cubicBezTo>
                  <a:pt x="5561549" y="0"/>
                  <a:pt x="5605098" y="43549"/>
                  <a:pt x="5605098" y="97270"/>
                </a:cubicBezTo>
                <a:lnTo>
                  <a:pt x="5605098" y="924049"/>
                </a:lnTo>
                <a:cubicBezTo>
                  <a:pt x="5605098" y="977770"/>
                  <a:pt x="5561549" y="1021319"/>
                  <a:pt x="5507828" y="1021319"/>
                </a:cubicBezTo>
                <a:lnTo>
                  <a:pt x="97270" y="1021319"/>
                </a:lnTo>
                <a:cubicBezTo>
                  <a:pt x="43549" y="1021319"/>
                  <a:pt x="0" y="977770"/>
                  <a:pt x="0" y="924049"/>
                </a:cubicBezTo>
                <a:lnTo>
                  <a:pt x="0" y="97270"/>
                </a:lnTo>
                <a:cubicBezTo>
                  <a:pt x="0" y="43549"/>
                  <a:pt x="43549" y="0"/>
                  <a:pt x="9727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10063966" y="4425717"/>
            <a:ext cx="5507829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2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算子链 (Operator Chain)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0063966" y="4766157"/>
            <a:ext cx="5495671" cy="486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将多个连续、并行度相同的算子合并为一个任务链，在同一线程中执行，减少开销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9772161" y="5690208"/>
            <a:ext cx="5994172" cy="2528981"/>
          </a:xfrm>
          <a:custGeom>
            <a:avLst/>
            <a:gdLst/>
            <a:ahLst/>
            <a:cxnLst/>
            <a:rect l="l" t="t" r="r" b="b"/>
            <a:pathLst>
              <a:path w="5994172" h="2528981">
                <a:moveTo>
                  <a:pt x="145897" y="0"/>
                </a:moveTo>
                <a:lnTo>
                  <a:pt x="5848275" y="0"/>
                </a:lnTo>
                <a:cubicBezTo>
                  <a:pt x="5928798" y="0"/>
                  <a:pt x="5994172" y="65374"/>
                  <a:pt x="5994172" y="145897"/>
                </a:cubicBezTo>
                <a:lnTo>
                  <a:pt x="5994172" y="2383084"/>
                </a:lnTo>
                <a:cubicBezTo>
                  <a:pt x="5994172" y="2463661"/>
                  <a:pt x="5928852" y="2528981"/>
                  <a:pt x="5848275" y="2528981"/>
                </a:cubicBezTo>
                <a:lnTo>
                  <a:pt x="145897" y="2528981"/>
                </a:lnTo>
                <a:cubicBezTo>
                  <a:pt x="65320" y="2528981"/>
                  <a:pt x="0" y="2463661"/>
                  <a:pt x="0" y="2383084"/>
                </a:cubicBezTo>
                <a:lnTo>
                  <a:pt x="0" y="145897"/>
                </a:lnTo>
                <a:cubicBezTo>
                  <a:pt x="0" y="65374"/>
                  <a:pt x="65374" y="0"/>
                  <a:pt x="145897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9966698" y="5933379"/>
            <a:ext cx="303964" cy="243171"/>
          </a:xfrm>
          <a:custGeom>
            <a:avLst/>
            <a:gdLst/>
            <a:ahLst/>
            <a:cxnLst/>
            <a:rect l="l" t="t" r="r" b="b"/>
            <a:pathLst>
              <a:path w="303964" h="243171">
                <a:moveTo>
                  <a:pt x="182378" y="15198"/>
                </a:moveTo>
                <a:lnTo>
                  <a:pt x="243171" y="15198"/>
                </a:lnTo>
                <a:cubicBezTo>
                  <a:pt x="251578" y="15198"/>
                  <a:pt x="258369" y="21990"/>
                  <a:pt x="258369" y="30396"/>
                </a:cubicBezTo>
                <a:cubicBezTo>
                  <a:pt x="258369" y="38803"/>
                  <a:pt x="251578" y="45595"/>
                  <a:pt x="243171" y="45595"/>
                </a:cubicBezTo>
                <a:lnTo>
                  <a:pt x="189218" y="45595"/>
                </a:lnTo>
                <a:cubicBezTo>
                  <a:pt x="186748" y="57848"/>
                  <a:pt x="178341" y="67964"/>
                  <a:pt x="167180" y="72809"/>
                </a:cubicBezTo>
                <a:lnTo>
                  <a:pt x="167180" y="212775"/>
                </a:lnTo>
                <a:lnTo>
                  <a:pt x="243171" y="212775"/>
                </a:lnTo>
                <a:cubicBezTo>
                  <a:pt x="251578" y="212775"/>
                  <a:pt x="258369" y="219567"/>
                  <a:pt x="258369" y="227973"/>
                </a:cubicBezTo>
                <a:cubicBezTo>
                  <a:pt x="258369" y="236380"/>
                  <a:pt x="251578" y="243171"/>
                  <a:pt x="243171" y="243171"/>
                </a:cubicBezTo>
                <a:lnTo>
                  <a:pt x="60793" y="243171"/>
                </a:lnTo>
                <a:cubicBezTo>
                  <a:pt x="52386" y="243171"/>
                  <a:pt x="45595" y="236380"/>
                  <a:pt x="45595" y="227973"/>
                </a:cubicBezTo>
                <a:cubicBezTo>
                  <a:pt x="45595" y="219567"/>
                  <a:pt x="52386" y="212775"/>
                  <a:pt x="60793" y="212775"/>
                </a:cubicBezTo>
                <a:lnTo>
                  <a:pt x="136784" y="212775"/>
                </a:lnTo>
                <a:lnTo>
                  <a:pt x="136784" y="72809"/>
                </a:lnTo>
                <a:cubicBezTo>
                  <a:pt x="125623" y="67917"/>
                  <a:pt x="117216" y="57801"/>
                  <a:pt x="114746" y="45595"/>
                </a:cubicBezTo>
                <a:lnTo>
                  <a:pt x="60793" y="45595"/>
                </a:lnTo>
                <a:cubicBezTo>
                  <a:pt x="52386" y="45595"/>
                  <a:pt x="45595" y="38803"/>
                  <a:pt x="45595" y="30396"/>
                </a:cubicBezTo>
                <a:cubicBezTo>
                  <a:pt x="45595" y="21990"/>
                  <a:pt x="52386" y="15198"/>
                  <a:pt x="60793" y="15198"/>
                </a:cubicBezTo>
                <a:lnTo>
                  <a:pt x="121586" y="15198"/>
                </a:lnTo>
                <a:cubicBezTo>
                  <a:pt x="128520" y="5984"/>
                  <a:pt x="139539" y="0"/>
                  <a:pt x="151982" y="0"/>
                </a:cubicBezTo>
                <a:cubicBezTo>
                  <a:pt x="164426" y="0"/>
                  <a:pt x="175444" y="5984"/>
                  <a:pt x="182378" y="15198"/>
                </a:cubicBezTo>
                <a:close/>
                <a:moveTo>
                  <a:pt x="208785" y="151982"/>
                </a:moveTo>
                <a:lnTo>
                  <a:pt x="277557" y="151982"/>
                </a:lnTo>
                <a:lnTo>
                  <a:pt x="243171" y="92994"/>
                </a:lnTo>
                <a:lnTo>
                  <a:pt x="208785" y="151982"/>
                </a:lnTo>
                <a:close/>
                <a:moveTo>
                  <a:pt x="243171" y="197577"/>
                </a:moveTo>
                <a:cubicBezTo>
                  <a:pt x="213297" y="197577"/>
                  <a:pt x="188458" y="181429"/>
                  <a:pt x="183328" y="160104"/>
                </a:cubicBezTo>
                <a:cubicBezTo>
                  <a:pt x="182093" y="154879"/>
                  <a:pt x="183803" y="149512"/>
                  <a:pt x="186510" y="144858"/>
                </a:cubicBezTo>
                <a:lnTo>
                  <a:pt x="231725" y="67347"/>
                </a:lnTo>
                <a:cubicBezTo>
                  <a:pt x="234100" y="63263"/>
                  <a:pt x="238469" y="60793"/>
                  <a:pt x="243171" y="60793"/>
                </a:cubicBezTo>
                <a:cubicBezTo>
                  <a:pt x="247873" y="60793"/>
                  <a:pt x="252243" y="63310"/>
                  <a:pt x="254617" y="67347"/>
                </a:cubicBezTo>
                <a:lnTo>
                  <a:pt x="299832" y="144858"/>
                </a:lnTo>
                <a:cubicBezTo>
                  <a:pt x="302539" y="149512"/>
                  <a:pt x="304249" y="154879"/>
                  <a:pt x="303014" y="160104"/>
                </a:cubicBezTo>
                <a:cubicBezTo>
                  <a:pt x="297885" y="181381"/>
                  <a:pt x="273045" y="197577"/>
                  <a:pt x="243171" y="197577"/>
                </a:cubicBezTo>
                <a:close/>
                <a:moveTo>
                  <a:pt x="60223" y="92994"/>
                </a:moveTo>
                <a:lnTo>
                  <a:pt x="25837" y="151982"/>
                </a:lnTo>
                <a:lnTo>
                  <a:pt x="94656" y="151982"/>
                </a:lnTo>
                <a:lnTo>
                  <a:pt x="60223" y="92994"/>
                </a:lnTo>
                <a:close/>
                <a:moveTo>
                  <a:pt x="427" y="160104"/>
                </a:moveTo>
                <a:cubicBezTo>
                  <a:pt x="-807" y="154879"/>
                  <a:pt x="902" y="149512"/>
                  <a:pt x="3610" y="144858"/>
                </a:cubicBezTo>
                <a:lnTo>
                  <a:pt x="48824" y="67347"/>
                </a:lnTo>
                <a:cubicBezTo>
                  <a:pt x="51199" y="63263"/>
                  <a:pt x="55568" y="60793"/>
                  <a:pt x="60270" y="60793"/>
                </a:cubicBezTo>
                <a:cubicBezTo>
                  <a:pt x="64972" y="60793"/>
                  <a:pt x="69342" y="63310"/>
                  <a:pt x="71717" y="67347"/>
                </a:cubicBezTo>
                <a:lnTo>
                  <a:pt x="116931" y="144858"/>
                </a:lnTo>
                <a:cubicBezTo>
                  <a:pt x="119638" y="149512"/>
                  <a:pt x="121348" y="154879"/>
                  <a:pt x="120113" y="160104"/>
                </a:cubicBezTo>
                <a:cubicBezTo>
                  <a:pt x="114984" y="181381"/>
                  <a:pt x="90144" y="197577"/>
                  <a:pt x="60270" y="197577"/>
                </a:cubicBezTo>
                <a:cubicBezTo>
                  <a:pt x="30396" y="197577"/>
                  <a:pt x="5557" y="181429"/>
                  <a:pt x="427" y="160104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10270662" y="5884745"/>
            <a:ext cx="5422720" cy="34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15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框架对比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966698" y="6371088"/>
            <a:ext cx="875417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2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处理模型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14649645" y="6371088"/>
            <a:ext cx="924051" cy="291806"/>
          </a:xfrm>
          <a:custGeom>
            <a:avLst/>
            <a:gdLst/>
            <a:ahLst/>
            <a:cxnLst/>
            <a:rect l="l" t="t" r="r" b="b"/>
            <a:pathLst>
              <a:path w="924051" h="291806">
                <a:moveTo>
                  <a:pt x="145903" y="0"/>
                </a:moveTo>
                <a:lnTo>
                  <a:pt x="778148" y="0"/>
                </a:lnTo>
                <a:cubicBezTo>
                  <a:pt x="858728" y="0"/>
                  <a:pt x="924051" y="65323"/>
                  <a:pt x="924051" y="145903"/>
                </a:cubicBezTo>
                <a:lnTo>
                  <a:pt x="924051" y="145903"/>
                </a:lnTo>
                <a:cubicBezTo>
                  <a:pt x="924051" y="226483"/>
                  <a:pt x="858728" y="291806"/>
                  <a:pt x="778148" y="291806"/>
                </a:cubicBezTo>
                <a:lnTo>
                  <a:pt x="145903" y="291806"/>
                </a:lnTo>
                <a:cubicBezTo>
                  <a:pt x="65323" y="291806"/>
                  <a:pt x="0" y="226483"/>
                  <a:pt x="0" y="145903"/>
                </a:cubicBezTo>
                <a:lnTo>
                  <a:pt x="0" y="145903"/>
                </a:lnTo>
                <a:cubicBezTo>
                  <a:pt x="0" y="65323"/>
                  <a:pt x="65323" y="0"/>
                  <a:pt x="145903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14649645" y="6371088"/>
            <a:ext cx="997002" cy="291806"/>
          </a:xfrm>
          <a:prstGeom prst="rect">
            <a:avLst/>
          </a:prstGeom>
          <a:noFill/>
          <a:ln/>
        </p:spPr>
        <p:txBody>
          <a:bodyPr wrap="square" lIns="97269" tIns="48634" rIns="97269" bIns="48634" rtlCol="0" anchor="ctr"/>
          <a:lstStyle/>
          <a:p>
            <a:pPr>
              <a:lnSpc>
                <a:spcPct val="110000"/>
              </a:lnSpc>
            </a:pPr>
            <a:r>
              <a:rPr lang="en-US" sz="1149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原生流处理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9966698" y="6711527"/>
            <a:ext cx="486343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2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延迟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14941450" y="6711527"/>
            <a:ext cx="632245" cy="291806"/>
          </a:xfrm>
          <a:custGeom>
            <a:avLst/>
            <a:gdLst/>
            <a:ahLst/>
            <a:cxnLst/>
            <a:rect l="l" t="t" r="r" b="b"/>
            <a:pathLst>
              <a:path w="632245" h="291806">
                <a:moveTo>
                  <a:pt x="145903" y="0"/>
                </a:moveTo>
                <a:lnTo>
                  <a:pt x="486343" y="0"/>
                </a:lnTo>
                <a:cubicBezTo>
                  <a:pt x="566922" y="0"/>
                  <a:pt x="632245" y="65323"/>
                  <a:pt x="632245" y="145903"/>
                </a:cubicBezTo>
                <a:lnTo>
                  <a:pt x="632245" y="145903"/>
                </a:lnTo>
                <a:cubicBezTo>
                  <a:pt x="632245" y="226483"/>
                  <a:pt x="566922" y="291806"/>
                  <a:pt x="486343" y="291806"/>
                </a:cubicBezTo>
                <a:lnTo>
                  <a:pt x="145903" y="291806"/>
                </a:lnTo>
                <a:cubicBezTo>
                  <a:pt x="65323" y="291806"/>
                  <a:pt x="0" y="226483"/>
                  <a:pt x="0" y="145903"/>
                </a:cubicBezTo>
                <a:lnTo>
                  <a:pt x="0" y="145903"/>
                </a:lnTo>
                <a:cubicBezTo>
                  <a:pt x="0" y="65323"/>
                  <a:pt x="65323" y="0"/>
                  <a:pt x="145903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Text 61"/>
          <p:cNvSpPr/>
          <p:nvPr/>
        </p:nvSpPr>
        <p:spPr>
          <a:xfrm>
            <a:off x="14941450" y="6711527"/>
            <a:ext cx="705197" cy="291806"/>
          </a:xfrm>
          <a:prstGeom prst="rect">
            <a:avLst/>
          </a:prstGeom>
          <a:noFill/>
          <a:ln/>
        </p:spPr>
        <p:txBody>
          <a:bodyPr wrap="square" lIns="97269" tIns="48634" rIns="97269" bIns="48634" rtlCol="0" anchor="ctr"/>
          <a:lstStyle/>
          <a:p>
            <a:pPr>
              <a:lnSpc>
                <a:spcPct val="110000"/>
              </a:lnSpc>
            </a:pPr>
            <a:r>
              <a:rPr lang="en-US" sz="1149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毫秒级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966698" y="7051967"/>
            <a:ext cx="875417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2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状态管理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14795547" y="7051967"/>
            <a:ext cx="778148" cy="291806"/>
          </a:xfrm>
          <a:custGeom>
            <a:avLst/>
            <a:gdLst/>
            <a:ahLst/>
            <a:cxnLst/>
            <a:rect l="l" t="t" r="r" b="b"/>
            <a:pathLst>
              <a:path w="778148" h="291806">
                <a:moveTo>
                  <a:pt x="145903" y="0"/>
                </a:moveTo>
                <a:lnTo>
                  <a:pt x="632245" y="0"/>
                </a:lnTo>
                <a:cubicBezTo>
                  <a:pt x="712825" y="0"/>
                  <a:pt x="778148" y="65323"/>
                  <a:pt x="778148" y="145903"/>
                </a:cubicBezTo>
                <a:lnTo>
                  <a:pt x="778148" y="145903"/>
                </a:lnTo>
                <a:cubicBezTo>
                  <a:pt x="778148" y="226483"/>
                  <a:pt x="712825" y="291806"/>
                  <a:pt x="632245" y="291806"/>
                </a:cubicBezTo>
                <a:lnTo>
                  <a:pt x="145903" y="291806"/>
                </a:lnTo>
                <a:cubicBezTo>
                  <a:pt x="65323" y="291806"/>
                  <a:pt x="0" y="226483"/>
                  <a:pt x="0" y="145903"/>
                </a:cubicBezTo>
                <a:lnTo>
                  <a:pt x="0" y="145903"/>
                </a:lnTo>
                <a:cubicBezTo>
                  <a:pt x="0" y="65323"/>
                  <a:pt x="65323" y="0"/>
                  <a:pt x="145903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14795547" y="7051967"/>
            <a:ext cx="851099" cy="291806"/>
          </a:xfrm>
          <a:prstGeom prst="rect">
            <a:avLst/>
          </a:prstGeom>
          <a:noFill/>
          <a:ln/>
        </p:spPr>
        <p:txBody>
          <a:bodyPr wrap="square" lIns="97269" tIns="48634" rIns="97269" bIns="48634" rtlCol="0" anchor="ctr"/>
          <a:lstStyle/>
          <a:p>
            <a:pPr>
              <a:lnSpc>
                <a:spcPct val="110000"/>
              </a:lnSpc>
            </a:pPr>
            <a:r>
              <a:rPr lang="en-US" sz="1149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内置完善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9966698" y="7392407"/>
            <a:ext cx="1288808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2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Exactly-Once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15087353" y="7392407"/>
            <a:ext cx="486343" cy="291806"/>
          </a:xfrm>
          <a:custGeom>
            <a:avLst/>
            <a:gdLst/>
            <a:ahLst/>
            <a:cxnLst/>
            <a:rect l="l" t="t" r="r" b="b"/>
            <a:pathLst>
              <a:path w="486343" h="291806">
                <a:moveTo>
                  <a:pt x="145903" y="0"/>
                </a:moveTo>
                <a:lnTo>
                  <a:pt x="340440" y="0"/>
                </a:lnTo>
                <a:cubicBezTo>
                  <a:pt x="421020" y="0"/>
                  <a:pt x="486343" y="65323"/>
                  <a:pt x="486343" y="145903"/>
                </a:cubicBezTo>
                <a:lnTo>
                  <a:pt x="486343" y="145903"/>
                </a:lnTo>
                <a:cubicBezTo>
                  <a:pt x="486343" y="226483"/>
                  <a:pt x="421020" y="291806"/>
                  <a:pt x="340440" y="291806"/>
                </a:cubicBezTo>
                <a:lnTo>
                  <a:pt x="145903" y="291806"/>
                </a:lnTo>
                <a:cubicBezTo>
                  <a:pt x="65323" y="291806"/>
                  <a:pt x="0" y="226483"/>
                  <a:pt x="0" y="145903"/>
                </a:cubicBezTo>
                <a:lnTo>
                  <a:pt x="0" y="145903"/>
                </a:lnTo>
                <a:cubicBezTo>
                  <a:pt x="0" y="65323"/>
                  <a:pt x="65323" y="0"/>
                  <a:pt x="145903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9" name="Text 67"/>
          <p:cNvSpPr/>
          <p:nvPr/>
        </p:nvSpPr>
        <p:spPr>
          <a:xfrm>
            <a:off x="15087353" y="7392407"/>
            <a:ext cx="559294" cy="291806"/>
          </a:xfrm>
          <a:prstGeom prst="rect">
            <a:avLst/>
          </a:prstGeom>
          <a:noFill/>
          <a:ln/>
        </p:spPr>
        <p:txBody>
          <a:bodyPr wrap="square" lIns="97269" tIns="48634" rIns="97269" bIns="48634" rtlCol="0" anchor="ctr"/>
          <a:lstStyle/>
          <a:p>
            <a:pPr>
              <a:lnSpc>
                <a:spcPct val="110000"/>
              </a:lnSpc>
            </a:pPr>
            <a:r>
              <a:rPr lang="en-US" sz="1149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9966698" y="7732847"/>
            <a:ext cx="863258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2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SQL支持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15087353" y="7732847"/>
            <a:ext cx="486343" cy="291806"/>
          </a:xfrm>
          <a:custGeom>
            <a:avLst/>
            <a:gdLst/>
            <a:ahLst/>
            <a:cxnLst/>
            <a:rect l="l" t="t" r="r" b="b"/>
            <a:pathLst>
              <a:path w="486343" h="291806">
                <a:moveTo>
                  <a:pt x="145903" y="0"/>
                </a:moveTo>
                <a:lnTo>
                  <a:pt x="340440" y="0"/>
                </a:lnTo>
                <a:cubicBezTo>
                  <a:pt x="421020" y="0"/>
                  <a:pt x="486343" y="65323"/>
                  <a:pt x="486343" y="145903"/>
                </a:cubicBezTo>
                <a:lnTo>
                  <a:pt x="486343" y="145903"/>
                </a:lnTo>
                <a:cubicBezTo>
                  <a:pt x="486343" y="226483"/>
                  <a:pt x="421020" y="291806"/>
                  <a:pt x="340440" y="291806"/>
                </a:cubicBezTo>
                <a:lnTo>
                  <a:pt x="145903" y="291806"/>
                </a:lnTo>
                <a:cubicBezTo>
                  <a:pt x="65323" y="291806"/>
                  <a:pt x="0" y="226483"/>
                  <a:pt x="0" y="145903"/>
                </a:cubicBezTo>
                <a:lnTo>
                  <a:pt x="0" y="145903"/>
                </a:lnTo>
                <a:cubicBezTo>
                  <a:pt x="0" y="65323"/>
                  <a:pt x="65323" y="0"/>
                  <a:pt x="145903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2" name="Text 70"/>
          <p:cNvSpPr/>
          <p:nvPr/>
        </p:nvSpPr>
        <p:spPr>
          <a:xfrm>
            <a:off x="15087353" y="7732847"/>
            <a:ext cx="559294" cy="291806"/>
          </a:xfrm>
          <a:prstGeom prst="rect">
            <a:avLst/>
          </a:prstGeom>
          <a:noFill/>
          <a:ln/>
        </p:spPr>
        <p:txBody>
          <a:bodyPr wrap="square" lIns="97269" tIns="48634" rIns="97269" bIns="48634" rtlCol="0" anchor="ctr"/>
          <a:lstStyle/>
          <a:p>
            <a:pPr>
              <a:lnSpc>
                <a:spcPct val="110000"/>
              </a:lnSpc>
            </a:pPr>
            <a:r>
              <a:rPr lang="en-US" sz="1149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完善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915" y="457915"/>
            <a:ext cx="457915" cy="457915"/>
          </a:xfrm>
          <a:custGeom>
            <a:avLst/>
            <a:gdLst/>
            <a:ahLst/>
            <a:cxnLst/>
            <a:rect l="l" t="t" r="r" b="b"/>
            <a:pathLst>
              <a:path w="457915" h="457915">
                <a:moveTo>
                  <a:pt x="91583" y="0"/>
                </a:moveTo>
                <a:lnTo>
                  <a:pt x="366332" y="0"/>
                </a:lnTo>
                <a:cubicBezTo>
                  <a:pt x="416878" y="0"/>
                  <a:pt x="457915" y="41037"/>
                  <a:pt x="457915" y="91583"/>
                </a:cubicBezTo>
                <a:lnTo>
                  <a:pt x="457915" y="366332"/>
                </a:lnTo>
                <a:cubicBezTo>
                  <a:pt x="457915" y="416912"/>
                  <a:pt x="416912" y="457915"/>
                  <a:pt x="366332" y="457915"/>
                </a:cubicBezTo>
                <a:lnTo>
                  <a:pt x="91583" y="457915"/>
                </a:lnTo>
                <a:cubicBezTo>
                  <a:pt x="41003" y="457915"/>
                  <a:pt x="0" y="416912"/>
                  <a:pt x="0" y="366332"/>
                </a:cubicBezTo>
                <a:lnTo>
                  <a:pt x="0" y="91583"/>
                </a:lnTo>
                <a:cubicBezTo>
                  <a:pt x="0" y="41037"/>
                  <a:pt x="41037" y="0"/>
                  <a:pt x="91583" y="0"/>
                </a:cubicBezTo>
                <a:close/>
              </a:path>
            </a:pathLst>
          </a:custGeom>
          <a:solidFill>
            <a:srgbClr val="5F677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73825" y="583842"/>
            <a:ext cx="231820" cy="206062"/>
          </a:xfrm>
          <a:custGeom>
            <a:avLst/>
            <a:gdLst/>
            <a:ahLst/>
            <a:cxnLst/>
            <a:rect l="l" t="t" r="r" b="b"/>
            <a:pathLst>
              <a:path w="231820" h="206062">
                <a:moveTo>
                  <a:pt x="90192" y="39079"/>
                </a:moveTo>
                <a:lnTo>
                  <a:pt x="90192" y="59042"/>
                </a:lnTo>
                <a:lnTo>
                  <a:pt x="90394" y="59243"/>
                </a:lnTo>
                <a:cubicBezTo>
                  <a:pt x="93010" y="26080"/>
                  <a:pt x="120739" y="0"/>
                  <a:pt x="154587" y="0"/>
                </a:cubicBezTo>
                <a:cubicBezTo>
                  <a:pt x="162676" y="0"/>
                  <a:pt x="170444" y="1489"/>
                  <a:pt x="177567" y="4226"/>
                </a:cubicBezTo>
                <a:cubicBezTo>
                  <a:pt x="181592" y="5755"/>
                  <a:pt x="182317" y="10867"/>
                  <a:pt x="179298" y="13925"/>
                </a:cubicBezTo>
                <a:lnTo>
                  <a:pt x="143599" y="49624"/>
                </a:lnTo>
                <a:cubicBezTo>
                  <a:pt x="142392" y="50831"/>
                  <a:pt x="141708" y="52481"/>
                  <a:pt x="141708" y="54172"/>
                </a:cubicBezTo>
                <a:lnTo>
                  <a:pt x="141708" y="70834"/>
                </a:lnTo>
                <a:cubicBezTo>
                  <a:pt x="141708" y="74375"/>
                  <a:pt x="144606" y="77273"/>
                  <a:pt x="148147" y="77273"/>
                </a:cubicBezTo>
                <a:lnTo>
                  <a:pt x="164809" y="77273"/>
                </a:lnTo>
                <a:cubicBezTo>
                  <a:pt x="166500" y="77273"/>
                  <a:pt x="168150" y="76589"/>
                  <a:pt x="169357" y="75382"/>
                </a:cubicBezTo>
                <a:lnTo>
                  <a:pt x="205056" y="39683"/>
                </a:lnTo>
                <a:cubicBezTo>
                  <a:pt x="208115" y="36624"/>
                  <a:pt x="213226" y="37389"/>
                  <a:pt x="214755" y="41414"/>
                </a:cubicBezTo>
                <a:cubicBezTo>
                  <a:pt x="217492" y="48537"/>
                  <a:pt x="218981" y="56305"/>
                  <a:pt x="218981" y="64394"/>
                </a:cubicBezTo>
                <a:cubicBezTo>
                  <a:pt x="218981" y="88784"/>
                  <a:pt x="205418" y="110034"/>
                  <a:pt x="185375" y="120941"/>
                </a:cubicBezTo>
                <a:lnTo>
                  <a:pt x="218176" y="153742"/>
                </a:lnTo>
                <a:cubicBezTo>
                  <a:pt x="225702" y="161268"/>
                  <a:pt x="225702" y="173503"/>
                  <a:pt x="218176" y="181069"/>
                </a:cubicBezTo>
                <a:lnTo>
                  <a:pt x="193988" y="205257"/>
                </a:lnTo>
                <a:cubicBezTo>
                  <a:pt x="186462" y="212783"/>
                  <a:pt x="174227" y="212783"/>
                  <a:pt x="166661" y="205257"/>
                </a:cubicBezTo>
                <a:lnTo>
                  <a:pt x="115950" y="154546"/>
                </a:lnTo>
                <a:cubicBezTo>
                  <a:pt x="104923" y="143519"/>
                  <a:pt x="102427" y="127219"/>
                  <a:pt x="108505" y="113777"/>
                </a:cubicBezTo>
                <a:lnTo>
                  <a:pt x="72001" y="77273"/>
                </a:lnTo>
                <a:lnTo>
                  <a:pt x="52039" y="77273"/>
                </a:lnTo>
                <a:cubicBezTo>
                  <a:pt x="47732" y="77273"/>
                  <a:pt x="43708" y="75140"/>
                  <a:pt x="41333" y="71558"/>
                </a:cubicBezTo>
                <a:lnTo>
                  <a:pt x="9418" y="23705"/>
                </a:lnTo>
                <a:cubicBezTo>
                  <a:pt x="7727" y="21170"/>
                  <a:pt x="8049" y="17749"/>
                  <a:pt x="10223" y="15575"/>
                </a:cubicBezTo>
                <a:lnTo>
                  <a:pt x="28495" y="-2697"/>
                </a:lnTo>
                <a:cubicBezTo>
                  <a:pt x="30668" y="-4870"/>
                  <a:pt x="34049" y="-5192"/>
                  <a:pt x="36624" y="-3501"/>
                </a:cubicBezTo>
                <a:lnTo>
                  <a:pt x="84477" y="28374"/>
                </a:lnTo>
                <a:cubicBezTo>
                  <a:pt x="88059" y="30748"/>
                  <a:pt x="90192" y="34773"/>
                  <a:pt x="90192" y="39079"/>
                </a:cubicBezTo>
                <a:close/>
                <a:moveTo>
                  <a:pt x="86771" y="119371"/>
                </a:moveTo>
                <a:cubicBezTo>
                  <a:pt x="84236" y="134262"/>
                  <a:pt x="87737" y="149999"/>
                  <a:pt x="97396" y="162596"/>
                </a:cubicBezTo>
                <a:lnTo>
                  <a:pt x="59162" y="200790"/>
                </a:lnTo>
                <a:cubicBezTo>
                  <a:pt x="47853" y="212099"/>
                  <a:pt x="29501" y="212099"/>
                  <a:pt x="18191" y="200790"/>
                </a:cubicBezTo>
                <a:cubicBezTo>
                  <a:pt x="6882" y="189480"/>
                  <a:pt x="6882" y="171128"/>
                  <a:pt x="18191" y="159819"/>
                </a:cubicBezTo>
                <a:lnTo>
                  <a:pt x="72685" y="105325"/>
                </a:lnTo>
                <a:lnTo>
                  <a:pt x="86771" y="119411"/>
                </a:lnTo>
                <a:close/>
              </a:path>
            </a:pathLst>
          </a:custGeom>
          <a:solidFill>
            <a:srgbClr val="5F67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053206" y="457915"/>
            <a:ext cx="3560293" cy="457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45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Flink开发环境搭建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3206" y="1007414"/>
            <a:ext cx="14847910" cy="320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23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从零开始配置Flink项目，掌握标准开发流程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915" y="1556913"/>
            <a:ext cx="7555606" cy="7132034"/>
          </a:xfrm>
          <a:custGeom>
            <a:avLst/>
            <a:gdLst/>
            <a:ahLst/>
            <a:cxnLst/>
            <a:rect l="l" t="t" r="r" b="b"/>
            <a:pathLst>
              <a:path w="7555606" h="7132034">
                <a:moveTo>
                  <a:pt x="137363" y="0"/>
                </a:moveTo>
                <a:lnTo>
                  <a:pt x="7418243" y="0"/>
                </a:lnTo>
                <a:cubicBezTo>
                  <a:pt x="7494106" y="0"/>
                  <a:pt x="7555606" y="61499"/>
                  <a:pt x="7555606" y="137363"/>
                </a:cubicBezTo>
                <a:lnTo>
                  <a:pt x="7555606" y="6994671"/>
                </a:lnTo>
                <a:cubicBezTo>
                  <a:pt x="7555606" y="7070534"/>
                  <a:pt x="7494106" y="7132034"/>
                  <a:pt x="7418243" y="7132034"/>
                </a:cubicBezTo>
                <a:lnTo>
                  <a:pt x="137363" y="7132034"/>
                </a:lnTo>
                <a:cubicBezTo>
                  <a:pt x="61499" y="7132034"/>
                  <a:pt x="0" y="7070534"/>
                  <a:pt x="0" y="6994671"/>
                </a:cubicBezTo>
                <a:lnTo>
                  <a:pt x="0" y="137363"/>
                </a:lnTo>
                <a:cubicBezTo>
                  <a:pt x="0" y="61550"/>
                  <a:pt x="61550" y="0"/>
                  <a:pt x="137363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01183" y="1831662"/>
            <a:ext cx="257577" cy="228958"/>
          </a:xfrm>
          <a:custGeom>
            <a:avLst/>
            <a:gdLst/>
            <a:ahLst/>
            <a:cxnLst/>
            <a:rect l="l" t="t" r="r" b="b"/>
            <a:pathLst>
              <a:path w="257577" h="228958">
                <a:moveTo>
                  <a:pt x="161344" y="537"/>
                </a:moveTo>
                <a:cubicBezTo>
                  <a:pt x="153742" y="-1655"/>
                  <a:pt x="145826" y="2773"/>
                  <a:pt x="143635" y="10375"/>
                </a:cubicBezTo>
                <a:lnTo>
                  <a:pt x="86396" y="210713"/>
                </a:lnTo>
                <a:cubicBezTo>
                  <a:pt x="84205" y="218315"/>
                  <a:pt x="88632" y="226230"/>
                  <a:pt x="96234" y="228421"/>
                </a:cubicBezTo>
                <a:cubicBezTo>
                  <a:pt x="103836" y="230612"/>
                  <a:pt x="111751" y="226185"/>
                  <a:pt x="113942" y="218583"/>
                </a:cubicBezTo>
                <a:lnTo>
                  <a:pt x="171182" y="18245"/>
                </a:lnTo>
                <a:cubicBezTo>
                  <a:pt x="173373" y="10643"/>
                  <a:pt x="168946" y="2728"/>
                  <a:pt x="161344" y="537"/>
                </a:cubicBezTo>
                <a:close/>
                <a:moveTo>
                  <a:pt x="190232" y="61398"/>
                </a:moveTo>
                <a:cubicBezTo>
                  <a:pt x="184642" y="66988"/>
                  <a:pt x="184642" y="76066"/>
                  <a:pt x="190232" y="81656"/>
                </a:cubicBezTo>
                <a:lnTo>
                  <a:pt x="223055" y="114479"/>
                </a:lnTo>
                <a:lnTo>
                  <a:pt x="190232" y="147302"/>
                </a:lnTo>
                <a:cubicBezTo>
                  <a:pt x="184642" y="152892"/>
                  <a:pt x="184642" y="161970"/>
                  <a:pt x="190232" y="167560"/>
                </a:cubicBezTo>
                <a:cubicBezTo>
                  <a:pt x="195821" y="173149"/>
                  <a:pt x="204899" y="173149"/>
                  <a:pt x="210489" y="167560"/>
                </a:cubicBezTo>
                <a:lnTo>
                  <a:pt x="253419" y="124630"/>
                </a:lnTo>
                <a:cubicBezTo>
                  <a:pt x="259008" y="119040"/>
                  <a:pt x="259008" y="109962"/>
                  <a:pt x="253419" y="104373"/>
                </a:cubicBezTo>
                <a:lnTo>
                  <a:pt x="210489" y="61443"/>
                </a:lnTo>
                <a:cubicBezTo>
                  <a:pt x="204899" y="55853"/>
                  <a:pt x="195821" y="55853"/>
                  <a:pt x="190232" y="61443"/>
                </a:cubicBezTo>
                <a:close/>
                <a:moveTo>
                  <a:pt x="67390" y="61398"/>
                </a:moveTo>
                <a:cubicBezTo>
                  <a:pt x="61801" y="55808"/>
                  <a:pt x="52723" y="55808"/>
                  <a:pt x="47133" y="61398"/>
                </a:cubicBezTo>
                <a:lnTo>
                  <a:pt x="4204" y="104328"/>
                </a:lnTo>
                <a:cubicBezTo>
                  <a:pt x="-1386" y="109918"/>
                  <a:pt x="-1386" y="118995"/>
                  <a:pt x="4204" y="124585"/>
                </a:cubicBezTo>
                <a:lnTo>
                  <a:pt x="47133" y="167515"/>
                </a:lnTo>
                <a:cubicBezTo>
                  <a:pt x="52723" y="173105"/>
                  <a:pt x="61801" y="173105"/>
                  <a:pt x="67390" y="167515"/>
                </a:cubicBezTo>
                <a:cubicBezTo>
                  <a:pt x="72980" y="161925"/>
                  <a:pt x="72980" y="152847"/>
                  <a:pt x="67390" y="147257"/>
                </a:cubicBezTo>
                <a:lnTo>
                  <a:pt x="34567" y="114479"/>
                </a:lnTo>
                <a:lnTo>
                  <a:pt x="67346" y="81656"/>
                </a:lnTo>
                <a:cubicBezTo>
                  <a:pt x="72936" y="76066"/>
                  <a:pt x="72936" y="66988"/>
                  <a:pt x="67346" y="61398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73070" y="1785870"/>
            <a:ext cx="6925972" cy="320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03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Maven依赖配置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6873" y="2289577"/>
            <a:ext cx="7097690" cy="2919211"/>
          </a:xfrm>
          <a:custGeom>
            <a:avLst/>
            <a:gdLst/>
            <a:ahLst/>
            <a:cxnLst/>
            <a:rect l="l" t="t" r="r" b="b"/>
            <a:pathLst>
              <a:path w="7097690" h="2919211">
                <a:moveTo>
                  <a:pt x="137378" y="0"/>
                </a:moveTo>
                <a:lnTo>
                  <a:pt x="6960312" y="0"/>
                </a:lnTo>
                <a:cubicBezTo>
                  <a:pt x="7036184" y="0"/>
                  <a:pt x="7097690" y="61506"/>
                  <a:pt x="7097690" y="137378"/>
                </a:cubicBezTo>
                <a:lnTo>
                  <a:pt x="7097690" y="2781833"/>
                </a:lnTo>
                <a:cubicBezTo>
                  <a:pt x="7097690" y="2857705"/>
                  <a:pt x="7036184" y="2919211"/>
                  <a:pt x="6960312" y="2919211"/>
                </a:cubicBezTo>
                <a:lnTo>
                  <a:pt x="137378" y="2919211"/>
                </a:lnTo>
                <a:cubicBezTo>
                  <a:pt x="61506" y="2919211"/>
                  <a:pt x="0" y="2857705"/>
                  <a:pt x="0" y="2781833"/>
                </a:cubicBezTo>
                <a:lnTo>
                  <a:pt x="0" y="137378"/>
                </a:lnTo>
                <a:cubicBezTo>
                  <a:pt x="0" y="61506"/>
                  <a:pt x="61506" y="0"/>
                  <a:pt x="13737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70039" y="2472744"/>
            <a:ext cx="6811493" cy="228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2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核心依赖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70039" y="2821904"/>
            <a:ext cx="4121329" cy="2169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2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org.apache.flink flink-streaming-java 1.18.0 org.apache.flink flink-clients 1.18.0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6873" y="5391955"/>
            <a:ext cx="7097690" cy="1808766"/>
          </a:xfrm>
          <a:custGeom>
            <a:avLst/>
            <a:gdLst/>
            <a:ahLst/>
            <a:cxnLst/>
            <a:rect l="l" t="t" r="r" b="b"/>
            <a:pathLst>
              <a:path w="7097690" h="1808766">
                <a:moveTo>
                  <a:pt x="137376" y="0"/>
                </a:moveTo>
                <a:lnTo>
                  <a:pt x="6960314" y="0"/>
                </a:lnTo>
                <a:cubicBezTo>
                  <a:pt x="7036185" y="0"/>
                  <a:pt x="7097690" y="61505"/>
                  <a:pt x="7097690" y="137376"/>
                </a:cubicBezTo>
                <a:lnTo>
                  <a:pt x="7097690" y="1671390"/>
                </a:lnTo>
                <a:cubicBezTo>
                  <a:pt x="7097690" y="1747261"/>
                  <a:pt x="7036185" y="1808766"/>
                  <a:pt x="6960314" y="1808766"/>
                </a:cubicBezTo>
                <a:lnTo>
                  <a:pt x="137376" y="1808766"/>
                </a:lnTo>
                <a:cubicBezTo>
                  <a:pt x="61505" y="1808766"/>
                  <a:pt x="0" y="1747261"/>
                  <a:pt x="0" y="1671390"/>
                </a:cubicBezTo>
                <a:lnTo>
                  <a:pt x="0" y="137376"/>
                </a:lnTo>
                <a:cubicBezTo>
                  <a:pt x="0" y="61556"/>
                  <a:pt x="61556" y="0"/>
                  <a:pt x="137376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70039" y="5575121"/>
            <a:ext cx="6811493" cy="228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2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Kafka连接器依赖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70039" y="5924282"/>
            <a:ext cx="4204058" cy="1053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2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org.apache.flink flink-connector-kafka 1.18.0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29803" y="7366715"/>
            <a:ext cx="120203" cy="160270"/>
          </a:xfrm>
          <a:custGeom>
            <a:avLst/>
            <a:gdLst/>
            <a:ahLst/>
            <a:cxnLst/>
            <a:rect l="l" t="t" r="r" b="b"/>
            <a:pathLst>
              <a:path w="120203" h="160270">
                <a:moveTo>
                  <a:pt x="91686" y="120203"/>
                </a:moveTo>
                <a:cubicBezTo>
                  <a:pt x="93971" y="113222"/>
                  <a:pt x="98541" y="106899"/>
                  <a:pt x="103706" y="101452"/>
                </a:cubicBezTo>
                <a:cubicBezTo>
                  <a:pt x="113942" y="90684"/>
                  <a:pt x="120203" y="76128"/>
                  <a:pt x="120203" y="60101"/>
                </a:cubicBezTo>
                <a:cubicBezTo>
                  <a:pt x="120203" y="26920"/>
                  <a:pt x="93282" y="0"/>
                  <a:pt x="60101" y="0"/>
                </a:cubicBezTo>
                <a:cubicBezTo>
                  <a:pt x="26920" y="0"/>
                  <a:pt x="0" y="26920"/>
                  <a:pt x="0" y="60101"/>
                </a:cubicBezTo>
                <a:cubicBezTo>
                  <a:pt x="0" y="76128"/>
                  <a:pt x="6261" y="90684"/>
                  <a:pt x="16497" y="101452"/>
                </a:cubicBezTo>
                <a:cubicBezTo>
                  <a:pt x="21662" y="106899"/>
                  <a:pt x="26263" y="113222"/>
                  <a:pt x="28517" y="120203"/>
                </a:cubicBezTo>
                <a:lnTo>
                  <a:pt x="91655" y="120203"/>
                </a:lnTo>
                <a:close/>
                <a:moveTo>
                  <a:pt x="90152" y="135228"/>
                </a:moveTo>
                <a:lnTo>
                  <a:pt x="30051" y="135228"/>
                </a:lnTo>
                <a:lnTo>
                  <a:pt x="30051" y="140237"/>
                </a:lnTo>
                <a:cubicBezTo>
                  <a:pt x="30051" y="154072"/>
                  <a:pt x="41257" y="165279"/>
                  <a:pt x="55093" y="165279"/>
                </a:cubicBezTo>
                <a:lnTo>
                  <a:pt x="65110" y="165279"/>
                </a:lnTo>
                <a:cubicBezTo>
                  <a:pt x="78946" y="165279"/>
                  <a:pt x="90152" y="154072"/>
                  <a:pt x="90152" y="140237"/>
                </a:cubicBezTo>
                <a:lnTo>
                  <a:pt x="90152" y="135228"/>
                </a:lnTo>
                <a:close/>
                <a:moveTo>
                  <a:pt x="57597" y="35059"/>
                </a:moveTo>
                <a:cubicBezTo>
                  <a:pt x="45139" y="35059"/>
                  <a:pt x="35059" y="45139"/>
                  <a:pt x="35059" y="57597"/>
                </a:cubicBezTo>
                <a:cubicBezTo>
                  <a:pt x="35059" y="61760"/>
                  <a:pt x="31710" y="65110"/>
                  <a:pt x="27546" y="65110"/>
                </a:cubicBezTo>
                <a:cubicBezTo>
                  <a:pt x="23383" y="65110"/>
                  <a:pt x="20034" y="61760"/>
                  <a:pt x="20034" y="57597"/>
                </a:cubicBezTo>
                <a:cubicBezTo>
                  <a:pt x="20034" y="36843"/>
                  <a:pt x="36843" y="20034"/>
                  <a:pt x="57597" y="20034"/>
                </a:cubicBezTo>
                <a:cubicBezTo>
                  <a:pt x="61760" y="20034"/>
                  <a:pt x="65110" y="23383"/>
                  <a:pt x="65110" y="27546"/>
                </a:cubicBezTo>
                <a:cubicBezTo>
                  <a:pt x="65110" y="31710"/>
                  <a:pt x="61760" y="35059"/>
                  <a:pt x="57597" y="35059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975489" y="7332372"/>
            <a:ext cx="6889210" cy="228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2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建议使用Maven BOM统一管理Flink版本，避免版本冲突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44983" y="1556913"/>
            <a:ext cx="7555606" cy="7132034"/>
          </a:xfrm>
          <a:custGeom>
            <a:avLst/>
            <a:gdLst/>
            <a:ahLst/>
            <a:cxnLst/>
            <a:rect l="l" t="t" r="r" b="b"/>
            <a:pathLst>
              <a:path w="7555606" h="7132034">
                <a:moveTo>
                  <a:pt x="137363" y="0"/>
                </a:moveTo>
                <a:lnTo>
                  <a:pt x="7418243" y="0"/>
                </a:lnTo>
                <a:cubicBezTo>
                  <a:pt x="7494106" y="0"/>
                  <a:pt x="7555606" y="61499"/>
                  <a:pt x="7555606" y="137363"/>
                </a:cubicBezTo>
                <a:lnTo>
                  <a:pt x="7555606" y="6994671"/>
                </a:lnTo>
                <a:cubicBezTo>
                  <a:pt x="7555606" y="7070534"/>
                  <a:pt x="7494106" y="7132034"/>
                  <a:pt x="7418243" y="7132034"/>
                </a:cubicBezTo>
                <a:lnTo>
                  <a:pt x="137363" y="7132034"/>
                </a:lnTo>
                <a:cubicBezTo>
                  <a:pt x="61499" y="7132034"/>
                  <a:pt x="0" y="7070534"/>
                  <a:pt x="0" y="6994671"/>
                </a:cubicBezTo>
                <a:lnTo>
                  <a:pt x="0" y="137363"/>
                </a:lnTo>
                <a:cubicBezTo>
                  <a:pt x="0" y="61550"/>
                  <a:pt x="61550" y="0"/>
                  <a:pt x="137363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8502561" y="1831662"/>
            <a:ext cx="228958" cy="228958"/>
          </a:xfrm>
          <a:custGeom>
            <a:avLst/>
            <a:gdLst/>
            <a:ahLst/>
            <a:cxnLst/>
            <a:rect l="l" t="t" r="r" b="b"/>
            <a:pathLst>
              <a:path w="228958" h="228958">
                <a:moveTo>
                  <a:pt x="87245" y="4248"/>
                </a:moveTo>
                <a:cubicBezTo>
                  <a:pt x="88587" y="-2370"/>
                  <a:pt x="94445" y="-7155"/>
                  <a:pt x="101242" y="-7155"/>
                </a:cubicBezTo>
                <a:lnTo>
                  <a:pt x="127984" y="-7155"/>
                </a:lnTo>
                <a:cubicBezTo>
                  <a:pt x="134781" y="-7155"/>
                  <a:pt x="140639" y="-2370"/>
                  <a:pt x="141981" y="4248"/>
                </a:cubicBezTo>
                <a:lnTo>
                  <a:pt x="148465" y="35551"/>
                </a:lnTo>
                <a:cubicBezTo>
                  <a:pt x="154770" y="38234"/>
                  <a:pt x="160673" y="41677"/>
                  <a:pt x="166039" y="45747"/>
                </a:cubicBezTo>
                <a:lnTo>
                  <a:pt x="196358" y="35685"/>
                </a:lnTo>
                <a:cubicBezTo>
                  <a:pt x="202798" y="33539"/>
                  <a:pt x="209863" y="36222"/>
                  <a:pt x="213262" y="42125"/>
                </a:cubicBezTo>
                <a:lnTo>
                  <a:pt x="226632" y="65289"/>
                </a:lnTo>
                <a:cubicBezTo>
                  <a:pt x="230031" y="71192"/>
                  <a:pt x="228824" y="78615"/>
                  <a:pt x="223726" y="83131"/>
                </a:cubicBezTo>
                <a:lnTo>
                  <a:pt x="199891" y="104328"/>
                </a:lnTo>
                <a:cubicBezTo>
                  <a:pt x="200293" y="107637"/>
                  <a:pt x="200472" y="111036"/>
                  <a:pt x="200472" y="114479"/>
                </a:cubicBezTo>
                <a:cubicBezTo>
                  <a:pt x="200472" y="117922"/>
                  <a:pt x="200249" y="121321"/>
                  <a:pt x="199891" y="124630"/>
                </a:cubicBezTo>
                <a:lnTo>
                  <a:pt x="223770" y="145871"/>
                </a:lnTo>
                <a:cubicBezTo>
                  <a:pt x="228868" y="150388"/>
                  <a:pt x="230031" y="157856"/>
                  <a:pt x="226677" y="163714"/>
                </a:cubicBezTo>
                <a:lnTo>
                  <a:pt x="213306" y="186878"/>
                </a:lnTo>
                <a:cubicBezTo>
                  <a:pt x="209908" y="192736"/>
                  <a:pt x="202842" y="195464"/>
                  <a:pt x="196403" y="193317"/>
                </a:cubicBezTo>
                <a:lnTo>
                  <a:pt x="166084" y="183256"/>
                </a:lnTo>
                <a:cubicBezTo>
                  <a:pt x="160673" y="187325"/>
                  <a:pt x="154770" y="190724"/>
                  <a:pt x="148510" y="193451"/>
                </a:cubicBezTo>
                <a:lnTo>
                  <a:pt x="142070" y="224710"/>
                </a:lnTo>
                <a:cubicBezTo>
                  <a:pt x="140684" y="231373"/>
                  <a:pt x="134826" y="236113"/>
                  <a:pt x="128073" y="236113"/>
                </a:cubicBezTo>
                <a:lnTo>
                  <a:pt x="101332" y="236113"/>
                </a:lnTo>
                <a:cubicBezTo>
                  <a:pt x="94535" y="236113"/>
                  <a:pt x="88676" y="231328"/>
                  <a:pt x="87335" y="224710"/>
                </a:cubicBezTo>
                <a:lnTo>
                  <a:pt x="80895" y="193451"/>
                </a:lnTo>
                <a:cubicBezTo>
                  <a:pt x="74590" y="190768"/>
                  <a:pt x="68732" y="187325"/>
                  <a:pt x="63321" y="183256"/>
                </a:cubicBezTo>
                <a:lnTo>
                  <a:pt x="32868" y="193317"/>
                </a:lnTo>
                <a:cubicBezTo>
                  <a:pt x="26429" y="195464"/>
                  <a:pt x="19363" y="192781"/>
                  <a:pt x="15964" y="186878"/>
                </a:cubicBezTo>
                <a:lnTo>
                  <a:pt x="2594" y="163714"/>
                </a:lnTo>
                <a:cubicBezTo>
                  <a:pt x="-805" y="157811"/>
                  <a:pt x="402" y="150388"/>
                  <a:pt x="5500" y="145871"/>
                </a:cubicBezTo>
                <a:lnTo>
                  <a:pt x="29380" y="124630"/>
                </a:lnTo>
                <a:cubicBezTo>
                  <a:pt x="28977" y="121321"/>
                  <a:pt x="28799" y="117922"/>
                  <a:pt x="28799" y="114479"/>
                </a:cubicBezTo>
                <a:cubicBezTo>
                  <a:pt x="28799" y="111036"/>
                  <a:pt x="29022" y="107637"/>
                  <a:pt x="29380" y="104328"/>
                </a:cubicBezTo>
                <a:lnTo>
                  <a:pt x="5500" y="83087"/>
                </a:lnTo>
                <a:cubicBezTo>
                  <a:pt x="402" y="78570"/>
                  <a:pt x="-760" y="71102"/>
                  <a:pt x="2594" y="65244"/>
                </a:cubicBezTo>
                <a:lnTo>
                  <a:pt x="15964" y="42080"/>
                </a:lnTo>
                <a:cubicBezTo>
                  <a:pt x="19363" y="36177"/>
                  <a:pt x="26429" y="33494"/>
                  <a:pt x="32868" y="35640"/>
                </a:cubicBezTo>
                <a:lnTo>
                  <a:pt x="63187" y="45702"/>
                </a:lnTo>
                <a:cubicBezTo>
                  <a:pt x="68598" y="41633"/>
                  <a:pt x="74501" y="38234"/>
                  <a:pt x="80761" y="35506"/>
                </a:cubicBezTo>
                <a:lnTo>
                  <a:pt x="87245" y="4248"/>
                </a:lnTo>
                <a:close/>
                <a:moveTo>
                  <a:pt x="114613" y="150254"/>
                </a:moveTo>
                <a:cubicBezTo>
                  <a:pt x="127394" y="150206"/>
                  <a:pt x="139179" y="143343"/>
                  <a:pt x="145528" y="132250"/>
                </a:cubicBezTo>
                <a:cubicBezTo>
                  <a:pt x="151877" y="121157"/>
                  <a:pt x="151826" y="107520"/>
                  <a:pt x="145394" y="96475"/>
                </a:cubicBezTo>
                <a:cubicBezTo>
                  <a:pt x="138962" y="85431"/>
                  <a:pt x="127126" y="78656"/>
                  <a:pt x="114345" y="78704"/>
                </a:cubicBezTo>
                <a:cubicBezTo>
                  <a:pt x="101564" y="78752"/>
                  <a:pt x="89779" y="85615"/>
                  <a:pt x="83430" y="96708"/>
                </a:cubicBezTo>
                <a:cubicBezTo>
                  <a:pt x="77081" y="107800"/>
                  <a:pt x="77132" y="121438"/>
                  <a:pt x="83564" y="132482"/>
                </a:cubicBezTo>
                <a:cubicBezTo>
                  <a:pt x="89996" y="143527"/>
                  <a:pt x="101832" y="150301"/>
                  <a:pt x="114613" y="150254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760138" y="1785870"/>
            <a:ext cx="6925972" cy="320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03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基础环境设置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473941" y="2289577"/>
            <a:ext cx="7097690" cy="3594637"/>
          </a:xfrm>
          <a:custGeom>
            <a:avLst/>
            <a:gdLst/>
            <a:ahLst/>
            <a:cxnLst/>
            <a:rect l="l" t="t" r="r" b="b"/>
            <a:pathLst>
              <a:path w="7097690" h="3594637">
                <a:moveTo>
                  <a:pt x="137387" y="0"/>
                </a:moveTo>
                <a:lnTo>
                  <a:pt x="6960303" y="0"/>
                </a:lnTo>
                <a:cubicBezTo>
                  <a:pt x="7036180" y="0"/>
                  <a:pt x="7097690" y="61510"/>
                  <a:pt x="7097690" y="137387"/>
                </a:cubicBezTo>
                <a:lnTo>
                  <a:pt x="7097690" y="3457250"/>
                </a:lnTo>
                <a:cubicBezTo>
                  <a:pt x="7097690" y="3533126"/>
                  <a:pt x="7036180" y="3594637"/>
                  <a:pt x="6960303" y="3594637"/>
                </a:cubicBezTo>
                <a:lnTo>
                  <a:pt x="137387" y="3594637"/>
                </a:lnTo>
                <a:cubicBezTo>
                  <a:pt x="61510" y="3594637"/>
                  <a:pt x="0" y="3533126"/>
                  <a:pt x="0" y="3457250"/>
                </a:cubicBezTo>
                <a:lnTo>
                  <a:pt x="0" y="137387"/>
                </a:lnTo>
                <a:cubicBezTo>
                  <a:pt x="0" y="61561"/>
                  <a:pt x="61561" y="0"/>
                  <a:pt x="13738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657107" y="2472744"/>
            <a:ext cx="6811493" cy="228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2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执行环境与检查点配置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57107" y="2821904"/>
            <a:ext cx="5444633" cy="2839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2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设置执行环境 StreamExecutionEnvironment env = StreamExecutionEnvironment.getExecutionEnvironment(); // 配置检查点间隔 env.enableCheckpointing(5000); // 每5秒一次检查点 env.getCheckpointConfig().setCheckpointingMode( CheckpointingMode.EXACTLY_ONCE); // 高级配置 env.getCheckpointConfig().setMinPauseBetweenCheckpoints(1000); env.getCheckpointConfig().setCheckpointTimeout(60000); env.getCheckpointConfig().setTolerableCheckpointFailureNumber(3);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473941" y="6061656"/>
            <a:ext cx="7097690" cy="2026276"/>
          </a:xfrm>
          <a:custGeom>
            <a:avLst/>
            <a:gdLst/>
            <a:ahLst/>
            <a:cxnLst/>
            <a:rect l="l" t="t" r="r" b="b"/>
            <a:pathLst>
              <a:path w="7097690" h="2026276">
                <a:moveTo>
                  <a:pt x="137382" y="0"/>
                </a:moveTo>
                <a:lnTo>
                  <a:pt x="6960309" y="0"/>
                </a:lnTo>
                <a:cubicBezTo>
                  <a:pt x="7036182" y="0"/>
                  <a:pt x="7097690" y="61508"/>
                  <a:pt x="7097690" y="137382"/>
                </a:cubicBezTo>
                <a:lnTo>
                  <a:pt x="7097690" y="1888895"/>
                </a:lnTo>
                <a:cubicBezTo>
                  <a:pt x="7097690" y="1964768"/>
                  <a:pt x="7036182" y="2026276"/>
                  <a:pt x="6960309" y="2026276"/>
                </a:cubicBezTo>
                <a:lnTo>
                  <a:pt x="137382" y="2026276"/>
                </a:lnTo>
                <a:cubicBezTo>
                  <a:pt x="61508" y="2026276"/>
                  <a:pt x="0" y="1964768"/>
                  <a:pt x="0" y="1888895"/>
                </a:cubicBezTo>
                <a:lnTo>
                  <a:pt x="0" y="137382"/>
                </a:lnTo>
                <a:cubicBezTo>
                  <a:pt x="0" y="61559"/>
                  <a:pt x="61559" y="0"/>
                  <a:pt x="13738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8657107" y="6244823"/>
            <a:ext cx="6811493" cy="228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2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状态后端配置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57107" y="6593983"/>
            <a:ext cx="4617613" cy="1276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2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设置状态后端 env.setStateBackend(new EmbeddedRocksDBStateBackend()); // 设置Checkpoint存储路径 env.getCheckpointConfig().setCheckpointStorage( "hdfs:///flink/checkpoints");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496837" y="8259651"/>
            <a:ext cx="160270" cy="160270"/>
          </a:xfrm>
          <a:custGeom>
            <a:avLst/>
            <a:gdLst/>
            <a:ahLst/>
            <a:cxnLst/>
            <a:rect l="l" t="t" r="r" b="b"/>
            <a:pathLst>
              <a:path w="160270" h="160270">
                <a:moveTo>
                  <a:pt x="80135" y="0"/>
                </a:moveTo>
                <a:cubicBezTo>
                  <a:pt x="84737" y="0"/>
                  <a:pt x="88963" y="2536"/>
                  <a:pt x="91154" y="6574"/>
                </a:cubicBezTo>
                <a:lnTo>
                  <a:pt x="158768" y="131785"/>
                </a:lnTo>
                <a:cubicBezTo>
                  <a:pt x="160865" y="135666"/>
                  <a:pt x="160771" y="140362"/>
                  <a:pt x="158517" y="144149"/>
                </a:cubicBezTo>
                <a:cubicBezTo>
                  <a:pt x="156264" y="147937"/>
                  <a:pt x="152163" y="150254"/>
                  <a:pt x="147749" y="150254"/>
                </a:cubicBezTo>
                <a:lnTo>
                  <a:pt x="12521" y="150254"/>
                </a:lnTo>
                <a:cubicBezTo>
                  <a:pt x="8107" y="150254"/>
                  <a:pt x="4038" y="147937"/>
                  <a:pt x="1753" y="144149"/>
                </a:cubicBezTo>
                <a:cubicBezTo>
                  <a:pt x="-532" y="140362"/>
                  <a:pt x="-595" y="135666"/>
                  <a:pt x="1503" y="131785"/>
                </a:cubicBezTo>
                <a:lnTo>
                  <a:pt x="69117" y="6574"/>
                </a:lnTo>
                <a:cubicBezTo>
                  <a:pt x="71308" y="2536"/>
                  <a:pt x="75534" y="0"/>
                  <a:pt x="80135" y="0"/>
                </a:cubicBezTo>
                <a:close/>
                <a:moveTo>
                  <a:pt x="80135" y="52589"/>
                </a:moveTo>
                <a:cubicBezTo>
                  <a:pt x="75972" y="52589"/>
                  <a:pt x="72623" y="55938"/>
                  <a:pt x="72623" y="60101"/>
                </a:cubicBezTo>
                <a:lnTo>
                  <a:pt x="72623" y="95161"/>
                </a:lnTo>
                <a:cubicBezTo>
                  <a:pt x="72623" y="99324"/>
                  <a:pt x="75972" y="102673"/>
                  <a:pt x="80135" y="102673"/>
                </a:cubicBezTo>
                <a:cubicBezTo>
                  <a:pt x="84298" y="102673"/>
                  <a:pt x="87648" y="99324"/>
                  <a:pt x="87648" y="95161"/>
                </a:cubicBezTo>
                <a:lnTo>
                  <a:pt x="87648" y="60101"/>
                </a:lnTo>
                <a:cubicBezTo>
                  <a:pt x="87648" y="55938"/>
                  <a:pt x="84298" y="52589"/>
                  <a:pt x="80135" y="52589"/>
                </a:cubicBezTo>
                <a:close/>
                <a:moveTo>
                  <a:pt x="88493" y="120203"/>
                </a:moveTo>
                <a:cubicBezTo>
                  <a:pt x="88683" y="117100"/>
                  <a:pt x="87136" y="114149"/>
                  <a:pt x="84477" y="112540"/>
                </a:cubicBezTo>
                <a:cubicBezTo>
                  <a:pt x="81817" y="110932"/>
                  <a:pt x="78485" y="110932"/>
                  <a:pt x="75825" y="112540"/>
                </a:cubicBezTo>
                <a:cubicBezTo>
                  <a:pt x="73166" y="114149"/>
                  <a:pt x="71619" y="117100"/>
                  <a:pt x="71809" y="120203"/>
                </a:cubicBezTo>
                <a:cubicBezTo>
                  <a:pt x="71619" y="123305"/>
                  <a:pt x="73166" y="126257"/>
                  <a:pt x="75825" y="127865"/>
                </a:cubicBezTo>
                <a:cubicBezTo>
                  <a:pt x="78485" y="129474"/>
                  <a:pt x="81817" y="129474"/>
                  <a:pt x="84477" y="127865"/>
                </a:cubicBezTo>
                <a:cubicBezTo>
                  <a:pt x="87136" y="126257"/>
                  <a:pt x="88683" y="123305"/>
                  <a:pt x="88493" y="120203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762557" y="8225307"/>
            <a:ext cx="6889210" cy="228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2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端到端Exactly-Once需源/处理/汇三端协同，仅开启检查点不足保证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3091" y="483091"/>
            <a:ext cx="483091" cy="483091"/>
          </a:xfrm>
          <a:custGeom>
            <a:avLst/>
            <a:gdLst/>
            <a:ahLst/>
            <a:cxnLst/>
            <a:rect l="l" t="t" r="r" b="b"/>
            <a:pathLst>
              <a:path w="483091" h="483091">
                <a:moveTo>
                  <a:pt x="96618" y="0"/>
                </a:moveTo>
                <a:lnTo>
                  <a:pt x="386473" y="0"/>
                </a:lnTo>
                <a:cubicBezTo>
                  <a:pt x="439833" y="0"/>
                  <a:pt x="483091" y="43257"/>
                  <a:pt x="483091" y="96618"/>
                </a:cubicBezTo>
                <a:lnTo>
                  <a:pt x="483091" y="386473"/>
                </a:lnTo>
                <a:cubicBezTo>
                  <a:pt x="483091" y="439833"/>
                  <a:pt x="439833" y="483091"/>
                  <a:pt x="386473" y="483091"/>
                </a:cubicBezTo>
                <a:lnTo>
                  <a:pt x="96618" y="483091"/>
                </a:lnTo>
                <a:cubicBezTo>
                  <a:pt x="43257" y="483091"/>
                  <a:pt x="0" y="439833"/>
                  <a:pt x="0" y="386473"/>
                </a:cubicBezTo>
                <a:lnTo>
                  <a:pt x="0" y="96618"/>
                </a:lnTo>
                <a:cubicBezTo>
                  <a:pt x="0" y="43257"/>
                  <a:pt x="43257" y="0"/>
                  <a:pt x="96618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91786" y="615941"/>
            <a:ext cx="271738" cy="217391"/>
          </a:xfrm>
          <a:custGeom>
            <a:avLst/>
            <a:gdLst/>
            <a:ahLst/>
            <a:cxnLst/>
            <a:rect l="l" t="t" r="r" b="b"/>
            <a:pathLst>
              <a:path w="271738" h="217391">
                <a:moveTo>
                  <a:pt x="27174" y="40761"/>
                </a:moveTo>
                <a:cubicBezTo>
                  <a:pt x="27174" y="25773"/>
                  <a:pt x="39360" y="13587"/>
                  <a:pt x="54348" y="13587"/>
                </a:cubicBezTo>
                <a:lnTo>
                  <a:pt x="217391" y="13587"/>
                </a:lnTo>
                <a:cubicBezTo>
                  <a:pt x="232379" y="13587"/>
                  <a:pt x="244565" y="25773"/>
                  <a:pt x="244565" y="40761"/>
                </a:cubicBezTo>
                <a:lnTo>
                  <a:pt x="244565" y="142663"/>
                </a:lnTo>
                <a:lnTo>
                  <a:pt x="217391" y="142663"/>
                </a:lnTo>
                <a:lnTo>
                  <a:pt x="217391" y="40761"/>
                </a:lnTo>
                <a:lnTo>
                  <a:pt x="54348" y="40761"/>
                </a:lnTo>
                <a:lnTo>
                  <a:pt x="54348" y="142663"/>
                </a:lnTo>
                <a:lnTo>
                  <a:pt x="27174" y="142663"/>
                </a:lnTo>
                <a:lnTo>
                  <a:pt x="27174" y="40761"/>
                </a:lnTo>
                <a:close/>
                <a:moveTo>
                  <a:pt x="0" y="171195"/>
                </a:moveTo>
                <a:cubicBezTo>
                  <a:pt x="0" y="166695"/>
                  <a:pt x="3651" y="163043"/>
                  <a:pt x="8152" y="163043"/>
                </a:cubicBezTo>
                <a:lnTo>
                  <a:pt x="263586" y="163043"/>
                </a:lnTo>
                <a:cubicBezTo>
                  <a:pt x="268087" y="163043"/>
                  <a:pt x="271738" y="166695"/>
                  <a:pt x="271738" y="171195"/>
                </a:cubicBezTo>
                <a:cubicBezTo>
                  <a:pt x="271738" y="189198"/>
                  <a:pt x="257133" y="203804"/>
                  <a:pt x="239130" y="203804"/>
                </a:cubicBezTo>
                <a:lnTo>
                  <a:pt x="32609" y="203804"/>
                </a:lnTo>
                <a:cubicBezTo>
                  <a:pt x="14606" y="203804"/>
                  <a:pt x="0" y="189198"/>
                  <a:pt x="0" y="171195"/>
                </a:cubicBezTo>
                <a:close/>
                <a:moveTo>
                  <a:pt x="119310" y="88740"/>
                </a:moveTo>
                <a:lnTo>
                  <a:pt x="106148" y="101902"/>
                </a:lnTo>
                <a:lnTo>
                  <a:pt x="119310" y="115064"/>
                </a:lnTo>
                <a:cubicBezTo>
                  <a:pt x="123301" y="119055"/>
                  <a:pt x="123301" y="125509"/>
                  <a:pt x="119310" y="129458"/>
                </a:cubicBezTo>
                <a:cubicBezTo>
                  <a:pt x="115319" y="133407"/>
                  <a:pt x="108865" y="133449"/>
                  <a:pt x="104917" y="129458"/>
                </a:cubicBezTo>
                <a:lnTo>
                  <a:pt x="84536" y="109078"/>
                </a:lnTo>
                <a:cubicBezTo>
                  <a:pt x="80545" y="105086"/>
                  <a:pt x="80545" y="98633"/>
                  <a:pt x="84536" y="94684"/>
                </a:cubicBezTo>
                <a:lnTo>
                  <a:pt x="104917" y="74303"/>
                </a:lnTo>
                <a:cubicBezTo>
                  <a:pt x="108908" y="70312"/>
                  <a:pt x="115361" y="70312"/>
                  <a:pt x="119310" y="74303"/>
                </a:cubicBezTo>
                <a:cubicBezTo>
                  <a:pt x="123259" y="78295"/>
                  <a:pt x="123301" y="84748"/>
                  <a:pt x="119310" y="88697"/>
                </a:cubicBezTo>
                <a:close/>
                <a:moveTo>
                  <a:pt x="166864" y="74303"/>
                </a:moveTo>
                <a:lnTo>
                  <a:pt x="187245" y="94684"/>
                </a:lnTo>
                <a:cubicBezTo>
                  <a:pt x="191236" y="98675"/>
                  <a:pt x="191236" y="105129"/>
                  <a:pt x="187245" y="109078"/>
                </a:cubicBezTo>
                <a:lnTo>
                  <a:pt x="166864" y="129458"/>
                </a:lnTo>
                <a:cubicBezTo>
                  <a:pt x="162873" y="133449"/>
                  <a:pt x="156419" y="133449"/>
                  <a:pt x="152471" y="129458"/>
                </a:cubicBezTo>
                <a:cubicBezTo>
                  <a:pt x="148522" y="125467"/>
                  <a:pt x="148480" y="119013"/>
                  <a:pt x="152471" y="115064"/>
                </a:cubicBezTo>
                <a:lnTo>
                  <a:pt x="165633" y="101902"/>
                </a:lnTo>
                <a:lnTo>
                  <a:pt x="152471" y="88740"/>
                </a:lnTo>
                <a:cubicBezTo>
                  <a:pt x="148480" y="84748"/>
                  <a:pt x="148480" y="78295"/>
                  <a:pt x="152471" y="74346"/>
                </a:cubicBezTo>
                <a:cubicBezTo>
                  <a:pt x="156462" y="70397"/>
                  <a:pt x="162916" y="70355"/>
                  <a:pt x="166864" y="74346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111108" y="483091"/>
            <a:ext cx="6038633" cy="483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42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第一个Flink程序：WordCount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11108" y="1062799"/>
            <a:ext cx="14770496" cy="338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12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经典的词频统计案例，演示Flink流处理开发的完整流程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3091" y="1594199"/>
            <a:ext cx="15289819" cy="7004814"/>
          </a:xfrm>
          <a:custGeom>
            <a:avLst/>
            <a:gdLst/>
            <a:ahLst/>
            <a:cxnLst/>
            <a:rect l="l" t="t" r="r" b="b"/>
            <a:pathLst>
              <a:path w="15289819" h="7004814">
                <a:moveTo>
                  <a:pt x="144930" y="0"/>
                </a:moveTo>
                <a:lnTo>
                  <a:pt x="15144889" y="0"/>
                </a:lnTo>
                <a:cubicBezTo>
                  <a:pt x="15224932" y="0"/>
                  <a:pt x="15289819" y="64887"/>
                  <a:pt x="15289819" y="144930"/>
                </a:cubicBezTo>
                <a:lnTo>
                  <a:pt x="15289819" y="6859885"/>
                </a:lnTo>
                <a:cubicBezTo>
                  <a:pt x="15289819" y="6939927"/>
                  <a:pt x="15224932" y="7004814"/>
                  <a:pt x="15144889" y="7004814"/>
                </a:cubicBezTo>
                <a:lnTo>
                  <a:pt x="144930" y="7004814"/>
                </a:lnTo>
                <a:cubicBezTo>
                  <a:pt x="64887" y="7004814"/>
                  <a:pt x="0" y="6939927"/>
                  <a:pt x="0" y="6859885"/>
                </a:cubicBezTo>
                <a:lnTo>
                  <a:pt x="0" y="144930"/>
                </a:lnTo>
                <a:cubicBezTo>
                  <a:pt x="0" y="64941"/>
                  <a:pt x="64941" y="0"/>
                  <a:pt x="144930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39733" y="1884053"/>
            <a:ext cx="271738" cy="241545"/>
          </a:xfrm>
          <a:custGeom>
            <a:avLst/>
            <a:gdLst/>
            <a:ahLst/>
            <a:cxnLst/>
            <a:rect l="l" t="t" r="r" b="b"/>
            <a:pathLst>
              <a:path w="271738" h="241545">
                <a:moveTo>
                  <a:pt x="170214" y="566"/>
                </a:moveTo>
                <a:cubicBezTo>
                  <a:pt x="162194" y="-1746"/>
                  <a:pt x="153844" y="2925"/>
                  <a:pt x="151532" y="10945"/>
                </a:cubicBezTo>
                <a:lnTo>
                  <a:pt x="91146" y="222297"/>
                </a:lnTo>
                <a:cubicBezTo>
                  <a:pt x="88834" y="230317"/>
                  <a:pt x="93504" y="238668"/>
                  <a:pt x="101525" y="240979"/>
                </a:cubicBezTo>
                <a:cubicBezTo>
                  <a:pt x="109545" y="243291"/>
                  <a:pt x="117895" y="238620"/>
                  <a:pt x="120207" y="230600"/>
                </a:cubicBezTo>
                <a:lnTo>
                  <a:pt x="180593" y="19248"/>
                </a:lnTo>
                <a:cubicBezTo>
                  <a:pt x="182905" y="11228"/>
                  <a:pt x="178234" y="2878"/>
                  <a:pt x="170214" y="566"/>
                </a:cubicBezTo>
                <a:close/>
                <a:moveTo>
                  <a:pt x="200690" y="64774"/>
                </a:moveTo>
                <a:cubicBezTo>
                  <a:pt x="194793" y="70671"/>
                  <a:pt x="194793" y="80248"/>
                  <a:pt x="200690" y="86145"/>
                </a:cubicBezTo>
                <a:lnTo>
                  <a:pt x="235318" y="120773"/>
                </a:lnTo>
                <a:lnTo>
                  <a:pt x="200690" y="155400"/>
                </a:lnTo>
                <a:cubicBezTo>
                  <a:pt x="194793" y="161298"/>
                  <a:pt x="194793" y="170874"/>
                  <a:pt x="200690" y="176772"/>
                </a:cubicBezTo>
                <a:cubicBezTo>
                  <a:pt x="206587" y="182669"/>
                  <a:pt x="216164" y="182669"/>
                  <a:pt x="222061" y="176772"/>
                </a:cubicBezTo>
                <a:lnTo>
                  <a:pt x="267351" y="131482"/>
                </a:lnTo>
                <a:cubicBezTo>
                  <a:pt x="273248" y="125585"/>
                  <a:pt x="273248" y="116008"/>
                  <a:pt x="267351" y="110111"/>
                </a:cubicBezTo>
                <a:lnTo>
                  <a:pt x="222061" y="64821"/>
                </a:lnTo>
                <a:cubicBezTo>
                  <a:pt x="216164" y="58924"/>
                  <a:pt x="206587" y="58924"/>
                  <a:pt x="200690" y="64821"/>
                </a:cubicBezTo>
                <a:close/>
                <a:moveTo>
                  <a:pt x="71095" y="64774"/>
                </a:moveTo>
                <a:cubicBezTo>
                  <a:pt x="65198" y="58877"/>
                  <a:pt x="55621" y="58877"/>
                  <a:pt x="49724" y="64774"/>
                </a:cubicBezTo>
                <a:lnTo>
                  <a:pt x="4435" y="110064"/>
                </a:lnTo>
                <a:cubicBezTo>
                  <a:pt x="-1462" y="115961"/>
                  <a:pt x="-1462" y="125538"/>
                  <a:pt x="4435" y="131435"/>
                </a:cubicBezTo>
                <a:lnTo>
                  <a:pt x="49724" y="176724"/>
                </a:lnTo>
                <a:cubicBezTo>
                  <a:pt x="55621" y="182621"/>
                  <a:pt x="65198" y="182621"/>
                  <a:pt x="71095" y="176724"/>
                </a:cubicBezTo>
                <a:cubicBezTo>
                  <a:pt x="76993" y="170827"/>
                  <a:pt x="76993" y="161250"/>
                  <a:pt x="71095" y="155353"/>
                </a:cubicBezTo>
                <a:lnTo>
                  <a:pt x="36468" y="120773"/>
                </a:lnTo>
                <a:lnTo>
                  <a:pt x="71048" y="86145"/>
                </a:lnTo>
                <a:cubicBezTo>
                  <a:pt x="76945" y="80248"/>
                  <a:pt x="76945" y="70671"/>
                  <a:pt x="71048" y="64774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26568" y="1835744"/>
            <a:ext cx="8623168" cy="338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02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完整代码实现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24636" y="2318835"/>
            <a:ext cx="8804327" cy="6038633"/>
          </a:xfrm>
          <a:custGeom>
            <a:avLst/>
            <a:gdLst/>
            <a:ahLst/>
            <a:cxnLst/>
            <a:rect l="l" t="t" r="r" b="b"/>
            <a:pathLst>
              <a:path w="8804327" h="6038633">
                <a:moveTo>
                  <a:pt x="144927" y="0"/>
                </a:moveTo>
                <a:lnTo>
                  <a:pt x="8659400" y="0"/>
                </a:lnTo>
                <a:cubicBezTo>
                  <a:pt x="8739441" y="0"/>
                  <a:pt x="8804327" y="64886"/>
                  <a:pt x="8804327" y="144927"/>
                </a:cubicBezTo>
                <a:lnTo>
                  <a:pt x="8804327" y="5893706"/>
                </a:lnTo>
                <a:cubicBezTo>
                  <a:pt x="8804327" y="5973747"/>
                  <a:pt x="8739441" y="6038633"/>
                  <a:pt x="8659400" y="6038633"/>
                </a:cubicBezTo>
                <a:lnTo>
                  <a:pt x="144927" y="6038633"/>
                </a:lnTo>
                <a:cubicBezTo>
                  <a:pt x="64886" y="6038633"/>
                  <a:pt x="0" y="5973747"/>
                  <a:pt x="0" y="5893706"/>
                </a:cubicBezTo>
                <a:lnTo>
                  <a:pt x="0" y="144927"/>
                </a:lnTo>
                <a:cubicBezTo>
                  <a:pt x="0" y="64886"/>
                  <a:pt x="64886" y="0"/>
                  <a:pt x="14492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08422" y="2367144"/>
            <a:ext cx="8673741" cy="5990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zh-CN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import </a:t>
            </a:r>
            <a:r>
              <a:rPr lang="en-US" altLang="zh-CN" sz="8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org.apache.flink.api.common.functions.FlatMapFunction</a:t>
            </a:r>
            <a:r>
              <a:rPr lang="en-US" altLang="zh-CN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r>
              <a:rPr lang="en-US" altLang="zh-CN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import org.apache.flink.api.java.tuple.Tuple2;</a:t>
            </a:r>
          </a:p>
          <a:p>
            <a:r>
              <a:rPr lang="en-US" altLang="zh-CN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import </a:t>
            </a:r>
            <a:r>
              <a:rPr lang="en-US" altLang="zh-CN" sz="8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org.apache.flink.streaming.api.datastream.DataStream</a:t>
            </a:r>
            <a:r>
              <a:rPr lang="en-US" altLang="zh-CN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r>
              <a:rPr lang="en-US" altLang="zh-CN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import org.apache.flink.streaming.api.environment.StreamExecutionEnvironment;</a:t>
            </a:r>
          </a:p>
          <a:p>
            <a:r>
              <a:rPr lang="en-US" altLang="zh-CN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import </a:t>
            </a:r>
            <a:r>
              <a:rPr lang="en-US" altLang="zh-CN" sz="8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org.apache.flink.util.Collector</a:t>
            </a:r>
            <a:r>
              <a:rPr lang="en-US" altLang="zh-CN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endParaRPr lang="en-US" altLang="zh-CN" sz="8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public class </a:t>
            </a:r>
            <a:r>
              <a:rPr lang="en-US" altLang="zh-CN" sz="8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WordCountStreaming</a:t>
            </a:r>
            <a:r>
              <a:rPr lang="en-US" altLang="zh-CN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{</a:t>
            </a:r>
          </a:p>
          <a:p>
            <a:r>
              <a:rPr lang="en-US" altLang="zh-CN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public static void main(String[] </a:t>
            </a:r>
            <a:r>
              <a:rPr lang="en-US" altLang="zh-CN" sz="8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args</a:t>
            </a:r>
            <a:r>
              <a:rPr lang="en-US" altLang="zh-CN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throws Exception {</a:t>
            </a:r>
          </a:p>
          <a:p>
            <a:r>
              <a:rPr lang="en-US" altLang="zh-CN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altLang="zh-CN" sz="8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1. </a:t>
            </a:r>
            <a:r>
              <a:rPr lang="zh-CN" altLang="en-US" sz="8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创建执行环境</a:t>
            </a:r>
            <a:endParaRPr lang="zh-CN" altLang="en-US" sz="8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sz="8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altLang="zh-CN" sz="8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</a:t>
            </a:r>
            <a:r>
              <a:rPr lang="en-US" altLang="zh-CN" sz="800" i="1" dirty="0" err="1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getExecutionEnvironment</a:t>
            </a:r>
            <a:r>
              <a:rPr lang="en-US" altLang="zh-CN" sz="8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zh-CN" altLang="en-US" sz="8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会自动识别是本地运行还是集群运行</a:t>
            </a:r>
            <a:endParaRPr lang="zh-CN" altLang="en-US" sz="8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altLang="zh-CN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final </a:t>
            </a:r>
            <a:r>
              <a:rPr lang="en-US" altLang="zh-CN" sz="8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StreamExecutionEnvironment</a:t>
            </a:r>
            <a:r>
              <a:rPr lang="en-US" altLang="zh-CN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env = </a:t>
            </a:r>
            <a:r>
              <a:rPr lang="en-US" altLang="zh-CN" sz="8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StreamExecutionEnvironment.getExecutionEnvironment</a:t>
            </a:r>
            <a:r>
              <a:rPr lang="en-US" altLang="zh-CN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();</a:t>
            </a:r>
          </a:p>
          <a:p>
            <a:endParaRPr lang="en-US" altLang="zh-CN" sz="8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8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altLang="zh-CN" sz="8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2. </a:t>
            </a:r>
            <a:r>
              <a:rPr lang="zh-CN" altLang="en-US" sz="8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创建数据流</a:t>
            </a:r>
            <a:endParaRPr lang="zh-CN" altLang="en-US" sz="8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altLang="zh-CN" sz="8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</a:t>
            </a:r>
            <a:r>
              <a:rPr lang="zh-CN" altLang="en-US" sz="8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监听本地 </a:t>
            </a:r>
            <a:r>
              <a:rPr lang="en-US" altLang="zh-CN" sz="8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9999 </a:t>
            </a:r>
            <a:r>
              <a:rPr lang="zh-CN" altLang="en-US" sz="8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端口，读取文本流</a:t>
            </a:r>
            <a:endParaRPr lang="zh-CN" altLang="en-US" sz="8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altLang="zh-CN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DataStream&lt;String&gt; text = </a:t>
            </a:r>
            <a:r>
              <a:rPr lang="en-US" altLang="zh-CN" sz="8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env.socketTextStream</a:t>
            </a:r>
            <a:r>
              <a:rPr lang="en-US" altLang="zh-CN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("localhost", 9999);</a:t>
            </a:r>
          </a:p>
          <a:p>
            <a:endParaRPr lang="en-US" altLang="zh-CN" sz="8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8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altLang="zh-CN" sz="8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3. </a:t>
            </a:r>
            <a:r>
              <a:rPr lang="zh-CN" altLang="en-US" sz="8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数据处理逻辑</a:t>
            </a:r>
            <a:endParaRPr lang="zh-CN" altLang="en-US" sz="8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altLang="zh-CN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DataStream&lt;Tuple2&lt;String, Integer&gt;&gt; counts = text</a:t>
            </a:r>
          </a:p>
          <a:p>
            <a:r>
              <a:rPr lang="en-US" altLang="zh-CN" sz="8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US" altLang="zh-CN" sz="8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</a:t>
            </a:r>
            <a:r>
              <a:rPr lang="en-US" altLang="zh-CN" sz="800" i="1" dirty="0" err="1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FlatMap</a:t>
            </a:r>
            <a:r>
              <a:rPr lang="en-US" altLang="zh-CN" sz="8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zh-CN" altLang="en-US" sz="8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将一行文本拆分为多个 </a:t>
            </a:r>
            <a:r>
              <a:rPr lang="en-US" altLang="zh-CN" sz="8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(word, 1) </a:t>
            </a:r>
            <a:r>
              <a:rPr lang="zh-CN" altLang="en-US" sz="8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元组</a:t>
            </a:r>
            <a:endParaRPr lang="zh-CN" altLang="en-US" sz="8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US" altLang="zh-CN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altLang="zh-CN" sz="8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flatMap</a:t>
            </a:r>
            <a:r>
              <a:rPr lang="en-US" altLang="zh-CN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(new Tokenizer())</a:t>
            </a:r>
          </a:p>
          <a:p>
            <a:r>
              <a:rPr lang="en-US" altLang="zh-CN" sz="8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US" altLang="zh-CN" sz="8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</a:t>
            </a:r>
            <a:r>
              <a:rPr lang="en-US" altLang="zh-CN" sz="800" i="1" dirty="0" err="1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KeyBy</a:t>
            </a:r>
            <a:r>
              <a:rPr lang="en-US" altLang="zh-CN" sz="8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zh-CN" altLang="en-US" sz="8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按照元组的第一个字段（单词）进行分组</a:t>
            </a:r>
            <a:endParaRPr lang="zh-CN" altLang="en-US" sz="8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US" altLang="zh-CN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altLang="zh-CN" sz="8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keyBy</a:t>
            </a:r>
            <a:r>
              <a:rPr lang="en-US" altLang="zh-CN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(value -&gt; value.f0)</a:t>
            </a:r>
          </a:p>
          <a:p>
            <a:r>
              <a:rPr lang="en-US" altLang="zh-CN" sz="8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US" altLang="zh-CN" sz="8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Sum: </a:t>
            </a:r>
            <a:r>
              <a:rPr lang="zh-CN" altLang="en-US" sz="8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对元组的第二个字段（计数）进行滚动累加</a:t>
            </a:r>
            <a:endParaRPr lang="zh-CN" altLang="en-US" sz="8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US" altLang="zh-CN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.sum(1);</a:t>
            </a:r>
          </a:p>
          <a:p>
            <a:endParaRPr lang="en-US" altLang="zh-CN" sz="8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8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altLang="zh-CN" sz="8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4. </a:t>
            </a:r>
            <a:r>
              <a:rPr lang="zh-CN" altLang="en-US" sz="8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输出结果</a:t>
            </a:r>
            <a:endParaRPr lang="zh-CN" altLang="en-US" sz="8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sz="8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altLang="zh-CN" sz="8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</a:t>
            </a:r>
            <a:r>
              <a:rPr lang="zh-CN" altLang="en-US" sz="8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打印到控制台，并行度 </a:t>
            </a:r>
            <a:r>
              <a:rPr lang="en-US" altLang="zh-CN" sz="8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1 </a:t>
            </a:r>
            <a:r>
              <a:rPr lang="zh-CN" altLang="en-US" sz="8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时会显示线程编号如 </a:t>
            </a:r>
            <a:r>
              <a:rPr lang="en-US" altLang="zh-CN" sz="8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1&gt; hello: 1</a:t>
            </a:r>
            <a:endParaRPr lang="en-US" altLang="zh-CN" sz="8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altLang="zh-CN" sz="8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counts.print</a:t>
            </a:r>
            <a:r>
              <a:rPr lang="en-US" altLang="zh-CN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();</a:t>
            </a:r>
          </a:p>
          <a:p>
            <a:endParaRPr lang="en-US" altLang="zh-CN" sz="8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8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altLang="zh-CN" sz="8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5. </a:t>
            </a:r>
            <a:r>
              <a:rPr lang="zh-CN" altLang="en-US" sz="8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执行作业</a:t>
            </a:r>
            <a:endParaRPr lang="zh-CN" altLang="en-US" sz="8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sz="8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altLang="zh-CN" sz="8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Flink </a:t>
            </a:r>
            <a:r>
              <a:rPr lang="zh-CN" altLang="en-US" sz="8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是惰性执行的，必须调用 </a:t>
            </a:r>
            <a:r>
              <a:rPr lang="en-US" altLang="zh-CN" sz="8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execute </a:t>
            </a:r>
            <a:r>
              <a:rPr lang="zh-CN" altLang="en-US" sz="8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才会真正提交任务</a:t>
            </a:r>
            <a:endParaRPr lang="zh-CN" altLang="en-US" sz="8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altLang="zh-CN" sz="8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env.execute</a:t>
            </a:r>
            <a:r>
              <a:rPr lang="en-US" altLang="zh-CN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("</a:t>
            </a:r>
            <a:r>
              <a:rPr lang="en-US" altLang="zh-CN" sz="8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WordCount</a:t>
            </a:r>
            <a:r>
              <a:rPr lang="en-US" altLang="zh-CN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Streaming");</a:t>
            </a:r>
          </a:p>
          <a:p>
            <a:r>
              <a:rPr lang="en-US" altLang="zh-CN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}</a:t>
            </a:r>
          </a:p>
          <a:p>
            <a:endParaRPr lang="en-US" altLang="zh-CN" sz="8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8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altLang="zh-CN" sz="8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</a:t>
            </a:r>
            <a:r>
              <a:rPr lang="zh-CN" altLang="en-US" sz="8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自定义分词器：将字符串分割为单词</a:t>
            </a:r>
            <a:endParaRPr lang="zh-CN" altLang="en-US" sz="8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altLang="zh-CN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public static final class Tokenizer implements </a:t>
            </a:r>
            <a:r>
              <a:rPr lang="en-US" altLang="zh-CN" sz="8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FlatMapFunction</a:t>
            </a:r>
            <a:r>
              <a:rPr lang="en-US" altLang="zh-CN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&lt;String, Tuple2&lt;String, Integer&gt;&gt; {</a:t>
            </a:r>
          </a:p>
          <a:p>
            <a:r>
              <a:rPr lang="en-US" altLang="zh-CN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@Override</a:t>
            </a:r>
          </a:p>
          <a:p>
            <a:r>
              <a:rPr lang="en-US" altLang="zh-CN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public void </a:t>
            </a:r>
            <a:r>
              <a:rPr lang="en-US" altLang="zh-CN" sz="8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flatMap</a:t>
            </a:r>
            <a:r>
              <a:rPr lang="en-US" altLang="zh-CN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(String value, Collector&lt;Tuple2&lt;String, Integer&gt;&gt; out) {</a:t>
            </a:r>
          </a:p>
          <a:p>
            <a:r>
              <a:rPr lang="en-US" altLang="zh-CN" sz="8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US" altLang="zh-CN" sz="8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</a:t>
            </a:r>
            <a:r>
              <a:rPr lang="zh-CN" altLang="en-US" sz="8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使用非单词字符（</a:t>
            </a:r>
            <a:r>
              <a:rPr lang="en-US" altLang="zh-CN" sz="8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\W+</a:t>
            </a:r>
            <a:r>
              <a:rPr lang="zh-CN" altLang="en-US" sz="8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）作为分隔符进行切分</a:t>
            </a:r>
            <a:endParaRPr lang="zh-CN" altLang="en-US" sz="8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US" altLang="zh-CN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String[] words = </a:t>
            </a:r>
            <a:r>
              <a:rPr lang="en-US" altLang="zh-CN" sz="8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value.toLowerCase</a:t>
            </a:r>
            <a:r>
              <a:rPr lang="en-US" altLang="zh-CN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().split("\\W+");</a:t>
            </a:r>
          </a:p>
          <a:p>
            <a:r>
              <a:rPr lang="en-US" altLang="zh-CN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for (String word : words) {</a:t>
            </a:r>
          </a:p>
          <a:p>
            <a:r>
              <a:rPr lang="en-US" altLang="zh-CN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if (</a:t>
            </a:r>
            <a:r>
              <a:rPr lang="en-US" altLang="zh-CN" sz="8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word.length</a:t>
            </a:r>
            <a:r>
              <a:rPr lang="en-US" altLang="zh-CN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 &gt; 0) {</a:t>
            </a:r>
          </a:p>
          <a:p>
            <a:r>
              <a:rPr lang="en-US" altLang="zh-CN" sz="8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    </a:t>
            </a:r>
            <a:r>
              <a:rPr lang="en-US" altLang="zh-CN" sz="8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</a:t>
            </a:r>
            <a:r>
              <a:rPr lang="zh-CN" altLang="en-US" sz="8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发射 </a:t>
            </a:r>
            <a:r>
              <a:rPr lang="en-US" altLang="zh-CN" sz="8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zh-CN" altLang="en-US" sz="8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单词</a:t>
            </a:r>
            <a:r>
              <a:rPr lang="en-US" altLang="zh-CN" sz="8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1) </a:t>
            </a:r>
            <a:r>
              <a:rPr lang="zh-CN" altLang="en-US" sz="8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到下游</a:t>
            </a:r>
            <a:endParaRPr lang="zh-CN" altLang="en-US" sz="8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    </a:t>
            </a:r>
            <a:r>
              <a:rPr lang="en-US" altLang="zh-CN" sz="8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out.collect</a:t>
            </a:r>
            <a:r>
              <a:rPr lang="en-US" altLang="zh-CN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(new Tuple2&lt;&gt;(word, 1));</a:t>
            </a:r>
          </a:p>
          <a:p>
            <a:r>
              <a:rPr lang="en-US" altLang="zh-CN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}</a:t>
            </a:r>
          </a:p>
          <a:p>
            <a:r>
              <a:rPr lang="en-US" altLang="zh-CN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}</a:t>
            </a:r>
          </a:p>
          <a:p>
            <a:r>
              <a:rPr lang="en-US" altLang="zh-CN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}</a:t>
            </a:r>
          </a:p>
          <a:p>
            <a:r>
              <a:rPr lang="en-US" altLang="zh-CN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}</a:t>
            </a:r>
          </a:p>
          <a:p>
            <a:r>
              <a:rPr lang="en-US" altLang="zh-CN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>
              <a:lnSpc>
                <a:spcPct val="140000"/>
              </a:lnSpc>
            </a:pPr>
            <a:endParaRPr lang="en-US" sz="800" dirty="0">
              <a:solidFill>
                <a:schemeClr val="bg1"/>
              </a:solidFill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722954" y="1835744"/>
            <a:ext cx="5809165" cy="4396125"/>
          </a:xfrm>
          <a:custGeom>
            <a:avLst/>
            <a:gdLst/>
            <a:ahLst/>
            <a:cxnLst/>
            <a:rect l="l" t="t" r="r" b="b"/>
            <a:pathLst>
              <a:path w="5809165" h="4396125">
                <a:moveTo>
                  <a:pt x="144940" y="0"/>
                </a:moveTo>
                <a:lnTo>
                  <a:pt x="5664225" y="0"/>
                </a:lnTo>
                <a:cubicBezTo>
                  <a:pt x="5744273" y="0"/>
                  <a:pt x="5809165" y="64892"/>
                  <a:pt x="5809165" y="144940"/>
                </a:cubicBezTo>
                <a:lnTo>
                  <a:pt x="5809165" y="4251185"/>
                </a:lnTo>
                <a:cubicBezTo>
                  <a:pt x="5809165" y="4331233"/>
                  <a:pt x="5744273" y="4396125"/>
                  <a:pt x="5664225" y="4396125"/>
                </a:cubicBezTo>
                <a:lnTo>
                  <a:pt x="144940" y="4396125"/>
                </a:lnTo>
                <a:cubicBezTo>
                  <a:pt x="64892" y="4396125"/>
                  <a:pt x="0" y="4331233"/>
                  <a:pt x="0" y="4251185"/>
                </a:cubicBezTo>
                <a:lnTo>
                  <a:pt x="0" y="144940"/>
                </a:lnTo>
                <a:cubicBezTo>
                  <a:pt x="0" y="64892"/>
                  <a:pt x="64892" y="0"/>
                  <a:pt x="14494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9946383" y="2089367"/>
            <a:ext cx="217391" cy="217391"/>
          </a:xfrm>
          <a:custGeom>
            <a:avLst/>
            <a:gdLst/>
            <a:ahLst/>
            <a:cxnLst/>
            <a:rect l="l" t="t" r="r" b="b"/>
            <a:pathLst>
              <a:path w="217391" h="217391">
                <a:moveTo>
                  <a:pt x="0" y="30571"/>
                </a:moveTo>
                <a:cubicBezTo>
                  <a:pt x="0" y="24966"/>
                  <a:pt x="4543" y="20380"/>
                  <a:pt x="10190" y="20380"/>
                </a:cubicBezTo>
                <a:lnTo>
                  <a:pt x="30571" y="20380"/>
                </a:lnTo>
                <a:cubicBezTo>
                  <a:pt x="36218" y="20380"/>
                  <a:pt x="40761" y="24924"/>
                  <a:pt x="40761" y="30571"/>
                </a:cubicBezTo>
                <a:lnTo>
                  <a:pt x="40761" y="74728"/>
                </a:lnTo>
                <a:lnTo>
                  <a:pt x="50951" y="74728"/>
                </a:lnTo>
                <a:cubicBezTo>
                  <a:pt x="56598" y="74728"/>
                  <a:pt x="61141" y="79271"/>
                  <a:pt x="61141" y="84918"/>
                </a:cubicBezTo>
                <a:cubicBezTo>
                  <a:pt x="61141" y="90565"/>
                  <a:pt x="56598" y="95108"/>
                  <a:pt x="50951" y="95108"/>
                </a:cubicBezTo>
                <a:lnTo>
                  <a:pt x="10190" y="95108"/>
                </a:lnTo>
                <a:cubicBezTo>
                  <a:pt x="4543" y="95108"/>
                  <a:pt x="0" y="90565"/>
                  <a:pt x="0" y="84918"/>
                </a:cubicBezTo>
                <a:cubicBezTo>
                  <a:pt x="0" y="79271"/>
                  <a:pt x="4543" y="74728"/>
                  <a:pt x="10190" y="74728"/>
                </a:cubicBezTo>
                <a:lnTo>
                  <a:pt x="20380" y="74728"/>
                </a:lnTo>
                <a:lnTo>
                  <a:pt x="20380" y="40761"/>
                </a:lnTo>
                <a:lnTo>
                  <a:pt x="10190" y="40761"/>
                </a:lnTo>
                <a:cubicBezTo>
                  <a:pt x="4543" y="40761"/>
                  <a:pt x="0" y="36218"/>
                  <a:pt x="0" y="30571"/>
                </a:cubicBezTo>
                <a:close/>
                <a:moveTo>
                  <a:pt x="12908" y="127887"/>
                </a:moveTo>
                <a:cubicBezTo>
                  <a:pt x="17748" y="124235"/>
                  <a:pt x="23650" y="122282"/>
                  <a:pt x="29721" y="122282"/>
                </a:cubicBezTo>
                <a:lnTo>
                  <a:pt x="31802" y="122282"/>
                </a:lnTo>
                <a:cubicBezTo>
                  <a:pt x="46111" y="122282"/>
                  <a:pt x="57744" y="133916"/>
                  <a:pt x="57744" y="148225"/>
                </a:cubicBezTo>
                <a:cubicBezTo>
                  <a:pt x="57744" y="156547"/>
                  <a:pt x="53753" y="164317"/>
                  <a:pt x="47045" y="169200"/>
                </a:cubicBezTo>
                <a:lnTo>
                  <a:pt x="36855" y="176630"/>
                </a:lnTo>
                <a:lnTo>
                  <a:pt x="50951" y="176630"/>
                </a:lnTo>
                <a:cubicBezTo>
                  <a:pt x="56598" y="176630"/>
                  <a:pt x="61141" y="181173"/>
                  <a:pt x="61141" y="186820"/>
                </a:cubicBezTo>
                <a:cubicBezTo>
                  <a:pt x="61141" y="192467"/>
                  <a:pt x="56598" y="197010"/>
                  <a:pt x="50951" y="197010"/>
                </a:cubicBezTo>
                <a:lnTo>
                  <a:pt x="12441" y="197010"/>
                </a:lnTo>
                <a:cubicBezTo>
                  <a:pt x="5562" y="197010"/>
                  <a:pt x="0" y="191448"/>
                  <a:pt x="0" y="184570"/>
                </a:cubicBezTo>
                <a:cubicBezTo>
                  <a:pt x="0" y="180579"/>
                  <a:pt x="1911" y="176842"/>
                  <a:pt x="5138" y="174507"/>
                </a:cubicBezTo>
                <a:lnTo>
                  <a:pt x="35071" y="152726"/>
                </a:lnTo>
                <a:cubicBezTo>
                  <a:pt x="36515" y="151664"/>
                  <a:pt x="37364" y="150008"/>
                  <a:pt x="37364" y="148225"/>
                </a:cubicBezTo>
                <a:cubicBezTo>
                  <a:pt x="37364" y="145168"/>
                  <a:pt x="34859" y="142663"/>
                  <a:pt x="31802" y="142663"/>
                </a:cubicBezTo>
                <a:lnTo>
                  <a:pt x="29721" y="142663"/>
                </a:lnTo>
                <a:cubicBezTo>
                  <a:pt x="28065" y="142663"/>
                  <a:pt x="26452" y="143215"/>
                  <a:pt x="25136" y="144191"/>
                </a:cubicBezTo>
                <a:lnTo>
                  <a:pt x="16304" y="150815"/>
                </a:lnTo>
                <a:cubicBezTo>
                  <a:pt x="11804" y="154212"/>
                  <a:pt x="5435" y="153277"/>
                  <a:pt x="2038" y="148777"/>
                </a:cubicBezTo>
                <a:cubicBezTo>
                  <a:pt x="-1359" y="144276"/>
                  <a:pt x="-425" y="137907"/>
                  <a:pt x="4076" y="134511"/>
                </a:cubicBezTo>
                <a:lnTo>
                  <a:pt x="12908" y="127887"/>
                </a:lnTo>
                <a:close/>
                <a:moveTo>
                  <a:pt x="95108" y="27174"/>
                </a:moveTo>
                <a:lnTo>
                  <a:pt x="203804" y="27174"/>
                </a:lnTo>
                <a:cubicBezTo>
                  <a:pt x="211319" y="27174"/>
                  <a:pt x="217391" y="33246"/>
                  <a:pt x="217391" y="40761"/>
                </a:cubicBezTo>
                <a:cubicBezTo>
                  <a:pt x="217391" y="48276"/>
                  <a:pt x="211319" y="54348"/>
                  <a:pt x="203804" y="54348"/>
                </a:cubicBezTo>
                <a:lnTo>
                  <a:pt x="95108" y="54348"/>
                </a:lnTo>
                <a:cubicBezTo>
                  <a:pt x="87593" y="54348"/>
                  <a:pt x="81522" y="48276"/>
                  <a:pt x="81522" y="40761"/>
                </a:cubicBezTo>
                <a:cubicBezTo>
                  <a:pt x="81522" y="33246"/>
                  <a:pt x="87593" y="27174"/>
                  <a:pt x="95108" y="27174"/>
                </a:cubicBezTo>
                <a:close/>
                <a:moveTo>
                  <a:pt x="95108" y="95108"/>
                </a:moveTo>
                <a:lnTo>
                  <a:pt x="203804" y="95108"/>
                </a:lnTo>
                <a:cubicBezTo>
                  <a:pt x="211319" y="95108"/>
                  <a:pt x="217391" y="101180"/>
                  <a:pt x="217391" y="108695"/>
                </a:cubicBezTo>
                <a:cubicBezTo>
                  <a:pt x="217391" y="116211"/>
                  <a:pt x="211319" y="122282"/>
                  <a:pt x="203804" y="122282"/>
                </a:cubicBezTo>
                <a:lnTo>
                  <a:pt x="95108" y="122282"/>
                </a:lnTo>
                <a:cubicBezTo>
                  <a:pt x="87593" y="122282"/>
                  <a:pt x="81522" y="116211"/>
                  <a:pt x="81522" y="108695"/>
                </a:cubicBezTo>
                <a:cubicBezTo>
                  <a:pt x="81522" y="101180"/>
                  <a:pt x="87593" y="95108"/>
                  <a:pt x="95108" y="95108"/>
                </a:cubicBezTo>
                <a:close/>
                <a:moveTo>
                  <a:pt x="95108" y="163043"/>
                </a:moveTo>
                <a:lnTo>
                  <a:pt x="203804" y="163043"/>
                </a:lnTo>
                <a:cubicBezTo>
                  <a:pt x="211319" y="163043"/>
                  <a:pt x="217391" y="169115"/>
                  <a:pt x="217391" y="176630"/>
                </a:cubicBezTo>
                <a:cubicBezTo>
                  <a:pt x="217391" y="184145"/>
                  <a:pt x="211319" y="190217"/>
                  <a:pt x="203804" y="190217"/>
                </a:cubicBezTo>
                <a:lnTo>
                  <a:pt x="95108" y="190217"/>
                </a:lnTo>
                <a:cubicBezTo>
                  <a:pt x="87593" y="190217"/>
                  <a:pt x="81522" y="184145"/>
                  <a:pt x="81522" y="176630"/>
                </a:cubicBezTo>
                <a:cubicBezTo>
                  <a:pt x="81522" y="169115"/>
                  <a:pt x="87593" y="163043"/>
                  <a:pt x="95108" y="163043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0193967" y="2028981"/>
            <a:ext cx="5253611" cy="338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12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五个核心步骤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916190" y="2512071"/>
            <a:ext cx="289854" cy="289854"/>
          </a:xfrm>
          <a:custGeom>
            <a:avLst/>
            <a:gdLst/>
            <a:ahLst/>
            <a:cxnLst/>
            <a:rect l="l" t="t" r="r" b="b"/>
            <a:pathLst>
              <a:path w="289854" h="289854">
                <a:moveTo>
                  <a:pt x="144927" y="0"/>
                </a:moveTo>
                <a:lnTo>
                  <a:pt x="144927" y="0"/>
                </a:lnTo>
                <a:cubicBezTo>
                  <a:pt x="224968" y="0"/>
                  <a:pt x="289854" y="64886"/>
                  <a:pt x="289854" y="144927"/>
                </a:cubicBezTo>
                <a:lnTo>
                  <a:pt x="289854" y="144927"/>
                </a:lnTo>
                <a:cubicBezTo>
                  <a:pt x="289854" y="224968"/>
                  <a:pt x="224968" y="289854"/>
                  <a:pt x="144927" y="289854"/>
                </a:cubicBezTo>
                <a:lnTo>
                  <a:pt x="144927" y="289854"/>
                </a:lnTo>
                <a:cubicBezTo>
                  <a:pt x="64886" y="289854"/>
                  <a:pt x="0" y="224968"/>
                  <a:pt x="0" y="144927"/>
                </a:cubicBezTo>
                <a:lnTo>
                  <a:pt x="0" y="144927"/>
                </a:lnTo>
                <a:cubicBezTo>
                  <a:pt x="0" y="64886"/>
                  <a:pt x="64886" y="0"/>
                  <a:pt x="144927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0032623" y="2560380"/>
            <a:ext cx="132850" cy="19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41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302663" y="2512071"/>
            <a:ext cx="5132838" cy="289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2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环境准备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302663" y="2801926"/>
            <a:ext cx="5120761" cy="483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1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getExecutionEnvironment()是Flink程序入口，自动适配本地或集群环境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916190" y="3381634"/>
            <a:ext cx="289854" cy="289854"/>
          </a:xfrm>
          <a:custGeom>
            <a:avLst/>
            <a:gdLst/>
            <a:ahLst/>
            <a:cxnLst/>
            <a:rect l="l" t="t" r="r" b="b"/>
            <a:pathLst>
              <a:path w="289854" h="289854">
                <a:moveTo>
                  <a:pt x="144927" y="0"/>
                </a:moveTo>
                <a:lnTo>
                  <a:pt x="144927" y="0"/>
                </a:lnTo>
                <a:cubicBezTo>
                  <a:pt x="224968" y="0"/>
                  <a:pt x="289854" y="64886"/>
                  <a:pt x="289854" y="144927"/>
                </a:cubicBezTo>
                <a:lnTo>
                  <a:pt x="289854" y="144927"/>
                </a:lnTo>
                <a:cubicBezTo>
                  <a:pt x="289854" y="224968"/>
                  <a:pt x="224968" y="289854"/>
                  <a:pt x="144927" y="289854"/>
                </a:cubicBezTo>
                <a:lnTo>
                  <a:pt x="144927" y="289854"/>
                </a:lnTo>
                <a:cubicBezTo>
                  <a:pt x="64886" y="289854"/>
                  <a:pt x="0" y="224968"/>
                  <a:pt x="0" y="144927"/>
                </a:cubicBezTo>
                <a:lnTo>
                  <a:pt x="0" y="144927"/>
                </a:lnTo>
                <a:cubicBezTo>
                  <a:pt x="0" y="64886"/>
                  <a:pt x="64886" y="0"/>
                  <a:pt x="144927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0020357" y="3429944"/>
            <a:ext cx="157004" cy="19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41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302663" y="3381634"/>
            <a:ext cx="5132838" cy="289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2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构建数据源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302663" y="3671489"/>
            <a:ext cx="5120761" cy="483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1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socketTextStream("localhost", 9999)监听端口，模拟实时文本流输入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916190" y="4251198"/>
            <a:ext cx="289854" cy="289854"/>
          </a:xfrm>
          <a:custGeom>
            <a:avLst/>
            <a:gdLst/>
            <a:ahLst/>
            <a:cxnLst/>
            <a:rect l="l" t="t" r="r" b="b"/>
            <a:pathLst>
              <a:path w="289854" h="289854">
                <a:moveTo>
                  <a:pt x="144927" y="0"/>
                </a:moveTo>
                <a:lnTo>
                  <a:pt x="144927" y="0"/>
                </a:lnTo>
                <a:cubicBezTo>
                  <a:pt x="224968" y="0"/>
                  <a:pt x="289854" y="64886"/>
                  <a:pt x="289854" y="144927"/>
                </a:cubicBezTo>
                <a:lnTo>
                  <a:pt x="289854" y="144927"/>
                </a:lnTo>
                <a:cubicBezTo>
                  <a:pt x="289854" y="224968"/>
                  <a:pt x="224968" y="289854"/>
                  <a:pt x="144927" y="289854"/>
                </a:cubicBezTo>
                <a:lnTo>
                  <a:pt x="144927" y="289854"/>
                </a:lnTo>
                <a:cubicBezTo>
                  <a:pt x="64886" y="289854"/>
                  <a:pt x="0" y="224968"/>
                  <a:pt x="0" y="144927"/>
                </a:cubicBezTo>
                <a:lnTo>
                  <a:pt x="0" y="144927"/>
                </a:lnTo>
                <a:cubicBezTo>
                  <a:pt x="0" y="64886"/>
                  <a:pt x="64886" y="0"/>
                  <a:pt x="144927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0018470" y="4299507"/>
            <a:ext cx="157004" cy="19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41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302663" y="4251198"/>
            <a:ext cx="4347816" cy="289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2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定义转换逻辑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302663" y="4541052"/>
            <a:ext cx="4335738" cy="241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1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flatMap→keyBy→sum，实现文本拆分、分组、滚动累加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916190" y="4879215"/>
            <a:ext cx="289854" cy="289854"/>
          </a:xfrm>
          <a:custGeom>
            <a:avLst/>
            <a:gdLst/>
            <a:ahLst/>
            <a:cxnLst/>
            <a:rect l="l" t="t" r="r" b="b"/>
            <a:pathLst>
              <a:path w="289854" h="289854">
                <a:moveTo>
                  <a:pt x="144927" y="0"/>
                </a:moveTo>
                <a:lnTo>
                  <a:pt x="144927" y="0"/>
                </a:lnTo>
                <a:cubicBezTo>
                  <a:pt x="224968" y="0"/>
                  <a:pt x="289854" y="64886"/>
                  <a:pt x="289854" y="144927"/>
                </a:cubicBezTo>
                <a:lnTo>
                  <a:pt x="289854" y="144927"/>
                </a:lnTo>
                <a:cubicBezTo>
                  <a:pt x="289854" y="224968"/>
                  <a:pt x="224968" y="289854"/>
                  <a:pt x="144927" y="289854"/>
                </a:cubicBezTo>
                <a:lnTo>
                  <a:pt x="144927" y="289854"/>
                </a:lnTo>
                <a:cubicBezTo>
                  <a:pt x="64886" y="289854"/>
                  <a:pt x="0" y="224968"/>
                  <a:pt x="0" y="144927"/>
                </a:cubicBezTo>
                <a:lnTo>
                  <a:pt x="0" y="144927"/>
                </a:lnTo>
                <a:cubicBezTo>
                  <a:pt x="0" y="64886"/>
                  <a:pt x="64886" y="0"/>
                  <a:pt x="144927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0018564" y="4927525"/>
            <a:ext cx="157004" cy="19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41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302663" y="4879215"/>
            <a:ext cx="2753617" cy="289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2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输出结果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302663" y="5169070"/>
            <a:ext cx="2741539" cy="241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1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print()将实时计算结果打印到控制台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916190" y="5507233"/>
            <a:ext cx="289854" cy="289854"/>
          </a:xfrm>
          <a:custGeom>
            <a:avLst/>
            <a:gdLst/>
            <a:ahLst/>
            <a:cxnLst/>
            <a:rect l="l" t="t" r="r" b="b"/>
            <a:pathLst>
              <a:path w="289854" h="289854">
                <a:moveTo>
                  <a:pt x="144927" y="0"/>
                </a:moveTo>
                <a:lnTo>
                  <a:pt x="144927" y="0"/>
                </a:lnTo>
                <a:cubicBezTo>
                  <a:pt x="224968" y="0"/>
                  <a:pt x="289854" y="64886"/>
                  <a:pt x="289854" y="144927"/>
                </a:cubicBezTo>
                <a:lnTo>
                  <a:pt x="289854" y="144927"/>
                </a:lnTo>
                <a:cubicBezTo>
                  <a:pt x="289854" y="224968"/>
                  <a:pt x="224968" y="289854"/>
                  <a:pt x="144927" y="289854"/>
                </a:cubicBezTo>
                <a:lnTo>
                  <a:pt x="144927" y="289854"/>
                </a:lnTo>
                <a:cubicBezTo>
                  <a:pt x="64886" y="289854"/>
                  <a:pt x="0" y="224968"/>
                  <a:pt x="0" y="144927"/>
                </a:cubicBezTo>
                <a:lnTo>
                  <a:pt x="0" y="144927"/>
                </a:lnTo>
                <a:cubicBezTo>
                  <a:pt x="0" y="64886"/>
                  <a:pt x="64886" y="0"/>
                  <a:pt x="144927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0017809" y="5555542"/>
            <a:ext cx="157004" cy="19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41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302663" y="5507233"/>
            <a:ext cx="5060374" cy="289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2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触发执行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302663" y="5797088"/>
            <a:ext cx="5048297" cy="241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1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关键点：</a:t>
            </a:r>
            <a:r>
              <a:rPr lang="en-US" sz="1331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Flink采用惰性执行，只有调用execute()才会真正提交任务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722954" y="6376796"/>
            <a:ext cx="5809165" cy="1799513"/>
          </a:xfrm>
          <a:custGeom>
            <a:avLst/>
            <a:gdLst/>
            <a:ahLst/>
            <a:cxnLst/>
            <a:rect l="l" t="t" r="r" b="b"/>
            <a:pathLst>
              <a:path w="5809165" h="1799513">
                <a:moveTo>
                  <a:pt x="144933" y="0"/>
                </a:moveTo>
                <a:lnTo>
                  <a:pt x="5664232" y="0"/>
                </a:lnTo>
                <a:cubicBezTo>
                  <a:pt x="5744223" y="0"/>
                  <a:pt x="5809165" y="64942"/>
                  <a:pt x="5809165" y="144933"/>
                </a:cubicBezTo>
                <a:lnTo>
                  <a:pt x="5809165" y="1654580"/>
                </a:lnTo>
                <a:cubicBezTo>
                  <a:pt x="5809165" y="1734570"/>
                  <a:pt x="5744223" y="1799513"/>
                  <a:pt x="5664232" y="1799513"/>
                </a:cubicBezTo>
                <a:lnTo>
                  <a:pt x="144933" y="1799513"/>
                </a:lnTo>
                <a:cubicBezTo>
                  <a:pt x="64942" y="1799513"/>
                  <a:pt x="0" y="1734570"/>
                  <a:pt x="0" y="1654580"/>
                </a:cubicBezTo>
                <a:lnTo>
                  <a:pt x="0" y="144933"/>
                </a:lnTo>
                <a:cubicBezTo>
                  <a:pt x="0" y="64942"/>
                  <a:pt x="64942" y="0"/>
                  <a:pt x="14493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9946383" y="6630419"/>
            <a:ext cx="217391" cy="217391"/>
          </a:xfrm>
          <a:custGeom>
            <a:avLst/>
            <a:gdLst/>
            <a:ahLst/>
            <a:cxnLst/>
            <a:rect l="l" t="t" r="r" b="b"/>
            <a:pathLst>
              <a:path w="217391" h="217391">
                <a:moveTo>
                  <a:pt x="3991" y="50357"/>
                </a:moveTo>
                <a:cubicBezTo>
                  <a:pt x="-1316" y="45049"/>
                  <a:pt x="-1316" y="36430"/>
                  <a:pt x="3991" y="31123"/>
                </a:cubicBezTo>
                <a:cubicBezTo>
                  <a:pt x="9299" y="25815"/>
                  <a:pt x="17918" y="25815"/>
                  <a:pt x="23225" y="31123"/>
                </a:cubicBezTo>
                <a:lnTo>
                  <a:pt x="91160" y="99057"/>
                </a:lnTo>
                <a:cubicBezTo>
                  <a:pt x="96467" y="104365"/>
                  <a:pt x="96467" y="112984"/>
                  <a:pt x="91160" y="118291"/>
                </a:cubicBezTo>
                <a:lnTo>
                  <a:pt x="23225" y="186226"/>
                </a:lnTo>
                <a:cubicBezTo>
                  <a:pt x="17918" y="191533"/>
                  <a:pt x="9299" y="191533"/>
                  <a:pt x="3991" y="186226"/>
                </a:cubicBezTo>
                <a:cubicBezTo>
                  <a:pt x="-1316" y="180918"/>
                  <a:pt x="-1316" y="172299"/>
                  <a:pt x="3991" y="166992"/>
                </a:cubicBezTo>
                <a:lnTo>
                  <a:pt x="62288" y="108695"/>
                </a:lnTo>
                <a:lnTo>
                  <a:pt x="3991" y="50357"/>
                </a:lnTo>
                <a:close/>
                <a:moveTo>
                  <a:pt x="95108" y="163043"/>
                </a:moveTo>
                <a:lnTo>
                  <a:pt x="203804" y="163043"/>
                </a:lnTo>
                <a:cubicBezTo>
                  <a:pt x="211319" y="163043"/>
                  <a:pt x="217391" y="169115"/>
                  <a:pt x="217391" y="176630"/>
                </a:cubicBezTo>
                <a:cubicBezTo>
                  <a:pt x="217391" y="184145"/>
                  <a:pt x="211319" y="190217"/>
                  <a:pt x="203804" y="190217"/>
                </a:cubicBezTo>
                <a:lnTo>
                  <a:pt x="95108" y="190217"/>
                </a:lnTo>
                <a:cubicBezTo>
                  <a:pt x="87593" y="190217"/>
                  <a:pt x="81522" y="184145"/>
                  <a:pt x="81522" y="176630"/>
                </a:cubicBezTo>
                <a:cubicBezTo>
                  <a:pt x="81522" y="169115"/>
                  <a:pt x="87593" y="163043"/>
                  <a:pt x="95108" y="163043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10193967" y="6570033"/>
            <a:ext cx="5253611" cy="338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12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运行测试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916190" y="7128606"/>
            <a:ext cx="96618" cy="96618"/>
          </a:xfrm>
          <a:custGeom>
            <a:avLst/>
            <a:gdLst/>
            <a:ahLst/>
            <a:cxnLst/>
            <a:rect l="l" t="t" r="r" b="b"/>
            <a:pathLst>
              <a:path w="96618" h="96618">
                <a:moveTo>
                  <a:pt x="48309" y="0"/>
                </a:moveTo>
                <a:lnTo>
                  <a:pt x="48309" y="0"/>
                </a:lnTo>
                <a:cubicBezTo>
                  <a:pt x="74989" y="0"/>
                  <a:pt x="96618" y="21629"/>
                  <a:pt x="96618" y="48309"/>
                </a:cubicBezTo>
                <a:lnTo>
                  <a:pt x="96618" y="48309"/>
                </a:lnTo>
                <a:cubicBezTo>
                  <a:pt x="96618" y="74989"/>
                  <a:pt x="74989" y="96618"/>
                  <a:pt x="48309" y="96618"/>
                </a:cubicBezTo>
                <a:lnTo>
                  <a:pt x="48309" y="96618"/>
                </a:lnTo>
                <a:cubicBezTo>
                  <a:pt x="21629" y="96618"/>
                  <a:pt x="0" y="74989"/>
                  <a:pt x="0" y="48309"/>
                </a:cubicBezTo>
                <a:lnTo>
                  <a:pt x="0" y="48309"/>
                </a:lnTo>
                <a:cubicBezTo>
                  <a:pt x="0" y="21629"/>
                  <a:pt x="21629" y="0"/>
                  <a:pt x="48309" y="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10109426" y="7053123"/>
            <a:ext cx="2874389" cy="253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1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启动netcat监听端口：</a:t>
            </a:r>
            <a:r>
              <a:rPr lang="en-US" sz="133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nc -lk 9999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916190" y="7469789"/>
            <a:ext cx="96618" cy="96618"/>
          </a:xfrm>
          <a:custGeom>
            <a:avLst/>
            <a:gdLst/>
            <a:ahLst/>
            <a:cxnLst/>
            <a:rect l="l" t="t" r="r" b="b"/>
            <a:pathLst>
              <a:path w="96618" h="96618">
                <a:moveTo>
                  <a:pt x="48309" y="0"/>
                </a:moveTo>
                <a:lnTo>
                  <a:pt x="48309" y="0"/>
                </a:lnTo>
                <a:cubicBezTo>
                  <a:pt x="74989" y="0"/>
                  <a:pt x="96618" y="21629"/>
                  <a:pt x="96618" y="48309"/>
                </a:cubicBezTo>
                <a:lnTo>
                  <a:pt x="96618" y="48309"/>
                </a:lnTo>
                <a:cubicBezTo>
                  <a:pt x="96618" y="74989"/>
                  <a:pt x="74989" y="96618"/>
                  <a:pt x="48309" y="96618"/>
                </a:cubicBezTo>
                <a:lnTo>
                  <a:pt x="48309" y="96618"/>
                </a:lnTo>
                <a:cubicBezTo>
                  <a:pt x="21629" y="96618"/>
                  <a:pt x="0" y="74989"/>
                  <a:pt x="0" y="48309"/>
                </a:cubicBezTo>
                <a:lnTo>
                  <a:pt x="0" y="48309"/>
                </a:lnTo>
                <a:cubicBezTo>
                  <a:pt x="0" y="21629"/>
                  <a:pt x="21629" y="0"/>
                  <a:pt x="48309" y="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10109426" y="7397325"/>
            <a:ext cx="2451685" cy="241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1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输入测试文本，观察控制台输出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916190" y="7807952"/>
            <a:ext cx="96618" cy="96618"/>
          </a:xfrm>
          <a:custGeom>
            <a:avLst/>
            <a:gdLst/>
            <a:ahLst/>
            <a:cxnLst/>
            <a:rect l="l" t="t" r="r" b="b"/>
            <a:pathLst>
              <a:path w="96618" h="96618">
                <a:moveTo>
                  <a:pt x="48309" y="0"/>
                </a:moveTo>
                <a:lnTo>
                  <a:pt x="48309" y="0"/>
                </a:lnTo>
                <a:cubicBezTo>
                  <a:pt x="74989" y="0"/>
                  <a:pt x="96618" y="21629"/>
                  <a:pt x="96618" y="48309"/>
                </a:cubicBezTo>
                <a:lnTo>
                  <a:pt x="96618" y="48309"/>
                </a:lnTo>
                <a:cubicBezTo>
                  <a:pt x="96618" y="74989"/>
                  <a:pt x="74989" y="96618"/>
                  <a:pt x="48309" y="96618"/>
                </a:cubicBezTo>
                <a:lnTo>
                  <a:pt x="48309" y="96618"/>
                </a:lnTo>
                <a:cubicBezTo>
                  <a:pt x="21629" y="96618"/>
                  <a:pt x="0" y="74989"/>
                  <a:pt x="0" y="48309"/>
                </a:cubicBezTo>
                <a:lnTo>
                  <a:pt x="0" y="48309"/>
                </a:lnTo>
                <a:cubicBezTo>
                  <a:pt x="0" y="21629"/>
                  <a:pt x="21629" y="0"/>
                  <a:pt x="48309" y="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10109426" y="7735489"/>
            <a:ext cx="3055548" cy="241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1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并行度&gt;1时会显示线程编号：1&gt; hello: 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23333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84667" y="0"/>
                </a:moveTo>
                <a:lnTo>
                  <a:pt x="338667" y="0"/>
                </a:lnTo>
                <a:cubicBezTo>
                  <a:pt x="385427" y="0"/>
                  <a:pt x="423333" y="37907"/>
                  <a:pt x="423333" y="84667"/>
                </a:cubicBezTo>
                <a:lnTo>
                  <a:pt x="423333" y="338667"/>
                </a:lnTo>
                <a:cubicBezTo>
                  <a:pt x="423333" y="385427"/>
                  <a:pt x="385427" y="423333"/>
                  <a:pt x="338667" y="423333"/>
                </a:cubicBezTo>
                <a:lnTo>
                  <a:pt x="84667" y="423333"/>
                </a:lnTo>
                <a:cubicBezTo>
                  <a:pt x="37907" y="423333"/>
                  <a:pt x="0" y="385427"/>
                  <a:pt x="0" y="338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42396" y="539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35719"/>
                </a:moveTo>
                <a:cubicBezTo>
                  <a:pt x="0" y="29133"/>
                  <a:pt x="5321" y="23812"/>
                  <a:pt x="11906" y="23812"/>
                </a:cubicBezTo>
                <a:lnTo>
                  <a:pt x="154781" y="23812"/>
                </a:lnTo>
                <a:cubicBezTo>
                  <a:pt x="161367" y="23812"/>
                  <a:pt x="166688" y="29133"/>
                  <a:pt x="166688" y="35719"/>
                </a:cubicBezTo>
                <a:cubicBezTo>
                  <a:pt x="166688" y="42304"/>
                  <a:pt x="161367" y="47625"/>
                  <a:pt x="154781" y="47625"/>
                </a:cubicBezTo>
                <a:lnTo>
                  <a:pt x="11906" y="47625"/>
                </a:lnTo>
                <a:cubicBezTo>
                  <a:pt x="5321" y="47625"/>
                  <a:pt x="0" y="42304"/>
                  <a:pt x="0" y="35719"/>
                </a:cubicBezTo>
                <a:close/>
                <a:moveTo>
                  <a:pt x="23812" y="95250"/>
                </a:moveTo>
                <a:cubicBezTo>
                  <a:pt x="23812" y="88664"/>
                  <a:pt x="29133" y="83344"/>
                  <a:pt x="35719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35719" y="107156"/>
                </a:lnTo>
                <a:cubicBezTo>
                  <a:pt x="29133" y="107156"/>
                  <a:pt x="23812" y="101836"/>
                  <a:pt x="23812" y="95250"/>
                </a:cubicBezTo>
                <a:close/>
                <a:moveTo>
                  <a:pt x="166688" y="154781"/>
                </a:moveTo>
                <a:cubicBezTo>
                  <a:pt x="166688" y="161367"/>
                  <a:pt x="161367" y="166688"/>
                  <a:pt x="154781" y="166688"/>
                </a:cubicBezTo>
                <a:lnTo>
                  <a:pt x="11906" y="166688"/>
                </a:lnTo>
                <a:cubicBezTo>
                  <a:pt x="5321" y="166688"/>
                  <a:pt x="0" y="161367"/>
                  <a:pt x="0" y="154781"/>
                </a:cubicBezTo>
                <a:cubicBezTo>
                  <a:pt x="0" y="148196"/>
                  <a:pt x="5321" y="142875"/>
                  <a:pt x="11906" y="142875"/>
                </a:cubicBezTo>
                <a:lnTo>
                  <a:pt x="154781" y="142875"/>
                </a:lnTo>
                <a:cubicBezTo>
                  <a:pt x="161367" y="142875"/>
                  <a:pt x="166688" y="148196"/>
                  <a:pt x="166688" y="154781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973667" y="423333"/>
            <a:ext cx="44873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DataStream API核心组件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73667" y="931333"/>
            <a:ext cx="14954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系统讲解Source、Transformation、Sink三大核心组件的使用方法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3333" y="1397000"/>
            <a:ext cx="5027083" cy="4085167"/>
          </a:xfrm>
          <a:custGeom>
            <a:avLst/>
            <a:gdLst/>
            <a:ahLst/>
            <a:cxnLst/>
            <a:rect l="l" t="t" r="r" b="b"/>
            <a:pathLst>
              <a:path w="5027083" h="4085167">
                <a:moveTo>
                  <a:pt x="127008" y="0"/>
                </a:moveTo>
                <a:lnTo>
                  <a:pt x="4900076" y="0"/>
                </a:lnTo>
                <a:cubicBezTo>
                  <a:pt x="4970220" y="0"/>
                  <a:pt x="5027083" y="56863"/>
                  <a:pt x="5027083" y="127008"/>
                </a:cubicBezTo>
                <a:lnTo>
                  <a:pt x="5027083" y="3958159"/>
                </a:lnTo>
                <a:cubicBezTo>
                  <a:pt x="5027083" y="4028303"/>
                  <a:pt x="4970220" y="4085167"/>
                  <a:pt x="4900076" y="4085167"/>
                </a:cubicBezTo>
                <a:lnTo>
                  <a:pt x="127008" y="4085167"/>
                </a:lnTo>
                <a:cubicBezTo>
                  <a:pt x="56863" y="4085167"/>
                  <a:pt x="0" y="4028303"/>
                  <a:pt x="0" y="3958159"/>
                </a:cubicBezTo>
                <a:lnTo>
                  <a:pt x="0" y="127008"/>
                </a:lnTo>
                <a:cubicBezTo>
                  <a:pt x="0" y="56910"/>
                  <a:pt x="56910" y="0"/>
                  <a:pt x="127008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92667" y="1566333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84667" y="0"/>
                </a:moveTo>
                <a:lnTo>
                  <a:pt x="338667" y="0"/>
                </a:lnTo>
                <a:cubicBezTo>
                  <a:pt x="385427" y="0"/>
                  <a:pt x="423333" y="37907"/>
                  <a:pt x="423333" y="84667"/>
                </a:cubicBezTo>
                <a:lnTo>
                  <a:pt x="423333" y="338667"/>
                </a:lnTo>
                <a:cubicBezTo>
                  <a:pt x="423333" y="385427"/>
                  <a:pt x="385427" y="423333"/>
                  <a:pt x="338667" y="423333"/>
                </a:cubicBezTo>
                <a:lnTo>
                  <a:pt x="84667" y="423333"/>
                </a:lnTo>
                <a:cubicBezTo>
                  <a:pt x="37907" y="423333"/>
                  <a:pt x="0" y="385427"/>
                  <a:pt x="0" y="338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11729" y="1682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28364" y="101575"/>
                </a:moveTo>
                <a:cubicBezTo>
                  <a:pt x="131862" y="98078"/>
                  <a:pt x="131862" y="92422"/>
                  <a:pt x="128364" y="88962"/>
                </a:cubicBezTo>
                <a:lnTo>
                  <a:pt x="74786" y="35347"/>
                </a:lnTo>
                <a:cubicBezTo>
                  <a:pt x="72219" y="32779"/>
                  <a:pt x="68387" y="32035"/>
                  <a:pt x="65038" y="33412"/>
                </a:cubicBezTo>
                <a:cubicBezTo>
                  <a:pt x="61689" y="34789"/>
                  <a:pt x="59531" y="38063"/>
                  <a:pt x="59531" y="41672"/>
                </a:cubicBezTo>
                <a:lnTo>
                  <a:pt x="59531" y="71438"/>
                </a:lnTo>
                <a:lnTo>
                  <a:pt x="17859" y="71438"/>
                </a:lnTo>
                <a:cubicBezTo>
                  <a:pt x="8000" y="71438"/>
                  <a:pt x="0" y="79437"/>
                  <a:pt x="0" y="89297"/>
                </a:cubicBezTo>
                <a:lnTo>
                  <a:pt x="0" y="101203"/>
                </a:lnTo>
                <a:cubicBezTo>
                  <a:pt x="0" y="111063"/>
                  <a:pt x="8000" y="119063"/>
                  <a:pt x="17859" y="119063"/>
                </a:cubicBezTo>
                <a:lnTo>
                  <a:pt x="59531" y="119063"/>
                </a:lnTo>
                <a:lnTo>
                  <a:pt x="59531" y="148828"/>
                </a:lnTo>
                <a:cubicBezTo>
                  <a:pt x="59531" y="152437"/>
                  <a:pt x="61689" y="155711"/>
                  <a:pt x="65038" y="157088"/>
                </a:cubicBezTo>
                <a:cubicBezTo>
                  <a:pt x="68387" y="158465"/>
                  <a:pt x="72219" y="157721"/>
                  <a:pt x="74786" y="155153"/>
                </a:cubicBezTo>
                <a:lnTo>
                  <a:pt x="128364" y="101575"/>
                </a:lnTo>
                <a:close/>
                <a:moveTo>
                  <a:pt x="130969" y="154781"/>
                </a:moveTo>
                <a:cubicBezTo>
                  <a:pt x="124383" y="154781"/>
                  <a:pt x="119063" y="160102"/>
                  <a:pt x="119063" y="166688"/>
                </a:cubicBezTo>
                <a:cubicBezTo>
                  <a:pt x="119063" y="173273"/>
                  <a:pt x="124383" y="178594"/>
                  <a:pt x="130969" y="178594"/>
                </a:cubicBezTo>
                <a:lnTo>
                  <a:pt x="154781" y="178594"/>
                </a:lnTo>
                <a:cubicBezTo>
                  <a:pt x="174501" y="178594"/>
                  <a:pt x="190500" y="162595"/>
                  <a:pt x="190500" y="142875"/>
                </a:cubicBezTo>
                <a:lnTo>
                  <a:pt x="190500" y="47625"/>
                </a:lnTo>
                <a:cubicBezTo>
                  <a:pt x="190500" y="27905"/>
                  <a:pt x="174501" y="11906"/>
                  <a:pt x="154781" y="11906"/>
                </a:cubicBezTo>
                <a:lnTo>
                  <a:pt x="130969" y="11906"/>
                </a:lnTo>
                <a:cubicBezTo>
                  <a:pt x="124383" y="11906"/>
                  <a:pt x="119063" y="17227"/>
                  <a:pt x="119063" y="23812"/>
                </a:cubicBezTo>
                <a:cubicBezTo>
                  <a:pt x="119063" y="30398"/>
                  <a:pt x="124383" y="35719"/>
                  <a:pt x="130969" y="35719"/>
                </a:cubicBez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lnTo>
                  <a:pt x="166688" y="142875"/>
                </a:lnTo>
                <a:cubicBezTo>
                  <a:pt x="166688" y="149461"/>
                  <a:pt x="161367" y="154781"/>
                  <a:pt x="154781" y="154781"/>
                </a:cubicBezTo>
                <a:lnTo>
                  <a:pt x="130969" y="154781"/>
                </a:ln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143000" y="1629833"/>
            <a:ext cx="7831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Source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2667" y="2116667"/>
            <a:ext cx="4688417" cy="1206500"/>
          </a:xfrm>
          <a:custGeom>
            <a:avLst/>
            <a:gdLst/>
            <a:ahLst/>
            <a:cxnLst/>
            <a:rect l="l" t="t" r="r" b="b"/>
            <a:pathLst>
              <a:path w="4688417" h="1206500">
                <a:moveTo>
                  <a:pt x="84672" y="0"/>
                </a:moveTo>
                <a:lnTo>
                  <a:pt x="4603744" y="0"/>
                </a:lnTo>
                <a:cubicBezTo>
                  <a:pt x="4650508" y="0"/>
                  <a:pt x="4688417" y="37909"/>
                  <a:pt x="4688417" y="84672"/>
                </a:cubicBezTo>
                <a:lnTo>
                  <a:pt x="4688417" y="1121828"/>
                </a:lnTo>
                <a:cubicBezTo>
                  <a:pt x="4688417" y="1168591"/>
                  <a:pt x="4650508" y="1206500"/>
                  <a:pt x="4603744" y="1206500"/>
                </a:cubicBezTo>
                <a:lnTo>
                  <a:pt x="84672" y="1206500"/>
                </a:lnTo>
                <a:cubicBezTo>
                  <a:pt x="37909" y="1206500"/>
                  <a:pt x="0" y="1168591"/>
                  <a:pt x="0" y="1121828"/>
                </a:cubicBezTo>
                <a:lnTo>
                  <a:pt x="0" y="84672"/>
                </a:lnTo>
                <a:cubicBezTo>
                  <a:pt x="0" y="37940"/>
                  <a:pt x="37940" y="0"/>
                  <a:pt x="8467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77333" y="2201333"/>
            <a:ext cx="4603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内置Source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7333" y="2497667"/>
            <a:ext cx="4593167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fromElements()</a:t>
            </a: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· 集合数据源，适合单元测试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7333" y="2756958"/>
            <a:ext cx="4593167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readTextFile()</a:t>
            </a: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· 文件数据源，支持HDFS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7333" y="3016250"/>
            <a:ext cx="4593167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socketTextStream()</a:t>
            </a: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· Socket数据源，快速验证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2667" y="3402542"/>
            <a:ext cx="4688417" cy="1820333"/>
          </a:xfrm>
          <a:custGeom>
            <a:avLst/>
            <a:gdLst/>
            <a:ahLst/>
            <a:cxnLst/>
            <a:rect l="l" t="t" r="r" b="b"/>
            <a:pathLst>
              <a:path w="4688417" h="1820333">
                <a:moveTo>
                  <a:pt x="84664" y="0"/>
                </a:moveTo>
                <a:lnTo>
                  <a:pt x="4603753" y="0"/>
                </a:lnTo>
                <a:cubicBezTo>
                  <a:pt x="4650511" y="0"/>
                  <a:pt x="4688417" y="37905"/>
                  <a:pt x="4688417" y="84664"/>
                </a:cubicBezTo>
                <a:lnTo>
                  <a:pt x="4688417" y="1735670"/>
                </a:lnTo>
                <a:cubicBezTo>
                  <a:pt x="4688417" y="1782428"/>
                  <a:pt x="4650511" y="1820333"/>
                  <a:pt x="4603753" y="1820333"/>
                </a:cubicBezTo>
                <a:lnTo>
                  <a:pt x="84664" y="1820333"/>
                </a:lnTo>
                <a:cubicBezTo>
                  <a:pt x="37905" y="1820333"/>
                  <a:pt x="0" y="1782428"/>
                  <a:pt x="0" y="1735670"/>
                </a:cubicBezTo>
                <a:lnTo>
                  <a:pt x="0" y="84664"/>
                </a:lnTo>
                <a:cubicBezTo>
                  <a:pt x="0" y="37905"/>
                  <a:pt x="37905" y="0"/>
                  <a:pt x="8466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77333" y="3487208"/>
            <a:ext cx="4603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Kafka Source (生产级)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7333" y="3794125"/>
            <a:ext cx="4268887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KafkaSource source = KafkaSource .builder() .setBootstrapServers("localhost:9092") .setTopics("input-topic") .setGroupId("test") .setStartingOffsets(OffsetsInitializer.latest()) .setValueOnlyDeserializer(new SimpleStringSchema()) .build();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16195" y="1397000"/>
            <a:ext cx="5027083" cy="4085167"/>
          </a:xfrm>
          <a:custGeom>
            <a:avLst/>
            <a:gdLst/>
            <a:ahLst/>
            <a:cxnLst/>
            <a:rect l="l" t="t" r="r" b="b"/>
            <a:pathLst>
              <a:path w="5027083" h="4085167">
                <a:moveTo>
                  <a:pt x="127008" y="0"/>
                </a:moveTo>
                <a:lnTo>
                  <a:pt x="4900076" y="0"/>
                </a:lnTo>
                <a:cubicBezTo>
                  <a:pt x="4970220" y="0"/>
                  <a:pt x="5027083" y="56863"/>
                  <a:pt x="5027083" y="127008"/>
                </a:cubicBezTo>
                <a:lnTo>
                  <a:pt x="5027083" y="3958159"/>
                </a:lnTo>
                <a:cubicBezTo>
                  <a:pt x="5027083" y="4028303"/>
                  <a:pt x="4970220" y="4085167"/>
                  <a:pt x="4900076" y="4085167"/>
                </a:cubicBezTo>
                <a:lnTo>
                  <a:pt x="127008" y="4085167"/>
                </a:lnTo>
                <a:cubicBezTo>
                  <a:pt x="56863" y="4085167"/>
                  <a:pt x="0" y="4028303"/>
                  <a:pt x="0" y="3958159"/>
                </a:cubicBezTo>
                <a:lnTo>
                  <a:pt x="0" y="127008"/>
                </a:lnTo>
                <a:cubicBezTo>
                  <a:pt x="0" y="56910"/>
                  <a:pt x="56910" y="0"/>
                  <a:pt x="127008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5785528" y="1566333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84667" y="0"/>
                </a:moveTo>
                <a:lnTo>
                  <a:pt x="338667" y="0"/>
                </a:lnTo>
                <a:cubicBezTo>
                  <a:pt x="385427" y="0"/>
                  <a:pt x="423333" y="37907"/>
                  <a:pt x="423333" y="84667"/>
                </a:cubicBezTo>
                <a:lnTo>
                  <a:pt x="423333" y="338667"/>
                </a:lnTo>
                <a:cubicBezTo>
                  <a:pt x="423333" y="385427"/>
                  <a:pt x="385427" y="423333"/>
                  <a:pt x="338667" y="423333"/>
                </a:cubicBezTo>
                <a:lnTo>
                  <a:pt x="84667" y="423333"/>
                </a:lnTo>
                <a:cubicBezTo>
                  <a:pt x="37907" y="423333"/>
                  <a:pt x="0" y="385427"/>
                  <a:pt x="0" y="338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5904590" y="1682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56034"/>
                </a:moveTo>
                <a:lnTo>
                  <a:pt x="151284" y="91753"/>
                </a:lnTo>
                <a:cubicBezTo>
                  <a:pt x="147861" y="95176"/>
                  <a:pt x="142763" y="96180"/>
                  <a:pt x="138299" y="94320"/>
                </a:cubicBezTo>
                <a:cubicBezTo>
                  <a:pt x="133834" y="92459"/>
                  <a:pt x="130969" y="88143"/>
                  <a:pt x="130969" y="83344"/>
                </a:cubicBezTo>
                <a:lnTo>
                  <a:pt x="130969" y="59531"/>
                </a:ln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130969" y="35719"/>
                </a:lnTo>
                <a:lnTo>
                  <a:pt x="130969" y="11906"/>
                </a:lnTo>
                <a:cubicBezTo>
                  <a:pt x="130969" y="7107"/>
                  <a:pt x="133871" y="2753"/>
                  <a:pt x="138336" y="893"/>
                </a:cubicBezTo>
                <a:cubicBezTo>
                  <a:pt x="142801" y="-967"/>
                  <a:pt x="147898" y="74"/>
                  <a:pt x="151321" y="3460"/>
                </a:cubicBezTo>
                <a:lnTo>
                  <a:pt x="187040" y="39179"/>
                </a:lnTo>
                <a:cubicBezTo>
                  <a:pt x="191691" y="43830"/>
                  <a:pt x="191691" y="51383"/>
                  <a:pt x="187040" y="56034"/>
                </a:cubicBezTo>
                <a:close/>
                <a:moveTo>
                  <a:pt x="39179" y="187003"/>
                </a:moveTo>
                <a:lnTo>
                  <a:pt x="3460" y="151284"/>
                </a:lnTo>
                <a:cubicBezTo>
                  <a:pt x="-1191" y="146633"/>
                  <a:pt x="-1191" y="139080"/>
                  <a:pt x="3460" y="134429"/>
                </a:cubicBezTo>
                <a:lnTo>
                  <a:pt x="39179" y="98710"/>
                </a:lnTo>
                <a:cubicBezTo>
                  <a:pt x="42602" y="95287"/>
                  <a:pt x="47699" y="94283"/>
                  <a:pt x="52164" y="96143"/>
                </a:cubicBezTo>
                <a:cubicBezTo>
                  <a:pt x="56629" y="98003"/>
                  <a:pt x="59531" y="102357"/>
                  <a:pt x="59531" y="107156"/>
                </a:cubicBezTo>
                <a:lnTo>
                  <a:pt x="59531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cubicBezTo>
                  <a:pt x="190500" y="149461"/>
                  <a:pt x="185179" y="154781"/>
                  <a:pt x="178594" y="154781"/>
                </a:cubicBezTo>
                <a:lnTo>
                  <a:pt x="59531" y="154781"/>
                </a:lnTo>
                <a:lnTo>
                  <a:pt x="59531" y="178594"/>
                </a:lnTo>
                <a:cubicBezTo>
                  <a:pt x="59531" y="183393"/>
                  <a:pt x="56629" y="187747"/>
                  <a:pt x="52164" y="189607"/>
                </a:cubicBezTo>
                <a:cubicBezTo>
                  <a:pt x="47699" y="191467"/>
                  <a:pt x="42602" y="190426"/>
                  <a:pt x="39179" y="18704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335861" y="1629833"/>
            <a:ext cx="15875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Transformation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85528" y="2116667"/>
            <a:ext cx="4688417" cy="1460500"/>
          </a:xfrm>
          <a:custGeom>
            <a:avLst/>
            <a:gdLst/>
            <a:ahLst/>
            <a:cxnLst/>
            <a:rect l="l" t="t" r="r" b="b"/>
            <a:pathLst>
              <a:path w="4688417" h="1460500">
                <a:moveTo>
                  <a:pt x="84665" y="0"/>
                </a:moveTo>
                <a:lnTo>
                  <a:pt x="4603751" y="0"/>
                </a:lnTo>
                <a:cubicBezTo>
                  <a:pt x="4650511" y="0"/>
                  <a:pt x="4688417" y="37906"/>
                  <a:pt x="4688417" y="84665"/>
                </a:cubicBezTo>
                <a:lnTo>
                  <a:pt x="4688417" y="1375835"/>
                </a:lnTo>
                <a:cubicBezTo>
                  <a:pt x="4688417" y="1422594"/>
                  <a:pt x="4650511" y="1460500"/>
                  <a:pt x="4603751" y="1460500"/>
                </a:cubicBezTo>
                <a:lnTo>
                  <a:pt x="84665" y="1460500"/>
                </a:lnTo>
                <a:cubicBezTo>
                  <a:pt x="37906" y="1460500"/>
                  <a:pt x="0" y="1422594"/>
                  <a:pt x="0" y="1375835"/>
                </a:cubicBezTo>
                <a:lnTo>
                  <a:pt x="0" y="84665"/>
                </a:lnTo>
                <a:cubicBezTo>
                  <a:pt x="0" y="37937"/>
                  <a:pt x="37937" y="0"/>
                  <a:pt x="8466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5870195" y="2201333"/>
            <a:ext cx="4603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基本转换算子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870195" y="2497667"/>
            <a:ext cx="4593167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map()</a:t>
            </a: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· 一对一转换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870195" y="2756958"/>
            <a:ext cx="4593167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flatMap()</a:t>
            </a: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· 一对多转换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870195" y="3016250"/>
            <a:ext cx="4593167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filter()</a:t>
            </a: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· 条件过滤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870195" y="3275542"/>
            <a:ext cx="4593167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keyBy()</a:t>
            </a: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· 逻辑分区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85528" y="3661833"/>
            <a:ext cx="4688417" cy="1206500"/>
          </a:xfrm>
          <a:custGeom>
            <a:avLst/>
            <a:gdLst/>
            <a:ahLst/>
            <a:cxnLst/>
            <a:rect l="l" t="t" r="r" b="b"/>
            <a:pathLst>
              <a:path w="4688417" h="1206500">
                <a:moveTo>
                  <a:pt x="84672" y="0"/>
                </a:moveTo>
                <a:lnTo>
                  <a:pt x="4603744" y="0"/>
                </a:lnTo>
                <a:cubicBezTo>
                  <a:pt x="4650508" y="0"/>
                  <a:pt x="4688417" y="37909"/>
                  <a:pt x="4688417" y="84672"/>
                </a:cubicBezTo>
                <a:lnTo>
                  <a:pt x="4688417" y="1121828"/>
                </a:lnTo>
                <a:cubicBezTo>
                  <a:pt x="4688417" y="1168591"/>
                  <a:pt x="4650508" y="1206500"/>
                  <a:pt x="4603744" y="1206500"/>
                </a:cubicBezTo>
                <a:lnTo>
                  <a:pt x="84672" y="1206500"/>
                </a:lnTo>
                <a:cubicBezTo>
                  <a:pt x="37909" y="1206500"/>
                  <a:pt x="0" y="1168591"/>
                  <a:pt x="0" y="1121828"/>
                </a:cubicBezTo>
                <a:lnTo>
                  <a:pt x="0" y="84672"/>
                </a:lnTo>
                <a:cubicBezTo>
                  <a:pt x="0" y="37940"/>
                  <a:pt x="37940" y="0"/>
                  <a:pt x="8467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5870195" y="3746500"/>
            <a:ext cx="4603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聚合算子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870195" y="4042833"/>
            <a:ext cx="4593167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reduce()</a:t>
            </a: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· 滚动聚合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870195" y="4302125"/>
            <a:ext cx="4593167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aggregate()</a:t>
            </a: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· 增量聚合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870195" y="4561417"/>
            <a:ext cx="4593167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window()</a:t>
            </a: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· 窗口计算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809056" y="1397000"/>
            <a:ext cx="5027083" cy="4085167"/>
          </a:xfrm>
          <a:custGeom>
            <a:avLst/>
            <a:gdLst/>
            <a:ahLst/>
            <a:cxnLst/>
            <a:rect l="l" t="t" r="r" b="b"/>
            <a:pathLst>
              <a:path w="5027083" h="4085167">
                <a:moveTo>
                  <a:pt x="127008" y="0"/>
                </a:moveTo>
                <a:lnTo>
                  <a:pt x="4900076" y="0"/>
                </a:lnTo>
                <a:cubicBezTo>
                  <a:pt x="4970220" y="0"/>
                  <a:pt x="5027083" y="56863"/>
                  <a:pt x="5027083" y="127008"/>
                </a:cubicBezTo>
                <a:lnTo>
                  <a:pt x="5027083" y="3958159"/>
                </a:lnTo>
                <a:cubicBezTo>
                  <a:pt x="5027083" y="4028303"/>
                  <a:pt x="4970220" y="4085167"/>
                  <a:pt x="4900076" y="4085167"/>
                </a:cubicBezTo>
                <a:lnTo>
                  <a:pt x="127008" y="4085167"/>
                </a:lnTo>
                <a:cubicBezTo>
                  <a:pt x="56863" y="4085167"/>
                  <a:pt x="0" y="4028303"/>
                  <a:pt x="0" y="3958159"/>
                </a:cubicBezTo>
                <a:lnTo>
                  <a:pt x="0" y="127008"/>
                </a:lnTo>
                <a:cubicBezTo>
                  <a:pt x="0" y="56910"/>
                  <a:pt x="56910" y="0"/>
                  <a:pt x="127008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10978389" y="1566333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84667" y="0"/>
                </a:moveTo>
                <a:lnTo>
                  <a:pt x="338667" y="0"/>
                </a:lnTo>
                <a:cubicBezTo>
                  <a:pt x="385427" y="0"/>
                  <a:pt x="423333" y="37907"/>
                  <a:pt x="423333" y="84667"/>
                </a:cubicBezTo>
                <a:lnTo>
                  <a:pt x="423333" y="338667"/>
                </a:lnTo>
                <a:cubicBezTo>
                  <a:pt x="423333" y="385427"/>
                  <a:pt x="385427" y="423333"/>
                  <a:pt x="338667" y="423333"/>
                </a:cubicBezTo>
                <a:lnTo>
                  <a:pt x="84667" y="423333"/>
                </a:lnTo>
                <a:cubicBezTo>
                  <a:pt x="37907" y="423333"/>
                  <a:pt x="0" y="385427"/>
                  <a:pt x="0" y="338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11097452" y="1682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896" y="101575"/>
                </a:moveTo>
                <a:cubicBezTo>
                  <a:pt x="191393" y="98078"/>
                  <a:pt x="191393" y="92422"/>
                  <a:pt x="187896" y="88962"/>
                </a:cubicBezTo>
                <a:lnTo>
                  <a:pt x="134317" y="35347"/>
                </a:lnTo>
                <a:cubicBezTo>
                  <a:pt x="131750" y="32779"/>
                  <a:pt x="127918" y="32035"/>
                  <a:pt x="124569" y="33412"/>
                </a:cubicBezTo>
                <a:cubicBezTo>
                  <a:pt x="121221" y="34789"/>
                  <a:pt x="119063" y="38063"/>
                  <a:pt x="119063" y="41672"/>
                </a:cubicBezTo>
                <a:lnTo>
                  <a:pt x="119063" y="71438"/>
                </a:lnTo>
                <a:lnTo>
                  <a:pt x="77391" y="71438"/>
                </a:lnTo>
                <a:cubicBezTo>
                  <a:pt x="67531" y="71438"/>
                  <a:pt x="59531" y="79437"/>
                  <a:pt x="59531" y="89297"/>
                </a:cubicBezTo>
                <a:lnTo>
                  <a:pt x="59531" y="101203"/>
                </a:lnTo>
                <a:cubicBezTo>
                  <a:pt x="59531" y="111063"/>
                  <a:pt x="67531" y="119063"/>
                  <a:pt x="77391" y="119063"/>
                </a:cubicBezTo>
                <a:lnTo>
                  <a:pt x="119063" y="119063"/>
                </a:lnTo>
                <a:lnTo>
                  <a:pt x="119063" y="148828"/>
                </a:lnTo>
                <a:cubicBezTo>
                  <a:pt x="119063" y="152437"/>
                  <a:pt x="121221" y="155711"/>
                  <a:pt x="124569" y="157088"/>
                </a:cubicBezTo>
                <a:cubicBezTo>
                  <a:pt x="127918" y="158465"/>
                  <a:pt x="131750" y="157721"/>
                  <a:pt x="134317" y="155153"/>
                </a:cubicBezTo>
                <a:lnTo>
                  <a:pt x="187896" y="101575"/>
                </a:lnTo>
                <a:close/>
                <a:moveTo>
                  <a:pt x="59531" y="35719"/>
                </a:moveTo>
                <a:cubicBezTo>
                  <a:pt x="66117" y="35719"/>
                  <a:pt x="71438" y="30398"/>
                  <a:pt x="71438" y="23812"/>
                </a:cubicBezTo>
                <a:cubicBezTo>
                  <a:pt x="71438" y="17227"/>
                  <a:pt x="66117" y="11906"/>
                  <a:pt x="59531" y="11906"/>
                </a:cubicBezTo>
                <a:lnTo>
                  <a:pt x="35719" y="11906"/>
                </a:lnTo>
                <a:cubicBezTo>
                  <a:pt x="15999" y="11906"/>
                  <a:pt x="0" y="27905"/>
                  <a:pt x="0" y="47625"/>
                </a:cubicBezTo>
                <a:lnTo>
                  <a:pt x="0" y="142875"/>
                </a:lnTo>
                <a:cubicBezTo>
                  <a:pt x="0" y="162595"/>
                  <a:pt x="15999" y="178594"/>
                  <a:pt x="35719" y="178594"/>
                </a:cubicBezTo>
                <a:lnTo>
                  <a:pt x="59531" y="178594"/>
                </a:lnTo>
                <a:cubicBezTo>
                  <a:pt x="66117" y="178594"/>
                  <a:pt x="71438" y="173273"/>
                  <a:pt x="71438" y="166688"/>
                </a:cubicBezTo>
                <a:cubicBezTo>
                  <a:pt x="71438" y="160102"/>
                  <a:pt x="66117" y="154781"/>
                  <a:pt x="59531" y="154781"/>
                </a:cubicBezTo>
                <a:lnTo>
                  <a:pt x="35719" y="154781"/>
                </a:lnTo>
                <a:cubicBezTo>
                  <a:pt x="29133" y="154781"/>
                  <a:pt x="23812" y="149461"/>
                  <a:pt x="23812" y="142875"/>
                </a:cubicBezTo>
                <a:lnTo>
                  <a:pt x="23812" y="47625"/>
                </a:lnTo>
                <a:cubicBezTo>
                  <a:pt x="23812" y="41039"/>
                  <a:pt x="29133" y="35719"/>
                  <a:pt x="35719" y="35719"/>
                </a:cubicBezTo>
                <a:lnTo>
                  <a:pt x="59531" y="35719"/>
                </a:ln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11528723" y="1629833"/>
            <a:ext cx="5080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Sink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0978389" y="2116667"/>
            <a:ext cx="4688417" cy="772583"/>
          </a:xfrm>
          <a:custGeom>
            <a:avLst/>
            <a:gdLst/>
            <a:ahLst/>
            <a:cxnLst/>
            <a:rect l="l" t="t" r="r" b="b"/>
            <a:pathLst>
              <a:path w="4688417" h="772583">
                <a:moveTo>
                  <a:pt x="84667" y="0"/>
                </a:moveTo>
                <a:lnTo>
                  <a:pt x="4603749" y="0"/>
                </a:lnTo>
                <a:cubicBezTo>
                  <a:pt x="4650510" y="0"/>
                  <a:pt x="4688417" y="37907"/>
                  <a:pt x="4688417" y="84667"/>
                </a:cubicBezTo>
                <a:lnTo>
                  <a:pt x="4688417" y="687916"/>
                </a:lnTo>
                <a:cubicBezTo>
                  <a:pt x="4688417" y="734676"/>
                  <a:pt x="4650510" y="772583"/>
                  <a:pt x="4603749" y="772583"/>
                </a:cubicBezTo>
                <a:lnTo>
                  <a:pt x="84667" y="772583"/>
                </a:lnTo>
                <a:cubicBezTo>
                  <a:pt x="37938" y="772583"/>
                  <a:pt x="0" y="734645"/>
                  <a:pt x="0" y="687916"/>
                </a:cubicBezTo>
                <a:lnTo>
                  <a:pt x="0" y="84667"/>
                </a:lnTo>
                <a:cubicBezTo>
                  <a:pt x="0" y="37938"/>
                  <a:pt x="37938" y="0"/>
                  <a:pt x="8466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11063056" y="2201333"/>
            <a:ext cx="4603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控制台输出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063056" y="2497667"/>
            <a:ext cx="4593167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stream.print()</a:t>
            </a: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· 调试利器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0978389" y="2968625"/>
            <a:ext cx="4688417" cy="730250"/>
          </a:xfrm>
          <a:custGeom>
            <a:avLst/>
            <a:gdLst/>
            <a:ahLst/>
            <a:cxnLst/>
            <a:rect l="l" t="t" r="r" b="b"/>
            <a:pathLst>
              <a:path w="4688417" h="730250">
                <a:moveTo>
                  <a:pt x="84665" y="0"/>
                </a:moveTo>
                <a:lnTo>
                  <a:pt x="4603751" y="0"/>
                </a:lnTo>
                <a:cubicBezTo>
                  <a:pt x="4650511" y="0"/>
                  <a:pt x="4688417" y="37906"/>
                  <a:pt x="4688417" y="84665"/>
                </a:cubicBezTo>
                <a:lnTo>
                  <a:pt x="4688417" y="645585"/>
                </a:lnTo>
                <a:cubicBezTo>
                  <a:pt x="4688417" y="692344"/>
                  <a:pt x="4650511" y="730250"/>
                  <a:pt x="4603751" y="730250"/>
                </a:cubicBezTo>
                <a:lnTo>
                  <a:pt x="84665" y="730250"/>
                </a:lnTo>
                <a:cubicBezTo>
                  <a:pt x="37906" y="730250"/>
                  <a:pt x="0" y="692344"/>
                  <a:pt x="0" y="645585"/>
                </a:cubicBezTo>
                <a:lnTo>
                  <a:pt x="0" y="84665"/>
                </a:lnTo>
                <a:cubicBezTo>
                  <a:pt x="0" y="37937"/>
                  <a:pt x="37937" y="0"/>
                  <a:pt x="8466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11063056" y="3053292"/>
            <a:ext cx="4603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文件输出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063056" y="3349625"/>
            <a:ext cx="4593167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FileSink</a:t>
            </a: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· 支持滚动策略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0978389" y="3778250"/>
            <a:ext cx="4688417" cy="730250"/>
          </a:xfrm>
          <a:custGeom>
            <a:avLst/>
            <a:gdLst/>
            <a:ahLst/>
            <a:cxnLst/>
            <a:rect l="l" t="t" r="r" b="b"/>
            <a:pathLst>
              <a:path w="4688417" h="730250">
                <a:moveTo>
                  <a:pt x="84665" y="0"/>
                </a:moveTo>
                <a:lnTo>
                  <a:pt x="4603751" y="0"/>
                </a:lnTo>
                <a:cubicBezTo>
                  <a:pt x="4650511" y="0"/>
                  <a:pt x="4688417" y="37906"/>
                  <a:pt x="4688417" y="84665"/>
                </a:cubicBezTo>
                <a:lnTo>
                  <a:pt x="4688417" y="645585"/>
                </a:lnTo>
                <a:cubicBezTo>
                  <a:pt x="4688417" y="692344"/>
                  <a:pt x="4650511" y="730250"/>
                  <a:pt x="4603751" y="730250"/>
                </a:cubicBezTo>
                <a:lnTo>
                  <a:pt x="84665" y="730250"/>
                </a:lnTo>
                <a:cubicBezTo>
                  <a:pt x="37906" y="730250"/>
                  <a:pt x="0" y="692344"/>
                  <a:pt x="0" y="645585"/>
                </a:cubicBezTo>
                <a:lnTo>
                  <a:pt x="0" y="84665"/>
                </a:lnTo>
                <a:cubicBezTo>
                  <a:pt x="0" y="37937"/>
                  <a:pt x="37937" y="0"/>
                  <a:pt x="8466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11063056" y="3862917"/>
            <a:ext cx="4603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Kafka输出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063056" y="4159250"/>
            <a:ext cx="4593167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KafkaSink</a:t>
            </a: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· 支持Exactly-Once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0978389" y="4587875"/>
            <a:ext cx="4688417" cy="730250"/>
          </a:xfrm>
          <a:custGeom>
            <a:avLst/>
            <a:gdLst/>
            <a:ahLst/>
            <a:cxnLst/>
            <a:rect l="l" t="t" r="r" b="b"/>
            <a:pathLst>
              <a:path w="4688417" h="730250">
                <a:moveTo>
                  <a:pt x="84665" y="0"/>
                </a:moveTo>
                <a:lnTo>
                  <a:pt x="4603751" y="0"/>
                </a:lnTo>
                <a:cubicBezTo>
                  <a:pt x="4650511" y="0"/>
                  <a:pt x="4688417" y="37906"/>
                  <a:pt x="4688417" y="84665"/>
                </a:cubicBezTo>
                <a:lnTo>
                  <a:pt x="4688417" y="645585"/>
                </a:lnTo>
                <a:cubicBezTo>
                  <a:pt x="4688417" y="692344"/>
                  <a:pt x="4650511" y="730250"/>
                  <a:pt x="4603751" y="730250"/>
                </a:cubicBezTo>
                <a:lnTo>
                  <a:pt x="84665" y="730250"/>
                </a:lnTo>
                <a:cubicBezTo>
                  <a:pt x="37906" y="730250"/>
                  <a:pt x="0" y="692344"/>
                  <a:pt x="0" y="645585"/>
                </a:cubicBezTo>
                <a:lnTo>
                  <a:pt x="0" y="84665"/>
                </a:lnTo>
                <a:cubicBezTo>
                  <a:pt x="0" y="37937"/>
                  <a:pt x="37937" y="0"/>
                  <a:pt x="8466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11063056" y="4672542"/>
            <a:ext cx="4603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Elasticsearch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063056" y="4968875"/>
            <a:ext cx="4593167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ElasticsearchSink</a:t>
            </a: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· 适合数据分析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23333" y="5651500"/>
            <a:ext cx="15409333" cy="3492500"/>
          </a:xfrm>
          <a:custGeom>
            <a:avLst/>
            <a:gdLst/>
            <a:ahLst/>
            <a:cxnLst/>
            <a:rect l="l" t="t" r="r" b="b"/>
            <a:pathLst>
              <a:path w="15409333" h="7842250">
                <a:moveTo>
                  <a:pt x="126966" y="0"/>
                </a:moveTo>
                <a:lnTo>
                  <a:pt x="15282367" y="0"/>
                </a:lnTo>
                <a:cubicBezTo>
                  <a:pt x="15352489" y="0"/>
                  <a:pt x="15409333" y="56845"/>
                  <a:pt x="15409333" y="126966"/>
                </a:cubicBezTo>
                <a:lnTo>
                  <a:pt x="15409333" y="7715284"/>
                </a:lnTo>
                <a:cubicBezTo>
                  <a:pt x="15409333" y="7785405"/>
                  <a:pt x="15352489" y="7842250"/>
                  <a:pt x="15282367" y="7842250"/>
                </a:cubicBezTo>
                <a:lnTo>
                  <a:pt x="126966" y="7842250"/>
                </a:lnTo>
                <a:cubicBezTo>
                  <a:pt x="56845" y="7842250"/>
                  <a:pt x="0" y="7785405"/>
                  <a:pt x="0" y="7715284"/>
                </a:cubicBezTo>
                <a:lnTo>
                  <a:pt x="0" y="126966"/>
                </a:lnTo>
                <a:cubicBezTo>
                  <a:pt x="0" y="56892"/>
                  <a:pt x="56892" y="0"/>
                  <a:pt x="126966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605896" y="5863167"/>
            <a:ext cx="238125" cy="211667"/>
          </a:xfrm>
          <a:custGeom>
            <a:avLst/>
            <a:gdLst/>
            <a:ahLst/>
            <a:cxnLst/>
            <a:rect l="l" t="t" r="r" b="b"/>
            <a:pathLst>
              <a:path w="238125" h="211667">
                <a:moveTo>
                  <a:pt x="149159" y="496"/>
                </a:moveTo>
                <a:cubicBezTo>
                  <a:pt x="142131" y="-1530"/>
                  <a:pt x="134813" y="2563"/>
                  <a:pt x="132788" y="9591"/>
                </a:cubicBezTo>
                <a:lnTo>
                  <a:pt x="79871" y="194799"/>
                </a:lnTo>
                <a:cubicBezTo>
                  <a:pt x="77845" y="201827"/>
                  <a:pt x="81938" y="209145"/>
                  <a:pt x="88966" y="211171"/>
                </a:cubicBezTo>
                <a:cubicBezTo>
                  <a:pt x="95994" y="213196"/>
                  <a:pt x="103312" y="209104"/>
                  <a:pt x="105337" y="202076"/>
                </a:cubicBezTo>
                <a:lnTo>
                  <a:pt x="158254" y="16867"/>
                </a:lnTo>
                <a:cubicBezTo>
                  <a:pt x="160280" y="9839"/>
                  <a:pt x="156187" y="2522"/>
                  <a:pt x="149159" y="496"/>
                </a:cubicBezTo>
                <a:close/>
                <a:moveTo>
                  <a:pt x="175865" y="56761"/>
                </a:moveTo>
                <a:cubicBezTo>
                  <a:pt x="170698" y="61929"/>
                  <a:pt x="170698" y="70321"/>
                  <a:pt x="175865" y="75489"/>
                </a:cubicBezTo>
                <a:lnTo>
                  <a:pt x="206210" y="105833"/>
                </a:lnTo>
                <a:lnTo>
                  <a:pt x="175865" y="136178"/>
                </a:lnTo>
                <a:cubicBezTo>
                  <a:pt x="170698" y="141345"/>
                  <a:pt x="170698" y="149738"/>
                  <a:pt x="175865" y="154905"/>
                </a:cubicBezTo>
                <a:cubicBezTo>
                  <a:pt x="181033" y="160073"/>
                  <a:pt x="189425" y="160073"/>
                  <a:pt x="194593" y="154905"/>
                </a:cubicBezTo>
                <a:lnTo>
                  <a:pt x="234280" y="115218"/>
                </a:lnTo>
                <a:cubicBezTo>
                  <a:pt x="239448" y="110050"/>
                  <a:pt x="239448" y="101658"/>
                  <a:pt x="234280" y="96490"/>
                </a:cubicBezTo>
                <a:lnTo>
                  <a:pt x="194593" y="56803"/>
                </a:lnTo>
                <a:cubicBezTo>
                  <a:pt x="189425" y="51635"/>
                  <a:pt x="181033" y="51635"/>
                  <a:pt x="175865" y="56803"/>
                </a:cubicBezTo>
                <a:close/>
                <a:moveTo>
                  <a:pt x="62301" y="56761"/>
                </a:moveTo>
                <a:cubicBezTo>
                  <a:pt x="57133" y="51594"/>
                  <a:pt x="48741" y="51594"/>
                  <a:pt x="43574" y="56761"/>
                </a:cubicBezTo>
                <a:lnTo>
                  <a:pt x="3886" y="96449"/>
                </a:lnTo>
                <a:cubicBezTo>
                  <a:pt x="-1282" y="101617"/>
                  <a:pt x="-1282" y="110009"/>
                  <a:pt x="3886" y="115176"/>
                </a:cubicBezTo>
                <a:lnTo>
                  <a:pt x="43574" y="154864"/>
                </a:lnTo>
                <a:cubicBezTo>
                  <a:pt x="48741" y="160032"/>
                  <a:pt x="57133" y="160032"/>
                  <a:pt x="62301" y="154864"/>
                </a:cubicBezTo>
                <a:cubicBezTo>
                  <a:pt x="67469" y="149696"/>
                  <a:pt x="67469" y="141304"/>
                  <a:pt x="62301" y="136136"/>
                </a:cubicBezTo>
                <a:lnTo>
                  <a:pt x="31957" y="105833"/>
                </a:lnTo>
                <a:lnTo>
                  <a:pt x="62260" y="75489"/>
                </a:lnTo>
                <a:cubicBezTo>
                  <a:pt x="67427" y="70321"/>
                  <a:pt x="67427" y="61929"/>
                  <a:pt x="62260" y="56761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857250" y="5820833"/>
            <a:ext cx="149119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自定义聚合函数示例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92667" y="6244167"/>
            <a:ext cx="15070667" cy="2688167"/>
          </a:xfrm>
          <a:custGeom>
            <a:avLst/>
            <a:gdLst/>
            <a:ahLst/>
            <a:cxnLst/>
            <a:rect l="l" t="t" r="r" b="b"/>
            <a:pathLst>
              <a:path w="15070667" h="7080250">
                <a:moveTo>
                  <a:pt x="127020" y="0"/>
                </a:moveTo>
                <a:lnTo>
                  <a:pt x="14943647" y="0"/>
                </a:lnTo>
                <a:cubicBezTo>
                  <a:pt x="15013798" y="0"/>
                  <a:pt x="15070667" y="56869"/>
                  <a:pt x="15070667" y="127020"/>
                </a:cubicBezTo>
                <a:lnTo>
                  <a:pt x="15070667" y="6953230"/>
                </a:lnTo>
                <a:cubicBezTo>
                  <a:pt x="15070667" y="7023381"/>
                  <a:pt x="15013798" y="7080250"/>
                  <a:pt x="14943647" y="7080250"/>
                </a:cubicBezTo>
                <a:lnTo>
                  <a:pt x="127020" y="7080250"/>
                </a:lnTo>
                <a:cubicBezTo>
                  <a:pt x="56869" y="7080250"/>
                  <a:pt x="0" y="7023381"/>
                  <a:pt x="0" y="6953230"/>
                </a:cubicBezTo>
                <a:lnTo>
                  <a:pt x="0" y="127020"/>
                </a:lnTo>
                <a:cubicBezTo>
                  <a:pt x="0" y="56869"/>
                  <a:pt x="56869" y="0"/>
                  <a:pt x="12702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762000" y="6445250"/>
            <a:ext cx="14625638" cy="2398713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ctr"/>
          <a:lstStyle/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public static class 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AverageAggregate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implements 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AggregateFunction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Tuple2&lt;String, Integer&gt;,    </a:t>
            </a:r>
            <a:r>
              <a:rPr lang="en-US" altLang="zh-CN" sz="10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</a:t>
            </a:r>
            <a:r>
              <a:rPr lang="zh-CN" altLang="en-US" sz="10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输入类型</a:t>
            </a:r>
            <a:endParaRPr lang="zh-CN" altLang="en-US" sz="10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Tuple2&lt;Integer, Integer&gt;,   </a:t>
            </a:r>
            <a:r>
              <a:rPr lang="en-US" altLang="zh-CN" sz="10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</a:t>
            </a:r>
            <a:r>
              <a:rPr lang="zh-CN" altLang="en-US" sz="10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累加器类型 </a:t>
            </a:r>
            <a:r>
              <a:rPr lang="en-US" altLang="zh-CN" sz="10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(sum, count)</a:t>
            </a:r>
            <a:endParaRPr lang="en-US" altLang="zh-CN" sz="10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Double&gt; {                   </a:t>
            </a:r>
            <a:r>
              <a:rPr lang="en-US" altLang="zh-CN" sz="10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</a:t>
            </a:r>
            <a:r>
              <a:rPr lang="zh-CN" altLang="en-US" sz="10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输出类型</a:t>
            </a:r>
            <a:endParaRPr lang="zh-CN" altLang="en-US" sz="10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zh-CN" altLang="en-US" sz="1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@Override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public Tuple2&lt;Integer, Integer&gt; 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createAccumulator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 {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return new Tuple2&lt;&gt;(0, 0);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}</a:t>
            </a:r>
          </a:p>
          <a:p>
            <a:endParaRPr lang="en-US" altLang="zh-CN" sz="1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@Override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public Tuple2&lt;Integer, Integer&gt; add(Tuple2&lt;String, Integer&gt; value, Tuple2&lt;Integer, Integer&gt; accumulator) {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return new Tuple2&lt;&gt;(accumulator.f0 + value.f1, accumulator.f1 + 1);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}</a:t>
            </a:r>
          </a:p>
          <a:p>
            <a:endParaRPr lang="en-US" altLang="zh-CN" sz="1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@Override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public Double 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getResult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(Tuple2&lt;Integer, Integer&gt; accumulator) {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return accumulator.f1 == 0 ? 0.0 : (double) accumulator.f0 / accumulator.f1;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}</a:t>
            </a:r>
          </a:p>
          <a:p>
            <a:endParaRPr lang="en-US" altLang="zh-CN" sz="1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@Override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public Tuple2&lt;Integer, Integer&gt; merge(Tuple2&lt;Integer, Integer&gt; a, Tuple2&lt;Integer, Integer&gt; b) {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return new Tuple2&lt;&gt;(a.f0 + b.f0, a.f1 + b.f1);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}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5526" y="435526"/>
            <a:ext cx="435526" cy="435526"/>
          </a:xfrm>
          <a:custGeom>
            <a:avLst/>
            <a:gdLst/>
            <a:ahLst/>
            <a:cxnLst/>
            <a:rect l="l" t="t" r="r" b="b"/>
            <a:pathLst>
              <a:path w="435526" h="435526">
                <a:moveTo>
                  <a:pt x="87105" y="0"/>
                </a:moveTo>
                <a:lnTo>
                  <a:pt x="348421" y="0"/>
                </a:lnTo>
                <a:cubicBezTo>
                  <a:pt x="396495" y="0"/>
                  <a:pt x="435526" y="39031"/>
                  <a:pt x="435526" y="87105"/>
                </a:cubicBezTo>
                <a:lnTo>
                  <a:pt x="435526" y="348421"/>
                </a:lnTo>
                <a:cubicBezTo>
                  <a:pt x="435526" y="396527"/>
                  <a:pt x="396527" y="435526"/>
                  <a:pt x="348421" y="435526"/>
                </a:cubicBezTo>
                <a:lnTo>
                  <a:pt x="87105" y="435526"/>
                </a:lnTo>
                <a:cubicBezTo>
                  <a:pt x="38998" y="435526"/>
                  <a:pt x="0" y="396527"/>
                  <a:pt x="0" y="348421"/>
                </a:cubicBezTo>
                <a:lnTo>
                  <a:pt x="0" y="87105"/>
                </a:lnTo>
                <a:cubicBezTo>
                  <a:pt x="0" y="38998"/>
                  <a:pt x="38998" y="0"/>
                  <a:pt x="87105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58017" y="555295"/>
            <a:ext cx="195987" cy="195987"/>
          </a:xfrm>
          <a:custGeom>
            <a:avLst/>
            <a:gdLst/>
            <a:ahLst/>
            <a:cxnLst/>
            <a:rect l="l" t="t" r="r" b="b"/>
            <a:pathLst>
              <a:path w="195987" h="195987">
                <a:moveTo>
                  <a:pt x="0" y="30623"/>
                </a:moveTo>
                <a:cubicBezTo>
                  <a:pt x="0" y="20479"/>
                  <a:pt x="8230" y="12249"/>
                  <a:pt x="18374" y="12249"/>
                </a:cubicBezTo>
                <a:lnTo>
                  <a:pt x="55121" y="12249"/>
                </a:lnTo>
                <a:cubicBezTo>
                  <a:pt x="65265" y="12249"/>
                  <a:pt x="73495" y="20479"/>
                  <a:pt x="73495" y="30623"/>
                </a:cubicBezTo>
                <a:lnTo>
                  <a:pt x="73495" y="36747"/>
                </a:lnTo>
                <a:lnTo>
                  <a:pt x="122492" y="36747"/>
                </a:lnTo>
                <a:lnTo>
                  <a:pt x="122492" y="30623"/>
                </a:lnTo>
                <a:cubicBezTo>
                  <a:pt x="122492" y="20479"/>
                  <a:pt x="130722" y="12249"/>
                  <a:pt x="140865" y="12249"/>
                </a:cubicBezTo>
                <a:lnTo>
                  <a:pt x="177613" y="12249"/>
                </a:lnTo>
                <a:cubicBezTo>
                  <a:pt x="187757" y="12249"/>
                  <a:pt x="195987" y="20479"/>
                  <a:pt x="195987" y="30623"/>
                </a:cubicBezTo>
                <a:lnTo>
                  <a:pt x="195987" y="67370"/>
                </a:lnTo>
                <a:cubicBezTo>
                  <a:pt x="195987" y="77514"/>
                  <a:pt x="187757" y="85744"/>
                  <a:pt x="177613" y="85744"/>
                </a:cubicBezTo>
                <a:lnTo>
                  <a:pt x="140865" y="85744"/>
                </a:lnTo>
                <a:cubicBezTo>
                  <a:pt x="130722" y="85744"/>
                  <a:pt x="122492" y="77514"/>
                  <a:pt x="122492" y="67370"/>
                </a:cubicBezTo>
                <a:lnTo>
                  <a:pt x="122492" y="61246"/>
                </a:lnTo>
                <a:lnTo>
                  <a:pt x="73495" y="61246"/>
                </a:lnTo>
                <a:lnTo>
                  <a:pt x="73495" y="67370"/>
                </a:lnTo>
                <a:cubicBezTo>
                  <a:pt x="73495" y="70165"/>
                  <a:pt x="72844" y="72844"/>
                  <a:pt x="71734" y="75218"/>
                </a:cubicBezTo>
                <a:lnTo>
                  <a:pt x="97993" y="110242"/>
                </a:lnTo>
                <a:lnTo>
                  <a:pt x="128616" y="110242"/>
                </a:lnTo>
                <a:cubicBezTo>
                  <a:pt x="138760" y="110242"/>
                  <a:pt x="146990" y="118472"/>
                  <a:pt x="146990" y="128616"/>
                </a:cubicBezTo>
                <a:lnTo>
                  <a:pt x="146990" y="165364"/>
                </a:lnTo>
                <a:cubicBezTo>
                  <a:pt x="146990" y="175508"/>
                  <a:pt x="138760" y="183737"/>
                  <a:pt x="128616" y="183737"/>
                </a:cubicBezTo>
                <a:lnTo>
                  <a:pt x="91869" y="183737"/>
                </a:lnTo>
                <a:cubicBezTo>
                  <a:pt x="81725" y="183737"/>
                  <a:pt x="73495" y="175508"/>
                  <a:pt x="73495" y="165364"/>
                </a:cubicBezTo>
                <a:lnTo>
                  <a:pt x="73495" y="128616"/>
                </a:lnTo>
                <a:cubicBezTo>
                  <a:pt x="73495" y="125822"/>
                  <a:pt x="74146" y="123142"/>
                  <a:pt x="75256" y="120769"/>
                </a:cubicBezTo>
                <a:lnTo>
                  <a:pt x="48997" y="85744"/>
                </a:lnTo>
                <a:lnTo>
                  <a:pt x="18374" y="85744"/>
                </a:lnTo>
                <a:cubicBezTo>
                  <a:pt x="8230" y="85744"/>
                  <a:pt x="0" y="77514"/>
                  <a:pt x="0" y="67370"/>
                </a:cubicBezTo>
                <a:lnTo>
                  <a:pt x="0" y="30623"/>
                </a:ln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001709" y="435526"/>
            <a:ext cx="2939799" cy="435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86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基本流处理模式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1709" y="958157"/>
            <a:ext cx="14916758" cy="30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3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两种常见的流处理模式：单流处理与双流连接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5526" y="1437235"/>
            <a:ext cx="7610813" cy="5836046"/>
          </a:xfrm>
          <a:custGeom>
            <a:avLst/>
            <a:gdLst/>
            <a:ahLst/>
            <a:cxnLst/>
            <a:rect l="l" t="t" r="r" b="b"/>
            <a:pathLst>
              <a:path w="7610813" h="5836046">
                <a:moveTo>
                  <a:pt x="130669" y="0"/>
                </a:moveTo>
                <a:lnTo>
                  <a:pt x="7480144" y="0"/>
                </a:lnTo>
                <a:cubicBezTo>
                  <a:pt x="7552311" y="0"/>
                  <a:pt x="7610813" y="58503"/>
                  <a:pt x="7610813" y="130669"/>
                </a:cubicBezTo>
                <a:lnTo>
                  <a:pt x="7610813" y="5705376"/>
                </a:lnTo>
                <a:cubicBezTo>
                  <a:pt x="7610813" y="5777543"/>
                  <a:pt x="7552311" y="5836046"/>
                  <a:pt x="7480144" y="5836046"/>
                </a:cubicBezTo>
                <a:lnTo>
                  <a:pt x="130669" y="5836046"/>
                </a:lnTo>
                <a:cubicBezTo>
                  <a:pt x="58503" y="5836046"/>
                  <a:pt x="0" y="5777543"/>
                  <a:pt x="0" y="5705376"/>
                </a:cubicBezTo>
                <a:lnTo>
                  <a:pt x="0" y="130669"/>
                </a:lnTo>
                <a:cubicBezTo>
                  <a:pt x="0" y="58503"/>
                  <a:pt x="58503" y="0"/>
                  <a:pt x="130669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09736" y="1611445"/>
            <a:ext cx="435526" cy="435526"/>
          </a:xfrm>
          <a:custGeom>
            <a:avLst/>
            <a:gdLst/>
            <a:ahLst/>
            <a:cxnLst/>
            <a:rect l="l" t="t" r="r" b="b"/>
            <a:pathLst>
              <a:path w="435526" h="435526">
                <a:moveTo>
                  <a:pt x="87105" y="0"/>
                </a:moveTo>
                <a:lnTo>
                  <a:pt x="348421" y="0"/>
                </a:lnTo>
                <a:cubicBezTo>
                  <a:pt x="396495" y="0"/>
                  <a:pt x="435526" y="39031"/>
                  <a:pt x="435526" y="87105"/>
                </a:cubicBezTo>
                <a:lnTo>
                  <a:pt x="435526" y="348421"/>
                </a:lnTo>
                <a:cubicBezTo>
                  <a:pt x="435526" y="396527"/>
                  <a:pt x="396527" y="435526"/>
                  <a:pt x="348421" y="435526"/>
                </a:cubicBezTo>
                <a:lnTo>
                  <a:pt x="87105" y="435526"/>
                </a:lnTo>
                <a:cubicBezTo>
                  <a:pt x="38998" y="435526"/>
                  <a:pt x="0" y="396527"/>
                  <a:pt x="0" y="348421"/>
                </a:cubicBezTo>
                <a:lnTo>
                  <a:pt x="0" y="87105"/>
                </a:lnTo>
                <a:cubicBezTo>
                  <a:pt x="0" y="38998"/>
                  <a:pt x="38998" y="0"/>
                  <a:pt x="87105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27464" y="1676774"/>
            <a:ext cx="293980" cy="30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3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75920" y="1654998"/>
            <a:ext cx="1698551" cy="348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58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单流处理模式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736" y="2177629"/>
            <a:ext cx="7338610" cy="217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最常见的ETL模式：Source → Filter → Map → KeyBy → Window → Sink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9736" y="2526050"/>
            <a:ext cx="7262392" cy="2242958"/>
          </a:xfrm>
          <a:custGeom>
            <a:avLst/>
            <a:gdLst/>
            <a:ahLst/>
            <a:cxnLst/>
            <a:rect l="l" t="t" r="r" b="b"/>
            <a:pathLst>
              <a:path w="7262392" h="2242958">
                <a:moveTo>
                  <a:pt x="130652" y="0"/>
                </a:moveTo>
                <a:lnTo>
                  <a:pt x="7131740" y="0"/>
                </a:lnTo>
                <a:cubicBezTo>
                  <a:pt x="7203897" y="0"/>
                  <a:pt x="7262392" y="58495"/>
                  <a:pt x="7262392" y="130652"/>
                </a:cubicBezTo>
                <a:lnTo>
                  <a:pt x="7262392" y="2112306"/>
                </a:lnTo>
                <a:cubicBezTo>
                  <a:pt x="7262392" y="2184463"/>
                  <a:pt x="7203897" y="2242958"/>
                  <a:pt x="7131740" y="2242958"/>
                </a:cubicBezTo>
                <a:lnTo>
                  <a:pt x="130652" y="2242958"/>
                </a:lnTo>
                <a:cubicBezTo>
                  <a:pt x="58543" y="2242958"/>
                  <a:pt x="0" y="2184414"/>
                  <a:pt x="0" y="2112306"/>
                </a:cubicBezTo>
                <a:lnTo>
                  <a:pt x="0" y="130652"/>
                </a:lnTo>
                <a:cubicBezTo>
                  <a:pt x="0" y="58495"/>
                  <a:pt x="58495" y="0"/>
                  <a:pt x="13065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740394" y="2689372"/>
            <a:ext cx="5091058" cy="1913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DataStream processed = sourceStream .filter(event -&gt; event.isValid()) // 1. 数据清洗 .map(event -&gt; transform(event)) // 2. 数据转换 .keyBy(Event::getUserId) // 3. 数据分组 .window(TumblingEventTimeWindows // 4. 开窗 .of(Time.minutes(1))) .reduce((e1, e2) -&gt; // 5. 聚合计算 mergeEvents(e1, e2));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9736" y="4899665"/>
            <a:ext cx="7262392" cy="696841"/>
          </a:xfrm>
          <a:custGeom>
            <a:avLst/>
            <a:gdLst/>
            <a:ahLst/>
            <a:cxnLst/>
            <a:rect l="l" t="t" r="r" b="b"/>
            <a:pathLst>
              <a:path w="7262392" h="696841">
                <a:moveTo>
                  <a:pt x="87105" y="0"/>
                </a:moveTo>
                <a:lnTo>
                  <a:pt x="7175287" y="0"/>
                </a:lnTo>
                <a:cubicBezTo>
                  <a:pt x="7223394" y="0"/>
                  <a:pt x="7262392" y="38998"/>
                  <a:pt x="7262392" y="87105"/>
                </a:cubicBezTo>
                <a:lnTo>
                  <a:pt x="7262392" y="609736"/>
                </a:lnTo>
                <a:cubicBezTo>
                  <a:pt x="7262392" y="657843"/>
                  <a:pt x="7223394" y="696841"/>
                  <a:pt x="7175287" y="696841"/>
                </a:cubicBezTo>
                <a:lnTo>
                  <a:pt x="87105" y="696841"/>
                </a:lnTo>
                <a:cubicBezTo>
                  <a:pt x="38998" y="696841"/>
                  <a:pt x="0" y="657843"/>
                  <a:pt x="0" y="609736"/>
                </a:cubicBezTo>
                <a:lnTo>
                  <a:pt x="0" y="87105"/>
                </a:lnTo>
                <a:cubicBezTo>
                  <a:pt x="0" y="38998"/>
                  <a:pt x="38998" y="0"/>
                  <a:pt x="8710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96841" y="4986770"/>
            <a:ext cx="7175287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6841" y="5291638"/>
            <a:ext cx="7164399" cy="217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日志分析、数据清洗、实时统计、ETL管道等单数据源处理场景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9736" y="5683612"/>
            <a:ext cx="7262392" cy="696841"/>
          </a:xfrm>
          <a:custGeom>
            <a:avLst/>
            <a:gdLst/>
            <a:ahLst/>
            <a:cxnLst/>
            <a:rect l="l" t="t" r="r" b="b"/>
            <a:pathLst>
              <a:path w="7262392" h="696841">
                <a:moveTo>
                  <a:pt x="87105" y="0"/>
                </a:moveTo>
                <a:lnTo>
                  <a:pt x="7175287" y="0"/>
                </a:lnTo>
                <a:cubicBezTo>
                  <a:pt x="7223394" y="0"/>
                  <a:pt x="7262392" y="38998"/>
                  <a:pt x="7262392" y="87105"/>
                </a:cubicBezTo>
                <a:lnTo>
                  <a:pt x="7262392" y="609736"/>
                </a:lnTo>
                <a:cubicBezTo>
                  <a:pt x="7262392" y="657843"/>
                  <a:pt x="7223394" y="696841"/>
                  <a:pt x="7175287" y="696841"/>
                </a:cubicBezTo>
                <a:lnTo>
                  <a:pt x="87105" y="696841"/>
                </a:lnTo>
                <a:cubicBezTo>
                  <a:pt x="38998" y="696841"/>
                  <a:pt x="0" y="657843"/>
                  <a:pt x="0" y="609736"/>
                </a:cubicBezTo>
                <a:lnTo>
                  <a:pt x="0" y="87105"/>
                </a:lnTo>
                <a:cubicBezTo>
                  <a:pt x="0" y="38998"/>
                  <a:pt x="38998" y="0"/>
                  <a:pt x="8710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96841" y="5770717"/>
            <a:ext cx="7175287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核心要点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6841" y="6075585"/>
            <a:ext cx="7164399" cy="217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每个算子负责单一职责，通过链式调用构建完整处理逻辑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16891" y="1437235"/>
            <a:ext cx="7610813" cy="5836046"/>
          </a:xfrm>
          <a:custGeom>
            <a:avLst/>
            <a:gdLst/>
            <a:ahLst/>
            <a:cxnLst/>
            <a:rect l="l" t="t" r="r" b="b"/>
            <a:pathLst>
              <a:path w="7610813" h="5836046">
                <a:moveTo>
                  <a:pt x="130669" y="0"/>
                </a:moveTo>
                <a:lnTo>
                  <a:pt x="7480144" y="0"/>
                </a:lnTo>
                <a:cubicBezTo>
                  <a:pt x="7552311" y="0"/>
                  <a:pt x="7610813" y="58503"/>
                  <a:pt x="7610813" y="130669"/>
                </a:cubicBezTo>
                <a:lnTo>
                  <a:pt x="7610813" y="5705376"/>
                </a:lnTo>
                <a:cubicBezTo>
                  <a:pt x="7610813" y="5777543"/>
                  <a:pt x="7552311" y="5836046"/>
                  <a:pt x="7480144" y="5836046"/>
                </a:cubicBezTo>
                <a:lnTo>
                  <a:pt x="130669" y="5836046"/>
                </a:lnTo>
                <a:cubicBezTo>
                  <a:pt x="58503" y="5836046"/>
                  <a:pt x="0" y="5777543"/>
                  <a:pt x="0" y="5705376"/>
                </a:cubicBezTo>
                <a:lnTo>
                  <a:pt x="0" y="130669"/>
                </a:lnTo>
                <a:cubicBezTo>
                  <a:pt x="0" y="58503"/>
                  <a:pt x="58503" y="0"/>
                  <a:pt x="130669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8391102" y="1611445"/>
            <a:ext cx="435526" cy="435526"/>
          </a:xfrm>
          <a:custGeom>
            <a:avLst/>
            <a:gdLst/>
            <a:ahLst/>
            <a:cxnLst/>
            <a:rect l="l" t="t" r="r" b="b"/>
            <a:pathLst>
              <a:path w="435526" h="435526">
                <a:moveTo>
                  <a:pt x="87105" y="0"/>
                </a:moveTo>
                <a:lnTo>
                  <a:pt x="348421" y="0"/>
                </a:lnTo>
                <a:cubicBezTo>
                  <a:pt x="396495" y="0"/>
                  <a:pt x="435526" y="39031"/>
                  <a:pt x="435526" y="87105"/>
                </a:cubicBezTo>
                <a:lnTo>
                  <a:pt x="435526" y="348421"/>
                </a:lnTo>
                <a:cubicBezTo>
                  <a:pt x="435526" y="396527"/>
                  <a:pt x="396527" y="435526"/>
                  <a:pt x="348421" y="435526"/>
                </a:cubicBezTo>
                <a:lnTo>
                  <a:pt x="87105" y="435526"/>
                </a:lnTo>
                <a:cubicBezTo>
                  <a:pt x="38998" y="435526"/>
                  <a:pt x="0" y="396527"/>
                  <a:pt x="0" y="348421"/>
                </a:cubicBezTo>
                <a:lnTo>
                  <a:pt x="0" y="87105"/>
                </a:lnTo>
                <a:cubicBezTo>
                  <a:pt x="0" y="38998"/>
                  <a:pt x="38998" y="0"/>
                  <a:pt x="87105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492328" y="1676774"/>
            <a:ext cx="326644" cy="30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3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957285" y="1654998"/>
            <a:ext cx="1698551" cy="348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58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双流连接模式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91102" y="2177629"/>
            <a:ext cx="7338610" cy="217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实时数仓中常用的数据关联Join操作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91102" y="2526050"/>
            <a:ext cx="7262392" cy="2003419"/>
          </a:xfrm>
          <a:custGeom>
            <a:avLst/>
            <a:gdLst/>
            <a:ahLst/>
            <a:cxnLst/>
            <a:rect l="l" t="t" r="r" b="b"/>
            <a:pathLst>
              <a:path w="7262392" h="2003419">
                <a:moveTo>
                  <a:pt x="87109" y="0"/>
                </a:moveTo>
                <a:lnTo>
                  <a:pt x="7175284" y="0"/>
                </a:lnTo>
                <a:cubicBezTo>
                  <a:pt x="7223393" y="0"/>
                  <a:pt x="7262392" y="39000"/>
                  <a:pt x="7262392" y="87109"/>
                </a:cubicBezTo>
                <a:lnTo>
                  <a:pt x="7262392" y="1916310"/>
                </a:lnTo>
                <a:cubicBezTo>
                  <a:pt x="7262392" y="1964419"/>
                  <a:pt x="7223393" y="2003419"/>
                  <a:pt x="7175284" y="2003419"/>
                </a:cubicBezTo>
                <a:lnTo>
                  <a:pt x="87109" y="2003419"/>
                </a:lnTo>
                <a:cubicBezTo>
                  <a:pt x="39000" y="2003419"/>
                  <a:pt x="0" y="1964419"/>
                  <a:pt x="0" y="1916310"/>
                </a:cubicBezTo>
                <a:lnTo>
                  <a:pt x="0" y="87109"/>
                </a:lnTo>
                <a:cubicBezTo>
                  <a:pt x="0" y="39000"/>
                  <a:pt x="39000" y="0"/>
                  <a:pt x="8710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478207" y="2613155"/>
            <a:ext cx="7175287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窗口连接 (Window Join)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478207" y="2918023"/>
            <a:ext cx="7164399" cy="217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关联同一个窗口内的元素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78207" y="3233779"/>
            <a:ext cx="3447884" cy="1197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29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DataStream connected = stream1 .join(stream2) .where(Event1::getKey) .equalTo(Event2::getKey) .window(TumblingEventTimeWindows .of(Time.minutes(5))) .apply((e1, e2) -&gt; new Result(e1, e2));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91102" y="4616573"/>
            <a:ext cx="7262392" cy="1654998"/>
          </a:xfrm>
          <a:custGeom>
            <a:avLst/>
            <a:gdLst/>
            <a:ahLst/>
            <a:cxnLst/>
            <a:rect l="l" t="t" r="r" b="b"/>
            <a:pathLst>
              <a:path w="7262392" h="1654998">
                <a:moveTo>
                  <a:pt x="87103" y="0"/>
                </a:moveTo>
                <a:lnTo>
                  <a:pt x="7175290" y="0"/>
                </a:lnTo>
                <a:cubicBezTo>
                  <a:pt x="7223395" y="0"/>
                  <a:pt x="7262392" y="38997"/>
                  <a:pt x="7262392" y="87103"/>
                </a:cubicBezTo>
                <a:lnTo>
                  <a:pt x="7262392" y="1567895"/>
                </a:lnTo>
                <a:cubicBezTo>
                  <a:pt x="7262392" y="1616001"/>
                  <a:pt x="7223395" y="1654998"/>
                  <a:pt x="7175290" y="1654998"/>
                </a:cubicBezTo>
                <a:lnTo>
                  <a:pt x="87103" y="1654998"/>
                </a:lnTo>
                <a:cubicBezTo>
                  <a:pt x="38997" y="1654998"/>
                  <a:pt x="0" y="1616001"/>
                  <a:pt x="0" y="1567895"/>
                </a:cubicBezTo>
                <a:lnTo>
                  <a:pt x="0" y="87103"/>
                </a:lnTo>
                <a:cubicBezTo>
                  <a:pt x="0" y="39029"/>
                  <a:pt x="39029" y="0"/>
                  <a:pt x="8710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478207" y="4703678"/>
            <a:ext cx="7175287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间隔连接 (Interval Join)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478207" y="5008547"/>
            <a:ext cx="7164399" cy="217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关联一段时间区间内的元素，适合处理到达时间不一致的场景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478207" y="5324303"/>
            <a:ext cx="3841133" cy="8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29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DataStream intervalConnected = stream1 .keyBy(Event1::getKey) .intervalJoin(stream2.keyBy(Event2::getKey)) .between(Time.minutes(-1), Time.minutes(1)) .process(new IntervalJoinFunction());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391102" y="6402229"/>
            <a:ext cx="7262392" cy="696841"/>
          </a:xfrm>
          <a:custGeom>
            <a:avLst/>
            <a:gdLst/>
            <a:ahLst/>
            <a:cxnLst/>
            <a:rect l="l" t="t" r="r" b="b"/>
            <a:pathLst>
              <a:path w="7262392" h="696841">
                <a:moveTo>
                  <a:pt x="87105" y="0"/>
                </a:moveTo>
                <a:lnTo>
                  <a:pt x="7175287" y="0"/>
                </a:lnTo>
                <a:cubicBezTo>
                  <a:pt x="7223394" y="0"/>
                  <a:pt x="7262392" y="38998"/>
                  <a:pt x="7262392" y="87105"/>
                </a:cubicBezTo>
                <a:lnTo>
                  <a:pt x="7262392" y="609736"/>
                </a:lnTo>
                <a:cubicBezTo>
                  <a:pt x="7262392" y="657843"/>
                  <a:pt x="7223394" y="696841"/>
                  <a:pt x="7175287" y="696841"/>
                </a:cubicBezTo>
                <a:lnTo>
                  <a:pt x="87105" y="696841"/>
                </a:lnTo>
                <a:cubicBezTo>
                  <a:pt x="38998" y="696841"/>
                  <a:pt x="0" y="657843"/>
                  <a:pt x="0" y="609736"/>
                </a:cubicBezTo>
                <a:lnTo>
                  <a:pt x="0" y="87105"/>
                </a:lnTo>
                <a:cubicBezTo>
                  <a:pt x="0" y="38998"/>
                  <a:pt x="38998" y="0"/>
                  <a:pt x="8710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478207" y="6489334"/>
            <a:ext cx="7175287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重要提示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478207" y="6794202"/>
            <a:ext cx="7164399" cy="217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窗口连接与间隔连接均需为两条输入流设置事件时间与水位线，确保时间语义一致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35526" y="7447491"/>
            <a:ext cx="15384948" cy="1263025"/>
          </a:xfrm>
          <a:custGeom>
            <a:avLst/>
            <a:gdLst/>
            <a:ahLst/>
            <a:cxnLst/>
            <a:rect l="l" t="t" r="r" b="b"/>
            <a:pathLst>
              <a:path w="15384948" h="1263025">
                <a:moveTo>
                  <a:pt x="130660" y="0"/>
                </a:moveTo>
                <a:lnTo>
                  <a:pt x="15254289" y="0"/>
                </a:lnTo>
                <a:cubicBezTo>
                  <a:pt x="15326450" y="0"/>
                  <a:pt x="15384948" y="58498"/>
                  <a:pt x="15384948" y="130660"/>
                </a:cubicBezTo>
                <a:lnTo>
                  <a:pt x="15384948" y="1132365"/>
                </a:lnTo>
                <a:cubicBezTo>
                  <a:pt x="15384948" y="1204526"/>
                  <a:pt x="15326450" y="1263025"/>
                  <a:pt x="15254289" y="1263025"/>
                </a:cubicBezTo>
                <a:lnTo>
                  <a:pt x="130660" y="1263025"/>
                </a:lnTo>
                <a:cubicBezTo>
                  <a:pt x="58547" y="1263025"/>
                  <a:pt x="0" y="1204478"/>
                  <a:pt x="0" y="1132365"/>
                </a:cubicBezTo>
                <a:lnTo>
                  <a:pt x="0" y="130660"/>
                </a:lnTo>
                <a:cubicBezTo>
                  <a:pt x="0" y="58547"/>
                  <a:pt x="58547" y="0"/>
                  <a:pt x="130660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642401" y="7948346"/>
            <a:ext cx="195987" cy="261315"/>
          </a:xfrm>
          <a:custGeom>
            <a:avLst/>
            <a:gdLst/>
            <a:ahLst/>
            <a:cxnLst/>
            <a:rect l="l" t="t" r="r" b="b"/>
            <a:pathLst>
              <a:path w="195987" h="261315">
                <a:moveTo>
                  <a:pt x="149491" y="195987"/>
                </a:moveTo>
                <a:cubicBezTo>
                  <a:pt x="153217" y="184605"/>
                  <a:pt x="160668" y="174295"/>
                  <a:pt x="169089" y="165415"/>
                </a:cubicBezTo>
                <a:cubicBezTo>
                  <a:pt x="185779" y="147858"/>
                  <a:pt x="195987" y="124125"/>
                  <a:pt x="195987" y="97993"/>
                </a:cubicBezTo>
                <a:cubicBezTo>
                  <a:pt x="195987" y="43893"/>
                  <a:pt x="152094" y="0"/>
                  <a:pt x="97993" y="0"/>
                </a:cubicBezTo>
                <a:cubicBezTo>
                  <a:pt x="43893" y="0"/>
                  <a:pt x="0" y="43893"/>
                  <a:pt x="0" y="97993"/>
                </a:cubicBezTo>
                <a:cubicBezTo>
                  <a:pt x="0" y="124125"/>
                  <a:pt x="10208" y="147858"/>
                  <a:pt x="26897" y="165415"/>
                </a:cubicBezTo>
                <a:cubicBezTo>
                  <a:pt x="35318" y="174295"/>
                  <a:pt x="42821" y="184605"/>
                  <a:pt x="46496" y="195987"/>
                </a:cubicBezTo>
                <a:lnTo>
                  <a:pt x="149440" y="195987"/>
                </a:lnTo>
                <a:close/>
                <a:moveTo>
                  <a:pt x="146990" y="220485"/>
                </a:moveTo>
                <a:lnTo>
                  <a:pt x="48997" y="220485"/>
                </a:lnTo>
                <a:lnTo>
                  <a:pt x="48997" y="228651"/>
                </a:lnTo>
                <a:cubicBezTo>
                  <a:pt x="48997" y="251210"/>
                  <a:pt x="67268" y="269482"/>
                  <a:pt x="89827" y="269482"/>
                </a:cubicBezTo>
                <a:lnTo>
                  <a:pt x="106159" y="269482"/>
                </a:lnTo>
                <a:cubicBezTo>
                  <a:pt x="128718" y="269482"/>
                  <a:pt x="146990" y="251210"/>
                  <a:pt x="146990" y="228651"/>
                </a:cubicBezTo>
                <a:lnTo>
                  <a:pt x="146990" y="220485"/>
                </a:lnTo>
                <a:close/>
                <a:moveTo>
                  <a:pt x="93910" y="57163"/>
                </a:moveTo>
                <a:cubicBezTo>
                  <a:pt x="73597" y="57163"/>
                  <a:pt x="57163" y="73597"/>
                  <a:pt x="57163" y="93910"/>
                </a:cubicBezTo>
                <a:cubicBezTo>
                  <a:pt x="57163" y="100698"/>
                  <a:pt x="51702" y="106159"/>
                  <a:pt x="44914" y="106159"/>
                </a:cubicBezTo>
                <a:cubicBezTo>
                  <a:pt x="38126" y="106159"/>
                  <a:pt x="32664" y="100698"/>
                  <a:pt x="32664" y="93910"/>
                </a:cubicBezTo>
                <a:cubicBezTo>
                  <a:pt x="32664" y="60072"/>
                  <a:pt x="60072" y="32664"/>
                  <a:pt x="93910" y="32664"/>
                </a:cubicBezTo>
                <a:cubicBezTo>
                  <a:pt x="100698" y="32664"/>
                  <a:pt x="106159" y="38126"/>
                  <a:pt x="106159" y="44914"/>
                </a:cubicBezTo>
                <a:cubicBezTo>
                  <a:pt x="106159" y="51702"/>
                  <a:pt x="100698" y="57163"/>
                  <a:pt x="93910" y="57163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1001709" y="7621701"/>
            <a:ext cx="14742548" cy="30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设计建议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01709" y="8013674"/>
            <a:ext cx="14731660" cy="522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实际项目中，应根据业务需求选择合适的处理模式。单流处理模式适用于大多数ETL场景，实现简单、性能高效。双流连接模式适用于需要关联多个数据源的场景，如订单与用户信息关联、点击流与商品信息关联等，但需要注意设置合理的时间窗口和水位线策略，以平衡数据完整性与处理延迟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23333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84667" y="0"/>
                </a:moveTo>
                <a:lnTo>
                  <a:pt x="338667" y="0"/>
                </a:lnTo>
                <a:cubicBezTo>
                  <a:pt x="385427" y="0"/>
                  <a:pt x="423333" y="37907"/>
                  <a:pt x="423333" y="84667"/>
                </a:cubicBezTo>
                <a:lnTo>
                  <a:pt x="423333" y="338667"/>
                </a:lnTo>
                <a:cubicBezTo>
                  <a:pt x="423333" y="385427"/>
                  <a:pt x="385427" y="423333"/>
                  <a:pt x="338667" y="423333"/>
                </a:cubicBezTo>
                <a:lnTo>
                  <a:pt x="84667" y="423333"/>
                </a:lnTo>
                <a:cubicBezTo>
                  <a:pt x="37907" y="423333"/>
                  <a:pt x="0" y="385427"/>
                  <a:pt x="0" y="338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18583" y="5397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8930" y="-5953"/>
                </a:moveTo>
                <a:cubicBezTo>
                  <a:pt x="3981" y="-5953"/>
                  <a:pt x="0" y="-1972"/>
                  <a:pt x="0" y="2977"/>
                </a:cubicBezTo>
                <a:cubicBezTo>
                  <a:pt x="0" y="7925"/>
                  <a:pt x="3981" y="11906"/>
                  <a:pt x="8930" y="11906"/>
                </a:cubicBezTo>
                <a:lnTo>
                  <a:pt x="25784" y="11906"/>
                </a:lnTo>
                <a:cubicBezTo>
                  <a:pt x="27236" y="11906"/>
                  <a:pt x="28463" y="12948"/>
                  <a:pt x="28724" y="14362"/>
                </a:cubicBezTo>
                <a:lnTo>
                  <a:pt x="48109" y="120886"/>
                </a:lnTo>
                <a:cubicBezTo>
                  <a:pt x="50416" y="133610"/>
                  <a:pt x="61503" y="142875"/>
                  <a:pt x="74451" y="142875"/>
                </a:cubicBezTo>
                <a:lnTo>
                  <a:pt x="169664" y="142875"/>
                </a:lnTo>
                <a:cubicBezTo>
                  <a:pt x="174613" y="142875"/>
                  <a:pt x="178594" y="138894"/>
                  <a:pt x="178594" y="133945"/>
                </a:cubicBezTo>
                <a:cubicBezTo>
                  <a:pt x="178594" y="128997"/>
                  <a:pt x="174613" y="125016"/>
                  <a:pt x="169664" y="125016"/>
                </a:cubicBezTo>
                <a:lnTo>
                  <a:pt x="74451" y="125016"/>
                </a:lnTo>
                <a:cubicBezTo>
                  <a:pt x="70135" y="125016"/>
                  <a:pt x="66452" y="121927"/>
                  <a:pt x="65670" y="117686"/>
                </a:cubicBezTo>
                <a:lnTo>
                  <a:pt x="63773" y="107156"/>
                </a:lnTo>
                <a:lnTo>
                  <a:pt x="176733" y="107156"/>
                </a:lnTo>
                <a:cubicBezTo>
                  <a:pt x="188193" y="107156"/>
                  <a:pt x="198016" y="99008"/>
                  <a:pt x="200137" y="87734"/>
                </a:cubicBezTo>
                <a:lnTo>
                  <a:pt x="211671" y="26008"/>
                </a:lnTo>
                <a:cubicBezTo>
                  <a:pt x="213047" y="18678"/>
                  <a:pt x="207429" y="11906"/>
                  <a:pt x="199951" y="11906"/>
                </a:cubicBezTo>
                <a:lnTo>
                  <a:pt x="46397" y="11906"/>
                </a:lnTo>
                <a:lnTo>
                  <a:pt x="46248" y="11162"/>
                </a:lnTo>
                <a:cubicBezTo>
                  <a:pt x="44462" y="1265"/>
                  <a:pt x="35830" y="-5953"/>
                  <a:pt x="25747" y="-5953"/>
                </a:cubicBezTo>
                <a:lnTo>
                  <a:pt x="8930" y="-5953"/>
                </a:lnTo>
                <a:close/>
                <a:moveTo>
                  <a:pt x="77391" y="190500"/>
                </a:moveTo>
                <a:cubicBezTo>
                  <a:pt x="87247" y="190500"/>
                  <a:pt x="95250" y="182497"/>
                  <a:pt x="95250" y="172641"/>
                </a:cubicBezTo>
                <a:cubicBezTo>
                  <a:pt x="95250" y="162784"/>
                  <a:pt x="87247" y="154781"/>
                  <a:pt x="77391" y="154781"/>
                </a:cubicBezTo>
                <a:cubicBezTo>
                  <a:pt x="67534" y="154781"/>
                  <a:pt x="59531" y="162784"/>
                  <a:pt x="59531" y="172641"/>
                </a:cubicBezTo>
                <a:cubicBezTo>
                  <a:pt x="59531" y="182497"/>
                  <a:pt x="67534" y="190500"/>
                  <a:pt x="77391" y="190500"/>
                </a:cubicBezTo>
                <a:close/>
                <a:moveTo>
                  <a:pt x="160734" y="190500"/>
                </a:moveTo>
                <a:cubicBezTo>
                  <a:pt x="170591" y="190500"/>
                  <a:pt x="178594" y="182497"/>
                  <a:pt x="178594" y="172641"/>
                </a:cubicBezTo>
                <a:cubicBezTo>
                  <a:pt x="178594" y="162784"/>
                  <a:pt x="170591" y="154781"/>
                  <a:pt x="160734" y="154781"/>
                </a:cubicBezTo>
                <a:cubicBezTo>
                  <a:pt x="150878" y="154781"/>
                  <a:pt x="142875" y="162784"/>
                  <a:pt x="142875" y="172641"/>
                </a:cubicBezTo>
                <a:cubicBezTo>
                  <a:pt x="142875" y="182497"/>
                  <a:pt x="150878" y="190500"/>
                  <a:pt x="160734" y="19050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973667" y="423333"/>
            <a:ext cx="5143500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实战案例：电商订单实时统计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73667" y="931333"/>
            <a:ext cx="14954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通过完整的电商订单实时金额统计案例，综合应用DataStream API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6563" y="1439333"/>
            <a:ext cx="238125" cy="211667"/>
          </a:xfrm>
          <a:custGeom>
            <a:avLst/>
            <a:gdLst/>
            <a:ahLst/>
            <a:cxnLst/>
            <a:rect l="l" t="t" r="r" b="b"/>
            <a:pathLst>
              <a:path w="238125" h="211667">
                <a:moveTo>
                  <a:pt x="149159" y="496"/>
                </a:moveTo>
                <a:cubicBezTo>
                  <a:pt x="142131" y="-1530"/>
                  <a:pt x="134813" y="2563"/>
                  <a:pt x="132788" y="9591"/>
                </a:cubicBezTo>
                <a:lnTo>
                  <a:pt x="79871" y="194799"/>
                </a:lnTo>
                <a:cubicBezTo>
                  <a:pt x="77845" y="201827"/>
                  <a:pt x="81938" y="209145"/>
                  <a:pt x="88966" y="211171"/>
                </a:cubicBezTo>
                <a:cubicBezTo>
                  <a:pt x="95994" y="213196"/>
                  <a:pt x="103312" y="209104"/>
                  <a:pt x="105337" y="202076"/>
                </a:cubicBezTo>
                <a:lnTo>
                  <a:pt x="158254" y="16867"/>
                </a:lnTo>
                <a:cubicBezTo>
                  <a:pt x="160280" y="9839"/>
                  <a:pt x="156187" y="2522"/>
                  <a:pt x="149159" y="496"/>
                </a:cubicBezTo>
                <a:close/>
                <a:moveTo>
                  <a:pt x="175865" y="56761"/>
                </a:moveTo>
                <a:cubicBezTo>
                  <a:pt x="170698" y="61929"/>
                  <a:pt x="170698" y="70321"/>
                  <a:pt x="175865" y="75489"/>
                </a:cubicBezTo>
                <a:lnTo>
                  <a:pt x="206210" y="105833"/>
                </a:lnTo>
                <a:lnTo>
                  <a:pt x="175865" y="136178"/>
                </a:lnTo>
                <a:cubicBezTo>
                  <a:pt x="170698" y="141345"/>
                  <a:pt x="170698" y="149738"/>
                  <a:pt x="175865" y="154905"/>
                </a:cubicBezTo>
                <a:cubicBezTo>
                  <a:pt x="181033" y="160073"/>
                  <a:pt x="189425" y="160073"/>
                  <a:pt x="194593" y="154905"/>
                </a:cubicBezTo>
                <a:lnTo>
                  <a:pt x="234280" y="115218"/>
                </a:lnTo>
                <a:cubicBezTo>
                  <a:pt x="239448" y="110050"/>
                  <a:pt x="239448" y="101658"/>
                  <a:pt x="234280" y="96490"/>
                </a:cubicBezTo>
                <a:lnTo>
                  <a:pt x="194593" y="56803"/>
                </a:lnTo>
                <a:cubicBezTo>
                  <a:pt x="189425" y="51635"/>
                  <a:pt x="181033" y="51635"/>
                  <a:pt x="175865" y="56803"/>
                </a:cubicBezTo>
                <a:close/>
                <a:moveTo>
                  <a:pt x="62301" y="56761"/>
                </a:moveTo>
                <a:cubicBezTo>
                  <a:pt x="57133" y="51594"/>
                  <a:pt x="48741" y="51594"/>
                  <a:pt x="43574" y="56761"/>
                </a:cubicBezTo>
                <a:lnTo>
                  <a:pt x="3886" y="96449"/>
                </a:lnTo>
                <a:cubicBezTo>
                  <a:pt x="-1282" y="101617"/>
                  <a:pt x="-1282" y="110009"/>
                  <a:pt x="3886" y="115176"/>
                </a:cubicBezTo>
                <a:lnTo>
                  <a:pt x="43574" y="154864"/>
                </a:lnTo>
                <a:cubicBezTo>
                  <a:pt x="48741" y="160032"/>
                  <a:pt x="57133" y="160032"/>
                  <a:pt x="62301" y="154864"/>
                </a:cubicBezTo>
                <a:cubicBezTo>
                  <a:pt x="67469" y="149696"/>
                  <a:pt x="67469" y="141304"/>
                  <a:pt x="62301" y="136136"/>
                </a:cubicBezTo>
                <a:lnTo>
                  <a:pt x="31957" y="105833"/>
                </a:lnTo>
                <a:lnTo>
                  <a:pt x="62260" y="75489"/>
                </a:lnTo>
                <a:cubicBezTo>
                  <a:pt x="67427" y="70321"/>
                  <a:pt x="67427" y="61929"/>
                  <a:pt x="62260" y="56761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87917" y="1397000"/>
            <a:ext cx="90170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完整代码实现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3333" y="1820333"/>
            <a:ext cx="9175750" cy="5926667"/>
          </a:xfrm>
          <a:custGeom>
            <a:avLst/>
            <a:gdLst/>
            <a:ahLst/>
            <a:cxnLst/>
            <a:rect l="l" t="t" r="r" b="b"/>
            <a:pathLst>
              <a:path w="9175750" h="5926667">
                <a:moveTo>
                  <a:pt x="127008" y="0"/>
                </a:moveTo>
                <a:lnTo>
                  <a:pt x="9048742" y="0"/>
                </a:lnTo>
                <a:cubicBezTo>
                  <a:pt x="9118886" y="0"/>
                  <a:pt x="9175750" y="56864"/>
                  <a:pt x="9175750" y="127008"/>
                </a:cubicBezTo>
                <a:lnTo>
                  <a:pt x="9175750" y="5799658"/>
                </a:lnTo>
                <a:cubicBezTo>
                  <a:pt x="9175750" y="5869803"/>
                  <a:pt x="9118886" y="5926667"/>
                  <a:pt x="9048742" y="5926667"/>
                </a:cubicBezTo>
                <a:lnTo>
                  <a:pt x="127008" y="5926667"/>
                </a:lnTo>
                <a:cubicBezTo>
                  <a:pt x="56864" y="5926667"/>
                  <a:pt x="0" y="5869803"/>
                  <a:pt x="0" y="5799658"/>
                </a:cubicBezTo>
                <a:lnTo>
                  <a:pt x="0" y="127008"/>
                </a:lnTo>
                <a:cubicBezTo>
                  <a:pt x="0" y="56911"/>
                  <a:pt x="56911" y="0"/>
                  <a:pt x="12700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242888" y="1778000"/>
            <a:ext cx="9366779" cy="7172855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ctr"/>
          <a:lstStyle/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import 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org.apache.flink.api.common.functions.ReduceFunction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import 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org.apache.flink.streaming.api.datastream.DataStream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import org.apache.flink.streaming.api.environment.StreamExecutionEnvironment;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import 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org.apache.flink.streaming.api.functions.source.SourceFunction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import 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java.util.Random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endParaRPr lang="en-US" altLang="zh-CN" sz="1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public class 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OrderAnalysisJob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{</a:t>
            </a:r>
          </a:p>
          <a:p>
            <a:endParaRPr lang="en-US" altLang="zh-CN" sz="1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0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altLang="zh-CN" sz="10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1. </a:t>
            </a:r>
            <a:r>
              <a:rPr lang="zh-CN" altLang="en-US" sz="10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定义订单实体类 </a:t>
            </a:r>
            <a:r>
              <a:rPr lang="en-US" altLang="zh-CN" sz="10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(POJO)</a:t>
            </a:r>
            <a:endParaRPr lang="en-US" altLang="zh-CN" sz="10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public static class Order {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public String 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orderId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public String 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userId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public Double amount;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public Long timestamp;</a:t>
            </a:r>
          </a:p>
          <a:p>
            <a:endParaRPr lang="en-US" altLang="zh-CN" sz="1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public Order() {} </a:t>
            </a:r>
            <a:r>
              <a:rPr lang="en-US" altLang="zh-CN" sz="10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</a:t>
            </a:r>
            <a:r>
              <a:rPr lang="zh-CN" altLang="en-US" sz="10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必须有空构造函数</a:t>
            </a:r>
            <a:endParaRPr lang="zh-CN" altLang="en-US" sz="10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zh-CN" altLang="en-US" sz="1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public Order(String 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orderId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String 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userId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Double amount, Long timestamp) {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this.orderId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orderId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this.userId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userId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this.amount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amount;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this.timestamp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timestamp;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}</a:t>
            </a:r>
          </a:p>
          <a:p>
            <a:endParaRPr lang="en-US" altLang="zh-CN" sz="1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@Override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public String 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toString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 {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return "Order{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userId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='" + 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userId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+ "', amount=" + amount + "}";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}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}</a:t>
            </a:r>
          </a:p>
          <a:p>
            <a:endParaRPr lang="en-US" altLang="zh-CN" sz="1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public static void main(String[] 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args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throws Exception {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StreamExecutionEnvironment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env = 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StreamExecutionEnvironment.getExecutionEnvironment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();</a:t>
            </a:r>
          </a:p>
          <a:p>
            <a:endParaRPr lang="en-US" altLang="zh-CN" sz="1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0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altLang="zh-CN" sz="10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2. </a:t>
            </a:r>
            <a:r>
              <a:rPr lang="zh-CN" altLang="en-US" sz="10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获取数据流 </a:t>
            </a:r>
            <a:r>
              <a:rPr lang="en-US" altLang="zh-CN" sz="10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zh-CN" altLang="en-US" sz="10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使用自定义 </a:t>
            </a:r>
            <a:r>
              <a:rPr lang="en-US" altLang="zh-CN" sz="10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Source </a:t>
            </a:r>
            <a:r>
              <a:rPr lang="zh-CN" altLang="en-US" sz="10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模拟实时订单</a:t>
            </a:r>
            <a:r>
              <a:rPr lang="en-US" altLang="zh-CN" sz="10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zh-CN" altLang="en-US" sz="10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DataStream&lt;Order&gt; 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orderStream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env.addSource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(new 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MockOrderSource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());</a:t>
            </a:r>
          </a:p>
          <a:p>
            <a:endParaRPr lang="en-US" altLang="zh-CN" sz="1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0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altLang="zh-CN" sz="10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3. </a:t>
            </a:r>
            <a:r>
              <a:rPr lang="zh-CN" altLang="en-US" sz="10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核心处理逻辑</a:t>
            </a:r>
            <a:endParaRPr lang="zh-CN" altLang="en-US" sz="10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DataStream&lt;Order&gt; 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resultStream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orderStream</a:t>
            </a:r>
            <a:endParaRPr lang="en-US" altLang="zh-CN" sz="1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.filter(order -&gt; 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order.amount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&gt; 0)      </a:t>
            </a:r>
            <a:r>
              <a:rPr lang="en-US" altLang="zh-CN" sz="10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</a:t>
            </a:r>
            <a:r>
              <a:rPr lang="zh-CN" altLang="en-US" sz="10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过滤无效订单</a:t>
            </a:r>
            <a:endParaRPr lang="zh-CN" altLang="en-US" sz="10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keyBy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(order -&gt; 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order.userId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          </a:t>
            </a:r>
            <a:r>
              <a:rPr lang="en-US" altLang="zh-CN" sz="10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</a:t>
            </a:r>
            <a:r>
              <a:rPr lang="zh-CN" altLang="en-US" sz="10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按用户分组</a:t>
            </a:r>
            <a:endParaRPr lang="zh-CN" altLang="en-US" sz="10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.reduce(new 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ReduceFunction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&lt;Order&gt;() {   </a:t>
            </a:r>
            <a:r>
              <a:rPr lang="en-US" altLang="zh-CN" sz="10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</a:t>
            </a:r>
            <a:r>
              <a:rPr lang="zh-CN" altLang="en-US" sz="10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滚动聚合</a:t>
            </a:r>
            <a:endParaRPr lang="zh-CN" altLang="en-US" sz="10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@Override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public Order reduce(Order value1, Order value2) {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    </a:t>
            </a:r>
            <a:r>
              <a:rPr lang="en-US" altLang="zh-CN" sz="10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</a:t>
            </a:r>
            <a:r>
              <a:rPr lang="zh-CN" altLang="en-US" sz="10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将金额累加，更新时间戳</a:t>
            </a:r>
            <a:endParaRPr lang="zh-CN" altLang="en-US" sz="10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    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return new Order(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        value2.orderId,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        value1.userId,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        value1.amount + value2.amount,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        value2.timestamp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    );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}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});</a:t>
            </a:r>
          </a:p>
          <a:p>
            <a:endParaRPr lang="en-US" altLang="zh-CN" sz="1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0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altLang="zh-CN" sz="10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4. </a:t>
            </a:r>
            <a:r>
              <a:rPr lang="zh-CN" altLang="en-US" sz="10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输出结果</a:t>
            </a:r>
            <a:endParaRPr lang="zh-CN" altLang="en-US" sz="10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resultStream.print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("</a:t>
            </a:r>
            <a:r>
              <a:rPr lang="zh-CN" altLang="en-US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实时累计消费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");</a:t>
            </a:r>
          </a:p>
          <a:p>
            <a:endParaRPr lang="en-US" altLang="zh-CN" sz="1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env.execute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("Order Analysis Job");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}</a:t>
            </a:r>
          </a:p>
          <a:p>
            <a:endParaRPr lang="en-US" altLang="zh-CN" sz="1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altLang="zh-CN" sz="10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</a:t>
            </a:r>
            <a:r>
              <a:rPr lang="zh-CN" altLang="en-US" sz="10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自定义模拟数据源</a:t>
            </a:r>
            <a:endParaRPr lang="zh-CN" altLang="en-US" sz="1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public static class 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MockOrderSource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implements 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SourceFunction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&lt;Order&gt; {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private 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boolean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isRunning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true;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private Random random = new Random();</a:t>
            </a:r>
          </a:p>
          <a:p>
            <a:endParaRPr lang="en-US" altLang="zh-CN" sz="1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@Override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public void run(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SourceContext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&lt;Order&gt; 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ctx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throws Exception {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while (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isRunning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{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String 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userId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"User_" + 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random.nextInt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(5);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double amount = 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Math.round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random.nextDouble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 * 100 * 100) / 100.0;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Order order = new Order("Ord_" + 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System.currentTimeMillis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(), 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userId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amount, 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System.currentTimeMillis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());</a:t>
            </a:r>
          </a:p>
          <a:p>
            <a:endParaRPr lang="en-US" altLang="zh-CN" sz="1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ctx.collect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(order);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Thread.sleep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(1000); </a:t>
            </a:r>
            <a:r>
              <a:rPr lang="en-US" altLang="zh-CN" sz="10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</a:t>
            </a:r>
            <a:r>
              <a:rPr lang="zh-CN" altLang="en-US" sz="10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每秒产生一条订单</a:t>
            </a:r>
            <a:endParaRPr lang="zh-CN" altLang="en-US" sz="10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}</a:t>
            </a:r>
          </a:p>
          <a:p>
            <a:endParaRPr lang="en-US" altLang="zh-CN" sz="1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@Override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public void cancel() {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US" altLang="zh-CN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isRunning</a:t>
            </a:r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false;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}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}</a:t>
            </a:r>
          </a:p>
          <a:p>
            <a:r>
              <a:rPr lang="en-US" altLang="zh-CN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>
              <a:lnSpc>
                <a:spcPct val="140000"/>
              </a:lnSpc>
            </a:pPr>
            <a:endParaRPr lang="en-US" sz="1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770484" y="1397000"/>
            <a:ext cx="6064250" cy="3217333"/>
          </a:xfrm>
          <a:custGeom>
            <a:avLst/>
            <a:gdLst/>
            <a:ahLst/>
            <a:cxnLst/>
            <a:rect l="l" t="t" r="r" b="b"/>
            <a:pathLst>
              <a:path w="6064250" h="3217333">
                <a:moveTo>
                  <a:pt x="126988" y="0"/>
                </a:moveTo>
                <a:lnTo>
                  <a:pt x="5937262" y="0"/>
                </a:lnTo>
                <a:cubicBezTo>
                  <a:pt x="6007395" y="0"/>
                  <a:pt x="6064250" y="56855"/>
                  <a:pt x="6064250" y="126988"/>
                </a:cubicBezTo>
                <a:lnTo>
                  <a:pt x="6064250" y="3090345"/>
                </a:lnTo>
                <a:cubicBezTo>
                  <a:pt x="6064250" y="3160479"/>
                  <a:pt x="6007395" y="3217333"/>
                  <a:pt x="5937262" y="3217333"/>
                </a:cubicBezTo>
                <a:lnTo>
                  <a:pt x="126988" y="3217333"/>
                </a:lnTo>
                <a:cubicBezTo>
                  <a:pt x="56855" y="3217333"/>
                  <a:pt x="0" y="3160479"/>
                  <a:pt x="0" y="3090345"/>
                </a:cubicBezTo>
                <a:lnTo>
                  <a:pt x="0" y="126988"/>
                </a:lnTo>
                <a:cubicBezTo>
                  <a:pt x="0" y="56901"/>
                  <a:pt x="56901" y="0"/>
                  <a:pt x="126988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9966275" y="16192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9783" y="13506"/>
                </a:moveTo>
                <a:cubicBezTo>
                  <a:pt x="53839" y="16334"/>
                  <a:pt x="54806" y="21915"/>
                  <a:pt x="51978" y="25933"/>
                </a:cubicBezTo>
                <a:lnTo>
                  <a:pt x="31142" y="55699"/>
                </a:lnTo>
                <a:cubicBezTo>
                  <a:pt x="29617" y="57857"/>
                  <a:pt x="27236" y="59234"/>
                  <a:pt x="24594" y="59457"/>
                </a:cubicBezTo>
                <a:cubicBezTo>
                  <a:pt x="21952" y="59680"/>
                  <a:pt x="19348" y="58787"/>
                  <a:pt x="17487" y="56927"/>
                </a:cubicBezTo>
                <a:lnTo>
                  <a:pt x="2604" y="42044"/>
                </a:lnTo>
                <a:cubicBezTo>
                  <a:pt x="-856" y="38546"/>
                  <a:pt x="-856" y="32891"/>
                  <a:pt x="2604" y="29394"/>
                </a:cubicBezTo>
                <a:cubicBezTo>
                  <a:pt x="6065" y="25896"/>
                  <a:pt x="11757" y="25933"/>
                  <a:pt x="15255" y="29394"/>
                </a:cubicBezTo>
                <a:lnTo>
                  <a:pt x="22622" y="36761"/>
                </a:lnTo>
                <a:lnTo>
                  <a:pt x="37356" y="15701"/>
                </a:lnTo>
                <a:cubicBezTo>
                  <a:pt x="40184" y="11646"/>
                  <a:pt x="45765" y="10678"/>
                  <a:pt x="49783" y="13506"/>
                </a:cubicBezTo>
                <a:close/>
                <a:moveTo>
                  <a:pt x="49783" y="73037"/>
                </a:moveTo>
                <a:cubicBezTo>
                  <a:pt x="53839" y="75865"/>
                  <a:pt x="54806" y="81446"/>
                  <a:pt x="51978" y="85465"/>
                </a:cubicBezTo>
                <a:lnTo>
                  <a:pt x="31142" y="115230"/>
                </a:lnTo>
                <a:cubicBezTo>
                  <a:pt x="29617" y="117388"/>
                  <a:pt x="27236" y="118765"/>
                  <a:pt x="24594" y="118988"/>
                </a:cubicBezTo>
                <a:cubicBezTo>
                  <a:pt x="21952" y="119211"/>
                  <a:pt x="19348" y="118318"/>
                  <a:pt x="17487" y="116458"/>
                </a:cubicBezTo>
                <a:lnTo>
                  <a:pt x="2604" y="101575"/>
                </a:lnTo>
                <a:cubicBezTo>
                  <a:pt x="-893" y="98078"/>
                  <a:pt x="-893" y="92422"/>
                  <a:pt x="2604" y="88962"/>
                </a:cubicBezTo>
                <a:cubicBezTo>
                  <a:pt x="6102" y="85502"/>
                  <a:pt x="11757" y="85465"/>
                  <a:pt x="15218" y="88962"/>
                </a:cubicBezTo>
                <a:lnTo>
                  <a:pt x="22585" y="96329"/>
                </a:lnTo>
                <a:lnTo>
                  <a:pt x="37319" y="75270"/>
                </a:lnTo>
                <a:cubicBezTo>
                  <a:pt x="40146" y="71214"/>
                  <a:pt x="45727" y="70247"/>
                  <a:pt x="49746" y="73075"/>
                </a:cubicBezTo>
                <a:close/>
                <a:moveTo>
                  <a:pt x="83344" y="35719"/>
                </a:moveTo>
                <a:cubicBezTo>
                  <a:pt x="83344" y="29133"/>
                  <a:pt x="88664" y="23812"/>
                  <a:pt x="95250" y="23812"/>
                </a:cubicBezTo>
                <a:lnTo>
                  <a:pt x="178594" y="23812"/>
                </a:lnTo>
                <a:cubicBezTo>
                  <a:pt x="185179" y="23812"/>
                  <a:pt x="190500" y="29133"/>
                  <a:pt x="190500" y="35719"/>
                </a:cubicBezTo>
                <a:cubicBezTo>
                  <a:pt x="190500" y="42304"/>
                  <a:pt x="185179" y="47625"/>
                  <a:pt x="178594" y="47625"/>
                </a:cubicBezTo>
                <a:lnTo>
                  <a:pt x="95250" y="47625"/>
                </a:lnTo>
                <a:cubicBezTo>
                  <a:pt x="88664" y="47625"/>
                  <a:pt x="83344" y="42304"/>
                  <a:pt x="83344" y="35719"/>
                </a:cubicBezTo>
                <a:close/>
                <a:moveTo>
                  <a:pt x="83344" y="95250"/>
                </a:moveTo>
                <a:cubicBezTo>
                  <a:pt x="83344" y="88664"/>
                  <a:pt x="88664" y="83344"/>
                  <a:pt x="95250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95250" y="107156"/>
                </a:lnTo>
                <a:cubicBezTo>
                  <a:pt x="88664" y="107156"/>
                  <a:pt x="83344" y="101836"/>
                  <a:pt x="83344" y="95250"/>
                </a:cubicBezTo>
                <a:close/>
                <a:moveTo>
                  <a:pt x="59531" y="154781"/>
                </a:moveTo>
                <a:cubicBezTo>
                  <a:pt x="59531" y="148196"/>
                  <a:pt x="64852" y="142875"/>
                  <a:pt x="71438" y="142875"/>
                </a:cubicBez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71438" y="166688"/>
                </a:lnTo>
                <a:cubicBezTo>
                  <a:pt x="64852" y="166688"/>
                  <a:pt x="59531" y="161367"/>
                  <a:pt x="59531" y="154781"/>
                </a:cubicBezTo>
                <a:close/>
                <a:moveTo>
                  <a:pt x="23812" y="139898"/>
                </a:moveTo>
                <a:cubicBezTo>
                  <a:pt x="32027" y="139898"/>
                  <a:pt x="38695" y="146567"/>
                  <a:pt x="38695" y="154781"/>
                </a:cubicBezTo>
                <a:cubicBezTo>
                  <a:pt x="38695" y="162995"/>
                  <a:pt x="32027" y="169664"/>
                  <a:pt x="23812" y="169664"/>
                </a:cubicBezTo>
                <a:cubicBezTo>
                  <a:pt x="15598" y="169664"/>
                  <a:pt x="8930" y="162995"/>
                  <a:pt x="8930" y="154781"/>
                </a:cubicBezTo>
                <a:cubicBezTo>
                  <a:pt x="8930" y="146567"/>
                  <a:pt x="15598" y="139898"/>
                  <a:pt x="23812" y="139898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0183234" y="1566333"/>
            <a:ext cx="55774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场景需求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939817" y="1989667"/>
            <a:ext cx="5725583" cy="762000"/>
          </a:xfrm>
          <a:custGeom>
            <a:avLst/>
            <a:gdLst/>
            <a:ahLst/>
            <a:cxnLst/>
            <a:rect l="l" t="t" r="r" b="b"/>
            <a:pathLst>
              <a:path w="5725583" h="762000">
                <a:moveTo>
                  <a:pt x="84666" y="0"/>
                </a:moveTo>
                <a:lnTo>
                  <a:pt x="5640918" y="0"/>
                </a:lnTo>
                <a:cubicBezTo>
                  <a:pt x="5687677" y="0"/>
                  <a:pt x="5725583" y="37906"/>
                  <a:pt x="5725583" y="84666"/>
                </a:cubicBezTo>
                <a:lnTo>
                  <a:pt x="5725583" y="677334"/>
                </a:lnTo>
                <a:cubicBezTo>
                  <a:pt x="5725583" y="724094"/>
                  <a:pt x="5687677" y="762000"/>
                  <a:pt x="5640918" y="762000"/>
                </a:cubicBezTo>
                <a:lnTo>
                  <a:pt x="84666" y="762000"/>
                </a:lnTo>
                <a:cubicBezTo>
                  <a:pt x="37906" y="762000"/>
                  <a:pt x="0" y="724094"/>
                  <a:pt x="0" y="677334"/>
                </a:cubicBezTo>
                <a:lnTo>
                  <a:pt x="0" y="84666"/>
                </a:lnTo>
                <a:cubicBezTo>
                  <a:pt x="0" y="37937"/>
                  <a:pt x="37937" y="0"/>
                  <a:pt x="84666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10066817" y="2201333"/>
            <a:ext cx="84667" cy="84667"/>
          </a:xfrm>
          <a:custGeom>
            <a:avLst/>
            <a:gdLst/>
            <a:ahLst/>
            <a:cxnLst/>
            <a:rect l="l" t="t" r="r" b="b"/>
            <a:pathLst>
              <a:path w="84667" h="84667">
                <a:moveTo>
                  <a:pt x="42333" y="0"/>
                </a:moveTo>
                <a:lnTo>
                  <a:pt x="42333" y="0"/>
                </a:lnTo>
                <a:cubicBezTo>
                  <a:pt x="65713" y="0"/>
                  <a:pt x="84667" y="18953"/>
                  <a:pt x="84667" y="42333"/>
                </a:cubicBezTo>
                <a:lnTo>
                  <a:pt x="84667" y="42333"/>
                </a:lnTo>
                <a:cubicBezTo>
                  <a:pt x="84667" y="65713"/>
                  <a:pt x="65713" y="84667"/>
                  <a:pt x="42333" y="84667"/>
                </a:cubicBezTo>
                <a:lnTo>
                  <a:pt x="42333" y="84667"/>
                </a:lnTo>
                <a:cubicBezTo>
                  <a:pt x="18953" y="84667"/>
                  <a:pt x="0" y="65713"/>
                  <a:pt x="0" y="42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0236150" y="2116667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数据清洗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66817" y="2413000"/>
            <a:ext cx="5545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过滤掉金额≤0的无效订单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939817" y="2836333"/>
            <a:ext cx="5725583" cy="762000"/>
          </a:xfrm>
          <a:custGeom>
            <a:avLst/>
            <a:gdLst/>
            <a:ahLst/>
            <a:cxnLst/>
            <a:rect l="l" t="t" r="r" b="b"/>
            <a:pathLst>
              <a:path w="5725583" h="762000">
                <a:moveTo>
                  <a:pt x="84666" y="0"/>
                </a:moveTo>
                <a:lnTo>
                  <a:pt x="5640918" y="0"/>
                </a:lnTo>
                <a:cubicBezTo>
                  <a:pt x="5687677" y="0"/>
                  <a:pt x="5725583" y="37906"/>
                  <a:pt x="5725583" y="84666"/>
                </a:cubicBezTo>
                <a:lnTo>
                  <a:pt x="5725583" y="677334"/>
                </a:lnTo>
                <a:cubicBezTo>
                  <a:pt x="5725583" y="724094"/>
                  <a:pt x="5687677" y="762000"/>
                  <a:pt x="5640918" y="762000"/>
                </a:cubicBezTo>
                <a:lnTo>
                  <a:pt x="84666" y="762000"/>
                </a:lnTo>
                <a:cubicBezTo>
                  <a:pt x="37906" y="762000"/>
                  <a:pt x="0" y="724094"/>
                  <a:pt x="0" y="677334"/>
                </a:cubicBezTo>
                <a:lnTo>
                  <a:pt x="0" y="84666"/>
                </a:lnTo>
                <a:cubicBezTo>
                  <a:pt x="0" y="37937"/>
                  <a:pt x="37937" y="0"/>
                  <a:pt x="84666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10066817" y="3048000"/>
            <a:ext cx="84667" cy="84667"/>
          </a:xfrm>
          <a:custGeom>
            <a:avLst/>
            <a:gdLst/>
            <a:ahLst/>
            <a:cxnLst/>
            <a:rect l="l" t="t" r="r" b="b"/>
            <a:pathLst>
              <a:path w="84667" h="84667">
                <a:moveTo>
                  <a:pt x="42333" y="0"/>
                </a:moveTo>
                <a:lnTo>
                  <a:pt x="42333" y="0"/>
                </a:lnTo>
                <a:cubicBezTo>
                  <a:pt x="65713" y="0"/>
                  <a:pt x="84667" y="18953"/>
                  <a:pt x="84667" y="42333"/>
                </a:cubicBezTo>
                <a:lnTo>
                  <a:pt x="84667" y="42333"/>
                </a:lnTo>
                <a:cubicBezTo>
                  <a:pt x="84667" y="65713"/>
                  <a:pt x="65713" y="84667"/>
                  <a:pt x="42333" y="84667"/>
                </a:cubicBezTo>
                <a:lnTo>
                  <a:pt x="42333" y="84667"/>
                </a:lnTo>
                <a:cubicBezTo>
                  <a:pt x="18953" y="84667"/>
                  <a:pt x="0" y="65713"/>
                  <a:pt x="0" y="42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0236150" y="2963333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实时统计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66817" y="3259667"/>
            <a:ext cx="5545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按用户分组，实时累计每个用户的总消费金额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939817" y="3683000"/>
            <a:ext cx="5725583" cy="762000"/>
          </a:xfrm>
          <a:custGeom>
            <a:avLst/>
            <a:gdLst/>
            <a:ahLst/>
            <a:cxnLst/>
            <a:rect l="l" t="t" r="r" b="b"/>
            <a:pathLst>
              <a:path w="5725583" h="762000">
                <a:moveTo>
                  <a:pt x="84666" y="0"/>
                </a:moveTo>
                <a:lnTo>
                  <a:pt x="5640918" y="0"/>
                </a:lnTo>
                <a:cubicBezTo>
                  <a:pt x="5687677" y="0"/>
                  <a:pt x="5725583" y="37906"/>
                  <a:pt x="5725583" y="84666"/>
                </a:cubicBezTo>
                <a:lnTo>
                  <a:pt x="5725583" y="677334"/>
                </a:lnTo>
                <a:cubicBezTo>
                  <a:pt x="5725583" y="724094"/>
                  <a:pt x="5687677" y="762000"/>
                  <a:pt x="5640918" y="762000"/>
                </a:cubicBezTo>
                <a:lnTo>
                  <a:pt x="84666" y="762000"/>
                </a:lnTo>
                <a:cubicBezTo>
                  <a:pt x="37906" y="762000"/>
                  <a:pt x="0" y="724094"/>
                  <a:pt x="0" y="677334"/>
                </a:cubicBezTo>
                <a:lnTo>
                  <a:pt x="0" y="84666"/>
                </a:lnTo>
                <a:cubicBezTo>
                  <a:pt x="0" y="37937"/>
                  <a:pt x="37937" y="0"/>
                  <a:pt x="84666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10066817" y="3894667"/>
            <a:ext cx="84667" cy="84667"/>
          </a:xfrm>
          <a:custGeom>
            <a:avLst/>
            <a:gdLst/>
            <a:ahLst/>
            <a:cxnLst/>
            <a:rect l="l" t="t" r="r" b="b"/>
            <a:pathLst>
              <a:path w="84667" h="84667">
                <a:moveTo>
                  <a:pt x="42333" y="0"/>
                </a:moveTo>
                <a:lnTo>
                  <a:pt x="42333" y="0"/>
                </a:lnTo>
                <a:cubicBezTo>
                  <a:pt x="65713" y="0"/>
                  <a:pt x="84667" y="18953"/>
                  <a:pt x="84667" y="42333"/>
                </a:cubicBezTo>
                <a:lnTo>
                  <a:pt x="84667" y="42333"/>
                </a:lnTo>
                <a:cubicBezTo>
                  <a:pt x="84667" y="65713"/>
                  <a:pt x="65713" y="84667"/>
                  <a:pt x="42333" y="84667"/>
                </a:cubicBezTo>
                <a:lnTo>
                  <a:pt x="42333" y="84667"/>
                </a:lnTo>
                <a:cubicBezTo>
                  <a:pt x="18953" y="84667"/>
                  <a:pt x="0" y="65713"/>
                  <a:pt x="0" y="42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0236150" y="381000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结果输出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66817" y="4106333"/>
            <a:ext cx="5545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将统计结果实时打印到控制台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770484" y="4741333"/>
            <a:ext cx="6064250" cy="2222500"/>
          </a:xfrm>
          <a:custGeom>
            <a:avLst/>
            <a:gdLst/>
            <a:ahLst/>
            <a:cxnLst/>
            <a:rect l="l" t="t" r="r" b="b"/>
            <a:pathLst>
              <a:path w="6064250" h="2222500">
                <a:moveTo>
                  <a:pt x="126994" y="0"/>
                </a:moveTo>
                <a:lnTo>
                  <a:pt x="5937256" y="0"/>
                </a:lnTo>
                <a:cubicBezTo>
                  <a:pt x="6007393" y="0"/>
                  <a:pt x="6064250" y="56857"/>
                  <a:pt x="6064250" y="126994"/>
                </a:cubicBezTo>
                <a:lnTo>
                  <a:pt x="6064250" y="2095506"/>
                </a:lnTo>
                <a:cubicBezTo>
                  <a:pt x="6064250" y="2165643"/>
                  <a:pt x="6007393" y="2222500"/>
                  <a:pt x="5937256" y="2222500"/>
                </a:cubicBezTo>
                <a:lnTo>
                  <a:pt x="126994" y="2222500"/>
                </a:lnTo>
                <a:cubicBezTo>
                  <a:pt x="56857" y="2222500"/>
                  <a:pt x="0" y="2165643"/>
                  <a:pt x="0" y="2095506"/>
                </a:cubicBezTo>
                <a:lnTo>
                  <a:pt x="0" y="126994"/>
                </a:lnTo>
                <a:cubicBezTo>
                  <a:pt x="0" y="56857"/>
                  <a:pt x="56857" y="0"/>
                  <a:pt x="126994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9966275" y="496358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0183234" y="4910667"/>
            <a:ext cx="55774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预期输出示例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939817" y="5334000"/>
            <a:ext cx="5725583" cy="1460500"/>
          </a:xfrm>
          <a:custGeom>
            <a:avLst/>
            <a:gdLst/>
            <a:ahLst/>
            <a:cxnLst/>
            <a:rect l="l" t="t" r="r" b="b"/>
            <a:pathLst>
              <a:path w="5725583" h="1460500">
                <a:moveTo>
                  <a:pt x="84665" y="0"/>
                </a:moveTo>
                <a:lnTo>
                  <a:pt x="5640918" y="0"/>
                </a:lnTo>
                <a:cubicBezTo>
                  <a:pt x="5687677" y="0"/>
                  <a:pt x="5725583" y="37906"/>
                  <a:pt x="5725583" y="84665"/>
                </a:cubicBezTo>
                <a:lnTo>
                  <a:pt x="5725583" y="1375835"/>
                </a:lnTo>
                <a:cubicBezTo>
                  <a:pt x="5725583" y="1422594"/>
                  <a:pt x="5687677" y="1460500"/>
                  <a:pt x="5640918" y="1460500"/>
                </a:cubicBezTo>
                <a:lnTo>
                  <a:pt x="84665" y="1460500"/>
                </a:lnTo>
                <a:cubicBezTo>
                  <a:pt x="37906" y="1460500"/>
                  <a:pt x="0" y="1422594"/>
                  <a:pt x="0" y="1375835"/>
                </a:cubicBezTo>
                <a:lnTo>
                  <a:pt x="0" y="84665"/>
                </a:lnTo>
                <a:cubicBezTo>
                  <a:pt x="0" y="37937"/>
                  <a:pt x="37937" y="0"/>
                  <a:pt x="8466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10066817" y="5492750"/>
            <a:ext cx="4620452" cy="1137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实时累计消费:1&gt; Order{userId='User_1', amount=23.45} 实时累计消费:2&gt; Order{userId='User_3', amount=67.89} 实时累计消费:1&gt; Order{userId='User_1', amount=78.90} 实时累计消费:3&gt; Order{userId='User_0', amount=12.34} 实时累计消费:2&gt; Order{userId='User_3', amount=145.67}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770484" y="7088188"/>
            <a:ext cx="6064250" cy="1862667"/>
          </a:xfrm>
          <a:custGeom>
            <a:avLst/>
            <a:gdLst/>
            <a:ahLst/>
            <a:cxnLst/>
            <a:rect l="l" t="t" r="r" b="b"/>
            <a:pathLst>
              <a:path w="6064250" h="1862667">
                <a:moveTo>
                  <a:pt x="126997" y="0"/>
                </a:moveTo>
                <a:lnTo>
                  <a:pt x="5937253" y="0"/>
                </a:lnTo>
                <a:cubicBezTo>
                  <a:pt x="6007392" y="0"/>
                  <a:pt x="6064250" y="56858"/>
                  <a:pt x="6064250" y="126997"/>
                </a:cubicBezTo>
                <a:lnTo>
                  <a:pt x="6064250" y="1735670"/>
                </a:lnTo>
                <a:cubicBezTo>
                  <a:pt x="6064250" y="1805808"/>
                  <a:pt x="6007392" y="1862667"/>
                  <a:pt x="5937253" y="1862667"/>
                </a:cubicBezTo>
                <a:lnTo>
                  <a:pt x="126997" y="1862667"/>
                </a:lnTo>
                <a:cubicBezTo>
                  <a:pt x="56858" y="1862667"/>
                  <a:pt x="0" y="1805808"/>
                  <a:pt x="0" y="1735670"/>
                </a:cubicBezTo>
                <a:lnTo>
                  <a:pt x="0" y="126997"/>
                </a:lnTo>
                <a:cubicBezTo>
                  <a:pt x="0" y="56905"/>
                  <a:pt x="56905" y="0"/>
                  <a:pt x="126997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9954369" y="7310438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7859" y="72851"/>
                </a:moveTo>
                <a:lnTo>
                  <a:pt x="95696" y="104887"/>
                </a:lnTo>
                <a:cubicBezTo>
                  <a:pt x="99343" y="106375"/>
                  <a:pt x="103212" y="107156"/>
                  <a:pt x="107156" y="107156"/>
                </a:cubicBezTo>
                <a:cubicBezTo>
                  <a:pt x="111100" y="107156"/>
                  <a:pt x="114970" y="106375"/>
                  <a:pt x="118616" y="104887"/>
                </a:cubicBezTo>
                <a:lnTo>
                  <a:pt x="208806" y="67754"/>
                </a:lnTo>
                <a:cubicBezTo>
                  <a:pt x="212154" y="66377"/>
                  <a:pt x="214313" y="63140"/>
                  <a:pt x="214313" y="59531"/>
                </a:cubicBezTo>
                <a:cubicBezTo>
                  <a:pt x="214313" y="55922"/>
                  <a:pt x="212154" y="52685"/>
                  <a:pt x="208806" y="51308"/>
                </a:cubicBezTo>
                <a:lnTo>
                  <a:pt x="118616" y="14176"/>
                </a:lnTo>
                <a:cubicBezTo>
                  <a:pt x="114970" y="12688"/>
                  <a:pt x="111100" y="11906"/>
                  <a:pt x="107156" y="11906"/>
                </a:cubicBezTo>
                <a:cubicBezTo>
                  <a:pt x="103212" y="11906"/>
                  <a:pt x="99343" y="12688"/>
                  <a:pt x="95696" y="14176"/>
                </a:cubicBezTo>
                <a:lnTo>
                  <a:pt x="5507" y="51308"/>
                </a:lnTo>
                <a:cubicBezTo>
                  <a:pt x="2158" y="52685"/>
                  <a:pt x="0" y="55922"/>
                  <a:pt x="0" y="59531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cubicBezTo>
                  <a:pt x="13878" y="178594"/>
                  <a:pt x="17859" y="174613"/>
                  <a:pt x="17859" y="169664"/>
                </a:cubicBezTo>
                <a:lnTo>
                  <a:pt x="17859" y="72851"/>
                </a:lnTo>
                <a:close/>
                <a:moveTo>
                  <a:pt x="35719" y="99529"/>
                </a:moveTo>
                <a:lnTo>
                  <a:pt x="35719" y="142875"/>
                </a:lnTo>
                <a:cubicBezTo>
                  <a:pt x="35719" y="162595"/>
                  <a:pt x="67717" y="178594"/>
                  <a:pt x="107156" y="178594"/>
                </a:cubicBezTo>
                <a:cubicBezTo>
                  <a:pt x="146596" y="178594"/>
                  <a:pt x="178594" y="162595"/>
                  <a:pt x="178594" y="142875"/>
                </a:cubicBezTo>
                <a:lnTo>
                  <a:pt x="178594" y="99492"/>
                </a:lnTo>
                <a:lnTo>
                  <a:pt x="125425" y="121407"/>
                </a:lnTo>
                <a:cubicBezTo>
                  <a:pt x="119621" y="123788"/>
                  <a:pt x="113444" y="125016"/>
                  <a:pt x="107156" y="125016"/>
                </a:cubicBezTo>
                <a:cubicBezTo>
                  <a:pt x="100868" y="125016"/>
                  <a:pt x="94692" y="123788"/>
                  <a:pt x="88888" y="121407"/>
                </a:cubicBezTo>
                <a:lnTo>
                  <a:pt x="35719" y="99492"/>
                </a:ln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0183234" y="7257521"/>
            <a:ext cx="55774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学习要点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939817" y="7765521"/>
            <a:ext cx="84667" cy="84667"/>
          </a:xfrm>
          <a:custGeom>
            <a:avLst/>
            <a:gdLst/>
            <a:ahLst/>
            <a:cxnLst/>
            <a:rect l="l" t="t" r="r" b="b"/>
            <a:pathLst>
              <a:path w="84667" h="84667">
                <a:moveTo>
                  <a:pt x="42333" y="0"/>
                </a:moveTo>
                <a:lnTo>
                  <a:pt x="42333" y="0"/>
                </a:lnTo>
                <a:cubicBezTo>
                  <a:pt x="65713" y="0"/>
                  <a:pt x="84667" y="18953"/>
                  <a:pt x="84667" y="42333"/>
                </a:cubicBezTo>
                <a:lnTo>
                  <a:pt x="84667" y="42333"/>
                </a:lnTo>
                <a:cubicBezTo>
                  <a:pt x="84667" y="65713"/>
                  <a:pt x="65713" y="84667"/>
                  <a:pt x="42333" y="84667"/>
                </a:cubicBezTo>
                <a:lnTo>
                  <a:pt x="42333" y="84667"/>
                </a:lnTo>
                <a:cubicBezTo>
                  <a:pt x="18953" y="84667"/>
                  <a:pt x="0" y="65713"/>
                  <a:pt x="0" y="42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0109150" y="7680854"/>
            <a:ext cx="20955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POJO实体类需要有空构造函数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939817" y="8061854"/>
            <a:ext cx="84667" cy="84667"/>
          </a:xfrm>
          <a:custGeom>
            <a:avLst/>
            <a:gdLst/>
            <a:ahLst/>
            <a:cxnLst/>
            <a:rect l="l" t="t" r="r" b="b"/>
            <a:pathLst>
              <a:path w="84667" h="84667">
                <a:moveTo>
                  <a:pt x="42333" y="0"/>
                </a:moveTo>
                <a:lnTo>
                  <a:pt x="42333" y="0"/>
                </a:lnTo>
                <a:cubicBezTo>
                  <a:pt x="65713" y="0"/>
                  <a:pt x="84667" y="18953"/>
                  <a:pt x="84667" y="42333"/>
                </a:cubicBezTo>
                <a:lnTo>
                  <a:pt x="84667" y="42333"/>
                </a:lnTo>
                <a:cubicBezTo>
                  <a:pt x="84667" y="65713"/>
                  <a:pt x="65713" y="84667"/>
                  <a:pt x="42333" y="84667"/>
                </a:cubicBezTo>
                <a:lnTo>
                  <a:pt x="42333" y="84667"/>
                </a:lnTo>
                <a:cubicBezTo>
                  <a:pt x="18953" y="84667"/>
                  <a:pt x="0" y="65713"/>
                  <a:pt x="0" y="42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10109150" y="7977188"/>
            <a:ext cx="21801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使用自定义Source模拟实时数据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939817" y="8358188"/>
            <a:ext cx="84667" cy="84667"/>
          </a:xfrm>
          <a:custGeom>
            <a:avLst/>
            <a:gdLst/>
            <a:ahLst/>
            <a:cxnLst/>
            <a:rect l="l" t="t" r="r" b="b"/>
            <a:pathLst>
              <a:path w="84667" h="84667">
                <a:moveTo>
                  <a:pt x="42333" y="0"/>
                </a:moveTo>
                <a:lnTo>
                  <a:pt x="42333" y="0"/>
                </a:lnTo>
                <a:cubicBezTo>
                  <a:pt x="65713" y="0"/>
                  <a:pt x="84667" y="18953"/>
                  <a:pt x="84667" y="42333"/>
                </a:cubicBezTo>
                <a:lnTo>
                  <a:pt x="84667" y="42333"/>
                </a:lnTo>
                <a:cubicBezTo>
                  <a:pt x="84667" y="65713"/>
                  <a:pt x="65713" y="84667"/>
                  <a:pt x="42333" y="84667"/>
                </a:cubicBezTo>
                <a:lnTo>
                  <a:pt x="42333" y="84667"/>
                </a:lnTo>
                <a:cubicBezTo>
                  <a:pt x="18953" y="84667"/>
                  <a:pt x="0" y="65713"/>
                  <a:pt x="0" y="42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10109150" y="8273521"/>
            <a:ext cx="18203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reduce()实现滚动聚合逻辑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939817" y="8654521"/>
            <a:ext cx="84667" cy="84667"/>
          </a:xfrm>
          <a:custGeom>
            <a:avLst/>
            <a:gdLst/>
            <a:ahLst/>
            <a:cxnLst/>
            <a:rect l="l" t="t" r="r" b="b"/>
            <a:pathLst>
              <a:path w="84667" h="84667">
                <a:moveTo>
                  <a:pt x="42333" y="0"/>
                </a:moveTo>
                <a:lnTo>
                  <a:pt x="42333" y="0"/>
                </a:lnTo>
                <a:cubicBezTo>
                  <a:pt x="65713" y="0"/>
                  <a:pt x="84667" y="18953"/>
                  <a:pt x="84667" y="42333"/>
                </a:cubicBezTo>
                <a:lnTo>
                  <a:pt x="84667" y="42333"/>
                </a:lnTo>
                <a:cubicBezTo>
                  <a:pt x="84667" y="65713"/>
                  <a:pt x="65713" y="84667"/>
                  <a:pt x="42333" y="84667"/>
                </a:cubicBezTo>
                <a:lnTo>
                  <a:pt x="42333" y="84667"/>
                </a:lnTo>
                <a:cubicBezTo>
                  <a:pt x="18953" y="84667"/>
                  <a:pt x="0" y="65713"/>
                  <a:pt x="0" y="42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10109150" y="8569854"/>
            <a:ext cx="2148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本示例为滚动聚合，非窗口计算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cloudblue.com/a0f44efb1f5f19781e6975603b8ca7bbb807ec44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3556" r="3556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>
                  <a:alpha val="9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33400" y="1778000"/>
            <a:ext cx="1968500" cy="711200"/>
          </a:xfrm>
          <a:custGeom>
            <a:avLst/>
            <a:gdLst/>
            <a:ahLst/>
            <a:cxnLst/>
            <a:rect l="l" t="t" r="r" b="b"/>
            <a:pathLst>
              <a:path w="1968500" h="711200">
                <a:moveTo>
                  <a:pt x="0" y="0"/>
                </a:moveTo>
                <a:lnTo>
                  <a:pt x="1968500" y="0"/>
                </a:lnTo>
                <a:lnTo>
                  <a:pt x="19685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533400" y="1778000"/>
            <a:ext cx="50800" cy="711200"/>
          </a:xfrm>
          <a:custGeom>
            <a:avLst/>
            <a:gdLst/>
            <a:ahLst/>
            <a:cxnLst/>
            <a:rect l="l" t="t" r="r" b="b"/>
            <a:pathLst>
              <a:path w="50800" h="711200">
                <a:moveTo>
                  <a:pt x="0" y="0"/>
                </a:moveTo>
                <a:lnTo>
                  <a:pt x="50800" y="0"/>
                </a:lnTo>
                <a:lnTo>
                  <a:pt x="508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863600" y="1930400"/>
            <a:ext cx="1480741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kern="0" spc="120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PART 03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2794000"/>
            <a:ext cx="1569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进阶应用篇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8000" y="4241800"/>
            <a:ext cx="87249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深入时间与窗口、状态管理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构建生产级流处理应用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14350" y="5975350"/>
            <a:ext cx="3098800" cy="1384300"/>
          </a:xfrm>
          <a:custGeom>
            <a:avLst/>
            <a:gdLst/>
            <a:ahLst/>
            <a:cxnLst/>
            <a:rect l="l" t="t" r="r" b="b"/>
            <a:pathLst>
              <a:path w="3098800" h="1384300">
                <a:moveTo>
                  <a:pt x="101594" y="0"/>
                </a:moveTo>
                <a:lnTo>
                  <a:pt x="2997206" y="0"/>
                </a:lnTo>
                <a:cubicBezTo>
                  <a:pt x="3053315" y="0"/>
                  <a:pt x="3098800" y="45485"/>
                  <a:pt x="3098800" y="101594"/>
                </a:cubicBezTo>
                <a:lnTo>
                  <a:pt x="3098800" y="1282706"/>
                </a:lnTo>
                <a:cubicBezTo>
                  <a:pt x="3098800" y="1338815"/>
                  <a:pt x="3053315" y="1384300"/>
                  <a:pt x="2997206" y="1384300"/>
                </a:cubicBezTo>
                <a:lnTo>
                  <a:pt x="101594" y="1384300"/>
                </a:lnTo>
                <a:cubicBezTo>
                  <a:pt x="45485" y="1384300"/>
                  <a:pt x="0" y="1338815"/>
                  <a:pt x="0" y="1282706"/>
                </a:cubicBezTo>
                <a:lnTo>
                  <a:pt x="0" y="101594"/>
                </a:lnTo>
                <a:cubicBezTo>
                  <a:pt x="0" y="45485"/>
                  <a:pt x="45485" y="0"/>
                  <a:pt x="101594" y="0"/>
                </a:cubicBezTo>
                <a:close/>
              </a:path>
            </a:pathLst>
          </a:custGeom>
          <a:solidFill>
            <a:srgbClr val="333842">
              <a:alpha val="80000"/>
            </a:srgbClr>
          </a:solidFill>
          <a:ln w="12700">
            <a:solidFill>
              <a:srgbClr val="32C7B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755650" y="62357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97093" y="0"/>
                  <a:pt x="254000" y="56907"/>
                  <a:pt x="254000" y="127000"/>
                </a:cubicBezTo>
                <a:cubicBezTo>
                  <a:pt x="254000" y="197093"/>
                  <a:pt x="197093" y="254000"/>
                  <a:pt x="127000" y="254000"/>
                </a:cubicBezTo>
                <a:cubicBezTo>
                  <a:pt x="56907" y="254000"/>
                  <a:pt x="0" y="197093"/>
                  <a:pt x="0" y="127000"/>
                </a:cubicBezTo>
                <a:cubicBezTo>
                  <a:pt x="0" y="56907"/>
                  <a:pt x="56907" y="0"/>
                  <a:pt x="127000" y="0"/>
                </a:cubicBezTo>
                <a:close/>
                <a:moveTo>
                  <a:pt x="115094" y="59531"/>
                </a:moveTo>
                <a:lnTo>
                  <a:pt x="115094" y="127000"/>
                </a:lnTo>
                <a:cubicBezTo>
                  <a:pt x="115094" y="130969"/>
                  <a:pt x="117078" y="134689"/>
                  <a:pt x="120402" y="136922"/>
                </a:cubicBezTo>
                <a:lnTo>
                  <a:pt x="168027" y="168672"/>
                </a:lnTo>
                <a:cubicBezTo>
                  <a:pt x="173484" y="172343"/>
                  <a:pt x="180876" y="170855"/>
                  <a:pt x="184547" y="165348"/>
                </a:cubicBezTo>
                <a:cubicBezTo>
                  <a:pt x="188218" y="159841"/>
                  <a:pt x="186730" y="152499"/>
                  <a:pt x="181223" y="148828"/>
                </a:cubicBezTo>
                <a:lnTo>
                  <a:pt x="138906" y="120650"/>
                </a:lnTo>
                <a:lnTo>
                  <a:pt x="138906" y="59531"/>
                </a:lnTo>
                <a:cubicBezTo>
                  <a:pt x="138906" y="52933"/>
                  <a:pt x="133598" y="47625"/>
                  <a:pt x="127000" y="47625"/>
                </a:cubicBezTo>
                <a:cubicBezTo>
                  <a:pt x="120402" y="47625"/>
                  <a:pt x="115094" y="52933"/>
                  <a:pt x="115094" y="59531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1193800" y="618490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时间语义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23900" y="6642100"/>
            <a:ext cx="27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事件时间 · 处理时间 · Watermark机制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833217" y="5975350"/>
            <a:ext cx="3098800" cy="1384300"/>
          </a:xfrm>
          <a:custGeom>
            <a:avLst/>
            <a:gdLst/>
            <a:ahLst/>
            <a:cxnLst/>
            <a:rect l="l" t="t" r="r" b="b"/>
            <a:pathLst>
              <a:path w="3098800" h="1384300">
                <a:moveTo>
                  <a:pt x="101594" y="0"/>
                </a:moveTo>
                <a:lnTo>
                  <a:pt x="2997206" y="0"/>
                </a:lnTo>
                <a:cubicBezTo>
                  <a:pt x="3053315" y="0"/>
                  <a:pt x="3098800" y="45485"/>
                  <a:pt x="3098800" y="101594"/>
                </a:cubicBezTo>
                <a:lnTo>
                  <a:pt x="3098800" y="1282706"/>
                </a:lnTo>
                <a:cubicBezTo>
                  <a:pt x="3098800" y="1338815"/>
                  <a:pt x="3053315" y="1384300"/>
                  <a:pt x="2997206" y="1384300"/>
                </a:cubicBezTo>
                <a:lnTo>
                  <a:pt x="101594" y="1384300"/>
                </a:lnTo>
                <a:cubicBezTo>
                  <a:pt x="45485" y="1384300"/>
                  <a:pt x="0" y="1338815"/>
                  <a:pt x="0" y="1282706"/>
                </a:cubicBezTo>
                <a:lnTo>
                  <a:pt x="0" y="101594"/>
                </a:lnTo>
                <a:cubicBezTo>
                  <a:pt x="0" y="45485"/>
                  <a:pt x="45485" y="0"/>
                  <a:pt x="101594" y="0"/>
                </a:cubicBezTo>
                <a:close/>
              </a:path>
            </a:pathLst>
          </a:custGeom>
          <a:solidFill>
            <a:srgbClr val="333842">
              <a:alpha val="80000"/>
            </a:srgbClr>
          </a:solidFill>
          <a:ln w="12700">
            <a:solidFill>
              <a:srgbClr val="32C7B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4074517" y="62357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31750"/>
                </a:moveTo>
                <a:cubicBezTo>
                  <a:pt x="14238" y="31750"/>
                  <a:pt x="0" y="45988"/>
                  <a:pt x="0" y="63500"/>
                </a:cubicBezTo>
                <a:lnTo>
                  <a:pt x="0" y="190500"/>
                </a:lnTo>
                <a:cubicBezTo>
                  <a:pt x="0" y="208012"/>
                  <a:pt x="14238" y="222250"/>
                  <a:pt x="31750" y="222250"/>
                </a:cubicBezTo>
                <a:lnTo>
                  <a:pt x="222250" y="222250"/>
                </a:lnTo>
                <a:cubicBezTo>
                  <a:pt x="239762" y="222250"/>
                  <a:pt x="254000" y="208012"/>
                  <a:pt x="254000" y="190500"/>
                </a:cubicBezTo>
                <a:lnTo>
                  <a:pt x="254000" y="63500"/>
                </a:lnTo>
                <a:cubicBezTo>
                  <a:pt x="254000" y="45988"/>
                  <a:pt x="239762" y="31750"/>
                  <a:pt x="222250" y="31750"/>
                </a:cubicBezTo>
                <a:lnTo>
                  <a:pt x="31750" y="31750"/>
                </a:lnTo>
                <a:close/>
                <a:moveTo>
                  <a:pt x="43656" y="63500"/>
                </a:moveTo>
                <a:lnTo>
                  <a:pt x="210344" y="63500"/>
                </a:lnTo>
                <a:cubicBezTo>
                  <a:pt x="216942" y="63500"/>
                  <a:pt x="222250" y="68808"/>
                  <a:pt x="222250" y="75406"/>
                </a:cubicBezTo>
                <a:cubicBezTo>
                  <a:pt x="222250" y="82004"/>
                  <a:pt x="216942" y="87313"/>
                  <a:pt x="210344" y="87313"/>
                </a:cubicBezTo>
                <a:lnTo>
                  <a:pt x="43656" y="87313"/>
                </a:lnTo>
                <a:cubicBezTo>
                  <a:pt x="37058" y="87313"/>
                  <a:pt x="31750" y="82004"/>
                  <a:pt x="31750" y="75406"/>
                </a:cubicBezTo>
                <a:cubicBezTo>
                  <a:pt x="31750" y="68808"/>
                  <a:pt x="37058" y="63500"/>
                  <a:pt x="43656" y="6350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4512667" y="618490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窗口机制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042767" y="6642100"/>
            <a:ext cx="2768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滚动窗口 · 滑动窗口 · 会话窗口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152184" y="5975350"/>
            <a:ext cx="3098800" cy="1384300"/>
          </a:xfrm>
          <a:custGeom>
            <a:avLst/>
            <a:gdLst/>
            <a:ahLst/>
            <a:cxnLst/>
            <a:rect l="l" t="t" r="r" b="b"/>
            <a:pathLst>
              <a:path w="3098800" h="1384300">
                <a:moveTo>
                  <a:pt x="101594" y="0"/>
                </a:moveTo>
                <a:lnTo>
                  <a:pt x="2997206" y="0"/>
                </a:lnTo>
                <a:cubicBezTo>
                  <a:pt x="3053315" y="0"/>
                  <a:pt x="3098800" y="45485"/>
                  <a:pt x="3098800" y="101594"/>
                </a:cubicBezTo>
                <a:lnTo>
                  <a:pt x="3098800" y="1282706"/>
                </a:lnTo>
                <a:cubicBezTo>
                  <a:pt x="3098800" y="1338815"/>
                  <a:pt x="3053315" y="1384300"/>
                  <a:pt x="2997206" y="1384300"/>
                </a:cubicBezTo>
                <a:lnTo>
                  <a:pt x="101594" y="1384300"/>
                </a:lnTo>
                <a:cubicBezTo>
                  <a:pt x="45485" y="1384300"/>
                  <a:pt x="0" y="1338815"/>
                  <a:pt x="0" y="1282706"/>
                </a:cubicBezTo>
                <a:lnTo>
                  <a:pt x="0" y="101594"/>
                </a:lnTo>
                <a:cubicBezTo>
                  <a:pt x="0" y="45485"/>
                  <a:pt x="45485" y="0"/>
                  <a:pt x="101594" y="0"/>
                </a:cubicBezTo>
                <a:close/>
              </a:path>
            </a:pathLst>
          </a:custGeom>
          <a:solidFill>
            <a:srgbClr val="333842">
              <a:alpha val="80000"/>
            </a:srgbClr>
          </a:solidFill>
          <a:ln w="12700">
            <a:solidFill>
              <a:srgbClr val="32C7B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7409359" y="62357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222250" y="102096"/>
                </a:moveTo>
                <a:cubicBezTo>
                  <a:pt x="214908" y="106958"/>
                  <a:pt x="206474" y="110877"/>
                  <a:pt x="197693" y="114002"/>
                </a:cubicBezTo>
                <a:cubicBezTo>
                  <a:pt x="174377" y="122337"/>
                  <a:pt x="143768" y="127000"/>
                  <a:pt x="111125" y="127000"/>
                </a:cubicBezTo>
                <a:cubicBezTo>
                  <a:pt x="78482" y="127000"/>
                  <a:pt x="47823" y="122287"/>
                  <a:pt x="24557" y="114002"/>
                </a:cubicBezTo>
                <a:cubicBezTo>
                  <a:pt x="15825" y="110877"/>
                  <a:pt x="7342" y="106958"/>
                  <a:pt x="0" y="102096"/>
                </a:cubicBezTo>
                <a:lnTo>
                  <a:pt x="0" y="142875"/>
                </a:lnTo>
                <a:cubicBezTo>
                  <a:pt x="0" y="164802"/>
                  <a:pt x="49758" y="182563"/>
                  <a:pt x="111125" y="182563"/>
                </a:cubicBezTo>
                <a:cubicBezTo>
                  <a:pt x="172492" y="182563"/>
                  <a:pt x="222250" y="164802"/>
                  <a:pt x="222250" y="142875"/>
                </a:cubicBezTo>
                <a:lnTo>
                  <a:pt x="222250" y="102096"/>
                </a:lnTo>
                <a:close/>
                <a:moveTo>
                  <a:pt x="222250" y="63500"/>
                </a:moveTo>
                <a:lnTo>
                  <a:pt x="222250" y="39688"/>
                </a:lnTo>
                <a:cubicBezTo>
                  <a:pt x="222250" y="17760"/>
                  <a:pt x="172492" y="0"/>
                  <a:pt x="111125" y="0"/>
                </a:cubicBezTo>
                <a:cubicBezTo>
                  <a:pt x="49758" y="0"/>
                  <a:pt x="0" y="17760"/>
                  <a:pt x="0" y="39688"/>
                </a:cubicBezTo>
                <a:lnTo>
                  <a:pt x="0" y="63500"/>
                </a:lnTo>
                <a:cubicBezTo>
                  <a:pt x="0" y="85427"/>
                  <a:pt x="49758" y="103188"/>
                  <a:pt x="111125" y="103188"/>
                </a:cubicBezTo>
                <a:cubicBezTo>
                  <a:pt x="172492" y="103188"/>
                  <a:pt x="222250" y="85427"/>
                  <a:pt x="222250" y="63500"/>
                </a:cubicBezTo>
                <a:close/>
                <a:moveTo>
                  <a:pt x="197693" y="193377"/>
                </a:moveTo>
                <a:cubicBezTo>
                  <a:pt x="174427" y="201662"/>
                  <a:pt x="143818" y="206375"/>
                  <a:pt x="111125" y="206375"/>
                </a:cubicBezTo>
                <a:cubicBezTo>
                  <a:pt x="78432" y="206375"/>
                  <a:pt x="47823" y="201662"/>
                  <a:pt x="24557" y="193377"/>
                </a:cubicBezTo>
                <a:cubicBezTo>
                  <a:pt x="15825" y="190252"/>
                  <a:pt x="7342" y="186333"/>
                  <a:pt x="0" y="181471"/>
                </a:cubicBezTo>
                <a:lnTo>
                  <a:pt x="0" y="214313"/>
                </a:lnTo>
                <a:cubicBezTo>
                  <a:pt x="0" y="236240"/>
                  <a:pt x="49758" y="254000"/>
                  <a:pt x="111125" y="254000"/>
                </a:cubicBezTo>
                <a:cubicBezTo>
                  <a:pt x="172492" y="254000"/>
                  <a:pt x="222250" y="236240"/>
                  <a:pt x="222250" y="214313"/>
                </a:cubicBezTo>
                <a:lnTo>
                  <a:pt x="222250" y="181471"/>
                </a:lnTo>
                <a:cubicBezTo>
                  <a:pt x="214908" y="186333"/>
                  <a:pt x="206474" y="190252"/>
                  <a:pt x="197693" y="193377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7831634" y="618490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状态管理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361734" y="6642100"/>
            <a:ext cx="27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Keyed State · Operator State · Checkpoint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23333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84667" y="0"/>
                </a:moveTo>
                <a:lnTo>
                  <a:pt x="338667" y="0"/>
                </a:lnTo>
                <a:cubicBezTo>
                  <a:pt x="385427" y="0"/>
                  <a:pt x="423333" y="37907"/>
                  <a:pt x="423333" y="84667"/>
                </a:cubicBezTo>
                <a:lnTo>
                  <a:pt x="423333" y="338667"/>
                </a:lnTo>
                <a:cubicBezTo>
                  <a:pt x="423333" y="385427"/>
                  <a:pt x="385427" y="423333"/>
                  <a:pt x="338667" y="423333"/>
                </a:cubicBezTo>
                <a:lnTo>
                  <a:pt x="84667" y="423333"/>
                </a:lnTo>
                <a:cubicBezTo>
                  <a:pt x="37907" y="423333"/>
                  <a:pt x="0" y="385427"/>
                  <a:pt x="0" y="338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42396" y="539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973667" y="423333"/>
            <a:ext cx="4783667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时间语义与Watermark机制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73667" y="931333"/>
            <a:ext cx="14954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深入理解Flink的时间语义体系与Watermark原理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3333" y="1397000"/>
            <a:ext cx="7620000" cy="4699000"/>
          </a:xfrm>
          <a:custGeom>
            <a:avLst/>
            <a:gdLst/>
            <a:ahLst/>
            <a:cxnLst/>
            <a:rect l="l" t="t" r="r" b="b"/>
            <a:pathLst>
              <a:path w="7620000" h="4699000">
                <a:moveTo>
                  <a:pt x="127014" y="0"/>
                </a:moveTo>
                <a:lnTo>
                  <a:pt x="7492986" y="0"/>
                </a:lnTo>
                <a:cubicBezTo>
                  <a:pt x="7563134" y="0"/>
                  <a:pt x="7620000" y="56866"/>
                  <a:pt x="7620000" y="127014"/>
                </a:cubicBezTo>
                <a:lnTo>
                  <a:pt x="7620000" y="4571986"/>
                </a:lnTo>
                <a:cubicBezTo>
                  <a:pt x="7620000" y="4642134"/>
                  <a:pt x="7563134" y="4699000"/>
                  <a:pt x="7492986" y="4699000"/>
                </a:cubicBezTo>
                <a:lnTo>
                  <a:pt x="127014" y="4699000"/>
                </a:lnTo>
                <a:cubicBezTo>
                  <a:pt x="56866" y="4699000"/>
                  <a:pt x="0" y="4642134"/>
                  <a:pt x="0" y="4571986"/>
                </a:cubicBezTo>
                <a:lnTo>
                  <a:pt x="0" y="127014"/>
                </a:lnTo>
                <a:cubicBezTo>
                  <a:pt x="0" y="56913"/>
                  <a:pt x="56913" y="0"/>
                  <a:pt x="127014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45583" y="1608667"/>
            <a:ext cx="158750" cy="211667"/>
          </a:xfrm>
          <a:custGeom>
            <a:avLst/>
            <a:gdLst/>
            <a:ahLst/>
            <a:cxnLst/>
            <a:rect l="l" t="t" r="r" b="b"/>
            <a:pathLst>
              <a:path w="158750" h="211667">
                <a:moveTo>
                  <a:pt x="13229" y="0"/>
                </a:moveTo>
                <a:cubicBezTo>
                  <a:pt x="5912" y="0"/>
                  <a:pt x="0" y="5912"/>
                  <a:pt x="0" y="13229"/>
                </a:cubicBezTo>
                <a:cubicBezTo>
                  <a:pt x="0" y="20547"/>
                  <a:pt x="5912" y="26458"/>
                  <a:pt x="13229" y="26458"/>
                </a:cubicBezTo>
                <a:lnTo>
                  <a:pt x="13229" y="31006"/>
                </a:lnTo>
                <a:cubicBezTo>
                  <a:pt x="13229" y="48535"/>
                  <a:pt x="20216" y="65360"/>
                  <a:pt x="32618" y="77763"/>
                </a:cubicBezTo>
                <a:lnTo>
                  <a:pt x="60689" y="105833"/>
                </a:lnTo>
                <a:lnTo>
                  <a:pt x="32618" y="133904"/>
                </a:lnTo>
                <a:cubicBezTo>
                  <a:pt x="20216" y="146306"/>
                  <a:pt x="13229" y="163132"/>
                  <a:pt x="13229" y="180661"/>
                </a:cubicBezTo>
                <a:lnTo>
                  <a:pt x="13229" y="185208"/>
                </a:lnTo>
                <a:cubicBezTo>
                  <a:pt x="5912" y="185208"/>
                  <a:pt x="0" y="191120"/>
                  <a:pt x="0" y="198438"/>
                </a:cubicBezTo>
                <a:cubicBezTo>
                  <a:pt x="0" y="205755"/>
                  <a:pt x="5912" y="211667"/>
                  <a:pt x="13229" y="211667"/>
                </a:cubicBezTo>
                <a:lnTo>
                  <a:pt x="145521" y="211667"/>
                </a:lnTo>
                <a:cubicBezTo>
                  <a:pt x="152838" y="211667"/>
                  <a:pt x="158750" y="205755"/>
                  <a:pt x="158750" y="198438"/>
                </a:cubicBezTo>
                <a:cubicBezTo>
                  <a:pt x="158750" y="191120"/>
                  <a:pt x="152838" y="185208"/>
                  <a:pt x="145521" y="185208"/>
                </a:cubicBezTo>
                <a:lnTo>
                  <a:pt x="145521" y="180661"/>
                </a:lnTo>
                <a:cubicBezTo>
                  <a:pt x="145521" y="163132"/>
                  <a:pt x="138534" y="146306"/>
                  <a:pt x="126132" y="133904"/>
                </a:cubicBezTo>
                <a:lnTo>
                  <a:pt x="98061" y="105833"/>
                </a:lnTo>
                <a:lnTo>
                  <a:pt x="126132" y="77763"/>
                </a:lnTo>
                <a:cubicBezTo>
                  <a:pt x="138534" y="65360"/>
                  <a:pt x="145521" y="48535"/>
                  <a:pt x="145521" y="31006"/>
                </a:cubicBezTo>
                <a:lnTo>
                  <a:pt x="145521" y="26458"/>
                </a:lnTo>
                <a:cubicBezTo>
                  <a:pt x="152838" y="26458"/>
                  <a:pt x="158750" y="20547"/>
                  <a:pt x="158750" y="13229"/>
                </a:cubicBezTo>
                <a:cubicBezTo>
                  <a:pt x="158750" y="5912"/>
                  <a:pt x="152838" y="0"/>
                  <a:pt x="145521" y="0"/>
                </a:cubicBezTo>
                <a:lnTo>
                  <a:pt x="13229" y="0"/>
                </a:lnTo>
                <a:close/>
                <a:moveTo>
                  <a:pt x="39688" y="31006"/>
                </a:moveTo>
                <a:lnTo>
                  <a:pt x="39688" y="26458"/>
                </a:lnTo>
                <a:lnTo>
                  <a:pt x="119063" y="26458"/>
                </a:lnTo>
                <a:lnTo>
                  <a:pt x="119063" y="31006"/>
                </a:lnTo>
                <a:cubicBezTo>
                  <a:pt x="119063" y="38861"/>
                  <a:pt x="116747" y="46467"/>
                  <a:pt x="112448" y="52917"/>
                </a:cubicBezTo>
                <a:lnTo>
                  <a:pt x="46302" y="52917"/>
                </a:lnTo>
                <a:cubicBezTo>
                  <a:pt x="42044" y="46467"/>
                  <a:pt x="39688" y="38861"/>
                  <a:pt x="39688" y="31006"/>
                </a:cubicBezTo>
                <a:close/>
                <a:moveTo>
                  <a:pt x="46302" y="158750"/>
                </a:moveTo>
                <a:cubicBezTo>
                  <a:pt x="47749" y="156559"/>
                  <a:pt x="49444" y="154492"/>
                  <a:pt x="51304" y="152590"/>
                </a:cubicBezTo>
                <a:lnTo>
                  <a:pt x="79375" y="124520"/>
                </a:lnTo>
                <a:lnTo>
                  <a:pt x="107446" y="152590"/>
                </a:lnTo>
                <a:cubicBezTo>
                  <a:pt x="109347" y="154492"/>
                  <a:pt x="111001" y="156559"/>
                  <a:pt x="112489" y="158750"/>
                </a:cubicBezTo>
                <a:lnTo>
                  <a:pt x="46302" y="158750"/>
                </a:ln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57250" y="1566333"/>
            <a:ext cx="7122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事件时间 vs 处理时间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3250" y="1989667"/>
            <a:ext cx="7270750" cy="1354667"/>
          </a:xfrm>
          <a:custGeom>
            <a:avLst/>
            <a:gdLst/>
            <a:ahLst/>
            <a:cxnLst/>
            <a:rect l="l" t="t" r="r" b="b"/>
            <a:pathLst>
              <a:path w="7270750" h="1354667">
                <a:moveTo>
                  <a:pt x="21167" y="0"/>
                </a:moveTo>
                <a:lnTo>
                  <a:pt x="7186083" y="0"/>
                </a:lnTo>
                <a:cubicBezTo>
                  <a:pt x="7232843" y="0"/>
                  <a:pt x="7270750" y="37907"/>
                  <a:pt x="7270750" y="84667"/>
                </a:cubicBezTo>
                <a:lnTo>
                  <a:pt x="7270750" y="1270000"/>
                </a:lnTo>
                <a:cubicBezTo>
                  <a:pt x="7270750" y="1316760"/>
                  <a:pt x="7232843" y="1354667"/>
                  <a:pt x="7186083" y="1354667"/>
                </a:cubicBezTo>
                <a:lnTo>
                  <a:pt x="21167" y="1354667"/>
                </a:lnTo>
                <a:cubicBezTo>
                  <a:pt x="9477" y="1354667"/>
                  <a:pt x="0" y="1345190"/>
                  <a:pt x="0" y="1333500"/>
                </a:cubicBezTo>
                <a:lnTo>
                  <a:pt x="0" y="21167"/>
                </a:lnTo>
                <a:cubicBezTo>
                  <a:pt x="0" y="9477"/>
                  <a:pt x="9477" y="0"/>
                  <a:pt x="2116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603250" y="1989667"/>
            <a:ext cx="21167" cy="1354667"/>
          </a:xfrm>
          <a:custGeom>
            <a:avLst/>
            <a:gdLst/>
            <a:ahLst/>
            <a:cxnLst/>
            <a:rect l="l" t="t" r="r" b="b"/>
            <a:pathLst>
              <a:path w="21167" h="1354667">
                <a:moveTo>
                  <a:pt x="21167" y="0"/>
                </a:moveTo>
                <a:lnTo>
                  <a:pt x="21167" y="0"/>
                </a:lnTo>
                <a:lnTo>
                  <a:pt x="21167" y="1354667"/>
                </a:lnTo>
                <a:lnTo>
                  <a:pt x="21167" y="1354667"/>
                </a:lnTo>
                <a:cubicBezTo>
                  <a:pt x="9477" y="1354667"/>
                  <a:pt x="0" y="1345190"/>
                  <a:pt x="0" y="1333500"/>
                </a:cubicBezTo>
                <a:lnTo>
                  <a:pt x="0" y="21167"/>
                </a:lnTo>
                <a:cubicBezTo>
                  <a:pt x="0" y="9477"/>
                  <a:pt x="9477" y="0"/>
                  <a:pt x="21167" y="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40833" y="2116667"/>
            <a:ext cx="20108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Event Time (事件时间)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23667" y="2137833"/>
            <a:ext cx="423333" cy="254000"/>
          </a:xfrm>
          <a:custGeom>
            <a:avLst/>
            <a:gdLst/>
            <a:ahLst/>
            <a:cxnLst/>
            <a:rect l="l" t="t" r="r" b="b"/>
            <a:pathLst>
              <a:path w="423333" h="254000">
                <a:moveTo>
                  <a:pt x="127000" y="0"/>
                </a:moveTo>
                <a:lnTo>
                  <a:pt x="296333" y="0"/>
                </a:lnTo>
                <a:cubicBezTo>
                  <a:pt x="366427" y="0"/>
                  <a:pt x="423333" y="56907"/>
                  <a:pt x="423333" y="127000"/>
                </a:cubicBezTo>
                <a:lnTo>
                  <a:pt x="423333" y="127000"/>
                </a:lnTo>
                <a:cubicBezTo>
                  <a:pt x="423333" y="197093"/>
                  <a:pt x="366427" y="254000"/>
                  <a:pt x="296333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7323667" y="2137833"/>
            <a:ext cx="486833" cy="254000"/>
          </a:xfrm>
          <a:prstGeom prst="rect">
            <a:avLst/>
          </a:prstGeom>
          <a:noFill/>
          <a:ln/>
        </p:spPr>
        <p:txBody>
          <a:bodyPr wrap="square" lIns="84667" tIns="42333" rIns="84667" bIns="42333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推荐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0833" y="2497667"/>
            <a:ext cx="7080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事件实际发生的时间。结果确定，不受系统负载影响，能够正确处理乱序事件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71260" y="2825750"/>
            <a:ext cx="129646" cy="148167"/>
          </a:xfrm>
          <a:custGeom>
            <a:avLst/>
            <a:gdLst/>
            <a:ahLst/>
            <a:cxnLst/>
            <a:rect l="l" t="t" r="r" b="b"/>
            <a:pathLst>
              <a:path w="129646" h="148167">
                <a:moveTo>
                  <a:pt x="125826" y="20286"/>
                </a:moveTo>
                <a:cubicBezTo>
                  <a:pt x="129964" y="23296"/>
                  <a:pt x="130890" y="29083"/>
                  <a:pt x="127881" y="33222"/>
                </a:cubicBezTo>
                <a:lnTo>
                  <a:pt x="53797" y="135086"/>
                </a:lnTo>
                <a:cubicBezTo>
                  <a:pt x="52206" y="137286"/>
                  <a:pt x="49746" y="138646"/>
                  <a:pt x="47026" y="138877"/>
                </a:cubicBezTo>
                <a:cubicBezTo>
                  <a:pt x="44305" y="139109"/>
                  <a:pt x="41672" y="138096"/>
                  <a:pt x="39762" y="136186"/>
                </a:cubicBezTo>
                <a:lnTo>
                  <a:pt x="2720" y="99144"/>
                </a:lnTo>
                <a:cubicBezTo>
                  <a:pt x="-897" y="95527"/>
                  <a:pt x="-897" y="89652"/>
                  <a:pt x="2720" y="86035"/>
                </a:cubicBezTo>
                <a:cubicBezTo>
                  <a:pt x="6338" y="82418"/>
                  <a:pt x="12212" y="82418"/>
                  <a:pt x="15830" y="86035"/>
                </a:cubicBezTo>
                <a:lnTo>
                  <a:pt x="45202" y="115408"/>
                </a:lnTo>
                <a:lnTo>
                  <a:pt x="112919" y="22312"/>
                </a:lnTo>
                <a:cubicBezTo>
                  <a:pt x="115929" y="18174"/>
                  <a:pt x="121717" y="17248"/>
                  <a:pt x="125855" y="20257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010708" y="2794000"/>
            <a:ext cx="3185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计算结果与处理顺序无关，可回放得到一致结果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1260" y="3037417"/>
            <a:ext cx="129646" cy="148167"/>
          </a:xfrm>
          <a:custGeom>
            <a:avLst/>
            <a:gdLst/>
            <a:ahLst/>
            <a:cxnLst/>
            <a:rect l="l" t="t" r="r" b="b"/>
            <a:pathLst>
              <a:path w="129646" h="148167">
                <a:moveTo>
                  <a:pt x="125826" y="20286"/>
                </a:moveTo>
                <a:cubicBezTo>
                  <a:pt x="129964" y="23296"/>
                  <a:pt x="130890" y="29083"/>
                  <a:pt x="127881" y="33222"/>
                </a:cubicBezTo>
                <a:lnTo>
                  <a:pt x="53797" y="135086"/>
                </a:lnTo>
                <a:cubicBezTo>
                  <a:pt x="52206" y="137286"/>
                  <a:pt x="49746" y="138646"/>
                  <a:pt x="47026" y="138877"/>
                </a:cubicBezTo>
                <a:cubicBezTo>
                  <a:pt x="44305" y="139109"/>
                  <a:pt x="41672" y="138096"/>
                  <a:pt x="39762" y="136186"/>
                </a:cubicBezTo>
                <a:lnTo>
                  <a:pt x="2720" y="99144"/>
                </a:lnTo>
                <a:cubicBezTo>
                  <a:pt x="-897" y="95527"/>
                  <a:pt x="-897" y="89652"/>
                  <a:pt x="2720" y="86035"/>
                </a:cubicBezTo>
                <a:cubicBezTo>
                  <a:pt x="6338" y="82418"/>
                  <a:pt x="12212" y="82418"/>
                  <a:pt x="15830" y="86035"/>
                </a:cubicBezTo>
                <a:lnTo>
                  <a:pt x="45202" y="115408"/>
                </a:lnTo>
                <a:lnTo>
                  <a:pt x="112919" y="22312"/>
                </a:lnTo>
                <a:cubicBezTo>
                  <a:pt x="115929" y="18174"/>
                  <a:pt x="121717" y="17248"/>
                  <a:pt x="125855" y="20257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010708" y="3005667"/>
            <a:ext cx="2444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严格以事件发生时间构建窗口与聚合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3250" y="3471333"/>
            <a:ext cx="7270750" cy="1354667"/>
          </a:xfrm>
          <a:custGeom>
            <a:avLst/>
            <a:gdLst/>
            <a:ahLst/>
            <a:cxnLst/>
            <a:rect l="l" t="t" r="r" b="b"/>
            <a:pathLst>
              <a:path w="7270750" h="1354667">
                <a:moveTo>
                  <a:pt x="21167" y="0"/>
                </a:moveTo>
                <a:lnTo>
                  <a:pt x="7186083" y="0"/>
                </a:lnTo>
                <a:cubicBezTo>
                  <a:pt x="7232843" y="0"/>
                  <a:pt x="7270750" y="37907"/>
                  <a:pt x="7270750" y="84667"/>
                </a:cubicBezTo>
                <a:lnTo>
                  <a:pt x="7270750" y="1270000"/>
                </a:lnTo>
                <a:cubicBezTo>
                  <a:pt x="7270750" y="1316760"/>
                  <a:pt x="7232843" y="1354667"/>
                  <a:pt x="7186083" y="1354667"/>
                </a:cubicBezTo>
                <a:lnTo>
                  <a:pt x="21167" y="1354667"/>
                </a:lnTo>
                <a:cubicBezTo>
                  <a:pt x="9477" y="1354667"/>
                  <a:pt x="0" y="1345190"/>
                  <a:pt x="0" y="1333500"/>
                </a:cubicBezTo>
                <a:lnTo>
                  <a:pt x="0" y="21167"/>
                </a:lnTo>
                <a:cubicBezTo>
                  <a:pt x="0" y="9477"/>
                  <a:pt x="9477" y="0"/>
                  <a:pt x="2116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03250" y="3471333"/>
            <a:ext cx="21167" cy="1354667"/>
          </a:xfrm>
          <a:custGeom>
            <a:avLst/>
            <a:gdLst/>
            <a:ahLst/>
            <a:cxnLst/>
            <a:rect l="l" t="t" r="r" b="b"/>
            <a:pathLst>
              <a:path w="21167" h="1354667">
                <a:moveTo>
                  <a:pt x="21167" y="0"/>
                </a:moveTo>
                <a:lnTo>
                  <a:pt x="21167" y="0"/>
                </a:lnTo>
                <a:lnTo>
                  <a:pt x="21167" y="1354667"/>
                </a:lnTo>
                <a:lnTo>
                  <a:pt x="21167" y="1354667"/>
                </a:lnTo>
                <a:cubicBezTo>
                  <a:pt x="9477" y="1354667"/>
                  <a:pt x="0" y="1345190"/>
                  <a:pt x="0" y="1333500"/>
                </a:cubicBezTo>
                <a:lnTo>
                  <a:pt x="0" y="21167"/>
                </a:lnTo>
                <a:cubicBezTo>
                  <a:pt x="0" y="9477"/>
                  <a:pt x="9477" y="0"/>
                  <a:pt x="21167" y="0"/>
                </a:cubicBezTo>
                <a:close/>
              </a:path>
            </a:pathLst>
          </a:custGeom>
          <a:solidFill>
            <a:srgbClr val="5F67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740833" y="3598333"/>
            <a:ext cx="24659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Processing Time (处理时间)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23667" y="3619500"/>
            <a:ext cx="423333" cy="254000"/>
          </a:xfrm>
          <a:custGeom>
            <a:avLst/>
            <a:gdLst/>
            <a:ahLst/>
            <a:cxnLst/>
            <a:rect l="l" t="t" r="r" b="b"/>
            <a:pathLst>
              <a:path w="423333" h="254000">
                <a:moveTo>
                  <a:pt x="127000" y="0"/>
                </a:moveTo>
                <a:lnTo>
                  <a:pt x="296333" y="0"/>
                </a:lnTo>
                <a:cubicBezTo>
                  <a:pt x="366427" y="0"/>
                  <a:pt x="423333" y="56907"/>
                  <a:pt x="423333" y="127000"/>
                </a:cubicBezTo>
                <a:lnTo>
                  <a:pt x="423333" y="127000"/>
                </a:lnTo>
                <a:cubicBezTo>
                  <a:pt x="423333" y="197093"/>
                  <a:pt x="366427" y="254000"/>
                  <a:pt x="296333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5F677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7323667" y="3619500"/>
            <a:ext cx="486833" cy="254000"/>
          </a:xfrm>
          <a:prstGeom prst="rect">
            <a:avLst/>
          </a:prstGeom>
          <a:noFill/>
          <a:ln/>
        </p:spPr>
        <p:txBody>
          <a:bodyPr wrap="square" lIns="84667" tIns="42333" rIns="84667" bIns="42333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5F67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备选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0833" y="3979333"/>
            <a:ext cx="7080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事件被Flink算子处理的系统时间。延迟极低，但结果不确定，无法处理乱序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71260" y="4307417"/>
            <a:ext cx="129646" cy="148167"/>
          </a:xfrm>
          <a:custGeom>
            <a:avLst/>
            <a:gdLst/>
            <a:ahLst/>
            <a:cxnLst/>
            <a:rect l="l" t="t" r="r" b="b"/>
            <a:pathLst>
              <a:path w="129646" h="148167">
                <a:moveTo>
                  <a:pt x="98045" y="-2865"/>
                </a:moveTo>
                <a:cubicBezTo>
                  <a:pt x="101488" y="-376"/>
                  <a:pt x="102762" y="4138"/>
                  <a:pt x="101199" y="8074"/>
                </a:cubicBezTo>
                <a:lnTo>
                  <a:pt x="78511" y="64823"/>
                </a:lnTo>
                <a:lnTo>
                  <a:pt x="120385" y="64823"/>
                </a:lnTo>
                <a:cubicBezTo>
                  <a:pt x="124292" y="64823"/>
                  <a:pt x="127765" y="67254"/>
                  <a:pt x="129096" y="70929"/>
                </a:cubicBezTo>
                <a:cubicBezTo>
                  <a:pt x="130427" y="74604"/>
                  <a:pt x="129299" y="78714"/>
                  <a:pt x="126318" y="81202"/>
                </a:cubicBezTo>
                <a:lnTo>
                  <a:pt x="42974" y="150655"/>
                </a:lnTo>
                <a:cubicBezTo>
                  <a:pt x="39704" y="153376"/>
                  <a:pt x="35045" y="153520"/>
                  <a:pt x="31601" y="151032"/>
                </a:cubicBezTo>
                <a:cubicBezTo>
                  <a:pt x="28157" y="148543"/>
                  <a:pt x="26884" y="144028"/>
                  <a:pt x="28447" y="140093"/>
                </a:cubicBezTo>
                <a:lnTo>
                  <a:pt x="51135" y="83344"/>
                </a:lnTo>
                <a:lnTo>
                  <a:pt x="9260" y="83344"/>
                </a:lnTo>
                <a:cubicBezTo>
                  <a:pt x="5354" y="83344"/>
                  <a:pt x="1881" y="80913"/>
                  <a:pt x="550" y="77238"/>
                </a:cubicBezTo>
                <a:cubicBezTo>
                  <a:pt x="-781" y="73562"/>
                  <a:pt x="347" y="69453"/>
                  <a:pt x="3328" y="66964"/>
                </a:cubicBezTo>
                <a:lnTo>
                  <a:pt x="86672" y="-2489"/>
                </a:lnTo>
                <a:cubicBezTo>
                  <a:pt x="89942" y="-5209"/>
                  <a:pt x="94601" y="-5354"/>
                  <a:pt x="98045" y="-2865"/>
                </a:cubicBezTo>
                <a:close/>
              </a:path>
            </a:pathLst>
          </a:custGeom>
          <a:solidFill>
            <a:srgbClr val="5F67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010708" y="4275667"/>
            <a:ext cx="2000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延迟最低，无需等待迟到数据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4519083"/>
            <a:ext cx="148167" cy="148167"/>
          </a:xfrm>
          <a:custGeom>
            <a:avLst/>
            <a:gdLst/>
            <a:ahLst/>
            <a:cxnLst/>
            <a:rect l="l" t="t" r="r" b="b"/>
            <a:pathLst>
              <a:path w="148167" h="148167">
                <a:moveTo>
                  <a:pt x="74083" y="0"/>
                </a:moveTo>
                <a:cubicBezTo>
                  <a:pt x="78337" y="0"/>
                  <a:pt x="82244" y="2344"/>
                  <a:pt x="84270" y="6077"/>
                </a:cubicBezTo>
                <a:lnTo>
                  <a:pt x="146778" y="121832"/>
                </a:lnTo>
                <a:cubicBezTo>
                  <a:pt x="148717" y="125421"/>
                  <a:pt x="148630" y="129762"/>
                  <a:pt x="146546" y="133263"/>
                </a:cubicBezTo>
                <a:cubicBezTo>
                  <a:pt x="144462" y="136765"/>
                  <a:pt x="140672" y="138906"/>
                  <a:pt x="136591" y="138906"/>
                </a:cubicBezTo>
                <a:lnTo>
                  <a:pt x="11576" y="138906"/>
                </a:lnTo>
                <a:cubicBezTo>
                  <a:pt x="7495" y="138906"/>
                  <a:pt x="3733" y="136765"/>
                  <a:pt x="1621" y="133263"/>
                </a:cubicBezTo>
                <a:cubicBezTo>
                  <a:pt x="-492" y="129762"/>
                  <a:pt x="-550" y="125421"/>
                  <a:pt x="1389" y="121832"/>
                </a:cubicBezTo>
                <a:lnTo>
                  <a:pt x="63897" y="6077"/>
                </a:lnTo>
                <a:cubicBezTo>
                  <a:pt x="65923" y="2344"/>
                  <a:pt x="69829" y="0"/>
                  <a:pt x="74083" y="0"/>
                </a:cubicBezTo>
                <a:close/>
                <a:moveTo>
                  <a:pt x="74083" y="48617"/>
                </a:moveTo>
                <a:cubicBezTo>
                  <a:pt x="70234" y="48617"/>
                  <a:pt x="67138" y="51714"/>
                  <a:pt x="67138" y="55562"/>
                </a:cubicBezTo>
                <a:lnTo>
                  <a:pt x="67138" y="87974"/>
                </a:lnTo>
                <a:cubicBezTo>
                  <a:pt x="67138" y="91823"/>
                  <a:pt x="70234" y="94919"/>
                  <a:pt x="74083" y="94919"/>
                </a:cubicBezTo>
                <a:cubicBezTo>
                  <a:pt x="77932" y="94919"/>
                  <a:pt x="81029" y="91823"/>
                  <a:pt x="81029" y="87974"/>
                </a:cubicBezTo>
                <a:lnTo>
                  <a:pt x="81029" y="55562"/>
                </a:lnTo>
                <a:cubicBezTo>
                  <a:pt x="81029" y="51714"/>
                  <a:pt x="77932" y="48617"/>
                  <a:pt x="74083" y="48617"/>
                </a:cubicBezTo>
                <a:close/>
                <a:moveTo>
                  <a:pt x="81810" y="111125"/>
                </a:moveTo>
                <a:cubicBezTo>
                  <a:pt x="81986" y="108257"/>
                  <a:pt x="80555" y="105528"/>
                  <a:pt x="78097" y="104041"/>
                </a:cubicBezTo>
                <a:cubicBezTo>
                  <a:pt x="75638" y="102554"/>
                  <a:pt x="72557" y="102554"/>
                  <a:pt x="70099" y="104041"/>
                </a:cubicBezTo>
                <a:cubicBezTo>
                  <a:pt x="67640" y="105528"/>
                  <a:pt x="66210" y="108257"/>
                  <a:pt x="66386" y="111125"/>
                </a:cubicBezTo>
                <a:cubicBezTo>
                  <a:pt x="66210" y="113993"/>
                  <a:pt x="67640" y="116722"/>
                  <a:pt x="70099" y="118209"/>
                </a:cubicBezTo>
                <a:cubicBezTo>
                  <a:pt x="72557" y="119696"/>
                  <a:pt x="75638" y="119696"/>
                  <a:pt x="78097" y="118209"/>
                </a:cubicBezTo>
                <a:cubicBezTo>
                  <a:pt x="80555" y="116722"/>
                  <a:pt x="81986" y="113993"/>
                  <a:pt x="81810" y="111125"/>
                </a:cubicBezTo>
                <a:close/>
              </a:path>
            </a:pathLst>
          </a:custGeom>
          <a:solidFill>
            <a:srgbClr val="5F67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1010708" y="4487333"/>
            <a:ext cx="2889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结果受数据到达顺序影响，无法保证一致性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12667" y="1397000"/>
            <a:ext cx="7620000" cy="4699000"/>
          </a:xfrm>
          <a:custGeom>
            <a:avLst/>
            <a:gdLst/>
            <a:ahLst/>
            <a:cxnLst/>
            <a:rect l="l" t="t" r="r" b="b"/>
            <a:pathLst>
              <a:path w="7620000" h="4699000">
                <a:moveTo>
                  <a:pt x="127014" y="0"/>
                </a:moveTo>
                <a:lnTo>
                  <a:pt x="7492986" y="0"/>
                </a:lnTo>
                <a:cubicBezTo>
                  <a:pt x="7563134" y="0"/>
                  <a:pt x="7620000" y="56866"/>
                  <a:pt x="7620000" y="127014"/>
                </a:cubicBezTo>
                <a:lnTo>
                  <a:pt x="7620000" y="4571986"/>
                </a:lnTo>
                <a:cubicBezTo>
                  <a:pt x="7620000" y="4642134"/>
                  <a:pt x="7563134" y="4699000"/>
                  <a:pt x="7492986" y="4699000"/>
                </a:cubicBezTo>
                <a:lnTo>
                  <a:pt x="127014" y="4699000"/>
                </a:lnTo>
                <a:cubicBezTo>
                  <a:pt x="56866" y="4699000"/>
                  <a:pt x="0" y="4642134"/>
                  <a:pt x="0" y="4571986"/>
                </a:cubicBezTo>
                <a:lnTo>
                  <a:pt x="0" y="127014"/>
                </a:lnTo>
                <a:cubicBezTo>
                  <a:pt x="0" y="56913"/>
                  <a:pt x="56913" y="0"/>
                  <a:pt x="127014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408458" y="1608667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169747" y="51304"/>
                </a:moveTo>
                <a:cubicBezTo>
                  <a:pt x="178304" y="57754"/>
                  <a:pt x="188764" y="63996"/>
                  <a:pt x="200422" y="65567"/>
                </a:cubicBezTo>
                <a:cubicBezTo>
                  <a:pt x="205838" y="66311"/>
                  <a:pt x="210840" y="62466"/>
                  <a:pt x="211584" y="57051"/>
                </a:cubicBezTo>
                <a:cubicBezTo>
                  <a:pt x="212328" y="51635"/>
                  <a:pt x="208483" y="46633"/>
                  <a:pt x="203068" y="45889"/>
                </a:cubicBezTo>
                <a:cubicBezTo>
                  <a:pt x="196494" y="45021"/>
                  <a:pt x="189342" y="41217"/>
                  <a:pt x="181694" y="35471"/>
                </a:cubicBezTo>
                <a:cubicBezTo>
                  <a:pt x="165819" y="23482"/>
                  <a:pt x="144281" y="23482"/>
                  <a:pt x="128364" y="35471"/>
                </a:cubicBezTo>
                <a:cubicBezTo>
                  <a:pt x="118442" y="42953"/>
                  <a:pt x="111538" y="46343"/>
                  <a:pt x="105833" y="46343"/>
                </a:cubicBezTo>
                <a:cubicBezTo>
                  <a:pt x="100128" y="46343"/>
                  <a:pt x="93224" y="42953"/>
                  <a:pt x="83302" y="35471"/>
                </a:cubicBezTo>
                <a:cubicBezTo>
                  <a:pt x="67427" y="23482"/>
                  <a:pt x="45889" y="23482"/>
                  <a:pt x="29972" y="35471"/>
                </a:cubicBezTo>
                <a:cubicBezTo>
                  <a:pt x="22324" y="41217"/>
                  <a:pt x="15172" y="45021"/>
                  <a:pt x="8599" y="45889"/>
                </a:cubicBezTo>
                <a:cubicBezTo>
                  <a:pt x="3183" y="46633"/>
                  <a:pt x="-661" y="51594"/>
                  <a:pt x="83" y="57051"/>
                </a:cubicBezTo>
                <a:cubicBezTo>
                  <a:pt x="827" y="62508"/>
                  <a:pt x="5788" y="66311"/>
                  <a:pt x="11245" y="65567"/>
                </a:cubicBezTo>
                <a:cubicBezTo>
                  <a:pt x="22903" y="63996"/>
                  <a:pt x="33404" y="57754"/>
                  <a:pt x="41920" y="51304"/>
                </a:cubicBezTo>
                <a:cubicBezTo>
                  <a:pt x="50726" y="44648"/>
                  <a:pt x="62549" y="44648"/>
                  <a:pt x="71355" y="51304"/>
                </a:cubicBezTo>
                <a:cubicBezTo>
                  <a:pt x="81359" y="58870"/>
                  <a:pt x="92976" y="66146"/>
                  <a:pt x="105833" y="66146"/>
                </a:cubicBezTo>
                <a:cubicBezTo>
                  <a:pt x="118690" y="66146"/>
                  <a:pt x="130266" y="58828"/>
                  <a:pt x="140312" y="51304"/>
                </a:cubicBezTo>
                <a:cubicBezTo>
                  <a:pt x="149118" y="44648"/>
                  <a:pt x="160941" y="44648"/>
                  <a:pt x="169747" y="51304"/>
                </a:cubicBezTo>
                <a:close/>
                <a:moveTo>
                  <a:pt x="169747" y="110836"/>
                </a:moveTo>
                <a:cubicBezTo>
                  <a:pt x="178304" y="117285"/>
                  <a:pt x="188764" y="123527"/>
                  <a:pt x="200422" y="125098"/>
                </a:cubicBezTo>
                <a:cubicBezTo>
                  <a:pt x="205838" y="125842"/>
                  <a:pt x="210840" y="121998"/>
                  <a:pt x="211584" y="116582"/>
                </a:cubicBezTo>
                <a:cubicBezTo>
                  <a:pt x="212328" y="111166"/>
                  <a:pt x="208483" y="106164"/>
                  <a:pt x="203068" y="105420"/>
                </a:cubicBezTo>
                <a:cubicBezTo>
                  <a:pt x="196494" y="104552"/>
                  <a:pt x="189342" y="100748"/>
                  <a:pt x="181694" y="95002"/>
                </a:cubicBezTo>
                <a:cubicBezTo>
                  <a:pt x="165819" y="83013"/>
                  <a:pt x="144281" y="83013"/>
                  <a:pt x="128364" y="95002"/>
                </a:cubicBezTo>
                <a:cubicBezTo>
                  <a:pt x="118442" y="102485"/>
                  <a:pt x="111538" y="105875"/>
                  <a:pt x="105833" y="105875"/>
                </a:cubicBezTo>
                <a:cubicBezTo>
                  <a:pt x="100128" y="105875"/>
                  <a:pt x="93224" y="102485"/>
                  <a:pt x="83302" y="95002"/>
                </a:cubicBezTo>
                <a:cubicBezTo>
                  <a:pt x="67427" y="83013"/>
                  <a:pt x="45889" y="83013"/>
                  <a:pt x="29972" y="95002"/>
                </a:cubicBezTo>
                <a:cubicBezTo>
                  <a:pt x="22324" y="100748"/>
                  <a:pt x="15172" y="104552"/>
                  <a:pt x="8599" y="105420"/>
                </a:cubicBezTo>
                <a:cubicBezTo>
                  <a:pt x="3183" y="106123"/>
                  <a:pt x="-661" y="111125"/>
                  <a:pt x="83" y="116582"/>
                </a:cubicBezTo>
                <a:cubicBezTo>
                  <a:pt x="827" y="122039"/>
                  <a:pt x="5788" y="125842"/>
                  <a:pt x="11245" y="125098"/>
                </a:cubicBezTo>
                <a:cubicBezTo>
                  <a:pt x="22903" y="123527"/>
                  <a:pt x="33404" y="117285"/>
                  <a:pt x="41920" y="110836"/>
                </a:cubicBezTo>
                <a:cubicBezTo>
                  <a:pt x="50726" y="104180"/>
                  <a:pt x="62549" y="104180"/>
                  <a:pt x="71355" y="110836"/>
                </a:cubicBezTo>
                <a:cubicBezTo>
                  <a:pt x="81359" y="118401"/>
                  <a:pt x="92976" y="125677"/>
                  <a:pt x="105833" y="125677"/>
                </a:cubicBezTo>
                <a:cubicBezTo>
                  <a:pt x="118690" y="125677"/>
                  <a:pt x="130266" y="118360"/>
                  <a:pt x="140312" y="110836"/>
                </a:cubicBezTo>
                <a:cubicBezTo>
                  <a:pt x="149118" y="104180"/>
                  <a:pt x="160941" y="104180"/>
                  <a:pt x="169747" y="110836"/>
                </a:cubicBezTo>
                <a:close/>
                <a:moveTo>
                  <a:pt x="140312" y="170367"/>
                </a:moveTo>
                <a:cubicBezTo>
                  <a:pt x="149118" y="163711"/>
                  <a:pt x="160941" y="163711"/>
                  <a:pt x="169747" y="170367"/>
                </a:cubicBezTo>
                <a:cubicBezTo>
                  <a:pt x="178304" y="176816"/>
                  <a:pt x="188764" y="183059"/>
                  <a:pt x="200422" y="184630"/>
                </a:cubicBezTo>
                <a:cubicBezTo>
                  <a:pt x="205838" y="185374"/>
                  <a:pt x="210840" y="181529"/>
                  <a:pt x="211584" y="176113"/>
                </a:cubicBezTo>
                <a:cubicBezTo>
                  <a:pt x="212328" y="170698"/>
                  <a:pt x="208483" y="165695"/>
                  <a:pt x="203068" y="164951"/>
                </a:cubicBezTo>
                <a:cubicBezTo>
                  <a:pt x="196494" y="164083"/>
                  <a:pt x="189342" y="160280"/>
                  <a:pt x="181694" y="154533"/>
                </a:cubicBezTo>
                <a:cubicBezTo>
                  <a:pt x="165819" y="142544"/>
                  <a:pt x="144281" y="142544"/>
                  <a:pt x="128364" y="154533"/>
                </a:cubicBezTo>
                <a:cubicBezTo>
                  <a:pt x="118442" y="162016"/>
                  <a:pt x="111538" y="165406"/>
                  <a:pt x="105833" y="165406"/>
                </a:cubicBezTo>
                <a:cubicBezTo>
                  <a:pt x="100128" y="165406"/>
                  <a:pt x="93224" y="162016"/>
                  <a:pt x="83302" y="154533"/>
                </a:cubicBezTo>
                <a:cubicBezTo>
                  <a:pt x="67427" y="142544"/>
                  <a:pt x="45889" y="142544"/>
                  <a:pt x="29972" y="154533"/>
                </a:cubicBezTo>
                <a:cubicBezTo>
                  <a:pt x="22324" y="160280"/>
                  <a:pt x="15172" y="164083"/>
                  <a:pt x="8599" y="164951"/>
                </a:cubicBezTo>
                <a:cubicBezTo>
                  <a:pt x="3183" y="165695"/>
                  <a:pt x="-661" y="170656"/>
                  <a:pt x="83" y="176113"/>
                </a:cubicBezTo>
                <a:cubicBezTo>
                  <a:pt x="827" y="181570"/>
                  <a:pt x="5788" y="185374"/>
                  <a:pt x="11245" y="184630"/>
                </a:cubicBezTo>
                <a:cubicBezTo>
                  <a:pt x="22903" y="183059"/>
                  <a:pt x="33404" y="176816"/>
                  <a:pt x="41920" y="170367"/>
                </a:cubicBezTo>
                <a:cubicBezTo>
                  <a:pt x="50726" y="163711"/>
                  <a:pt x="62549" y="163711"/>
                  <a:pt x="71355" y="170367"/>
                </a:cubicBezTo>
                <a:cubicBezTo>
                  <a:pt x="81359" y="177932"/>
                  <a:pt x="92976" y="185208"/>
                  <a:pt x="105833" y="185208"/>
                </a:cubicBezTo>
                <a:cubicBezTo>
                  <a:pt x="118690" y="185208"/>
                  <a:pt x="130266" y="177891"/>
                  <a:pt x="140312" y="170367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646583" y="1566333"/>
            <a:ext cx="7122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Watermark机制原理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382000" y="1989667"/>
            <a:ext cx="7281333" cy="1016000"/>
          </a:xfrm>
          <a:custGeom>
            <a:avLst/>
            <a:gdLst/>
            <a:ahLst/>
            <a:cxnLst/>
            <a:rect l="l" t="t" r="r" b="b"/>
            <a:pathLst>
              <a:path w="7281333" h="1016000">
                <a:moveTo>
                  <a:pt x="84663" y="0"/>
                </a:moveTo>
                <a:lnTo>
                  <a:pt x="7196670" y="0"/>
                </a:lnTo>
                <a:cubicBezTo>
                  <a:pt x="7243428" y="0"/>
                  <a:pt x="7281333" y="37905"/>
                  <a:pt x="7281333" y="84663"/>
                </a:cubicBezTo>
                <a:lnTo>
                  <a:pt x="7281333" y="931337"/>
                </a:lnTo>
                <a:cubicBezTo>
                  <a:pt x="7281333" y="978095"/>
                  <a:pt x="7243428" y="1016000"/>
                  <a:pt x="7196670" y="1016000"/>
                </a:cubicBezTo>
                <a:lnTo>
                  <a:pt x="84663" y="1016000"/>
                </a:lnTo>
                <a:cubicBezTo>
                  <a:pt x="37905" y="1016000"/>
                  <a:pt x="0" y="978095"/>
                  <a:pt x="0" y="931337"/>
                </a:cubicBezTo>
                <a:lnTo>
                  <a:pt x="0" y="84663"/>
                </a:lnTo>
                <a:cubicBezTo>
                  <a:pt x="0" y="37936"/>
                  <a:pt x="37936" y="0"/>
                  <a:pt x="8466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509000" y="2116667"/>
            <a:ext cx="711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核心概念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509000" y="2455333"/>
            <a:ext cx="7101417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Watermark本质上是一个携带时间戳的特殊信号，用于在乱序数据流中标记"时间的进展"。当算子收到W(t)时，意味着所有Timestamp ≤ t的数据都已到达（概率上），可以触发窗口计算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382000" y="3132667"/>
            <a:ext cx="7281333" cy="1100667"/>
          </a:xfrm>
          <a:custGeom>
            <a:avLst/>
            <a:gdLst/>
            <a:ahLst/>
            <a:cxnLst/>
            <a:rect l="l" t="t" r="r" b="b"/>
            <a:pathLst>
              <a:path w="7281333" h="1100667">
                <a:moveTo>
                  <a:pt x="84663" y="0"/>
                </a:moveTo>
                <a:lnTo>
                  <a:pt x="7196670" y="0"/>
                </a:lnTo>
                <a:cubicBezTo>
                  <a:pt x="7243428" y="0"/>
                  <a:pt x="7281333" y="37905"/>
                  <a:pt x="7281333" y="84663"/>
                </a:cubicBezTo>
                <a:lnTo>
                  <a:pt x="7281333" y="1016003"/>
                </a:lnTo>
                <a:cubicBezTo>
                  <a:pt x="7281333" y="1062762"/>
                  <a:pt x="7243428" y="1100667"/>
                  <a:pt x="7196670" y="1100667"/>
                </a:cubicBezTo>
                <a:lnTo>
                  <a:pt x="84663" y="1100667"/>
                </a:lnTo>
                <a:cubicBezTo>
                  <a:pt x="37905" y="1100667"/>
                  <a:pt x="0" y="1062762"/>
                  <a:pt x="0" y="1016003"/>
                </a:cubicBezTo>
                <a:lnTo>
                  <a:pt x="0" y="84663"/>
                </a:lnTo>
                <a:cubicBezTo>
                  <a:pt x="0" y="37936"/>
                  <a:pt x="37936" y="0"/>
                  <a:pt x="8466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8509000" y="3259667"/>
            <a:ext cx="711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数学表示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509000" y="3598333"/>
            <a:ext cx="7101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Watermark(t) = max(event_time) - δ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509000" y="3894667"/>
            <a:ext cx="7101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其中δ为最大乱序容忍时间，平衡延迟与准确性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382000" y="4360333"/>
            <a:ext cx="7281333" cy="1566333"/>
          </a:xfrm>
          <a:custGeom>
            <a:avLst/>
            <a:gdLst/>
            <a:ahLst/>
            <a:cxnLst/>
            <a:rect l="l" t="t" r="r" b="b"/>
            <a:pathLst>
              <a:path w="7281333" h="1566333">
                <a:moveTo>
                  <a:pt x="84660" y="0"/>
                </a:moveTo>
                <a:lnTo>
                  <a:pt x="7196673" y="0"/>
                </a:lnTo>
                <a:cubicBezTo>
                  <a:pt x="7243430" y="0"/>
                  <a:pt x="7281333" y="37904"/>
                  <a:pt x="7281333" y="84660"/>
                </a:cubicBezTo>
                <a:lnTo>
                  <a:pt x="7281333" y="1481673"/>
                </a:lnTo>
                <a:cubicBezTo>
                  <a:pt x="7281333" y="1528430"/>
                  <a:pt x="7243430" y="1566333"/>
                  <a:pt x="7196673" y="1566333"/>
                </a:cubicBezTo>
                <a:lnTo>
                  <a:pt x="84660" y="1566333"/>
                </a:lnTo>
                <a:cubicBezTo>
                  <a:pt x="37904" y="1566333"/>
                  <a:pt x="0" y="1528430"/>
                  <a:pt x="0" y="1481673"/>
                </a:cubicBezTo>
                <a:lnTo>
                  <a:pt x="0" y="84660"/>
                </a:lnTo>
                <a:cubicBezTo>
                  <a:pt x="0" y="37935"/>
                  <a:pt x="37935" y="0"/>
                  <a:pt x="8466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8509000" y="4487333"/>
            <a:ext cx="711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工作流程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509000" y="4826000"/>
            <a:ext cx="7101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提取事件时间作为处理基准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509000" y="5080000"/>
            <a:ext cx="7101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生成周期性Watermark处理乱序数据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509000" y="5334000"/>
            <a:ext cx="7101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配置最大乱序容忍时间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509000" y="5588000"/>
            <a:ext cx="7101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 窗口触发计算并输出结果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23333" y="6265333"/>
            <a:ext cx="15409333" cy="2878667"/>
          </a:xfrm>
          <a:custGeom>
            <a:avLst/>
            <a:gdLst/>
            <a:ahLst/>
            <a:cxnLst/>
            <a:rect l="l" t="t" r="r" b="b"/>
            <a:pathLst>
              <a:path w="15409333" h="5027083">
                <a:moveTo>
                  <a:pt x="126984" y="0"/>
                </a:moveTo>
                <a:lnTo>
                  <a:pt x="15282349" y="0"/>
                </a:lnTo>
                <a:cubicBezTo>
                  <a:pt x="15352481" y="0"/>
                  <a:pt x="15409333" y="56853"/>
                  <a:pt x="15409333" y="126984"/>
                </a:cubicBezTo>
                <a:lnTo>
                  <a:pt x="15409333" y="4900099"/>
                </a:lnTo>
                <a:cubicBezTo>
                  <a:pt x="15409333" y="4970231"/>
                  <a:pt x="15352481" y="5027083"/>
                  <a:pt x="15282349" y="5027083"/>
                </a:cubicBezTo>
                <a:lnTo>
                  <a:pt x="126984" y="5027083"/>
                </a:lnTo>
                <a:cubicBezTo>
                  <a:pt x="56853" y="5027083"/>
                  <a:pt x="0" y="4970231"/>
                  <a:pt x="0" y="4900099"/>
                </a:cubicBezTo>
                <a:lnTo>
                  <a:pt x="0" y="126984"/>
                </a:lnTo>
                <a:cubicBezTo>
                  <a:pt x="0" y="56900"/>
                  <a:pt x="56900" y="0"/>
                  <a:pt x="126984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605896" y="6477000"/>
            <a:ext cx="238125" cy="211667"/>
          </a:xfrm>
          <a:custGeom>
            <a:avLst/>
            <a:gdLst/>
            <a:ahLst/>
            <a:cxnLst/>
            <a:rect l="l" t="t" r="r" b="b"/>
            <a:pathLst>
              <a:path w="238125" h="211667">
                <a:moveTo>
                  <a:pt x="149159" y="496"/>
                </a:moveTo>
                <a:cubicBezTo>
                  <a:pt x="142131" y="-1530"/>
                  <a:pt x="134813" y="2563"/>
                  <a:pt x="132788" y="9591"/>
                </a:cubicBezTo>
                <a:lnTo>
                  <a:pt x="79871" y="194799"/>
                </a:lnTo>
                <a:cubicBezTo>
                  <a:pt x="77845" y="201827"/>
                  <a:pt x="81938" y="209145"/>
                  <a:pt x="88966" y="211171"/>
                </a:cubicBezTo>
                <a:cubicBezTo>
                  <a:pt x="95994" y="213196"/>
                  <a:pt x="103312" y="209104"/>
                  <a:pt x="105337" y="202076"/>
                </a:cubicBezTo>
                <a:lnTo>
                  <a:pt x="158254" y="16867"/>
                </a:lnTo>
                <a:cubicBezTo>
                  <a:pt x="160280" y="9839"/>
                  <a:pt x="156187" y="2522"/>
                  <a:pt x="149159" y="496"/>
                </a:cubicBezTo>
                <a:close/>
                <a:moveTo>
                  <a:pt x="175865" y="56761"/>
                </a:moveTo>
                <a:cubicBezTo>
                  <a:pt x="170698" y="61929"/>
                  <a:pt x="170698" y="70321"/>
                  <a:pt x="175865" y="75489"/>
                </a:cubicBezTo>
                <a:lnTo>
                  <a:pt x="206210" y="105833"/>
                </a:lnTo>
                <a:lnTo>
                  <a:pt x="175865" y="136178"/>
                </a:lnTo>
                <a:cubicBezTo>
                  <a:pt x="170698" y="141345"/>
                  <a:pt x="170698" y="149738"/>
                  <a:pt x="175865" y="154905"/>
                </a:cubicBezTo>
                <a:cubicBezTo>
                  <a:pt x="181033" y="160073"/>
                  <a:pt x="189425" y="160073"/>
                  <a:pt x="194593" y="154905"/>
                </a:cubicBezTo>
                <a:lnTo>
                  <a:pt x="234280" y="115218"/>
                </a:lnTo>
                <a:cubicBezTo>
                  <a:pt x="239448" y="110050"/>
                  <a:pt x="239448" y="101658"/>
                  <a:pt x="234280" y="96490"/>
                </a:cubicBezTo>
                <a:lnTo>
                  <a:pt x="194593" y="56803"/>
                </a:lnTo>
                <a:cubicBezTo>
                  <a:pt x="189425" y="51635"/>
                  <a:pt x="181033" y="51635"/>
                  <a:pt x="175865" y="56803"/>
                </a:cubicBezTo>
                <a:close/>
                <a:moveTo>
                  <a:pt x="62301" y="56761"/>
                </a:moveTo>
                <a:cubicBezTo>
                  <a:pt x="57133" y="51594"/>
                  <a:pt x="48741" y="51594"/>
                  <a:pt x="43574" y="56761"/>
                </a:cubicBezTo>
                <a:lnTo>
                  <a:pt x="3886" y="96449"/>
                </a:lnTo>
                <a:cubicBezTo>
                  <a:pt x="-1282" y="101617"/>
                  <a:pt x="-1282" y="110009"/>
                  <a:pt x="3886" y="115176"/>
                </a:cubicBezTo>
                <a:lnTo>
                  <a:pt x="43574" y="154864"/>
                </a:lnTo>
                <a:cubicBezTo>
                  <a:pt x="48741" y="160032"/>
                  <a:pt x="57133" y="160032"/>
                  <a:pt x="62301" y="154864"/>
                </a:cubicBezTo>
                <a:cubicBezTo>
                  <a:pt x="67469" y="149696"/>
                  <a:pt x="67469" y="141304"/>
                  <a:pt x="62301" y="136136"/>
                </a:cubicBezTo>
                <a:lnTo>
                  <a:pt x="31957" y="105833"/>
                </a:lnTo>
                <a:lnTo>
                  <a:pt x="62260" y="75489"/>
                </a:lnTo>
                <a:cubicBezTo>
                  <a:pt x="67427" y="70321"/>
                  <a:pt x="67427" y="61929"/>
                  <a:pt x="62260" y="56761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857250" y="6434667"/>
            <a:ext cx="149119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设定时间语义与Watermark策略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92667" y="6858000"/>
            <a:ext cx="7450667" cy="2074333"/>
          </a:xfrm>
          <a:custGeom>
            <a:avLst/>
            <a:gdLst/>
            <a:ahLst/>
            <a:cxnLst/>
            <a:rect l="l" t="t" r="r" b="b"/>
            <a:pathLst>
              <a:path w="7450667" h="4265083">
                <a:moveTo>
                  <a:pt x="127014" y="0"/>
                </a:moveTo>
                <a:lnTo>
                  <a:pt x="7323652" y="0"/>
                </a:lnTo>
                <a:cubicBezTo>
                  <a:pt x="7393800" y="0"/>
                  <a:pt x="7450667" y="56866"/>
                  <a:pt x="7450667" y="127014"/>
                </a:cubicBezTo>
                <a:lnTo>
                  <a:pt x="7450667" y="4138069"/>
                </a:lnTo>
                <a:cubicBezTo>
                  <a:pt x="7450667" y="4208217"/>
                  <a:pt x="7393800" y="4265083"/>
                  <a:pt x="7323652" y="4265083"/>
                </a:cubicBezTo>
                <a:lnTo>
                  <a:pt x="127014" y="4265083"/>
                </a:lnTo>
                <a:cubicBezTo>
                  <a:pt x="56866" y="4265083"/>
                  <a:pt x="0" y="4208217"/>
                  <a:pt x="0" y="4138069"/>
                </a:cubicBezTo>
                <a:lnTo>
                  <a:pt x="0" y="127014"/>
                </a:lnTo>
                <a:cubicBezTo>
                  <a:pt x="0" y="56913"/>
                  <a:pt x="56913" y="0"/>
                  <a:pt x="12701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719667" y="6985000"/>
            <a:ext cx="7270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内置Watermark策略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19667" y="7307792"/>
            <a:ext cx="7260166" cy="160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dirty="0" err="1">
                <a:solidFill>
                  <a:schemeClr val="bg1"/>
                </a:solidFill>
              </a:rPr>
              <a:t>forBoundedOutOfOrderness</a:t>
            </a:r>
            <a:r>
              <a:rPr lang="zh-CN" altLang="en-US" sz="1200" dirty="0">
                <a:solidFill>
                  <a:schemeClr val="bg1"/>
                </a:solidFill>
              </a:rPr>
              <a:t>：允许固定时长的乱序（最常用）。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dirty="0" err="1">
                <a:solidFill>
                  <a:schemeClr val="bg1"/>
                </a:solidFill>
              </a:rPr>
              <a:t>forMonotonousTimestamps</a:t>
            </a:r>
            <a:r>
              <a:rPr lang="zh-CN" altLang="en-US" sz="1200" dirty="0">
                <a:solidFill>
                  <a:schemeClr val="bg1"/>
                </a:solidFill>
              </a:rPr>
              <a:t>：假设时间戳单调递增（无乱序）。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dirty="0" err="1">
                <a:solidFill>
                  <a:schemeClr val="bg1"/>
                </a:solidFill>
              </a:rPr>
              <a:t>noWatermarks</a:t>
            </a:r>
            <a:r>
              <a:rPr lang="zh-CN" altLang="en-US" sz="1200" dirty="0">
                <a:solidFill>
                  <a:schemeClr val="bg1"/>
                </a:solidFill>
              </a:rPr>
              <a:t>：不生成水位线（用于处理时间或无需事件时间进度的场景）。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zh-CN" altLang="en-US" sz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8212667" y="6858000"/>
            <a:ext cx="7450667" cy="2053167"/>
          </a:xfrm>
          <a:custGeom>
            <a:avLst/>
            <a:gdLst/>
            <a:ahLst/>
            <a:cxnLst/>
            <a:rect l="l" t="t" r="r" b="b"/>
            <a:pathLst>
              <a:path w="7450667" h="4265083">
                <a:moveTo>
                  <a:pt x="127014" y="0"/>
                </a:moveTo>
                <a:lnTo>
                  <a:pt x="7323652" y="0"/>
                </a:lnTo>
                <a:cubicBezTo>
                  <a:pt x="7393800" y="0"/>
                  <a:pt x="7450667" y="56866"/>
                  <a:pt x="7450667" y="127014"/>
                </a:cubicBezTo>
                <a:lnTo>
                  <a:pt x="7450667" y="4138069"/>
                </a:lnTo>
                <a:cubicBezTo>
                  <a:pt x="7450667" y="4208217"/>
                  <a:pt x="7393800" y="4265083"/>
                  <a:pt x="7323652" y="4265083"/>
                </a:cubicBezTo>
                <a:lnTo>
                  <a:pt x="127014" y="4265083"/>
                </a:lnTo>
                <a:cubicBezTo>
                  <a:pt x="56866" y="4265083"/>
                  <a:pt x="0" y="4208217"/>
                  <a:pt x="0" y="4138069"/>
                </a:cubicBezTo>
                <a:lnTo>
                  <a:pt x="0" y="127014"/>
                </a:lnTo>
                <a:cubicBezTo>
                  <a:pt x="0" y="56913"/>
                  <a:pt x="56913" y="0"/>
                  <a:pt x="12701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8339667" y="6985000"/>
            <a:ext cx="7270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自定义Watermark生成器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339667" y="7307792"/>
            <a:ext cx="7076546" cy="1407583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ctr"/>
          <a:lstStyle/>
          <a:p>
            <a:r>
              <a:rPr lang="en-US" altLang="zh-CN" sz="9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public class </a:t>
            </a:r>
            <a:r>
              <a:rPr lang="en-US" altLang="zh-CN" sz="9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CustomWatermarkGenerator</a:t>
            </a:r>
            <a:r>
              <a:rPr lang="en-US" altLang="zh-CN" sz="9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implements </a:t>
            </a:r>
            <a:r>
              <a:rPr lang="en-US" altLang="zh-CN" sz="9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WatermarkGenerator</a:t>
            </a:r>
            <a:r>
              <a:rPr lang="en-US" altLang="zh-CN" sz="9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&lt;Event&gt; {</a:t>
            </a:r>
          </a:p>
          <a:p>
            <a:r>
              <a:rPr lang="en-US" altLang="zh-CN" sz="9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private final long </a:t>
            </a:r>
            <a:r>
              <a:rPr lang="en-US" altLang="zh-CN" sz="9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maxOutOfOrderness</a:t>
            </a:r>
            <a:r>
              <a:rPr lang="en-US" altLang="zh-CN" sz="9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5000; </a:t>
            </a:r>
            <a:r>
              <a:rPr lang="en-US" altLang="zh-CN" sz="9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</a:t>
            </a:r>
            <a:r>
              <a:rPr lang="zh-CN" altLang="en-US" sz="9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允许 </a:t>
            </a:r>
            <a:r>
              <a:rPr lang="en-US" altLang="zh-CN" sz="9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 </a:t>
            </a:r>
            <a:r>
              <a:rPr lang="zh-CN" altLang="en-US" sz="9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秒乱序</a:t>
            </a:r>
            <a:endParaRPr lang="zh-CN" altLang="en-US" sz="9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sz="9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altLang="zh-CN" sz="9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private long </a:t>
            </a:r>
            <a:r>
              <a:rPr lang="en-US" altLang="zh-CN" sz="9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currentMaxTimestamp</a:t>
            </a:r>
            <a:r>
              <a:rPr lang="en-US" altLang="zh-CN" sz="9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endParaRPr lang="en-US" altLang="zh-CN" sz="9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9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@Override</a:t>
            </a:r>
          </a:p>
          <a:p>
            <a:r>
              <a:rPr lang="en-US" altLang="zh-CN" sz="9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public void </a:t>
            </a:r>
            <a:r>
              <a:rPr lang="en-US" altLang="zh-CN" sz="9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onEvent</a:t>
            </a:r>
            <a:r>
              <a:rPr lang="en-US" altLang="zh-CN" sz="9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(Event event, long </a:t>
            </a:r>
            <a:r>
              <a:rPr lang="en-US" altLang="zh-CN" sz="9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eventTimestamp</a:t>
            </a:r>
            <a:r>
              <a:rPr lang="en-US" altLang="zh-CN" sz="9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zh-CN" sz="9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WatermarkOutput</a:t>
            </a:r>
            <a:r>
              <a:rPr lang="en-US" altLang="zh-CN" sz="9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output) {</a:t>
            </a:r>
          </a:p>
          <a:p>
            <a:r>
              <a:rPr lang="en-US" altLang="zh-CN" sz="9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altLang="zh-CN" sz="9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</a:t>
            </a:r>
            <a:r>
              <a:rPr lang="zh-CN" altLang="en-US" sz="9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每一条数据到达，更新观察到的最大时间戳</a:t>
            </a:r>
            <a:endParaRPr lang="zh-CN" altLang="en-US" sz="9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sz="9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altLang="zh-CN" sz="9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currentMaxTimestamp</a:t>
            </a:r>
            <a:r>
              <a:rPr lang="en-US" altLang="zh-CN" sz="9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altLang="zh-CN" sz="9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Math.max</a:t>
            </a:r>
            <a:r>
              <a:rPr lang="en-US" altLang="zh-CN" sz="9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zh-CN" sz="9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currentMaxTimestamp</a:t>
            </a:r>
            <a:r>
              <a:rPr lang="en-US" altLang="zh-CN" sz="9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zh-CN" sz="9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eventTimestamp</a:t>
            </a:r>
            <a:r>
              <a:rPr lang="en-US" altLang="zh-CN" sz="9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);</a:t>
            </a:r>
          </a:p>
          <a:p>
            <a:r>
              <a:rPr lang="en-US" altLang="zh-CN" sz="9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}</a:t>
            </a:r>
          </a:p>
          <a:p>
            <a:endParaRPr lang="en-US" altLang="zh-CN" sz="9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9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@Override</a:t>
            </a:r>
          </a:p>
          <a:p>
            <a:r>
              <a:rPr lang="en-US" altLang="zh-CN" sz="9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public void </a:t>
            </a:r>
            <a:r>
              <a:rPr lang="en-US" altLang="zh-CN" sz="9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onPeriodicEmit</a:t>
            </a:r>
            <a:r>
              <a:rPr lang="en-US" altLang="zh-CN" sz="9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zh-CN" sz="9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WatermarkOutput</a:t>
            </a:r>
            <a:r>
              <a:rPr lang="en-US" altLang="zh-CN" sz="9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output) {</a:t>
            </a:r>
          </a:p>
          <a:p>
            <a:r>
              <a:rPr lang="en-US" altLang="zh-CN" sz="9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US" altLang="zh-CN" sz="9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9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</a:t>
            </a:r>
            <a:r>
              <a:rPr lang="zh-CN" altLang="en-US" sz="9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周期性发射 </a:t>
            </a:r>
            <a:r>
              <a:rPr lang="en-US" altLang="zh-CN" sz="9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Watermark</a:t>
            </a:r>
            <a:r>
              <a:rPr lang="zh-CN" altLang="en-US" sz="9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（周期由 </a:t>
            </a:r>
            <a:r>
              <a:rPr lang="en-US" altLang="zh-CN" sz="900" i="1" dirty="0" err="1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autoWatermarkInterval</a:t>
            </a:r>
            <a:r>
              <a:rPr lang="en-US" altLang="zh-CN" sz="9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zh-CN" altLang="en-US" sz="9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决定，默认约 </a:t>
            </a:r>
            <a:r>
              <a:rPr lang="en-US" altLang="zh-CN" sz="9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200ms</a:t>
            </a:r>
            <a:r>
              <a:rPr lang="zh-CN" altLang="en-US" sz="9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）</a:t>
            </a:r>
            <a:endParaRPr lang="en-US" altLang="zh-CN" sz="9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9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altLang="zh-CN" sz="9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W = </a:t>
            </a:r>
            <a:r>
              <a:rPr lang="en-US" altLang="zh-CN" sz="900" i="1" dirty="0" err="1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MaxTimestamp</a:t>
            </a:r>
            <a:r>
              <a:rPr lang="en-US" altLang="zh-CN" sz="9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n-US" altLang="zh-CN" sz="900" i="1" dirty="0" err="1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MaxOutOfOrderness</a:t>
            </a:r>
            <a:endParaRPr lang="en-US" altLang="zh-CN" sz="9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9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altLang="zh-CN" sz="9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output.emitWatermark</a:t>
            </a:r>
            <a:r>
              <a:rPr lang="en-US" altLang="zh-CN" sz="9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(new Watermark(</a:t>
            </a:r>
            <a:r>
              <a:rPr lang="en-US" altLang="zh-CN" sz="9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currentMaxTimestamp</a:t>
            </a:r>
            <a:r>
              <a:rPr lang="en-US" altLang="zh-CN" sz="9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n-US" altLang="zh-CN" sz="9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maxOutOfOrderness</a:t>
            </a:r>
            <a:r>
              <a:rPr lang="en-US" altLang="zh-CN" sz="9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));</a:t>
            </a:r>
          </a:p>
          <a:p>
            <a:r>
              <a:rPr lang="en-US" altLang="zh-CN" sz="9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}</a:t>
            </a:r>
          </a:p>
          <a:p>
            <a:r>
              <a:rPr lang="en-US" altLang="zh-CN" sz="9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23333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84667" y="0"/>
                </a:moveTo>
                <a:lnTo>
                  <a:pt x="338667" y="0"/>
                </a:lnTo>
                <a:cubicBezTo>
                  <a:pt x="385427" y="0"/>
                  <a:pt x="423333" y="37907"/>
                  <a:pt x="423333" y="84667"/>
                </a:cubicBezTo>
                <a:lnTo>
                  <a:pt x="423333" y="338667"/>
                </a:lnTo>
                <a:cubicBezTo>
                  <a:pt x="423333" y="385427"/>
                  <a:pt x="385427" y="423333"/>
                  <a:pt x="338667" y="423333"/>
                </a:cubicBezTo>
                <a:lnTo>
                  <a:pt x="84667" y="423333"/>
                </a:lnTo>
                <a:cubicBezTo>
                  <a:pt x="37907" y="423333"/>
                  <a:pt x="0" y="385427"/>
                  <a:pt x="0" y="338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42396" y="539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10678" y="23812"/>
                  <a:pt x="0" y="34491"/>
                  <a:pt x="0" y="47625"/>
                </a:cubicBezTo>
                <a:lnTo>
                  <a:pt x="0" y="142875"/>
                </a:lnTo>
                <a:cubicBezTo>
                  <a:pt x="0" y="156009"/>
                  <a:pt x="10678" y="166688"/>
                  <a:pt x="23812" y="166688"/>
                </a:cubicBezTo>
                <a:lnTo>
                  <a:pt x="166688" y="166688"/>
                </a:lnTo>
                <a:cubicBezTo>
                  <a:pt x="179822" y="166688"/>
                  <a:pt x="190500" y="156009"/>
                  <a:pt x="190500" y="142875"/>
                </a:cubicBezTo>
                <a:lnTo>
                  <a:pt x="190500" y="47625"/>
                </a:lnTo>
                <a:cubicBezTo>
                  <a:pt x="190500" y="34491"/>
                  <a:pt x="179822" y="23812"/>
                  <a:pt x="166688" y="23812"/>
                </a:cubicBezTo>
                <a:lnTo>
                  <a:pt x="23812" y="23812"/>
                </a:lnTo>
                <a:close/>
                <a:moveTo>
                  <a:pt x="32742" y="47625"/>
                </a:moveTo>
                <a:lnTo>
                  <a:pt x="157758" y="47625"/>
                </a:lnTo>
                <a:cubicBezTo>
                  <a:pt x="162706" y="47625"/>
                  <a:pt x="166688" y="51606"/>
                  <a:pt x="166688" y="56555"/>
                </a:cubicBezTo>
                <a:cubicBezTo>
                  <a:pt x="166688" y="61503"/>
                  <a:pt x="162706" y="65484"/>
                  <a:pt x="157758" y="65484"/>
                </a:cubicBezTo>
                <a:lnTo>
                  <a:pt x="32742" y="65484"/>
                </a:lnTo>
                <a:cubicBezTo>
                  <a:pt x="27794" y="65484"/>
                  <a:pt x="23812" y="61503"/>
                  <a:pt x="23812" y="56555"/>
                </a:cubicBezTo>
                <a:cubicBezTo>
                  <a:pt x="23812" y="51606"/>
                  <a:pt x="27794" y="47625"/>
                  <a:pt x="32742" y="47625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973667" y="423333"/>
            <a:ext cx="2476500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窗口机制详解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73667" y="931333"/>
            <a:ext cx="14954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系统讲解Flink的窗口分配器与窗口函数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3333" y="1397000"/>
            <a:ext cx="5027083" cy="4910667"/>
          </a:xfrm>
          <a:custGeom>
            <a:avLst/>
            <a:gdLst/>
            <a:ahLst/>
            <a:cxnLst/>
            <a:rect l="l" t="t" r="r" b="b"/>
            <a:pathLst>
              <a:path w="5027083" h="4910667">
                <a:moveTo>
                  <a:pt x="126990" y="0"/>
                </a:moveTo>
                <a:lnTo>
                  <a:pt x="4900093" y="0"/>
                </a:lnTo>
                <a:cubicBezTo>
                  <a:pt x="4970228" y="0"/>
                  <a:pt x="5027083" y="56855"/>
                  <a:pt x="5027083" y="126990"/>
                </a:cubicBezTo>
                <a:lnTo>
                  <a:pt x="5027083" y="4783677"/>
                </a:lnTo>
                <a:cubicBezTo>
                  <a:pt x="5027083" y="4853811"/>
                  <a:pt x="4970228" y="4910667"/>
                  <a:pt x="4900093" y="4910667"/>
                </a:cubicBezTo>
                <a:lnTo>
                  <a:pt x="126990" y="4910667"/>
                </a:lnTo>
                <a:cubicBezTo>
                  <a:pt x="56855" y="4910667"/>
                  <a:pt x="0" y="4853811"/>
                  <a:pt x="0" y="4783677"/>
                </a:cubicBezTo>
                <a:lnTo>
                  <a:pt x="0" y="126990"/>
                </a:lnTo>
                <a:cubicBezTo>
                  <a:pt x="0" y="56902"/>
                  <a:pt x="56902" y="0"/>
                  <a:pt x="126990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2638723" y="1566333"/>
            <a:ext cx="592667" cy="592667"/>
          </a:xfrm>
          <a:custGeom>
            <a:avLst/>
            <a:gdLst/>
            <a:ahLst/>
            <a:cxnLst/>
            <a:rect l="l" t="t" r="r" b="b"/>
            <a:pathLst>
              <a:path w="592667" h="592667">
                <a:moveTo>
                  <a:pt x="84668" y="0"/>
                </a:moveTo>
                <a:lnTo>
                  <a:pt x="507998" y="0"/>
                </a:lnTo>
                <a:cubicBezTo>
                  <a:pt x="554759" y="0"/>
                  <a:pt x="592667" y="37907"/>
                  <a:pt x="592667" y="84668"/>
                </a:cubicBezTo>
                <a:lnTo>
                  <a:pt x="592667" y="507998"/>
                </a:lnTo>
                <a:cubicBezTo>
                  <a:pt x="592667" y="554759"/>
                  <a:pt x="554759" y="592667"/>
                  <a:pt x="507998" y="592667"/>
                </a:cubicBezTo>
                <a:lnTo>
                  <a:pt x="84668" y="592667"/>
                </a:lnTo>
                <a:cubicBezTo>
                  <a:pt x="37907" y="592667"/>
                  <a:pt x="0" y="554759"/>
                  <a:pt x="0" y="507998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2823931" y="1735667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15875" y="142875"/>
                </a:moveTo>
                <a:cubicBezTo>
                  <a:pt x="7094" y="142875"/>
                  <a:pt x="0" y="149969"/>
                  <a:pt x="0" y="158750"/>
                </a:cubicBezTo>
                <a:cubicBezTo>
                  <a:pt x="0" y="167531"/>
                  <a:pt x="7094" y="174625"/>
                  <a:pt x="15875" y="174625"/>
                </a:cubicBezTo>
                <a:lnTo>
                  <a:pt x="206375" y="174625"/>
                </a:lnTo>
                <a:cubicBezTo>
                  <a:pt x="215156" y="174625"/>
                  <a:pt x="222250" y="167531"/>
                  <a:pt x="222250" y="158750"/>
                </a:cubicBezTo>
                <a:cubicBezTo>
                  <a:pt x="222250" y="149969"/>
                  <a:pt x="215156" y="142875"/>
                  <a:pt x="206375" y="142875"/>
                </a:cubicBezTo>
                <a:lnTo>
                  <a:pt x="15875" y="142875"/>
                </a:lnTo>
                <a:close/>
                <a:moveTo>
                  <a:pt x="15875" y="79375"/>
                </a:moveTo>
                <a:cubicBezTo>
                  <a:pt x="7094" y="79375"/>
                  <a:pt x="0" y="86469"/>
                  <a:pt x="0" y="95250"/>
                </a:cubicBezTo>
                <a:cubicBezTo>
                  <a:pt x="0" y="104031"/>
                  <a:pt x="7094" y="111125"/>
                  <a:pt x="15875" y="111125"/>
                </a:cubicBezTo>
                <a:lnTo>
                  <a:pt x="206375" y="111125"/>
                </a:lnTo>
                <a:cubicBezTo>
                  <a:pt x="215156" y="111125"/>
                  <a:pt x="222250" y="104031"/>
                  <a:pt x="222250" y="95250"/>
                </a:cubicBezTo>
                <a:cubicBezTo>
                  <a:pt x="222250" y="86469"/>
                  <a:pt x="215156" y="79375"/>
                  <a:pt x="206375" y="79375"/>
                </a:cubicBezTo>
                <a:lnTo>
                  <a:pt x="15875" y="79375"/>
                </a:ln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39750" y="2243667"/>
            <a:ext cx="4794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67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滚动窗口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5625" y="2540000"/>
            <a:ext cx="47625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Tumbling Window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2667" y="2878667"/>
            <a:ext cx="4688417" cy="677333"/>
          </a:xfrm>
          <a:custGeom>
            <a:avLst/>
            <a:gdLst/>
            <a:ahLst/>
            <a:cxnLst/>
            <a:rect l="l" t="t" r="r" b="b"/>
            <a:pathLst>
              <a:path w="4688417" h="677333">
                <a:moveTo>
                  <a:pt x="84667" y="0"/>
                </a:moveTo>
                <a:lnTo>
                  <a:pt x="4603750" y="0"/>
                </a:lnTo>
                <a:cubicBezTo>
                  <a:pt x="4650510" y="0"/>
                  <a:pt x="4688417" y="37907"/>
                  <a:pt x="4688417" y="84667"/>
                </a:cubicBezTo>
                <a:lnTo>
                  <a:pt x="4688417" y="592667"/>
                </a:lnTo>
                <a:cubicBezTo>
                  <a:pt x="4688417" y="639427"/>
                  <a:pt x="4650510" y="677333"/>
                  <a:pt x="4603750" y="677333"/>
                </a:cubicBezTo>
                <a:lnTo>
                  <a:pt x="84667" y="677333"/>
                </a:lnTo>
                <a:cubicBezTo>
                  <a:pt x="37907" y="677333"/>
                  <a:pt x="0" y="639427"/>
                  <a:pt x="0" y="592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77333" y="2963333"/>
            <a:ext cx="4603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特征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7333" y="3259667"/>
            <a:ext cx="45931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固定大小，无重叠，划分时间轴为不相交的等长区间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2667" y="3640667"/>
            <a:ext cx="4688417" cy="677333"/>
          </a:xfrm>
          <a:custGeom>
            <a:avLst/>
            <a:gdLst/>
            <a:ahLst/>
            <a:cxnLst/>
            <a:rect l="l" t="t" r="r" b="b"/>
            <a:pathLst>
              <a:path w="4688417" h="677333">
                <a:moveTo>
                  <a:pt x="84667" y="0"/>
                </a:moveTo>
                <a:lnTo>
                  <a:pt x="4603750" y="0"/>
                </a:lnTo>
                <a:cubicBezTo>
                  <a:pt x="4650510" y="0"/>
                  <a:pt x="4688417" y="37907"/>
                  <a:pt x="4688417" y="84667"/>
                </a:cubicBezTo>
                <a:lnTo>
                  <a:pt x="4688417" y="592667"/>
                </a:lnTo>
                <a:cubicBezTo>
                  <a:pt x="4688417" y="639427"/>
                  <a:pt x="4650510" y="677333"/>
                  <a:pt x="4603750" y="677333"/>
                </a:cubicBezTo>
                <a:lnTo>
                  <a:pt x="84667" y="677333"/>
                </a:lnTo>
                <a:cubicBezTo>
                  <a:pt x="37907" y="677333"/>
                  <a:pt x="0" y="639427"/>
                  <a:pt x="0" y="592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77333" y="3725333"/>
            <a:ext cx="4603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数学定义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7333" y="4021667"/>
            <a:ext cx="45931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W(t) = {e | ⌊t_event(e)/S⌋ = k}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2667" y="4402667"/>
            <a:ext cx="4688417" cy="804333"/>
          </a:xfrm>
          <a:custGeom>
            <a:avLst/>
            <a:gdLst/>
            <a:ahLst/>
            <a:cxnLst/>
            <a:rect l="l" t="t" r="r" b="b"/>
            <a:pathLst>
              <a:path w="4688417" h="804333">
                <a:moveTo>
                  <a:pt x="84664" y="0"/>
                </a:moveTo>
                <a:lnTo>
                  <a:pt x="4603753" y="0"/>
                </a:lnTo>
                <a:cubicBezTo>
                  <a:pt x="4650511" y="0"/>
                  <a:pt x="4688417" y="37905"/>
                  <a:pt x="4688417" y="84664"/>
                </a:cubicBezTo>
                <a:lnTo>
                  <a:pt x="4688417" y="719669"/>
                </a:lnTo>
                <a:cubicBezTo>
                  <a:pt x="4688417" y="766428"/>
                  <a:pt x="4650511" y="804333"/>
                  <a:pt x="4603753" y="804333"/>
                </a:cubicBezTo>
                <a:lnTo>
                  <a:pt x="84664" y="804333"/>
                </a:lnTo>
                <a:cubicBezTo>
                  <a:pt x="37905" y="804333"/>
                  <a:pt x="0" y="766428"/>
                  <a:pt x="0" y="719669"/>
                </a:cubicBezTo>
                <a:lnTo>
                  <a:pt x="0" y="84664"/>
                </a:lnTo>
                <a:cubicBezTo>
                  <a:pt x="0" y="37937"/>
                  <a:pt x="37937" y="0"/>
                  <a:pt x="8466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77333" y="4487333"/>
            <a:ext cx="4603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代码示例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7333" y="4794250"/>
            <a:ext cx="2510234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.window(TumblingEventTimeWindows .of(Time.minutes(1)))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2667" y="5291667"/>
            <a:ext cx="4688417" cy="677333"/>
          </a:xfrm>
          <a:custGeom>
            <a:avLst/>
            <a:gdLst/>
            <a:ahLst/>
            <a:cxnLst/>
            <a:rect l="l" t="t" r="r" b="b"/>
            <a:pathLst>
              <a:path w="4688417" h="677333">
                <a:moveTo>
                  <a:pt x="84667" y="0"/>
                </a:moveTo>
                <a:lnTo>
                  <a:pt x="4603750" y="0"/>
                </a:lnTo>
                <a:cubicBezTo>
                  <a:pt x="4650510" y="0"/>
                  <a:pt x="4688417" y="37907"/>
                  <a:pt x="4688417" y="84667"/>
                </a:cubicBezTo>
                <a:lnTo>
                  <a:pt x="4688417" y="592667"/>
                </a:lnTo>
                <a:cubicBezTo>
                  <a:pt x="4688417" y="639427"/>
                  <a:pt x="4650510" y="677333"/>
                  <a:pt x="4603750" y="677333"/>
                </a:cubicBezTo>
                <a:lnTo>
                  <a:pt x="84667" y="677333"/>
                </a:lnTo>
                <a:cubicBezTo>
                  <a:pt x="37907" y="677333"/>
                  <a:pt x="0" y="639427"/>
                  <a:pt x="0" y="592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77333" y="5376333"/>
            <a:ext cx="4603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7333" y="5672667"/>
            <a:ext cx="45931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定期统计报表、周期性聚合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616195" y="1397000"/>
            <a:ext cx="5027083" cy="4910667"/>
          </a:xfrm>
          <a:custGeom>
            <a:avLst/>
            <a:gdLst/>
            <a:ahLst/>
            <a:cxnLst/>
            <a:rect l="l" t="t" r="r" b="b"/>
            <a:pathLst>
              <a:path w="5027083" h="4910667">
                <a:moveTo>
                  <a:pt x="126990" y="0"/>
                </a:moveTo>
                <a:lnTo>
                  <a:pt x="4900093" y="0"/>
                </a:lnTo>
                <a:cubicBezTo>
                  <a:pt x="4970228" y="0"/>
                  <a:pt x="5027083" y="56855"/>
                  <a:pt x="5027083" y="126990"/>
                </a:cubicBezTo>
                <a:lnTo>
                  <a:pt x="5027083" y="4783677"/>
                </a:lnTo>
                <a:cubicBezTo>
                  <a:pt x="5027083" y="4853811"/>
                  <a:pt x="4970228" y="4910667"/>
                  <a:pt x="4900093" y="4910667"/>
                </a:cubicBezTo>
                <a:lnTo>
                  <a:pt x="126990" y="4910667"/>
                </a:lnTo>
                <a:cubicBezTo>
                  <a:pt x="56855" y="4910667"/>
                  <a:pt x="0" y="4853811"/>
                  <a:pt x="0" y="4783677"/>
                </a:cubicBezTo>
                <a:lnTo>
                  <a:pt x="0" y="126990"/>
                </a:lnTo>
                <a:cubicBezTo>
                  <a:pt x="0" y="56902"/>
                  <a:pt x="56902" y="0"/>
                  <a:pt x="126990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7831584" y="1566333"/>
            <a:ext cx="592667" cy="592667"/>
          </a:xfrm>
          <a:custGeom>
            <a:avLst/>
            <a:gdLst/>
            <a:ahLst/>
            <a:cxnLst/>
            <a:rect l="l" t="t" r="r" b="b"/>
            <a:pathLst>
              <a:path w="592667" h="592667">
                <a:moveTo>
                  <a:pt x="84668" y="0"/>
                </a:moveTo>
                <a:lnTo>
                  <a:pt x="507998" y="0"/>
                </a:lnTo>
                <a:cubicBezTo>
                  <a:pt x="554759" y="0"/>
                  <a:pt x="592667" y="37907"/>
                  <a:pt x="592667" y="84668"/>
                </a:cubicBezTo>
                <a:lnTo>
                  <a:pt x="592667" y="507998"/>
                </a:lnTo>
                <a:cubicBezTo>
                  <a:pt x="592667" y="554759"/>
                  <a:pt x="554759" y="592667"/>
                  <a:pt x="507998" y="592667"/>
                </a:cubicBezTo>
                <a:lnTo>
                  <a:pt x="84668" y="592667"/>
                </a:lnTo>
                <a:cubicBezTo>
                  <a:pt x="37907" y="592667"/>
                  <a:pt x="0" y="554759"/>
                  <a:pt x="0" y="507998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000917" y="173566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15342" y="2580"/>
                </a:moveTo>
                <a:cubicBezTo>
                  <a:pt x="122734" y="-843"/>
                  <a:pt x="131266" y="-843"/>
                  <a:pt x="138658" y="2580"/>
                </a:cubicBezTo>
                <a:lnTo>
                  <a:pt x="247104" y="52685"/>
                </a:lnTo>
                <a:cubicBezTo>
                  <a:pt x="251321" y="54620"/>
                  <a:pt x="254000" y="58837"/>
                  <a:pt x="254000" y="63500"/>
                </a:cubicBezTo>
                <a:cubicBezTo>
                  <a:pt x="254000" y="68163"/>
                  <a:pt x="251321" y="72380"/>
                  <a:pt x="247104" y="74315"/>
                </a:cubicBezTo>
                <a:lnTo>
                  <a:pt x="138658" y="124420"/>
                </a:lnTo>
                <a:cubicBezTo>
                  <a:pt x="131266" y="127843"/>
                  <a:pt x="122734" y="127843"/>
                  <a:pt x="115342" y="124420"/>
                </a:cubicBezTo>
                <a:lnTo>
                  <a:pt x="6896" y="74315"/>
                </a:lnTo>
                <a:cubicBezTo>
                  <a:pt x="2679" y="72330"/>
                  <a:pt x="0" y="68114"/>
                  <a:pt x="0" y="63500"/>
                </a:cubicBezTo>
                <a:cubicBezTo>
                  <a:pt x="0" y="58886"/>
                  <a:pt x="2679" y="54620"/>
                  <a:pt x="6896" y="52685"/>
                </a:cubicBezTo>
                <a:lnTo>
                  <a:pt x="115342" y="2580"/>
                </a:lnTo>
                <a:close/>
                <a:moveTo>
                  <a:pt x="23862" y="108347"/>
                </a:moveTo>
                <a:lnTo>
                  <a:pt x="105370" y="146000"/>
                </a:lnTo>
                <a:cubicBezTo>
                  <a:pt x="119112" y="152350"/>
                  <a:pt x="134938" y="152350"/>
                  <a:pt x="148679" y="146000"/>
                </a:cubicBezTo>
                <a:lnTo>
                  <a:pt x="230188" y="108347"/>
                </a:lnTo>
                <a:lnTo>
                  <a:pt x="247104" y="116185"/>
                </a:lnTo>
                <a:cubicBezTo>
                  <a:pt x="251321" y="118120"/>
                  <a:pt x="254000" y="122337"/>
                  <a:pt x="254000" y="127000"/>
                </a:cubicBezTo>
                <a:cubicBezTo>
                  <a:pt x="254000" y="131663"/>
                  <a:pt x="251321" y="135880"/>
                  <a:pt x="247104" y="137815"/>
                </a:cubicBezTo>
                <a:lnTo>
                  <a:pt x="138658" y="187920"/>
                </a:lnTo>
                <a:cubicBezTo>
                  <a:pt x="131266" y="191343"/>
                  <a:pt x="122734" y="191343"/>
                  <a:pt x="115342" y="187920"/>
                </a:cubicBezTo>
                <a:lnTo>
                  <a:pt x="6896" y="137815"/>
                </a:lnTo>
                <a:cubicBezTo>
                  <a:pt x="2679" y="135830"/>
                  <a:pt x="0" y="131614"/>
                  <a:pt x="0" y="127000"/>
                </a:cubicBezTo>
                <a:cubicBezTo>
                  <a:pt x="0" y="122386"/>
                  <a:pt x="2679" y="118120"/>
                  <a:pt x="6896" y="116185"/>
                </a:cubicBezTo>
                <a:lnTo>
                  <a:pt x="23812" y="108347"/>
                </a:lnTo>
                <a:close/>
                <a:moveTo>
                  <a:pt x="6896" y="179685"/>
                </a:moveTo>
                <a:lnTo>
                  <a:pt x="23812" y="171847"/>
                </a:lnTo>
                <a:lnTo>
                  <a:pt x="105321" y="209500"/>
                </a:lnTo>
                <a:cubicBezTo>
                  <a:pt x="119063" y="215850"/>
                  <a:pt x="134888" y="215850"/>
                  <a:pt x="148630" y="209500"/>
                </a:cubicBezTo>
                <a:lnTo>
                  <a:pt x="230138" y="171847"/>
                </a:lnTo>
                <a:lnTo>
                  <a:pt x="247055" y="179685"/>
                </a:lnTo>
                <a:cubicBezTo>
                  <a:pt x="251271" y="181620"/>
                  <a:pt x="253950" y="185837"/>
                  <a:pt x="253950" y="190500"/>
                </a:cubicBezTo>
                <a:cubicBezTo>
                  <a:pt x="253950" y="195163"/>
                  <a:pt x="251271" y="199380"/>
                  <a:pt x="247055" y="201315"/>
                </a:cubicBezTo>
                <a:lnTo>
                  <a:pt x="138609" y="251420"/>
                </a:lnTo>
                <a:cubicBezTo>
                  <a:pt x="131217" y="254843"/>
                  <a:pt x="122684" y="254843"/>
                  <a:pt x="115292" y="251420"/>
                </a:cubicBezTo>
                <a:lnTo>
                  <a:pt x="6896" y="201315"/>
                </a:lnTo>
                <a:cubicBezTo>
                  <a:pt x="2679" y="199330"/>
                  <a:pt x="0" y="195114"/>
                  <a:pt x="0" y="190500"/>
                </a:cubicBezTo>
                <a:cubicBezTo>
                  <a:pt x="0" y="185886"/>
                  <a:pt x="2679" y="181620"/>
                  <a:pt x="6896" y="179685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5732611" y="2243667"/>
            <a:ext cx="4794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67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滑动窗口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748486" y="2540000"/>
            <a:ext cx="47625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Sliding Window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85528" y="2878667"/>
            <a:ext cx="4688417" cy="677333"/>
          </a:xfrm>
          <a:custGeom>
            <a:avLst/>
            <a:gdLst/>
            <a:ahLst/>
            <a:cxnLst/>
            <a:rect l="l" t="t" r="r" b="b"/>
            <a:pathLst>
              <a:path w="4688417" h="677333">
                <a:moveTo>
                  <a:pt x="84667" y="0"/>
                </a:moveTo>
                <a:lnTo>
                  <a:pt x="4603750" y="0"/>
                </a:lnTo>
                <a:cubicBezTo>
                  <a:pt x="4650510" y="0"/>
                  <a:pt x="4688417" y="37907"/>
                  <a:pt x="4688417" y="84667"/>
                </a:cubicBezTo>
                <a:lnTo>
                  <a:pt x="4688417" y="592667"/>
                </a:lnTo>
                <a:cubicBezTo>
                  <a:pt x="4688417" y="639427"/>
                  <a:pt x="4650510" y="677333"/>
                  <a:pt x="4603750" y="677333"/>
                </a:cubicBezTo>
                <a:lnTo>
                  <a:pt x="84667" y="677333"/>
                </a:lnTo>
                <a:cubicBezTo>
                  <a:pt x="37907" y="677333"/>
                  <a:pt x="0" y="639427"/>
                  <a:pt x="0" y="592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5870195" y="2963333"/>
            <a:ext cx="4603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特征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870195" y="3259667"/>
            <a:ext cx="45931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固定大小，有重叠，提供更平滑的聚合结果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85528" y="3640667"/>
            <a:ext cx="4688417" cy="677333"/>
          </a:xfrm>
          <a:custGeom>
            <a:avLst/>
            <a:gdLst/>
            <a:ahLst/>
            <a:cxnLst/>
            <a:rect l="l" t="t" r="r" b="b"/>
            <a:pathLst>
              <a:path w="4688417" h="677333">
                <a:moveTo>
                  <a:pt x="84667" y="0"/>
                </a:moveTo>
                <a:lnTo>
                  <a:pt x="4603750" y="0"/>
                </a:lnTo>
                <a:cubicBezTo>
                  <a:pt x="4650510" y="0"/>
                  <a:pt x="4688417" y="37907"/>
                  <a:pt x="4688417" y="84667"/>
                </a:cubicBezTo>
                <a:lnTo>
                  <a:pt x="4688417" y="592667"/>
                </a:lnTo>
                <a:cubicBezTo>
                  <a:pt x="4688417" y="639427"/>
                  <a:pt x="4650510" y="677333"/>
                  <a:pt x="4603750" y="677333"/>
                </a:cubicBezTo>
                <a:lnTo>
                  <a:pt x="84667" y="677333"/>
                </a:lnTo>
                <a:cubicBezTo>
                  <a:pt x="37907" y="677333"/>
                  <a:pt x="0" y="639427"/>
                  <a:pt x="0" y="592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5870195" y="3725333"/>
            <a:ext cx="4603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数学定义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870195" y="4021667"/>
            <a:ext cx="45931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W(t) = {e | t-S &lt; t_event(e) ≤ t}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785528" y="4402667"/>
            <a:ext cx="4688417" cy="973667"/>
          </a:xfrm>
          <a:custGeom>
            <a:avLst/>
            <a:gdLst/>
            <a:ahLst/>
            <a:cxnLst/>
            <a:rect l="l" t="t" r="r" b="b"/>
            <a:pathLst>
              <a:path w="4688417" h="973667">
                <a:moveTo>
                  <a:pt x="84670" y="0"/>
                </a:moveTo>
                <a:lnTo>
                  <a:pt x="4603747" y="0"/>
                </a:lnTo>
                <a:cubicBezTo>
                  <a:pt x="4650509" y="0"/>
                  <a:pt x="4688417" y="37908"/>
                  <a:pt x="4688417" y="84670"/>
                </a:cubicBezTo>
                <a:lnTo>
                  <a:pt x="4688417" y="888997"/>
                </a:lnTo>
                <a:cubicBezTo>
                  <a:pt x="4688417" y="935759"/>
                  <a:pt x="4650509" y="973667"/>
                  <a:pt x="4603747" y="973667"/>
                </a:cubicBezTo>
                <a:lnTo>
                  <a:pt x="84670" y="973667"/>
                </a:lnTo>
                <a:cubicBezTo>
                  <a:pt x="37908" y="973667"/>
                  <a:pt x="0" y="935759"/>
                  <a:pt x="0" y="888997"/>
                </a:cubicBezTo>
                <a:lnTo>
                  <a:pt x="0" y="84670"/>
                </a:lnTo>
                <a:cubicBezTo>
                  <a:pt x="0" y="37939"/>
                  <a:pt x="37939" y="0"/>
                  <a:pt x="8467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5870195" y="4487333"/>
            <a:ext cx="4603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代码示例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870195" y="4794250"/>
            <a:ext cx="2433836" cy="486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.window(SlidingEventTimeWindows .of(Time.hours(1), Time.minutes(1)))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785528" y="5461000"/>
            <a:ext cx="4688417" cy="677333"/>
          </a:xfrm>
          <a:custGeom>
            <a:avLst/>
            <a:gdLst/>
            <a:ahLst/>
            <a:cxnLst/>
            <a:rect l="l" t="t" r="r" b="b"/>
            <a:pathLst>
              <a:path w="4688417" h="677333">
                <a:moveTo>
                  <a:pt x="84667" y="0"/>
                </a:moveTo>
                <a:lnTo>
                  <a:pt x="4603750" y="0"/>
                </a:lnTo>
                <a:cubicBezTo>
                  <a:pt x="4650510" y="0"/>
                  <a:pt x="4688417" y="37907"/>
                  <a:pt x="4688417" y="84667"/>
                </a:cubicBezTo>
                <a:lnTo>
                  <a:pt x="4688417" y="592667"/>
                </a:lnTo>
                <a:cubicBezTo>
                  <a:pt x="4688417" y="639427"/>
                  <a:pt x="4650510" y="677333"/>
                  <a:pt x="4603750" y="677333"/>
                </a:cubicBezTo>
                <a:lnTo>
                  <a:pt x="84667" y="677333"/>
                </a:lnTo>
                <a:cubicBezTo>
                  <a:pt x="37907" y="677333"/>
                  <a:pt x="0" y="639427"/>
                  <a:pt x="0" y="592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5870195" y="5545667"/>
            <a:ext cx="4603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870195" y="5842000"/>
            <a:ext cx="45931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移动平均、实时趋势分析、过去1小时每5分钟热销商品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0809056" y="1397000"/>
            <a:ext cx="5027083" cy="4910667"/>
          </a:xfrm>
          <a:custGeom>
            <a:avLst/>
            <a:gdLst/>
            <a:ahLst/>
            <a:cxnLst/>
            <a:rect l="l" t="t" r="r" b="b"/>
            <a:pathLst>
              <a:path w="5027083" h="4910667">
                <a:moveTo>
                  <a:pt x="126990" y="0"/>
                </a:moveTo>
                <a:lnTo>
                  <a:pt x="4900093" y="0"/>
                </a:lnTo>
                <a:cubicBezTo>
                  <a:pt x="4970228" y="0"/>
                  <a:pt x="5027083" y="56855"/>
                  <a:pt x="5027083" y="126990"/>
                </a:cubicBezTo>
                <a:lnTo>
                  <a:pt x="5027083" y="4783677"/>
                </a:lnTo>
                <a:cubicBezTo>
                  <a:pt x="5027083" y="4853811"/>
                  <a:pt x="4970228" y="4910667"/>
                  <a:pt x="4900093" y="4910667"/>
                </a:cubicBezTo>
                <a:lnTo>
                  <a:pt x="126990" y="4910667"/>
                </a:lnTo>
                <a:cubicBezTo>
                  <a:pt x="56855" y="4910667"/>
                  <a:pt x="0" y="4853811"/>
                  <a:pt x="0" y="4783677"/>
                </a:cubicBezTo>
                <a:lnTo>
                  <a:pt x="0" y="126990"/>
                </a:lnTo>
                <a:cubicBezTo>
                  <a:pt x="0" y="56902"/>
                  <a:pt x="56902" y="0"/>
                  <a:pt x="126990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13024445" y="1566333"/>
            <a:ext cx="592667" cy="592667"/>
          </a:xfrm>
          <a:custGeom>
            <a:avLst/>
            <a:gdLst/>
            <a:ahLst/>
            <a:cxnLst/>
            <a:rect l="l" t="t" r="r" b="b"/>
            <a:pathLst>
              <a:path w="592667" h="592667">
                <a:moveTo>
                  <a:pt x="84668" y="0"/>
                </a:moveTo>
                <a:lnTo>
                  <a:pt x="507998" y="0"/>
                </a:lnTo>
                <a:cubicBezTo>
                  <a:pt x="554759" y="0"/>
                  <a:pt x="592667" y="37907"/>
                  <a:pt x="592667" y="84668"/>
                </a:cubicBezTo>
                <a:lnTo>
                  <a:pt x="592667" y="507998"/>
                </a:lnTo>
                <a:cubicBezTo>
                  <a:pt x="592667" y="554759"/>
                  <a:pt x="554759" y="592667"/>
                  <a:pt x="507998" y="592667"/>
                </a:cubicBezTo>
                <a:lnTo>
                  <a:pt x="84668" y="592667"/>
                </a:lnTo>
                <a:cubicBezTo>
                  <a:pt x="37907" y="592667"/>
                  <a:pt x="0" y="554759"/>
                  <a:pt x="0" y="507998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13177904" y="1735667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11125" y="3969"/>
                </a:moveTo>
                <a:cubicBezTo>
                  <a:pt x="143981" y="3969"/>
                  <a:pt x="170656" y="30644"/>
                  <a:pt x="170656" y="63500"/>
                </a:cubicBezTo>
                <a:cubicBezTo>
                  <a:pt x="170656" y="96356"/>
                  <a:pt x="143981" y="123031"/>
                  <a:pt x="111125" y="123031"/>
                </a:cubicBezTo>
                <a:cubicBezTo>
                  <a:pt x="78269" y="123031"/>
                  <a:pt x="51594" y="96356"/>
                  <a:pt x="51594" y="63500"/>
                </a:cubicBezTo>
                <a:cubicBezTo>
                  <a:pt x="51594" y="30644"/>
                  <a:pt x="78269" y="3969"/>
                  <a:pt x="111125" y="3969"/>
                </a:cubicBezTo>
                <a:close/>
                <a:moveTo>
                  <a:pt x="96391" y="150813"/>
                </a:moveTo>
                <a:lnTo>
                  <a:pt x="125859" y="150813"/>
                </a:lnTo>
                <a:cubicBezTo>
                  <a:pt x="127794" y="150813"/>
                  <a:pt x="129778" y="150862"/>
                  <a:pt x="131713" y="151011"/>
                </a:cubicBezTo>
                <a:cubicBezTo>
                  <a:pt x="123676" y="165001"/>
                  <a:pt x="119063" y="181173"/>
                  <a:pt x="119063" y="198438"/>
                </a:cubicBezTo>
                <a:cubicBezTo>
                  <a:pt x="119063" y="219174"/>
                  <a:pt x="125710" y="238373"/>
                  <a:pt x="136922" y="254000"/>
                </a:cubicBezTo>
                <a:lnTo>
                  <a:pt x="22671" y="254000"/>
                </a:lnTo>
                <a:cubicBezTo>
                  <a:pt x="14536" y="254000"/>
                  <a:pt x="7938" y="247402"/>
                  <a:pt x="7938" y="239266"/>
                </a:cubicBezTo>
                <a:cubicBezTo>
                  <a:pt x="7938" y="190401"/>
                  <a:pt x="47526" y="150813"/>
                  <a:pt x="96391" y="150813"/>
                </a:cubicBezTo>
                <a:close/>
                <a:moveTo>
                  <a:pt x="142875" y="198438"/>
                </a:moveTo>
                <a:cubicBezTo>
                  <a:pt x="142875" y="159010"/>
                  <a:pt x="174885" y="127000"/>
                  <a:pt x="214313" y="127000"/>
                </a:cubicBezTo>
                <a:cubicBezTo>
                  <a:pt x="253740" y="127000"/>
                  <a:pt x="285750" y="159010"/>
                  <a:pt x="285750" y="198437"/>
                </a:cubicBezTo>
                <a:cubicBezTo>
                  <a:pt x="285750" y="237865"/>
                  <a:pt x="253740" y="269875"/>
                  <a:pt x="214313" y="269875"/>
                </a:cubicBezTo>
                <a:cubicBezTo>
                  <a:pt x="174885" y="269875"/>
                  <a:pt x="142875" y="237865"/>
                  <a:pt x="142875" y="198438"/>
                </a:cubicBezTo>
                <a:close/>
                <a:moveTo>
                  <a:pt x="214313" y="158750"/>
                </a:moveTo>
                <a:cubicBezTo>
                  <a:pt x="209947" y="158750"/>
                  <a:pt x="206375" y="162322"/>
                  <a:pt x="206375" y="166688"/>
                </a:cubicBezTo>
                <a:lnTo>
                  <a:pt x="206375" y="198438"/>
                </a:lnTo>
                <a:cubicBezTo>
                  <a:pt x="206375" y="202803"/>
                  <a:pt x="209947" y="206375"/>
                  <a:pt x="214313" y="206375"/>
                </a:cubicBezTo>
                <a:lnTo>
                  <a:pt x="238125" y="206375"/>
                </a:lnTo>
                <a:cubicBezTo>
                  <a:pt x="242491" y="206375"/>
                  <a:pt x="246063" y="202803"/>
                  <a:pt x="246063" y="198438"/>
                </a:cubicBezTo>
                <a:cubicBezTo>
                  <a:pt x="246063" y="194072"/>
                  <a:pt x="242491" y="190500"/>
                  <a:pt x="238125" y="190500"/>
                </a:cubicBezTo>
                <a:lnTo>
                  <a:pt x="222250" y="190500"/>
                </a:lnTo>
                <a:lnTo>
                  <a:pt x="222250" y="166688"/>
                </a:lnTo>
                <a:cubicBezTo>
                  <a:pt x="222250" y="162322"/>
                  <a:pt x="218678" y="158750"/>
                  <a:pt x="214313" y="15875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10925473" y="2243667"/>
            <a:ext cx="4794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67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会话窗口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941348" y="2540000"/>
            <a:ext cx="47625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Session Window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0978389" y="2878667"/>
            <a:ext cx="4688417" cy="677333"/>
          </a:xfrm>
          <a:custGeom>
            <a:avLst/>
            <a:gdLst/>
            <a:ahLst/>
            <a:cxnLst/>
            <a:rect l="l" t="t" r="r" b="b"/>
            <a:pathLst>
              <a:path w="4688417" h="677333">
                <a:moveTo>
                  <a:pt x="84667" y="0"/>
                </a:moveTo>
                <a:lnTo>
                  <a:pt x="4603750" y="0"/>
                </a:lnTo>
                <a:cubicBezTo>
                  <a:pt x="4650510" y="0"/>
                  <a:pt x="4688417" y="37907"/>
                  <a:pt x="4688417" y="84667"/>
                </a:cubicBezTo>
                <a:lnTo>
                  <a:pt x="4688417" y="592667"/>
                </a:lnTo>
                <a:cubicBezTo>
                  <a:pt x="4688417" y="639427"/>
                  <a:pt x="4650510" y="677333"/>
                  <a:pt x="4603750" y="677333"/>
                </a:cubicBezTo>
                <a:lnTo>
                  <a:pt x="84667" y="677333"/>
                </a:lnTo>
                <a:cubicBezTo>
                  <a:pt x="37907" y="677333"/>
                  <a:pt x="0" y="639427"/>
                  <a:pt x="0" y="592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11063056" y="2963333"/>
            <a:ext cx="4603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特征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063056" y="3259667"/>
            <a:ext cx="45931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基于事件间隔的动态划分，窗口大小可变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0978389" y="3640667"/>
            <a:ext cx="4688417" cy="677333"/>
          </a:xfrm>
          <a:custGeom>
            <a:avLst/>
            <a:gdLst/>
            <a:ahLst/>
            <a:cxnLst/>
            <a:rect l="l" t="t" r="r" b="b"/>
            <a:pathLst>
              <a:path w="4688417" h="677333">
                <a:moveTo>
                  <a:pt x="84667" y="0"/>
                </a:moveTo>
                <a:lnTo>
                  <a:pt x="4603750" y="0"/>
                </a:lnTo>
                <a:cubicBezTo>
                  <a:pt x="4650510" y="0"/>
                  <a:pt x="4688417" y="37907"/>
                  <a:pt x="4688417" y="84667"/>
                </a:cubicBezTo>
                <a:lnTo>
                  <a:pt x="4688417" y="592667"/>
                </a:lnTo>
                <a:cubicBezTo>
                  <a:pt x="4688417" y="639427"/>
                  <a:pt x="4650510" y="677333"/>
                  <a:pt x="4603750" y="677333"/>
                </a:cubicBezTo>
                <a:lnTo>
                  <a:pt x="84667" y="677333"/>
                </a:lnTo>
                <a:cubicBezTo>
                  <a:pt x="37907" y="677333"/>
                  <a:pt x="0" y="639427"/>
                  <a:pt x="0" y="592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11063056" y="3725333"/>
            <a:ext cx="4603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数学定义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1063056" y="4021667"/>
            <a:ext cx="45931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session(e_i) = {e_j | |t_event(e_j)-t_event(e_i)| &lt; G}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0978389" y="4402667"/>
            <a:ext cx="4688417" cy="804333"/>
          </a:xfrm>
          <a:custGeom>
            <a:avLst/>
            <a:gdLst/>
            <a:ahLst/>
            <a:cxnLst/>
            <a:rect l="l" t="t" r="r" b="b"/>
            <a:pathLst>
              <a:path w="4688417" h="804333">
                <a:moveTo>
                  <a:pt x="84664" y="0"/>
                </a:moveTo>
                <a:lnTo>
                  <a:pt x="4603753" y="0"/>
                </a:lnTo>
                <a:cubicBezTo>
                  <a:pt x="4650511" y="0"/>
                  <a:pt x="4688417" y="37905"/>
                  <a:pt x="4688417" y="84664"/>
                </a:cubicBezTo>
                <a:lnTo>
                  <a:pt x="4688417" y="719669"/>
                </a:lnTo>
                <a:cubicBezTo>
                  <a:pt x="4688417" y="766428"/>
                  <a:pt x="4650511" y="804333"/>
                  <a:pt x="4603753" y="804333"/>
                </a:cubicBezTo>
                <a:lnTo>
                  <a:pt x="84664" y="804333"/>
                </a:lnTo>
                <a:cubicBezTo>
                  <a:pt x="37905" y="804333"/>
                  <a:pt x="0" y="766428"/>
                  <a:pt x="0" y="719669"/>
                </a:cubicBezTo>
                <a:lnTo>
                  <a:pt x="0" y="84664"/>
                </a:lnTo>
                <a:cubicBezTo>
                  <a:pt x="0" y="37937"/>
                  <a:pt x="37937" y="0"/>
                  <a:pt x="8466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11063056" y="4487333"/>
            <a:ext cx="4603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代码示例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1063056" y="4794250"/>
            <a:ext cx="2433836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.window(EventTimeSessionWindows .withGap(Time.minutes(30)))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0978389" y="5291667"/>
            <a:ext cx="4688417" cy="677333"/>
          </a:xfrm>
          <a:custGeom>
            <a:avLst/>
            <a:gdLst/>
            <a:ahLst/>
            <a:cxnLst/>
            <a:rect l="l" t="t" r="r" b="b"/>
            <a:pathLst>
              <a:path w="4688417" h="677333">
                <a:moveTo>
                  <a:pt x="84667" y="0"/>
                </a:moveTo>
                <a:lnTo>
                  <a:pt x="4603750" y="0"/>
                </a:lnTo>
                <a:cubicBezTo>
                  <a:pt x="4650510" y="0"/>
                  <a:pt x="4688417" y="37907"/>
                  <a:pt x="4688417" y="84667"/>
                </a:cubicBezTo>
                <a:lnTo>
                  <a:pt x="4688417" y="592667"/>
                </a:lnTo>
                <a:cubicBezTo>
                  <a:pt x="4688417" y="639427"/>
                  <a:pt x="4650510" y="677333"/>
                  <a:pt x="4603750" y="677333"/>
                </a:cubicBezTo>
                <a:lnTo>
                  <a:pt x="84667" y="677333"/>
                </a:lnTo>
                <a:cubicBezTo>
                  <a:pt x="37907" y="677333"/>
                  <a:pt x="0" y="639427"/>
                  <a:pt x="0" y="592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11063056" y="5376333"/>
            <a:ext cx="4603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1063056" y="5672667"/>
            <a:ext cx="45931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用户行为分析、事件序列分析、一次连续购物浏览行为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23333" y="6477000"/>
            <a:ext cx="7620000" cy="2413000"/>
          </a:xfrm>
          <a:custGeom>
            <a:avLst/>
            <a:gdLst/>
            <a:ahLst/>
            <a:cxnLst/>
            <a:rect l="l" t="t" r="r" b="b"/>
            <a:pathLst>
              <a:path w="7620000" h="2413000">
                <a:moveTo>
                  <a:pt x="126996" y="0"/>
                </a:moveTo>
                <a:lnTo>
                  <a:pt x="7493004" y="0"/>
                </a:lnTo>
                <a:cubicBezTo>
                  <a:pt x="7563142" y="0"/>
                  <a:pt x="7620000" y="56858"/>
                  <a:pt x="7620000" y="126996"/>
                </a:cubicBezTo>
                <a:lnTo>
                  <a:pt x="7620000" y="2286004"/>
                </a:lnTo>
                <a:cubicBezTo>
                  <a:pt x="7620000" y="2356142"/>
                  <a:pt x="7563142" y="2413000"/>
                  <a:pt x="7493004" y="2413000"/>
                </a:cubicBezTo>
                <a:lnTo>
                  <a:pt x="126996" y="2413000"/>
                </a:lnTo>
                <a:cubicBezTo>
                  <a:pt x="56858" y="2413000"/>
                  <a:pt x="0" y="2356142"/>
                  <a:pt x="0" y="2286004"/>
                </a:cubicBezTo>
                <a:lnTo>
                  <a:pt x="0" y="126996"/>
                </a:lnTo>
                <a:cubicBezTo>
                  <a:pt x="0" y="56905"/>
                  <a:pt x="56905" y="0"/>
                  <a:pt x="126996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>
            <a:off x="619125" y="6688667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105833" y="211667"/>
                </a:moveTo>
                <a:cubicBezTo>
                  <a:pt x="164244" y="211667"/>
                  <a:pt x="211667" y="164244"/>
                  <a:pt x="211667" y="105833"/>
                </a:cubicBezTo>
                <a:cubicBezTo>
                  <a:pt x="211667" y="47422"/>
                  <a:pt x="164244" y="0"/>
                  <a:pt x="105833" y="0"/>
                </a:cubicBezTo>
                <a:cubicBezTo>
                  <a:pt x="47422" y="0"/>
                  <a:pt x="0" y="47422"/>
                  <a:pt x="0" y="105833"/>
                </a:cubicBezTo>
                <a:cubicBezTo>
                  <a:pt x="0" y="164244"/>
                  <a:pt x="47422" y="211667"/>
                  <a:pt x="105833" y="211667"/>
                </a:cubicBezTo>
                <a:close/>
                <a:moveTo>
                  <a:pt x="95911" y="142214"/>
                </a:moveTo>
                <a:lnTo>
                  <a:pt x="95911" y="115755"/>
                </a:lnTo>
                <a:lnTo>
                  <a:pt x="69453" y="115755"/>
                </a:lnTo>
                <a:cubicBezTo>
                  <a:pt x="63955" y="115755"/>
                  <a:pt x="59531" y="111332"/>
                  <a:pt x="59531" y="105833"/>
                </a:cubicBezTo>
                <a:cubicBezTo>
                  <a:pt x="59531" y="100335"/>
                  <a:pt x="63955" y="95911"/>
                  <a:pt x="69453" y="95911"/>
                </a:cubicBezTo>
                <a:lnTo>
                  <a:pt x="95911" y="95911"/>
                </a:lnTo>
                <a:lnTo>
                  <a:pt x="95911" y="69453"/>
                </a:lnTo>
                <a:cubicBezTo>
                  <a:pt x="95911" y="63955"/>
                  <a:pt x="100335" y="59531"/>
                  <a:pt x="105833" y="59531"/>
                </a:cubicBezTo>
                <a:cubicBezTo>
                  <a:pt x="111332" y="59531"/>
                  <a:pt x="115755" y="63955"/>
                  <a:pt x="115755" y="69453"/>
                </a:cubicBezTo>
                <a:lnTo>
                  <a:pt x="115755" y="95911"/>
                </a:lnTo>
                <a:lnTo>
                  <a:pt x="142214" y="95911"/>
                </a:lnTo>
                <a:cubicBezTo>
                  <a:pt x="147712" y="95911"/>
                  <a:pt x="152135" y="100335"/>
                  <a:pt x="152135" y="105833"/>
                </a:cubicBezTo>
                <a:cubicBezTo>
                  <a:pt x="152135" y="111332"/>
                  <a:pt x="147712" y="115755"/>
                  <a:pt x="142214" y="115755"/>
                </a:cubicBezTo>
                <a:lnTo>
                  <a:pt x="115755" y="115755"/>
                </a:lnTo>
                <a:lnTo>
                  <a:pt x="115755" y="142214"/>
                </a:lnTo>
                <a:cubicBezTo>
                  <a:pt x="115755" y="147712"/>
                  <a:pt x="111332" y="152135"/>
                  <a:pt x="105833" y="152135"/>
                </a:cubicBezTo>
                <a:cubicBezTo>
                  <a:pt x="100335" y="152135"/>
                  <a:pt x="95911" y="147712"/>
                  <a:pt x="95911" y="142214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857250" y="6646333"/>
            <a:ext cx="7122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增量聚合函数 (高效)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592667" y="7069667"/>
            <a:ext cx="7281333" cy="677333"/>
          </a:xfrm>
          <a:custGeom>
            <a:avLst/>
            <a:gdLst/>
            <a:ahLst/>
            <a:cxnLst/>
            <a:rect l="l" t="t" r="r" b="b"/>
            <a:pathLst>
              <a:path w="7281333" h="677333">
                <a:moveTo>
                  <a:pt x="84667" y="0"/>
                </a:moveTo>
                <a:lnTo>
                  <a:pt x="7196667" y="0"/>
                </a:lnTo>
                <a:cubicBezTo>
                  <a:pt x="7243427" y="0"/>
                  <a:pt x="7281333" y="37907"/>
                  <a:pt x="7281333" y="84667"/>
                </a:cubicBezTo>
                <a:lnTo>
                  <a:pt x="7281333" y="592667"/>
                </a:lnTo>
                <a:cubicBezTo>
                  <a:pt x="7281333" y="639427"/>
                  <a:pt x="7243427" y="677333"/>
                  <a:pt x="7196667" y="677333"/>
                </a:cubicBezTo>
                <a:lnTo>
                  <a:pt x="84667" y="677333"/>
                </a:lnTo>
                <a:cubicBezTo>
                  <a:pt x="37907" y="677333"/>
                  <a:pt x="0" y="639427"/>
                  <a:pt x="0" y="592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677333" y="7154333"/>
            <a:ext cx="7196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ReduceFunction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77333" y="7450667"/>
            <a:ext cx="7186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输入输出类型一致，滚动聚合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592667" y="7831667"/>
            <a:ext cx="7281333" cy="677333"/>
          </a:xfrm>
          <a:custGeom>
            <a:avLst/>
            <a:gdLst/>
            <a:ahLst/>
            <a:cxnLst/>
            <a:rect l="l" t="t" r="r" b="b"/>
            <a:pathLst>
              <a:path w="7281333" h="677333">
                <a:moveTo>
                  <a:pt x="84667" y="0"/>
                </a:moveTo>
                <a:lnTo>
                  <a:pt x="7196667" y="0"/>
                </a:lnTo>
                <a:cubicBezTo>
                  <a:pt x="7243427" y="0"/>
                  <a:pt x="7281333" y="37907"/>
                  <a:pt x="7281333" y="84667"/>
                </a:cubicBezTo>
                <a:lnTo>
                  <a:pt x="7281333" y="592667"/>
                </a:lnTo>
                <a:cubicBezTo>
                  <a:pt x="7281333" y="639427"/>
                  <a:pt x="7243427" y="677333"/>
                  <a:pt x="7196667" y="677333"/>
                </a:cubicBezTo>
                <a:lnTo>
                  <a:pt x="84667" y="677333"/>
                </a:lnTo>
                <a:cubicBezTo>
                  <a:pt x="37907" y="677333"/>
                  <a:pt x="0" y="639427"/>
                  <a:pt x="0" y="592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/>
          <p:nvPr/>
        </p:nvSpPr>
        <p:spPr>
          <a:xfrm>
            <a:off x="677333" y="7916333"/>
            <a:ext cx="7196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AggregateFunction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77333" y="8212667"/>
            <a:ext cx="7186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输入、累加器、输出类型可不同，最灵活。每来一条数据就计算一次，性能高，状态小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212667" y="6477000"/>
            <a:ext cx="7620000" cy="2413000"/>
          </a:xfrm>
          <a:custGeom>
            <a:avLst/>
            <a:gdLst/>
            <a:ahLst/>
            <a:cxnLst/>
            <a:rect l="l" t="t" r="r" b="b"/>
            <a:pathLst>
              <a:path w="7620000" h="2413000">
                <a:moveTo>
                  <a:pt x="126996" y="0"/>
                </a:moveTo>
                <a:lnTo>
                  <a:pt x="7493004" y="0"/>
                </a:lnTo>
                <a:cubicBezTo>
                  <a:pt x="7563142" y="0"/>
                  <a:pt x="7620000" y="56858"/>
                  <a:pt x="7620000" y="126996"/>
                </a:cubicBezTo>
                <a:lnTo>
                  <a:pt x="7620000" y="2286004"/>
                </a:lnTo>
                <a:cubicBezTo>
                  <a:pt x="7620000" y="2356142"/>
                  <a:pt x="7563142" y="2413000"/>
                  <a:pt x="7493004" y="2413000"/>
                </a:cubicBezTo>
                <a:lnTo>
                  <a:pt x="126996" y="2413000"/>
                </a:lnTo>
                <a:cubicBezTo>
                  <a:pt x="56858" y="2413000"/>
                  <a:pt x="0" y="2356142"/>
                  <a:pt x="0" y="2286004"/>
                </a:cubicBezTo>
                <a:lnTo>
                  <a:pt x="0" y="126996"/>
                </a:lnTo>
                <a:cubicBezTo>
                  <a:pt x="0" y="56905"/>
                  <a:pt x="56905" y="0"/>
                  <a:pt x="126996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7" name="Shape 65"/>
          <p:cNvSpPr/>
          <p:nvPr/>
        </p:nvSpPr>
        <p:spPr>
          <a:xfrm>
            <a:off x="8395229" y="6688667"/>
            <a:ext cx="238125" cy="211667"/>
          </a:xfrm>
          <a:custGeom>
            <a:avLst/>
            <a:gdLst/>
            <a:ahLst/>
            <a:cxnLst/>
            <a:rect l="l" t="t" r="r" b="b"/>
            <a:pathLst>
              <a:path w="238125" h="211667">
                <a:moveTo>
                  <a:pt x="211667" y="39688"/>
                </a:moveTo>
                <a:lnTo>
                  <a:pt x="66146" y="39688"/>
                </a:lnTo>
                <a:cubicBezTo>
                  <a:pt x="66146" y="25094"/>
                  <a:pt x="78011" y="13229"/>
                  <a:pt x="92604" y="13229"/>
                </a:cubicBezTo>
                <a:lnTo>
                  <a:pt x="211667" y="13229"/>
                </a:lnTo>
                <a:cubicBezTo>
                  <a:pt x="226260" y="13229"/>
                  <a:pt x="238125" y="25094"/>
                  <a:pt x="238125" y="39688"/>
                </a:cubicBezTo>
                <a:lnTo>
                  <a:pt x="238125" y="119063"/>
                </a:lnTo>
                <a:cubicBezTo>
                  <a:pt x="238125" y="133656"/>
                  <a:pt x="226260" y="145521"/>
                  <a:pt x="211667" y="145521"/>
                </a:cubicBezTo>
                <a:lnTo>
                  <a:pt x="191823" y="145521"/>
                </a:lnTo>
                <a:lnTo>
                  <a:pt x="191823" y="119063"/>
                </a:lnTo>
                <a:lnTo>
                  <a:pt x="211667" y="119063"/>
                </a:lnTo>
                <a:lnTo>
                  <a:pt x="211667" y="39688"/>
                </a:lnTo>
                <a:close/>
                <a:moveTo>
                  <a:pt x="0" y="92604"/>
                </a:moveTo>
                <a:cubicBezTo>
                  <a:pt x="0" y="78011"/>
                  <a:pt x="11865" y="66146"/>
                  <a:pt x="26458" y="66146"/>
                </a:cubicBezTo>
                <a:lnTo>
                  <a:pt x="145521" y="66146"/>
                </a:lnTo>
                <a:cubicBezTo>
                  <a:pt x="160114" y="66146"/>
                  <a:pt x="171979" y="78011"/>
                  <a:pt x="171979" y="92604"/>
                </a:cubicBezTo>
                <a:lnTo>
                  <a:pt x="171979" y="171979"/>
                </a:lnTo>
                <a:cubicBezTo>
                  <a:pt x="171979" y="186573"/>
                  <a:pt x="160114" y="198438"/>
                  <a:pt x="145521" y="198438"/>
                </a:cubicBezTo>
                <a:lnTo>
                  <a:pt x="26458" y="198438"/>
                </a:lnTo>
                <a:cubicBezTo>
                  <a:pt x="11865" y="198438"/>
                  <a:pt x="0" y="186573"/>
                  <a:pt x="0" y="171979"/>
                </a:cubicBezTo>
                <a:lnTo>
                  <a:pt x="0" y="92604"/>
                </a:lnTo>
                <a:close/>
                <a:moveTo>
                  <a:pt x="26458" y="109141"/>
                </a:moveTo>
                <a:cubicBezTo>
                  <a:pt x="26458" y="114639"/>
                  <a:pt x="30882" y="119063"/>
                  <a:pt x="36380" y="119063"/>
                </a:cubicBezTo>
                <a:lnTo>
                  <a:pt x="135599" y="119063"/>
                </a:lnTo>
                <a:cubicBezTo>
                  <a:pt x="141097" y="119063"/>
                  <a:pt x="145521" y="114639"/>
                  <a:pt x="145521" y="109141"/>
                </a:cubicBezTo>
                <a:cubicBezTo>
                  <a:pt x="145521" y="103642"/>
                  <a:pt x="141097" y="99219"/>
                  <a:pt x="135599" y="99219"/>
                </a:cubicBezTo>
                <a:lnTo>
                  <a:pt x="36380" y="99219"/>
                </a:lnTo>
                <a:cubicBezTo>
                  <a:pt x="30882" y="99219"/>
                  <a:pt x="26458" y="103642"/>
                  <a:pt x="26458" y="109141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8" name="Text 66"/>
          <p:cNvSpPr/>
          <p:nvPr/>
        </p:nvSpPr>
        <p:spPr>
          <a:xfrm>
            <a:off x="8646583" y="6646333"/>
            <a:ext cx="7122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全窗口函数 (功能强)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382000" y="7069667"/>
            <a:ext cx="7281333" cy="889000"/>
          </a:xfrm>
          <a:custGeom>
            <a:avLst/>
            <a:gdLst/>
            <a:ahLst/>
            <a:cxnLst/>
            <a:rect l="l" t="t" r="r" b="b"/>
            <a:pathLst>
              <a:path w="7281333" h="889000">
                <a:moveTo>
                  <a:pt x="84668" y="0"/>
                </a:moveTo>
                <a:lnTo>
                  <a:pt x="7196665" y="0"/>
                </a:lnTo>
                <a:cubicBezTo>
                  <a:pt x="7243426" y="0"/>
                  <a:pt x="7281333" y="37907"/>
                  <a:pt x="7281333" y="84668"/>
                </a:cubicBezTo>
                <a:lnTo>
                  <a:pt x="7281333" y="804332"/>
                </a:lnTo>
                <a:cubicBezTo>
                  <a:pt x="7281333" y="851093"/>
                  <a:pt x="7243426" y="889000"/>
                  <a:pt x="7196665" y="889000"/>
                </a:cubicBezTo>
                <a:lnTo>
                  <a:pt x="84668" y="889000"/>
                </a:lnTo>
                <a:cubicBezTo>
                  <a:pt x="37907" y="889000"/>
                  <a:pt x="0" y="851093"/>
                  <a:pt x="0" y="804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0" name="Text 68"/>
          <p:cNvSpPr/>
          <p:nvPr/>
        </p:nvSpPr>
        <p:spPr>
          <a:xfrm>
            <a:off x="8466667" y="7154333"/>
            <a:ext cx="7196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ProcessWindowFunction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8466667" y="7450667"/>
            <a:ext cx="718608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先缓存所有数据，触发时一次性计算。适用于需要窗口元信息(开始/结束时间)或无法增量计算的场景(如中位数)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8382000" y="8043333"/>
            <a:ext cx="7281333" cy="677333"/>
          </a:xfrm>
          <a:custGeom>
            <a:avLst/>
            <a:gdLst/>
            <a:ahLst/>
            <a:cxnLst/>
            <a:rect l="l" t="t" r="r" b="b"/>
            <a:pathLst>
              <a:path w="7281333" h="677333">
                <a:moveTo>
                  <a:pt x="84667" y="0"/>
                </a:moveTo>
                <a:lnTo>
                  <a:pt x="7196667" y="0"/>
                </a:lnTo>
                <a:cubicBezTo>
                  <a:pt x="7243427" y="0"/>
                  <a:pt x="7281333" y="37907"/>
                  <a:pt x="7281333" y="84667"/>
                </a:cubicBezTo>
                <a:lnTo>
                  <a:pt x="7281333" y="592667"/>
                </a:lnTo>
                <a:cubicBezTo>
                  <a:pt x="7281333" y="639427"/>
                  <a:pt x="7243427" y="677333"/>
                  <a:pt x="7196667" y="677333"/>
                </a:cubicBezTo>
                <a:lnTo>
                  <a:pt x="84667" y="677333"/>
                </a:lnTo>
                <a:cubicBezTo>
                  <a:pt x="37907" y="677333"/>
                  <a:pt x="0" y="639427"/>
                  <a:pt x="0" y="592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3" name="Text 71"/>
          <p:cNvSpPr/>
          <p:nvPr/>
        </p:nvSpPr>
        <p:spPr>
          <a:xfrm>
            <a:off x="8466667" y="8128000"/>
            <a:ext cx="7196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8466667" y="8424333"/>
            <a:ext cx="7186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需要访问窗口元信息、复杂计算无法增量、需要窗口内所有数据的场景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23333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84667" y="0"/>
                </a:moveTo>
                <a:lnTo>
                  <a:pt x="338667" y="0"/>
                </a:lnTo>
                <a:cubicBezTo>
                  <a:pt x="385427" y="0"/>
                  <a:pt x="423333" y="37907"/>
                  <a:pt x="423333" y="84667"/>
                </a:cubicBezTo>
                <a:lnTo>
                  <a:pt x="423333" y="338667"/>
                </a:lnTo>
                <a:cubicBezTo>
                  <a:pt x="423333" y="385427"/>
                  <a:pt x="385427" y="423333"/>
                  <a:pt x="338667" y="423333"/>
                </a:cubicBezTo>
                <a:lnTo>
                  <a:pt x="84667" y="423333"/>
                </a:lnTo>
                <a:cubicBezTo>
                  <a:pt x="37907" y="423333"/>
                  <a:pt x="0" y="385427"/>
                  <a:pt x="0" y="338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54302" y="5397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973667" y="423333"/>
            <a:ext cx="718608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状态管理：Keyed State与Operator State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73667" y="931333"/>
            <a:ext cx="14954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深入理解Flink的状态管理机制与类型区分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3333" y="1397000"/>
            <a:ext cx="7620000" cy="4360333"/>
          </a:xfrm>
          <a:custGeom>
            <a:avLst/>
            <a:gdLst/>
            <a:ahLst/>
            <a:cxnLst/>
            <a:rect l="l" t="t" r="r" b="b"/>
            <a:pathLst>
              <a:path w="7620000" h="4360333">
                <a:moveTo>
                  <a:pt x="127017" y="0"/>
                </a:moveTo>
                <a:lnTo>
                  <a:pt x="7492983" y="0"/>
                </a:lnTo>
                <a:cubicBezTo>
                  <a:pt x="7563133" y="0"/>
                  <a:pt x="7620000" y="56867"/>
                  <a:pt x="7620000" y="127017"/>
                </a:cubicBezTo>
                <a:lnTo>
                  <a:pt x="7620000" y="4233317"/>
                </a:lnTo>
                <a:cubicBezTo>
                  <a:pt x="7620000" y="4303466"/>
                  <a:pt x="7563133" y="4360333"/>
                  <a:pt x="7492983" y="4360333"/>
                </a:cubicBezTo>
                <a:lnTo>
                  <a:pt x="127017" y="4360333"/>
                </a:lnTo>
                <a:cubicBezTo>
                  <a:pt x="56867" y="4360333"/>
                  <a:pt x="0" y="4303466"/>
                  <a:pt x="0" y="4233317"/>
                </a:cubicBezTo>
                <a:lnTo>
                  <a:pt x="0" y="127017"/>
                </a:lnTo>
                <a:cubicBezTo>
                  <a:pt x="0" y="56914"/>
                  <a:pt x="56914" y="0"/>
                  <a:pt x="127017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92667" y="156633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40833" y="1714500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138906" y="145521"/>
                </a:moveTo>
                <a:cubicBezTo>
                  <a:pt x="179090" y="145521"/>
                  <a:pt x="211667" y="112944"/>
                  <a:pt x="211667" y="72760"/>
                </a:cubicBezTo>
                <a:cubicBezTo>
                  <a:pt x="211667" y="32577"/>
                  <a:pt x="179090" y="0"/>
                  <a:pt x="138906" y="0"/>
                </a:cubicBezTo>
                <a:cubicBezTo>
                  <a:pt x="98723" y="0"/>
                  <a:pt x="66146" y="32577"/>
                  <a:pt x="66146" y="72760"/>
                </a:cubicBezTo>
                <a:cubicBezTo>
                  <a:pt x="66146" y="80491"/>
                  <a:pt x="67345" y="87974"/>
                  <a:pt x="69577" y="94961"/>
                </a:cubicBezTo>
                <a:lnTo>
                  <a:pt x="2894" y="161644"/>
                </a:lnTo>
                <a:cubicBezTo>
                  <a:pt x="1034" y="163504"/>
                  <a:pt x="0" y="166026"/>
                  <a:pt x="0" y="168672"/>
                </a:cubicBezTo>
                <a:lnTo>
                  <a:pt x="0" y="201745"/>
                </a:lnTo>
                <a:cubicBezTo>
                  <a:pt x="0" y="207243"/>
                  <a:pt x="4424" y="211667"/>
                  <a:pt x="9922" y="211667"/>
                </a:cubicBezTo>
                <a:lnTo>
                  <a:pt x="42995" y="211667"/>
                </a:lnTo>
                <a:cubicBezTo>
                  <a:pt x="48493" y="211667"/>
                  <a:pt x="52917" y="207243"/>
                  <a:pt x="52917" y="201745"/>
                </a:cubicBezTo>
                <a:lnTo>
                  <a:pt x="52917" y="185208"/>
                </a:lnTo>
                <a:lnTo>
                  <a:pt x="69453" y="185208"/>
                </a:lnTo>
                <a:cubicBezTo>
                  <a:pt x="74951" y="185208"/>
                  <a:pt x="79375" y="180785"/>
                  <a:pt x="79375" y="175286"/>
                </a:cubicBezTo>
                <a:lnTo>
                  <a:pt x="79375" y="158750"/>
                </a:lnTo>
                <a:lnTo>
                  <a:pt x="95911" y="158750"/>
                </a:lnTo>
                <a:cubicBezTo>
                  <a:pt x="98557" y="158750"/>
                  <a:pt x="101079" y="157716"/>
                  <a:pt x="102939" y="155856"/>
                </a:cubicBezTo>
                <a:lnTo>
                  <a:pt x="116706" y="142090"/>
                </a:lnTo>
                <a:cubicBezTo>
                  <a:pt x="123693" y="144322"/>
                  <a:pt x="131175" y="145521"/>
                  <a:pt x="138906" y="145521"/>
                </a:cubicBezTo>
                <a:close/>
                <a:moveTo>
                  <a:pt x="155443" y="39688"/>
                </a:moveTo>
                <a:cubicBezTo>
                  <a:pt x="164569" y="39688"/>
                  <a:pt x="171979" y="47097"/>
                  <a:pt x="171979" y="56224"/>
                </a:cubicBezTo>
                <a:cubicBezTo>
                  <a:pt x="171979" y="65351"/>
                  <a:pt x="164569" y="72760"/>
                  <a:pt x="155443" y="72760"/>
                </a:cubicBezTo>
                <a:cubicBezTo>
                  <a:pt x="146316" y="72760"/>
                  <a:pt x="138906" y="65351"/>
                  <a:pt x="138906" y="56224"/>
                </a:cubicBezTo>
                <a:cubicBezTo>
                  <a:pt x="138906" y="47097"/>
                  <a:pt x="146316" y="39688"/>
                  <a:pt x="155443" y="39688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227667" y="1651000"/>
            <a:ext cx="2783417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Keyed State (键控状态)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2667" y="2201333"/>
            <a:ext cx="7281333" cy="973667"/>
          </a:xfrm>
          <a:custGeom>
            <a:avLst/>
            <a:gdLst/>
            <a:ahLst/>
            <a:cxnLst/>
            <a:rect l="l" t="t" r="r" b="b"/>
            <a:pathLst>
              <a:path w="7281333" h="973667">
                <a:moveTo>
                  <a:pt x="84670" y="0"/>
                </a:moveTo>
                <a:lnTo>
                  <a:pt x="7196663" y="0"/>
                </a:lnTo>
                <a:cubicBezTo>
                  <a:pt x="7243425" y="0"/>
                  <a:pt x="7281333" y="37908"/>
                  <a:pt x="7281333" y="84670"/>
                </a:cubicBezTo>
                <a:lnTo>
                  <a:pt x="7281333" y="888997"/>
                </a:lnTo>
                <a:cubicBezTo>
                  <a:pt x="7281333" y="935759"/>
                  <a:pt x="7243425" y="973667"/>
                  <a:pt x="7196663" y="973667"/>
                </a:cubicBezTo>
                <a:lnTo>
                  <a:pt x="84670" y="973667"/>
                </a:lnTo>
                <a:cubicBezTo>
                  <a:pt x="37908" y="973667"/>
                  <a:pt x="0" y="935759"/>
                  <a:pt x="0" y="888997"/>
                </a:cubicBezTo>
                <a:lnTo>
                  <a:pt x="0" y="84670"/>
                </a:lnTo>
                <a:cubicBezTo>
                  <a:pt x="0" y="37939"/>
                  <a:pt x="37939" y="0"/>
                  <a:pt x="8467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19667" y="2328333"/>
            <a:ext cx="711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核心特征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9667" y="2624667"/>
            <a:ext cx="7101417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只能在KeyedStream上使用，每个Key对应一个状态实例，Flink自动负责状态的分布和迁移。数学定义：S_k: K → V，其中K为键空间，V为值空间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2667" y="3259667"/>
            <a:ext cx="7281333" cy="1270000"/>
          </a:xfrm>
          <a:custGeom>
            <a:avLst/>
            <a:gdLst/>
            <a:ahLst/>
            <a:cxnLst/>
            <a:rect l="l" t="t" r="r" b="b"/>
            <a:pathLst>
              <a:path w="7281333" h="1270000">
                <a:moveTo>
                  <a:pt x="84671" y="0"/>
                </a:moveTo>
                <a:lnTo>
                  <a:pt x="7196662" y="0"/>
                </a:lnTo>
                <a:cubicBezTo>
                  <a:pt x="7243425" y="0"/>
                  <a:pt x="7281333" y="37908"/>
                  <a:pt x="7281333" y="84671"/>
                </a:cubicBezTo>
                <a:lnTo>
                  <a:pt x="7281333" y="1185329"/>
                </a:lnTo>
                <a:cubicBezTo>
                  <a:pt x="7281333" y="1232092"/>
                  <a:pt x="7243425" y="1270000"/>
                  <a:pt x="7196662" y="1270000"/>
                </a:cubicBezTo>
                <a:lnTo>
                  <a:pt x="84671" y="1270000"/>
                </a:lnTo>
                <a:cubicBezTo>
                  <a:pt x="37908" y="1270000"/>
                  <a:pt x="0" y="1232092"/>
                  <a:pt x="0" y="1185329"/>
                </a:cubicBezTo>
                <a:lnTo>
                  <a:pt x="0" y="84671"/>
                </a:lnTo>
                <a:cubicBezTo>
                  <a:pt x="0" y="37940"/>
                  <a:pt x="37940" y="0"/>
                  <a:pt x="8467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719667" y="3386667"/>
            <a:ext cx="711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常用类型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9667" y="3683000"/>
            <a:ext cx="7101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ValueState</a:t>
            </a: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· 保存单个值（如Count、Sum）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9667" y="3937000"/>
            <a:ext cx="7101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ListState</a:t>
            </a: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· 保存列表（如最近N条记录）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9667" y="4191000"/>
            <a:ext cx="7101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MapState</a:t>
            </a: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· 保存键值对（如去重字典）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2667" y="4614333"/>
            <a:ext cx="7281333" cy="973667"/>
          </a:xfrm>
          <a:custGeom>
            <a:avLst/>
            <a:gdLst/>
            <a:ahLst/>
            <a:cxnLst/>
            <a:rect l="l" t="t" r="r" b="b"/>
            <a:pathLst>
              <a:path w="7281333" h="973667">
                <a:moveTo>
                  <a:pt x="84670" y="0"/>
                </a:moveTo>
                <a:lnTo>
                  <a:pt x="7196663" y="0"/>
                </a:lnTo>
                <a:cubicBezTo>
                  <a:pt x="7243425" y="0"/>
                  <a:pt x="7281333" y="37908"/>
                  <a:pt x="7281333" y="84670"/>
                </a:cubicBezTo>
                <a:lnTo>
                  <a:pt x="7281333" y="888997"/>
                </a:lnTo>
                <a:cubicBezTo>
                  <a:pt x="7281333" y="935759"/>
                  <a:pt x="7243425" y="973667"/>
                  <a:pt x="7196663" y="973667"/>
                </a:cubicBezTo>
                <a:lnTo>
                  <a:pt x="84670" y="973667"/>
                </a:lnTo>
                <a:cubicBezTo>
                  <a:pt x="37908" y="973667"/>
                  <a:pt x="0" y="935759"/>
                  <a:pt x="0" y="888997"/>
                </a:cubicBezTo>
                <a:lnTo>
                  <a:pt x="0" y="84670"/>
                </a:lnTo>
                <a:cubicBezTo>
                  <a:pt x="0" y="37939"/>
                  <a:pt x="37939" y="0"/>
                  <a:pt x="8467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719667" y="4741333"/>
            <a:ext cx="711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应用场景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9667" y="5037667"/>
            <a:ext cx="7101417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实时欺诈检测：每个用户的历史交易模式作为Keyed State存储；电商用户行为分析：用户的浏览历史和偏好画像管理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12667" y="1397000"/>
            <a:ext cx="7620000" cy="4360333"/>
          </a:xfrm>
          <a:custGeom>
            <a:avLst/>
            <a:gdLst/>
            <a:ahLst/>
            <a:cxnLst/>
            <a:rect l="l" t="t" r="r" b="b"/>
            <a:pathLst>
              <a:path w="7620000" h="4360333">
                <a:moveTo>
                  <a:pt x="127017" y="0"/>
                </a:moveTo>
                <a:lnTo>
                  <a:pt x="7492983" y="0"/>
                </a:lnTo>
                <a:cubicBezTo>
                  <a:pt x="7563133" y="0"/>
                  <a:pt x="7620000" y="56867"/>
                  <a:pt x="7620000" y="127017"/>
                </a:cubicBezTo>
                <a:lnTo>
                  <a:pt x="7620000" y="4233317"/>
                </a:lnTo>
                <a:cubicBezTo>
                  <a:pt x="7620000" y="4303466"/>
                  <a:pt x="7563133" y="4360333"/>
                  <a:pt x="7492983" y="4360333"/>
                </a:cubicBezTo>
                <a:lnTo>
                  <a:pt x="127017" y="4360333"/>
                </a:lnTo>
                <a:cubicBezTo>
                  <a:pt x="56867" y="4360333"/>
                  <a:pt x="0" y="4303466"/>
                  <a:pt x="0" y="4233317"/>
                </a:cubicBezTo>
                <a:lnTo>
                  <a:pt x="0" y="127017"/>
                </a:lnTo>
                <a:cubicBezTo>
                  <a:pt x="0" y="56914"/>
                  <a:pt x="56914" y="0"/>
                  <a:pt x="127017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8382000" y="156633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5F677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8503708" y="1714500"/>
            <a:ext cx="264583" cy="211667"/>
          </a:xfrm>
          <a:custGeom>
            <a:avLst/>
            <a:gdLst/>
            <a:ahLst/>
            <a:cxnLst/>
            <a:rect l="l" t="t" r="r" b="b"/>
            <a:pathLst>
              <a:path w="264583" h="211667">
                <a:moveTo>
                  <a:pt x="171938" y="87023"/>
                </a:moveTo>
                <a:cubicBezTo>
                  <a:pt x="176981" y="85659"/>
                  <a:pt x="182273" y="88057"/>
                  <a:pt x="184547" y="92728"/>
                </a:cubicBezTo>
                <a:lnTo>
                  <a:pt x="192236" y="108272"/>
                </a:lnTo>
                <a:cubicBezTo>
                  <a:pt x="196494" y="108851"/>
                  <a:pt x="200670" y="110009"/>
                  <a:pt x="204597" y="111621"/>
                </a:cubicBezTo>
                <a:lnTo>
                  <a:pt x="219067" y="101989"/>
                </a:lnTo>
                <a:cubicBezTo>
                  <a:pt x="223408" y="99095"/>
                  <a:pt x="229154" y="99674"/>
                  <a:pt x="232833" y="103353"/>
                </a:cubicBezTo>
                <a:lnTo>
                  <a:pt x="240771" y="111290"/>
                </a:lnTo>
                <a:cubicBezTo>
                  <a:pt x="244450" y="114970"/>
                  <a:pt x="245029" y="120757"/>
                  <a:pt x="242135" y="125057"/>
                </a:cubicBezTo>
                <a:lnTo>
                  <a:pt x="232503" y="139485"/>
                </a:lnTo>
                <a:cubicBezTo>
                  <a:pt x="233288" y="141428"/>
                  <a:pt x="233991" y="143454"/>
                  <a:pt x="234570" y="145562"/>
                </a:cubicBezTo>
                <a:cubicBezTo>
                  <a:pt x="235148" y="147671"/>
                  <a:pt x="235521" y="149738"/>
                  <a:pt x="235810" y="151846"/>
                </a:cubicBezTo>
                <a:lnTo>
                  <a:pt x="251396" y="159535"/>
                </a:lnTo>
                <a:cubicBezTo>
                  <a:pt x="256067" y="161851"/>
                  <a:pt x="258465" y="167142"/>
                  <a:pt x="257101" y="172145"/>
                </a:cubicBezTo>
                <a:lnTo>
                  <a:pt x="254207" y="182976"/>
                </a:lnTo>
                <a:cubicBezTo>
                  <a:pt x="252842" y="187978"/>
                  <a:pt x="248171" y="191368"/>
                  <a:pt x="242962" y="191037"/>
                </a:cubicBezTo>
                <a:lnTo>
                  <a:pt x="225599" y="189921"/>
                </a:lnTo>
                <a:cubicBezTo>
                  <a:pt x="222994" y="193270"/>
                  <a:pt x="219976" y="196370"/>
                  <a:pt x="216545" y="199016"/>
                </a:cubicBezTo>
                <a:lnTo>
                  <a:pt x="217661" y="216338"/>
                </a:lnTo>
                <a:cubicBezTo>
                  <a:pt x="217992" y="221547"/>
                  <a:pt x="214602" y="226260"/>
                  <a:pt x="209600" y="227583"/>
                </a:cubicBezTo>
                <a:lnTo>
                  <a:pt x="198768" y="230477"/>
                </a:lnTo>
                <a:cubicBezTo>
                  <a:pt x="193725" y="231841"/>
                  <a:pt x="188474" y="229443"/>
                  <a:pt x="186159" y="224772"/>
                </a:cubicBezTo>
                <a:lnTo>
                  <a:pt x="178470" y="209228"/>
                </a:lnTo>
                <a:cubicBezTo>
                  <a:pt x="174212" y="208649"/>
                  <a:pt x="170036" y="207491"/>
                  <a:pt x="166109" y="205879"/>
                </a:cubicBezTo>
                <a:lnTo>
                  <a:pt x="151639" y="215511"/>
                </a:lnTo>
                <a:cubicBezTo>
                  <a:pt x="147299" y="218405"/>
                  <a:pt x="141552" y="217826"/>
                  <a:pt x="137873" y="214147"/>
                </a:cubicBezTo>
                <a:lnTo>
                  <a:pt x="129935" y="206210"/>
                </a:lnTo>
                <a:cubicBezTo>
                  <a:pt x="126256" y="202530"/>
                  <a:pt x="125677" y="196784"/>
                  <a:pt x="128571" y="192443"/>
                </a:cubicBezTo>
                <a:lnTo>
                  <a:pt x="138203" y="177974"/>
                </a:lnTo>
                <a:cubicBezTo>
                  <a:pt x="137418" y="176031"/>
                  <a:pt x="136715" y="174005"/>
                  <a:pt x="136136" y="171896"/>
                </a:cubicBezTo>
                <a:cubicBezTo>
                  <a:pt x="135558" y="169788"/>
                  <a:pt x="135186" y="167680"/>
                  <a:pt x="134896" y="165613"/>
                </a:cubicBezTo>
                <a:lnTo>
                  <a:pt x="119311" y="157923"/>
                </a:lnTo>
                <a:cubicBezTo>
                  <a:pt x="114639" y="155608"/>
                  <a:pt x="112283" y="150316"/>
                  <a:pt x="113605" y="145314"/>
                </a:cubicBezTo>
                <a:lnTo>
                  <a:pt x="116499" y="134483"/>
                </a:lnTo>
                <a:cubicBezTo>
                  <a:pt x="117864" y="129480"/>
                  <a:pt x="122535" y="126090"/>
                  <a:pt x="127744" y="126421"/>
                </a:cubicBezTo>
                <a:lnTo>
                  <a:pt x="145066" y="127537"/>
                </a:lnTo>
                <a:cubicBezTo>
                  <a:pt x="147671" y="124189"/>
                  <a:pt x="150688" y="121088"/>
                  <a:pt x="154120" y="118442"/>
                </a:cubicBezTo>
                <a:lnTo>
                  <a:pt x="153004" y="101162"/>
                </a:lnTo>
                <a:cubicBezTo>
                  <a:pt x="152673" y="95953"/>
                  <a:pt x="156063" y="91240"/>
                  <a:pt x="161065" y="89917"/>
                </a:cubicBezTo>
                <a:lnTo>
                  <a:pt x="171896" y="87023"/>
                </a:lnTo>
                <a:close/>
                <a:moveTo>
                  <a:pt x="185374" y="140560"/>
                </a:moveTo>
                <a:cubicBezTo>
                  <a:pt x="175334" y="140571"/>
                  <a:pt x="167193" y="148731"/>
                  <a:pt x="167204" y="158771"/>
                </a:cubicBezTo>
                <a:cubicBezTo>
                  <a:pt x="167216" y="168810"/>
                  <a:pt x="175376" y="176952"/>
                  <a:pt x="185415" y="176940"/>
                </a:cubicBezTo>
                <a:cubicBezTo>
                  <a:pt x="195454" y="176929"/>
                  <a:pt x="203596" y="168769"/>
                  <a:pt x="203584" y="158729"/>
                </a:cubicBezTo>
                <a:cubicBezTo>
                  <a:pt x="203573" y="148690"/>
                  <a:pt x="195413" y="140548"/>
                  <a:pt x="185374" y="140560"/>
                </a:cubicBezTo>
                <a:close/>
                <a:moveTo>
                  <a:pt x="92976" y="-18810"/>
                </a:moveTo>
                <a:lnTo>
                  <a:pt x="103808" y="-15916"/>
                </a:lnTo>
                <a:cubicBezTo>
                  <a:pt x="108810" y="-14552"/>
                  <a:pt x="112200" y="-9839"/>
                  <a:pt x="111869" y="-4672"/>
                </a:cubicBezTo>
                <a:lnTo>
                  <a:pt x="110753" y="12609"/>
                </a:lnTo>
                <a:cubicBezTo>
                  <a:pt x="114184" y="15255"/>
                  <a:pt x="117202" y="18314"/>
                  <a:pt x="119807" y="21704"/>
                </a:cubicBezTo>
                <a:lnTo>
                  <a:pt x="137170" y="20588"/>
                </a:lnTo>
                <a:cubicBezTo>
                  <a:pt x="142338" y="20257"/>
                  <a:pt x="147050" y="23647"/>
                  <a:pt x="148415" y="28649"/>
                </a:cubicBezTo>
                <a:lnTo>
                  <a:pt x="151309" y="39481"/>
                </a:lnTo>
                <a:cubicBezTo>
                  <a:pt x="152632" y="44483"/>
                  <a:pt x="150275" y="49775"/>
                  <a:pt x="145604" y="52090"/>
                </a:cubicBezTo>
                <a:lnTo>
                  <a:pt x="130018" y="59779"/>
                </a:lnTo>
                <a:cubicBezTo>
                  <a:pt x="129729" y="61888"/>
                  <a:pt x="129315" y="63996"/>
                  <a:pt x="128778" y="66063"/>
                </a:cubicBezTo>
                <a:cubicBezTo>
                  <a:pt x="128240" y="68130"/>
                  <a:pt x="127496" y="70197"/>
                  <a:pt x="126711" y="72140"/>
                </a:cubicBezTo>
                <a:lnTo>
                  <a:pt x="136343" y="86610"/>
                </a:lnTo>
                <a:cubicBezTo>
                  <a:pt x="139237" y="90951"/>
                  <a:pt x="138658" y="96697"/>
                  <a:pt x="134979" y="100376"/>
                </a:cubicBezTo>
                <a:lnTo>
                  <a:pt x="127041" y="108314"/>
                </a:lnTo>
                <a:cubicBezTo>
                  <a:pt x="123362" y="111993"/>
                  <a:pt x="117616" y="112572"/>
                  <a:pt x="113275" y="109678"/>
                </a:cubicBezTo>
                <a:lnTo>
                  <a:pt x="98805" y="100046"/>
                </a:lnTo>
                <a:cubicBezTo>
                  <a:pt x="94878" y="101658"/>
                  <a:pt x="90702" y="102815"/>
                  <a:pt x="86444" y="103394"/>
                </a:cubicBezTo>
                <a:lnTo>
                  <a:pt x="78755" y="118938"/>
                </a:lnTo>
                <a:cubicBezTo>
                  <a:pt x="76440" y="123610"/>
                  <a:pt x="71148" y="125966"/>
                  <a:pt x="66146" y="124644"/>
                </a:cubicBezTo>
                <a:lnTo>
                  <a:pt x="55314" y="121750"/>
                </a:lnTo>
                <a:cubicBezTo>
                  <a:pt x="50271" y="120385"/>
                  <a:pt x="46922" y="115673"/>
                  <a:pt x="47253" y="110505"/>
                </a:cubicBezTo>
                <a:lnTo>
                  <a:pt x="48369" y="93183"/>
                </a:lnTo>
                <a:cubicBezTo>
                  <a:pt x="44938" y="90537"/>
                  <a:pt x="41920" y="87478"/>
                  <a:pt x="39315" y="84088"/>
                </a:cubicBezTo>
                <a:lnTo>
                  <a:pt x="21952" y="85204"/>
                </a:lnTo>
                <a:cubicBezTo>
                  <a:pt x="16785" y="85535"/>
                  <a:pt x="12072" y="82145"/>
                  <a:pt x="10707" y="77143"/>
                </a:cubicBezTo>
                <a:lnTo>
                  <a:pt x="7813" y="66311"/>
                </a:lnTo>
                <a:cubicBezTo>
                  <a:pt x="6491" y="61309"/>
                  <a:pt x="8847" y="56017"/>
                  <a:pt x="13519" y="53702"/>
                </a:cubicBezTo>
                <a:lnTo>
                  <a:pt x="29104" y="46013"/>
                </a:lnTo>
                <a:cubicBezTo>
                  <a:pt x="29394" y="43904"/>
                  <a:pt x="29807" y="41837"/>
                  <a:pt x="30344" y="39729"/>
                </a:cubicBezTo>
                <a:cubicBezTo>
                  <a:pt x="30923" y="37620"/>
                  <a:pt x="31585" y="35595"/>
                  <a:pt x="32411" y="33652"/>
                </a:cubicBezTo>
                <a:lnTo>
                  <a:pt x="22779" y="19224"/>
                </a:lnTo>
                <a:cubicBezTo>
                  <a:pt x="19885" y="14883"/>
                  <a:pt x="20464" y="9136"/>
                  <a:pt x="24143" y="5457"/>
                </a:cubicBezTo>
                <a:lnTo>
                  <a:pt x="32081" y="-2480"/>
                </a:lnTo>
                <a:cubicBezTo>
                  <a:pt x="35760" y="-6160"/>
                  <a:pt x="41507" y="-6739"/>
                  <a:pt x="45847" y="-3845"/>
                </a:cubicBezTo>
                <a:lnTo>
                  <a:pt x="60317" y="5788"/>
                </a:lnTo>
                <a:cubicBezTo>
                  <a:pt x="64244" y="4175"/>
                  <a:pt x="68420" y="3018"/>
                  <a:pt x="72678" y="2439"/>
                </a:cubicBezTo>
                <a:lnTo>
                  <a:pt x="80367" y="-13105"/>
                </a:lnTo>
                <a:cubicBezTo>
                  <a:pt x="82682" y="-17777"/>
                  <a:pt x="87933" y="-20133"/>
                  <a:pt x="92976" y="-18810"/>
                </a:cubicBezTo>
                <a:close/>
                <a:moveTo>
                  <a:pt x="79540" y="34727"/>
                </a:moveTo>
                <a:cubicBezTo>
                  <a:pt x="69501" y="34727"/>
                  <a:pt x="61350" y="42877"/>
                  <a:pt x="61350" y="52917"/>
                </a:cubicBezTo>
                <a:cubicBezTo>
                  <a:pt x="61350" y="62956"/>
                  <a:pt x="69501" y="71107"/>
                  <a:pt x="79540" y="71107"/>
                </a:cubicBezTo>
                <a:cubicBezTo>
                  <a:pt x="89580" y="71107"/>
                  <a:pt x="97730" y="62956"/>
                  <a:pt x="97730" y="52917"/>
                </a:cubicBezTo>
                <a:cubicBezTo>
                  <a:pt x="97730" y="42877"/>
                  <a:pt x="89580" y="34727"/>
                  <a:pt x="79540" y="34727"/>
                </a:cubicBezTo>
                <a:close/>
              </a:path>
            </a:pathLst>
          </a:custGeom>
          <a:solidFill>
            <a:srgbClr val="5F67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9017000" y="1651000"/>
            <a:ext cx="3100917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Operator State (算子状态)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382000" y="2201333"/>
            <a:ext cx="7281333" cy="762000"/>
          </a:xfrm>
          <a:custGeom>
            <a:avLst/>
            <a:gdLst/>
            <a:ahLst/>
            <a:cxnLst/>
            <a:rect l="l" t="t" r="r" b="b"/>
            <a:pathLst>
              <a:path w="7281333" h="762000">
                <a:moveTo>
                  <a:pt x="84666" y="0"/>
                </a:moveTo>
                <a:lnTo>
                  <a:pt x="7196668" y="0"/>
                </a:lnTo>
                <a:cubicBezTo>
                  <a:pt x="7243427" y="0"/>
                  <a:pt x="7281333" y="37906"/>
                  <a:pt x="7281333" y="84666"/>
                </a:cubicBezTo>
                <a:lnTo>
                  <a:pt x="7281333" y="677334"/>
                </a:lnTo>
                <a:cubicBezTo>
                  <a:pt x="7281333" y="724094"/>
                  <a:pt x="7243427" y="762000"/>
                  <a:pt x="7196668" y="762000"/>
                </a:cubicBezTo>
                <a:lnTo>
                  <a:pt x="84666" y="762000"/>
                </a:lnTo>
                <a:cubicBezTo>
                  <a:pt x="37906" y="762000"/>
                  <a:pt x="0" y="724094"/>
                  <a:pt x="0" y="677334"/>
                </a:cubicBezTo>
                <a:lnTo>
                  <a:pt x="0" y="84666"/>
                </a:lnTo>
                <a:cubicBezTo>
                  <a:pt x="0" y="37937"/>
                  <a:pt x="37937" y="0"/>
                  <a:pt x="84666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509000" y="2328333"/>
            <a:ext cx="711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核心特征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09000" y="2624667"/>
            <a:ext cx="7101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绑定到并行的算子实例（Subtask），不依赖于Key。数学定义：S_o: ℕ → V，状态与算子实例绑定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82000" y="3048000"/>
            <a:ext cx="7281333" cy="1270000"/>
          </a:xfrm>
          <a:custGeom>
            <a:avLst/>
            <a:gdLst/>
            <a:ahLst/>
            <a:cxnLst/>
            <a:rect l="l" t="t" r="r" b="b"/>
            <a:pathLst>
              <a:path w="7281333" h="1270000">
                <a:moveTo>
                  <a:pt x="84671" y="0"/>
                </a:moveTo>
                <a:lnTo>
                  <a:pt x="7196662" y="0"/>
                </a:lnTo>
                <a:cubicBezTo>
                  <a:pt x="7243425" y="0"/>
                  <a:pt x="7281333" y="37908"/>
                  <a:pt x="7281333" y="84671"/>
                </a:cubicBezTo>
                <a:lnTo>
                  <a:pt x="7281333" y="1185329"/>
                </a:lnTo>
                <a:cubicBezTo>
                  <a:pt x="7281333" y="1232092"/>
                  <a:pt x="7243425" y="1270000"/>
                  <a:pt x="7196662" y="1270000"/>
                </a:cubicBezTo>
                <a:lnTo>
                  <a:pt x="84671" y="1270000"/>
                </a:lnTo>
                <a:cubicBezTo>
                  <a:pt x="37908" y="1270000"/>
                  <a:pt x="0" y="1232092"/>
                  <a:pt x="0" y="1185329"/>
                </a:cubicBezTo>
                <a:lnTo>
                  <a:pt x="0" y="84671"/>
                </a:lnTo>
                <a:cubicBezTo>
                  <a:pt x="0" y="37940"/>
                  <a:pt x="37940" y="0"/>
                  <a:pt x="8467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509000" y="3175000"/>
            <a:ext cx="711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支持模式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509000" y="3471333"/>
            <a:ext cx="7101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5F67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ListState</a:t>
            </a: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· 列表状态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509000" y="3725333"/>
            <a:ext cx="7101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5F67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BroadcastState</a:t>
            </a: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· 广播状态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509000" y="3979333"/>
            <a:ext cx="7101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5F67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UnionState</a:t>
            </a: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· 联合状态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382000" y="4402667"/>
            <a:ext cx="7281333" cy="973667"/>
          </a:xfrm>
          <a:custGeom>
            <a:avLst/>
            <a:gdLst/>
            <a:ahLst/>
            <a:cxnLst/>
            <a:rect l="l" t="t" r="r" b="b"/>
            <a:pathLst>
              <a:path w="7281333" h="973667">
                <a:moveTo>
                  <a:pt x="84670" y="0"/>
                </a:moveTo>
                <a:lnTo>
                  <a:pt x="7196663" y="0"/>
                </a:lnTo>
                <a:cubicBezTo>
                  <a:pt x="7243425" y="0"/>
                  <a:pt x="7281333" y="37908"/>
                  <a:pt x="7281333" y="84670"/>
                </a:cubicBezTo>
                <a:lnTo>
                  <a:pt x="7281333" y="888997"/>
                </a:lnTo>
                <a:cubicBezTo>
                  <a:pt x="7281333" y="935759"/>
                  <a:pt x="7243425" y="973667"/>
                  <a:pt x="7196663" y="973667"/>
                </a:cubicBezTo>
                <a:lnTo>
                  <a:pt x="84670" y="973667"/>
                </a:lnTo>
                <a:cubicBezTo>
                  <a:pt x="37908" y="973667"/>
                  <a:pt x="0" y="935759"/>
                  <a:pt x="0" y="888997"/>
                </a:cubicBezTo>
                <a:lnTo>
                  <a:pt x="0" y="84670"/>
                </a:lnTo>
                <a:cubicBezTo>
                  <a:pt x="0" y="37939"/>
                  <a:pt x="37939" y="0"/>
                  <a:pt x="8467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509000" y="4529667"/>
            <a:ext cx="711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应用场景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509000" y="4826000"/>
            <a:ext cx="7101417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常用于Source或Sink：Kafka连接器分区偏移（Operator State）与规则广播状态（Broadcast State）在管道变更或故障恢复时保持一致性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23333" y="5926667"/>
            <a:ext cx="15409333" cy="3217333"/>
          </a:xfrm>
          <a:custGeom>
            <a:avLst/>
            <a:gdLst/>
            <a:ahLst/>
            <a:cxnLst/>
            <a:rect l="l" t="t" r="r" b="b"/>
            <a:pathLst>
              <a:path w="15409333" h="6879167">
                <a:moveTo>
                  <a:pt x="126989" y="0"/>
                </a:moveTo>
                <a:lnTo>
                  <a:pt x="15282344" y="0"/>
                </a:lnTo>
                <a:cubicBezTo>
                  <a:pt x="15352478" y="0"/>
                  <a:pt x="15409333" y="56855"/>
                  <a:pt x="15409333" y="126989"/>
                </a:cubicBezTo>
                <a:lnTo>
                  <a:pt x="15409333" y="6752177"/>
                </a:lnTo>
                <a:cubicBezTo>
                  <a:pt x="15409333" y="6822312"/>
                  <a:pt x="15352478" y="6879167"/>
                  <a:pt x="15282344" y="6879167"/>
                </a:cubicBezTo>
                <a:lnTo>
                  <a:pt x="126989" y="6879167"/>
                </a:lnTo>
                <a:cubicBezTo>
                  <a:pt x="56855" y="6879167"/>
                  <a:pt x="0" y="6822312"/>
                  <a:pt x="0" y="6752177"/>
                </a:cubicBezTo>
                <a:lnTo>
                  <a:pt x="0" y="126989"/>
                </a:lnTo>
                <a:cubicBezTo>
                  <a:pt x="0" y="56902"/>
                  <a:pt x="56902" y="0"/>
                  <a:pt x="126989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605896" y="6138333"/>
            <a:ext cx="238125" cy="211667"/>
          </a:xfrm>
          <a:custGeom>
            <a:avLst/>
            <a:gdLst/>
            <a:ahLst/>
            <a:cxnLst/>
            <a:rect l="l" t="t" r="r" b="b"/>
            <a:pathLst>
              <a:path w="238125" h="211667">
                <a:moveTo>
                  <a:pt x="149159" y="496"/>
                </a:moveTo>
                <a:cubicBezTo>
                  <a:pt x="142131" y="-1530"/>
                  <a:pt x="134813" y="2563"/>
                  <a:pt x="132788" y="9591"/>
                </a:cubicBezTo>
                <a:lnTo>
                  <a:pt x="79871" y="194799"/>
                </a:lnTo>
                <a:cubicBezTo>
                  <a:pt x="77845" y="201827"/>
                  <a:pt x="81938" y="209145"/>
                  <a:pt x="88966" y="211171"/>
                </a:cubicBezTo>
                <a:cubicBezTo>
                  <a:pt x="95994" y="213196"/>
                  <a:pt x="103312" y="209104"/>
                  <a:pt x="105337" y="202076"/>
                </a:cubicBezTo>
                <a:lnTo>
                  <a:pt x="158254" y="16867"/>
                </a:lnTo>
                <a:cubicBezTo>
                  <a:pt x="160280" y="9839"/>
                  <a:pt x="156187" y="2522"/>
                  <a:pt x="149159" y="496"/>
                </a:cubicBezTo>
                <a:close/>
                <a:moveTo>
                  <a:pt x="175865" y="56761"/>
                </a:moveTo>
                <a:cubicBezTo>
                  <a:pt x="170698" y="61929"/>
                  <a:pt x="170698" y="70321"/>
                  <a:pt x="175865" y="75489"/>
                </a:cubicBezTo>
                <a:lnTo>
                  <a:pt x="206210" y="105833"/>
                </a:lnTo>
                <a:lnTo>
                  <a:pt x="175865" y="136178"/>
                </a:lnTo>
                <a:cubicBezTo>
                  <a:pt x="170698" y="141345"/>
                  <a:pt x="170698" y="149738"/>
                  <a:pt x="175865" y="154905"/>
                </a:cubicBezTo>
                <a:cubicBezTo>
                  <a:pt x="181033" y="160073"/>
                  <a:pt x="189425" y="160073"/>
                  <a:pt x="194593" y="154905"/>
                </a:cubicBezTo>
                <a:lnTo>
                  <a:pt x="234280" y="115218"/>
                </a:lnTo>
                <a:cubicBezTo>
                  <a:pt x="239448" y="110050"/>
                  <a:pt x="239448" y="101658"/>
                  <a:pt x="234280" y="96490"/>
                </a:cubicBezTo>
                <a:lnTo>
                  <a:pt x="194593" y="56803"/>
                </a:lnTo>
                <a:cubicBezTo>
                  <a:pt x="189425" y="51635"/>
                  <a:pt x="181033" y="51635"/>
                  <a:pt x="175865" y="56803"/>
                </a:cubicBezTo>
                <a:close/>
                <a:moveTo>
                  <a:pt x="62301" y="56761"/>
                </a:moveTo>
                <a:cubicBezTo>
                  <a:pt x="57133" y="51594"/>
                  <a:pt x="48741" y="51594"/>
                  <a:pt x="43574" y="56761"/>
                </a:cubicBezTo>
                <a:lnTo>
                  <a:pt x="3886" y="96449"/>
                </a:lnTo>
                <a:cubicBezTo>
                  <a:pt x="-1282" y="101617"/>
                  <a:pt x="-1282" y="110009"/>
                  <a:pt x="3886" y="115176"/>
                </a:cubicBezTo>
                <a:lnTo>
                  <a:pt x="43574" y="154864"/>
                </a:lnTo>
                <a:cubicBezTo>
                  <a:pt x="48741" y="160032"/>
                  <a:pt x="57133" y="160032"/>
                  <a:pt x="62301" y="154864"/>
                </a:cubicBezTo>
                <a:cubicBezTo>
                  <a:pt x="67469" y="149696"/>
                  <a:pt x="67469" y="141304"/>
                  <a:pt x="62301" y="136136"/>
                </a:cubicBezTo>
                <a:lnTo>
                  <a:pt x="31957" y="105833"/>
                </a:lnTo>
                <a:lnTo>
                  <a:pt x="62260" y="75489"/>
                </a:lnTo>
                <a:cubicBezTo>
                  <a:pt x="67427" y="70321"/>
                  <a:pt x="67427" y="61929"/>
                  <a:pt x="62260" y="56761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857250" y="6096000"/>
            <a:ext cx="149119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数据去重示例：使用ValueState实现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92667" y="6519334"/>
            <a:ext cx="15070667" cy="2497668"/>
          </a:xfrm>
          <a:custGeom>
            <a:avLst/>
            <a:gdLst/>
            <a:ahLst/>
            <a:cxnLst/>
            <a:rect l="l" t="t" r="r" b="b"/>
            <a:pathLst>
              <a:path w="15070667" h="6117167">
                <a:moveTo>
                  <a:pt x="126992" y="0"/>
                </a:moveTo>
                <a:lnTo>
                  <a:pt x="14943674" y="0"/>
                </a:lnTo>
                <a:cubicBezTo>
                  <a:pt x="15013810" y="0"/>
                  <a:pt x="15070667" y="56856"/>
                  <a:pt x="15070667" y="126992"/>
                </a:cubicBezTo>
                <a:lnTo>
                  <a:pt x="15070667" y="5990174"/>
                </a:lnTo>
                <a:cubicBezTo>
                  <a:pt x="15070667" y="6060310"/>
                  <a:pt x="15013810" y="6117167"/>
                  <a:pt x="14943674" y="6117167"/>
                </a:cubicBezTo>
                <a:lnTo>
                  <a:pt x="126992" y="6117167"/>
                </a:lnTo>
                <a:cubicBezTo>
                  <a:pt x="56856" y="6117167"/>
                  <a:pt x="0" y="6060310"/>
                  <a:pt x="0" y="5990174"/>
                </a:cubicBezTo>
                <a:lnTo>
                  <a:pt x="0" y="126992"/>
                </a:lnTo>
                <a:cubicBezTo>
                  <a:pt x="0" y="56903"/>
                  <a:pt x="56903" y="0"/>
                  <a:pt x="12699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719667" y="6603999"/>
            <a:ext cx="14753696" cy="2286002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ctr"/>
          <a:lstStyle/>
          <a:p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public class 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DeduplicateFunction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extends 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KeyedProcessFunction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&lt;String, Event, Event&gt; {</a:t>
            </a:r>
          </a:p>
          <a:p>
            <a:r>
              <a:rPr lang="en-US" altLang="zh-CN" sz="12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altLang="zh-CN" sz="12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</a:t>
            </a:r>
            <a:r>
              <a:rPr lang="zh-CN" altLang="en-US" sz="12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定义状态：记录已经处理过的 </a:t>
            </a:r>
            <a:r>
              <a:rPr lang="en-US" altLang="zh-CN" sz="12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Event ID</a:t>
            </a:r>
            <a:endParaRPr lang="en-US" altLang="zh-CN" sz="12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private 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ValueState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&lt;Boolean&gt; 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isExistState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endParaRPr lang="en-US" altLang="zh-CN" sz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@Override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public void open(Configuration parameters) {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isExistState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getRuntimeContext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().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getState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new 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ValueStateDescriptor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&lt;&gt;("is-exist", 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Boolean.class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);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}</a:t>
            </a:r>
          </a:p>
          <a:p>
            <a:endParaRPr lang="en-US" altLang="zh-CN" sz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@Override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public void 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processElement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(Event event, Context 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ctx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Collector&lt;Event&gt; out) throws Exception {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if (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isExistState.value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 == null) {</a:t>
            </a:r>
          </a:p>
          <a:p>
            <a:r>
              <a:rPr lang="en-US" altLang="zh-CN" sz="12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US" altLang="zh-CN" sz="12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</a:t>
            </a:r>
            <a:r>
              <a:rPr lang="zh-CN" altLang="en-US" sz="12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第一次遇到，输出并标记状态</a:t>
            </a:r>
            <a:endParaRPr lang="zh-CN" altLang="en-US" sz="12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out.collect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(event);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isExistState.update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(true);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} else {</a:t>
            </a:r>
          </a:p>
          <a:p>
            <a:r>
              <a:rPr lang="en-US" altLang="zh-CN" sz="12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US" altLang="zh-CN" sz="12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</a:t>
            </a:r>
            <a:r>
              <a:rPr lang="zh-CN" altLang="en-US" sz="12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重复数据，丢弃</a:t>
            </a:r>
            <a:endParaRPr lang="zh-CN" altLang="en-US" sz="12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System.out.println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("Duplicate event: " + </a:t>
            </a:r>
            <a:r>
              <a:rPr lang="en-US" altLang="zh-CN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event.getId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());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}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}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>
              <a:lnSpc>
                <a:spcPct val="140000"/>
              </a:lnSpc>
            </a:pPr>
            <a:endParaRPr lang="en-US" sz="11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0305" y="450305"/>
            <a:ext cx="450305" cy="450305"/>
          </a:xfrm>
          <a:custGeom>
            <a:avLst/>
            <a:gdLst/>
            <a:ahLst/>
            <a:cxnLst/>
            <a:rect l="l" t="t" r="r" b="b"/>
            <a:pathLst>
              <a:path w="450305" h="450305">
                <a:moveTo>
                  <a:pt x="90061" y="0"/>
                </a:moveTo>
                <a:lnTo>
                  <a:pt x="360244" y="0"/>
                </a:lnTo>
                <a:cubicBezTo>
                  <a:pt x="409950" y="0"/>
                  <a:pt x="450305" y="40355"/>
                  <a:pt x="450305" y="90061"/>
                </a:cubicBezTo>
                <a:lnTo>
                  <a:pt x="450305" y="360244"/>
                </a:lnTo>
                <a:cubicBezTo>
                  <a:pt x="450305" y="409950"/>
                  <a:pt x="409950" y="450305"/>
                  <a:pt x="360244" y="450305"/>
                </a:cubicBezTo>
                <a:lnTo>
                  <a:pt x="90061" y="450305"/>
                </a:lnTo>
                <a:cubicBezTo>
                  <a:pt x="40355" y="450305"/>
                  <a:pt x="0" y="409950"/>
                  <a:pt x="0" y="360244"/>
                </a:cubicBezTo>
                <a:lnTo>
                  <a:pt x="0" y="90061"/>
                </a:lnTo>
                <a:cubicBezTo>
                  <a:pt x="0" y="40355"/>
                  <a:pt x="40355" y="0"/>
                  <a:pt x="90061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76953" y="574139"/>
            <a:ext cx="202637" cy="202637"/>
          </a:xfrm>
          <a:custGeom>
            <a:avLst/>
            <a:gdLst/>
            <a:ahLst/>
            <a:cxnLst/>
            <a:rect l="l" t="t" r="r" b="b"/>
            <a:pathLst>
              <a:path w="202637" h="202637">
                <a:moveTo>
                  <a:pt x="101319" y="0"/>
                </a:moveTo>
                <a:cubicBezTo>
                  <a:pt x="103139" y="0"/>
                  <a:pt x="104960" y="396"/>
                  <a:pt x="106622" y="1148"/>
                </a:cubicBezTo>
                <a:lnTo>
                  <a:pt x="181186" y="32770"/>
                </a:lnTo>
                <a:cubicBezTo>
                  <a:pt x="189893" y="36451"/>
                  <a:pt x="196384" y="45039"/>
                  <a:pt x="196344" y="55409"/>
                </a:cubicBezTo>
                <a:cubicBezTo>
                  <a:pt x="196146" y="94670"/>
                  <a:pt x="179999" y="166503"/>
                  <a:pt x="111807" y="199154"/>
                </a:cubicBezTo>
                <a:cubicBezTo>
                  <a:pt x="105197" y="202320"/>
                  <a:pt x="97519" y="202320"/>
                  <a:pt x="90910" y="199154"/>
                </a:cubicBezTo>
                <a:cubicBezTo>
                  <a:pt x="22678" y="166503"/>
                  <a:pt x="6570" y="94670"/>
                  <a:pt x="6372" y="55409"/>
                </a:cubicBezTo>
                <a:cubicBezTo>
                  <a:pt x="6332" y="45039"/>
                  <a:pt x="12823" y="36451"/>
                  <a:pt x="21530" y="32770"/>
                </a:cubicBezTo>
                <a:lnTo>
                  <a:pt x="96055" y="1148"/>
                </a:lnTo>
                <a:cubicBezTo>
                  <a:pt x="97717" y="396"/>
                  <a:pt x="99498" y="0"/>
                  <a:pt x="101319" y="0"/>
                </a:cubicBezTo>
                <a:close/>
                <a:moveTo>
                  <a:pt x="101319" y="26438"/>
                </a:moveTo>
                <a:lnTo>
                  <a:pt x="101319" y="176081"/>
                </a:lnTo>
                <a:cubicBezTo>
                  <a:pt x="155936" y="149643"/>
                  <a:pt x="170619" y="91068"/>
                  <a:pt x="170975" y="56002"/>
                </a:cubicBezTo>
                <a:lnTo>
                  <a:pt x="101319" y="26477"/>
                </a:lnTo>
                <a:lnTo>
                  <a:pt x="101319" y="26477"/>
                </a:ln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035701" y="450305"/>
            <a:ext cx="6585706" cy="450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191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容错机制：Checkpoint与Savepoint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35701" y="990670"/>
            <a:ext cx="14871313" cy="315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6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基于Chandy-Lamport分布式快照算法的高容错实现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0305" y="1486006"/>
            <a:ext cx="7587634" cy="3872620"/>
          </a:xfrm>
          <a:custGeom>
            <a:avLst/>
            <a:gdLst/>
            <a:ahLst/>
            <a:cxnLst/>
            <a:rect l="l" t="t" r="r" b="b"/>
            <a:pathLst>
              <a:path w="7587634" h="3872620">
                <a:moveTo>
                  <a:pt x="135077" y="0"/>
                </a:moveTo>
                <a:lnTo>
                  <a:pt x="7452557" y="0"/>
                </a:lnTo>
                <a:cubicBezTo>
                  <a:pt x="7527158" y="0"/>
                  <a:pt x="7587634" y="60476"/>
                  <a:pt x="7587634" y="135077"/>
                </a:cubicBezTo>
                <a:lnTo>
                  <a:pt x="7587634" y="3737543"/>
                </a:lnTo>
                <a:cubicBezTo>
                  <a:pt x="7587634" y="3812144"/>
                  <a:pt x="7527158" y="3872620"/>
                  <a:pt x="7452557" y="3872620"/>
                </a:cubicBezTo>
                <a:lnTo>
                  <a:pt x="135077" y="3872620"/>
                </a:lnTo>
                <a:cubicBezTo>
                  <a:pt x="60476" y="3872620"/>
                  <a:pt x="0" y="3812144"/>
                  <a:pt x="0" y="3737543"/>
                </a:cubicBezTo>
                <a:lnTo>
                  <a:pt x="0" y="135077"/>
                </a:lnTo>
                <a:cubicBezTo>
                  <a:pt x="0" y="60476"/>
                  <a:pt x="60476" y="0"/>
                  <a:pt x="135077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30427" y="1688643"/>
            <a:ext cx="540366" cy="540366"/>
          </a:xfrm>
          <a:custGeom>
            <a:avLst/>
            <a:gdLst/>
            <a:ahLst/>
            <a:cxnLst/>
            <a:rect l="l" t="t" r="r" b="b"/>
            <a:pathLst>
              <a:path w="540366" h="540366">
                <a:moveTo>
                  <a:pt x="90063" y="0"/>
                </a:moveTo>
                <a:lnTo>
                  <a:pt x="450303" y="0"/>
                </a:lnTo>
                <a:cubicBezTo>
                  <a:pt x="500043" y="0"/>
                  <a:pt x="540366" y="40322"/>
                  <a:pt x="540366" y="90063"/>
                </a:cubicBezTo>
                <a:lnTo>
                  <a:pt x="540366" y="450303"/>
                </a:lnTo>
                <a:cubicBezTo>
                  <a:pt x="540366" y="500043"/>
                  <a:pt x="500043" y="540366"/>
                  <a:pt x="450303" y="540366"/>
                </a:cubicBezTo>
                <a:lnTo>
                  <a:pt x="90063" y="540366"/>
                </a:lnTo>
                <a:cubicBezTo>
                  <a:pt x="40322" y="540366"/>
                  <a:pt x="0" y="500043"/>
                  <a:pt x="0" y="450303"/>
                </a:cubicBezTo>
                <a:lnTo>
                  <a:pt x="0" y="90063"/>
                </a:lnTo>
                <a:cubicBezTo>
                  <a:pt x="0" y="40356"/>
                  <a:pt x="40356" y="0"/>
                  <a:pt x="90063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88033" y="1846249"/>
            <a:ext cx="225152" cy="225152"/>
          </a:xfrm>
          <a:custGeom>
            <a:avLst/>
            <a:gdLst/>
            <a:ahLst/>
            <a:cxnLst/>
            <a:rect l="l" t="t" r="r" b="b"/>
            <a:pathLst>
              <a:path w="225152" h="225152">
                <a:moveTo>
                  <a:pt x="211124" y="84432"/>
                </a:moveTo>
                <a:lnTo>
                  <a:pt x="214598" y="84432"/>
                </a:lnTo>
                <a:cubicBezTo>
                  <a:pt x="220447" y="84432"/>
                  <a:pt x="225152" y="79727"/>
                  <a:pt x="225152" y="73878"/>
                </a:cubicBezTo>
                <a:lnTo>
                  <a:pt x="225152" y="10554"/>
                </a:lnTo>
                <a:cubicBezTo>
                  <a:pt x="225152" y="6288"/>
                  <a:pt x="222602" y="2419"/>
                  <a:pt x="218644" y="792"/>
                </a:cubicBezTo>
                <a:cubicBezTo>
                  <a:pt x="214686" y="-836"/>
                  <a:pt x="210157" y="88"/>
                  <a:pt x="207123" y="3078"/>
                </a:cubicBezTo>
                <a:lnTo>
                  <a:pt x="184387" y="25857"/>
                </a:lnTo>
                <a:cubicBezTo>
                  <a:pt x="164907" y="9718"/>
                  <a:pt x="139841" y="0"/>
                  <a:pt x="112576" y="0"/>
                </a:cubicBezTo>
                <a:cubicBezTo>
                  <a:pt x="55848" y="0"/>
                  <a:pt x="8927" y="41952"/>
                  <a:pt x="1143" y="96525"/>
                </a:cubicBezTo>
                <a:cubicBezTo>
                  <a:pt x="44" y="104221"/>
                  <a:pt x="5365" y="111345"/>
                  <a:pt x="13061" y="112444"/>
                </a:cubicBezTo>
                <a:cubicBezTo>
                  <a:pt x="20756" y="113544"/>
                  <a:pt x="27880" y="108179"/>
                  <a:pt x="28980" y="100527"/>
                </a:cubicBezTo>
                <a:cubicBezTo>
                  <a:pt x="34828" y="59586"/>
                  <a:pt x="70052" y="28144"/>
                  <a:pt x="112576" y="28144"/>
                </a:cubicBezTo>
                <a:cubicBezTo>
                  <a:pt x="132101" y="28144"/>
                  <a:pt x="150043" y="34740"/>
                  <a:pt x="164335" y="45866"/>
                </a:cubicBezTo>
                <a:lnTo>
                  <a:pt x="143798" y="66402"/>
                </a:lnTo>
                <a:cubicBezTo>
                  <a:pt x="140764" y="69437"/>
                  <a:pt x="139885" y="73966"/>
                  <a:pt x="141512" y="77924"/>
                </a:cubicBezTo>
                <a:cubicBezTo>
                  <a:pt x="143139" y="81882"/>
                  <a:pt x="147009" y="84432"/>
                  <a:pt x="151274" y="84432"/>
                </a:cubicBezTo>
                <a:lnTo>
                  <a:pt x="211124" y="84432"/>
                </a:lnTo>
                <a:close/>
                <a:moveTo>
                  <a:pt x="224053" y="128627"/>
                </a:moveTo>
                <a:cubicBezTo>
                  <a:pt x="225152" y="120931"/>
                  <a:pt x="219787" y="113807"/>
                  <a:pt x="212136" y="112708"/>
                </a:cubicBezTo>
                <a:cubicBezTo>
                  <a:pt x="204484" y="111609"/>
                  <a:pt x="197316" y="116974"/>
                  <a:pt x="196217" y="124625"/>
                </a:cubicBezTo>
                <a:cubicBezTo>
                  <a:pt x="190368" y="165522"/>
                  <a:pt x="155144" y="196964"/>
                  <a:pt x="112620" y="196964"/>
                </a:cubicBezTo>
                <a:cubicBezTo>
                  <a:pt x="93095" y="196964"/>
                  <a:pt x="75153" y="190368"/>
                  <a:pt x="60861" y="179242"/>
                </a:cubicBezTo>
                <a:lnTo>
                  <a:pt x="81354" y="158750"/>
                </a:lnTo>
                <a:cubicBezTo>
                  <a:pt x="84388" y="155716"/>
                  <a:pt x="85268" y="151186"/>
                  <a:pt x="83641" y="147229"/>
                </a:cubicBezTo>
                <a:cubicBezTo>
                  <a:pt x="82014" y="143271"/>
                  <a:pt x="78144" y="140720"/>
                  <a:pt x="73878" y="140720"/>
                </a:cubicBezTo>
                <a:lnTo>
                  <a:pt x="10554" y="140720"/>
                </a:lnTo>
                <a:cubicBezTo>
                  <a:pt x="4705" y="140720"/>
                  <a:pt x="0" y="145426"/>
                  <a:pt x="0" y="151274"/>
                </a:cubicBezTo>
                <a:lnTo>
                  <a:pt x="0" y="214598"/>
                </a:lnTo>
                <a:cubicBezTo>
                  <a:pt x="0" y="218864"/>
                  <a:pt x="2551" y="222734"/>
                  <a:pt x="6508" y="224361"/>
                </a:cubicBezTo>
                <a:cubicBezTo>
                  <a:pt x="10466" y="225988"/>
                  <a:pt x="14995" y="225064"/>
                  <a:pt x="18030" y="222074"/>
                </a:cubicBezTo>
                <a:lnTo>
                  <a:pt x="40809" y="199295"/>
                </a:lnTo>
                <a:cubicBezTo>
                  <a:pt x="60246" y="215434"/>
                  <a:pt x="85312" y="225152"/>
                  <a:pt x="112576" y="225152"/>
                </a:cubicBezTo>
                <a:cubicBezTo>
                  <a:pt x="169304" y="225152"/>
                  <a:pt x="216225" y="183200"/>
                  <a:pt x="224009" y="128627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305884" y="1666127"/>
            <a:ext cx="1542294" cy="360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27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Checkpoint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05884" y="2026371"/>
            <a:ext cx="1486006" cy="225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自动故障恢复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0427" y="2386615"/>
            <a:ext cx="7227391" cy="1035701"/>
          </a:xfrm>
          <a:custGeom>
            <a:avLst/>
            <a:gdLst/>
            <a:ahLst/>
            <a:cxnLst/>
            <a:rect l="l" t="t" r="r" b="b"/>
            <a:pathLst>
              <a:path w="7227391" h="1035701">
                <a:moveTo>
                  <a:pt x="90065" y="0"/>
                </a:moveTo>
                <a:lnTo>
                  <a:pt x="7137326" y="0"/>
                </a:lnTo>
                <a:cubicBezTo>
                  <a:pt x="7187067" y="0"/>
                  <a:pt x="7227391" y="40323"/>
                  <a:pt x="7227391" y="90065"/>
                </a:cubicBezTo>
                <a:lnTo>
                  <a:pt x="7227391" y="945636"/>
                </a:lnTo>
                <a:cubicBezTo>
                  <a:pt x="7227391" y="995378"/>
                  <a:pt x="7187067" y="1035701"/>
                  <a:pt x="7137326" y="1035701"/>
                </a:cubicBezTo>
                <a:lnTo>
                  <a:pt x="90065" y="1035701"/>
                </a:lnTo>
                <a:cubicBezTo>
                  <a:pt x="40323" y="1035701"/>
                  <a:pt x="0" y="995378"/>
                  <a:pt x="0" y="945636"/>
                </a:cubicBezTo>
                <a:lnTo>
                  <a:pt x="0" y="90065"/>
                </a:lnTo>
                <a:cubicBezTo>
                  <a:pt x="0" y="40357"/>
                  <a:pt x="40357" y="0"/>
                  <a:pt x="9006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765518" y="2521706"/>
            <a:ext cx="7047269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8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核心原理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5518" y="2836920"/>
            <a:ext cx="7036011" cy="450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1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基于Chandy-Lamport分布式快照算法，通过在数据流中插入屏障（Barrier）并进行算子状态与通道缓冲的一致性快照，实现端到端一致性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0427" y="3512377"/>
            <a:ext cx="7227391" cy="1666127"/>
          </a:xfrm>
          <a:custGeom>
            <a:avLst/>
            <a:gdLst/>
            <a:ahLst/>
            <a:cxnLst/>
            <a:rect l="l" t="t" r="r" b="b"/>
            <a:pathLst>
              <a:path w="7227391" h="1666127">
                <a:moveTo>
                  <a:pt x="90054" y="0"/>
                </a:moveTo>
                <a:lnTo>
                  <a:pt x="7137336" y="0"/>
                </a:lnTo>
                <a:cubicBezTo>
                  <a:pt x="7187072" y="0"/>
                  <a:pt x="7227391" y="40319"/>
                  <a:pt x="7227391" y="90054"/>
                </a:cubicBezTo>
                <a:lnTo>
                  <a:pt x="7227391" y="1576073"/>
                </a:lnTo>
                <a:cubicBezTo>
                  <a:pt x="7227391" y="1625809"/>
                  <a:pt x="7187072" y="1666127"/>
                  <a:pt x="7137336" y="1666127"/>
                </a:cubicBezTo>
                <a:lnTo>
                  <a:pt x="90054" y="1666127"/>
                </a:lnTo>
                <a:cubicBezTo>
                  <a:pt x="40319" y="1666127"/>
                  <a:pt x="0" y="1625809"/>
                  <a:pt x="0" y="1576073"/>
                </a:cubicBezTo>
                <a:lnTo>
                  <a:pt x="0" y="90054"/>
                </a:lnTo>
                <a:cubicBezTo>
                  <a:pt x="0" y="40352"/>
                  <a:pt x="40352" y="0"/>
                  <a:pt x="9005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65518" y="3647468"/>
            <a:ext cx="7047269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8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配置示例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5518" y="3973939"/>
            <a:ext cx="5354141" cy="1058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64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env.enableCheckpointing(5000); // 5秒一次 env.getCheckpointConfig().setCheckpointingMode( CheckpointingMode.EXACTLY_ONCE); env.getCheckpointConfig().setMinPauseBetweenCheckpoints(1000); env.getCheckpointConfig().setCheckpointTimeout(60000); env.getCheckpointConfig().setTolerableCheckpointFailureNumber(3);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15510" y="1486006"/>
            <a:ext cx="7587634" cy="3872620"/>
          </a:xfrm>
          <a:custGeom>
            <a:avLst/>
            <a:gdLst/>
            <a:ahLst/>
            <a:cxnLst/>
            <a:rect l="l" t="t" r="r" b="b"/>
            <a:pathLst>
              <a:path w="7587634" h="3872620">
                <a:moveTo>
                  <a:pt x="135077" y="0"/>
                </a:moveTo>
                <a:lnTo>
                  <a:pt x="7452557" y="0"/>
                </a:lnTo>
                <a:cubicBezTo>
                  <a:pt x="7527158" y="0"/>
                  <a:pt x="7587634" y="60476"/>
                  <a:pt x="7587634" y="135077"/>
                </a:cubicBezTo>
                <a:lnTo>
                  <a:pt x="7587634" y="3737543"/>
                </a:lnTo>
                <a:cubicBezTo>
                  <a:pt x="7587634" y="3812144"/>
                  <a:pt x="7527158" y="3872620"/>
                  <a:pt x="7452557" y="3872620"/>
                </a:cubicBezTo>
                <a:lnTo>
                  <a:pt x="135077" y="3872620"/>
                </a:lnTo>
                <a:cubicBezTo>
                  <a:pt x="60476" y="3872620"/>
                  <a:pt x="0" y="3812144"/>
                  <a:pt x="0" y="3737543"/>
                </a:cubicBezTo>
                <a:lnTo>
                  <a:pt x="0" y="135077"/>
                </a:lnTo>
                <a:cubicBezTo>
                  <a:pt x="0" y="60476"/>
                  <a:pt x="60476" y="0"/>
                  <a:pt x="135077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8395632" y="1688643"/>
            <a:ext cx="540366" cy="540366"/>
          </a:xfrm>
          <a:custGeom>
            <a:avLst/>
            <a:gdLst/>
            <a:ahLst/>
            <a:cxnLst/>
            <a:rect l="l" t="t" r="r" b="b"/>
            <a:pathLst>
              <a:path w="540366" h="540366">
                <a:moveTo>
                  <a:pt x="90063" y="0"/>
                </a:moveTo>
                <a:lnTo>
                  <a:pt x="450303" y="0"/>
                </a:lnTo>
                <a:cubicBezTo>
                  <a:pt x="500043" y="0"/>
                  <a:pt x="540366" y="40322"/>
                  <a:pt x="540366" y="90063"/>
                </a:cubicBezTo>
                <a:lnTo>
                  <a:pt x="540366" y="450303"/>
                </a:lnTo>
                <a:cubicBezTo>
                  <a:pt x="540366" y="500043"/>
                  <a:pt x="500043" y="540366"/>
                  <a:pt x="450303" y="540366"/>
                </a:cubicBezTo>
                <a:lnTo>
                  <a:pt x="90063" y="540366"/>
                </a:lnTo>
                <a:cubicBezTo>
                  <a:pt x="40322" y="540366"/>
                  <a:pt x="0" y="500043"/>
                  <a:pt x="0" y="450303"/>
                </a:cubicBezTo>
                <a:lnTo>
                  <a:pt x="0" y="90063"/>
                </a:lnTo>
                <a:cubicBezTo>
                  <a:pt x="0" y="40356"/>
                  <a:pt x="40356" y="0"/>
                  <a:pt x="90063" y="0"/>
                </a:cubicBezTo>
                <a:close/>
              </a:path>
            </a:pathLst>
          </a:custGeom>
          <a:solidFill>
            <a:srgbClr val="5F677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8567311" y="1846249"/>
            <a:ext cx="197008" cy="225152"/>
          </a:xfrm>
          <a:custGeom>
            <a:avLst/>
            <a:gdLst/>
            <a:ahLst/>
            <a:cxnLst/>
            <a:rect l="l" t="t" r="r" b="b"/>
            <a:pathLst>
              <a:path w="197008" h="225152">
                <a:moveTo>
                  <a:pt x="28144" y="14072"/>
                </a:moveTo>
                <a:cubicBezTo>
                  <a:pt x="12621" y="14072"/>
                  <a:pt x="0" y="26693"/>
                  <a:pt x="0" y="42216"/>
                </a:cubicBezTo>
                <a:lnTo>
                  <a:pt x="0" y="182936"/>
                </a:lnTo>
                <a:cubicBezTo>
                  <a:pt x="0" y="198459"/>
                  <a:pt x="12621" y="211080"/>
                  <a:pt x="28144" y="211080"/>
                </a:cubicBezTo>
                <a:lnTo>
                  <a:pt x="168864" y="211080"/>
                </a:lnTo>
                <a:cubicBezTo>
                  <a:pt x="184387" y="211080"/>
                  <a:pt x="197008" y="198459"/>
                  <a:pt x="197008" y="182936"/>
                </a:cubicBezTo>
                <a:lnTo>
                  <a:pt x="197008" y="76209"/>
                </a:lnTo>
                <a:cubicBezTo>
                  <a:pt x="197008" y="68733"/>
                  <a:pt x="194062" y="61565"/>
                  <a:pt x="188785" y="56288"/>
                </a:cubicBezTo>
                <a:lnTo>
                  <a:pt x="154792" y="22295"/>
                </a:lnTo>
                <a:cubicBezTo>
                  <a:pt x="149515" y="17018"/>
                  <a:pt x="142347" y="14072"/>
                  <a:pt x="134872" y="14072"/>
                </a:cubicBezTo>
                <a:lnTo>
                  <a:pt x="28144" y="14072"/>
                </a:lnTo>
                <a:close/>
                <a:moveTo>
                  <a:pt x="42216" y="56288"/>
                </a:moveTo>
                <a:cubicBezTo>
                  <a:pt x="42216" y="48505"/>
                  <a:pt x="48505" y="42216"/>
                  <a:pt x="56288" y="42216"/>
                </a:cubicBezTo>
                <a:lnTo>
                  <a:pt x="126648" y="42216"/>
                </a:lnTo>
                <a:cubicBezTo>
                  <a:pt x="134432" y="42216"/>
                  <a:pt x="140720" y="48505"/>
                  <a:pt x="140720" y="56288"/>
                </a:cubicBezTo>
                <a:lnTo>
                  <a:pt x="140720" y="84432"/>
                </a:lnTo>
                <a:cubicBezTo>
                  <a:pt x="140720" y="92216"/>
                  <a:pt x="134432" y="98504"/>
                  <a:pt x="126648" y="98504"/>
                </a:cubicBezTo>
                <a:lnTo>
                  <a:pt x="56288" y="98504"/>
                </a:lnTo>
                <a:cubicBezTo>
                  <a:pt x="48505" y="98504"/>
                  <a:pt x="42216" y="92216"/>
                  <a:pt x="42216" y="84432"/>
                </a:cubicBezTo>
                <a:lnTo>
                  <a:pt x="42216" y="56288"/>
                </a:lnTo>
                <a:close/>
                <a:moveTo>
                  <a:pt x="98504" y="126648"/>
                </a:moveTo>
                <a:cubicBezTo>
                  <a:pt x="114037" y="126648"/>
                  <a:pt x="126648" y="139259"/>
                  <a:pt x="126648" y="154792"/>
                </a:cubicBezTo>
                <a:cubicBezTo>
                  <a:pt x="126648" y="170325"/>
                  <a:pt x="114037" y="182936"/>
                  <a:pt x="98504" y="182936"/>
                </a:cubicBezTo>
                <a:cubicBezTo>
                  <a:pt x="82971" y="182936"/>
                  <a:pt x="70360" y="170325"/>
                  <a:pt x="70360" y="154792"/>
                </a:cubicBezTo>
                <a:cubicBezTo>
                  <a:pt x="70360" y="139259"/>
                  <a:pt x="82971" y="126648"/>
                  <a:pt x="98504" y="126648"/>
                </a:cubicBezTo>
                <a:close/>
              </a:path>
            </a:pathLst>
          </a:custGeom>
          <a:solidFill>
            <a:srgbClr val="5F67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071089" y="1666127"/>
            <a:ext cx="1362172" cy="360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27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Savepoint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071089" y="2026371"/>
            <a:ext cx="1305884" cy="225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1" dirty="0">
                <a:solidFill>
                  <a:srgbClr val="5F67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手动触发快照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395632" y="2386615"/>
            <a:ext cx="7227391" cy="810548"/>
          </a:xfrm>
          <a:custGeom>
            <a:avLst/>
            <a:gdLst/>
            <a:ahLst/>
            <a:cxnLst/>
            <a:rect l="l" t="t" r="r" b="b"/>
            <a:pathLst>
              <a:path w="7227391" h="810548">
                <a:moveTo>
                  <a:pt x="90060" y="0"/>
                </a:moveTo>
                <a:lnTo>
                  <a:pt x="7137331" y="0"/>
                </a:lnTo>
                <a:cubicBezTo>
                  <a:pt x="7187069" y="0"/>
                  <a:pt x="7227391" y="40321"/>
                  <a:pt x="7227391" y="90060"/>
                </a:cubicBezTo>
                <a:lnTo>
                  <a:pt x="7227391" y="720488"/>
                </a:lnTo>
                <a:cubicBezTo>
                  <a:pt x="7227391" y="770227"/>
                  <a:pt x="7187069" y="810548"/>
                  <a:pt x="7137331" y="810548"/>
                </a:cubicBezTo>
                <a:lnTo>
                  <a:pt x="90060" y="810548"/>
                </a:lnTo>
                <a:cubicBezTo>
                  <a:pt x="40355" y="810548"/>
                  <a:pt x="0" y="770194"/>
                  <a:pt x="0" y="720488"/>
                </a:cubicBezTo>
                <a:lnTo>
                  <a:pt x="0" y="90060"/>
                </a:lnTo>
                <a:cubicBezTo>
                  <a:pt x="0" y="40355"/>
                  <a:pt x="40355" y="0"/>
                  <a:pt x="9006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530724" y="2521706"/>
            <a:ext cx="7047269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8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核心特征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30724" y="2836920"/>
            <a:ext cx="7036011" cy="225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1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用户手动触发的、由标准格式存储的全局快照。用于版本升级、A/B测试、集群迁移等运维操作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395632" y="3287224"/>
            <a:ext cx="7227391" cy="1486006"/>
          </a:xfrm>
          <a:custGeom>
            <a:avLst/>
            <a:gdLst/>
            <a:ahLst/>
            <a:cxnLst/>
            <a:rect l="l" t="t" r="r" b="b"/>
            <a:pathLst>
              <a:path w="7227391" h="1486006">
                <a:moveTo>
                  <a:pt x="90067" y="0"/>
                </a:moveTo>
                <a:lnTo>
                  <a:pt x="7137324" y="0"/>
                </a:lnTo>
                <a:cubicBezTo>
                  <a:pt x="7187066" y="0"/>
                  <a:pt x="7227391" y="40324"/>
                  <a:pt x="7227391" y="90067"/>
                </a:cubicBezTo>
                <a:lnTo>
                  <a:pt x="7227391" y="1395939"/>
                </a:lnTo>
                <a:cubicBezTo>
                  <a:pt x="7227391" y="1445681"/>
                  <a:pt x="7187066" y="1486006"/>
                  <a:pt x="7137324" y="1486006"/>
                </a:cubicBezTo>
                <a:lnTo>
                  <a:pt x="90067" y="1486006"/>
                </a:lnTo>
                <a:cubicBezTo>
                  <a:pt x="40324" y="1486006"/>
                  <a:pt x="0" y="1445681"/>
                  <a:pt x="0" y="1395939"/>
                </a:cubicBezTo>
                <a:lnTo>
                  <a:pt x="0" y="90067"/>
                </a:lnTo>
                <a:cubicBezTo>
                  <a:pt x="0" y="40324"/>
                  <a:pt x="40324" y="0"/>
                  <a:pt x="9006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530724" y="3422316"/>
            <a:ext cx="7047269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8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操作命令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30724" y="3748787"/>
            <a:ext cx="4784839" cy="87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64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触发保存点 flink savepoint hdfs:///flink/savepoints # 升级程序并从保存点恢复 flink run -s hdfs:///flink/savepoints/savepoint-123456 ...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50305" y="5538748"/>
            <a:ext cx="7587634" cy="3152133"/>
          </a:xfrm>
          <a:custGeom>
            <a:avLst/>
            <a:gdLst/>
            <a:ahLst/>
            <a:cxnLst/>
            <a:rect l="l" t="t" r="r" b="b"/>
            <a:pathLst>
              <a:path w="7587634" h="3152133">
                <a:moveTo>
                  <a:pt x="135100" y="0"/>
                </a:moveTo>
                <a:lnTo>
                  <a:pt x="7452534" y="0"/>
                </a:lnTo>
                <a:cubicBezTo>
                  <a:pt x="7527148" y="0"/>
                  <a:pt x="7587634" y="60487"/>
                  <a:pt x="7587634" y="135100"/>
                </a:cubicBezTo>
                <a:lnTo>
                  <a:pt x="7587634" y="3017033"/>
                </a:lnTo>
                <a:cubicBezTo>
                  <a:pt x="7587634" y="3091646"/>
                  <a:pt x="7527148" y="3152133"/>
                  <a:pt x="7452534" y="3152133"/>
                </a:cubicBezTo>
                <a:lnTo>
                  <a:pt x="135100" y="3152133"/>
                </a:lnTo>
                <a:cubicBezTo>
                  <a:pt x="60487" y="3152133"/>
                  <a:pt x="0" y="3091646"/>
                  <a:pt x="0" y="3017033"/>
                </a:cubicBezTo>
                <a:lnTo>
                  <a:pt x="0" y="135100"/>
                </a:lnTo>
                <a:cubicBezTo>
                  <a:pt x="0" y="60487"/>
                  <a:pt x="60487" y="0"/>
                  <a:pt x="135100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672643" y="5763900"/>
            <a:ext cx="197008" cy="225152"/>
          </a:xfrm>
          <a:custGeom>
            <a:avLst/>
            <a:gdLst/>
            <a:ahLst/>
            <a:cxnLst/>
            <a:rect l="l" t="t" r="r" b="b"/>
            <a:pathLst>
              <a:path w="197008" h="225152">
                <a:moveTo>
                  <a:pt x="197008" y="90501"/>
                </a:moveTo>
                <a:cubicBezTo>
                  <a:pt x="190500" y="94810"/>
                  <a:pt x="183024" y="98284"/>
                  <a:pt x="175241" y="101055"/>
                </a:cubicBezTo>
                <a:cubicBezTo>
                  <a:pt x="154572" y="108443"/>
                  <a:pt x="127440" y="112576"/>
                  <a:pt x="98504" y="112576"/>
                </a:cubicBezTo>
                <a:cubicBezTo>
                  <a:pt x="69569" y="112576"/>
                  <a:pt x="42392" y="108399"/>
                  <a:pt x="21768" y="101055"/>
                </a:cubicBezTo>
                <a:cubicBezTo>
                  <a:pt x="14028" y="98284"/>
                  <a:pt x="6508" y="94810"/>
                  <a:pt x="0" y="90501"/>
                </a:cubicBezTo>
                <a:lnTo>
                  <a:pt x="0" y="126648"/>
                </a:lnTo>
                <a:cubicBezTo>
                  <a:pt x="0" y="146085"/>
                  <a:pt x="44107" y="161828"/>
                  <a:pt x="98504" y="161828"/>
                </a:cubicBezTo>
                <a:cubicBezTo>
                  <a:pt x="152901" y="161828"/>
                  <a:pt x="197008" y="146085"/>
                  <a:pt x="197008" y="126648"/>
                </a:cubicBezTo>
                <a:lnTo>
                  <a:pt x="197008" y="90501"/>
                </a:lnTo>
                <a:close/>
                <a:moveTo>
                  <a:pt x="197008" y="56288"/>
                </a:moveTo>
                <a:lnTo>
                  <a:pt x="197008" y="35180"/>
                </a:lnTo>
                <a:cubicBezTo>
                  <a:pt x="197008" y="15743"/>
                  <a:pt x="152901" y="0"/>
                  <a:pt x="98504" y="0"/>
                </a:cubicBezTo>
                <a:cubicBezTo>
                  <a:pt x="44107" y="0"/>
                  <a:pt x="0" y="15743"/>
                  <a:pt x="0" y="35180"/>
                </a:cubicBezTo>
                <a:lnTo>
                  <a:pt x="0" y="56288"/>
                </a:lnTo>
                <a:cubicBezTo>
                  <a:pt x="0" y="75725"/>
                  <a:pt x="44107" y="91468"/>
                  <a:pt x="98504" y="91468"/>
                </a:cubicBezTo>
                <a:cubicBezTo>
                  <a:pt x="152901" y="91468"/>
                  <a:pt x="197008" y="75725"/>
                  <a:pt x="197008" y="56288"/>
                </a:cubicBezTo>
                <a:close/>
                <a:moveTo>
                  <a:pt x="175241" y="171415"/>
                </a:moveTo>
                <a:cubicBezTo>
                  <a:pt x="154616" y="178759"/>
                  <a:pt x="127484" y="182936"/>
                  <a:pt x="98504" y="182936"/>
                </a:cubicBezTo>
                <a:cubicBezTo>
                  <a:pt x="69525" y="182936"/>
                  <a:pt x="42392" y="178759"/>
                  <a:pt x="21768" y="171415"/>
                </a:cubicBezTo>
                <a:cubicBezTo>
                  <a:pt x="14028" y="168644"/>
                  <a:pt x="6508" y="165170"/>
                  <a:pt x="0" y="160861"/>
                </a:cubicBezTo>
                <a:lnTo>
                  <a:pt x="0" y="189972"/>
                </a:lnTo>
                <a:cubicBezTo>
                  <a:pt x="0" y="209409"/>
                  <a:pt x="44107" y="225152"/>
                  <a:pt x="98504" y="225152"/>
                </a:cubicBezTo>
                <a:cubicBezTo>
                  <a:pt x="152901" y="225152"/>
                  <a:pt x="197008" y="209409"/>
                  <a:pt x="197008" y="189972"/>
                </a:cubicBezTo>
                <a:lnTo>
                  <a:pt x="197008" y="160861"/>
                </a:lnTo>
                <a:cubicBezTo>
                  <a:pt x="190500" y="165170"/>
                  <a:pt x="183024" y="168644"/>
                  <a:pt x="175241" y="171415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911867" y="5718870"/>
            <a:ext cx="7058526" cy="315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73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状态后端 (State Backend)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1684" y="6169175"/>
            <a:ext cx="7216133" cy="855579"/>
          </a:xfrm>
          <a:custGeom>
            <a:avLst/>
            <a:gdLst/>
            <a:ahLst/>
            <a:cxnLst/>
            <a:rect l="l" t="t" r="r" b="b"/>
            <a:pathLst>
              <a:path w="7216133" h="855579">
                <a:moveTo>
                  <a:pt x="22515" y="0"/>
                </a:moveTo>
                <a:lnTo>
                  <a:pt x="7126075" y="0"/>
                </a:lnTo>
                <a:cubicBezTo>
                  <a:pt x="7175813" y="0"/>
                  <a:pt x="7216133" y="40320"/>
                  <a:pt x="7216133" y="90058"/>
                </a:cubicBezTo>
                <a:lnTo>
                  <a:pt x="7216133" y="765521"/>
                </a:lnTo>
                <a:cubicBezTo>
                  <a:pt x="7216133" y="815258"/>
                  <a:pt x="7175813" y="855579"/>
                  <a:pt x="7126075" y="855579"/>
                </a:cubicBezTo>
                <a:lnTo>
                  <a:pt x="22515" y="855579"/>
                </a:lnTo>
                <a:cubicBezTo>
                  <a:pt x="10080" y="855579"/>
                  <a:pt x="0" y="845499"/>
                  <a:pt x="0" y="833064"/>
                </a:cubicBezTo>
                <a:lnTo>
                  <a:pt x="0" y="22515"/>
                </a:lnTo>
                <a:cubicBezTo>
                  <a:pt x="0" y="10080"/>
                  <a:pt x="10080" y="0"/>
                  <a:pt x="2251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641684" y="6169175"/>
            <a:ext cx="22515" cy="855579"/>
          </a:xfrm>
          <a:custGeom>
            <a:avLst/>
            <a:gdLst/>
            <a:ahLst/>
            <a:cxnLst/>
            <a:rect l="l" t="t" r="r" b="b"/>
            <a:pathLst>
              <a:path w="22515" h="855579">
                <a:moveTo>
                  <a:pt x="22515" y="0"/>
                </a:moveTo>
                <a:lnTo>
                  <a:pt x="22515" y="0"/>
                </a:lnTo>
                <a:lnTo>
                  <a:pt x="22515" y="855579"/>
                </a:lnTo>
                <a:lnTo>
                  <a:pt x="22515" y="855579"/>
                </a:lnTo>
                <a:cubicBezTo>
                  <a:pt x="10080" y="855579"/>
                  <a:pt x="0" y="845499"/>
                  <a:pt x="0" y="833064"/>
                </a:cubicBezTo>
                <a:lnTo>
                  <a:pt x="0" y="22515"/>
                </a:lnTo>
                <a:cubicBezTo>
                  <a:pt x="0" y="10089"/>
                  <a:pt x="10089" y="0"/>
                  <a:pt x="22515" y="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788033" y="6304266"/>
            <a:ext cx="2003856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8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HashMapStateBackend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269870" y="6304266"/>
            <a:ext cx="450305" cy="270183"/>
          </a:xfrm>
          <a:custGeom>
            <a:avLst/>
            <a:gdLst/>
            <a:ahLst/>
            <a:cxnLst/>
            <a:rect l="l" t="t" r="r" b="b"/>
            <a:pathLst>
              <a:path w="450305" h="270183">
                <a:moveTo>
                  <a:pt x="135091" y="0"/>
                </a:moveTo>
                <a:lnTo>
                  <a:pt x="315213" y="0"/>
                </a:lnTo>
                <a:cubicBezTo>
                  <a:pt x="389772" y="0"/>
                  <a:pt x="450305" y="60532"/>
                  <a:pt x="450305" y="135091"/>
                </a:cubicBezTo>
                <a:lnTo>
                  <a:pt x="450305" y="135091"/>
                </a:lnTo>
                <a:cubicBezTo>
                  <a:pt x="450305" y="209650"/>
                  <a:pt x="389772" y="270183"/>
                  <a:pt x="315213" y="270183"/>
                </a:cubicBezTo>
                <a:lnTo>
                  <a:pt x="135091" y="270183"/>
                </a:lnTo>
                <a:cubicBezTo>
                  <a:pt x="60482" y="270183"/>
                  <a:pt x="0" y="209700"/>
                  <a:pt x="0" y="135091"/>
                </a:cubicBezTo>
                <a:lnTo>
                  <a:pt x="0" y="135091"/>
                </a:lnTo>
                <a:cubicBezTo>
                  <a:pt x="0" y="60482"/>
                  <a:pt x="60482" y="0"/>
                  <a:pt x="135091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7269870" y="6304266"/>
            <a:ext cx="517850" cy="270183"/>
          </a:xfrm>
          <a:prstGeom prst="rect">
            <a:avLst/>
          </a:prstGeom>
          <a:noFill/>
          <a:ln/>
        </p:spPr>
        <p:txBody>
          <a:bodyPr wrap="square" lIns="90061" tIns="45030" rIns="90061" bIns="45030" rtlCol="0" anchor="ctr"/>
          <a:lstStyle/>
          <a:p>
            <a:pPr>
              <a:lnSpc>
                <a:spcPct val="110000"/>
              </a:lnSpc>
            </a:pPr>
            <a:r>
              <a:rPr lang="en-US" sz="1064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88033" y="6664510"/>
            <a:ext cx="7013496" cy="225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1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状态保存在TaskManager内存中，速度快，适合小状态和测试场景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1684" y="7114814"/>
            <a:ext cx="7216133" cy="855579"/>
          </a:xfrm>
          <a:custGeom>
            <a:avLst/>
            <a:gdLst/>
            <a:ahLst/>
            <a:cxnLst/>
            <a:rect l="l" t="t" r="r" b="b"/>
            <a:pathLst>
              <a:path w="7216133" h="855579">
                <a:moveTo>
                  <a:pt x="22515" y="0"/>
                </a:moveTo>
                <a:lnTo>
                  <a:pt x="7126075" y="0"/>
                </a:lnTo>
                <a:cubicBezTo>
                  <a:pt x="7175813" y="0"/>
                  <a:pt x="7216133" y="40320"/>
                  <a:pt x="7216133" y="90058"/>
                </a:cubicBezTo>
                <a:lnTo>
                  <a:pt x="7216133" y="765521"/>
                </a:lnTo>
                <a:cubicBezTo>
                  <a:pt x="7216133" y="815258"/>
                  <a:pt x="7175813" y="855579"/>
                  <a:pt x="7126075" y="855579"/>
                </a:cubicBezTo>
                <a:lnTo>
                  <a:pt x="22515" y="855579"/>
                </a:lnTo>
                <a:cubicBezTo>
                  <a:pt x="10080" y="855579"/>
                  <a:pt x="0" y="845499"/>
                  <a:pt x="0" y="833064"/>
                </a:cubicBezTo>
                <a:lnTo>
                  <a:pt x="0" y="22515"/>
                </a:lnTo>
                <a:cubicBezTo>
                  <a:pt x="0" y="10080"/>
                  <a:pt x="10080" y="0"/>
                  <a:pt x="2251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641684" y="7114814"/>
            <a:ext cx="22515" cy="855579"/>
          </a:xfrm>
          <a:custGeom>
            <a:avLst/>
            <a:gdLst/>
            <a:ahLst/>
            <a:cxnLst/>
            <a:rect l="l" t="t" r="r" b="b"/>
            <a:pathLst>
              <a:path w="22515" h="855579">
                <a:moveTo>
                  <a:pt x="22515" y="0"/>
                </a:moveTo>
                <a:lnTo>
                  <a:pt x="22515" y="0"/>
                </a:lnTo>
                <a:lnTo>
                  <a:pt x="22515" y="855579"/>
                </a:lnTo>
                <a:lnTo>
                  <a:pt x="22515" y="855579"/>
                </a:lnTo>
                <a:cubicBezTo>
                  <a:pt x="10080" y="855579"/>
                  <a:pt x="0" y="845499"/>
                  <a:pt x="0" y="833064"/>
                </a:cubicBezTo>
                <a:lnTo>
                  <a:pt x="0" y="22515"/>
                </a:lnTo>
                <a:cubicBezTo>
                  <a:pt x="0" y="10089"/>
                  <a:pt x="10089" y="0"/>
                  <a:pt x="22515" y="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788033" y="7249906"/>
            <a:ext cx="2870693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8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EmbeddedRocksDBStateBackend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999688" y="7249906"/>
            <a:ext cx="720488" cy="270183"/>
          </a:xfrm>
          <a:custGeom>
            <a:avLst/>
            <a:gdLst/>
            <a:ahLst/>
            <a:cxnLst/>
            <a:rect l="l" t="t" r="r" b="b"/>
            <a:pathLst>
              <a:path w="720488" h="270183">
                <a:moveTo>
                  <a:pt x="135091" y="0"/>
                </a:moveTo>
                <a:lnTo>
                  <a:pt x="585396" y="0"/>
                </a:lnTo>
                <a:cubicBezTo>
                  <a:pt x="659955" y="0"/>
                  <a:pt x="720488" y="60532"/>
                  <a:pt x="720488" y="135091"/>
                </a:cubicBezTo>
                <a:lnTo>
                  <a:pt x="720488" y="135091"/>
                </a:lnTo>
                <a:cubicBezTo>
                  <a:pt x="720488" y="209650"/>
                  <a:pt x="659955" y="270183"/>
                  <a:pt x="585396" y="270183"/>
                </a:cubicBezTo>
                <a:lnTo>
                  <a:pt x="135091" y="270183"/>
                </a:lnTo>
                <a:cubicBezTo>
                  <a:pt x="60482" y="270183"/>
                  <a:pt x="0" y="209700"/>
                  <a:pt x="0" y="135091"/>
                </a:cubicBezTo>
                <a:lnTo>
                  <a:pt x="0" y="135091"/>
                </a:lnTo>
                <a:cubicBezTo>
                  <a:pt x="0" y="60482"/>
                  <a:pt x="60482" y="0"/>
                  <a:pt x="135091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6999688" y="7249906"/>
            <a:ext cx="788033" cy="270183"/>
          </a:xfrm>
          <a:prstGeom prst="rect">
            <a:avLst/>
          </a:prstGeom>
          <a:noFill/>
          <a:ln/>
        </p:spPr>
        <p:txBody>
          <a:bodyPr wrap="square" lIns="90061" tIns="45030" rIns="90061" bIns="45030" rtlCol="0" anchor="ctr"/>
          <a:lstStyle/>
          <a:p>
            <a:pPr>
              <a:lnSpc>
                <a:spcPct val="110000"/>
              </a:lnSpc>
            </a:pPr>
            <a:r>
              <a:rPr lang="en-US" sz="1064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生产推荐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88033" y="7610150"/>
            <a:ext cx="7013496" cy="225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1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状态保存在本地RocksDB数据库中，支持TB级大状态，支持增量Checkpoint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215510" y="5538748"/>
            <a:ext cx="7587634" cy="3152133"/>
          </a:xfrm>
          <a:custGeom>
            <a:avLst/>
            <a:gdLst/>
            <a:ahLst/>
            <a:cxnLst/>
            <a:rect l="l" t="t" r="r" b="b"/>
            <a:pathLst>
              <a:path w="7587634" h="3152133">
                <a:moveTo>
                  <a:pt x="135100" y="0"/>
                </a:moveTo>
                <a:lnTo>
                  <a:pt x="7452534" y="0"/>
                </a:lnTo>
                <a:cubicBezTo>
                  <a:pt x="7527148" y="0"/>
                  <a:pt x="7587634" y="60487"/>
                  <a:pt x="7587634" y="135100"/>
                </a:cubicBezTo>
                <a:lnTo>
                  <a:pt x="7587634" y="3017033"/>
                </a:lnTo>
                <a:cubicBezTo>
                  <a:pt x="7587634" y="3091646"/>
                  <a:pt x="7527148" y="3152133"/>
                  <a:pt x="7452534" y="3152133"/>
                </a:cubicBezTo>
                <a:lnTo>
                  <a:pt x="135100" y="3152133"/>
                </a:lnTo>
                <a:cubicBezTo>
                  <a:pt x="60487" y="3152133"/>
                  <a:pt x="0" y="3091646"/>
                  <a:pt x="0" y="3017033"/>
                </a:cubicBezTo>
                <a:lnTo>
                  <a:pt x="0" y="135100"/>
                </a:lnTo>
                <a:cubicBezTo>
                  <a:pt x="0" y="60487"/>
                  <a:pt x="60487" y="0"/>
                  <a:pt x="135100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8451920" y="5763900"/>
            <a:ext cx="168864" cy="225152"/>
          </a:xfrm>
          <a:custGeom>
            <a:avLst/>
            <a:gdLst/>
            <a:ahLst/>
            <a:cxnLst/>
            <a:rect l="l" t="t" r="r" b="b"/>
            <a:pathLst>
              <a:path w="168864" h="225152">
                <a:moveTo>
                  <a:pt x="109894" y="29375"/>
                </a:moveTo>
                <a:cubicBezTo>
                  <a:pt x="114467" y="23087"/>
                  <a:pt x="113060" y="14292"/>
                  <a:pt x="106771" y="9718"/>
                </a:cubicBezTo>
                <a:cubicBezTo>
                  <a:pt x="100483" y="5145"/>
                  <a:pt x="91688" y="6552"/>
                  <a:pt x="87115" y="12841"/>
                </a:cubicBezTo>
                <a:lnTo>
                  <a:pt x="40501" y="76912"/>
                </a:lnTo>
                <a:lnTo>
                  <a:pt x="24010" y="60422"/>
                </a:lnTo>
                <a:cubicBezTo>
                  <a:pt x="18514" y="54925"/>
                  <a:pt x="9587" y="54925"/>
                  <a:pt x="4090" y="60422"/>
                </a:cubicBezTo>
                <a:cubicBezTo>
                  <a:pt x="-1407" y="65919"/>
                  <a:pt x="-1407" y="74846"/>
                  <a:pt x="4090" y="80342"/>
                </a:cubicBezTo>
                <a:lnTo>
                  <a:pt x="32234" y="108486"/>
                </a:lnTo>
                <a:cubicBezTo>
                  <a:pt x="35136" y="111389"/>
                  <a:pt x="39182" y="112884"/>
                  <a:pt x="43271" y="112576"/>
                </a:cubicBezTo>
                <a:cubicBezTo>
                  <a:pt x="47361" y="112268"/>
                  <a:pt x="51143" y="110158"/>
                  <a:pt x="53562" y="106815"/>
                </a:cubicBezTo>
                <a:lnTo>
                  <a:pt x="109850" y="29419"/>
                </a:lnTo>
                <a:close/>
                <a:moveTo>
                  <a:pt x="166182" y="89181"/>
                </a:moveTo>
                <a:cubicBezTo>
                  <a:pt x="170755" y="82893"/>
                  <a:pt x="169348" y="74098"/>
                  <a:pt x="163060" y="69525"/>
                </a:cubicBezTo>
                <a:cubicBezTo>
                  <a:pt x="156771" y="64951"/>
                  <a:pt x="147976" y="66358"/>
                  <a:pt x="143403" y="72647"/>
                </a:cubicBezTo>
                <a:lnTo>
                  <a:pt x="68645" y="175417"/>
                </a:lnTo>
                <a:lnTo>
                  <a:pt x="38082" y="144854"/>
                </a:lnTo>
                <a:cubicBezTo>
                  <a:pt x="32586" y="139357"/>
                  <a:pt x="23659" y="139357"/>
                  <a:pt x="18162" y="144854"/>
                </a:cubicBezTo>
                <a:cubicBezTo>
                  <a:pt x="12665" y="150351"/>
                  <a:pt x="12665" y="159278"/>
                  <a:pt x="18162" y="164775"/>
                </a:cubicBezTo>
                <a:lnTo>
                  <a:pt x="60378" y="206991"/>
                </a:lnTo>
                <a:cubicBezTo>
                  <a:pt x="63280" y="209893"/>
                  <a:pt x="67326" y="211388"/>
                  <a:pt x="71416" y="211080"/>
                </a:cubicBezTo>
                <a:cubicBezTo>
                  <a:pt x="75505" y="210773"/>
                  <a:pt x="79287" y="208662"/>
                  <a:pt x="81706" y="205320"/>
                </a:cubicBezTo>
                <a:lnTo>
                  <a:pt x="166138" y="89225"/>
                </a:ln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8677073" y="5718870"/>
            <a:ext cx="7058526" cy="315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73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端到端精确一次 (End-to-End Exactly-Once)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395632" y="6169175"/>
            <a:ext cx="7227391" cy="720488"/>
          </a:xfrm>
          <a:custGeom>
            <a:avLst/>
            <a:gdLst/>
            <a:ahLst/>
            <a:cxnLst/>
            <a:rect l="l" t="t" r="r" b="b"/>
            <a:pathLst>
              <a:path w="7227391" h="720488">
                <a:moveTo>
                  <a:pt x="90061" y="0"/>
                </a:moveTo>
                <a:lnTo>
                  <a:pt x="7137330" y="0"/>
                </a:lnTo>
                <a:cubicBezTo>
                  <a:pt x="7187069" y="0"/>
                  <a:pt x="7227391" y="40322"/>
                  <a:pt x="7227391" y="90061"/>
                </a:cubicBezTo>
                <a:lnTo>
                  <a:pt x="7227391" y="630427"/>
                </a:lnTo>
                <a:cubicBezTo>
                  <a:pt x="7227391" y="680166"/>
                  <a:pt x="7187069" y="720488"/>
                  <a:pt x="7137330" y="720488"/>
                </a:cubicBezTo>
                <a:lnTo>
                  <a:pt x="90061" y="720488"/>
                </a:lnTo>
                <a:cubicBezTo>
                  <a:pt x="40322" y="720488"/>
                  <a:pt x="0" y="680166"/>
                  <a:pt x="0" y="630427"/>
                </a:cubicBezTo>
                <a:lnTo>
                  <a:pt x="0" y="90061"/>
                </a:lnTo>
                <a:cubicBezTo>
                  <a:pt x="0" y="40355"/>
                  <a:pt x="40355" y="0"/>
                  <a:pt x="9006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8485693" y="6259235"/>
            <a:ext cx="270183" cy="270183"/>
          </a:xfrm>
          <a:custGeom>
            <a:avLst/>
            <a:gdLst/>
            <a:ahLst/>
            <a:cxnLst/>
            <a:rect l="l" t="t" r="r" b="b"/>
            <a:pathLst>
              <a:path w="270183" h="270183">
                <a:moveTo>
                  <a:pt x="135091" y="0"/>
                </a:moveTo>
                <a:lnTo>
                  <a:pt x="135091" y="0"/>
                </a:lnTo>
                <a:cubicBezTo>
                  <a:pt x="209700" y="0"/>
                  <a:pt x="270183" y="60482"/>
                  <a:pt x="270183" y="135091"/>
                </a:cubicBezTo>
                <a:lnTo>
                  <a:pt x="270183" y="135091"/>
                </a:lnTo>
                <a:cubicBezTo>
                  <a:pt x="270183" y="209700"/>
                  <a:pt x="209700" y="270183"/>
                  <a:pt x="135091" y="270183"/>
                </a:cubicBezTo>
                <a:lnTo>
                  <a:pt x="135091" y="270183"/>
                </a:lnTo>
                <a:cubicBezTo>
                  <a:pt x="60482" y="270183"/>
                  <a:pt x="0" y="209700"/>
                  <a:pt x="0" y="135091"/>
                </a:cubicBezTo>
                <a:lnTo>
                  <a:pt x="0" y="135091"/>
                </a:lnTo>
                <a:cubicBezTo>
                  <a:pt x="0" y="60482"/>
                  <a:pt x="60482" y="0"/>
                  <a:pt x="135091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8594224" y="6304266"/>
            <a:ext cx="123834" cy="180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64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845937" y="6259235"/>
            <a:ext cx="1564809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8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Source：支持重放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845937" y="6574449"/>
            <a:ext cx="6765828" cy="225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1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如Kafka，偏移量与算子状态一同进入检查点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395632" y="6979723"/>
            <a:ext cx="7227391" cy="720488"/>
          </a:xfrm>
          <a:custGeom>
            <a:avLst/>
            <a:gdLst/>
            <a:ahLst/>
            <a:cxnLst/>
            <a:rect l="l" t="t" r="r" b="b"/>
            <a:pathLst>
              <a:path w="7227391" h="720488">
                <a:moveTo>
                  <a:pt x="90061" y="0"/>
                </a:moveTo>
                <a:lnTo>
                  <a:pt x="7137330" y="0"/>
                </a:lnTo>
                <a:cubicBezTo>
                  <a:pt x="7187069" y="0"/>
                  <a:pt x="7227391" y="40322"/>
                  <a:pt x="7227391" y="90061"/>
                </a:cubicBezTo>
                <a:lnTo>
                  <a:pt x="7227391" y="630427"/>
                </a:lnTo>
                <a:cubicBezTo>
                  <a:pt x="7227391" y="680166"/>
                  <a:pt x="7187069" y="720488"/>
                  <a:pt x="7137330" y="720488"/>
                </a:cubicBezTo>
                <a:lnTo>
                  <a:pt x="90061" y="720488"/>
                </a:lnTo>
                <a:cubicBezTo>
                  <a:pt x="40322" y="720488"/>
                  <a:pt x="0" y="680166"/>
                  <a:pt x="0" y="630427"/>
                </a:cubicBezTo>
                <a:lnTo>
                  <a:pt x="0" y="90061"/>
                </a:lnTo>
                <a:cubicBezTo>
                  <a:pt x="0" y="40355"/>
                  <a:pt x="40355" y="0"/>
                  <a:pt x="9006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8485693" y="7069784"/>
            <a:ext cx="270183" cy="270183"/>
          </a:xfrm>
          <a:custGeom>
            <a:avLst/>
            <a:gdLst/>
            <a:ahLst/>
            <a:cxnLst/>
            <a:rect l="l" t="t" r="r" b="b"/>
            <a:pathLst>
              <a:path w="270183" h="270183">
                <a:moveTo>
                  <a:pt x="135091" y="0"/>
                </a:moveTo>
                <a:lnTo>
                  <a:pt x="135091" y="0"/>
                </a:lnTo>
                <a:cubicBezTo>
                  <a:pt x="209700" y="0"/>
                  <a:pt x="270183" y="60482"/>
                  <a:pt x="270183" y="135091"/>
                </a:cubicBezTo>
                <a:lnTo>
                  <a:pt x="270183" y="135091"/>
                </a:lnTo>
                <a:cubicBezTo>
                  <a:pt x="270183" y="209700"/>
                  <a:pt x="209700" y="270183"/>
                  <a:pt x="135091" y="270183"/>
                </a:cubicBezTo>
                <a:lnTo>
                  <a:pt x="135091" y="270183"/>
                </a:lnTo>
                <a:cubicBezTo>
                  <a:pt x="60482" y="270183"/>
                  <a:pt x="0" y="209700"/>
                  <a:pt x="0" y="135091"/>
                </a:cubicBezTo>
                <a:lnTo>
                  <a:pt x="0" y="135091"/>
                </a:lnTo>
                <a:cubicBezTo>
                  <a:pt x="0" y="60482"/>
                  <a:pt x="60482" y="0"/>
                  <a:pt x="135091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8582790" y="7114814"/>
            <a:ext cx="146349" cy="180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64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845937" y="7069784"/>
            <a:ext cx="2307812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8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Flink内部：Checkpoint机制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845937" y="7384997"/>
            <a:ext cx="6765828" cy="225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1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算子状态与水印在同一检查点中一致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395632" y="7790271"/>
            <a:ext cx="7227391" cy="720488"/>
          </a:xfrm>
          <a:custGeom>
            <a:avLst/>
            <a:gdLst/>
            <a:ahLst/>
            <a:cxnLst/>
            <a:rect l="l" t="t" r="r" b="b"/>
            <a:pathLst>
              <a:path w="7227391" h="720488">
                <a:moveTo>
                  <a:pt x="90061" y="0"/>
                </a:moveTo>
                <a:lnTo>
                  <a:pt x="7137330" y="0"/>
                </a:lnTo>
                <a:cubicBezTo>
                  <a:pt x="7187069" y="0"/>
                  <a:pt x="7227391" y="40322"/>
                  <a:pt x="7227391" y="90061"/>
                </a:cubicBezTo>
                <a:lnTo>
                  <a:pt x="7227391" y="630427"/>
                </a:lnTo>
                <a:cubicBezTo>
                  <a:pt x="7227391" y="680166"/>
                  <a:pt x="7187069" y="720488"/>
                  <a:pt x="7137330" y="720488"/>
                </a:cubicBezTo>
                <a:lnTo>
                  <a:pt x="90061" y="720488"/>
                </a:lnTo>
                <a:cubicBezTo>
                  <a:pt x="40322" y="720488"/>
                  <a:pt x="0" y="680166"/>
                  <a:pt x="0" y="630427"/>
                </a:cubicBezTo>
                <a:lnTo>
                  <a:pt x="0" y="90061"/>
                </a:lnTo>
                <a:cubicBezTo>
                  <a:pt x="0" y="40355"/>
                  <a:pt x="40355" y="0"/>
                  <a:pt x="9006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8485693" y="7880332"/>
            <a:ext cx="270183" cy="270183"/>
          </a:xfrm>
          <a:custGeom>
            <a:avLst/>
            <a:gdLst/>
            <a:ahLst/>
            <a:cxnLst/>
            <a:rect l="l" t="t" r="r" b="b"/>
            <a:pathLst>
              <a:path w="270183" h="270183">
                <a:moveTo>
                  <a:pt x="135091" y="0"/>
                </a:moveTo>
                <a:lnTo>
                  <a:pt x="135091" y="0"/>
                </a:lnTo>
                <a:cubicBezTo>
                  <a:pt x="209700" y="0"/>
                  <a:pt x="270183" y="60482"/>
                  <a:pt x="270183" y="135091"/>
                </a:cubicBezTo>
                <a:lnTo>
                  <a:pt x="270183" y="135091"/>
                </a:lnTo>
                <a:cubicBezTo>
                  <a:pt x="270183" y="209700"/>
                  <a:pt x="209700" y="270183"/>
                  <a:pt x="135091" y="270183"/>
                </a:cubicBezTo>
                <a:lnTo>
                  <a:pt x="135091" y="270183"/>
                </a:lnTo>
                <a:cubicBezTo>
                  <a:pt x="60482" y="270183"/>
                  <a:pt x="0" y="209700"/>
                  <a:pt x="0" y="135091"/>
                </a:cubicBezTo>
                <a:lnTo>
                  <a:pt x="0" y="135091"/>
                </a:lnTo>
                <a:cubicBezTo>
                  <a:pt x="0" y="60482"/>
                  <a:pt x="60482" y="0"/>
                  <a:pt x="135091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8581031" y="7925363"/>
            <a:ext cx="146349" cy="180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64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845937" y="7880332"/>
            <a:ext cx="1699900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8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Sink：支持事务写入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845937" y="8195546"/>
            <a:ext cx="6765828" cy="225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1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如Kafka Transaction、TwoPhaseCommitSinkFunction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23333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84667" y="0"/>
                </a:moveTo>
                <a:lnTo>
                  <a:pt x="338667" y="0"/>
                </a:lnTo>
                <a:cubicBezTo>
                  <a:pt x="385427" y="0"/>
                  <a:pt x="423333" y="37907"/>
                  <a:pt x="423333" y="84667"/>
                </a:cubicBezTo>
                <a:lnTo>
                  <a:pt x="423333" y="338667"/>
                </a:lnTo>
                <a:cubicBezTo>
                  <a:pt x="423333" y="385427"/>
                  <a:pt x="385427" y="423333"/>
                  <a:pt x="338667" y="423333"/>
                </a:cubicBezTo>
                <a:lnTo>
                  <a:pt x="84667" y="423333"/>
                </a:lnTo>
                <a:cubicBezTo>
                  <a:pt x="37907" y="423333"/>
                  <a:pt x="0" y="385427"/>
                  <a:pt x="0" y="338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78115" y="539750"/>
            <a:ext cx="119063" cy="190500"/>
          </a:xfrm>
          <a:custGeom>
            <a:avLst/>
            <a:gdLst/>
            <a:ahLst/>
            <a:cxnLst/>
            <a:rect l="l" t="t" r="r" b="b"/>
            <a:pathLst>
              <a:path w="119063" h="190500">
                <a:moveTo>
                  <a:pt x="59531" y="0"/>
                </a:moveTo>
                <a:cubicBezTo>
                  <a:pt x="39812" y="0"/>
                  <a:pt x="23812" y="15999"/>
                  <a:pt x="23812" y="35719"/>
                </a:cubicBezTo>
                <a:lnTo>
                  <a:pt x="23812" y="96999"/>
                </a:lnTo>
                <a:cubicBezTo>
                  <a:pt x="12836" y="106784"/>
                  <a:pt x="5953" y="121072"/>
                  <a:pt x="5953" y="136922"/>
                </a:cubicBezTo>
                <a:cubicBezTo>
                  <a:pt x="5953" y="166501"/>
                  <a:pt x="29952" y="190500"/>
                  <a:pt x="59531" y="190500"/>
                </a:cubicBezTo>
                <a:cubicBezTo>
                  <a:pt x="89111" y="190500"/>
                  <a:pt x="113109" y="166501"/>
                  <a:pt x="113109" y="136922"/>
                </a:cubicBezTo>
                <a:cubicBezTo>
                  <a:pt x="113109" y="121072"/>
                  <a:pt x="106226" y="106784"/>
                  <a:pt x="95250" y="96999"/>
                </a:cubicBezTo>
                <a:lnTo>
                  <a:pt x="95250" y="35719"/>
                </a:lnTo>
                <a:cubicBezTo>
                  <a:pt x="95250" y="15999"/>
                  <a:pt x="79251" y="0"/>
                  <a:pt x="59531" y="0"/>
                </a:cubicBezTo>
                <a:close/>
                <a:moveTo>
                  <a:pt x="83344" y="136922"/>
                </a:moveTo>
                <a:cubicBezTo>
                  <a:pt x="83344" y="150056"/>
                  <a:pt x="72665" y="160734"/>
                  <a:pt x="59531" y="160734"/>
                </a:cubicBezTo>
                <a:cubicBezTo>
                  <a:pt x="46397" y="160734"/>
                  <a:pt x="35719" y="150056"/>
                  <a:pt x="35719" y="136922"/>
                </a:cubicBezTo>
                <a:cubicBezTo>
                  <a:pt x="35719" y="126913"/>
                  <a:pt x="41858" y="118356"/>
                  <a:pt x="50602" y="114858"/>
                </a:cubicBezTo>
                <a:lnTo>
                  <a:pt x="50602" y="80367"/>
                </a:lnTo>
                <a:cubicBezTo>
                  <a:pt x="50602" y="75419"/>
                  <a:pt x="54583" y="71438"/>
                  <a:pt x="59531" y="71438"/>
                </a:cubicBezTo>
                <a:cubicBezTo>
                  <a:pt x="64480" y="71438"/>
                  <a:pt x="68461" y="75419"/>
                  <a:pt x="68461" y="80367"/>
                </a:cubicBezTo>
                <a:lnTo>
                  <a:pt x="68461" y="114858"/>
                </a:lnTo>
                <a:cubicBezTo>
                  <a:pt x="77205" y="118393"/>
                  <a:pt x="83344" y="126950"/>
                  <a:pt x="83344" y="136922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973667" y="423333"/>
            <a:ext cx="4381500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实战案例：温度异常检测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73667" y="931333"/>
            <a:ext cx="14954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物联网场景下的状态管理综合应用：连续温度上升报警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6563" y="1439333"/>
            <a:ext cx="238125" cy="211667"/>
          </a:xfrm>
          <a:custGeom>
            <a:avLst/>
            <a:gdLst/>
            <a:ahLst/>
            <a:cxnLst/>
            <a:rect l="l" t="t" r="r" b="b"/>
            <a:pathLst>
              <a:path w="238125" h="211667">
                <a:moveTo>
                  <a:pt x="149159" y="496"/>
                </a:moveTo>
                <a:cubicBezTo>
                  <a:pt x="142131" y="-1530"/>
                  <a:pt x="134813" y="2563"/>
                  <a:pt x="132788" y="9591"/>
                </a:cubicBezTo>
                <a:lnTo>
                  <a:pt x="79871" y="194799"/>
                </a:lnTo>
                <a:cubicBezTo>
                  <a:pt x="77845" y="201827"/>
                  <a:pt x="81938" y="209145"/>
                  <a:pt x="88966" y="211171"/>
                </a:cubicBezTo>
                <a:cubicBezTo>
                  <a:pt x="95994" y="213196"/>
                  <a:pt x="103312" y="209104"/>
                  <a:pt x="105337" y="202076"/>
                </a:cubicBezTo>
                <a:lnTo>
                  <a:pt x="158254" y="16867"/>
                </a:lnTo>
                <a:cubicBezTo>
                  <a:pt x="160280" y="9839"/>
                  <a:pt x="156187" y="2522"/>
                  <a:pt x="149159" y="496"/>
                </a:cubicBezTo>
                <a:close/>
                <a:moveTo>
                  <a:pt x="175865" y="56761"/>
                </a:moveTo>
                <a:cubicBezTo>
                  <a:pt x="170698" y="61929"/>
                  <a:pt x="170698" y="70321"/>
                  <a:pt x="175865" y="75489"/>
                </a:cubicBezTo>
                <a:lnTo>
                  <a:pt x="206210" y="105833"/>
                </a:lnTo>
                <a:lnTo>
                  <a:pt x="175865" y="136178"/>
                </a:lnTo>
                <a:cubicBezTo>
                  <a:pt x="170698" y="141345"/>
                  <a:pt x="170698" y="149738"/>
                  <a:pt x="175865" y="154905"/>
                </a:cubicBezTo>
                <a:cubicBezTo>
                  <a:pt x="181033" y="160073"/>
                  <a:pt x="189425" y="160073"/>
                  <a:pt x="194593" y="154905"/>
                </a:cubicBezTo>
                <a:lnTo>
                  <a:pt x="234280" y="115218"/>
                </a:lnTo>
                <a:cubicBezTo>
                  <a:pt x="239448" y="110050"/>
                  <a:pt x="239448" y="101658"/>
                  <a:pt x="234280" y="96490"/>
                </a:cubicBezTo>
                <a:lnTo>
                  <a:pt x="194593" y="56803"/>
                </a:lnTo>
                <a:cubicBezTo>
                  <a:pt x="189425" y="51635"/>
                  <a:pt x="181033" y="51635"/>
                  <a:pt x="175865" y="56803"/>
                </a:cubicBezTo>
                <a:close/>
                <a:moveTo>
                  <a:pt x="62301" y="56761"/>
                </a:moveTo>
                <a:cubicBezTo>
                  <a:pt x="57133" y="51594"/>
                  <a:pt x="48741" y="51594"/>
                  <a:pt x="43574" y="56761"/>
                </a:cubicBezTo>
                <a:lnTo>
                  <a:pt x="3886" y="96449"/>
                </a:lnTo>
                <a:cubicBezTo>
                  <a:pt x="-1282" y="101617"/>
                  <a:pt x="-1282" y="110009"/>
                  <a:pt x="3886" y="115176"/>
                </a:cubicBezTo>
                <a:lnTo>
                  <a:pt x="43574" y="154864"/>
                </a:lnTo>
                <a:cubicBezTo>
                  <a:pt x="48741" y="160032"/>
                  <a:pt x="57133" y="160032"/>
                  <a:pt x="62301" y="154864"/>
                </a:cubicBezTo>
                <a:cubicBezTo>
                  <a:pt x="67469" y="149696"/>
                  <a:pt x="67469" y="141304"/>
                  <a:pt x="62301" y="136136"/>
                </a:cubicBezTo>
                <a:lnTo>
                  <a:pt x="31957" y="105833"/>
                </a:lnTo>
                <a:lnTo>
                  <a:pt x="62260" y="75489"/>
                </a:lnTo>
                <a:cubicBezTo>
                  <a:pt x="67427" y="70321"/>
                  <a:pt x="67427" y="61929"/>
                  <a:pt x="62260" y="56761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87917" y="1397000"/>
            <a:ext cx="90170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完整代码实现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3333" y="1820333"/>
            <a:ext cx="9175750" cy="7180792"/>
          </a:xfrm>
          <a:custGeom>
            <a:avLst/>
            <a:gdLst/>
            <a:ahLst/>
            <a:cxnLst/>
            <a:rect l="l" t="t" r="r" b="b"/>
            <a:pathLst>
              <a:path w="9175750" h="5926667">
                <a:moveTo>
                  <a:pt x="127008" y="0"/>
                </a:moveTo>
                <a:lnTo>
                  <a:pt x="9048742" y="0"/>
                </a:lnTo>
                <a:cubicBezTo>
                  <a:pt x="9118886" y="0"/>
                  <a:pt x="9175750" y="56864"/>
                  <a:pt x="9175750" y="127008"/>
                </a:cubicBezTo>
                <a:lnTo>
                  <a:pt x="9175750" y="5799658"/>
                </a:lnTo>
                <a:cubicBezTo>
                  <a:pt x="9175750" y="5869803"/>
                  <a:pt x="9118886" y="5926667"/>
                  <a:pt x="9048742" y="5926667"/>
                </a:cubicBezTo>
                <a:lnTo>
                  <a:pt x="127008" y="5926667"/>
                </a:lnTo>
                <a:cubicBezTo>
                  <a:pt x="56864" y="5926667"/>
                  <a:pt x="0" y="5869803"/>
                  <a:pt x="0" y="5799658"/>
                </a:cubicBezTo>
                <a:lnTo>
                  <a:pt x="0" y="127008"/>
                </a:lnTo>
                <a:cubicBezTo>
                  <a:pt x="0" y="56911"/>
                  <a:pt x="56911" y="0"/>
                  <a:pt x="12700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 numCol="2"/>
          <a:lstStyle/>
          <a:p>
            <a:r>
              <a:rPr lang="en-US" altLang="zh-CN" sz="800" dirty="0">
                <a:solidFill>
                  <a:schemeClr val="bg1"/>
                </a:solidFill>
              </a:rPr>
              <a:t>import </a:t>
            </a:r>
            <a:r>
              <a:rPr lang="en-US" altLang="zh-CN" sz="800" dirty="0" err="1">
                <a:solidFill>
                  <a:schemeClr val="bg1"/>
                </a:solidFill>
              </a:rPr>
              <a:t>org.apache.flink.api.common.state.ValueState</a:t>
            </a:r>
            <a:r>
              <a:rPr lang="en-US" altLang="zh-CN" sz="800" dirty="0">
                <a:solidFill>
                  <a:schemeClr val="bg1"/>
                </a:solidFill>
              </a:rPr>
              <a:t>;</a:t>
            </a:r>
          </a:p>
          <a:p>
            <a:r>
              <a:rPr lang="en-US" altLang="zh-CN" sz="800" dirty="0">
                <a:solidFill>
                  <a:schemeClr val="bg1"/>
                </a:solidFill>
              </a:rPr>
              <a:t>import </a:t>
            </a:r>
            <a:r>
              <a:rPr lang="en-US" altLang="zh-CN" sz="800" dirty="0" err="1">
                <a:solidFill>
                  <a:schemeClr val="bg1"/>
                </a:solidFill>
              </a:rPr>
              <a:t>org.apache.flink.api.common.state.ValueStateDescriptor</a:t>
            </a:r>
            <a:r>
              <a:rPr lang="en-US" altLang="zh-CN" sz="800" dirty="0">
                <a:solidFill>
                  <a:schemeClr val="bg1"/>
                </a:solidFill>
              </a:rPr>
              <a:t>;</a:t>
            </a:r>
          </a:p>
          <a:p>
            <a:r>
              <a:rPr lang="en-US" altLang="zh-CN" sz="800" dirty="0">
                <a:solidFill>
                  <a:schemeClr val="bg1"/>
                </a:solidFill>
              </a:rPr>
              <a:t>import </a:t>
            </a:r>
            <a:r>
              <a:rPr lang="en-US" altLang="zh-CN" sz="800" dirty="0" err="1">
                <a:solidFill>
                  <a:schemeClr val="bg1"/>
                </a:solidFill>
              </a:rPr>
              <a:t>org.apache.flink.configuration.Configuration</a:t>
            </a:r>
            <a:r>
              <a:rPr lang="en-US" altLang="zh-CN" sz="800" dirty="0">
                <a:solidFill>
                  <a:schemeClr val="bg1"/>
                </a:solidFill>
              </a:rPr>
              <a:t>;</a:t>
            </a:r>
          </a:p>
          <a:p>
            <a:r>
              <a:rPr lang="en-US" altLang="zh-CN" sz="800" dirty="0">
                <a:solidFill>
                  <a:schemeClr val="bg1"/>
                </a:solidFill>
              </a:rPr>
              <a:t>import </a:t>
            </a:r>
            <a:r>
              <a:rPr lang="en-US" altLang="zh-CN" sz="800" dirty="0" err="1">
                <a:solidFill>
                  <a:schemeClr val="bg1"/>
                </a:solidFill>
              </a:rPr>
              <a:t>org.apache.flink.streaming.api.datastream.DataStream</a:t>
            </a:r>
            <a:r>
              <a:rPr lang="en-US" altLang="zh-CN" sz="800" dirty="0">
                <a:solidFill>
                  <a:schemeClr val="bg1"/>
                </a:solidFill>
              </a:rPr>
              <a:t>;</a:t>
            </a:r>
          </a:p>
          <a:p>
            <a:r>
              <a:rPr lang="en-US" altLang="zh-CN" sz="800" dirty="0">
                <a:solidFill>
                  <a:schemeClr val="bg1"/>
                </a:solidFill>
              </a:rPr>
              <a:t>import org.apache.flink.streaming.api.environment.StreamExecutionEnvironment;</a:t>
            </a:r>
          </a:p>
          <a:p>
            <a:r>
              <a:rPr lang="en-US" altLang="zh-CN" sz="800" dirty="0">
                <a:solidFill>
                  <a:schemeClr val="bg1"/>
                </a:solidFill>
              </a:rPr>
              <a:t>import </a:t>
            </a:r>
            <a:r>
              <a:rPr lang="en-US" altLang="zh-CN" sz="800" dirty="0" err="1">
                <a:solidFill>
                  <a:schemeClr val="bg1"/>
                </a:solidFill>
              </a:rPr>
              <a:t>org.apache.flink.streaming.api.functions.KeyedProcessFunction</a:t>
            </a:r>
            <a:r>
              <a:rPr lang="en-US" altLang="zh-CN" sz="800" dirty="0">
                <a:solidFill>
                  <a:schemeClr val="bg1"/>
                </a:solidFill>
              </a:rPr>
              <a:t>;</a:t>
            </a:r>
          </a:p>
          <a:p>
            <a:r>
              <a:rPr lang="en-US" altLang="zh-CN" sz="800" dirty="0">
                <a:solidFill>
                  <a:schemeClr val="bg1"/>
                </a:solidFill>
              </a:rPr>
              <a:t>import </a:t>
            </a:r>
            <a:r>
              <a:rPr lang="en-US" altLang="zh-CN" sz="800" dirty="0" err="1">
                <a:solidFill>
                  <a:schemeClr val="bg1"/>
                </a:solidFill>
              </a:rPr>
              <a:t>org.apache.flink.streaming.api.functions.source.SourceFunction</a:t>
            </a:r>
            <a:r>
              <a:rPr lang="en-US" altLang="zh-CN" sz="800" dirty="0">
                <a:solidFill>
                  <a:schemeClr val="bg1"/>
                </a:solidFill>
              </a:rPr>
              <a:t>;</a:t>
            </a:r>
          </a:p>
          <a:p>
            <a:r>
              <a:rPr lang="en-US" altLang="zh-CN" sz="800" dirty="0">
                <a:solidFill>
                  <a:schemeClr val="bg1"/>
                </a:solidFill>
              </a:rPr>
              <a:t>import </a:t>
            </a:r>
            <a:r>
              <a:rPr lang="en-US" altLang="zh-CN" sz="800" dirty="0" err="1">
                <a:solidFill>
                  <a:schemeClr val="bg1"/>
                </a:solidFill>
              </a:rPr>
              <a:t>org.apache.flink.util.Collector</a:t>
            </a:r>
            <a:r>
              <a:rPr lang="en-US" altLang="zh-CN" sz="800" dirty="0">
                <a:solidFill>
                  <a:schemeClr val="bg1"/>
                </a:solidFill>
              </a:rPr>
              <a:t>;</a:t>
            </a:r>
          </a:p>
          <a:p>
            <a:r>
              <a:rPr lang="en-US" altLang="zh-CN" sz="800" dirty="0">
                <a:solidFill>
                  <a:schemeClr val="bg1"/>
                </a:solidFill>
              </a:rPr>
              <a:t>import </a:t>
            </a:r>
            <a:r>
              <a:rPr lang="en-US" altLang="zh-CN" sz="800" dirty="0" err="1">
                <a:solidFill>
                  <a:schemeClr val="bg1"/>
                </a:solidFill>
              </a:rPr>
              <a:t>java.util.Random</a:t>
            </a:r>
            <a:r>
              <a:rPr lang="en-US" altLang="zh-CN" sz="800" dirty="0">
                <a:solidFill>
                  <a:schemeClr val="bg1"/>
                </a:solidFill>
              </a:rPr>
              <a:t>;</a:t>
            </a:r>
          </a:p>
          <a:p>
            <a:endParaRPr lang="en-US" altLang="zh-CN" sz="800" dirty="0">
              <a:solidFill>
                <a:schemeClr val="bg1"/>
              </a:solidFill>
            </a:endParaRPr>
          </a:p>
          <a:p>
            <a:r>
              <a:rPr lang="en-US" altLang="zh-CN" sz="800" dirty="0">
                <a:solidFill>
                  <a:schemeClr val="bg1"/>
                </a:solidFill>
              </a:rPr>
              <a:t>public class </a:t>
            </a:r>
            <a:r>
              <a:rPr lang="en-US" altLang="zh-CN" sz="800" dirty="0" err="1">
                <a:solidFill>
                  <a:schemeClr val="bg1"/>
                </a:solidFill>
              </a:rPr>
              <a:t>TemperatureAlertJob</a:t>
            </a:r>
            <a:r>
              <a:rPr lang="en-US" altLang="zh-CN" sz="800" dirty="0">
                <a:solidFill>
                  <a:schemeClr val="bg1"/>
                </a:solidFill>
              </a:rPr>
              <a:t> {</a:t>
            </a:r>
          </a:p>
          <a:p>
            <a:endParaRPr lang="en-US" altLang="zh-CN" sz="800" dirty="0">
              <a:solidFill>
                <a:schemeClr val="bg1"/>
              </a:solidFill>
            </a:endParaRPr>
          </a:p>
          <a:p>
            <a:r>
              <a:rPr lang="en-US" altLang="zh-CN" sz="800" dirty="0">
                <a:solidFill>
                  <a:srgbClr val="00B050"/>
                </a:solidFill>
              </a:rPr>
              <a:t>    </a:t>
            </a:r>
            <a:r>
              <a:rPr lang="en-US" altLang="zh-CN" sz="800" i="1" dirty="0">
                <a:solidFill>
                  <a:srgbClr val="00B050"/>
                </a:solidFill>
              </a:rPr>
              <a:t>// 1. </a:t>
            </a:r>
            <a:r>
              <a:rPr lang="zh-CN" altLang="en-US" sz="800" i="1" dirty="0">
                <a:solidFill>
                  <a:srgbClr val="00B050"/>
                </a:solidFill>
              </a:rPr>
              <a:t>定义传感器数据实体</a:t>
            </a:r>
            <a:endParaRPr lang="zh-CN" altLang="en-US" sz="800" dirty="0">
              <a:solidFill>
                <a:srgbClr val="00B050"/>
              </a:solidFill>
            </a:endParaRPr>
          </a:p>
          <a:p>
            <a:r>
              <a:rPr lang="zh-CN" altLang="en-US" sz="800" dirty="0">
                <a:solidFill>
                  <a:schemeClr val="bg1"/>
                </a:solidFill>
              </a:rPr>
              <a:t>    </a:t>
            </a:r>
            <a:r>
              <a:rPr lang="en-US" altLang="zh-CN" sz="800" dirty="0">
                <a:solidFill>
                  <a:schemeClr val="bg1"/>
                </a:solidFill>
              </a:rPr>
              <a:t>public static class </a:t>
            </a:r>
            <a:r>
              <a:rPr lang="en-US" altLang="zh-CN" sz="800" dirty="0" err="1">
                <a:solidFill>
                  <a:schemeClr val="bg1"/>
                </a:solidFill>
              </a:rPr>
              <a:t>SensorReading</a:t>
            </a:r>
            <a:r>
              <a:rPr lang="en-US" altLang="zh-CN" sz="800" dirty="0">
                <a:solidFill>
                  <a:schemeClr val="bg1"/>
                </a:solidFill>
              </a:rPr>
              <a:t> {</a:t>
            </a:r>
          </a:p>
          <a:p>
            <a:r>
              <a:rPr lang="en-US" altLang="zh-CN" sz="800" dirty="0">
                <a:solidFill>
                  <a:schemeClr val="bg1"/>
                </a:solidFill>
              </a:rPr>
              <a:t>        public String id;</a:t>
            </a:r>
          </a:p>
          <a:p>
            <a:r>
              <a:rPr lang="en-US" altLang="zh-CN" sz="800" dirty="0">
                <a:solidFill>
                  <a:schemeClr val="bg1"/>
                </a:solidFill>
              </a:rPr>
              <a:t>        public long timestamp;</a:t>
            </a:r>
          </a:p>
          <a:p>
            <a:r>
              <a:rPr lang="en-US" altLang="zh-CN" sz="800" dirty="0">
                <a:solidFill>
                  <a:schemeClr val="bg1"/>
                </a:solidFill>
              </a:rPr>
              <a:t>        public double temperature;</a:t>
            </a:r>
          </a:p>
          <a:p>
            <a:endParaRPr lang="en-US" altLang="zh-CN" sz="800" dirty="0">
              <a:solidFill>
                <a:schemeClr val="bg1"/>
              </a:solidFill>
            </a:endParaRPr>
          </a:p>
          <a:p>
            <a:r>
              <a:rPr lang="en-US" altLang="zh-CN" sz="800" dirty="0">
                <a:solidFill>
                  <a:schemeClr val="bg1"/>
                </a:solidFill>
              </a:rPr>
              <a:t>        public </a:t>
            </a:r>
            <a:r>
              <a:rPr lang="en-US" altLang="zh-CN" sz="800" dirty="0" err="1">
                <a:solidFill>
                  <a:schemeClr val="bg1"/>
                </a:solidFill>
              </a:rPr>
              <a:t>SensorReading</a:t>
            </a:r>
            <a:r>
              <a:rPr lang="en-US" altLang="zh-CN" sz="800" dirty="0">
                <a:solidFill>
                  <a:schemeClr val="bg1"/>
                </a:solidFill>
              </a:rPr>
              <a:t>() {}</a:t>
            </a:r>
          </a:p>
          <a:p>
            <a:endParaRPr lang="en-US" altLang="zh-CN" sz="800" dirty="0">
              <a:solidFill>
                <a:schemeClr val="bg1"/>
              </a:solidFill>
            </a:endParaRPr>
          </a:p>
          <a:p>
            <a:r>
              <a:rPr lang="en-US" altLang="zh-CN" sz="800" dirty="0">
                <a:solidFill>
                  <a:schemeClr val="bg1"/>
                </a:solidFill>
              </a:rPr>
              <a:t>        public </a:t>
            </a:r>
            <a:r>
              <a:rPr lang="en-US" altLang="zh-CN" sz="800" dirty="0" err="1">
                <a:solidFill>
                  <a:schemeClr val="bg1"/>
                </a:solidFill>
              </a:rPr>
              <a:t>SensorReading</a:t>
            </a:r>
            <a:r>
              <a:rPr lang="en-US" altLang="zh-CN" sz="800" dirty="0">
                <a:solidFill>
                  <a:schemeClr val="bg1"/>
                </a:solidFill>
              </a:rPr>
              <a:t>(String id, long timestamp, double temperature) {</a:t>
            </a:r>
          </a:p>
          <a:p>
            <a:r>
              <a:rPr lang="en-US" altLang="zh-CN" sz="800" dirty="0">
                <a:solidFill>
                  <a:schemeClr val="bg1"/>
                </a:solidFill>
              </a:rPr>
              <a:t>            </a:t>
            </a:r>
            <a:r>
              <a:rPr lang="en-US" altLang="zh-CN" sz="800" dirty="0" err="1">
                <a:solidFill>
                  <a:schemeClr val="bg1"/>
                </a:solidFill>
              </a:rPr>
              <a:t>this.id</a:t>
            </a:r>
            <a:r>
              <a:rPr lang="en-US" altLang="zh-CN" sz="800" dirty="0">
                <a:solidFill>
                  <a:schemeClr val="bg1"/>
                </a:solidFill>
              </a:rPr>
              <a:t> = id;</a:t>
            </a:r>
          </a:p>
          <a:p>
            <a:r>
              <a:rPr lang="en-US" altLang="zh-CN" sz="800" dirty="0">
                <a:solidFill>
                  <a:schemeClr val="bg1"/>
                </a:solidFill>
              </a:rPr>
              <a:t>            </a:t>
            </a:r>
            <a:r>
              <a:rPr lang="en-US" altLang="zh-CN" sz="800" dirty="0" err="1">
                <a:solidFill>
                  <a:schemeClr val="bg1"/>
                </a:solidFill>
              </a:rPr>
              <a:t>this.timestamp</a:t>
            </a:r>
            <a:r>
              <a:rPr lang="en-US" altLang="zh-CN" sz="800" dirty="0">
                <a:solidFill>
                  <a:schemeClr val="bg1"/>
                </a:solidFill>
              </a:rPr>
              <a:t> = timestamp;</a:t>
            </a:r>
          </a:p>
          <a:p>
            <a:r>
              <a:rPr lang="en-US" altLang="zh-CN" sz="800" dirty="0">
                <a:solidFill>
                  <a:schemeClr val="bg1"/>
                </a:solidFill>
              </a:rPr>
              <a:t>            </a:t>
            </a:r>
            <a:r>
              <a:rPr lang="en-US" altLang="zh-CN" sz="800" dirty="0" err="1">
                <a:solidFill>
                  <a:schemeClr val="bg1"/>
                </a:solidFill>
              </a:rPr>
              <a:t>this.temperature</a:t>
            </a:r>
            <a:r>
              <a:rPr lang="en-US" altLang="zh-CN" sz="800" dirty="0">
                <a:solidFill>
                  <a:schemeClr val="bg1"/>
                </a:solidFill>
              </a:rPr>
              <a:t> = temperature;</a:t>
            </a:r>
          </a:p>
          <a:p>
            <a:r>
              <a:rPr lang="en-US" altLang="zh-CN" sz="800" dirty="0">
                <a:solidFill>
                  <a:schemeClr val="bg1"/>
                </a:solidFill>
              </a:rPr>
              <a:t>        }</a:t>
            </a:r>
          </a:p>
          <a:p>
            <a:r>
              <a:rPr lang="en-US" altLang="zh-CN" sz="800" dirty="0">
                <a:solidFill>
                  <a:schemeClr val="bg1"/>
                </a:solidFill>
              </a:rPr>
              <a:t>    }</a:t>
            </a:r>
          </a:p>
          <a:p>
            <a:endParaRPr lang="en-US" altLang="zh-CN" sz="800" dirty="0">
              <a:solidFill>
                <a:schemeClr val="bg1"/>
              </a:solidFill>
            </a:endParaRPr>
          </a:p>
          <a:p>
            <a:r>
              <a:rPr lang="en-US" altLang="zh-CN" sz="800" dirty="0">
                <a:solidFill>
                  <a:schemeClr val="bg1"/>
                </a:solidFill>
              </a:rPr>
              <a:t>    public static void main(String[] </a:t>
            </a:r>
            <a:r>
              <a:rPr lang="en-US" altLang="zh-CN" sz="800" dirty="0" err="1">
                <a:solidFill>
                  <a:schemeClr val="bg1"/>
                </a:solidFill>
              </a:rPr>
              <a:t>args</a:t>
            </a:r>
            <a:r>
              <a:rPr lang="en-US" altLang="zh-CN" sz="800" dirty="0">
                <a:solidFill>
                  <a:schemeClr val="bg1"/>
                </a:solidFill>
              </a:rPr>
              <a:t>) throws Exception {</a:t>
            </a:r>
          </a:p>
          <a:p>
            <a:r>
              <a:rPr lang="en-US" altLang="zh-CN" sz="800" dirty="0">
                <a:solidFill>
                  <a:schemeClr val="bg1"/>
                </a:solidFill>
              </a:rPr>
              <a:t>        </a:t>
            </a:r>
            <a:r>
              <a:rPr lang="en-US" altLang="zh-CN" sz="800" dirty="0" err="1">
                <a:solidFill>
                  <a:schemeClr val="bg1"/>
                </a:solidFill>
              </a:rPr>
              <a:t>StreamExecutionEnvironment</a:t>
            </a:r>
            <a:r>
              <a:rPr lang="en-US" altLang="zh-CN" sz="800" dirty="0">
                <a:solidFill>
                  <a:schemeClr val="bg1"/>
                </a:solidFill>
              </a:rPr>
              <a:t> env = </a:t>
            </a:r>
            <a:r>
              <a:rPr lang="en-US" altLang="zh-CN" sz="800" dirty="0" err="1">
                <a:solidFill>
                  <a:schemeClr val="bg1"/>
                </a:solidFill>
              </a:rPr>
              <a:t>StreamExecutionEnvironment.getExecutionEnvironment</a:t>
            </a:r>
            <a:r>
              <a:rPr lang="en-US" altLang="zh-CN" sz="800" dirty="0">
                <a:solidFill>
                  <a:schemeClr val="bg1"/>
                </a:solidFill>
              </a:rPr>
              <a:t>();</a:t>
            </a:r>
          </a:p>
          <a:p>
            <a:endParaRPr lang="en-US" altLang="zh-CN" sz="800" dirty="0">
              <a:solidFill>
                <a:schemeClr val="bg1"/>
              </a:solidFill>
            </a:endParaRPr>
          </a:p>
          <a:p>
            <a:r>
              <a:rPr lang="en-US" altLang="zh-CN" sz="800" dirty="0">
                <a:solidFill>
                  <a:srgbClr val="00B050"/>
                </a:solidFill>
              </a:rPr>
              <a:t>        </a:t>
            </a:r>
            <a:r>
              <a:rPr lang="en-US" altLang="zh-CN" sz="800" i="1" dirty="0">
                <a:solidFill>
                  <a:srgbClr val="00B050"/>
                </a:solidFill>
              </a:rPr>
              <a:t>// 2. </a:t>
            </a:r>
            <a:r>
              <a:rPr lang="zh-CN" altLang="en-US" sz="800" i="1" dirty="0">
                <a:solidFill>
                  <a:srgbClr val="00B050"/>
                </a:solidFill>
              </a:rPr>
              <a:t>获取数据流 </a:t>
            </a:r>
            <a:r>
              <a:rPr lang="en-US" altLang="zh-CN" sz="800" i="1" dirty="0">
                <a:solidFill>
                  <a:srgbClr val="00B050"/>
                </a:solidFill>
              </a:rPr>
              <a:t>(</a:t>
            </a:r>
            <a:r>
              <a:rPr lang="zh-CN" altLang="en-US" sz="800" i="1" dirty="0">
                <a:solidFill>
                  <a:srgbClr val="00B050"/>
                </a:solidFill>
              </a:rPr>
              <a:t>模拟传感器数据</a:t>
            </a:r>
            <a:r>
              <a:rPr lang="en-US" altLang="zh-CN" sz="800" i="1" dirty="0">
                <a:solidFill>
                  <a:srgbClr val="00B050"/>
                </a:solidFill>
              </a:rPr>
              <a:t>)</a:t>
            </a:r>
            <a:endParaRPr lang="zh-CN" altLang="en-US" sz="800" dirty="0">
              <a:solidFill>
                <a:srgbClr val="00B050"/>
              </a:solidFill>
            </a:endParaRPr>
          </a:p>
          <a:p>
            <a:r>
              <a:rPr lang="zh-CN" altLang="en-US" sz="800" dirty="0">
                <a:solidFill>
                  <a:schemeClr val="bg1"/>
                </a:solidFill>
              </a:rPr>
              <a:t>        </a:t>
            </a:r>
            <a:r>
              <a:rPr lang="en-US" altLang="zh-CN" sz="800" dirty="0">
                <a:solidFill>
                  <a:schemeClr val="bg1"/>
                </a:solidFill>
              </a:rPr>
              <a:t>DataStream&lt;</a:t>
            </a:r>
            <a:r>
              <a:rPr lang="en-US" altLang="zh-CN" sz="800" dirty="0" err="1">
                <a:solidFill>
                  <a:schemeClr val="bg1"/>
                </a:solidFill>
              </a:rPr>
              <a:t>SensorReading</a:t>
            </a:r>
            <a:r>
              <a:rPr lang="en-US" altLang="zh-CN" sz="800" dirty="0">
                <a:solidFill>
                  <a:schemeClr val="bg1"/>
                </a:solidFill>
              </a:rPr>
              <a:t>&gt; </a:t>
            </a:r>
            <a:r>
              <a:rPr lang="en-US" altLang="zh-CN" sz="800" dirty="0" err="1">
                <a:solidFill>
                  <a:schemeClr val="bg1"/>
                </a:solidFill>
              </a:rPr>
              <a:t>sensorStream</a:t>
            </a:r>
            <a:r>
              <a:rPr lang="en-US" altLang="zh-CN" sz="800" dirty="0">
                <a:solidFill>
                  <a:schemeClr val="bg1"/>
                </a:solidFill>
              </a:rPr>
              <a:t> = </a:t>
            </a:r>
            <a:r>
              <a:rPr lang="en-US" altLang="zh-CN" sz="800" dirty="0" err="1">
                <a:solidFill>
                  <a:schemeClr val="bg1"/>
                </a:solidFill>
              </a:rPr>
              <a:t>env.addSource</a:t>
            </a:r>
            <a:r>
              <a:rPr lang="en-US" altLang="zh-CN" sz="800" dirty="0">
                <a:solidFill>
                  <a:schemeClr val="bg1"/>
                </a:solidFill>
              </a:rPr>
              <a:t>(new </a:t>
            </a:r>
            <a:r>
              <a:rPr lang="en-US" altLang="zh-CN" sz="800" dirty="0" err="1">
                <a:solidFill>
                  <a:schemeClr val="bg1"/>
                </a:solidFill>
              </a:rPr>
              <a:t>MockSensorSource</a:t>
            </a:r>
            <a:r>
              <a:rPr lang="en-US" altLang="zh-CN" sz="800" dirty="0">
                <a:solidFill>
                  <a:schemeClr val="bg1"/>
                </a:solidFill>
              </a:rPr>
              <a:t>());</a:t>
            </a:r>
          </a:p>
          <a:p>
            <a:endParaRPr lang="en-US" altLang="zh-CN" sz="800" dirty="0">
              <a:solidFill>
                <a:schemeClr val="bg1"/>
              </a:solidFill>
            </a:endParaRPr>
          </a:p>
          <a:p>
            <a:r>
              <a:rPr lang="en-US" altLang="zh-CN" sz="800" dirty="0">
                <a:solidFill>
                  <a:srgbClr val="00B050"/>
                </a:solidFill>
              </a:rPr>
              <a:t>        </a:t>
            </a:r>
            <a:r>
              <a:rPr lang="en-US" altLang="zh-CN" sz="800" i="1" dirty="0">
                <a:solidFill>
                  <a:srgbClr val="00B050"/>
                </a:solidFill>
              </a:rPr>
              <a:t>// 3. </a:t>
            </a:r>
            <a:r>
              <a:rPr lang="zh-CN" altLang="en-US" sz="800" i="1" dirty="0">
                <a:solidFill>
                  <a:srgbClr val="00B050"/>
                </a:solidFill>
              </a:rPr>
              <a:t>核心处理逻辑：按传感器 </a:t>
            </a:r>
            <a:r>
              <a:rPr lang="en-US" altLang="zh-CN" sz="800" i="1" dirty="0">
                <a:solidFill>
                  <a:srgbClr val="00B050"/>
                </a:solidFill>
              </a:rPr>
              <a:t>ID </a:t>
            </a:r>
            <a:r>
              <a:rPr lang="zh-CN" altLang="en-US" sz="800" i="1" dirty="0">
                <a:solidFill>
                  <a:srgbClr val="00B050"/>
                </a:solidFill>
              </a:rPr>
              <a:t>分组 </a:t>
            </a:r>
            <a:r>
              <a:rPr lang="en-US" altLang="zh-CN" sz="800" i="1" dirty="0">
                <a:solidFill>
                  <a:srgbClr val="00B050"/>
                </a:solidFill>
              </a:rPr>
              <a:t>-&gt; </a:t>
            </a:r>
            <a:r>
              <a:rPr lang="zh-CN" altLang="en-US" sz="800" i="1" dirty="0">
                <a:solidFill>
                  <a:srgbClr val="00B050"/>
                </a:solidFill>
              </a:rPr>
              <a:t>状态检测</a:t>
            </a:r>
            <a:endParaRPr lang="zh-CN" altLang="en-US" sz="800" dirty="0">
              <a:solidFill>
                <a:srgbClr val="00B050"/>
              </a:solidFill>
            </a:endParaRPr>
          </a:p>
          <a:p>
            <a:r>
              <a:rPr lang="zh-CN" altLang="en-US" sz="800" dirty="0">
                <a:solidFill>
                  <a:schemeClr val="bg1"/>
                </a:solidFill>
              </a:rPr>
              <a:t>        </a:t>
            </a:r>
            <a:r>
              <a:rPr lang="en-US" altLang="zh-CN" sz="800" dirty="0">
                <a:solidFill>
                  <a:schemeClr val="bg1"/>
                </a:solidFill>
              </a:rPr>
              <a:t>DataStream&lt;String&gt; </a:t>
            </a:r>
            <a:r>
              <a:rPr lang="en-US" altLang="zh-CN" sz="800" dirty="0" err="1">
                <a:solidFill>
                  <a:schemeClr val="bg1"/>
                </a:solidFill>
              </a:rPr>
              <a:t>alertStream</a:t>
            </a:r>
            <a:r>
              <a:rPr lang="en-US" altLang="zh-CN" sz="800" dirty="0">
                <a:solidFill>
                  <a:schemeClr val="bg1"/>
                </a:solidFill>
              </a:rPr>
              <a:t> = </a:t>
            </a:r>
            <a:r>
              <a:rPr lang="en-US" altLang="zh-CN" sz="800" dirty="0" err="1">
                <a:solidFill>
                  <a:schemeClr val="bg1"/>
                </a:solidFill>
              </a:rPr>
              <a:t>sensorStream</a:t>
            </a:r>
            <a:endParaRPr lang="en-US" altLang="zh-CN" sz="800" dirty="0">
              <a:solidFill>
                <a:schemeClr val="bg1"/>
              </a:solidFill>
            </a:endParaRPr>
          </a:p>
          <a:p>
            <a:r>
              <a:rPr lang="en-US" altLang="zh-CN" sz="800" dirty="0">
                <a:solidFill>
                  <a:schemeClr val="bg1"/>
                </a:solidFill>
              </a:rPr>
              <a:t>            .</a:t>
            </a:r>
            <a:r>
              <a:rPr lang="en-US" altLang="zh-CN" sz="800" dirty="0" err="1">
                <a:solidFill>
                  <a:schemeClr val="bg1"/>
                </a:solidFill>
              </a:rPr>
              <a:t>keyBy</a:t>
            </a:r>
            <a:r>
              <a:rPr lang="en-US" altLang="zh-CN" sz="800" dirty="0">
                <a:solidFill>
                  <a:schemeClr val="bg1"/>
                </a:solidFill>
              </a:rPr>
              <a:t>(r -&gt; </a:t>
            </a:r>
            <a:r>
              <a:rPr lang="en-US" altLang="zh-CN" sz="800" dirty="0" err="1">
                <a:solidFill>
                  <a:schemeClr val="bg1"/>
                </a:solidFill>
              </a:rPr>
              <a:t>r.id</a:t>
            </a:r>
            <a:r>
              <a:rPr lang="en-US" altLang="zh-CN" sz="800" dirty="0">
                <a:solidFill>
                  <a:schemeClr val="bg1"/>
                </a:solidFill>
              </a:rPr>
              <a:t>)</a:t>
            </a:r>
          </a:p>
          <a:p>
            <a:r>
              <a:rPr lang="en-US" altLang="zh-CN" sz="800" dirty="0">
                <a:solidFill>
                  <a:schemeClr val="bg1"/>
                </a:solidFill>
              </a:rPr>
              <a:t>            .process(new </a:t>
            </a:r>
            <a:r>
              <a:rPr lang="en-US" altLang="zh-CN" sz="800" dirty="0" err="1">
                <a:solidFill>
                  <a:schemeClr val="bg1"/>
                </a:solidFill>
              </a:rPr>
              <a:t>TempAlertFunction</a:t>
            </a:r>
            <a:r>
              <a:rPr lang="en-US" altLang="zh-CN" sz="800" dirty="0">
                <a:solidFill>
                  <a:schemeClr val="bg1"/>
                </a:solidFill>
              </a:rPr>
              <a:t>());</a:t>
            </a:r>
          </a:p>
          <a:p>
            <a:endParaRPr lang="en-US" altLang="zh-CN" sz="800" dirty="0">
              <a:solidFill>
                <a:schemeClr val="bg1"/>
              </a:solidFill>
            </a:endParaRPr>
          </a:p>
          <a:p>
            <a:r>
              <a:rPr lang="en-US" altLang="zh-CN" sz="800" dirty="0">
                <a:solidFill>
                  <a:srgbClr val="00B050"/>
                </a:solidFill>
              </a:rPr>
              <a:t>        </a:t>
            </a:r>
            <a:r>
              <a:rPr lang="en-US" altLang="zh-CN" sz="800" i="1" dirty="0">
                <a:solidFill>
                  <a:srgbClr val="00B050"/>
                </a:solidFill>
              </a:rPr>
              <a:t>// 4. </a:t>
            </a:r>
            <a:r>
              <a:rPr lang="zh-CN" altLang="en-US" sz="800" i="1" dirty="0">
                <a:solidFill>
                  <a:srgbClr val="00B050"/>
                </a:solidFill>
              </a:rPr>
              <a:t>输出报警信息</a:t>
            </a:r>
            <a:endParaRPr lang="zh-CN" altLang="en-US" sz="800" dirty="0">
              <a:solidFill>
                <a:srgbClr val="00B050"/>
              </a:solidFill>
            </a:endParaRPr>
          </a:p>
          <a:p>
            <a:r>
              <a:rPr lang="zh-CN" altLang="en-US" sz="800" dirty="0">
                <a:solidFill>
                  <a:schemeClr val="bg1"/>
                </a:solidFill>
              </a:rPr>
              <a:t>        </a:t>
            </a:r>
            <a:r>
              <a:rPr lang="en-US" altLang="zh-CN" sz="800" dirty="0" err="1">
                <a:solidFill>
                  <a:schemeClr val="bg1"/>
                </a:solidFill>
              </a:rPr>
              <a:t>alertStream.print</a:t>
            </a:r>
            <a:r>
              <a:rPr lang="en-US" altLang="zh-CN" sz="800" dirty="0">
                <a:solidFill>
                  <a:schemeClr val="bg1"/>
                </a:solidFill>
              </a:rPr>
              <a:t>("Alert");</a:t>
            </a:r>
          </a:p>
          <a:p>
            <a:endParaRPr lang="en-US" altLang="zh-CN" sz="800" dirty="0">
              <a:solidFill>
                <a:schemeClr val="bg1"/>
              </a:solidFill>
            </a:endParaRPr>
          </a:p>
          <a:p>
            <a:r>
              <a:rPr lang="en-US" altLang="zh-CN" sz="800" dirty="0">
                <a:solidFill>
                  <a:schemeClr val="bg1"/>
                </a:solidFill>
              </a:rPr>
              <a:t>        </a:t>
            </a:r>
            <a:r>
              <a:rPr lang="en-US" altLang="zh-CN" sz="800" dirty="0" err="1">
                <a:solidFill>
                  <a:schemeClr val="bg1"/>
                </a:solidFill>
              </a:rPr>
              <a:t>env.execute</a:t>
            </a:r>
            <a:r>
              <a:rPr lang="en-US" altLang="zh-CN" sz="800" dirty="0">
                <a:solidFill>
                  <a:schemeClr val="bg1"/>
                </a:solidFill>
              </a:rPr>
              <a:t>("Temperature Alert Job");</a:t>
            </a:r>
          </a:p>
          <a:p>
            <a:r>
              <a:rPr lang="en-US" altLang="zh-CN" sz="800" dirty="0">
                <a:solidFill>
                  <a:schemeClr val="bg1"/>
                </a:solidFill>
              </a:rPr>
              <a:t>    }</a:t>
            </a:r>
          </a:p>
          <a:p>
            <a:endParaRPr lang="en-US" altLang="zh-CN" sz="800" dirty="0">
              <a:solidFill>
                <a:schemeClr val="bg1"/>
              </a:solidFill>
            </a:endParaRPr>
          </a:p>
          <a:p>
            <a:r>
              <a:rPr lang="en-US" altLang="zh-CN" sz="800" dirty="0">
                <a:solidFill>
                  <a:srgbClr val="00B050"/>
                </a:solidFill>
              </a:rPr>
              <a:t>    </a:t>
            </a:r>
            <a:r>
              <a:rPr lang="en-US" altLang="zh-CN" sz="800" i="1" dirty="0">
                <a:solidFill>
                  <a:srgbClr val="00B050"/>
                </a:solidFill>
              </a:rPr>
              <a:t>// </a:t>
            </a:r>
            <a:r>
              <a:rPr lang="zh-CN" altLang="en-US" sz="800" i="1" dirty="0">
                <a:solidFill>
                  <a:srgbClr val="00B050"/>
                </a:solidFill>
              </a:rPr>
              <a:t>状态处理函数</a:t>
            </a:r>
            <a:endParaRPr lang="zh-CN" altLang="en-US" sz="800" dirty="0">
              <a:solidFill>
                <a:srgbClr val="00B050"/>
              </a:solidFill>
            </a:endParaRPr>
          </a:p>
          <a:p>
            <a:r>
              <a:rPr lang="zh-CN" altLang="en-US" sz="800" dirty="0">
                <a:solidFill>
                  <a:schemeClr val="bg1"/>
                </a:solidFill>
              </a:rPr>
              <a:t>    </a:t>
            </a:r>
            <a:r>
              <a:rPr lang="en-US" altLang="zh-CN" sz="800" dirty="0">
                <a:solidFill>
                  <a:schemeClr val="bg1"/>
                </a:solidFill>
              </a:rPr>
              <a:t>public static class </a:t>
            </a:r>
            <a:r>
              <a:rPr lang="en-US" altLang="zh-CN" sz="800" dirty="0" err="1">
                <a:solidFill>
                  <a:schemeClr val="bg1"/>
                </a:solidFill>
              </a:rPr>
              <a:t>TempAlertFunction</a:t>
            </a:r>
            <a:r>
              <a:rPr lang="en-US" altLang="zh-CN" sz="800" dirty="0">
                <a:solidFill>
                  <a:schemeClr val="bg1"/>
                </a:solidFill>
              </a:rPr>
              <a:t> extends </a:t>
            </a:r>
            <a:r>
              <a:rPr lang="en-US" altLang="zh-CN" sz="800" dirty="0" err="1">
                <a:solidFill>
                  <a:schemeClr val="bg1"/>
                </a:solidFill>
              </a:rPr>
              <a:t>KeyedProcessFunction</a:t>
            </a:r>
            <a:r>
              <a:rPr lang="en-US" altLang="zh-CN" sz="800" dirty="0">
                <a:solidFill>
                  <a:schemeClr val="bg1"/>
                </a:solidFill>
              </a:rPr>
              <a:t>&lt;String, </a:t>
            </a:r>
            <a:r>
              <a:rPr lang="en-US" altLang="zh-CN" sz="800" dirty="0" err="1">
                <a:solidFill>
                  <a:schemeClr val="bg1"/>
                </a:solidFill>
              </a:rPr>
              <a:t>SensorReading</a:t>
            </a:r>
            <a:r>
              <a:rPr lang="en-US" altLang="zh-CN" sz="800" dirty="0">
                <a:solidFill>
                  <a:schemeClr val="bg1"/>
                </a:solidFill>
              </a:rPr>
              <a:t>, String&gt; {</a:t>
            </a:r>
          </a:p>
          <a:p>
            <a:r>
              <a:rPr lang="en-US" altLang="zh-CN" sz="800" dirty="0">
                <a:solidFill>
                  <a:srgbClr val="00B050"/>
                </a:solidFill>
              </a:rPr>
              <a:t>        </a:t>
            </a:r>
            <a:r>
              <a:rPr lang="en-US" altLang="zh-CN" sz="800" i="1" dirty="0">
                <a:solidFill>
                  <a:srgbClr val="00B050"/>
                </a:solidFill>
              </a:rPr>
              <a:t>// </a:t>
            </a:r>
            <a:r>
              <a:rPr lang="zh-CN" altLang="en-US" sz="800" i="1" dirty="0">
                <a:solidFill>
                  <a:srgbClr val="00B050"/>
                </a:solidFill>
              </a:rPr>
              <a:t>记录上一次温度</a:t>
            </a:r>
            <a:endParaRPr lang="zh-CN" altLang="en-US" sz="800" dirty="0">
              <a:solidFill>
                <a:srgbClr val="00B050"/>
              </a:solidFill>
            </a:endParaRPr>
          </a:p>
          <a:p>
            <a:r>
              <a:rPr lang="zh-CN" altLang="en-US" sz="800" dirty="0">
                <a:solidFill>
                  <a:schemeClr val="bg1"/>
                </a:solidFill>
              </a:rPr>
              <a:t>        </a:t>
            </a:r>
            <a:r>
              <a:rPr lang="en-US" altLang="zh-CN" sz="800" dirty="0">
                <a:solidFill>
                  <a:schemeClr val="bg1"/>
                </a:solidFill>
              </a:rPr>
              <a:t>private </a:t>
            </a:r>
            <a:r>
              <a:rPr lang="en-US" altLang="zh-CN" sz="800" dirty="0" err="1">
                <a:solidFill>
                  <a:schemeClr val="bg1"/>
                </a:solidFill>
              </a:rPr>
              <a:t>ValueState</a:t>
            </a:r>
            <a:r>
              <a:rPr lang="en-US" altLang="zh-CN" sz="800" dirty="0">
                <a:solidFill>
                  <a:schemeClr val="bg1"/>
                </a:solidFill>
              </a:rPr>
              <a:t>&lt;Double&gt; </a:t>
            </a:r>
            <a:r>
              <a:rPr lang="en-US" altLang="zh-CN" sz="800" dirty="0" err="1">
                <a:solidFill>
                  <a:schemeClr val="bg1"/>
                </a:solidFill>
              </a:rPr>
              <a:t>lastTempState</a:t>
            </a:r>
            <a:r>
              <a:rPr lang="en-US" altLang="zh-CN" sz="800" dirty="0">
                <a:solidFill>
                  <a:schemeClr val="bg1"/>
                </a:solidFill>
              </a:rPr>
              <a:t>;</a:t>
            </a:r>
          </a:p>
          <a:p>
            <a:r>
              <a:rPr lang="en-US" altLang="zh-CN" sz="800" dirty="0">
                <a:solidFill>
                  <a:srgbClr val="00B050"/>
                </a:solidFill>
              </a:rPr>
              <a:t>        </a:t>
            </a:r>
            <a:r>
              <a:rPr lang="en-US" altLang="zh-CN" sz="800" i="1" dirty="0">
                <a:solidFill>
                  <a:srgbClr val="00B050"/>
                </a:solidFill>
              </a:rPr>
              <a:t>// </a:t>
            </a:r>
            <a:r>
              <a:rPr lang="zh-CN" altLang="en-US" sz="800" i="1" dirty="0">
                <a:solidFill>
                  <a:srgbClr val="00B050"/>
                </a:solidFill>
              </a:rPr>
              <a:t>记录连续上升次数</a:t>
            </a:r>
            <a:endParaRPr lang="zh-CN" altLang="en-US" sz="800" dirty="0">
              <a:solidFill>
                <a:srgbClr val="00B050"/>
              </a:solidFill>
            </a:endParaRPr>
          </a:p>
          <a:p>
            <a:r>
              <a:rPr lang="zh-CN" altLang="en-US" sz="800" dirty="0">
                <a:solidFill>
                  <a:schemeClr val="bg1"/>
                </a:solidFill>
              </a:rPr>
              <a:t>        </a:t>
            </a:r>
            <a:r>
              <a:rPr lang="en-US" altLang="zh-CN" sz="800" dirty="0">
                <a:solidFill>
                  <a:schemeClr val="bg1"/>
                </a:solidFill>
              </a:rPr>
              <a:t>private </a:t>
            </a:r>
            <a:r>
              <a:rPr lang="en-US" altLang="zh-CN" sz="800" dirty="0" err="1">
                <a:solidFill>
                  <a:schemeClr val="bg1"/>
                </a:solidFill>
              </a:rPr>
              <a:t>ValueState</a:t>
            </a:r>
            <a:r>
              <a:rPr lang="en-US" altLang="zh-CN" sz="800" dirty="0">
                <a:solidFill>
                  <a:schemeClr val="bg1"/>
                </a:solidFill>
              </a:rPr>
              <a:t>&lt;Integer&gt; </a:t>
            </a:r>
            <a:r>
              <a:rPr lang="en-US" altLang="zh-CN" sz="800" dirty="0" err="1">
                <a:solidFill>
                  <a:schemeClr val="bg1"/>
                </a:solidFill>
              </a:rPr>
              <a:t>risingCountState</a:t>
            </a:r>
            <a:r>
              <a:rPr lang="en-US" altLang="zh-CN" sz="800" dirty="0">
                <a:solidFill>
                  <a:schemeClr val="bg1"/>
                </a:solidFill>
              </a:rPr>
              <a:t>;</a:t>
            </a:r>
          </a:p>
          <a:p>
            <a:endParaRPr lang="en-US" altLang="zh-CN" sz="800" dirty="0">
              <a:solidFill>
                <a:schemeClr val="bg1"/>
              </a:solidFill>
            </a:endParaRPr>
          </a:p>
          <a:p>
            <a:r>
              <a:rPr lang="en-US" altLang="zh-CN" sz="800" dirty="0">
                <a:solidFill>
                  <a:schemeClr val="bg1"/>
                </a:solidFill>
              </a:rPr>
              <a:t>        @Override</a:t>
            </a:r>
          </a:p>
          <a:p>
            <a:r>
              <a:rPr lang="en-US" altLang="zh-CN" sz="800" dirty="0">
                <a:solidFill>
                  <a:schemeClr val="bg1"/>
                </a:solidFill>
              </a:rPr>
              <a:t>        public void open(Configuration parameters) {</a:t>
            </a:r>
          </a:p>
          <a:p>
            <a:r>
              <a:rPr lang="en-US" altLang="zh-CN" sz="800" dirty="0">
                <a:solidFill>
                  <a:schemeClr val="bg1"/>
                </a:solidFill>
              </a:rPr>
              <a:t>            </a:t>
            </a:r>
            <a:r>
              <a:rPr lang="en-US" altLang="zh-CN" sz="800" dirty="0" err="1">
                <a:solidFill>
                  <a:schemeClr val="bg1"/>
                </a:solidFill>
              </a:rPr>
              <a:t>lastTempState</a:t>
            </a:r>
            <a:r>
              <a:rPr lang="en-US" altLang="zh-CN" sz="800" dirty="0">
                <a:solidFill>
                  <a:schemeClr val="bg1"/>
                </a:solidFill>
              </a:rPr>
              <a:t> = </a:t>
            </a:r>
            <a:r>
              <a:rPr lang="en-US" altLang="zh-CN" sz="800" dirty="0" err="1">
                <a:solidFill>
                  <a:schemeClr val="bg1"/>
                </a:solidFill>
              </a:rPr>
              <a:t>getRuntimeContext</a:t>
            </a:r>
            <a:r>
              <a:rPr lang="en-US" altLang="zh-CN" sz="800" dirty="0">
                <a:solidFill>
                  <a:schemeClr val="bg1"/>
                </a:solidFill>
              </a:rPr>
              <a:t>().</a:t>
            </a:r>
            <a:r>
              <a:rPr lang="en-US" altLang="zh-CN" sz="800" dirty="0" err="1">
                <a:solidFill>
                  <a:schemeClr val="bg1"/>
                </a:solidFill>
              </a:rPr>
              <a:t>getState</a:t>
            </a:r>
            <a:r>
              <a:rPr lang="en-US" altLang="zh-CN" sz="800" dirty="0">
                <a:solidFill>
                  <a:schemeClr val="bg1"/>
                </a:solidFill>
              </a:rPr>
              <a:t>(</a:t>
            </a:r>
          </a:p>
          <a:p>
            <a:r>
              <a:rPr lang="en-US" altLang="zh-CN" sz="800" dirty="0">
                <a:solidFill>
                  <a:schemeClr val="bg1"/>
                </a:solidFill>
              </a:rPr>
              <a:t>                new </a:t>
            </a:r>
            <a:r>
              <a:rPr lang="en-US" altLang="zh-CN" sz="800" dirty="0" err="1">
                <a:solidFill>
                  <a:schemeClr val="bg1"/>
                </a:solidFill>
              </a:rPr>
              <a:t>ValueStateDescriptor</a:t>
            </a:r>
            <a:r>
              <a:rPr lang="en-US" altLang="zh-CN" sz="800" dirty="0">
                <a:solidFill>
                  <a:schemeClr val="bg1"/>
                </a:solidFill>
              </a:rPr>
              <a:t>&lt;&gt;("last-temp", </a:t>
            </a:r>
            <a:r>
              <a:rPr lang="en-US" altLang="zh-CN" sz="800" dirty="0" err="1">
                <a:solidFill>
                  <a:schemeClr val="bg1"/>
                </a:solidFill>
              </a:rPr>
              <a:t>Double.class</a:t>
            </a:r>
            <a:r>
              <a:rPr lang="en-US" altLang="zh-CN" sz="800" dirty="0">
                <a:solidFill>
                  <a:schemeClr val="bg1"/>
                </a:solidFill>
              </a:rPr>
              <a:t>)</a:t>
            </a:r>
          </a:p>
          <a:p>
            <a:r>
              <a:rPr lang="en-US" altLang="zh-CN" sz="800" dirty="0">
                <a:solidFill>
                  <a:schemeClr val="bg1"/>
                </a:solidFill>
              </a:rPr>
              <a:t>            );</a:t>
            </a:r>
          </a:p>
          <a:p>
            <a:r>
              <a:rPr lang="en-US" altLang="zh-CN" sz="800" dirty="0">
                <a:solidFill>
                  <a:schemeClr val="bg1"/>
                </a:solidFill>
              </a:rPr>
              <a:t>            </a:t>
            </a:r>
            <a:r>
              <a:rPr lang="en-US" altLang="zh-CN" sz="800" dirty="0" err="1">
                <a:solidFill>
                  <a:schemeClr val="bg1"/>
                </a:solidFill>
              </a:rPr>
              <a:t>risingCountState</a:t>
            </a:r>
            <a:r>
              <a:rPr lang="en-US" altLang="zh-CN" sz="800" dirty="0">
                <a:solidFill>
                  <a:schemeClr val="bg1"/>
                </a:solidFill>
              </a:rPr>
              <a:t> = </a:t>
            </a:r>
            <a:r>
              <a:rPr lang="en-US" altLang="zh-CN" sz="800" dirty="0" err="1">
                <a:solidFill>
                  <a:schemeClr val="bg1"/>
                </a:solidFill>
              </a:rPr>
              <a:t>getRuntimeContext</a:t>
            </a:r>
            <a:r>
              <a:rPr lang="en-US" altLang="zh-CN" sz="800" dirty="0">
                <a:solidFill>
                  <a:schemeClr val="bg1"/>
                </a:solidFill>
              </a:rPr>
              <a:t>().</a:t>
            </a:r>
            <a:r>
              <a:rPr lang="en-US" altLang="zh-CN" sz="800" dirty="0" err="1">
                <a:solidFill>
                  <a:schemeClr val="bg1"/>
                </a:solidFill>
              </a:rPr>
              <a:t>getState</a:t>
            </a:r>
            <a:r>
              <a:rPr lang="en-US" altLang="zh-CN" sz="800" dirty="0">
                <a:solidFill>
                  <a:schemeClr val="bg1"/>
                </a:solidFill>
              </a:rPr>
              <a:t>(</a:t>
            </a:r>
          </a:p>
          <a:p>
            <a:r>
              <a:rPr lang="en-US" altLang="zh-CN" sz="800" dirty="0">
                <a:solidFill>
                  <a:schemeClr val="bg1"/>
                </a:solidFill>
              </a:rPr>
              <a:t>                new </a:t>
            </a:r>
            <a:r>
              <a:rPr lang="en-US" altLang="zh-CN" sz="800" dirty="0" err="1">
                <a:solidFill>
                  <a:schemeClr val="bg1"/>
                </a:solidFill>
              </a:rPr>
              <a:t>ValueStateDescriptor</a:t>
            </a:r>
            <a:r>
              <a:rPr lang="en-US" altLang="zh-CN" sz="800" dirty="0">
                <a:solidFill>
                  <a:schemeClr val="bg1"/>
                </a:solidFill>
              </a:rPr>
              <a:t>&lt;&gt;("rising-count", </a:t>
            </a:r>
            <a:r>
              <a:rPr lang="en-US" altLang="zh-CN" sz="800" dirty="0" err="1">
                <a:solidFill>
                  <a:schemeClr val="bg1"/>
                </a:solidFill>
              </a:rPr>
              <a:t>Integer.class</a:t>
            </a:r>
            <a:r>
              <a:rPr lang="en-US" altLang="zh-CN" sz="800" dirty="0">
                <a:solidFill>
                  <a:schemeClr val="bg1"/>
                </a:solidFill>
              </a:rPr>
              <a:t>)</a:t>
            </a:r>
          </a:p>
          <a:p>
            <a:r>
              <a:rPr lang="en-US" altLang="zh-CN" sz="800" dirty="0">
                <a:solidFill>
                  <a:schemeClr val="bg1"/>
                </a:solidFill>
              </a:rPr>
              <a:t>            );</a:t>
            </a:r>
          </a:p>
          <a:p>
            <a:r>
              <a:rPr lang="en-US" altLang="zh-CN" sz="800" dirty="0">
                <a:solidFill>
                  <a:schemeClr val="bg1"/>
                </a:solidFill>
              </a:rPr>
              <a:t>        }</a:t>
            </a:r>
          </a:p>
          <a:p>
            <a:endParaRPr lang="en-US" altLang="zh-CN" sz="800" dirty="0">
              <a:solidFill>
                <a:schemeClr val="bg1"/>
              </a:solidFill>
            </a:endParaRPr>
          </a:p>
          <a:p>
            <a:r>
              <a:rPr lang="en-US" altLang="zh-CN" sz="800" dirty="0">
                <a:solidFill>
                  <a:schemeClr val="bg1"/>
                </a:solidFill>
              </a:rPr>
              <a:t>        @Override</a:t>
            </a:r>
          </a:p>
          <a:p>
            <a:r>
              <a:rPr lang="en-US" altLang="zh-CN" sz="800" dirty="0">
                <a:solidFill>
                  <a:schemeClr val="bg1"/>
                </a:solidFill>
              </a:rPr>
              <a:t>        public void </a:t>
            </a:r>
            <a:r>
              <a:rPr lang="en-US" altLang="zh-CN" sz="800" dirty="0" err="1">
                <a:solidFill>
                  <a:schemeClr val="bg1"/>
                </a:solidFill>
              </a:rPr>
              <a:t>processElement</a:t>
            </a:r>
            <a:r>
              <a:rPr lang="en-US" altLang="zh-CN" sz="800" dirty="0">
                <a:solidFill>
                  <a:schemeClr val="bg1"/>
                </a:solidFill>
              </a:rPr>
              <a:t>(</a:t>
            </a:r>
            <a:r>
              <a:rPr lang="en-US" altLang="zh-CN" sz="800" dirty="0" err="1">
                <a:solidFill>
                  <a:schemeClr val="bg1"/>
                </a:solidFill>
              </a:rPr>
              <a:t>SensorReading</a:t>
            </a:r>
            <a:r>
              <a:rPr lang="en-US" altLang="zh-CN" sz="800" dirty="0">
                <a:solidFill>
                  <a:schemeClr val="bg1"/>
                </a:solidFill>
              </a:rPr>
              <a:t> value, Context </a:t>
            </a:r>
            <a:r>
              <a:rPr lang="en-US" altLang="zh-CN" sz="800" dirty="0" err="1">
                <a:solidFill>
                  <a:schemeClr val="bg1"/>
                </a:solidFill>
              </a:rPr>
              <a:t>ctx</a:t>
            </a:r>
            <a:r>
              <a:rPr lang="en-US" altLang="zh-CN" sz="800" dirty="0">
                <a:solidFill>
                  <a:schemeClr val="bg1"/>
                </a:solidFill>
              </a:rPr>
              <a:t>, Collector&lt;String&gt; out) throws Exception {</a:t>
            </a:r>
          </a:p>
          <a:p>
            <a:r>
              <a:rPr lang="en-US" altLang="zh-CN" sz="800" dirty="0">
                <a:solidFill>
                  <a:srgbClr val="00B050"/>
                </a:solidFill>
              </a:rPr>
              <a:t>            </a:t>
            </a:r>
            <a:r>
              <a:rPr lang="en-US" altLang="zh-CN" sz="800" i="1" dirty="0">
                <a:solidFill>
                  <a:srgbClr val="00B050"/>
                </a:solidFill>
              </a:rPr>
              <a:t>// </a:t>
            </a:r>
            <a:r>
              <a:rPr lang="zh-CN" altLang="en-US" sz="800" i="1" dirty="0">
                <a:solidFill>
                  <a:srgbClr val="00B050"/>
                </a:solidFill>
              </a:rPr>
              <a:t>获取状态，如果为空则初始化</a:t>
            </a:r>
            <a:endParaRPr lang="zh-CN" altLang="en-US" sz="800" dirty="0">
              <a:solidFill>
                <a:srgbClr val="00B050"/>
              </a:solidFill>
            </a:endParaRPr>
          </a:p>
          <a:p>
            <a:r>
              <a:rPr lang="zh-CN" altLang="en-US" sz="800" dirty="0">
                <a:solidFill>
                  <a:schemeClr val="bg1"/>
                </a:solidFill>
              </a:rPr>
              <a:t>            </a:t>
            </a:r>
            <a:r>
              <a:rPr lang="en-US" altLang="zh-CN" sz="800" dirty="0">
                <a:solidFill>
                  <a:schemeClr val="bg1"/>
                </a:solidFill>
              </a:rPr>
              <a:t>Double </a:t>
            </a:r>
            <a:r>
              <a:rPr lang="en-US" altLang="zh-CN" sz="800" dirty="0" err="1">
                <a:solidFill>
                  <a:schemeClr val="bg1"/>
                </a:solidFill>
              </a:rPr>
              <a:t>lastTemp</a:t>
            </a:r>
            <a:r>
              <a:rPr lang="en-US" altLang="zh-CN" sz="800" dirty="0">
                <a:solidFill>
                  <a:schemeClr val="bg1"/>
                </a:solidFill>
              </a:rPr>
              <a:t> = </a:t>
            </a:r>
            <a:r>
              <a:rPr lang="en-US" altLang="zh-CN" sz="800" dirty="0" err="1">
                <a:solidFill>
                  <a:schemeClr val="bg1"/>
                </a:solidFill>
              </a:rPr>
              <a:t>lastTempState.value</a:t>
            </a:r>
            <a:r>
              <a:rPr lang="en-US" altLang="zh-CN" sz="800" dirty="0">
                <a:solidFill>
                  <a:schemeClr val="bg1"/>
                </a:solidFill>
              </a:rPr>
              <a:t>();</a:t>
            </a:r>
          </a:p>
          <a:p>
            <a:r>
              <a:rPr lang="en-US" altLang="zh-CN" sz="800" dirty="0">
                <a:solidFill>
                  <a:schemeClr val="bg1"/>
                </a:solidFill>
              </a:rPr>
              <a:t>            if (</a:t>
            </a:r>
            <a:r>
              <a:rPr lang="en-US" altLang="zh-CN" sz="800" dirty="0" err="1">
                <a:solidFill>
                  <a:schemeClr val="bg1"/>
                </a:solidFill>
              </a:rPr>
              <a:t>lastTemp</a:t>
            </a:r>
            <a:r>
              <a:rPr lang="en-US" altLang="zh-CN" sz="800" dirty="0">
                <a:solidFill>
                  <a:schemeClr val="bg1"/>
                </a:solidFill>
              </a:rPr>
              <a:t> == null) </a:t>
            </a:r>
            <a:r>
              <a:rPr lang="en-US" altLang="zh-CN" sz="800" dirty="0" err="1">
                <a:solidFill>
                  <a:schemeClr val="bg1"/>
                </a:solidFill>
              </a:rPr>
              <a:t>lastTemp</a:t>
            </a:r>
            <a:r>
              <a:rPr lang="en-US" altLang="zh-CN" sz="800" dirty="0">
                <a:solidFill>
                  <a:schemeClr val="bg1"/>
                </a:solidFill>
              </a:rPr>
              <a:t> = </a:t>
            </a:r>
            <a:r>
              <a:rPr lang="en-US" altLang="zh-CN" sz="800" dirty="0" err="1">
                <a:solidFill>
                  <a:schemeClr val="bg1"/>
                </a:solidFill>
              </a:rPr>
              <a:t>Double.MAX_VALUE</a:t>
            </a:r>
            <a:r>
              <a:rPr lang="en-US" altLang="zh-CN" sz="800" dirty="0">
                <a:solidFill>
                  <a:schemeClr val="bg1"/>
                </a:solidFill>
              </a:rPr>
              <a:t>; </a:t>
            </a:r>
            <a:r>
              <a:rPr lang="en-US" altLang="zh-CN" sz="800" i="1" dirty="0">
                <a:solidFill>
                  <a:schemeClr val="bg1"/>
                </a:solidFill>
              </a:rPr>
              <a:t>// </a:t>
            </a:r>
            <a:r>
              <a:rPr lang="zh-CN" altLang="en-US" sz="800" i="1" dirty="0">
                <a:solidFill>
                  <a:schemeClr val="bg1"/>
                </a:solidFill>
              </a:rPr>
              <a:t>第一次不触发上升逻辑</a:t>
            </a:r>
            <a:endParaRPr lang="zh-CN" altLang="en-US" sz="800" dirty="0">
              <a:solidFill>
                <a:schemeClr val="bg1"/>
              </a:solidFill>
            </a:endParaRPr>
          </a:p>
          <a:p>
            <a:endParaRPr lang="zh-CN" altLang="en-US" sz="800" dirty="0">
              <a:solidFill>
                <a:schemeClr val="bg1"/>
              </a:solidFill>
            </a:endParaRPr>
          </a:p>
          <a:p>
            <a:r>
              <a:rPr lang="zh-CN" altLang="en-US" sz="800" dirty="0">
                <a:solidFill>
                  <a:schemeClr val="bg1"/>
                </a:solidFill>
              </a:rPr>
              <a:t>            </a:t>
            </a:r>
            <a:r>
              <a:rPr lang="en-US" altLang="zh-CN" sz="800" dirty="0">
                <a:solidFill>
                  <a:schemeClr val="bg1"/>
                </a:solidFill>
              </a:rPr>
              <a:t>Integer count = </a:t>
            </a:r>
            <a:r>
              <a:rPr lang="en-US" altLang="zh-CN" sz="800" dirty="0" err="1">
                <a:solidFill>
                  <a:schemeClr val="bg1"/>
                </a:solidFill>
              </a:rPr>
              <a:t>risingCountState.value</a:t>
            </a:r>
            <a:r>
              <a:rPr lang="en-US" altLang="zh-CN" sz="800" dirty="0">
                <a:solidFill>
                  <a:schemeClr val="bg1"/>
                </a:solidFill>
              </a:rPr>
              <a:t>();</a:t>
            </a:r>
          </a:p>
          <a:p>
            <a:r>
              <a:rPr lang="en-US" altLang="zh-CN" sz="800" dirty="0">
                <a:solidFill>
                  <a:schemeClr val="bg1"/>
                </a:solidFill>
              </a:rPr>
              <a:t>            if (count == null) count = 0;</a:t>
            </a:r>
          </a:p>
          <a:p>
            <a:endParaRPr lang="en-US" altLang="zh-CN" sz="800" dirty="0">
              <a:solidFill>
                <a:schemeClr val="bg1"/>
              </a:solidFill>
            </a:endParaRPr>
          </a:p>
          <a:p>
            <a:r>
              <a:rPr lang="en-US" altLang="zh-CN" sz="800" dirty="0">
                <a:solidFill>
                  <a:srgbClr val="00B050"/>
                </a:solidFill>
              </a:rPr>
              <a:t>            </a:t>
            </a:r>
            <a:r>
              <a:rPr lang="en-US" altLang="zh-CN" sz="800" i="1" dirty="0">
                <a:solidFill>
                  <a:srgbClr val="00B050"/>
                </a:solidFill>
              </a:rPr>
              <a:t>// </a:t>
            </a:r>
            <a:r>
              <a:rPr lang="zh-CN" altLang="en-US" sz="800" i="1" dirty="0">
                <a:solidFill>
                  <a:srgbClr val="00B050"/>
                </a:solidFill>
              </a:rPr>
              <a:t>核心判断逻辑</a:t>
            </a:r>
            <a:endParaRPr lang="zh-CN" altLang="en-US" sz="800" dirty="0">
              <a:solidFill>
                <a:srgbClr val="00B050"/>
              </a:solidFill>
            </a:endParaRPr>
          </a:p>
          <a:p>
            <a:r>
              <a:rPr lang="zh-CN" altLang="en-US" sz="800" dirty="0">
                <a:solidFill>
                  <a:schemeClr val="bg1"/>
                </a:solidFill>
              </a:rPr>
              <a:t>            </a:t>
            </a:r>
            <a:r>
              <a:rPr lang="en-US" altLang="zh-CN" sz="800" dirty="0">
                <a:solidFill>
                  <a:schemeClr val="bg1"/>
                </a:solidFill>
              </a:rPr>
              <a:t>if (</a:t>
            </a:r>
            <a:r>
              <a:rPr lang="en-US" altLang="zh-CN" sz="800" dirty="0" err="1">
                <a:solidFill>
                  <a:schemeClr val="bg1"/>
                </a:solidFill>
              </a:rPr>
              <a:t>value.temperature</a:t>
            </a:r>
            <a:r>
              <a:rPr lang="en-US" altLang="zh-CN" sz="800" dirty="0">
                <a:solidFill>
                  <a:schemeClr val="bg1"/>
                </a:solidFill>
              </a:rPr>
              <a:t> &gt; </a:t>
            </a:r>
            <a:r>
              <a:rPr lang="en-US" altLang="zh-CN" sz="800" dirty="0" err="1">
                <a:solidFill>
                  <a:schemeClr val="bg1"/>
                </a:solidFill>
              </a:rPr>
              <a:t>lastTemp</a:t>
            </a:r>
            <a:r>
              <a:rPr lang="en-US" altLang="zh-CN" sz="800" dirty="0">
                <a:solidFill>
                  <a:schemeClr val="bg1"/>
                </a:solidFill>
              </a:rPr>
              <a:t>) {</a:t>
            </a:r>
          </a:p>
          <a:p>
            <a:r>
              <a:rPr lang="en-US" altLang="zh-CN" sz="800" dirty="0">
                <a:solidFill>
                  <a:schemeClr val="bg1"/>
                </a:solidFill>
              </a:rPr>
              <a:t>                count++;</a:t>
            </a:r>
          </a:p>
          <a:p>
            <a:r>
              <a:rPr lang="en-US" altLang="zh-CN" sz="800" dirty="0">
                <a:solidFill>
                  <a:schemeClr val="bg1"/>
                </a:solidFill>
              </a:rPr>
              <a:t>            } else {</a:t>
            </a:r>
          </a:p>
          <a:p>
            <a:r>
              <a:rPr lang="en-US" altLang="zh-CN" sz="800" dirty="0">
                <a:solidFill>
                  <a:schemeClr val="bg1"/>
                </a:solidFill>
              </a:rPr>
              <a:t>                count = 0; </a:t>
            </a:r>
            <a:r>
              <a:rPr lang="en-US" altLang="zh-CN" sz="800" i="1" dirty="0">
                <a:solidFill>
                  <a:schemeClr val="bg1"/>
                </a:solidFill>
              </a:rPr>
              <a:t>// </a:t>
            </a:r>
            <a:r>
              <a:rPr lang="zh-CN" altLang="en-US" sz="800" i="1" dirty="0">
                <a:solidFill>
                  <a:schemeClr val="bg1"/>
                </a:solidFill>
              </a:rPr>
              <a:t>温度下降或不变，重置计数</a:t>
            </a:r>
            <a:endParaRPr lang="zh-CN" altLang="en-US" sz="800" dirty="0">
              <a:solidFill>
                <a:schemeClr val="bg1"/>
              </a:solidFill>
            </a:endParaRPr>
          </a:p>
          <a:p>
            <a:r>
              <a:rPr lang="zh-CN" altLang="en-US" sz="800" dirty="0">
                <a:solidFill>
                  <a:schemeClr val="bg1"/>
                </a:solidFill>
              </a:rPr>
              <a:t>            </a:t>
            </a:r>
            <a:r>
              <a:rPr lang="en-US" altLang="zh-CN" sz="800" dirty="0">
                <a:solidFill>
                  <a:schemeClr val="bg1"/>
                </a:solidFill>
              </a:rPr>
              <a:t>}</a:t>
            </a:r>
          </a:p>
          <a:p>
            <a:endParaRPr lang="en-US" altLang="zh-CN" sz="800" dirty="0">
              <a:solidFill>
                <a:schemeClr val="bg1"/>
              </a:solidFill>
            </a:endParaRPr>
          </a:p>
          <a:p>
            <a:r>
              <a:rPr lang="en-US" altLang="zh-CN" sz="800" dirty="0">
                <a:solidFill>
                  <a:srgbClr val="00B050"/>
                </a:solidFill>
              </a:rPr>
              <a:t>            </a:t>
            </a:r>
            <a:r>
              <a:rPr lang="en-US" altLang="zh-CN" sz="800" i="1" dirty="0">
                <a:solidFill>
                  <a:srgbClr val="00B050"/>
                </a:solidFill>
              </a:rPr>
              <a:t>// </a:t>
            </a:r>
            <a:r>
              <a:rPr lang="zh-CN" altLang="en-US" sz="800" i="1" dirty="0">
                <a:solidFill>
                  <a:srgbClr val="00B050"/>
                </a:solidFill>
              </a:rPr>
              <a:t>达到阈值，触发报警</a:t>
            </a:r>
            <a:endParaRPr lang="zh-CN" altLang="en-US" sz="800" dirty="0">
              <a:solidFill>
                <a:srgbClr val="00B050"/>
              </a:solidFill>
            </a:endParaRPr>
          </a:p>
          <a:p>
            <a:r>
              <a:rPr lang="zh-CN" altLang="en-US" sz="800" dirty="0">
                <a:solidFill>
                  <a:schemeClr val="bg1"/>
                </a:solidFill>
              </a:rPr>
              <a:t>            </a:t>
            </a:r>
            <a:r>
              <a:rPr lang="en-US" altLang="zh-CN" sz="800" dirty="0">
                <a:solidFill>
                  <a:schemeClr val="bg1"/>
                </a:solidFill>
              </a:rPr>
              <a:t>if (count &gt;= 3) {</a:t>
            </a:r>
          </a:p>
          <a:p>
            <a:r>
              <a:rPr lang="en-US" altLang="zh-CN" sz="800" dirty="0">
                <a:solidFill>
                  <a:schemeClr val="bg1"/>
                </a:solidFill>
              </a:rPr>
              <a:t>                </a:t>
            </a:r>
            <a:r>
              <a:rPr lang="en-US" altLang="zh-CN" sz="800" dirty="0" err="1">
                <a:solidFill>
                  <a:schemeClr val="bg1"/>
                </a:solidFill>
              </a:rPr>
              <a:t>out.collect</a:t>
            </a:r>
            <a:r>
              <a:rPr lang="en-US" altLang="zh-CN" sz="800" dirty="0">
                <a:solidFill>
                  <a:schemeClr val="bg1"/>
                </a:solidFill>
              </a:rPr>
              <a:t>("WARNING: Sensor " + </a:t>
            </a:r>
            <a:r>
              <a:rPr lang="en-US" altLang="zh-CN" sz="800" dirty="0" err="1">
                <a:solidFill>
                  <a:schemeClr val="bg1"/>
                </a:solidFill>
              </a:rPr>
              <a:t>value.id</a:t>
            </a:r>
            <a:r>
              <a:rPr lang="en-US" altLang="zh-CN" sz="800" dirty="0">
                <a:solidFill>
                  <a:schemeClr val="bg1"/>
                </a:solidFill>
              </a:rPr>
              <a:t> + " rising for 3 consecutive times! Current: " + </a:t>
            </a:r>
            <a:r>
              <a:rPr lang="en-US" altLang="zh-CN" sz="800" dirty="0" err="1">
                <a:solidFill>
                  <a:schemeClr val="bg1"/>
                </a:solidFill>
              </a:rPr>
              <a:t>value.temperature</a:t>
            </a:r>
            <a:r>
              <a:rPr lang="en-US" altLang="zh-CN" sz="800" dirty="0">
                <a:solidFill>
                  <a:schemeClr val="bg1"/>
                </a:solidFill>
              </a:rPr>
              <a:t>);</a:t>
            </a:r>
          </a:p>
          <a:p>
            <a:r>
              <a:rPr lang="en-US" altLang="zh-CN" sz="800" dirty="0">
                <a:solidFill>
                  <a:schemeClr val="bg1"/>
                </a:solidFill>
              </a:rPr>
              <a:t>                count = 0; </a:t>
            </a:r>
            <a:r>
              <a:rPr lang="en-US" altLang="zh-CN" sz="800" i="1" dirty="0">
                <a:solidFill>
                  <a:schemeClr val="bg1"/>
                </a:solidFill>
              </a:rPr>
              <a:t>// </a:t>
            </a:r>
            <a:r>
              <a:rPr lang="zh-CN" altLang="en-US" sz="800" i="1" dirty="0">
                <a:solidFill>
                  <a:schemeClr val="bg1"/>
                </a:solidFill>
              </a:rPr>
              <a:t>报警后重置，避免重复报警</a:t>
            </a:r>
            <a:endParaRPr lang="zh-CN" altLang="en-US" sz="800" dirty="0">
              <a:solidFill>
                <a:schemeClr val="bg1"/>
              </a:solidFill>
            </a:endParaRPr>
          </a:p>
          <a:p>
            <a:r>
              <a:rPr lang="zh-CN" altLang="en-US" sz="800" dirty="0">
                <a:solidFill>
                  <a:schemeClr val="bg1"/>
                </a:solidFill>
              </a:rPr>
              <a:t>            </a:t>
            </a:r>
            <a:r>
              <a:rPr lang="en-US" altLang="zh-CN" sz="800" dirty="0">
                <a:solidFill>
                  <a:schemeClr val="bg1"/>
                </a:solidFill>
              </a:rPr>
              <a:t>}</a:t>
            </a:r>
          </a:p>
          <a:p>
            <a:endParaRPr lang="en-US" altLang="zh-CN" sz="800" dirty="0">
              <a:solidFill>
                <a:schemeClr val="bg1"/>
              </a:solidFill>
            </a:endParaRPr>
          </a:p>
          <a:p>
            <a:r>
              <a:rPr lang="en-US" altLang="zh-CN" sz="800" dirty="0">
                <a:solidFill>
                  <a:srgbClr val="00B050"/>
                </a:solidFill>
              </a:rPr>
              <a:t>            </a:t>
            </a:r>
            <a:r>
              <a:rPr lang="en-US" altLang="zh-CN" sz="800" i="1" dirty="0">
                <a:solidFill>
                  <a:srgbClr val="00B050"/>
                </a:solidFill>
              </a:rPr>
              <a:t>// </a:t>
            </a:r>
            <a:r>
              <a:rPr lang="zh-CN" altLang="en-US" sz="800" i="1" dirty="0">
                <a:solidFill>
                  <a:srgbClr val="00B050"/>
                </a:solidFill>
              </a:rPr>
              <a:t>更新状态</a:t>
            </a:r>
            <a:endParaRPr lang="zh-CN" altLang="en-US" sz="800" dirty="0">
              <a:solidFill>
                <a:srgbClr val="00B050"/>
              </a:solidFill>
            </a:endParaRPr>
          </a:p>
          <a:p>
            <a:r>
              <a:rPr lang="zh-CN" altLang="en-US" sz="800" dirty="0">
                <a:solidFill>
                  <a:schemeClr val="bg1"/>
                </a:solidFill>
              </a:rPr>
              <a:t>            </a:t>
            </a:r>
            <a:r>
              <a:rPr lang="en-US" altLang="zh-CN" sz="800" dirty="0" err="1">
                <a:solidFill>
                  <a:schemeClr val="bg1"/>
                </a:solidFill>
              </a:rPr>
              <a:t>lastTempState.update</a:t>
            </a:r>
            <a:r>
              <a:rPr lang="en-US" altLang="zh-CN" sz="800" dirty="0">
                <a:solidFill>
                  <a:schemeClr val="bg1"/>
                </a:solidFill>
              </a:rPr>
              <a:t>(</a:t>
            </a:r>
            <a:r>
              <a:rPr lang="en-US" altLang="zh-CN" sz="800" dirty="0" err="1">
                <a:solidFill>
                  <a:schemeClr val="bg1"/>
                </a:solidFill>
              </a:rPr>
              <a:t>value.temperature</a:t>
            </a:r>
            <a:r>
              <a:rPr lang="en-US" altLang="zh-CN" sz="800" dirty="0">
                <a:solidFill>
                  <a:schemeClr val="bg1"/>
                </a:solidFill>
              </a:rPr>
              <a:t>);</a:t>
            </a:r>
          </a:p>
          <a:p>
            <a:r>
              <a:rPr lang="en-US" altLang="zh-CN" sz="800" dirty="0">
                <a:solidFill>
                  <a:schemeClr val="bg1"/>
                </a:solidFill>
              </a:rPr>
              <a:t>            </a:t>
            </a:r>
            <a:r>
              <a:rPr lang="en-US" altLang="zh-CN" sz="800" dirty="0" err="1">
                <a:solidFill>
                  <a:schemeClr val="bg1"/>
                </a:solidFill>
              </a:rPr>
              <a:t>risingCountState.update</a:t>
            </a:r>
            <a:r>
              <a:rPr lang="en-US" altLang="zh-CN" sz="800" dirty="0">
                <a:solidFill>
                  <a:schemeClr val="bg1"/>
                </a:solidFill>
              </a:rPr>
              <a:t>(count);</a:t>
            </a:r>
          </a:p>
          <a:p>
            <a:r>
              <a:rPr lang="en-US" altLang="zh-CN" sz="800" dirty="0">
                <a:solidFill>
                  <a:schemeClr val="bg1"/>
                </a:solidFill>
              </a:rPr>
              <a:t>        }</a:t>
            </a:r>
          </a:p>
          <a:p>
            <a:r>
              <a:rPr lang="en-US" altLang="zh-CN" sz="800" dirty="0">
                <a:solidFill>
                  <a:schemeClr val="bg1"/>
                </a:solidFill>
              </a:rPr>
              <a:t>    }</a:t>
            </a:r>
          </a:p>
          <a:p>
            <a:endParaRPr lang="en-US" altLang="zh-CN" sz="800" dirty="0">
              <a:solidFill>
                <a:schemeClr val="bg1"/>
              </a:solidFill>
            </a:endParaRPr>
          </a:p>
          <a:p>
            <a:r>
              <a:rPr lang="en-US" altLang="zh-CN" sz="800" dirty="0">
                <a:solidFill>
                  <a:srgbClr val="00B050"/>
                </a:solidFill>
              </a:rPr>
              <a:t>    </a:t>
            </a:r>
            <a:r>
              <a:rPr lang="en-US" altLang="zh-CN" sz="800" i="1" dirty="0">
                <a:solidFill>
                  <a:srgbClr val="00B050"/>
                </a:solidFill>
              </a:rPr>
              <a:t>// </a:t>
            </a:r>
            <a:r>
              <a:rPr lang="zh-CN" altLang="en-US" sz="800" i="1" dirty="0">
                <a:solidFill>
                  <a:srgbClr val="00B050"/>
                </a:solidFill>
              </a:rPr>
              <a:t>自定义模拟数据源</a:t>
            </a:r>
            <a:endParaRPr lang="zh-CN" altLang="en-US" sz="800" dirty="0">
              <a:solidFill>
                <a:srgbClr val="00B050"/>
              </a:solidFill>
            </a:endParaRPr>
          </a:p>
          <a:p>
            <a:r>
              <a:rPr lang="zh-CN" altLang="en-US" sz="800" dirty="0">
                <a:solidFill>
                  <a:schemeClr val="bg1"/>
                </a:solidFill>
              </a:rPr>
              <a:t>    </a:t>
            </a:r>
            <a:r>
              <a:rPr lang="en-US" altLang="zh-CN" sz="800" dirty="0">
                <a:solidFill>
                  <a:schemeClr val="bg1"/>
                </a:solidFill>
              </a:rPr>
              <a:t>public static class </a:t>
            </a:r>
            <a:r>
              <a:rPr lang="en-US" altLang="zh-CN" sz="800" dirty="0" err="1">
                <a:solidFill>
                  <a:schemeClr val="bg1"/>
                </a:solidFill>
              </a:rPr>
              <a:t>MockSensorSource</a:t>
            </a:r>
            <a:r>
              <a:rPr lang="en-US" altLang="zh-CN" sz="800" dirty="0">
                <a:solidFill>
                  <a:schemeClr val="bg1"/>
                </a:solidFill>
              </a:rPr>
              <a:t> implements </a:t>
            </a:r>
            <a:r>
              <a:rPr lang="en-US" altLang="zh-CN" sz="800" dirty="0" err="1">
                <a:solidFill>
                  <a:schemeClr val="bg1"/>
                </a:solidFill>
              </a:rPr>
              <a:t>SourceFunction</a:t>
            </a:r>
            <a:r>
              <a:rPr lang="en-US" altLang="zh-CN" sz="800" dirty="0">
                <a:solidFill>
                  <a:schemeClr val="bg1"/>
                </a:solidFill>
              </a:rPr>
              <a:t>&lt;</a:t>
            </a:r>
            <a:r>
              <a:rPr lang="en-US" altLang="zh-CN" sz="800" dirty="0" err="1">
                <a:solidFill>
                  <a:schemeClr val="bg1"/>
                </a:solidFill>
              </a:rPr>
              <a:t>SensorReading</a:t>
            </a:r>
            <a:r>
              <a:rPr lang="en-US" altLang="zh-CN" sz="800" dirty="0">
                <a:solidFill>
                  <a:schemeClr val="bg1"/>
                </a:solidFill>
              </a:rPr>
              <a:t>&gt; {</a:t>
            </a:r>
          </a:p>
          <a:p>
            <a:r>
              <a:rPr lang="en-US" altLang="zh-CN" sz="800" dirty="0">
                <a:solidFill>
                  <a:schemeClr val="bg1"/>
                </a:solidFill>
              </a:rPr>
              <a:t>        private </a:t>
            </a:r>
            <a:r>
              <a:rPr lang="en-US" altLang="zh-CN" sz="800" dirty="0" err="1">
                <a:solidFill>
                  <a:schemeClr val="bg1"/>
                </a:solidFill>
              </a:rPr>
              <a:t>boolean</a:t>
            </a:r>
            <a:r>
              <a:rPr lang="en-US" altLang="zh-CN" sz="800" dirty="0">
                <a:solidFill>
                  <a:schemeClr val="bg1"/>
                </a:solidFill>
              </a:rPr>
              <a:t> </a:t>
            </a:r>
            <a:r>
              <a:rPr lang="en-US" altLang="zh-CN" sz="800" dirty="0" err="1">
                <a:solidFill>
                  <a:schemeClr val="bg1"/>
                </a:solidFill>
              </a:rPr>
              <a:t>isRunning</a:t>
            </a:r>
            <a:r>
              <a:rPr lang="en-US" altLang="zh-CN" sz="800" dirty="0">
                <a:solidFill>
                  <a:schemeClr val="bg1"/>
                </a:solidFill>
              </a:rPr>
              <a:t> = true;</a:t>
            </a:r>
          </a:p>
          <a:p>
            <a:r>
              <a:rPr lang="en-US" altLang="zh-CN" sz="800" dirty="0">
                <a:solidFill>
                  <a:schemeClr val="bg1"/>
                </a:solidFill>
              </a:rPr>
              <a:t>        private Random random = new Random();</a:t>
            </a:r>
          </a:p>
          <a:p>
            <a:endParaRPr lang="en-US" altLang="zh-CN" sz="800" dirty="0">
              <a:solidFill>
                <a:schemeClr val="bg1"/>
              </a:solidFill>
            </a:endParaRPr>
          </a:p>
          <a:p>
            <a:r>
              <a:rPr lang="en-US" altLang="zh-CN" sz="800" dirty="0">
                <a:solidFill>
                  <a:schemeClr val="bg1"/>
                </a:solidFill>
              </a:rPr>
              <a:t>        @Override</a:t>
            </a:r>
          </a:p>
          <a:p>
            <a:r>
              <a:rPr lang="en-US" altLang="zh-CN" sz="800" dirty="0">
                <a:solidFill>
                  <a:schemeClr val="bg1"/>
                </a:solidFill>
              </a:rPr>
              <a:t>        public void run(</a:t>
            </a:r>
            <a:r>
              <a:rPr lang="en-US" altLang="zh-CN" sz="800" dirty="0" err="1">
                <a:solidFill>
                  <a:schemeClr val="bg1"/>
                </a:solidFill>
              </a:rPr>
              <a:t>SourceContext</a:t>
            </a:r>
            <a:r>
              <a:rPr lang="en-US" altLang="zh-CN" sz="800" dirty="0">
                <a:solidFill>
                  <a:schemeClr val="bg1"/>
                </a:solidFill>
              </a:rPr>
              <a:t>&lt;</a:t>
            </a:r>
            <a:r>
              <a:rPr lang="en-US" altLang="zh-CN" sz="800" dirty="0" err="1">
                <a:solidFill>
                  <a:schemeClr val="bg1"/>
                </a:solidFill>
              </a:rPr>
              <a:t>SensorReading</a:t>
            </a:r>
            <a:r>
              <a:rPr lang="en-US" altLang="zh-CN" sz="800" dirty="0">
                <a:solidFill>
                  <a:schemeClr val="bg1"/>
                </a:solidFill>
              </a:rPr>
              <a:t>&gt; </a:t>
            </a:r>
            <a:r>
              <a:rPr lang="en-US" altLang="zh-CN" sz="800" dirty="0" err="1">
                <a:solidFill>
                  <a:schemeClr val="bg1"/>
                </a:solidFill>
              </a:rPr>
              <a:t>ctx</a:t>
            </a:r>
            <a:r>
              <a:rPr lang="en-US" altLang="zh-CN" sz="800" dirty="0">
                <a:solidFill>
                  <a:schemeClr val="bg1"/>
                </a:solidFill>
              </a:rPr>
              <a:t>) throws Exception {</a:t>
            </a:r>
          </a:p>
          <a:p>
            <a:r>
              <a:rPr lang="en-US" altLang="zh-CN" sz="800" dirty="0">
                <a:solidFill>
                  <a:schemeClr val="bg1"/>
                </a:solidFill>
              </a:rPr>
              <a:t>            while (</a:t>
            </a:r>
            <a:r>
              <a:rPr lang="en-US" altLang="zh-CN" sz="800" dirty="0" err="1">
                <a:solidFill>
                  <a:schemeClr val="bg1"/>
                </a:solidFill>
              </a:rPr>
              <a:t>isRunning</a:t>
            </a:r>
            <a:r>
              <a:rPr lang="en-US" altLang="zh-CN" sz="800" dirty="0">
                <a:solidFill>
                  <a:schemeClr val="bg1"/>
                </a:solidFill>
              </a:rPr>
              <a:t>) {</a:t>
            </a:r>
          </a:p>
          <a:p>
            <a:r>
              <a:rPr lang="en-US" altLang="zh-CN" sz="800" dirty="0">
                <a:solidFill>
                  <a:schemeClr val="bg1"/>
                </a:solidFill>
              </a:rPr>
              <a:t>                String id = "Sensor_" + </a:t>
            </a:r>
            <a:r>
              <a:rPr lang="en-US" altLang="zh-CN" sz="800" dirty="0" err="1">
                <a:solidFill>
                  <a:schemeClr val="bg1"/>
                </a:solidFill>
              </a:rPr>
              <a:t>random.nextInt</a:t>
            </a:r>
            <a:r>
              <a:rPr lang="en-US" altLang="zh-CN" sz="800" dirty="0">
                <a:solidFill>
                  <a:schemeClr val="bg1"/>
                </a:solidFill>
              </a:rPr>
              <a:t>(3);</a:t>
            </a:r>
          </a:p>
          <a:p>
            <a:r>
              <a:rPr lang="en-US" altLang="zh-CN" sz="800" dirty="0">
                <a:solidFill>
                  <a:schemeClr val="bg1"/>
                </a:solidFill>
              </a:rPr>
              <a:t>                double temp = 20 + </a:t>
            </a:r>
            <a:r>
              <a:rPr lang="en-US" altLang="zh-CN" sz="800" dirty="0" err="1">
                <a:solidFill>
                  <a:schemeClr val="bg1"/>
                </a:solidFill>
              </a:rPr>
              <a:t>random.nextGaussian</a:t>
            </a:r>
            <a:r>
              <a:rPr lang="en-US" altLang="zh-CN" sz="800" dirty="0">
                <a:solidFill>
                  <a:schemeClr val="bg1"/>
                </a:solidFill>
              </a:rPr>
              <a:t>() * 10;</a:t>
            </a:r>
          </a:p>
          <a:p>
            <a:r>
              <a:rPr lang="en-US" altLang="zh-CN" sz="800" dirty="0">
                <a:solidFill>
                  <a:schemeClr val="bg1"/>
                </a:solidFill>
              </a:rPr>
              <a:t>                </a:t>
            </a:r>
            <a:r>
              <a:rPr lang="en-US" altLang="zh-CN" sz="800" dirty="0" err="1">
                <a:solidFill>
                  <a:schemeClr val="bg1"/>
                </a:solidFill>
              </a:rPr>
              <a:t>ctx.collect</a:t>
            </a:r>
            <a:r>
              <a:rPr lang="en-US" altLang="zh-CN" sz="800" dirty="0">
                <a:solidFill>
                  <a:schemeClr val="bg1"/>
                </a:solidFill>
              </a:rPr>
              <a:t>(new </a:t>
            </a:r>
            <a:r>
              <a:rPr lang="en-US" altLang="zh-CN" sz="800" dirty="0" err="1">
                <a:solidFill>
                  <a:schemeClr val="bg1"/>
                </a:solidFill>
              </a:rPr>
              <a:t>SensorReading</a:t>
            </a:r>
            <a:r>
              <a:rPr lang="en-US" altLang="zh-CN" sz="800" dirty="0">
                <a:solidFill>
                  <a:schemeClr val="bg1"/>
                </a:solidFill>
              </a:rPr>
              <a:t>(id, </a:t>
            </a:r>
            <a:r>
              <a:rPr lang="en-US" altLang="zh-CN" sz="800" dirty="0" err="1">
                <a:solidFill>
                  <a:schemeClr val="bg1"/>
                </a:solidFill>
              </a:rPr>
              <a:t>System.currentTimeMillis</a:t>
            </a:r>
            <a:r>
              <a:rPr lang="en-US" altLang="zh-CN" sz="800" dirty="0">
                <a:solidFill>
                  <a:schemeClr val="bg1"/>
                </a:solidFill>
              </a:rPr>
              <a:t>(), temp));</a:t>
            </a:r>
          </a:p>
          <a:p>
            <a:r>
              <a:rPr lang="en-US" altLang="zh-CN" sz="800" dirty="0">
                <a:solidFill>
                  <a:schemeClr val="bg1"/>
                </a:solidFill>
              </a:rPr>
              <a:t>                </a:t>
            </a:r>
            <a:r>
              <a:rPr lang="en-US" altLang="zh-CN" sz="800" dirty="0" err="1">
                <a:solidFill>
                  <a:schemeClr val="bg1"/>
                </a:solidFill>
              </a:rPr>
              <a:t>Thread.sleep</a:t>
            </a:r>
            <a:r>
              <a:rPr lang="en-US" altLang="zh-CN" sz="800" dirty="0">
                <a:solidFill>
                  <a:schemeClr val="bg1"/>
                </a:solidFill>
              </a:rPr>
              <a:t>(500);</a:t>
            </a:r>
          </a:p>
          <a:p>
            <a:r>
              <a:rPr lang="en-US" altLang="zh-CN" sz="800" dirty="0">
                <a:solidFill>
                  <a:schemeClr val="bg1"/>
                </a:solidFill>
              </a:rPr>
              <a:t>            }</a:t>
            </a:r>
          </a:p>
          <a:p>
            <a:r>
              <a:rPr lang="en-US" altLang="zh-CN" sz="800" dirty="0">
                <a:solidFill>
                  <a:schemeClr val="bg1"/>
                </a:solidFill>
              </a:rPr>
              <a:t>        }</a:t>
            </a:r>
          </a:p>
          <a:p>
            <a:endParaRPr lang="en-US" altLang="zh-CN" sz="800" dirty="0">
              <a:solidFill>
                <a:schemeClr val="bg1"/>
              </a:solidFill>
            </a:endParaRPr>
          </a:p>
          <a:p>
            <a:r>
              <a:rPr lang="en-US" altLang="zh-CN" sz="800" dirty="0">
                <a:solidFill>
                  <a:schemeClr val="bg1"/>
                </a:solidFill>
              </a:rPr>
              <a:t>        @Override</a:t>
            </a:r>
          </a:p>
          <a:p>
            <a:r>
              <a:rPr lang="en-US" altLang="zh-CN" sz="800" dirty="0">
                <a:solidFill>
                  <a:schemeClr val="bg1"/>
                </a:solidFill>
              </a:rPr>
              <a:t>        public void cancel() {</a:t>
            </a:r>
          </a:p>
          <a:p>
            <a:r>
              <a:rPr lang="en-US" altLang="zh-CN" sz="800" dirty="0">
                <a:solidFill>
                  <a:schemeClr val="bg1"/>
                </a:solidFill>
              </a:rPr>
              <a:t>            </a:t>
            </a:r>
            <a:r>
              <a:rPr lang="en-US" altLang="zh-CN" sz="800" dirty="0" err="1">
                <a:solidFill>
                  <a:schemeClr val="bg1"/>
                </a:solidFill>
              </a:rPr>
              <a:t>isRunning</a:t>
            </a:r>
            <a:r>
              <a:rPr lang="en-US" altLang="zh-CN" sz="800" dirty="0">
                <a:solidFill>
                  <a:schemeClr val="bg1"/>
                </a:solidFill>
              </a:rPr>
              <a:t> = false;</a:t>
            </a:r>
          </a:p>
          <a:p>
            <a:r>
              <a:rPr lang="en-US" altLang="zh-CN" sz="800" dirty="0">
                <a:solidFill>
                  <a:schemeClr val="bg1"/>
                </a:solidFill>
              </a:rPr>
              <a:t>        }</a:t>
            </a:r>
          </a:p>
          <a:p>
            <a:r>
              <a:rPr lang="en-US" altLang="zh-CN" sz="800" dirty="0">
                <a:solidFill>
                  <a:schemeClr val="bg1"/>
                </a:solidFill>
              </a:rPr>
              <a:t>    }</a:t>
            </a:r>
          </a:p>
          <a:p>
            <a:r>
              <a:rPr lang="en-US" altLang="zh-CN" sz="800" dirty="0">
                <a:solidFill>
                  <a:schemeClr val="bg1"/>
                </a:solidFill>
              </a:rPr>
              <a:t>}</a:t>
            </a:r>
          </a:p>
          <a:p>
            <a:endParaRPr lang="zh-CN" altLang="en-US" sz="8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36563" y="1820333"/>
            <a:ext cx="9017000" cy="7180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770484" y="182553"/>
            <a:ext cx="6064250" cy="4064000"/>
          </a:xfrm>
          <a:custGeom>
            <a:avLst/>
            <a:gdLst/>
            <a:ahLst/>
            <a:cxnLst/>
            <a:rect l="l" t="t" r="r" b="b"/>
            <a:pathLst>
              <a:path w="6064250" h="4064000">
                <a:moveTo>
                  <a:pt x="127000" y="0"/>
                </a:moveTo>
                <a:lnTo>
                  <a:pt x="5937250" y="0"/>
                </a:lnTo>
                <a:cubicBezTo>
                  <a:pt x="6007343" y="0"/>
                  <a:pt x="6064250" y="56907"/>
                  <a:pt x="6064250" y="127000"/>
                </a:cubicBezTo>
                <a:lnTo>
                  <a:pt x="6064250" y="3937000"/>
                </a:lnTo>
                <a:cubicBezTo>
                  <a:pt x="6064250" y="4007093"/>
                  <a:pt x="6007343" y="4064000"/>
                  <a:pt x="5937250" y="4064000"/>
                </a:cubicBezTo>
                <a:lnTo>
                  <a:pt x="127000" y="4064000"/>
                </a:lnTo>
                <a:cubicBezTo>
                  <a:pt x="56907" y="4064000"/>
                  <a:pt x="0" y="4007093"/>
                  <a:pt x="0" y="393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9966275" y="40480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9783" y="13506"/>
                </a:moveTo>
                <a:cubicBezTo>
                  <a:pt x="53839" y="16334"/>
                  <a:pt x="54806" y="21915"/>
                  <a:pt x="51978" y="25933"/>
                </a:cubicBezTo>
                <a:lnTo>
                  <a:pt x="31142" y="55699"/>
                </a:lnTo>
                <a:cubicBezTo>
                  <a:pt x="29617" y="57857"/>
                  <a:pt x="27236" y="59234"/>
                  <a:pt x="24594" y="59457"/>
                </a:cubicBezTo>
                <a:cubicBezTo>
                  <a:pt x="21952" y="59680"/>
                  <a:pt x="19348" y="58787"/>
                  <a:pt x="17487" y="56927"/>
                </a:cubicBezTo>
                <a:lnTo>
                  <a:pt x="2604" y="42044"/>
                </a:lnTo>
                <a:cubicBezTo>
                  <a:pt x="-856" y="38546"/>
                  <a:pt x="-856" y="32891"/>
                  <a:pt x="2604" y="29394"/>
                </a:cubicBezTo>
                <a:cubicBezTo>
                  <a:pt x="6065" y="25896"/>
                  <a:pt x="11757" y="25933"/>
                  <a:pt x="15255" y="29394"/>
                </a:cubicBezTo>
                <a:lnTo>
                  <a:pt x="22622" y="36761"/>
                </a:lnTo>
                <a:lnTo>
                  <a:pt x="37356" y="15701"/>
                </a:lnTo>
                <a:cubicBezTo>
                  <a:pt x="40184" y="11646"/>
                  <a:pt x="45765" y="10678"/>
                  <a:pt x="49783" y="13506"/>
                </a:cubicBezTo>
                <a:close/>
                <a:moveTo>
                  <a:pt x="49783" y="73037"/>
                </a:moveTo>
                <a:cubicBezTo>
                  <a:pt x="53839" y="75865"/>
                  <a:pt x="54806" y="81446"/>
                  <a:pt x="51978" y="85465"/>
                </a:cubicBezTo>
                <a:lnTo>
                  <a:pt x="31142" y="115230"/>
                </a:lnTo>
                <a:cubicBezTo>
                  <a:pt x="29617" y="117388"/>
                  <a:pt x="27236" y="118765"/>
                  <a:pt x="24594" y="118988"/>
                </a:cubicBezTo>
                <a:cubicBezTo>
                  <a:pt x="21952" y="119211"/>
                  <a:pt x="19348" y="118318"/>
                  <a:pt x="17487" y="116458"/>
                </a:cubicBezTo>
                <a:lnTo>
                  <a:pt x="2604" y="101575"/>
                </a:lnTo>
                <a:cubicBezTo>
                  <a:pt x="-893" y="98078"/>
                  <a:pt x="-893" y="92422"/>
                  <a:pt x="2604" y="88962"/>
                </a:cubicBezTo>
                <a:cubicBezTo>
                  <a:pt x="6102" y="85502"/>
                  <a:pt x="11757" y="85465"/>
                  <a:pt x="15218" y="88962"/>
                </a:cubicBezTo>
                <a:lnTo>
                  <a:pt x="22585" y="96329"/>
                </a:lnTo>
                <a:lnTo>
                  <a:pt x="37319" y="75270"/>
                </a:lnTo>
                <a:cubicBezTo>
                  <a:pt x="40146" y="71214"/>
                  <a:pt x="45727" y="70247"/>
                  <a:pt x="49746" y="73075"/>
                </a:cubicBezTo>
                <a:close/>
                <a:moveTo>
                  <a:pt x="83344" y="35719"/>
                </a:moveTo>
                <a:cubicBezTo>
                  <a:pt x="83344" y="29133"/>
                  <a:pt x="88664" y="23812"/>
                  <a:pt x="95250" y="23812"/>
                </a:cubicBezTo>
                <a:lnTo>
                  <a:pt x="178594" y="23812"/>
                </a:lnTo>
                <a:cubicBezTo>
                  <a:pt x="185179" y="23812"/>
                  <a:pt x="190500" y="29133"/>
                  <a:pt x="190500" y="35719"/>
                </a:cubicBezTo>
                <a:cubicBezTo>
                  <a:pt x="190500" y="42304"/>
                  <a:pt x="185179" y="47625"/>
                  <a:pt x="178594" y="47625"/>
                </a:cubicBezTo>
                <a:lnTo>
                  <a:pt x="95250" y="47625"/>
                </a:lnTo>
                <a:cubicBezTo>
                  <a:pt x="88664" y="47625"/>
                  <a:pt x="83344" y="42304"/>
                  <a:pt x="83344" y="35719"/>
                </a:cubicBezTo>
                <a:close/>
                <a:moveTo>
                  <a:pt x="83344" y="95250"/>
                </a:moveTo>
                <a:cubicBezTo>
                  <a:pt x="83344" y="88664"/>
                  <a:pt x="88664" y="83344"/>
                  <a:pt x="95250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95250" y="107156"/>
                </a:lnTo>
                <a:cubicBezTo>
                  <a:pt x="88664" y="107156"/>
                  <a:pt x="83344" y="101836"/>
                  <a:pt x="83344" y="95250"/>
                </a:cubicBezTo>
                <a:close/>
                <a:moveTo>
                  <a:pt x="59531" y="154781"/>
                </a:moveTo>
                <a:cubicBezTo>
                  <a:pt x="59531" y="148196"/>
                  <a:pt x="64852" y="142875"/>
                  <a:pt x="71438" y="142875"/>
                </a:cubicBez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71438" y="166688"/>
                </a:lnTo>
                <a:cubicBezTo>
                  <a:pt x="64852" y="166688"/>
                  <a:pt x="59531" y="161367"/>
                  <a:pt x="59531" y="154781"/>
                </a:cubicBezTo>
                <a:close/>
                <a:moveTo>
                  <a:pt x="23812" y="139898"/>
                </a:moveTo>
                <a:cubicBezTo>
                  <a:pt x="32027" y="139898"/>
                  <a:pt x="38695" y="146567"/>
                  <a:pt x="38695" y="154781"/>
                </a:cubicBezTo>
                <a:cubicBezTo>
                  <a:pt x="38695" y="162995"/>
                  <a:pt x="32027" y="169664"/>
                  <a:pt x="23812" y="169664"/>
                </a:cubicBezTo>
                <a:cubicBezTo>
                  <a:pt x="15598" y="169664"/>
                  <a:pt x="8930" y="162995"/>
                  <a:pt x="8930" y="154781"/>
                </a:cubicBezTo>
                <a:cubicBezTo>
                  <a:pt x="8930" y="146567"/>
                  <a:pt x="15598" y="139898"/>
                  <a:pt x="23812" y="139898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0183234" y="351886"/>
            <a:ext cx="55774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场景需求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939817" y="775220"/>
            <a:ext cx="5725583" cy="762000"/>
          </a:xfrm>
          <a:custGeom>
            <a:avLst/>
            <a:gdLst/>
            <a:ahLst/>
            <a:cxnLst/>
            <a:rect l="l" t="t" r="r" b="b"/>
            <a:pathLst>
              <a:path w="5725583" h="762000">
                <a:moveTo>
                  <a:pt x="84666" y="0"/>
                </a:moveTo>
                <a:lnTo>
                  <a:pt x="5640918" y="0"/>
                </a:lnTo>
                <a:cubicBezTo>
                  <a:pt x="5687677" y="0"/>
                  <a:pt x="5725583" y="37906"/>
                  <a:pt x="5725583" y="84666"/>
                </a:cubicBezTo>
                <a:lnTo>
                  <a:pt x="5725583" y="677334"/>
                </a:lnTo>
                <a:cubicBezTo>
                  <a:pt x="5725583" y="724094"/>
                  <a:pt x="5687677" y="762000"/>
                  <a:pt x="5640918" y="762000"/>
                </a:cubicBezTo>
                <a:lnTo>
                  <a:pt x="84666" y="762000"/>
                </a:lnTo>
                <a:cubicBezTo>
                  <a:pt x="37906" y="762000"/>
                  <a:pt x="0" y="724094"/>
                  <a:pt x="0" y="677334"/>
                </a:cubicBezTo>
                <a:lnTo>
                  <a:pt x="0" y="84666"/>
                </a:lnTo>
                <a:cubicBezTo>
                  <a:pt x="0" y="37937"/>
                  <a:pt x="37937" y="0"/>
                  <a:pt x="84666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10066817" y="986886"/>
            <a:ext cx="84667" cy="84667"/>
          </a:xfrm>
          <a:custGeom>
            <a:avLst/>
            <a:gdLst/>
            <a:ahLst/>
            <a:cxnLst/>
            <a:rect l="l" t="t" r="r" b="b"/>
            <a:pathLst>
              <a:path w="84667" h="84667">
                <a:moveTo>
                  <a:pt x="42333" y="0"/>
                </a:moveTo>
                <a:lnTo>
                  <a:pt x="42333" y="0"/>
                </a:lnTo>
                <a:cubicBezTo>
                  <a:pt x="65713" y="0"/>
                  <a:pt x="84667" y="18953"/>
                  <a:pt x="84667" y="42333"/>
                </a:cubicBezTo>
                <a:lnTo>
                  <a:pt x="84667" y="42333"/>
                </a:lnTo>
                <a:cubicBezTo>
                  <a:pt x="84667" y="65713"/>
                  <a:pt x="65713" y="84667"/>
                  <a:pt x="42333" y="84667"/>
                </a:cubicBezTo>
                <a:lnTo>
                  <a:pt x="42333" y="84667"/>
                </a:lnTo>
                <a:cubicBezTo>
                  <a:pt x="18953" y="84667"/>
                  <a:pt x="0" y="65713"/>
                  <a:pt x="0" y="42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0236150" y="90222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数据摄入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66817" y="1198553"/>
            <a:ext cx="5545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接收传感器数据（传感器ID、温度、时间戳）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939817" y="1621886"/>
            <a:ext cx="5725583" cy="762000"/>
          </a:xfrm>
          <a:custGeom>
            <a:avLst/>
            <a:gdLst/>
            <a:ahLst/>
            <a:cxnLst/>
            <a:rect l="l" t="t" r="r" b="b"/>
            <a:pathLst>
              <a:path w="5725583" h="762000">
                <a:moveTo>
                  <a:pt x="84666" y="0"/>
                </a:moveTo>
                <a:lnTo>
                  <a:pt x="5640918" y="0"/>
                </a:lnTo>
                <a:cubicBezTo>
                  <a:pt x="5687677" y="0"/>
                  <a:pt x="5725583" y="37906"/>
                  <a:pt x="5725583" y="84666"/>
                </a:cubicBezTo>
                <a:lnTo>
                  <a:pt x="5725583" y="677334"/>
                </a:lnTo>
                <a:cubicBezTo>
                  <a:pt x="5725583" y="724094"/>
                  <a:pt x="5687677" y="762000"/>
                  <a:pt x="5640918" y="762000"/>
                </a:cubicBezTo>
                <a:lnTo>
                  <a:pt x="84666" y="762000"/>
                </a:lnTo>
                <a:cubicBezTo>
                  <a:pt x="37906" y="762000"/>
                  <a:pt x="0" y="724094"/>
                  <a:pt x="0" y="677334"/>
                </a:cubicBezTo>
                <a:lnTo>
                  <a:pt x="0" y="84666"/>
                </a:lnTo>
                <a:cubicBezTo>
                  <a:pt x="0" y="37937"/>
                  <a:pt x="37937" y="0"/>
                  <a:pt x="84666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10066817" y="1833553"/>
            <a:ext cx="84667" cy="84667"/>
          </a:xfrm>
          <a:custGeom>
            <a:avLst/>
            <a:gdLst/>
            <a:ahLst/>
            <a:cxnLst/>
            <a:rect l="l" t="t" r="r" b="b"/>
            <a:pathLst>
              <a:path w="84667" h="84667">
                <a:moveTo>
                  <a:pt x="42333" y="0"/>
                </a:moveTo>
                <a:lnTo>
                  <a:pt x="42333" y="0"/>
                </a:lnTo>
                <a:cubicBezTo>
                  <a:pt x="65713" y="0"/>
                  <a:pt x="84667" y="18953"/>
                  <a:pt x="84667" y="42333"/>
                </a:cubicBezTo>
                <a:lnTo>
                  <a:pt x="84667" y="42333"/>
                </a:lnTo>
                <a:cubicBezTo>
                  <a:pt x="84667" y="65713"/>
                  <a:pt x="65713" y="84667"/>
                  <a:pt x="42333" y="84667"/>
                </a:cubicBezTo>
                <a:lnTo>
                  <a:pt x="42333" y="84667"/>
                </a:lnTo>
                <a:cubicBezTo>
                  <a:pt x="18953" y="84667"/>
                  <a:pt x="0" y="65713"/>
                  <a:pt x="0" y="42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0236150" y="1748886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状态监测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66817" y="2045220"/>
            <a:ext cx="5545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为每个传感器维护"上一次温度"和"连续上升次数"状态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939817" y="2468553"/>
            <a:ext cx="5725583" cy="762000"/>
          </a:xfrm>
          <a:custGeom>
            <a:avLst/>
            <a:gdLst/>
            <a:ahLst/>
            <a:cxnLst/>
            <a:rect l="l" t="t" r="r" b="b"/>
            <a:pathLst>
              <a:path w="5725583" h="762000">
                <a:moveTo>
                  <a:pt x="84666" y="0"/>
                </a:moveTo>
                <a:lnTo>
                  <a:pt x="5640918" y="0"/>
                </a:lnTo>
                <a:cubicBezTo>
                  <a:pt x="5687677" y="0"/>
                  <a:pt x="5725583" y="37906"/>
                  <a:pt x="5725583" y="84666"/>
                </a:cubicBezTo>
                <a:lnTo>
                  <a:pt x="5725583" y="677334"/>
                </a:lnTo>
                <a:cubicBezTo>
                  <a:pt x="5725583" y="724094"/>
                  <a:pt x="5687677" y="762000"/>
                  <a:pt x="5640918" y="762000"/>
                </a:cubicBezTo>
                <a:lnTo>
                  <a:pt x="84666" y="762000"/>
                </a:lnTo>
                <a:cubicBezTo>
                  <a:pt x="37906" y="762000"/>
                  <a:pt x="0" y="724094"/>
                  <a:pt x="0" y="677334"/>
                </a:cubicBezTo>
                <a:lnTo>
                  <a:pt x="0" y="84666"/>
                </a:lnTo>
                <a:cubicBezTo>
                  <a:pt x="0" y="37937"/>
                  <a:pt x="37937" y="0"/>
                  <a:pt x="84666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10066817" y="2680220"/>
            <a:ext cx="84667" cy="84667"/>
          </a:xfrm>
          <a:custGeom>
            <a:avLst/>
            <a:gdLst/>
            <a:ahLst/>
            <a:cxnLst/>
            <a:rect l="l" t="t" r="r" b="b"/>
            <a:pathLst>
              <a:path w="84667" h="84667">
                <a:moveTo>
                  <a:pt x="42333" y="0"/>
                </a:moveTo>
                <a:lnTo>
                  <a:pt x="42333" y="0"/>
                </a:lnTo>
                <a:cubicBezTo>
                  <a:pt x="65713" y="0"/>
                  <a:pt x="84667" y="18953"/>
                  <a:pt x="84667" y="42333"/>
                </a:cubicBezTo>
                <a:lnTo>
                  <a:pt x="84667" y="42333"/>
                </a:lnTo>
                <a:cubicBezTo>
                  <a:pt x="84667" y="65713"/>
                  <a:pt x="65713" y="84667"/>
                  <a:pt x="42333" y="84667"/>
                </a:cubicBezTo>
                <a:lnTo>
                  <a:pt x="42333" y="84667"/>
                </a:lnTo>
                <a:cubicBezTo>
                  <a:pt x="18953" y="84667"/>
                  <a:pt x="0" y="65713"/>
                  <a:pt x="0" y="42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0236150" y="2595553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报警触发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66817" y="2891886"/>
            <a:ext cx="5545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如果某传感器的温度连续3次上升，则输出报警信息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939817" y="3315220"/>
            <a:ext cx="5725583" cy="762000"/>
          </a:xfrm>
          <a:custGeom>
            <a:avLst/>
            <a:gdLst/>
            <a:ahLst/>
            <a:cxnLst/>
            <a:rect l="l" t="t" r="r" b="b"/>
            <a:pathLst>
              <a:path w="5725583" h="762000">
                <a:moveTo>
                  <a:pt x="84666" y="0"/>
                </a:moveTo>
                <a:lnTo>
                  <a:pt x="5640918" y="0"/>
                </a:lnTo>
                <a:cubicBezTo>
                  <a:pt x="5687677" y="0"/>
                  <a:pt x="5725583" y="37906"/>
                  <a:pt x="5725583" y="84666"/>
                </a:cubicBezTo>
                <a:lnTo>
                  <a:pt x="5725583" y="677334"/>
                </a:lnTo>
                <a:cubicBezTo>
                  <a:pt x="5725583" y="724094"/>
                  <a:pt x="5687677" y="762000"/>
                  <a:pt x="5640918" y="762000"/>
                </a:cubicBezTo>
                <a:lnTo>
                  <a:pt x="84666" y="762000"/>
                </a:lnTo>
                <a:cubicBezTo>
                  <a:pt x="37906" y="762000"/>
                  <a:pt x="0" y="724094"/>
                  <a:pt x="0" y="677334"/>
                </a:cubicBezTo>
                <a:lnTo>
                  <a:pt x="0" y="84666"/>
                </a:lnTo>
                <a:cubicBezTo>
                  <a:pt x="0" y="37937"/>
                  <a:pt x="37937" y="0"/>
                  <a:pt x="84666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10066817" y="3526886"/>
            <a:ext cx="84667" cy="84667"/>
          </a:xfrm>
          <a:custGeom>
            <a:avLst/>
            <a:gdLst/>
            <a:ahLst/>
            <a:cxnLst/>
            <a:rect l="l" t="t" r="r" b="b"/>
            <a:pathLst>
              <a:path w="84667" h="84667">
                <a:moveTo>
                  <a:pt x="42333" y="0"/>
                </a:moveTo>
                <a:lnTo>
                  <a:pt x="42333" y="0"/>
                </a:lnTo>
                <a:cubicBezTo>
                  <a:pt x="65713" y="0"/>
                  <a:pt x="84667" y="18953"/>
                  <a:pt x="84667" y="42333"/>
                </a:cubicBezTo>
                <a:lnTo>
                  <a:pt x="84667" y="42333"/>
                </a:lnTo>
                <a:cubicBezTo>
                  <a:pt x="84667" y="65713"/>
                  <a:pt x="65713" y="84667"/>
                  <a:pt x="42333" y="84667"/>
                </a:cubicBezTo>
                <a:lnTo>
                  <a:pt x="42333" y="84667"/>
                </a:lnTo>
                <a:cubicBezTo>
                  <a:pt x="18953" y="84667"/>
                  <a:pt x="0" y="65713"/>
                  <a:pt x="0" y="42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0236150" y="344222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状态重置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66817" y="3738553"/>
            <a:ext cx="5545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如果温度下降，则重置计数器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770484" y="4373553"/>
            <a:ext cx="6064250" cy="2465917"/>
          </a:xfrm>
          <a:custGeom>
            <a:avLst/>
            <a:gdLst/>
            <a:ahLst/>
            <a:cxnLst/>
            <a:rect l="l" t="t" r="r" b="b"/>
            <a:pathLst>
              <a:path w="6064250" h="2465917">
                <a:moveTo>
                  <a:pt x="126995" y="0"/>
                </a:moveTo>
                <a:lnTo>
                  <a:pt x="5937255" y="0"/>
                </a:lnTo>
                <a:cubicBezTo>
                  <a:pt x="6007393" y="0"/>
                  <a:pt x="6064250" y="56857"/>
                  <a:pt x="6064250" y="126995"/>
                </a:cubicBezTo>
                <a:lnTo>
                  <a:pt x="6064250" y="2338922"/>
                </a:lnTo>
                <a:cubicBezTo>
                  <a:pt x="6064250" y="2409059"/>
                  <a:pt x="6007393" y="2465917"/>
                  <a:pt x="5937255" y="2465917"/>
                </a:cubicBezTo>
                <a:lnTo>
                  <a:pt x="126995" y="2465917"/>
                </a:lnTo>
                <a:cubicBezTo>
                  <a:pt x="56857" y="2465917"/>
                  <a:pt x="0" y="2409059"/>
                  <a:pt x="0" y="2338922"/>
                </a:cubicBezTo>
                <a:lnTo>
                  <a:pt x="0" y="126995"/>
                </a:lnTo>
                <a:cubicBezTo>
                  <a:pt x="0" y="56857"/>
                  <a:pt x="56857" y="0"/>
                  <a:pt x="126995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9966275" y="459580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0183234" y="4542886"/>
            <a:ext cx="55774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预期输出示例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939817" y="4966220"/>
            <a:ext cx="5725583" cy="1703917"/>
          </a:xfrm>
          <a:custGeom>
            <a:avLst/>
            <a:gdLst/>
            <a:ahLst/>
            <a:cxnLst/>
            <a:rect l="l" t="t" r="r" b="b"/>
            <a:pathLst>
              <a:path w="5725583" h="1703917">
                <a:moveTo>
                  <a:pt x="84668" y="0"/>
                </a:moveTo>
                <a:lnTo>
                  <a:pt x="5640916" y="0"/>
                </a:lnTo>
                <a:cubicBezTo>
                  <a:pt x="5687676" y="0"/>
                  <a:pt x="5725583" y="37907"/>
                  <a:pt x="5725583" y="84668"/>
                </a:cubicBezTo>
                <a:lnTo>
                  <a:pt x="5725583" y="1619249"/>
                </a:lnTo>
                <a:cubicBezTo>
                  <a:pt x="5725583" y="1666010"/>
                  <a:pt x="5687676" y="1703917"/>
                  <a:pt x="5640916" y="1703917"/>
                </a:cubicBezTo>
                <a:lnTo>
                  <a:pt x="84668" y="1703917"/>
                </a:lnTo>
                <a:cubicBezTo>
                  <a:pt x="37907" y="1703917"/>
                  <a:pt x="0" y="1666010"/>
                  <a:pt x="0" y="1619249"/>
                </a:cubicBezTo>
                <a:lnTo>
                  <a:pt x="0" y="84668"/>
                </a:lnTo>
                <a:cubicBezTo>
                  <a:pt x="0" y="37907"/>
                  <a:pt x="37907" y="0"/>
                  <a:pt x="8466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10066817" y="5124970"/>
            <a:ext cx="3107035" cy="13784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Alert:1&gt; WARNING: Sensor Sensor_0 rising for 3 consecutive times! Current: 35.7 Alert:2&gt; WARNING: Sensor Sensor_1 rising for 3 consecutive times! Current: 42.3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770484" y="6961178"/>
            <a:ext cx="6064250" cy="1862667"/>
          </a:xfrm>
          <a:custGeom>
            <a:avLst/>
            <a:gdLst/>
            <a:ahLst/>
            <a:cxnLst/>
            <a:rect l="l" t="t" r="r" b="b"/>
            <a:pathLst>
              <a:path w="6064250" h="1862667">
                <a:moveTo>
                  <a:pt x="126997" y="0"/>
                </a:moveTo>
                <a:lnTo>
                  <a:pt x="5937253" y="0"/>
                </a:lnTo>
                <a:cubicBezTo>
                  <a:pt x="6007392" y="0"/>
                  <a:pt x="6064250" y="56858"/>
                  <a:pt x="6064250" y="126997"/>
                </a:cubicBezTo>
                <a:lnTo>
                  <a:pt x="6064250" y="1735670"/>
                </a:lnTo>
                <a:cubicBezTo>
                  <a:pt x="6064250" y="1805808"/>
                  <a:pt x="6007392" y="1862667"/>
                  <a:pt x="5937253" y="1862667"/>
                </a:cubicBezTo>
                <a:lnTo>
                  <a:pt x="126997" y="1862667"/>
                </a:lnTo>
                <a:cubicBezTo>
                  <a:pt x="56858" y="1862667"/>
                  <a:pt x="0" y="1805808"/>
                  <a:pt x="0" y="1735670"/>
                </a:cubicBezTo>
                <a:lnTo>
                  <a:pt x="0" y="126997"/>
                </a:lnTo>
                <a:cubicBezTo>
                  <a:pt x="0" y="56905"/>
                  <a:pt x="56905" y="0"/>
                  <a:pt x="126997" y="0"/>
                </a:cubicBezTo>
                <a:close/>
              </a:path>
            </a:pathLst>
          </a:custGeom>
          <a:solidFill>
            <a:srgbClr val="33384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9954369" y="7183428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7859" y="72851"/>
                </a:moveTo>
                <a:lnTo>
                  <a:pt x="95696" y="104887"/>
                </a:lnTo>
                <a:cubicBezTo>
                  <a:pt x="99343" y="106375"/>
                  <a:pt x="103212" y="107156"/>
                  <a:pt x="107156" y="107156"/>
                </a:cubicBezTo>
                <a:cubicBezTo>
                  <a:pt x="111100" y="107156"/>
                  <a:pt x="114970" y="106375"/>
                  <a:pt x="118616" y="104887"/>
                </a:cubicBezTo>
                <a:lnTo>
                  <a:pt x="208806" y="67754"/>
                </a:lnTo>
                <a:cubicBezTo>
                  <a:pt x="212154" y="66377"/>
                  <a:pt x="214313" y="63140"/>
                  <a:pt x="214313" y="59531"/>
                </a:cubicBezTo>
                <a:cubicBezTo>
                  <a:pt x="214313" y="55922"/>
                  <a:pt x="212154" y="52685"/>
                  <a:pt x="208806" y="51308"/>
                </a:cubicBezTo>
                <a:lnTo>
                  <a:pt x="118616" y="14176"/>
                </a:lnTo>
                <a:cubicBezTo>
                  <a:pt x="114970" y="12688"/>
                  <a:pt x="111100" y="11906"/>
                  <a:pt x="107156" y="11906"/>
                </a:cubicBezTo>
                <a:cubicBezTo>
                  <a:pt x="103212" y="11906"/>
                  <a:pt x="99343" y="12688"/>
                  <a:pt x="95696" y="14176"/>
                </a:cubicBezTo>
                <a:lnTo>
                  <a:pt x="5507" y="51308"/>
                </a:lnTo>
                <a:cubicBezTo>
                  <a:pt x="2158" y="52685"/>
                  <a:pt x="0" y="55922"/>
                  <a:pt x="0" y="59531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cubicBezTo>
                  <a:pt x="13878" y="178594"/>
                  <a:pt x="17859" y="174613"/>
                  <a:pt x="17859" y="169664"/>
                </a:cubicBezTo>
                <a:lnTo>
                  <a:pt x="17859" y="72851"/>
                </a:lnTo>
                <a:close/>
                <a:moveTo>
                  <a:pt x="35719" y="99529"/>
                </a:moveTo>
                <a:lnTo>
                  <a:pt x="35719" y="142875"/>
                </a:lnTo>
                <a:cubicBezTo>
                  <a:pt x="35719" y="162595"/>
                  <a:pt x="67717" y="178594"/>
                  <a:pt x="107156" y="178594"/>
                </a:cubicBezTo>
                <a:cubicBezTo>
                  <a:pt x="146596" y="178594"/>
                  <a:pt x="178594" y="162595"/>
                  <a:pt x="178594" y="142875"/>
                </a:cubicBezTo>
                <a:lnTo>
                  <a:pt x="178594" y="99492"/>
                </a:lnTo>
                <a:lnTo>
                  <a:pt x="125425" y="121407"/>
                </a:lnTo>
                <a:cubicBezTo>
                  <a:pt x="119621" y="123788"/>
                  <a:pt x="113444" y="125016"/>
                  <a:pt x="107156" y="125016"/>
                </a:cubicBezTo>
                <a:cubicBezTo>
                  <a:pt x="100868" y="125016"/>
                  <a:pt x="94692" y="123788"/>
                  <a:pt x="88888" y="121407"/>
                </a:cubicBezTo>
                <a:lnTo>
                  <a:pt x="35719" y="99492"/>
                </a:ln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10183234" y="7130511"/>
            <a:ext cx="55774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学习要点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939817" y="7638511"/>
            <a:ext cx="84667" cy="84667"/>
          </a:xfrm>
          <a:custGeom>
            <a:avLst/>
            <a:gdLst/>
            <a:ahLst/>
            <a:cxnLst/>
            <a:rect l="l" t="t" r="r" b="b"/>
            <a:pathLst>
              <a:path w="84667" h="84667">
                <a:moveTo>
                  <a:pt x="42333" y="0"/>
                </a:moveTo>
                <a:lnTo>
                  <a:pt x="42333" y="0"/>
                </a:lnTo>
                <a:cubicBezTo>
                  <a:pt x="65713" y="0"/>
                  <a:pt x="84667" y="18953"/>
                  <a:pt x="84667" y="42333"/>
                </a:cubicBezTo>
                <a:lnTo>
                  <a:pt x="84667" y="42333"/>
                </a:lnTo>
                <a:cubicBezTo>
                  <a:pt x="84667" y="65713"/>
                  <a:pt x="65713" y="84667"/>
                  <a:pt x="42333" y="84667"/>
                </a:cubicBezTo>
                <a:lnTo>
                  <a:pt x="42333" y="84667"/>
                </a:lnTo>
                <a:cubicBezTo>
                  <a:pt x="18953" y="84667"/>
                  <a:pt x="0" y="65713"/>
                  <a:pt x="0" y="42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10109150" y="7553845"/>
            <a:ext cx="4265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KeyedProcessFunction是Flink中实现复杂业务逻辑的"瑞士军刀"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939817" y="7934845"/>
            <a:ext cx="84667" cy="84667"/>
          </a:xfrm>
          <a:custGeom>
            <a:avLst/>
            <a:gdLst/>
            <a:ahLst/>
            <a:cxnLst/>
            <a:rect l="l" t="t" r="r" b="b"/>
            <a:pathLst>
              <a:path w="84667" h="84667">
                <a:moveTo>
                  <a:pt x="42333" y="0"/>
                </a:moveTo>
                <a:lnTo>
                  <a:pt x="42333" y="0"/>
                </a:lnTo>
                <a:cubicBezTo>
                  <a:pt x="65713" y="0"/>
                  <a:pt x="84667" y="18953"/>
                  <a:pt x="84667" y="42333"/>
                </a:cubicBezTo>
                <a:lnTo>
                  <a:pt x="84667" y="42333"/>
                </a:lnTo>
                <a:cubicBezTo>
                  <a:pt x="84667" y="65713"/>
                  <a:pt x="65713" y="84667"/>
                  <a:pt x="42333" y="84667"/>
                </a:cubicBezTo>
                <a:lnTo>
                  <a:pt x="42333" y="84667"/>
                </a:lnTo>
                <a:cubicBezTo>
                  <a:pt x="18953" y="84667"/>
                  <a:pt x="0" y="65713"/>
                  <a:pt x="0" y="42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10109150" y="7850178"/>
            <a:ext cx="22860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在open()方法中定义和初始化状态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939817" y="8231178"/>
            <a:ext cx="84667" cy="84667"/>
          </a:xfrm>
          <a:custGeom>
            <a:avLst/>
            <a:gdLst/>
            <a:ahLst/>
            <a:cxnLst/>
            <a:rect l="l" t="t" r="r" b="b"/>
            <a:pathLst>
              <a:path w="84667" h="84667">
                <a:moveTo>
                  <a:pt x="42333" y="0"/>
                </a:moveTo>
                <a:lnTo>
                  <a:pt x="42333" y="0"/>
                </a:lnTo>
                <a:cubicBezTo>
                  <a:pt x="65713" y="0"/>
                  <a:pt x="84667" y="18953"/>
                  <a:pt x="84667" y="42333"/>
                </a:cubicBezTo>
                <a:lnTo>
                  <a:pt x="84667" y="42333"/>
                </a:lnTo>
                <a:cubicBezTo>
                  <a:pt x="84667" y="65713"/>
                  <a:pt x="65713" y="84667"/>
                  <a:pt x="42333" y="84667"/>
                </a:cubicBezTo>
                <a:lnTo>
                  <a:pt x="42333" y="84667"/>
                </a:lnTo>
                <a:cubicBezTo>
                  <a:pt x="18953" y="84667"/>
                  <a:pt x="0" y="65713"/>
                  <a:pt x="0" y="42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10109150" y="8146511"/>
            <a:ext cx="25823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在processElement()中访问和更新状态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939817" y="8527511"/>
            <a:ext cx="84667" cy="84667"/>
          </a:xfrm>
          <a:custGeom>
            <a:avLst/>
            <a:gdLst/>
            <a:ahLst/>
            <a:cxnLst/>
            <a:rect l="l" t="t" r="r" b="b"/>
            <a:pathLst>
              <a:path w="84667" h="84667">
                <a:moveTo>
                  <a:pt x="42333" y="0"/>
                </a:moveTo>
                <a:lnTo>
                  <a:pt x="42333" y="0"/>
                </a:lnTo>
                <a:cubicBezTo>
                  <a:pt x="65713" y="0"/>
                  <a:pt x="84667" y="18953"/>
                  <a:pt x="84667" y="42333"/>
                </a:cubicBezTo>
                <a:lnTo>
                  <a:pt x="84667" y="42333"/>
                </a:lnTo>
                <a:cubicBezTo>
                  <a:pt x="84667" y="65713"/>
                  <a:pt x="65713" y="84667"/>
                  <a:pt x="42333" y="84667"/>
                </a:cubicBezTo>
                <a:lnTo>
                  <a:pt x="42333" y="84667"/>
                </a:lnTo>
                <a:cubicBezTo>
                  <a:pt x="18953" y="84667"/>
                  <a:pt x="0" y="65713"/>
                  <a:pt x="0" y="42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10109150" y="8442845"/>
            <a:ext cx="2444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状态需要手动更新，否则不会持久化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estuary.dev/99e8ffa5b1fa8c18f44798e49b6b93425e4afc20.jpg"/>
          <p:cNvPicPr>
            <a:picLocks noChangeAspect="1"/>
          </p:cNvPicPr>
          <p:nvPr/>
        </p:nvPicPr>
        <p:blipFill>
          <a:blip r:embed="rId3">
            <a:alphaModFix amt="40000"/>
          </a:blip>
          <a:srcRect l="4580" r="4580"/>
          <a:stretch/>
        </p:blipFill>
        <p:spPr>
          <a:xfrm>
            <a:off x="0" y="0"/>
            <a:ext cx="16256000" cy="8860197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1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438571">
                <a:moveTo>
                  <a:pt x="0" y="0"/>
                </a:moveTo>
                <a:lnTo>
                  <a:pt x="16256000" y="0"/>
                </a:lnTo>
                <a:lnTo>
                  <a:pt x="16256000" y="9438571"/>
                </a:lnTo>
                <a:lnTo>
                  <a:pt x="0" y="943857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333842">
                  <a:alpha val="85000"/>
                </a:srgbClr>
              </a:gs>
              <a:gs pos="100000">
                <a:srgbClr val="32C7B4">
                  <a:alpha val="2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492233" y="1405845"/>
            <a:ext cx="15640709" cy="1845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814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从理论到实践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814" b="1" dirty="0">
                <a:solidFill>
                  <a:srgbClr val="32C7B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开启流式计算之旅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98386" y="3427071"/>
            <a:ext cx="5353036" cy="2473472"/>
          </a:xfrm>
          <a:custGeom>
            <a:avLst/>
            <a:gdLst/>
            <a:ahLst/>
            <a:cxnLst/>
            <a:rect l="l" t="t" r="r" b="b"/>
            <a:pathLst>
              <a:path w="5353036" h="2473472">
                <a:moveTo>
                  <a:pt x="147666" y="0"/>
                </a:moveTo>
                <a:lnTo>
                  <a:pt x="5205369" y="0"/>
                </a:lnTo>
                <a:cubicBezTo>
                  <a:pt x="5286923" y="0"/>
                  <a:pt x="5353036" y="66112"/>
                  <a:pt x="5353036" y="147666"/>
                </a:cubicBezTo>
                <a:lnTo>
                  <a:pt x="5353036" y="2325805"/>
                </a:lnTo>
                <a:cubicBezTo>
                  <a:pt x="5353036" y="2407359"/>
                  <a:pt x="5286923" y="2473472"/>
                  <a:pt x="5205369" y="2473472"/>
                </a:cubicBezTo>
                <a:lnTo>
                  <a:pt x="147666" y="2473472"/>
                </a:lnTo>
                <a:cubicBezTo>
                  <a:pt x="66112" y="2473472"/>
                  <a:pt x="0" y="2407359"/>
                  <a:pt x="0" y="2325805"/>
                </a:cubicBezTo>
                <a:lnTo>
                  <a:pt x="0" y="147666"/>
                </a:lnTo>
                <a:cubicBezTo>
                  <a:pt x="0" y="66167"/>
                  <a:pt x="66167" y="0"/>
                  <a:pt x="147666" y="0"/>
                </a:cubicBezTo>
                <a:close/>
              </a:path>
            </a:pathLst>
          </a:custGeom>
          <a:solidFill>
            <a:srgbClr val="333842">
              <a:alpha val="80000"/>
            </a:srgbClr>
          </a:solidFill>
          <a:ln w="12700">
            <a:solidFill>
              <a:srgbClr val="32C7B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799879" y="3728563"/>
            <a:ext cx="590680" cy="590680"/>
          </a:xfrm>
          <a:custGeom>
            <a:avLst/>
            <a:gdLst/>
            <a:ahLst/>
            <a:cxnLst/>
            <a:rect l="l" t="t" r="r" b="b"/>
            <a:pathLst>
              <a:path w="590680" h="590680">
                <a:moveTo>
                  <a:pt x="98449" y="0"/>
                </a:moveTo>
                <a:lnTo>
                  <a:pt x="492231" y="0"/>
                </a:lnTo>
                <a:cubicBezTo>
                  <a:pt x="546603" y="0"/>
                  <a:pt x="590680" y="44077"/>
                  <a:pt x="590680" y="98449"/>
                </a:cubicBezTo>
                <a:lnTo>
                  <a:pt x="590680" y="492231"/>
                </a:lnTo>
                <a:cubicBezTo>
                  <a:pt x="590680" y="546603"/>
                  <a:pt x="546603" y="590680"/>
                  <a:pt x="492231" y="590680"/>
                </a:cubicBezTo>
                <a:lnTo>
                  <a:pt x="98449" y="590680"/>
                </a:lnTo>
                <a:cubicBezTo>
                  <a:pt x="44077" y="590680"/>
                  <a:pt x="0" y="546603"/>
                  <a:pt x="0" y="492231"/>
                </a:cubicBezTo>
                <a:lnTo>
                  <a:pt x="0" y="98449"/>
                </a:lnTo>
                <a:cubicBezTo>
                  <a:pt x="0" y="44113"/>
                  <a:pt x="44113" y="0"/>
                  <a:pt x="98449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972160" y="3900845"/>
            <a:ext cx="246117" cy="246117"/>
          </a:xfrm>
          <a:custGeom>
            <a:avLst/>
            <a:gdLst/>
            <a:ahLst/>
            <a:cxnLst/>
            <a:rect l="l" t="t" r="r" b="b"/>
            <a:pathLst>
              <a:path w="246117" h="246117">
                <a:moveTo>
                  <a:pt x="57684" y="26919"/>
                </a:moveTo>
                <a:cubicBezTo>
                  <a:pt x="57684" y="12065"/>
                  <a:pt x="69749" y="0"/>
                  <a:pt x="84603" y="0"/>
                </a:cubicBezTo>
                <a:lnTo>
                  <a:pt x="96139" y="0"/>
                </a:lnTo>
                <a:cubicBezTo>
                  <a:pt x="104648" y="0"/>
                  <a:pt x="111522" y="6874"/>
                  <a:pt x="111522" y="15382"/>
                </a:cubicBezTo>
                <a:lnTo>
                  <a:pt x="111522" y="230734"/>
                </a:lnTo>
                <a:cubicBezTo>
                  <a:pt x="111522" y="239243"/>
                  <a:pt x="104648" y="246117"/>
                  <a:pt x="96139" y="246117"/>
                </a:cubicBezTo>
                <a:lnTo>
                  <a:pt x="80757" y="246117"/>
                </a:lnTo>
                <a:cubicBezTo>
                  <a:pt x="66432" y="246117"/>
                  <a:pt x="54367" y="236310"/>
                  <a:pt x="50954" y="223043"/>
                </a:cubicBezTo>
                <a:cubicBezTo>
                  <a:pt x="50617" y="223043"/>
                  <a:pt x="50329" y="223043"/>
                  <a:pt x="49992" y="223043"/>
                </a:cubicBezTo>
                <a:cubicBezTo>
                  <a:pt x="28746" y="223043"/>
                  <a:pt x="11537" y="205834"/>
                  <a:pt x="11537" y="184587"/>
                </a:cubicBezTo>
                <a:cubicBezTo>
                  <a:pt x="11537" y="175935"/>
                  <a:pt x="14421" y="167955"/>
                  <a:pt x="19228" y="161514"/>
                </a:cubicBezTo>
                <a:cubicBezTo>
                  <a:pt x="9902" y="154496"/>
                  <a:pt x="3846" y="143344"/>
                  <a:pt x="3846" y="130749"/>
                </a:cubicBezTo>
                <a:cubicBezTo>
                  <a:pt x="3846" y="115896"/>
                  <a:pt x="12306" y="102965"/>
                  <a:pt x="24612" y="96572"/>
                </a:cubicBezTo>
                <a:cubicBezTo>
                  <a:pt x="21199" y="90804"/>
                  <a:pt x="19228" y="84074"/>
                  <a:pt x="19228" y="76911"/>
                </a:cubicBezTo>
                <a:cubicBezTo>
                  <a:pt x="19228" y="55665"/>
                  <a:pt x="36437" y="38456"/>
                  <a:pt x="57684" y="38456"/>
                </a:cubicBezTo>
                <a:lnTo>
                  <a:pt x="57684" y="26919"/>
                </a:lnTo>
                <a:close/>
                <a:moveTo>
                  <a:pt x="188433" y="26919"/>
                </a:moveTo>
                <a:lnTo>
                  <a:pt x="188433" y="38456"/>
                </a:lnTo>
                <a:cubicBezTo>
                  <a:pt x="209680" y="38456"/>
                  <a:pt x="226889" y="55665"/>
                  <a:pt x="226889" y="76911"/>
                </a:cubicBezTo>
                <a:cubicBezTo>
                  <a:pt x="226889" y="84122"/>
                  <a:pt x="224918" y="90852"/>
                  <a:pt x="221505" y="96572"/>
                </a:cubicBezTo>
                <a:cubicBezTo>
                  <a:pt x="233859" y="102965"/>
                  <a:pt x="242271" y="115848"/>
                  <a:pt x="242271" y="130749"/>
                </a:cubicBezTo>
                <a:cubicBezTo>
                  <a:pt x="242271" y="143344"/>
                  <a:pt x="236214" y="154496"/>
                  <a:pt x="226889" y="161514"/>
                </a:cubicBezTo>
                <a:cubicBezTo>
                  <a:pt x="231696" y="167955"/>
                  <a:pt x="234580" y="175935"/>
                  <a:pt x="234580" y="184587"/>
                </a:cubicBezTo>
                <a:cubicBezTo>
                  <a:pt x="234580" y="205834"/>
                  <a:pt x="217371" y="223043"/>
                  <a:pt x="196124" y="223043"/>
                </a:cubicBezTo>
                <a:cubicBezTo>
                  <a:pt x="195788" y="223043"/>
                  <a:pt x="195499" y="223043"/>
                  <a:pt x="195163" y="223043"/>
                </a:cubicBezTo>
                <a:cubicBezTo>
                  <a:pt x="191750" y="236310"/>
                  <a:pt x="179684" y="246117"/>
                  <a:pt x="165360" y="246117"/>
                </a:cubicBezTo>
                <a:lnTo>
                  <a:pt x="149977" y="246117"/>
                </a:lnTo>
                <a:cubicBezTo>
                  <a:pt x="141469" y="246117"/>
                  <a:pt x="134595" y="239243"/>
                  <a:pt x="134595" y="230734"/>
                </a:cubicBezTo>
                <a:lnTo>
                  <a:pt x="134595" y="15382"/>
                </a:lnTo>
                <a:cubicBezTo>
                  <a:pt x="134595" y="6874"/>
                  <a:pt x="141469" y="0"/>
                  <a:pt x="149977" y="0"/>
                </a:cubicBezTo>
                <a:lnTo>
                  <a:pt x="161514" y="0"/>
                </a:lnTo>
                <a:cubicBezTo>
                  <a:pt x="176368" y="0"/>
                  <a:pt x="188433" y="12065"/>
                  <a:pt x="188433" y="26919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1538229" y="3827010"/>
            <a:ext cx="1329030" cy="393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26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理论认知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99879" y="4614583"/>
            <a:ext cx="98447" cy="98447"/>
          </a:xfrm>
          <a:custGeom>
            <a:avLst/>
            <a:gdLst/>
            <a:ahLst/>
            <a:cxnLst/>
            <a:rect l="l" t="t" r="r" b="b"/>
            <a:pathLst>
              <a:path w="98447" h="98447">
                <a:moveTo>
                  <a:pt x="49223" y="0"/>
                </a:moveTo>
                <a:lnTo>
                  <a:pt x="49223" y="0"/>
                </a:lnTo>
                <a:cubicBezTo>
                  <a:pt x="76390" y="0"/>
                  <a:pt x="98447" y="22056"/>
                  <a:pt x="98447" y="49223"/>
                </a:cubicBezTo>
                <a:lnTo>
                  <a:pt x="98447" y="49223"/>
                </a:lnTo>
                <a:cubicBezTo>
                  <a:pt x="98447" y="76390"/>
                  <a:pt x="76390" y="98447"/>
                  <a:pt x="49223" y="98447"/>
                </a:cubicBezTo>
                <a:lnTo>
                  <a:pt x="49223" y="98447"/>
                </a:lnTo>
                <a:cubicBezTo>
                  <a:pt x="22056" y="98447"/>
                  <a:pt x="0" y="76390"/>
                  <a:pt x="0" y="49223"/>
                </a:cubicBezTo>
                <a:lnTo>
                  <a:pt x="0" y="49223"/>
                </a:lnTo>
                <a:cubicBezTo>
                  <a:pt x="0" y="22056"/>
                  <a:pt x="22056" y="0"/>
                  <a:pt x="49223" y="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996772" y="4516136"/>
            <a:ext cx="3642525" cy="29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0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理解从批处理到流式计算的技术演进脉络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99879" y="5008370"/>
            <a:ext cx="98447" cy="98447"/>
          </a:xfrm>
          <a:custGeom>
            <a:avLst/>
            <a:gdLst/>
            <a:ahLst/>
            <a:cxnLst/>
            <a:rect l="l" t="t" r="r" b="b"/>
            <a:pathLst>
              <a:path w="98447" h="98447">
                <a:moveTo>
                  <a:pt x="49223" y="0"/>
                </a:moveTo>
                <a:lnTo>
                  <a:pt x="49223" y="0"/>
                </a:lnTo>
                <a:cubicBezTo>
                  <a:pt x="76390" y="0"/>
                  <a:pt x="98447" y="22056"/>
                  <a:pt x="98447" y="49223"/>
                </a:cubicBezTo>
                <a:lnTo>
                  <a:pt x="98447" y="49223"/>
                </a:lnTo>
                <a:cubicBezTo>
                  <a:pt x="98447" y="76390"/>
                  <a:pt x="76390" y="98447"/>
                  <a:pt x="49223" y="98447"/>
                </a:cubicBezTo>
                <a:lnTo>
                  <a:pt x="49223" y="98447"/>
                </a:lnTo>
                <a:cubicBezTo>
                  <a:pt x="22056" y="98447"/>
                  <a:pt x="0" y="76390"/>
                  <a:pt x="0" y="49223"/>
                </a:cubicBezTo>
                <a:lnTo>
                  <a:pt x="0" y="49223"/>
                </a:lnTo>
                <a:cubicBezTo>
                  <a:pt x="0" y="22056"/>
                  <a:pt x="22056" y="0"/>
                  <a:pt x="49223" y="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996772" y="4909923"/>
            <a:ext cx="2658059" cy="29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0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掌握流式计算的四大理论支柱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99879" y="5402156"/>
            <a:ext cx="98447" cy="98447"/>
          </a:xfrm>
          <a:custGeom>
            <a:avLst/>
            <a:gdLst/>
            <a:ahLst/>
            <a:cxnLst/>
            <a:rect l="l" t="t" r="r" b="b"/>
            <a:pathLst>
              <a:path w="98447" h="98447">
                <a:moveTo>
                  <a:pt x="49223" y="0"/>
                </a:moveTo>
                <a:lnTo>
                  <a:pt x="49223" y="0"/>
                </a:lnTo>
                <a:cubicBezTo>
                  <a:pt x="76390" y="0"/>
                  <a:pt x="98447" y="22056"/>
                  <a:pt x="98447" y="49223"/>
                </a:cubicBezTo>
                <a:lnTo>
                  <a:pt x="98447" y="49223"/>
                </a:lnTo>
                <a:cubicBezTo>
                  <a:pt x="98447" y="76390"/>
                  <a:pt x="76390" y="98447"/>
                  <a:pt x="49223" y="98447"/>
                </a:cubicBezTo>
                <a:lnTo>
                  <a:pt x="49223" y="98447"/>
                </a:lnTo>
                <a:cubicBezTo>
                  <a:pt x="22056" y="98447"/>
                  <a:pt x="0" y="76390"/>
                  <a:pt x="0" y="49223"/>
                </a:cubicBezTo>
                <a:lnTo>
                  <a:pt x="0" y="49223"/>
                </a:lnTo>
                <a:cubicBezTo>
                  <a:pt x="0" y="22056"/>
                  <a:pt x="22056" y="0"/>
                  <a:pt x="49223" y="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996772" y="5303710"/>
            <a:ext cx="3064151" cy="29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0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认知从Store到Process的范式转变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159067" y="3427071"/>
            <a:ext cx="5353036" cy="2473472"/>
          </a:xfrm>
          <a:custGeom>
            <a:avLst/>
            <a:gdLst/>
            <a:ahLst/>
            <a:cxnLst/>
            <a:rect l="l" t="t" r="r" b="b"/>
            <a:pathLst>
              <a:path w="5353036" h="2473472">
                <a:moveTo>
                  <a:pt x="147666" y="0"/>
                </a:moveTo>
                <a:lnTo>
                  <a:pt x="5205369" y="0"/>
                </a:lnTo>
                <a:cubicBezTo>
                  <a:pt x="5286923" y="0"/>
                  <a:pt x="5353036" y="66112"/>
                  <a:pt x="5353036" y="147666"/>
                </a:cubicBezTo>
                <a:lnTo>
                  <a:pt x="5353036" y="2325805"/>
                </a:lnTo>
                <a:cubicBezTo>
                  <a:pt x="5353036" y="2407359"/>
                  <a:pt x="5286923" y="2473472"/>
                  <a:pt x="5205369" y="2473472"/>
                </a:cubicBezTo>
                <a:lnTo>
                  <a:pt x="147666" y="2473472"/>
                </a:lnTo>
                <a:cubicBezTo>
                  <a:pt x="66112" y="2473472"/>
                  <a:pt x="0" y="2407359"/>
                  <a:pt x="0" y="2325805"/>
                </a:cubicBezTo>
                <a:lnTo>
                  <a:pt x="0" y="147666"/>
                </a:lnTo>
                <a:cubicBezTo>
                  <a:pt x="0" y="66167"/>
                  <a:pt x="66167" y="0"/>
                  <a:pt x="147666" y="0"/>
                </a:cubicBezTo>
                <a:close/>
              </a:path>
            </a:pathLst>
          </a:custGeom>
          <a:solidFill>
            <a:srgbClr val="333842">
              <a:alpha val="80000"/>
            </a:srgbClr>
          </a:solidFill>
          <a:ln w="12700">
            <a:solidFill>
              <a:srgbClr val="32C7B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6460560" y="3728563"/>
            <a:ext cx="590680" cy="590680"/>
          </a:xfrm>
          <a:custGeom>
            <a:avLst/>
            <a:gdLst/>
            <a:ahLst/>
            <a:cxnLst/>
            <a:rect l="l" t="t" r="r" b="b"/>
            <a:pathLst>
              <a:path w="590680" h="590680">
                <a:moveTo>
                  <a:pt x="98449" y="0"/>
                </a:moveTo>
                <a:lnTo>
                  <a:pt x="492231" y="0"/>
                </a:lnTo>
                <a:cubicBezTo>
                  <a:pt x="546603" y="0"/>
                  <a:pt x="590680" y="44077"/>
                  <a:pt x="590680" y="98449"/>
                </a:cubicBezTo>
                <a:lnTo>
                  <a:pt x="590680" y="492231"/>
                </a:lnTo>
                <a:cubicBezTo>
                  <a:pt x="590680" y="546603"/>
                  <a:pt x="546603" y="590680"/>
                  <a:pt x="492231" y="590680"/>
                </a:cubicBezTo>
                <a:lnTo>
                  <a:pt x="98449" y="590680"/>
                </a:lnTo>
                <a:cubicBezTo>
                  <a:pt x="44077" y="590680"/>
                  <a:pt x="0" y="546603"/>
                  <a:pt x="0" y="492231"/>
                </a:cubicBezTo>
                <a:lnTo>
                  <a:pt x="0" y="98449"/>
                </a:lnTo>
                <a:cubicBezTo>
                  <a:pt x="0" y="44113"/>
                  <a:pt x="44113" y="0"/>
                  <a:pt x="98449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6"/>
          <p:cNvSpPr/>
          <p:nvPr/>
        </p:nvSpPr>
        <p:spPr>
          <a:xfrm>
            <a:off x="6617460" y="3900845"/>
            <a:ext cx="276881" cy="246117"/>
          </a:xfrm>
          <a:custGeom>
            <a:avLst/>
            <a:gdLst/>
            <a:ahLst/>
            <a:cxnLst/>
            <a:rect l="l" t="t" r="r" b="b"/>
            <a:pathLst>
              <a:path w="276881" h="246117">
                <a:moveTo>
                  <a:pt x="173435" y="577"/>
                </a:moveTo>
                <a:cubicBezTo>
                  <a:pt x="165263" y="-1779"/>
                  <a:pt x="156755" y="2980"/>
                  <a:pt x="154400" y="11152"/>
                </a:cubicBezTo>
                <a:lnTo>
                  <a:pt x="92871" y="226504"/>
                </a:lnTo>
                <a:cubicBezTo>
                  <a:pt x="90515" y="234676"/>
                  <a:pt x="95274" y="243184"/>
                  <a:pt x="103446" y="245540"/>
                </a:cubicBezTo>
                <a:cubicBezTo>
                  <a:pt x="111618" y="247895"/>
                  <a:pt x="120126" y="243136"/>
                  <a:pt x="122481" y="234964"/>
                </a:cubicBezTo>
                <a:lnTo>
                  <a:pt x="184011" y="19612"/>
                </a:lnTo>
                <a:cubicBezTo>
                  <a:pt x="186366" y="11441"/>
                  <a:pt x="181607" y="2932"/>
                  <a:pt x="173435" y="577"/>
                </a:cubicBezTo>
                <a:close/>
                <a:moveTo>
                  <a:pt x="204488" y="66000"/>
                </a:moveTo>
                <a:cubicBezTo>
                  <a:pt x="198480" y="72008"/>
                  <a:pt x="198480" y="81766"/>
                  <a:pt x="204488" y="87775"/>
                </a:cubicBezTo>
                <a:lnTo>
                  <a:pt x="239771" y="123058"/>
                </a:lnTo>
                <a:lnTo>
                  <a:pt x="204488" y="158341"/>
                </a:lnTo>
                <a:cubicBezTo>
                  <a:pt x="198480" y="164350"/>
                  <a:pt x="198480" y="174108"/>
                  <a:pt x="204488" y="180117"/>
                </a:cubicBezTo>
                <a:cubicBezTo>
                  <a:pt x="210497" y="186126"/>
                  <a:pt x="220255" y="186126"/>
                  <a:pt x="226264" y="180117"/>
                </a:cubicBezTo>
                <a:lnTo>
                  <a:pt x="272411" y="133970"/>
                </a:lnTo>
                <a:cubicBezTo>
                  <a:pt x="278419" y="127961"/>
                  <a:pt x="278419" y="118203"/>
                  <a:pt x="272411" y="112195"/>
                </a:cubicBezTo>
                <a:lnTo>
                  <a:pt x="226264" y="66048"/>
                </a:lnTo>
                <a:cubicBezTo>
                  <a:pt x="220255" y="60039"/>
                  <a:pt x="210497" y="60039"/>
                  <a:pt x="204488" y="66048"/>
                </a:cubicBezTo>
                <a:close/>
                <a:moveTo>
                  <a:pt x="72441" y="66000"/>
                </a:moveTo>
                <a:cubicBezTo>
                  <a:pt x="66432" y="59991"/>
                  <a:pt x="56674" y="59991"/>
                  <a:pt x="50665" y="66000"/>
                </a:cubicBezTo>
                <a:lnTo>
                  <a:pt x="4519" y="112146"/>
                </a:lnTo>
                <a:cubicBezTo>
                  <a:pt x="-1490" y="118155"/>
                  <a:pt x="-1490" y="127913"/>
                  <a:pt x="4519" y="133922"/>
                </a:cubicBezTo>
                <a:lnTo>
                  <a:pt x="50665" y="180069"/>
                </a:lnTo>
                <a:cubicBezTo>
                  <a:pt x="56674" y="186078"/>
                  <a:pt x="66432" y="186078"/>
                  <a:pt x="72441" y="180069"/>
                </a:cubicBezTo>
                <a:cubicBezTo>
                  <a:pt x="78450" y="174060"/>
                  <a:pt x="78450" y="164302"/>
                  <a:pt x="72441" y="158293"/>
                </a:cubicBezTo>
                <a:lnTo>
                  <a:pt x="37158" y="123058"/>
                </a:lnTo>
                <a:lnTo>
                  <a:pt x="72393" y="87775"/>
                </a:lnTo>
                <a:cubicBezTo>
                  <a:pt x="78402" y="81766"/>
                  <a:pt x="78402" y="72008"/>
                  <a:pt x="72393" y="6600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7198910" y="3827010"/>
            <a:ext cx="1329030" cy="393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26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实践能力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460560" y="4614583"/>
            <a:ext cx="98447" cy="98447"/>
          </a:xfrm>
          <a:custGeom>
            <a:avLst/>
            <a:gdLst/>
            <a:ahLst/>
            <a:cxnLst/>
            <a:rect l="l" t="t" r="r" b="b"/>
            <a:pathLst>
              <a:path w="98447" h="98447">
                <a:moveTo>
                  <a:pt x="49223" y="0"/>
                </a:moveTo>
                <a:lnTo>
                  <a:pt x="49223" y="0"/>
                </a:lnTo>
                <a:cubicBezTo>
                  <a:pt x="76390" y="0"/>
                  <a:pt x="98447" y="22056"/>
                  <a:pt x="98447" y="49223"/>
                </a:cubicBezTo>
                <a:lnTo>
                  <a:pt x="98447" y="49223"/>
                </a:lnTo>
                <a:cubicBezTo>
                  <a:pt x="98447" y="76390"/>
                  <a:pt x="76390" y="98447"/>
                  <a:pt x="49223" y="98447"/>
                </a:cubicBezTo>
                <a:lnTo>
                  <a:pt x="49223" y="98447"/>
                </a:lnTo>
                <a:cubicBezTo>
                  <a:pt x="22056" y="98447"/>
                  <a:pt x="0" y="76390"/>
                  <a:pt x="0" y="49223"/>
                </a:cubicBezTo>
                <a:lnTo>
                  <a:pt x="0" y="49223"/>
                </a:lnTo>
                <a:cubicBezTo>
                  <a:pt x="0" y="22056"/>
                  <a:pt x="22056" y="0"/>
                  <a:pt x="49223" y="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6657453" y="4516136"/>
            <a:ext cx="2928787" cy="29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0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掌握Apache Flink核心架构与API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460560" y="5008370"/>
            <a:ext cx="98447" cy="98447"/>
          </a:xfrm>
          <a:custGeom>
            <a:avLst/>
            <a:gdLst/>
            <a:ahLst/>
            <a:cxnLst/>
            <a:rect l="l" t="t" r="r" b="b"/>
            <a:pathLst>
              <a:path w="98447" h="98447">
                <a:moveTo>
                  <a:pt x="49223" y="0"/>
                </a:moveTo>
                <a:lnTo>
                  <a:pt x="49223" y="0"/>
                </a:lnTo>
                <a:cubicBezTo>
                  <a:pt x="76390" y="0"/>
                  <a:pt x="98447" y="22056"/>
                  <a:pt x="98447" y="49223"/>
                </a:cubicBezTo>
                <a:lnTo>
                  <a:pt x="98447" y="49223"/>
                </a:lnTo>
                <a:cubicBezTo>
                  <a:pt x="98447" y="76390"/>
                  <a:pt x="76390" y="98447"/>
                  <a:pt x="49223" y="98447"/>
                </a:cubicBezTo>
                <a:lnTo>
                  <a:pt x="49223" y="98447"/>
                </a:lnTo>
                <a:cubicBezTo>
                  <a:pt x="22056" y="98447"/>
                  <a:pt x="0" y="76390"/>
                  <a:pt x="0" y="49223"/>
                </a:cubicBezTo>
                <a:lnTo>
                  <a:pt x="0" y="49223"/>
                </a:lnTo>
                <a:cubicBezTo>
                  <a:pt x="0" y="22056"/>
                  <a:pt x="22056" y="0"/>
                  <a:pt x="49223" y="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1"/>
          <p:cNvSpPr/>
          <p:nvPr/>
        </p:nvSpPr>
        <p:spPr>
          <a:xfrm>
            <a:off x="6657453" y="4909923"/>
            <a:ext cx="3445632" cy="29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0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熟练运用时间与窗口机制处理乱序数据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460560" y="5402156"/>
            <a:ext cx="98447" cy="98447"/>
          </a:xfrm>
          <a:custGeom>
            <a:avLst/>
            <a:gdLst/>
            <a:ahLst/>
            <a:cxnLst/>
            <a:rect l="l" t="t" r="r" b="b"/>
            <a:pathLst>
              <a:path w="98447" h="98447">
                <a:moveTo>
                  <a:pt x="49223" y="0"/>
                </a:moveTo>
                <a:lnTo>
                  <a:pt x="49223" y="0"/>
                </a:lnTo>
                <a:cubicBezTo>
                  <a:pt x="76390" y="0"/>
                  <a:pt x="98447" y="22056"/>
                  <a:pt x="98447" y="49223"/>
                </a:cubicBezTo>
                <a:lnTo>
                  <a:pt x="98447" y="49223"/>
                </a:lnTo>
                <a:cubicBezTo>
                  <a:pt x="98447" y="76390"/>
                  <a:pt x="76390" y="98447"/>
                  <a:pt x="49223" y="98447"/>
                </a:cubicBezTo>
                <a:lnTo>
                  <a:pt x="49223" y="98447"/>
                </a:lnTo>
                <a:cubicBezTo>
                  <a:pt x="22056" y="98447"/>
                  <a:pt x="0" y="76390"/>
                  <a:pt x="0" y="49223"/>
                </a:cubicBezTo>
                <a:lnTo>
                  <a:pt x="0" y="49223"/>
                </a:lnTo>
                <a:cubicBezTo>
                  <a:pt x="0" y="22056"/>
                  <a:pt x="22056" y="0"/>
                  <a:pt x="49223" y="0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3"/>
          <p:cNvSpPr/>
          <p:nvPr/>
        </p:nvSpPr>
        <p:spPr>
          <a:xfrm>
            <a:off x="6657453" y="5303710"/>
            <a:ext cx="3051846" cy="29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0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构建高容错、可恢复的流处理应用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98386" y="6306635"/>
            <a:ext cx="11013717" cy="1907403"/>
          </a:xfrm>
          <a:custGeom>
            <a:avLst/>
            <a:gdLst/>
            <a:ahLst/>
            <a:cxnLst/>
            <a:rect l="l" t="t" r="r" b="b"/>
            <a:pathLst>
              <a:path w="11013717" h="1907403">
                <a:moveTo>
                  <a:pt x="147671" y="0"/>
                </a:moveTo>
                <a:lnTo>
                  <a:pt x="10866046" y="0"/>
                </a:lnTo>
                <a:cubicBezTo>
                  <a:pt x="10947602" y="0"/>
                  <a:pt x="11013717" y="66115"/>
                  <a:pt x="11013717" y="147671"/>
                </a:cubicBezTo>
                <a:lnTo>
                  <a:pt x="11013717" y="1759732"/>
                </a:lnTo>
                <a:cubicBezTo>
                  <a:pt x="11013717" y="1841289"/>
                  <a:pt x="10947602" y="1907403"/>
                  <a:pt x="10866046" y="1907403"/>
                </a:cubicBezTo>
                <a:lnTo>
                  <a:pt x="147671" y="1907403"/>
                </a:lnTo>
                <a:cubicBezTo>
                  <a:pt x="66169" y="1907403"/>
                  <a:pt x="0" y="1841234"/>
                  <a:pt x="0" y="1759732"/>
                </a:cubicBezTo>
                <a:lnTo>
                  <a:pt x="0" y="147671"/>
                </a:lnTo>
                <a:cubicBezTo>
                  <a:pt x="0" y="66169"/>
                  <a:pt x="66169" y="0"/>
                  <a:pt x="147671" y="0"/>
                </a:cubicBezTo>
                <a:close/>
              </a:path>
            </a:pathLst>
          </a:custGeom>
          <a:solidFill>
            <a:srgbClr val="333842">
              <a:alpha val="60000"/>
            </a:srgbClr>
          </a:solidFill>
          <a:ln w="12700">
            <a:solidFill>
              <a:srgbClr val="32C7B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5"/>
          <p:cNvSpPr/>
          <p:nvPr/>
        </p:nvSpPr>
        <p:spPr>
          <a:xfrm>
            <a:off x="872176" y="7077287"/>
            <a:ext cx="323028" cy="369175"/>
          </a:xfrm>
          <a:custGeom>
            <a:avLst/>
            <a:gdLst/>
            <a:ahLst/>
            <a:cxnLst/>
            <a:rect l="l" t="t" r="r" b="b"/>
            <a:pathLst>
              <a:path w="323028" h="369175">
                <a:moveTo>
                  <a:pt x="0" y="155746"/>
                </a:moveTo>
                <a:cubicBezTo>
                  <a:pt x="0" y="107940"/>
                  <a:pt x="38720" y="69220"/>
                  <a:pt x="86525" y="69220"/>
                </a:cubicBezTo>
                <a:lnTo>
                  <a:pt x="92294" y="69220"/>
                </a:lnTo>
                <a:cubicBezTo>
                  <a:pt x="105056" y="69220"/>
                  <a:pt x="115367" y="79531"/>
                  <a:pt x="115367" y="92294"/>
                </a:cubicBezTo>
                <a:cubicBezTo>
                  <a:pt x="115367" y="105056"/>
                  <a:pt x="105056" y="115367"/>
                  <a:pt x="92294" y="115367"/>
                </a:cubicBezTo>
                <a:lnTo>
                  <a:pt x="86525" y="115367"/>
                </a:lnTo>
                <a:cubicBezTo>
                  <a:pt x="64245" y="115367"/>
                  <a:pt x="46147" y="133465"/>
                  <a:pt x="46147" y="155746"/>
                </a:cubicBezTo>
                <a:lnTo>
                  <a:pt x="46147" y="161514"/>
                </a:lnTo>
                <a:lnTo>
                  <a:pt x="92294" y="161514"/>
                </a:lnTo>
                <a:cubicBezTo>
                  <a:pt x="117747" y="161514"/>
                  <a:pt x="138441" y="182208"/>
                  <a:pt x="138441" y="207661"/>
                </a:cubicBezTo>
                <a:lnTo>
                  <a:pt x="138441" y="253808"/>
                </a:lnTo>
                <a:cubicBezTo>
                  <a:pt x="138441" y="279261"/>
                  <a:pt x="117747" y="299955"/>
                  <a:pt x="92294" y="299955"/>
                </a:cubicBezTo>
                <a:lnTo>
                  <a:pt x="46147" y="299955"/>
                </a:lnTo>
                <a:cubicBezTo>
                  <a:pt x="20694" y="299955"/>
                  <a:pt x="0" y="279261"/>
                  <a:pt x="0" y="253808"/>
                </a:cubicBezTo>
                <a:lnTo>
                  <a:pt x="0" y="155746"/>
                </a:lnTo>
                <a:close/>
                <a:moveTo>
                  <a:pt x="184587" y="155746"/>
                </a:moveTo>
                <a:cubicBezTo>
                  <a:pt x="184587" y="107940"/>
                  <a:pt x="223308" y="69220"/>
                  <a:pt x="271113" y="69220"/>
                </a:cubicBezTo>
                <a:lnTo>
                  <a:pt x="276881" y="69220"/>
                </a:lnTo>
                <a:cubicBezTo>
                  <a:pt x="289644" y="69220"/>
                  <a:pt x="299955" y="79531"/>
                  <a:pt x="299955" y="92294"/>
                </a:cubicBezTo>
                <a:cubicBezTo>
                  <a:pt x="299955" y="105056"/>
                  <a:pt x="289644" y="115367"/>
                  <a:pt x="276881" y="115367"/>
                </a:cubicBezTo>
                <a:lnTo>
                  <a:pt x="271113" y="115367"/>
                </a:lnTo>
                <a:cubicBezTo>
                  <a:pt x="248833" y="115367"/>
                  <a:pt x="230734" y="133465"/>
                  <a:pt x="230734" y="155746"/>
                </a:cubicBezTo>
                <a:lnTo>
                  <a:pt x="230734" y="161514"/>
                </a:lnTo>
                <a:lnTo>
                  <a:pt x="276881" y="161514"/>
                </a:lnTo>
                <a:cubicBezTo>
                  <a:pt x="302334" y="161514"/>
                  <a:pt x="323028" y="182208"/>
                  <a:pt x="323028" y="207661"/>
                </a:cubicBezTo>
                <a:lnTo>
                  <a:pt x="323028" y="253808"/>
                </a:lnTo>
                <a:cubicBezTo>
                  <a:pt x="323028" y="279261"/>
                  <a:pt x="302334" y="299955"/>
                  <a:pt x="276881" y="299955"/>
                </a:cubicBezTo>
                <a:lnTo>
                  <a:pt x="230734" y="299955"/>
                </a:lnTo>
                <a:cubicBezTo>
                  <a:pt x="205281" y="299955"/>
                  <a:pt x="184587" y="279261"/>
                  <a:pt x="184587" y="253808"/>
                </a:cubicBezTo>
                <a:lnTo>
                  <a:pt x="184587" y="155746"/>
                </a:ln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6"/>
          <p:cNvSpPr/>
          <p:nvPr/>
        </p:nvSpPr>
        <p:spPr>
          <a:xfrm>
            <a:off x="1458241" y="6608127"/>
            <a:ext cx="9217066" cy="799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938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从批处理到流式计算的范式转变，不仅是技术进步，更是认知深化。它代表着从"数据持久化"到"数据流动"、从"结果正确性"到"时效性与正确性平衡"的思维进化。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458241" y="7555676"/>
            <a:ext cx="9204760" cy="356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44" dirty="0">
                <a:solidFill>
                  <a:srgbClr val="E1E3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在实践中探索流式计算的无限可能，构建下一代实时数据处理系统。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10821438" y="7077287"/>
            <a:ext cx="323028" cy="369175"/>
          </a:xfrm>
          <a:custGeom>
            <a:avLst/>
            <a:gdLst/>
            <a:ahLst/>
            <a:cxnLst/>
            <a:rect l="l" t="t" r="r" b="b"/>
            <a:pathLst>
              <a:path w="323028" h="369175">
                <a:moveTo>
                  <a:pt x="323028" y="213429"/>
                </a:moveTo>
                <a:cubicBezTo>
                  <a:pt x="323028" y="261234"/>
                  <a:pt x="284308" y="299955"/>
                  <a:pt x="236503" y="299955"/>
                </a:cubicBezTo>
                <a:lnTo>
                  <a:pt x="230734" y="299955"/>
                </a:lnTo>
                <a:cubicBezTo>
                  <a:pt x="217972" y="299955"/>
                  <a:pt x="207661" y="289644"/>
                  <a:pt x="207661" y="276881"/>
                </a:cubicBezTo>
                <a:cubicBezTo>
                  <a:pt x="207661" y="264119"/>
                  <a:pt x="217972" y="253808"/>
                  <a:pt x="230734" y="253808"/>
                </a:cubicBezTo>
                <a:lnTo>
                  <a:pt x="236503" y="253808"/>
                </a:lnTo>
                <a:cubicBezTo>
                  <a:pt x="258783" y="253808"/>
                  <a:pt x="276881" y="235710"/>
                  <a:pt x="276881" y="213429"/>
                </a:cubicBezTo>
                <a:lnTo>
                  <a:pt x="276881" y="207661"/>
                </a:lnTo>
                <a:lnTo>
                  <a:pt x="230734" y="207661"/>
                </a:lnTo>
                <a:cubicBezTo>
                  <a:pt x="205281" y="207661"/>
                  <a:pt x="184587" y="186967"/>
                  <a:pt x="184587" y="161514"/>
                </a:cubicBezTo>
                <a:lnTo>
                  <a:pt x="184587" y="115367"/>
                </a:lnTo>
                <a:cubicBezTo>
                  <a:pt x="184587" y="89914"/>
                  <a:pt x="205281" y="69220"/>
                  <a:pt x="230734" y="69220"/>
                </a:cubicBezTo>
                <a:lnTo>
                  <a:pt x="276881" y="69220"/>
                </a:lnTo>
                <a:cubicBezTo>
                  <a:pt x="302334" y="69220"/>
                  <a:pt x="323028" y="89914"/>
                  <a:pt x="323028" y="115367"/>
                </a:cubicBezTo>
                <a:lnTo>
                  <a:pt x="323028" y="213429"/>
                </a:lnTo>
                <a:close/>
                <a:moveTo>
                  <a:pt x="138441" y="213429"/>
                </a:moveTo>
                <a:cubicBezTo>
                  <a:pt x="138441" y="261234"/>
                  <a:pt x="99720" y="299955"/>
                  <a:pt x="51915" y="299955"/>
                </a:cubicBezTo>
                <a:lnTo>
                  <a:pt x="46147" y="299955"/>
                </a:lnTo>
                <a:cubicBezTo>
                  <a:pt x="33384" y="299955"/>
                  <a:pt x="23073" y="289644"/>
                  <a:pt x="23073" y="276881"/>
                </a:cubicBezTo>
                <a:cubicBezTo>
                  <a:pt x="23073" y="264119"/>
                  <a:pt x="33384" y="253808"/>
                  <a:pt x="46147" y="253808"/>
                </a:cubicBezTo>
                <a:lnTo>
                  <a:pt x="51915" y="253808"/>
                </a:lnTo>
                <a:cubicBezTo>
                  <a:pt x="74195" y="253808"/>
                  <a:pt x="92294" y="235710"/>
                  <a:pt x="92294" y="213429"/>
                </a:cubicBezTo>
                <a:lnTo>
                  <a:pt x="92294" y="207661"/>
                </a:lnTo>
                <a:lnTo>
                  <a:pt x="46147" y="207661"/>
                </a:lnTo>
                <a:cubicBezTo>
                  <a:pt x="20694" y="207661"/>
                  <a:pt x="0" y="186967"/>
                  <a:pt x="0" y="161514"/>
                </a:cubicBezTo>
                <a:lnTo>
                  <a:pt x="0" y="115367"/>
                </a:lnTo>
                <a:cubicBezTo>
                  <a:pt x="0" y="89914"/>
                  <a:pt x="20694" y="69220"/>
                  <a:pt x="46147" y="69220"/>
                </a:cubicBezTo>
                <a:lnTo>
                  <a:pt x="92294" y="69220"/>
                </a:lnTo>
                <a:cubicBezTo>
                  <a:pt x="117747" y="69220"/>
                  <a:pt x="138441" y="89914"/>
                  <a:pt x="138441" y="115367"/>
                </a:cubicBezTo>
                <a:lnTo>
                  <a:pt x="138441" y="213429"/>
                </a:ln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29"/>
          <p:cNvSpPr/>
          <p:nvPr/>
        </p:nvSpPr>
        <p:spPr>
          <a:xfrm>
            <a:off x="492233" y="8504760"/>
            <a:ext cx="590680" cy="590680"/>
          </a:xfrm>
          <a:custGeom>
            <a:avLst/>
            <a:gdLst/>
            <a:ahLst/>
            <a:cxnLst/>
            <a:rect l="l" t="t" r="r" b="b"/>
            <a:pathLst>
              <a:path w="590680" h="590680">
                <a:moveTo>
                  <a:pt x="98449" y="0"/>
                </a:moveTo>
                <a:lnTo>
                  <a:pt x="492231" y="0"/>
                </a:lnTo>
                <a:cubicBezTo>
                  <a:pt x="546603" y="0"/>
                  <a:pt x="590680" y="44077"/>
                  <a:pt x="590680" y="98449"/>
                </a:cubicBezTo>
                <a:lnTo>
                  <a:pt x="590680" y="492231"/>
                </a:lnTo>
                <a:cubicBezTo>
                  <a:pt x="590680" y="546603"/>
                  <a:pt x="546603" y="590680"/>
                  <a:pt x="492231" y="590680"/>
                </a:cubicBezTo>
                <a:lnTo>
                  <a:pt x="98449" y="590680"/>
                </a:lnTo>
                <a:cubicBezTo>
                  <a:pt x="44077" y="590680"/>
                  <a:pt x="0" y="546603"/>
                  <a:pt x="0" y="492231"/>
                </a:cubicBezTo>
                <a:lnTo>
                  <a:pt x="0" y="98449"/>
                </a:lnTo>
                <a:cubicBezTo>
                  <a:pt x="0" y="44113"/>
                  <a:pt x="44113" y="0"/>
                  <a:pt x="98449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0"/>
          <p:cNvSpPr/>
          <p:nvPr/>
        </p:nvSpPr>
        <p:spPr>
          <a:xfrm>
            <a:off x="649132" y="8677042"/>
            <a:ext cx="276881" cy="246117"/>
          </a:xfrm>
          <a:custGeom>
            <a:avLst/>
            <a:gdLst/>
            <a:ahLst/>
            <a:cxnLst/>
            <a:rect l="l" t="t" r="r" b="b"/>
            <a:pathLst>
              <a:path w="276881" h="246117">
                <a:moveTo>
                  <a:pt x="23073" y="94120"/>
                </a:moveTo>
                <a:lnTo>
                  <a:pt x="123635" y="135508"/>
                </a:lnTo>
                <a:cubicBezTo>
                  <a:pt x="128346" y="137431"/>
                  <a:pt x="133345" y="138441"/>
                  <a:pt x="138441" y="138441"/>
                </a:cubicBezTo>
                <a:cubicBezTo>
                  <a:pt x="143536" y="138441"/>
                  <a:pt x="148535" y="137431"/>
                  <a:pt x="153246" y="135508"/>
                </a:cubicBezTo>
                <a:lnTo>
                  <a:pt x="269767" y="87535"/>
                </a:lnTo>
                <a:cubicBezTo>
                  <a:pt x="274093" y="85756"/>
                  <a:pt x="276881" y="81574"/>
                  <a:pt x="276881" y="76911"/>
                </a:cubicBezTo>
                <a:cubicBezTo>
                  <a:pt x="276881" y="72249"/>
                  <a:pt x="274093" y="68067"/>
                  <a:pt x="269767" y="66288"/>
                </a:cubicBezTo>
                <a:lnTo>
                  <a:pt x="153246" y="18315"/>
                </a:lnTo>
                <a:cubicBezTo>
                  <a:pt x="148535" y="16392"/>
                  <a:pt x="143536" y="15382"/>
                  <a:pt x="138441" y="15382"/>
                </a:cubicBezTo>
                <a:cubicBezTo>
                  <a:pt x="133345" y="15382"/>
                  <a:pt x="128346" y="16392"/>
                  <a:pt x="123635" y="18315"/>
                </a:cubicBezTo>
                <a:lnTo>
                  <a:pt x="7114" y="66288"/>
                </a:lnTo>
                <a:cubicBezTo>
                  <a:pt x="2788" y="68067"/>
                  <a:pt x="0" y="72249"/>
                  <a:pt x="0" y="76911"/>
                </a:cubicBezTo>
                <a:lnTo>
                  <a:pt x="0" y="219198"/>
                </a:lnTo>
                <a:cubicBezTo>
                  <a:pt x="0" y="225591"/>
                  <a:pt x="5143" y="230734"/>
                  <a:pt x="11537" y="230734"/>
                </a:cubicBezTo>
                <a:cubicBezTo>
                  <a:pt x="17930" y="230734"/>
                  <a:pt x="23073" y="225591"/>
                  <a:pt x="23073" y="219198"/>
                </a:cubicBezTo>
                <a:lnTo>
                  <a:pt x="23073" y="94120"/>
                </a:lnTo>
                <a:close/>
                <a:moveTo>
                  <a:pt x="46147" y="128586"/>
                </a:moveTo>
                <a:lnTo>
                  <a:pt x="46147" y="184587"/>
                </a:lnTo>
                <a:cubicBezTo>
                  <a:pt x="46147" y="210064"/>
                  <a:pt x="87487" y="230734"/>
                  <a:pt x="138441" y="230734"/>
                </a:cubicBezTo>
                <a:cubicBezTo>
                  <a:pt x="189394" y="230734"/>
                  <a:pt x="230734" y="210064"/>
                  <a:pt x="230734" y="184587"/>
                </a:cubicBezTo>
                <a:lnTo>
                  <a:pt x="230734" y="128538"/>
                </a:lnTo>
                <a:lnTo>
                  <a:pt x="162043" y="156851"/>
                </a:lnTo>
                <a:cubicBezTo>
                  <a:pt x="154544" y="159928"/>
                  <a:pt x="146564" y="161514"/>
                  <a:pt x="138441" y="161514"/>
                </a:cubicBezTo>
                <a:cubicBezTo>
                  <a:pt x="130317" y="161514"/>
                  <a:pt x="122337" y="159928"/>
                  <a:pt x="114838" y="156851"/>
                </a:cubicBezTo>
                <a:lnTo>
                  <a:pt x="46147" y="128538"/>
                </a:ln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1"/>
          <p:cNvSpPr/>
          <p:nvPr/>
        </p:nvSpPr>
        <p:spPr>
          <a:xfrm>
            <a:off x="1230583" y="8504760"/>
            <a:ext cx="2079685" cy="246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dirty="0">
                <a:solidFill>
                  <a:srgbClr val="E1E3E6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学习成果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1230583" y="8750877"/>
            <a:ext cx="2104297" cy="344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44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系统化掌握流式计算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3617914" y="8504760"/>
            <a:ext cx="590680" cy="590680"/>
          </a:xfrm>
          <a:custGeom>
            <a:avLst/>
            <a:gdLst/>
            <a:ahLst/>
            <a:cxnLst/>
            <a:rect l="l" t="t" r="r" b="b"/>
            <a:pathLst>
              <a:path w="590680" h="590680">
                <a:moveTo>
                  <a:pt x="98449" y="0"/>
                </a:moveTo>
                <a:lnTo>
                  <a:pt x="492231" y="0"/>
                </a:lnTo>
                <a:cubicBezTo>
                  <a:pt x="546603" y="0"/>
                  <a:pt x="590680" y="44077"/>
                  <a:pt x="590680" y="98449"/>
                </a:cubicBezTo>
                <a:lnTo>
                  <a:pt x="590680" y="492231"/>
                </a:lnTo>
                <a:cubicBezTo>
                  <a:pt x="590680" y="546603"/>
                  <a:pt x="546603" y="590680"/>
                  <a:pt x="492231" y="590680"/>
                </a:cubicBezTo>
                <a:lnTo>
                  <a:pt x="98449" y="590680"/>
                </a:lnTo>
                <a:cubicBezTo>
                  <a:pt x="44077" y="590680"/>
                  <a:pt x="0" y="546603"/>
                  <a:pt x="0" y="492231"/>
                </a:cubicBezTo>
                <a:lnTo>
                  <a:pt x="0" y="98449"/>
                </a:lnTo>
                <a:cubicBezTo>
                  <a:pt x="0" y="44113"/>
                  <a:pt x="44113" y="0"/>
                  <a:pt x="98449" y="0"/>
                </a:cubicBezTo>
                <a:close/>
              </a:path>
            </a:pathLst>
          </a:custGeom>
          <a:solidFill>
            <a:srgbClr val="32C7B4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4"/>
          <p:cNvSpPr/>
          <p:nvPr/>
        </p:nvSpPr>
        <p:spPr>
          <a:xfrm>
            <a:off x="3790195" y="8677042"/>
            <a:ext cx="246117" cy="246117"/>
          </a:xfrm>
          <a:custGeom>
            <a:avLst/>
            <a:gdLst/>
            <a:ahLst/>
            <a:cxnLst/>
            <a:rect l="l" t="t" r="r" b="b"/>
            <a:pathLst>
              <a:path w="246117" h="246117">
                <a:moveTo>
                  <a:pt x="61529" y="153823"/>
                </a:moveTo>
                <a:lnTo>
                  <a:pt x="11777" y="153823"/>
                </a:lnTo>
                <a:cubicBezTo>
                  <a:pt x="-192" y="153823"/>
                  <a:pt x="-7547" y="140796"/>
                  <a:pt x="-1394" y="130509"/>
                </a:cubicBezTo>
                <a:lnTo>
                  <a:pt x="24035" y="88112"/>
                </a:lnTo>
                <a:cubicBezTo>
                  <a:pt x="28217" y="81142"/>
                  <a:pt x="35716" y="76911"/>
                  <a:pt x="43840" y="76911"/>
                </a:cubicBezTo>
                <a:lnTo>
                  <a:pt x="89506" y="76911"/>
                </a:lnTo>
                <a:cubicBezTo>
                  <a:pt x="126087" y="14950"/>
                  <a:pt x="180646" y="11825"/>
                  <a:pt x="217131" y="17161"/>
                </a:cubicBezTo>
                <a:cubicBezTo>
                  <a:pt x="223283" y="18074"/>
                  <a:pt x="228090" y="22881"/>
                  <a:pt x="228956" y="28986"/>
                </a:cubicBezTo>
                <a:cubicBezTo>
                  <a:pt x="234291" y="65471"/>
                  <a:pt x="231167" y="120030"/>
                  <a:pt x="169205" y="156611"/>
                </a:cubicBezTo>
                <a:lnTo>
                  <a:pt x="169205" y="202277"/>
                </a:lnTo>
                <a:cubicBezTo>
                  <a:pt x="169205" y="210401"/>
                  <a:pt x="164975" y="217900"/>
                  <a:pt x="158005" y="222082"/>
                </a:cubicBezTo>
                <a:lnTo>
                  <a:pt x="115607" y="247511"/>
                </a:lnTo>
                <a:cubicBezTo>
                  <a:pt x="105369" y="253664"/>
                  <a:pt x="92294" y="246261"/>
                  <a:pt x="92294" y="234340"/>
                </a:cubicBezTo>
                <a:lnTo>
                  <a:pt x="92294" y="184587"/>
                </a:lnTo>
                <a:cubicBezTo>
                  <a:pt x="92294" y="167619"/>
                  <a:pt x="78498" y="153823"/>
                  <a:pt x="61529" y="153823"/>
                </a:cubicBezTo>
                <a:lnTo>
                  <a:pt x="61481" y="153823"/>
                </a:lnTo>
                <a:close/>
                <a:moveTo>
                  <a:pt x="192279" y="76911"/>
                </a:moveTo>
                <a:cubicBezTo>
                  <a:pt x="192279" y="64177"/>
                  <a:pt x="181940" y="53838"/>
                  <a:pt x="169205" y="53838"/>
                </a:cubicBezTo>
                <a:cubicBezTo>
                  <a:pt x="156471" y="53838"/>
                  <a:pt x="146132" y="64177"/>
                  <a:pt x="146132" y="76911"/>
                </a:cubicBezTo>
                <a:cubicBezTo>
                  <a:pt x="146132" y="89646"/>
                  <a:pt x="156471" y="99985"/>
                  <a:pt x="169205" y="99985"/>
                </a:cubicBezTo>
                <a:cubicBezTo>
                  <a:pt x="181940" y="99985"/>
                  <a:pt x="192279" y="89646"/>
                  <a:pt x="192279" y="76911"/>
                </a:cubicBezTo>
                <a:close/>
              </a:path>
            </a:pathLst>
          </a:custGeom>
          <a:solidFill>
            <a:srgbClr val="32C7B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5"/>
          <p:cNvSpPr/>
          <p:nvPr/>
        </p:nvSpPr>
        <p:spPr>
          <a:xfrm>
            <a:off x="4356263" y="8504760"/>
            <a:ext cx="1858180" cy="246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dirty="0">
                <a:solidFill>
                  <a:srgbClr val="E1E3E6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下一步行动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4356263" y="8750877"/>
            <a:ext cx="1882792" cy="344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44" b="1" dirty="0">
                <a:solidFill>
                  <a:srgbClr val="E1E3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开启生产实践之旅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5011</Words>
  <Application>Microsoft Macintosh PowerPoint</Application>
  <PresentationFormat>自定义</PresentationFormat>
  <Paragraphs>1005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0" baseType="lpstr">
      <vt:lpstr>MiSans</vt:lpstr>
      <vt:lpstr>微软雅黑</vt:lpstr>
      <vt:lpstr>Arial</vt:lpstr>
      <vt:lpstr>Calibri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etl_to_stream_computing</dc:title>
  <dc:subject>etl_to_stream_computing</dc:subject>
  <dc:creator>Kimi</dc:creator>
  <cp:lastModifiedBy>王 天青</cp:lastModifiedBy>
  <cp:revision>6</cp:revision>
  <dcterms:created xsi:type="dcterms:W3CDTF">2025-12-19T13:42:41Z</dcterms:created>
  <dcterms:modified xsi:type="dcterms:W3CDTF">2025-12-19T14:08:00Z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{"Label":"etl_to_stream_computing","ContentProducer":"001191110108MACG2KBH8F10000","ProduceID":"19b36cf2-6d22-8900-8000-000002f6e43c","ReservedCode1":"","ContentPropagator":"001191110108MACG2KBH8F20000","PropagateID":"19b36cf2-6d22-8900-8000-000002f6e43c","ReservedCode2":""}</vt:lpwstr>
  </property>
</Properties>
</file>