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6256000" cy="9144000"/>
  <p:notesSz cx="9144000" cy="16256000"/>
  <p:embeddedFontLst>
    <p:embeddedFont>
      <p:font typeface="MiSans" pitchFamily="2" charset="-122"/>
      <p:regular r:id="rId24"/>
    </p:embeddedFont>
    <p:embeddedFont>
      <p:font typeface="Noto Sans SC" panose="020B0200000000000000" pitchFamily="34" charset="-128"/>
      <p:regular r:id="rId25"/>
    </p:embeddedFont>
    <p:embeddedFont>
      <p:font typeface="Liter" panose="02000503030000020004" pitchFamily="2" charset="0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53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06a942b0d6f5edc064c92b67580f2a41b3465b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2380" b="1238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455738"/>
            <a:ext cx="2933700" cy="584200"/>
          </a:xfrm>
          <a:custGeom>
            <a:avLst/>
            <a:gdLst/>
            <a:ahLst/>
            <a:cxnLst/>
            <a:rect l="l" t="t" r="r" b="b"/>
            <a:pathLst>
              <a:path w="2933700" h="584200">
                <a:moveTo>
                  <a:pt x="0" y="0"/>
                </a:moveTo>
                <a:lnTo>
                  <a:pt x="2933700" y="0"/>
                </a:lnTo>
                <a:lnTo>
                  <a:pt x="29337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582738"/>
            <a:ext cx="25112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540" dirty="0">
                <a:solidFill>
                  <a:srgbClr val="BC8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FLINK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59038"/>
            <a:ext cx="1584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Flink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C80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设计与实现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3038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761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Flink 核心技术与实现原理教学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0700" y="7205663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0" y="0"/>
                </a:moveTo>
                <a:lnTo>
                  <a:pt x="482600" y="0"/>
                </a:lnTo>
                <a:lnTo>
                  <a:pt x="482600" y="482600"/>
                </a:lnTo>
                <a:lnTo>
                  <a:pt x="0" y="48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35000" y="73199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68400" y="7269163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流处理优先架构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90900" y="7205663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0" y="0"/>
                </a:moveTo>
                <a:lnTo>
                  <a:pt x="482600" y="0"/>
                </a:lnTo>
                <a:lnTo>
                  <a:pt x="482600" y="482600"/>
                </a:lnTo>
                <a:lnTo>
                  <a:pt x="0" y="48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505200" y="73199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038600" y="7269163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事件时间语义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32500" y="7205663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0" y="0"/>
                </a:moveTo>
                <a:lnTo>
                  <a:pt x="482600" y="0"/>
                </a:lnTo>
                <a:lnTo>
                  <a:pt x="482600" y="482600"/>
                </a:lnTo>
                <a:lnTo>
                  <a:pt x="0" y="48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146800" y="73199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680200" y="7269163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Exactly-Once 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101600" cy="812800"/>
          </a:xfrm>
          <a:custGeom>
            <a:avLst/>
            <a:gdLst/>
            <a:ahLst/>
            <a:cxnLst/>
            <a:rect l="l" t="t" r="r" b="b"/>
            <a:pathLst>
              <a:path w="101600" h="812800">
                <a:moveTo>
                  <a:pt x="0" y="0"/>
                </a:moveTo>
                <a:lnTo>
                  <a:pt x="101600" y="0"/>
                </a:lnTo>
                <a:lnTo>
                  <a:pt x="101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2800" y="508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课程大纲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981200"/>
            <a:ext cx="4851400" cy="5257800"/>
          </a:xfrm>
          <a:custGeom>
            <a:avLst/>
            <a:gdLst/>
            <a:ahLst/>
            <a:cxnLst/>
            <a:rect l="l" t="t" r="r" b="b"/>
            <a:pathLst>
              <a:path w="4851400" h="52578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5156212"/>
                </a:lnTo>
                <a:cubicBezTo>
                  <a:pt x="4851400" y="5212317"/>
                  <a:pt x="4805917" y="5257800"/>
                  <a:pt x="4749812" y="5257800"/>
                </a:cubicBezTo>
                <a:lnTo>
                  <a:pt x="50800" y="5257800"/>
                </a:lnTo>
                <a:cubicBezTo>
                  <a:pt x="22744" y="5257800"/>
                  <a:pt x="0" y="5235056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8082">
                  <a:alpha val="30000"/>
                </a:srgbClr>
              </a:gs>
              <a:gs pos="100000">
                <a:srgbClr val="5A6F7B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981200"/>
            <a:ext cx="50800" cy="5257800"/>
          </a:xfrm>
          <a:custGeom>
            <a:avLst/>
            <a:gdLst/>
            <a:ahLst/>
            <a:cxnLst/>
            <a:rect l="l" t="t" r="r" b="b"/>
            <a:pathLst>
              <a:path w="50800" h="5257800">
                <a:moveTo>
                  <a:pt x="50800" y="0"/>
                </a:moveTo>
                <a:lnTo>
                  <a:pt x="50800" y="0"/>
                </a:lnTo>
                <a:lnTo>
                  <a:pt x="50800" y="5257800"/>
                </a:lnTo>
                <a:lnTo>
                  <a:pt x="50800" y="5257800"/>
                </a:lnTo>
                <a:cubicBezTo>
                  <a:pt x="22763" y="5257800"/>
                  <a:pt x="0" y="5235037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28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72257" y="24638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311400"/>
            <a:ext cx="1765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Flink 概览与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27100" y="33528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19200" y="33020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简介与发展历程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7100" y="38100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19200" y="3759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核心设计目标解析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7100" y="42672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19200" y="4216400"/>
            <a:ext cx="237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Spark Streaming 对比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7100" y="4724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19200" y="4673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分层架构与运行时组件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7100" y="51816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219200" y="5130800"/>
            <a:ext cx="208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并行度、Slot、算子链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1981200"/>
            <a:ext cx="4851400" cy="5257800"/>
          </a:xfrm>
          <a:custGeom>
            <a:avLst/>
            <a:gdLst/>
            <a:ahLst/>
            <a:cxnLst/>
            <a:rect l="l" t="t" r="r" b="b"/>
            <a:pathLst>
              <a:path w="4851400" h="52578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5156212"/>
                </a:lnTo>
                <a:cubicBezTo>
                  <a:pt x="4851400" y="5212317"/>
                  <a:pt x="4805917" y="5257800"/>
                  <a:pt x="4749812" y="5257800"/>
                </a:cubicBezTo>
                <a:lnTo>
                  <a:pt x="50800" y="5257800"/>
                </a:lnTo>
                <a:cubicBezTo>
                  <a:pt x="22744" y="5257800"/>
                  <a:pt x="0" y="5235056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30000"/>
                </a:srgbClr>
              </a:gs>
              <a:gs pos="100000">
                <a:srgbClr val="3C8082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715000" y="1981200"/>
            <a:ext cx="50800" cy="5257800"/>
          </a:xfrm>
          <a:custGeom>
            <a:avLst/>
            <a:gdLst/>
            <a:ahLst/>
            <a:cxnLst/>
            <a:rect l="l" t="t" r="r" b="b"/>
            <a:pathLst>
              <a:path w="50800" h="5257800">
                <a:moveTo>
                  <a:pt x="50800" y="0"/>
                </a:moveTo>
                <a:lnTo>
                  <a:pt x="50800" y="0"/>
                </a:lnTo>
                <a:lnTo>
                  <a:pt x="50800" y="5257800"/>
                </a:lnTo>
                <a:lnTo>
                  <a:pt x="50800" y="5257800"/>
                </a:lnTo>
                <a:cubicBezTo>
                  <a:pt x="22763" y="5257800"/>
                  <a:pt x="0" y="5235037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045200" y="228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19329" y="24638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61200" y="23114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DataStream API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与执行原理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08700" y="33528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00800" y="3302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编程模型概览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08700" y="38100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0" y="37592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数据源 (Data Sources)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08700" y="42672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00800" y="4216400"/>
            <a:ext cx="261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转换操作 (Transformations)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08700" y="4724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00800" y="46736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数据汇 (Data Sinks)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08700" y="51816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0" y="513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执行环境配置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96600" y="1981200"/>
            <a:ext cx="4851400" cy="5257800"/>
          </a:xfrm>
          <a:custGeom>
            <a:avLst/>
            <a:gdLst/>
            <a:ahLst/>
            <a:cxnLst/>
            <a:rect l="l" t="t" r="r" b="b"/>
            <a:pathLst>
              <a:path w="4851400" h="52578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5156212"/>
                </a:lnTo>
                <a:cubicBezTo>
                  <a:pt x="4851400" y="5212317"/>
                  <a:pt x="4805917" y="5257800"/>
                  <a:pt x="4749812" y="5257800"/>
                </a:cubicBezTo>
                <a:lnTo>
                  <a:pt x="50800" y="5257800"/>
                </a:lnTo>
                <a:cubicBezTo>
                  <a:pt x="22744" y="5257800"/>
                  <a:pt x="0" y="5235056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BC8A4B">
                  <a:alpha val="30000"/>
                </a:srgbClr>
              </a:gs>
              <a:gs pos="100000">
                <a:srgbClr val="3C8082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896600" y="1981200"/>
            <a:ext cx="50800" cy="5257800"/>
          </a:xfrm>
          <a:custGeom>
            <a:avLst/>
            <a:gdLst/>
            <a:ahLst/>
            <a:cxnLst/>
            <a:rect l="l" t="t" r="r" b="b"/>
            <a:pathLst>
              <a:path w="50800" h="5257800">
                <a:moveTo>
                  <a:pt x="50800" y="0"/>
                </a:moveTo>
                <a:lnTo>
                  <a:pt x="50800" y="0"/>
                </a:lnTo>
                <a:lnTo>
                  <a:pt x="50800" y="5257800"/>
                </a:lnTo>
                <a:lnTo>
                  <a:pt x="50800" y="5257800"/>
                </a:lnTo>
                <a:cubicBezTo>
                  <a:pt x="22763" y="5257800"/>
                  <a:pt x="0" y="5235037"/>
                  <a:pt x="0" y="520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226800" y="228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399242" y="24638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242800" y="23114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时间语义与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窗口操作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290300" y="33528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582400" y="33020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三种时间语义详解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290300" y="38100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582400" y="3759200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机制原理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290300" y="42672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582400" y="42164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窗口类型与操作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290300" y="4724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582400" y="4673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窗口函数应用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290300" y="51816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582400" y="5130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实时流量统计案例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4350" y="7550150"/>
            <a:ext cx="4864100" cy="1079500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27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50888" y="7899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403350" y="7759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403350" y="8064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掌握核心技术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95950" y="7550150"/>
            <a:ext cx="4864100" cy="1079500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 w="12700">
            <a:solidFill>
              <a:srgbClr val="5A6F7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932488" y="7899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84950" y="7759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实践导向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84950" y="8064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代码驱动教学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877550" y="7550150"/>
            <a:ext cx="4864100" cy="1079500"/>
          </a:xfrm>
          <a:custGeom>
            <a:avLst/>
            <a:gdLst/>
            <a:ahLst/>
            <a:cxnLst/>
            <a:rect l="l" t="t" r="r" b="b"/>
            <a:pathLst>
              <a:path w="4864100" h="1079500">
                <a:moveTo>
                  <a:pt x="101603" y="0"/>
                </a:moveTo>
                <a:lnTo>
                  <a:pt x="4762497" y="0"/>
                </a:lnTo>
                <a:cubicBezTo>
                  <a:pt x="4818611" y="0"/>
                  <a:pt x="4864100" y="45489"/>
                  <a:pt x="4864100" y="101603"/>
                </a:cubicBezTo>
                <a:lnTo>
                  <a:pt x="4864100" y="977897"/>
                </a:lnTo>
                <a:cubicBezTo>
                  <a:pt x="4864100" y="1034011"/>
                  <a:pt x="4818611" y="1079500"/>
                  <a:pt x="476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C8A4B">
              <a:alpha val="20000"/>
            </a:srgbClr>
          </a:solidFill>
          <a:ln w="12700">
            <a:solidFill>
              <a:srgbClr val="BC8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1137900" y="789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59531"/>
                </a:moveTo>
                <a:cubicBezTo>
                  <a:pt x="0" y="39812"/>
                  <a:pt x="15999" y="23812"/>
                  <a:pt x="35719" y="23812"/>
                </a:cubicBezTo>
                <a:lnTo>
                  <a:pt x="107156" y="23812"/>
                </a:lnTo>
                <a:cubicBezTo>
                  <a:pt x="126876" y="23812"/>
                  <a:pt x="142875" y="39812"/>
                  <a:pt x="142875" y="59531"/>
                </a:cubicBezTo>
                <a:lnTo>
                  <a:pt x="142875" y="71438"/>
                </a:lnTo>
                <a:lnTo>
                  <a:pt x="238125" y="71438"/>
                </a:lnTo>
                <a:lnTo>
                  <a:pt x="238125" y="59531"/>
                </a:lnTo>
                <a:cubicBezTo>
                  <a:pt x="238125" y="39812"/>
                  <a:pt x="254124" y="23812"/>
                  <a:pt x="273844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130969"/>
                </a:lnTo>
                <a:cubicBezTo>
                  <a:pt x="381000" y="150688"/>
                  <a:pt x="365001" y="166688"/>
                  <a:pt x="345281" y="166688"/>
                </a:cubicBezTo>
                <a:lnTo>
                  <a:pt x="273844" y="166688"/>
                </a:lnTo>
                <a:cubicBezTo>
                  <a:pt x="254124" y="166688"/>
                  <a:pt x="238125" y="150688"/>
                  <a:pt x="238125" y="130969"/>
                </a:cubicBezTo>
                <a:lnTo>
                  <a:pt x="238125" y="119063"/>
                </a:lnTo>
                <a:lnTo>
                  <a:pt x="142875" y="119063"/>
                </a:lnTo>
                <a:lnTo>
                  <a:pt x="142875" y="130969"/>
                </a:lnTo>
                <a:cubicBezTo>
                  <a:pt x="142875" y="136401"/>
                  <a:pt x="141610" y="141610"/>
                  <a:pt x="139452" y="146224"/>
                </a:cubicBezTo>
                <a:lnTo>
                  <a:pt x="190500" y="214313"/>
                </a:lnTo>
                <a:lnTo>
                  <a:pt x="250031" y="214313"/>
                </a:lnTo>
                <a:cubicBezTo>
                  <a:pt x="269751" y="214313"/>
                  <a:pt x="285750" y="230312"/>
                  <a:pt x="285750" y="250031"/>
                </a:cubicBezTo>
                <a:lnTo>
                  <a:pt x="285750" y="321469"/>
                </a:lnTo>
                <a:cubicBezTo>
                  <a:pt x="285750" y="341188"/>
                  <a:pt x="269751" y="357188"/>
                  <a:pt x="250031" y="357188"/>
                </a:cubicBezTo>
                <a:lnTo>
                  <a:pt x="178594" y="357188"/>
                </a:lnTo>
                <a:cubicBezTo>
                  <a:pt x="158874" y="357188"/>
                  <a:pt x="142875" y="341188"/>
                  <a:pt x="142875" y="321469"/>
                </a:cubicBezTo>
                <a:lnTo>
                  <a:pt x="142875" y="250031"/>
                </a:lnTo>
                <a:cubicBezTo>
                  <a:pt x="142875" y="244599"/>
                  <a:pt x="144140" y="239390"/>
                  <a:pt x="146298" y="234776"/>
                </a:cubicBezTo>
                <a:lnTo>
                  <a:pt x="95250" y="166688"/>
                </a:lnTo>
                <a:lnTo>
                  <a:pt x="35719" y="166688"/>
                </a:lnTo>
                <a:cubicBezTo>
                  <a:pt x="15999" y="166688"/>
                  <a:pt x="0" y="150688"/>
                  <a:pt x="0" y="130969"/>
                </a:cubicBezTo>
                <a:lnTo>
                  <a:pt x="0" y="59531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766550" y="7759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系统性学习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766550" y="8064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完整知识体系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stuary.dev/9793a668654954736bf893a74098c20864ac1df5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8819" b="1881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C8082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095625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645025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254625"/>
            <a:ext cx="15544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概览与核心概念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70580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781050" y="708342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46200" y="7058025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发展历程与设计目标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62600" y="70580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791200" y="7083425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375400" y="7058025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技术优势对比分析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400" y="77184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00100" y="7743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346200" y="7718425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分层架构设计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62600" y="77184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791200" y="7743825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375400" y="7718425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运行时组件与执行模型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377" y="490377"/>
            <a:ext cx="73557" cy="490377"/>
          </a:xfrm>
          <a:custGeom>
            <a:avLst/>
            <a:gdLst/>
            <a:ahLst/>
            <a:cxnLst/>
            <a:rect l="l" t="t" r="r" b="b"/>
            <a:pathLst>
              <a:path w="73557" h="490377">
                <a:moveTo>
                  <a:pt x="0" y="0"/>
                </a:moveTo>
                <a:lnTo>
                  <a:pt x="73557" y="0"/>
                </a:lnTo>
                <a:lnTo>
                  <a:pt x="73557" y="490377"/>
                </a:lnTo>
                <a:lnTo>
                  <a:pt x="0" y="490377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1047" y="588452"/>
            <a:ext cx="1348537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kern="0" spc="77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0377" y="1078830"/>
            <a:ext cx="15495916" cy="490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7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Flink 简介与发展历程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0377" y="1643168"/>
            <a:ext cx="15385581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Stratosphere 研究项目到 Apache 顶级项目的演进之路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896" y="2127719"/>
            <a:ext cx="10089508" cy="2378329"/>
          </a:xfrm>
          <a:custGeom>
            <a:avLst/>
            <a:gdLst/>
            <a:ahLst/>
            <a:cxnLst/>
            <a:rect l="l" t="t" r="r" b="b"/>
            <a:pathLst>
              <a:path w="10089508" h="2378329">
                <a:moveTo>
                  <a:pt x="49038" y="0"/>
                </a:moveTo>
                <a:lnTo>
                  <a:pt x="9991426" y="0"/>
                </a:lnTo>
                <a:cubicBezTo>
                  <a:pt x="10045595" y="0"/>
                  <a:pt x="10089508" y="43913"/>
                  <a:pt x="10089508" y="98082"/>
                </a:cubicBezTo>
                <a:lnTo>
                  <a:pt x="10089508" y="2280247"/>
                </a:lnTo>
                <a:cubicBezTo>
                  <a:pt x="10089508" y="2334416"/>
                  <a:pt x="10045595" y="2378329"/>
                  <a:pt x="9991426" y="2378329"/>
                </a:cubicBezTo>
                <a:lnTo>
                  <a:pt x="49038" y="2378329"/>
                </a:lnTo>
                <a:cubicBezTo>
                  <a:pt x="21955" y="2378329"/>
                  <a:pt x="0" y="2356374"/>
                  <a:pt x="0" y="2329291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gradFill flip="none" rotWithShape="1">
            <a:gsLst>
              <a:gs pos="0">
                <a:srgbClr val="3C808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4896" y="2127719"/>
            <a:ext cx="49038" cy="2378329"/>
          </a:xfrm>
          <a:custGeom>
            <a:avLst/>
            <a:gdLst/>
            <a:ahLst/>
            <a:cxnLst/>
            <a:rect l="l" t="t" r="r" b="b"/>
            <a:pathLst>
              <a:path w="49038" h="2378329">
                <a:moveTo>
                  <a:pt x="49038" y="0"/>
                </a:moveTo>
                <a:lnTo>
                  <a:pt x="49038" y="0"/>
                </a:lnTo>
                <a:lnTo>
                  <a:pt x="49038" y="2378329"/>
                </a:lnTo>
                <a:lnTo>
                  <a:pt x="49038" y="2378329"/>
                </a:lnTo>
                <a:cubicBezTo>
                  <a:pt x="21955" y="2378329"/>
                  <a:pt x="0" y="2356374"/>
                  <a:pt x="0" y="2329291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4603" y="2372907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56235" y="2544539"/>
            <a:ext cx="245189" cy="245189"/>
          </a:xfrm>
          <a:custGeom>
            <a:avLst/>
            <a:gdLst/>
            <a:ahLst/>
            <a:cxnLst/>
            <a:rect l="l" t="t" r="r" b="b"/>
            <a:pathLst>
              <a:path w="245189" h="245189">
                <a:moveTo>
                  <a:pt x="245189" y="15324"/>
                </a:moveTo>
                <a:cubicBezTo>
                  <a:pt x="245189" y="67092"/>
                  <a:pt x="208506" y="110287"/>
                  <a:pt x="159756" y="120391"/>
                </a:cubicBezTo>
                <a:cubicBezTo>
                  <a:pt x="155972" y="92568"/>
                  <a:pt x="143474" y="67523"/>
                  <a:pt x="125037" y="48128"/>
                </a:cubicBezTo>
                <a:cubicBezTo>
                  <a:pt x="144240" y="19155"/>
                  <a:pt x="177139" y="0"/>
                  <a:pt x="214540" y="0"/>
                </a:cubicBezTo>
                <a:lnTo>
                  <a:pt x="229864" y="0"/>
                </a:lnTo>
                <a:cubicBezTo>
                  <a:pt x="238340" y="0"/>
                  <a:pt x="245189" y="6848"/>
                  <a:pt x="245189" y="15324"/>
                </a:cubicBezTo>
                <a:close/>
                <a:moveTo>
                  <a:pt x="0" y="45973"/>
                </a:moveTo>
                <a:cubicBezTo>
                  <a:pt x="0" y="37497"/>
                  <a:pt x="6848" y="30649"/>
                  <a:pt x="15324" y="30649"/>
                </a:cubicBezTo>
                <a:lnTo>
                  <a:pt x="30649" y="30649"/>
                </a:lnTo>
                <a:cubicBezTo>
                  <a:pt x="89887" y="30649"/>
                  <a:pt x="137919" y="78681"/>
                  <a:pt x="137919" y="137919"/>
                </a:cubicBezTo>
                <a:lnTo>
                  <a:pt x="137919" y="229864"/>
                </a:lnTo>
                <a:cubicBezTo>
                  <a:pt x="137919" y="238340"/>
                  <a:pt x="131071" y="245189"/>
                  <a:pt x="122594" y="245189"/>
                </a:cubicBezTo>
                <a:cubicBezTo>
                  <a:pt x="114118" y="245189"/>
                  <a:pt x="107270" y="238340"/>
                  <a:pt x="107270" y="229864"/>
                </a:cubicBezTo>
                <a:lnTo>
                  <a:pt x="107270" y="153243"/>
                </a:lnTo>
                <a:cubicBezTo>
                  <a:pt x="48032" y="153243"/>
                  <a:pt x="0" y="105211"/>
                  <a:pt x="0" y="459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69207" y="2372907"/>
            <a:ext cx="8912603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项目起源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69207" y="2814246"/>
            <a:ext cx="8888084" cy="9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Flink 起源于 2010 年德国柏林理工大学、柏林洪堡大学和哈索普拉特纳研究所联合发起的</a:t>
            </a:r>
            <a:r>
              <a:rPr lang="en-US" sz="1544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Stratosphere 研究项目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。2014 年 4 月，Stratosphere 代码被捐赠给 Apache 软件基金会，并更名为</a:t>
            </a:r>
            <a:r>
              <a:rPr lang="en-US" sz="1544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Flink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（德语中意为"快速、灵巧"）。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69207" y="3917595"/>
            <a:ext cx="870419" cy="343264"/>
          </a:xfrm>
          <a:custGeom>
            <a:avLst/>
            <a:gdLst/>
            <a:ahLst/>
            <a:cxnLst/>
            <a:rect l="l" t="t" r="r" b="b"/>
            <a:pathLst>
              <a:path w="870419" h="343264">
                <a:moveTo>
                  <a:pt x="171632" y="0"/>
                </a:moveTo>
                <a:lnTo>
                  <a:pt x="698787" y="0"/>
                </a:lnTo>
                <a:cubicBezTo>
                  <a:pt x="793577" y="0"/>
                  <a:pt x="870419" y="76842"/>
                  <a:pt x="870419" y="171632"/>
                </a:cubicBezTo>
                <a:lnTo>
                  <a:pt x="870419" y="171632"/>
                </a:lnTo>
                <a:cubicBezTo>
                  <a:pt x="870419" y="266422"/>
                  <a:pt x="793577" y="343264"/>
                  <a:pt x="698787" y="343264"/>
                </a:cubicBezTo>
                <a:lnTo>
                  <a:pt x="171632" y="343264"/>
                </a:lnTo>
                <a:cubicBezTo>
                  <a:pt x="76842" y="343264"/>
                  <a:pt x="0" y="266422"/>
                  <a:pt x="0" y="171632"/>
                </a:cubicBezTo>
                <a:lnTo>
                  <a:pt x="0" y="171632"/>
                </a:lnTo>
                <a:cubicBezTo>
                  <a:pt x="0" y="76842"/>
                  <a:pt x="76842" y="0"/>
                  <a:pt x="171632" y="0"/>
                </a:cubicBez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569207" y="3917595"/>
            <a:ext cx="956235" cy="343264"/>
          </a:xfrm>
          <a:prstGeom prst="rect">
            <a:avLst/>
          </a:prstGeom>
          <a:noFill/>
          <a:ln/>
        </p:spPr>
        <p:txBody>
          <a:bodyPr wrap="square" lIns="147113" tIns="49038" rIns="147113" bIns="49038" rtlCol="0" anchor="ctr"/>
          <a:lstStyle/>
          <a:p>
            <a:pPr>
              <a:lnSpc>
                <a:spcPct val="120000"/>
              </a:lnSpc>
            </a:pPr>
            <a:r>
              <a:rPr lang="en-US" sz="1351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2014.12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40757" y="3942114"/>
            <a:ext cx="207184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 Apache 顶级项目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896" y="4702198"/>
            <a:ext cx="10089508" cy="2231216"/>
          </a:xfrm>
          <a:custGeom>
            <a:avLst/>
            <a:gdLst/>
            <a:ahLst/>
            <a:cxnLst/>
            <a:rect l="l" t="t" r="r" b="b"/>
            <a:pathLst>
              <a:path w="10089508" h="2231216">
                <a:moveTo>
                  <a:pt x="49038" y="0"/>
                </a:moveTo>
                <a:lnTo>
                  <a:pt x="9991424" y="0"/>
                </a:lnTo>
                <a:cubicBezTo>
                  <a:pt x="10045594" y="0"/>
                  <a:pt x="10089508" y="43914"/>
                  <a:pt x="10089508" y="98084"/>
                </a:cubicBezTo>
                <a:lnTo>
                  <a:pt x="10089508" y="2133131"/>
                </a:lnTo>
                <a:cubicBezTo>
                  <a:pt x="10089508" y="2187302"/>
                  <a:pt x="10045594" y="2231216"/>
                  <a:pt x="9991424" y="2231216"/>
                </a:cubicBezTo>
                <a:lnTo>
                  <a:pt x="49038" y="2231216"/>
                </a:lnTo>
                <a:cubicBezTo>
                  <a:pt x="21955" y="2231216"/>
                  <a:pt x="0" y="2209261"/>
                  <a:pt x="0" y="21821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14896" y="4702198"/>
            <a:ext cx="49038" cy="2231216"/>
          </a:xfrm>
          <a:custGeom>
            <a:avLst/>
            <a:gdLst/>
            <a:ahLst/>
            <a:cxnLst/>
            <a:rect l="l" t="t" r="r" b="b"/>
            <a:pathLst>
              <a:path w="49038" h="2231216">
                <a:moveTo>
                  <a:pt x="49038" y="0"/>
                </a:moveTo>
                <a:lnTo>
                  <a:pt x="49038" y="0"/>
                </a:lnTo>
                <a:lnTo>
                  <a:pt x="49038" y="2231216"/>
                </a:lnTo>
                <a:lnTo>
                  <a:pt x="49038" y="2231216"/>
                </a:lnTo>
                <a:cubicBezTo>
                  <a:pt x="21955" y="2231216"/>
                  <a:pt x="0" y="2209261"/>
                  <a:pt x="0" y="21821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84603" y="4947387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56235" y="5119019"/>
            <a:ext cx="245189" cy="245189"/>
          </a:xfrm>
          <a:custGeom>
            <a:avLst/>
            <a:gdLst/>
            <a:ahLst/>
            <a:cxnLst/>
            <a:rect l="l" t="t" r="r" b="b"/>
            <a:pathLst>
              <a:path w="245189" h="245189">
                <a:moveTo>
                  <a:pt x="214540" y="122594"/>
                </a:moveTo>
                <a:cubicBezTo>
                  <a:pt x="214540" y="71848"/>
                  <a:pt x="173340" y="30649"/>
                  <a:pt x="122594" y="30649"/>
                </a:cubicBezTo>
                <a:cubicBezTo>
                  <a:pt x="71848" y="30649"/>
                  <a:pt x="30649" y="71848"/>
                  <a:pt x="30649" y="122594"/>
                </a:cubicBezTo>
                <a:cubicBezTo>
                  <a:pt x="30649" y="173340"/>
                  <a:pt x="71848" y="214540"/>
                  <a:pt x="122594" y="214540"/>
                </a:cubicBezTo>
                <a:cubicBezTo>
                  <a:pt x="173340" y="214540"/>
                  <a:pt x="214540" y="173340"/>
                  <a:pt x="214540" y="122594"/>
                </a:cubicBezTo>
                <a:close/>
                <a:moveTo>
                  <a:pt x="0" y="122594"/>
                </a:moveTo>
                <a:cubicBezTo>
                  <a:pt x="0" y="54933"/>
                  <a:pt x="54933" y="0"/>
                  <a:pt x="122594" y="0"/>
                </a:cubicBezTo>
                <a:cubicBezTo>
                  <a:pt x="190256" y="0"/>
                  <a:pt x="245189" y="54933"/>
                  <a:pt x="245189" y="122594"/>
                </a:cubicBezTo>
                <a:cubicBezTo>
                  <a:pt x="245189" y="190256"/>
                  <a:pt x="190256" y="245189"/>
                  <a:pt x="122594" y="245189"/>
                </a:cubicBezTo>
                <a:cubicBezTo>
                  <a:pt x="54933" y="245189"/>
                  <a:pt x="0" y="190256"/>
                  <a:pt x="0" y="122594"/>
                </a:cubicBezTo>
                <a:close/>
                <a:moveTo>
                  <a:pt x="122594" y="160905"/>
                </a:moveTo>
                <a:cubicBezTo>
                  <a:pt x="143739" y="160905"/>
                  <a:pt x="160905" y="143739"/>
                  <a:pt x="160905" y="122594"/>
                </a:cubicBezTo>
                <a:cubicBezTo>
                  <a:pt x="160905" y="101450"/>
                  <a:pt x="143739" y="84284"/>
                  <a:pt x="122594" y="84284"/>
                </a:cubicBezTo>
                <a:cubicBezTo>
                  <a:pt x="101450" y="84284"/>
                  <a:pt x="84284" y="101450"/>
                  <a:pt x="84284" y="122594"/>
                </a:cubicBezTo>
                <a:cubicBezTo>
                  <a:pt x="84284" y="143739"/>
                  <a:pt x="101450" y="160905"/>
                  <a:pt x="122594" y="160905"/>
                </a:cubicBezTo>
                <a:close/>
                <a:moveTo>
                  <a:pt x="122594" y="53635"/>
                </a:moveTo>
                <a:cubicBezTo>
                  <a:pt x="160654" y="53635"/>
                  <a:pt x="191554" y="84535"/>
                  <a:pt x="191554" y="122594"/>
                </a:cubicBezTo>
                <a:cubicBezTo>
                  <a:pt x="191554" y="160654"/>
                  <a:pt x="160654" y="191554"/>
                  <a:pt x="122594" y="191554"/>
                </a:cubicBezTo>
                <a:cubicBezTo>
                  <a:pt x="84535" y="191554"/>
                  <a:pt x="53635" y="160654"/>
                  <a:pt x="53635" y="122594"/>
                </a:cubicBezTo>
                <a:cubicBezTo>
                  <a:pt x="53635" y="84535"/>
                  <a:pt x="84535" y="53635"/>
                  <a:pt x="122594" y="53635"/>
                </a:cubicBezTo>
                <a:close/>
                <a:moveTo>
                  <a:pt x="107270" y="122594"/>
                </a:moveTo>
                <a:cubicBezTo>
                  <a:pt x="107270" y="114137"/>
                  <a:pt x="114137" y="107270"/>
                  <a:pt x="122594" y="107270"/>
                </a:cubicBezTo>
                <a:cubicBezTo>
                  <a:pt x="131052" y="107270"/>
                  <a:pt x="137919" y="114137"/>
                  <a:pt x="137919" y="122594"/>
                </a:cubicBezTo>
                <a:cubicBezTo>
                  <a:pt x="137919" y="131052"/>
                  <a:pt x="131052" y="137919"/>
                  <a:pt x="122594" y="137919"/>
                </a:cubicBezTo>
                <a:cubicBezTo>
                  <a:pt x="114137" y="137919"/>
                  <a:pt x="107270" y="131052"/>
                  <a:pt x="107270" y="1225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569207" y="4947387"/>
            <a:ext cx="7073689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9207" y="5388726"/>
            <a:ext cx="7049170" cy="3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的设计目标是构建一个支持</a:t>
            </a:r>
            <a:r>
              <a:rPr lang="en-US" sz="1544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低延迟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544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高吞吐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544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有状态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的分布式流处理引擎。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69207" y="5854584"/>
            <a:ext cx="2831928" cy="833641"/>
          </a:xfrm>
          <a:custGeom>
            <a:avLst/>
            <a:gdLst/>
            <a:ahLst/>
            <a:cxnLst/>
            <a:rect l="l" t="t" r="r" b="b"/>
            <a:pathLst>
              <a:path w="2831928" h="833641">
                <a:moveTo>
                  <a:pt x="49035" y="0"/>
                </a:moveTo>
                <a:lnTo>
                  <a:pt x="2782893" y="0"/>
                </a:lnTo>
                <a:cubicBezTo>
                  <a:pt x="2809974" y="0"/>
                  <a:pt x="2831928" y="21954"/>
                  <a:pt x="2831928" y="49035"/>
                </a:cubicBezTo>
                <a:lnTo>
                  <a:pt x="2831928" y="784606"/>
                </a:lnTo>
                <a:cubicBezTo>
                  <a:pt x="2831928" y="811687"/>
                  <a:pt x="2809974" y="833641"/>
                  <a:pt x="2782893" y="833641"/>
                </a:cubicBezTo>
                <a:lnTo>
                  <a:pt x="49035" y="833641"/>
                </a:lnTo>
                <a:cubicBezTo>
                  <a:pt x="21954" y="833641"/>
                  <a:pt x="0" y="811687"/>
                  <a:pt x="0" y="784606"/>
                </a:cubicBezTo>
                <a:lnTo>
                  <a:pt x="0" y="49035"/>
                </a:lnTo>
                <a:cubicBezTo>
                  <a:pt x="0" y="21972"/>
                  <a:pt x="21972" y="0"/>
                  <a:pt x="49035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642763" y="5952660"/>
            <a:ext cx="268481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17" b="1" dirty="0">
                <a:solidFill>
                  <a:srgbClr val="3C80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毫秒级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73412" y="6344961"/>
            <a:ext cx="2623517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50163" y="5854584"/>
            <a:ext cx="2831928" cy="833641"/>
          </a:xfrm>
          <a:custGeom>
            <a:avLst/>
            <a:gdLst/>
            <a:ahLst/>
            <a:cxnLst/>
            <a:rect l="l" t="t" r="r" b="b"/>
            <a:pathLst>
              <a:path w="2831928" h="833641">
                <a:moveTo>
                  <a:pt x="49035" y="0"/>
                </a:moveTo>
                <a:lnTo>
                  <a:pt x="2782893" y="0"/>
                </a:lnTo>
                <a:cubicBezTo>
                  <a:pt x="2809974" y="0"/>
                  <a:pt x="2831928" y="21954"/>
                  <a:pt x="2831928" y="49035"/>
                </a:cubicBezTo>
                <a:lnTo>
                  <a:pt x="2831928" y="784606"/>
                </a:lnTo>
                <a:cubicBezTo>
                  <a:pt x="2831928" y="811687"/>
                  <a:pt x="2809974" y="833641"/>
                  <a:pt x="2782893" y="833641"/>
                </a:cubicBezTo>
                <a:lnTo>
                  <a:pt x="49035" y="833641"/>
                </a:lnTo>
                <a:cubicBezTo>
                  <a:pt x="21954" y="833641"/>
                  <a:pt x="0" y="811687"/>
                  <a:pt x="0" y="784606"/>
                </a:cubicBezTo>
                <a:lnTo>
                  <a:pt x="0" y="49035"/>
                </a:lnTo>
                <a:cubicBezTo>
                  <a:pt x="0" y="21972"/>
                  <a:pt x="21972" y="0"/>
                  <a:pt x="49035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623719" y="5952660"/>
            <a:ext cx="268481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17" b="1" dirty="0">
                <a:solidFill>
                  <a:srgbClr val="3C80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百万级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54368" y="6344961"/>
            <a:ext cx="2623517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31119" y="5854584"/>
            <a:ext cx="2831928" cy="833641"/>
          </a:xfrm>
          <a:custGeom>
            <a:avLst/>
            <a:gdLst/>
            <a:ahLst/>
            <a:cxnLst/>
            <a:rect l="l" t="t" r="r" b="b"/>
            <a:pathLst>
              <a:path w="2831928" h="833641">
                <a:moveTo>
                  <a:pt x="49035" y="0"/>
                </a:moveTo>
                <a:lnTo>
                  <a:pt x="2782893" y="0"/>
                </a:lnTo>
                <a:cubicBezTo>
                  <a:pt x="2809974" y="0"/>
                  <a:pt x="2831928" y="21954"/>
                  <a:pt x="2831928" y="49035"/>
                </a:cubicBezTo>
                <a:lnTo>
                  <a:pt x="2831928" y="784606"/>
                </a:lnTo>
                <a:cubicBezTo>
                  <a:pt x="2831928" y="811687"/>
                  <a:pt x="2809974" y="833641"/>
                  <a:pt x="2782893" y="833641"/>
                </a:cubicBezTo>
                <a:lnTo>
                  <a:pt x="49035" y="833641"/>
                </a:lnTo>
                <a:cubicBezTo>
                  <a:pt x="21954" y="833641"/>
                  <a:pt x="0" y="811687"/>
                  <a:pt x="0" y="784606"/>
                </a:cubicBezTo>
                <a:lnTo>
                  <a:pt x="0" y="49035"/>
                </a:lnTo>
                <a:cubicBezTo>
                  <a:pt x="0" y="21972"/>
                  <a:pt x="21972" y="0"/>
                  <a:pt x="49035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604676" y="5952660"/>
            <a:ext cx="268481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17" b="1" dirty="0">
                <a:solidFill>
                  <a:srgbClr val="3C80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TB级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35324" y="6344961"/>
            <a:ext cx="2623517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4896" y="7129565"/>
            <a:ext cx="10089508" cy="1887952"/>
          </a:xfrm>
          <a:custGeom>
            <a:avLst/>
            <a:gdLst/>
            <a:ahLst/>
            <a:cxnLst/>
            <a:rect l="l" t="t" r="r" b="b"/>
            <a:pathLst>
              <a:path w="10089508" h="1887952">
                <a:moveTo>
                  <a:pt x="49038" y="0"/>
                </a:moveTo>
                <a:lnTo>
                  <a:pt x="9991429" y="0"/>
                </a:lnTo>
                <a:cubicBezTo>
                  <a:pt x="10045597" y="0"/>
                  <a:pt x="10089508" y="43912"/>
                  <a:pt x="10089508" y="98079"/>
                </a:cubicBezTo>
                <a:lnTo>
                  <a:pt x="10089508" y="1789873"/>
                </a:lnTo>
                <a:cubicBezTo>
                  <a:pt x="10089508" y="1844040"/>
                  <a:pt x="10045597" y="1887952"/>
                  <a:pt x="9991429" y="1887952"/>
                </a:cubicBezTo>
                <a:lnTo>
                  <a:pt x="49038" y="1887952"/>
                </a:lnTo>
                <a:cubicBezTo>
                  <a:pt x="21955" y="1887952"/>
                  <a:pt x="0" y="1865997"/>
                  <a:pt x="0" y="1838914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gradFill flip="none" rotWithShape="1">
            <a:gsLst>
              <a:gs pos="0">
                <a:srgbClr val="BC8A4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14896" y="7129565"/>
            <a:ext cx="49038" cy="1887952"/>
          </a:xfrm>
          <a:custGeom>
            <a:avLst/>
            <a:gdLst/>
            <a:ahLst/>
            <a:cxnLst/>
            <a:rect l="l" t="t" r="r" b="b"/>
            <a:pathLst>
              <a:path w="49038" h="1887952">
                <a:moveTo>
                  <a:pt x="49038" y="0"/>
                </a:moveTo>
                <a:lnTo>
                  <a:pt x="49038" y="0"/>
                </a:lnTo>
                <a:lnTo>
                  <a:pt x="49038" y="1887952"/>
                </a:lnTo>
                <a:lnTo>
                  <a:pt x="49038" y="1887952"/>
                </a:lnTo>
                <a:cubicBezTo>
                  <a:pt x="21955" y="1887952"/>
                  <a:pt x="0" y="1865997"/>
                  <a:pt x="0" y="1838914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84603" y="737475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56235" y="7546385"/>
            <a:ext cx="245189" cy="245189"/>
          </a:xfrm>
          <a:custGeom>
            <a:avLst/>
            <a:gdLst/>
            <a:ahLst/>
            <a:cxnLst/>
            <a:rect l="l" t="t" r="r" b="b"/>
            <a:pathLst>
              <a:path w="245189" h="245189">
                <a:moveTo>
                  <a:pt x="61297" y="153243"/>
                </a:moveTo>
                <a:lnTo>
                  <a:pt x="11733" y="153243"/>
                </a:lnTo>
                <a:cubicBezTo>
                  <a:pt x="-192" y="153243"/>
                  <a:pt x="-7518" y="140265"/>
                  <a:pt x="-1389" y="130017"/>
                </a:cubicBezTo>
                <a:lnTo>
                  <a:pt x="23944" y="87779"/>
                </a:lnTo>
                <a:cubicBezTo>
                  <a:pt x="28110" y="80836"/>
                  <a:pt x="35581" y="76621"/>
                  <a:pt x="43674" y="76621"/>
                </a:cubicBezTo>
                <a:lnTo>
                  <a:pt x="89168" y="76621"/>
                </a:lnTo>
                <a:cubicBezTo>
                  <a:pt x="125611" y="14893"/>
                  <a:pt x="179965" y="11781"/>
                  <a:pt x="216312" y="17096"/>
                </a:cubicBezTo>
                <a:cubicBezTo>
                  <a:pt x="222442" y="18006"/>
                  <a:pt x="227230" y="22795"/>
                  <a:pt x="228092" y="28877"/>
                </a:cubicBezTo>
                <a:cubicBezTo>
                  <a:pt x="233408" y="65224"/>
                  <a:pt x="230295" y="119577"/>
                  <a:pt x="168567" y="156020"/>
                </a:cubicBezTo>
                <a:lnTo>
                  <a:pt x="168567" y="201514"/>
                </a:lnTo>
                <a:cubicBezTo>
                  <a:pt x="168567" y="209607"/>
                  <a:pt x="164353" y="217078"/>
                  <a:pt x="157409" y="221244"/>
                </a:cubicBezTo>
                <a:lnTo>
                  <a:pt x="115172" y="246577"/>
                </a:lnTo>
                <a:cubicBezTo>
                  <a:pt x="104971" y="252707"/>
                  <a:pt x="91946" y="245332"/>
                  <a:pt x="91946" y="233456"/>
                </a:cubicBezTo>
                <a:lnTo>
                  <a:pt x="91946" y="183891"/>
                </a:lnTo>
                <a:cubicBezTo>
                  <a:pt x="91946" y="166987"/>
                  <a:pt x="78202" y="153243"/>
                  <a:pt x="61297" y="153243"/>
                </a:cubicBezTo>
                <a:lnTo>
                  <a:pt x="61249" y="153243"/>
                </a:lnTo>
                <a:close/>
                <a:moveTo>
                  <a:pt x="191554" y="76621"/>
                </a:moveTo>
                <a:cubicBezTo>
                  <a:pt x="191554" y="63935"/>
                  <a:pt x="181254" y="53635"/>
                  <a:pt x="168567" y="53635"/>
                </a:cubicBezTo>
                <a:cubicBezTo>
                  <a:pt x="155881" y="53635"/>
                  <a:pt x="145581" y="63935"/>
                  <a:pt x="145581" y="76621"/>
                </a:cubicBezTo>
                <a:cubicBezTo>
                  <a:pt x="145581" y="89308"/>
                  <a:pt x="155881" y="99608"/>
                  <a:pt x="168567" y="99608"/>
                </a:cubicBezTo>
                <a:cubicBezTo>
                  <a:pt x="181254" y="99608"/>
                  <a:pt x="191554" y="89308"/>
                  <a:pt x="191554" y="766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569207" y="7374753"/>
            <a:ext cx="8912603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核心理念: Streaming First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69207" y="7816093"/>
            <a:ext cx="8888084" cy="9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始终坚持</a:t>
            </a:r>
            <a:r>
              <a:rPr lang="en-US" sz="1544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"流处理为先" </a:t>
            </a:r>
            <a:r>
              <a:rPr lang="en-US" sz="15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的设计理念。与 Spark 的"微批处理"模式不同，Flink 认为批处理只是流处理的一种特例（即有界流）。这种根本性的理念差异，使得 Flink 在处理低延迟、事件驱动的应用场景时具有天然优势。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12527" y="2133848"/>
            <a:ext cx="4952808" cy="6877538"/>
          </a:xfrm>
          <a:custGeom>
            <a:avLst/>
            <a:gdLst/>
            <a:ahLst/>
            <a:cxnLst/>
            <a:rect l="l" t="t" r="r" b="b"/>
            <a:pathLst>
              <a:path w="4952808" h="6877538">
                <a:moveTo>
                  <a:pt x="98066" y="0"/>
                </a:moveTo>
                <a:lnTo>
                  <a:pt x="4854743" y="0"/>
                </a:lnTo>
                <a:cubicBezTo>
                  <a:pt x="4908903" y="0"/>
                  <a:pt x="4952808" y="43905"/>
                  <a:pt x="4952808" y="98066"/>
                </a:cubicBezTo>
                <a:lnTo>
                  <a:pt x="4952808" y="6779473"/>
                </a:lnTo>
                <a:cubicBezTo>
                  <a:pt x="4952808" y="6833633"/>
                  <a:pt x="4908903" y="6877538"/>
                  <a:pt x="4854743" y="6877538"/>
                </a:cubicBezTo>
                <a:lnTo>
                  <a:pt x="98066" y="6877538"/>
                </a:lnTo>
                <a:cubicBezTo>
                  <a:pt x="43905" y="6877538"/>
                  <a:pt x="0" y="6833633"/>
                  <a:pt x="0" y="6779473"/>
                </a:cubicBezTo>
                <a:lnTo>
                  <a:pt x="0" y="98066"/>
                </a:lnTo>
                <a:cubicBezTo>
                  <a:pt x="0" y="43942"/>
                  <a:pt x="43942" y="0"/>
                  <a:pt x="98066" y="0"/>
                </a:cubicBezTo>
                <a:close/>
              </a:path>
            </a:pathLst>
          </a:custGeom>
          <a:solidFill>
            <a:srgbClr val="5A6F7B">
              <a:alpha val="10196"/>
            </a:srgbClr>
          </a:solidFill>
          <a:ln w="127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059248" y="2397426"/>
            <a:ext cx="193086" cy="220670"/>
          </a:xfrm>
          <a:custGeom>
            <a:avLst/>
            <a:gdLst/>
            <a:ahLst/>
            <a:cxnLst/>
            <a:rect l="l" t="t" r="r" b="b"/>
            <a:pathLst>
              <a:path w="193086" h="220670">
                <a:moveTo>
                  <a:pt x="34480" y="44824"/>
                </a:moveTo>
                <a:cubicBezTo>
                  <a:pt x="40189" y="44824"/>
                  <a:pt x="44824" y="40189"/>
                  <a:pt x="44824" y="34480"/>
                </a:cubicBezTo>
                <a:cubicBezTo>
                  <a:pt x="44824" y="28771"/>
                  <a:pt x="40189" y="24136"/>
                  <a:pt x="34480" y="24136"/>
                </a:cubicBezTo>
                <a:cubicBezTo>
                  <a:pt x="28771" y="24136"/>
                  <a:pt x="24136" y="28771"/>
                  <a:pt x="24136" y="34480"/>
                </a:cubicBezTo>
                <a:cubicBezTo>
                  <a:pt x="24136" y="40189"/>
                  <a:pt x="28771" y="44824"/>
                  <a:pt x="34480" y="44824"/>
                </a:cubicBezTo>
                <a:close/>
                <a:moveTo>
                  <a:pt x="68959" y="34480"/>
                </a:moveTo>
                <a:cubicBezTo>
                  <a:pt x="68959" y="48616"/>
                  <a:pt x="60469" y="60770"/>
                  <a:pt x="48271" y="66072"/>
                </a:cubicBezTo>
                <a:lnTo>
                  <a:pt x="48271" y="96543"/>
                </a:lnTo>
                <a:lnTo>
                  <a:pt x="124127" y="96543"/>
                </a:lnTo>
                <a:cubicBezTo>
                  <a:pt x="135548" y="96543"/>
                  <a:pt x="144814" y="87277"/>
                  <a:pt x="144814" y="75855"/>
                </a:cubicBezTo>
                <a:lnTo>
                  <a:pt x="144814" y="66072"/>
                </a:lnTo>
                <a:cubicBezTo>
                  <a:pt x="132617" y="60770"/>
                  <a:pt x="124127" y="48616"/>
                  <a:pt x="124127" y="34480"/>
                </a:cubicBezTo>
                <a:cubicBezTo>
                  <a:pt x="124127" y="15430"/>
                  <a:pt x="139556" y="0"/>
                  <a:pt x="158606" y="0"/>
                </a:cubicBezTo>
                <a:cubicBezTo>
                  <a:pt x="177656" y="0"/>
                  <a:pt x="193086" y="15430"/>
                  <a:pt x="193086" y="34480"/>
                </a:cubicBezTo>
                <a:cubicBezTo>
                  <a:pt x="193086" y="48616"/>
                  <a:pt x="184595" y="60770"/>
                  <a:pt x="172398" y="66072"/>
                </a:cubicBezTo>
                <a:lnTo>
                  <a:pt x="172398" y="75855"/>
                </a:lnTo>
                <a:cubicBezTo>
                  <a:pt x="172398" y="102534"/>
                  <a:pt x="150805" y="124127"/>
                  <a:pt x="124127" y="124127"/>
                </a:cubicBezTo>
                <a:lnTo>
                  <a:pt x="48271" y="124127"/>
                </a:lnTo>
                <a:lnTo>
                  <a:pt x="48271" y="154598"/>
                </a:lnTo>
                <a:cubicBezTo>
                  <a:pt x="60469" y="159899"/>
                  <a:pt x="68959" y="172053"/>
                  <a:pt x="68959" y="186190"/>
                </a:cubicBezTo>
                <a:cubicBezTo>
                  <a:pt x="68959" y="205240"/>
                  <a:pt x="53530" y="220670"/>
                  <a:pt x="34480" y="220670"/>
                </a:cubicBezTo>
                <a:cubicBezTo>
                  <a:pt x="15430" y="220670"/>
                  <a:pt x="0" y="205240"/>
                  <a:pt x="0" y="186190"/>
                </a:cubicBezTo>
                <a:cubicBezTo>
                  <a:pt x="0" y="172053"/>
                  <a:pt x="8491" y="159899"/>
                  <a:pt x="20688" y="154598"/>
                </a:cubicBezTo>
                <a:lnTo>
                  <a:pt x="20688" y="66115"/>
                </a:lnTo>
                <a:cubicBezTo>
                  <a:pt x="8491" y="60770"/>
                  <a:pt x="0" y="48616"/>
                  <a:pt x="0" y="34480"/>
                </a:cubicBezTo>
                <a:cubicBezTo>
                  <a:pt x="0" y="15430"/>
                  <a:pt x="15430" y="0"/>
                  <a:pt x="34480" y="0"/>
                </a:cubicBezTo>
                <a:cubicBezTo>
                  <a:pt x="53530" y="0"/>
                  <a:pt x="68959" y="15430"/>
                  <a:pt x="68959" y="34480"/>
                </a:cubicBezTo>
                <a:close/>
                <a:moveTo>
                  <a:pt x="168950" y="34480"/>
                </a:moveTo>
                <a:cubicBezTo>
                  <a:pt x="168950" y="28771"/>
                  <a:pt x="164315" y="24136"/>
                  <a:pt x="158606" y="24136"/>
                </a:cubicBezTo>
                <a:cubicBezTo>
                  <a:pt x="152897" y="24136"/>
                  <a:pt x="148262" y="28771"/>
                  <a:pt x="148262" y="34480"/>
                </a:cubicBezTo>
                <a:cubicBezTo>
                  <a:pt x="148262" y="40189"/>
                  <a:pt x="152897" y="44824"/>
                  <a:pt x="158606" y="44824"/>
                </a:cubicBezTo>
                <a:cubicBezTo>
                  <a:pt x="164315" y="44824"/>
                  <a:pt x="168950" y="40189"/>
                  <a:pt x="168950" y="34480"/>
                </a:cubicBezTo>
                <a:close/>
                <a:moveTo>
                  <a:pt x="34480" y="196534"/>
                </a:moveTo>
                <a:cubicBezTo>
                  <a:pt x="40189" y="196534"/>
                  <a:pt x="44824" y="191899"/>
                  <a:pt x="44824" y="186190"/>
                </a:cubicBezTo>
                <a:cubicBezTo>
                  <a:pt x="44824" y="180481"/>
                  <a:pt x="40189" y="175846"/>
                  <a:pt x="34480" y="175846"/>
                </a:cubicBezTo>
                <a:cubicBezTo>
                  <a:pt x="28771" y="175846"/>
                  <a:pt x="24136" y="180481"/>
                  <a:pt x="24136" y="186190"/>
                </a:cubicBezTo>
                <a:cubicBezTo>
                  <a:pt x="24136" y="191899"/>
                  <a:pt x="28771" y="196534"/>
                  <a:pt x="34480" y="196534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96775" y="2336129"/>
            <a:ext cx="4376615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关键版本特性演进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27067" y="2826506"/>
            <a:ext cx="24519" cy="576193"/>
          </a:xfrm>
          <a:custGeom>
            <a:avLst/>
            <a:gdLst/>
            <a:ahLst/>
            <a:cxnLst/>
            <a:rect l="l" t="t" r="r" b="b"/>
            <a:pathLst>
              <a:path w="24519" h="576193">
                <a:moveTo>
                  <a:pt x="0" y="0"/>
                </a:moveTo>
                <a:lnTo>
                  <a:pt x="24519" y="0"/>
                </a:lnTo>
                <a:lnTo>
                  <a:pt x="24519" y="576193"/>
                </a:lnTo>
                <a:lnTo>
                  <a:pt x="0" y="57619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928992" y="2875544"/>
            <a:ext cx="196151" cy="196151"/>
          </a:xfrm>
          <a:custGeom>
            <a:avLst/>
            <a:gdLst/>
            <a:ahLst/>
            <a:cxnLst/>
            <a:rect l="l" t="t" r="r" b="b"/>
            <a:pathLst>
              <a:path w="196151" h="196151">
                <a:moveTo>
                  <a:pt x="98075" y="0"/>
                </a:moveTo>
                <a:lnTo>
                  <a:pt x="98075" y="0"/>
                </a:lnTo>
                <a:cubicBezTo>
                  <a:pt x="152205" y="0"/>
                  <a:pt x="196151" y="43946"/>
                  <a:pt x="196151" y="98075"/>
                </a:cubicBezTo>
                <a:lnTo>
                  <a:pt x="196151" y="98075"/>
                </a:lnTo>
                <a:cubicBezTo>
                  <a:pt x="196151" y="152205"/>
                  <a:pt x="152205" y="196151"/>
                  <a:pt x="98075" y="196151"/>
                </a:cubicBezTo>
                <a:lnTo>
                  <a:pt x="98075" y="196151"/>
                </a:lnTo>
                <a:cubicBezTo>
                  <a:pt x="43946" y="196151"/>
                  <a:pt x="0" y="152205"/>
                  <a:pt x="0" y="98075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333553" y="2826506"/>
            <a:ext cx="833641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0.x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736693" y="2851025"/>
            <a:ext cx="907198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2014-2015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33553" y="3169770"/>
            <a:ext cx="4315318" cy="232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流处理核心、迭代计算 - 建立原生流处理基础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27067" y="4059344"/>
            <a:ext cx="24519" cy="576193"/>
          </a:xfrm>
          <a:custGeom>
            <a:avLst/>
            <a:gdLst/>
            <a:ahLst/>
            <a:cxnLst/>
            <a:rect l="l" t="t" r="r" b="b"/>
            <a:pathLst>
              <a:path w="24519" h="576193">
                <a:moveTo>
                  <a:pt x="0" y="0"/>
                </a:moveTo>
                <a:lnTo>
                  <a:pt x="24519" y="0"/>
                </a:lnTo>
                <a:lnTo>
                  <a:pt x="24519" y="576193"/>
                </a:lnTo>
                <a:lnTo>
                  <a:pt x="0" y="57619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928992" y="4108382"/>
            <a:ext cx="196151" cy="196151"/>
          </a:xfrm>
          <a:custGeom>
            <a:avLst/>
            <a:gdLst/>
            <a:ahLst/>
            <a:cxnLst/>
            <a:rect l="l" t="t" r="r" b="b"/>
            <a:pathLst>
              <a:path w="196151" h="196151">
                <a:moveTo>
                  <a:pt x="98075" y="0"/>
                </a:moveTo>
                <a:lnTo>
                  <a:pt x="98075" y="0"/>
                </a:lnTo>
                <a:cubicBezTo>
                  <a:pt x="152205" y="0"/>
                  <a:pt x="196151" y="43946"/>
                  <a:pt x="196151" y="98075"/>
                </a:cubicBezTo>
                <a:lnTo>
                  <a:pt x="196151" y="98075"/>
                </a:lnTo>
                <a:cubicBezTo>
                  <a:pt x="196151" y="152205"/>
                  <a:pt x="152205" y="196151"/>
                  <a:pt x="98075" y="196151"/>
                </a:cubicBezTo>
                <a:lnTo>
                  <a:pt x="98075" y="196151"/>
                </a:lnTo>
                <a:cubicBezTo>
                  <a:pt x="43946" y="196151"/>
                  <a:pt x="0" y="152205"/>
                  <a:pt x="0" y="98075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33553" y="4059344"/>
            <a:ext cx="82138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1.0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931503" y="4083863"/>
            <a:ext cx="711047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2016.03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33553" y="4402608"/>
            <a:ext cx="4315318" cy="232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稳定、CEP 库 - 生产可用性里程碑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27067" y="5292183"/>
            <a:ext cx="24519" cy="821382"/>
          </a:xfrm>
          <a:custGeom>
            <a:avLst/>
            <a:gdLst/>
            <a:ahLst/>
            <a:cxnLst/>
            <a:rect l="l" t="t" r="r" b="b"/>
            <a:pathLst>
              <a:path w="24519" h="821382">
                <a:moveTo>
                  <a:pt x="0" y="0"/>
                </a:moveTo>
                <a:lnTo>
                  <a:pt x="24519" y="0"/>
                </a:lnTo>
                <a:lnTo>
                  <a:pt x="24519" y="821382"/>
                </a:lnTo>
                <a:lnTo>
                  <a:pt x="0" y="821382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0928992" y="5341221"/>
            <a:ext cx="196151" cy="196151"/>
          </a:xfrm>
          <a:custGeom>
            <a:avLst/>
            <a:gdLst/>
            <a:ahLst/>
            <a:cxnLst/>
            <a:rect l="l" t="t" r="r" b="b"/>
            <a:pathLst>
              <a:path w="196151" h="196151">
                <a:moveTo>
                  <a:pt x="98075" y="0"/>
                </a:moveTo>
                <a:lnTo>
                  <a:pt x="98075" y="0"/>
                </a:lnTo>
                <a:cubicBezTo>
                  <a:pt x="152205" y="0"/>
                  <a:pt x="196151" y="43946"/>
                  <a:pt x="196151" y="98075"/>
                </a:cubicBezTo>
                <a:lnTo>
                  <a:pt x="196151" y="98075"/>
                </a:lnTo>
                <a:cubicBezTo>
                  <a:pt x="196151" y="152205"/>
                  <a:pt x="152205" y="196151"/>
                  <a:pt x="98075" y="196151"/>
                </a:cubicBezTo>
                <a:lnTo>
                  <a:pt x="98075" y="196151"/>
                </a:lnTo>
                <a:cubicBezTo>
                  <a:pt x="43946" y="196151"/>
                  <a:pt x="0" y="152205"/>
                  <a:pt x="0" y="98075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333553" y="5292183"/>
            <a:ext cx="82138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1.9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4926523" y="5316702"/>
            <a:ext cx="72330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2019.08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333553" y="5635447"/>
            <a:ext cx="4315318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 Blink 分支合并、Table API 重构 - SQL 能力大幅增强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27067" y="6761016"/>
            <a:ext cx="24519" cy="821382"/>
          </a:xfrm>
          <a:custGeom>
            <a:avLst/>
            <a:gdLst/>
            <a:ahLst/>
            <a:cxnLst/>
            <a:rect l="l" t="t" r="r" b="b"/>
            <a:pathLst>
              <a:path w="24519" h="821382">
                <a:moveTo>
                  <a:pt x="0" y="0"/>
                </a:moveTo>
                <a:lnTo>
                  <a:pt x="24519" y="0"/>
                </a:lnTo>
                <a:lnTo>
                  <a:pt x="24519" y="821382"/>
                </a:lnTo>
                <a:lnTo>
                  <a:pt x="0" y="821382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0928992" y="6810053"/>
            <a:ext cx="196151" cy="196151"/>
          </a:xfrm>
          <a:custGeom>
            <a:avLst/>
            <a:gdLst/>
            <a:ahLst/>
            <a:cxnLst/>
            <a:rect l="l" t="t" r="r" b="b"/>
            <a:pathLst>
              <a:path w="196151" h="196151">
                <a:moveTo>
                  <a:pt x="98075" y="0"/>
                </a:moveTo>
                <a:lnTo>
                  <a:pt x="98075" y="0"/>
                </a:lnTo>
                <a:cubicBezTo>
                  <a:pt x="152205" y="0"/>
                  <a:pt x="196151" y="43946"/>
                  <a:pt x="196151" y="98075"/>
                </a:cubicBezTo>
                <a:lnTo>
                  <a:pt x="196151" y="98075"/>
                </a:lnTo>
                <a:cubicBezTo>
                  <a:pt x="196151" y="152205"/>
                  <a:pt x="152205" y="196151"/>
                  <a:pt x="98075" y="196151"/>
                </a:cubicBezTo>
                <a:lnTo>
                  <a:pt x="98075" y="196151"/>
                </a:lnTo>
                <a:cubicBezTo>
                  <a:pt x="43946" y="196151"/>
                  <a:pt x="0" y="152205"/>
                  <a:pt x="0" y="98075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333553" y="6761016"/>
            <a:ext cx="89493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1.15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4907655" y="6785535"/>
            <a:ext cx="73556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2022.05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33553" y="7104280"/>
            <a:ext cx="4315318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自适应批调度、Changelog State Backend - 流批一体与状态优化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27067" y="8229848"/>
            <a:ext cx="24519" cy="576193"/>
          </a:xfrm>
          <a:custGeom>
            <a:avLst/>
            <a:gdLst/>
            <a:ahLst/>
            <a:cxnLst/>
            <a:rect l="l" t="t" r="r" b="b"/>
            <a:pathLst>
              <a:path w="24519" h="576193">
                <a:moveTo>
                  <a:pt x="0" y="0"/>
                </a:moveTo>
                <a:lnTo>
                  <a:pt x="24519" y="0"/>
                </a:lnTo>
                <a:lnTo>
                  <a:pt x="24519" y="576193"/>
                </a:lnTo>
                <a:lnTo>
                  <a:pt x="0" y="57619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928992" y="8278886"/>
            <a:ext cx="196151" cy="196151"/>
          </a:xfrm>
          <a:custGeom>
            <a:avLst/>
            <a:gdLst/>
            <a:ahLst/>
            <a:cxnLst/>
            <a:rect l="l" t="t" r="r" b="b"/>
            <a:pathLst>
              <a:path w="196151" h="196151">
                <a:moveTo>
                  <a:pt x="98075" y="0"/>
                </a:moveTo>
                <a:lnTo>
                  <a:pt x="98075" y="0"/>
                </a:lnTo>
                <a:cubicBezTo>
                  <a:pt x="152205" y="0"/>
                  <a:pt x="196151" y="43946"/>
                  <a:pt x="196151" y="98075"/>
                </a:cubicBezTo>
                <a:lnTo>
                  <a:pt x="196151" y="98075"/>
                </a:lnTo>
                <a:cubicBezTo>
                  <a:pt x="196151" y="152205"/>
                  <a:pt x="152205" y="196151"/>
                  <a:pt x="98075" y="196151"/>
                </a:cubicBezTo>
                <a:lnTo>
                  <a:pt x="98075" y="196151"/>
                </a:lnTo>
                <a:cubicBezTo>
                  <a:pt x="43946" y="196151"/>
                  <a:pt x="0" y="152205"/>
                  <a:pt x="0" y="98075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333553" y="8229848"/>
            <a:ext cx="89493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1.18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4938207" y="8254367"/>
            <a:ext cx="711047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2023.10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333553" y="8573112"/>
            <a:ext cx="4315318" cy="232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API 增强、Java 17 支持 - 易用性与性能提升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3833" y="508000"/>
            <a:ext cx="1164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31333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Flink 的设计目标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524000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五大核心设计目标解决传统流处理框架的权衡难题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2074333"/>
            <a:ext cx="42333" cy="1979083"/>
          </a:xfrm>
          <a:custGeom>
            <a:avLst/>
            <a:gdLst/>
            <a:ahLst/>
            <a:cxnLst/>
            <a:rect l="l" t="t" r="r" b="b"/>
            <a:pathLst>
              <a:path w="42333" h="1979083">
                <a:moveTo>
                  <a:pt x="0" y="0"/>
                </a:moveTo>
                <a:lnTo>
                  <a:pt x="42333" y="0"/>
                </a:lnTo>
                <a:lnTo>
                  <a:pt x="42333" y="1979083"/>
                </a:lnTo>
                <a:lnTo>
                  <a:pt x="0" y="197908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0250" y="216958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89000" y="2328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81667" y="2286000"/>
            <a:ext cx="2667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低延迟与高吞吐的平衡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2878667"/>
            <a:ext cx="73765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基于事件的处理模型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，每条数据进入系统后立即被处理，实现毫秒级低延迟。通过流水线执行模式和内存管理优化，单核每秒可处理数百万条事件。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9667" y="3624792"/>
            <a:ext cx="994833" cy="338667"/>
          </a:xfrm>
          <a:custGeom>
            <a:avLst/>
            <a:gdLst/>
            <a:ahLst/>
            <a:cxnLst/>
            <a:rect l="l" t="t" r="r" b="b"/>
            <a:pathLst>
              <a:path w="994833" h="338667">
                <a:moveTo>
                  <a:pt x="0" y="0"/>
                </a:moveTo>
                <a:lnTo>
                  <a:pt x="994833" y="0"/>
                </a:lnTo>
                <a:lnTo>
                  <a:pt x="994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9667" y="3624792"/>
            <a:ext cx="1068917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毫秒级延迟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41500" y="3624792"/>
            <a:ext cx="994833" cy="338667"/>
          </a:xfrm>
          <a:custGeom>
            <a:avLst/>
            <a:gdLst/>
            <a:ahLst/>
            <a:cxnLst/>
            <a:rect l="l" t="t" r="r" b="b"/>
            <a:pathLst>
              <a:path w="994833" h="338667">
                <a:moveTo>
                  <a:pt x="0" y="0"/>
                </a:moveTo>
                <a:lnTo>
                  <a:pt x="994833" y="0"/>
                </a:lnTo>
                <a:lnTo>
                  <a:pt x="994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841500" y="3624792"/>
            <a:ext cx="1068917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百万级吞吐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" y="4217458"/>
            <a:ext cx="42333" cy="2063750"/>
          </a:xfrm>
          <a:custGeom>
            <a:avLst/>
            <a:gdLst/>
            <a:ahLst/>
            <a:cxnLst/>
            <a:rect l="l" t="t" r="r" b="b"/>
            <a:pathLst>
              <a:path w="42333" h="2063750">
                <a:moveTo>
                  <a:pt x="0" y="0"/>
                </a:moveTo>
                <a:lnTo>
                  <a:pt x="42333" y="0"/>
                </a:lnTo>
                <a:lnTo>
                  <a:pt x="42333" y="2063750"/>
                </a:lnTo>
                <a:lnTo>
                  <a:pt x="0" y="206375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0250" y="431270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A6F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89000" y="447145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481667" y="4429125"/>
            <a:ext cx="3026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Exactly-Once 状态一致性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9667" y="5021792"/>
            <a:ext cx="73765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Checkpoint 机制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，确保在发生故障并恢复后，系统的内部状态与没有发生故障时完全一致。这对金融、计费等对数据准确性要求极高的场景至关重要。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0250" y="5767917"/>
            <a:ext cx="7270750" cy="423333"/>
          </a:xfrm>
          <a:custGeom>
            <a:avLst/>
            <a:gdLst/>
            <a:ahLst/>
            <a:cxnLst/>
            <a:rect l="l" t="t" r="r" b="b"/>
            <a:pathLst>
              <a:path w="7270750" h="423333">
                <a:moveTo>
                  <a:pt x="0" y="0"/>
                </a:moveTo>
                <a:lnTo>
                  <a:pt x="7270750" y="0"/>
                </a:lnTo>
                <a:lnTo>
                  <a:pt x="727075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30250" y="5767917"/>
            <a:ext cx="21167" cy="423333"/>
          </a:xfrm>
          <a:custGeom>
            <a:avLst/>
            <a:gdLst/>
            <a:ahLst/>
            <a:cxnLst/>
            <a:rect l="l" t="t" r="r" b="b"/>
            <a:pathLst>
              <a:path w="21167" h="423333">
                <a:moveTo>
                  <a:pt x="0" y="0"/>
                </a:moveTo>
                <a:lnTo>
                  <a:pt x="21167" y="0"/>
                </a:lnTo>
                <a:lnTo>
                  <a:pt x="211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0167" y="5868458"/>
            <a:ext cx="319839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Chandy-Lamport 算法的分布式快照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500" y="6445250"/>
            <a:ext cx="42333" cy="1979083"/>
          </a:xfrm>
          <a:custGeom>
            <a:avLst/>
            <a:gdLst/>
            <a:ahLst/>
            <a:cxnLst/>
            <a:rect l="l" t="t" r="r" b="b"/>
            <a:pathLst>
              <a:path w="42333" h="1979083">
                <a:moveTo>
                  <a:pt x="0" y="0"/>
                </a:moveTo>
                <a:lnTo>
                  <a:pt x="42333" y="0"/>
                </a:lnTo>
                <a:lnTo>
                  <a:pt x="42333" y="1979083"/>
                </a:lnTo>
                <a:lnTo>
                  <a:pt x="0" y="197908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0250" y="6540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BC8A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89000" y="6699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481667" y="6656917"/>
            <a:ext cx="241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灵活的时间语义支持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667" y="7249583"/>
            <a:ext cx="73765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原生支持</a:t>
            </a:r>
            <a:r>
              <a:rPr lang="en-US" sz="1500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Event Time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500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Processing Time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00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Ingestion Time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。特别是对 Event Time 的支持，结合 Watermark 机制，能够正确处理乱序事件和延迟到达的数据。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9667" y="7995708"/>
            <a:ext cx="846667" cy="338667"/>
          </a:xfrm>
          <a:custGeom>
            <a:avLst/>
            <a:gdLst/>
            <a:ahLst/>
            <a:cxnLst/>
            <a:rect l="l" t="t" r="r" b="b"/>
            <a:pathLst>
              <a:path w="846667" h="338667">
                <a:moveTo>
                  <a:pt x="0" y="0"/>
                </a:moveTo>
                <a:lnTo>
                  <a:pt x="846667" y="0"/>
                </a:lnTo>
                <a:lnTo>
                  <a:pt x="846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19667" y="7995708"/>
            <a:ext cx="920750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651000" y="7995708"/>
            <a:ext cx="846667" cy="338667"/>
          </a:xfrm>
          <a:custGeom>
            <a:avLst/>
            <a:gdLst/>
            <a:ahLst/>
            <a:cxnLst/>
            <a:rect l="l" t="t" r="r" b="b"/>
            <a:pathLst>
              <a:path w="846667" h="338667">
                <a:moveTo>
                  <a:pt x="0" y="0"/>
                </a:moveTo>
                <a:lnTo>
                  <a:pt x="846667" y="0"/>
                </a:lnTo>
                <a:lnTo>
                  <a:pt x="846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651000" y="7995708"/>
            <a:ext cx="920750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处理时间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582333" y="7995708"/>
            <a:ext cx="846667" cy="338667"/>
          </a:xfrm>
          <a:custGeom>
            <a:avLst/>
            <a:gdLst/>
            <a:ahLst/>
            <a:cxnLst/>
            <a:rect l="l" t="t" r="r" b="b"/>
            <a:pathLst>
              <a:path w="846667" h="338667">
                <a:moveTo>
                  <a:pt x="0" y="0"/>
                </a:moveTo>
                <a:lnTo>
                  <a:pt x="846667" y="0"/>
                </a:lnTo>
                <a:lnTo>
                  <a:pt x="846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2582333" y="7995708"/>
            <a:ext cx="920750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摄入时间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6167" y="2074333"/>
            <a:ext cx="42333" cy="2370667"/>
          </a:xfrm>
          <a:custGeom>
            <a:avLst/>
            <a:gdLst/>
            <a:ahLst/>
            <a:cxnLst/>
            <a:rect l="l" t="t" r="r" b="b"/>
            <a:pathLst>
              <a:path w="42333" h="2370667">
                <a:moveTo>
                  <a:pt x="0" y="0"/>
                </a:moveTo>
                <a:lnTo>
                  <a:pt x="42333" y="0"/>
                </a:lnTo>
                <a:lnTo>
                  <a:pt x="42333" y="2370667"/>
                </a:lnTo>
                <a:lnTo>
                  <a:pt x="0" y="23706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561917" y="216958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720667" y="2328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313333" y="2286000"/>
            <a:ext cx="241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统一的流批一体架构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51333" y="2878667"/>
            <a:ext cx="737658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将批处理视为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有界流处理 </a:t>
            </a: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。通过统一的 SQL 层和 Runtime 层，允许用户使用相同的 API 处理无界流（实时数据）和有界流（历史数据），消除 Lambda 架构中维护两套代码和系统的复杂性。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61917" y="3934354"/>
            <a:ext cx="7270750" cy="423333"/>
          </a:xfrm>
          <a:custGeom>
            <a:avLst/>
            <a:gdLst/>
            <a:ahLst/>
            <a:cxnLst/>
            <a:rect l="l" t="t" r="r" b="b"/>
            <a:pathLst>
              <a:path w="7270750" h="423333">
                <a:moveTo>
                  <a:pt x="0" y="0"/>
                </a:moveTo>
                <a:lnTo>
                  <a:pt x="7270750" y="0"/>
                </a:lnTo>
                <a:lnTo>
                  <a:pt x="727075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561917" y="3934354"/>
            <a:ext cx="21167" cy="423333"/>
          </a:xfrm>
          <a:custGeom>
            <a:avLst/>
            <a:gdLst/>
            <a:ahLst/>
            <a:cxnLst/>
            <a:rect l="l" t="t" r="r" b="b"/>
            <a:pathLst>
              <a:path w="21167" h="423333">
                <a:moveTo>
                  <a:pt x="0" y="0"/>
                </a:moveTo>
                <a:lnTo>
                  <a:pt x="21167" y="0"/>
                </a:lnTo>
                <a:lnTo>
                  <a:pt x="211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741833" y="4034896"/>
            <a:ext cx="245533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一套代码、一个引擎、流批统一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76167" y="4611688"/>
            <a:ext cx="42333" cy="2286000"/>
          </a:xfrm>
          <a:custGeom>
            <a:avLst/>
            <a:gdLst/>
            <a:ahLst/>
            <a:cxnLst/>
            <a:rect l="l" t="t" r="r" b="b"/>
            <a:pathLst>
              <a:path w="42333" h="2286000">
                <a:moveTo>
                  <a:pt x="0" y="0"/>
                </a:moveTo>
                <a:lnTo>
                  <a:pt x="42333" y="0"/>
                </a:lnTo>
                <a:lnTo>
                  <a:pt x="42333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61917" y="470693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A6F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736542" y="4865688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313333" y="4823354"/>
            <a:ext cx="2010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7x24 小时高可用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51333" y="5416021"/>
            <a:ext cx="737658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作为长期运行的服务，Flink 提供了多种高可用（HA）机制（如基于 ZooKeeper/Kubernetes 的 Leader 选举），支持作业的动态升级、扩缩容和 Savepoint 状态迁移，确保关键业务的不间断运行。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51333" y="6471708"/>
            <a:ext cx="846667" cy="338667"/>
          </a:xfrm>
          <a:custGeom>
            <a:avLst/>
            <a:gdLst/>
            <a:ahLst/>
            <a:cxnLst/>
            <a:rect l="l" t="t" r="r" b="b"/>
            <a:pathLst>
              <a:path w="846667" h="338667">
                <a:moveTo>
                  <a:pt x="0" y="0"/>
                </a:moveTo>
                <a:lnTo>
                  <a:pt x="846667" y="0"/>
                </a:lnTo>
                <a:lnTo>
                  <a:pt x="846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51333" y="6471708"/>
            <a:ext cx="920750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525000" y="6471708"/>
            <a:ext cx="994833" cy="338667"/>
          </a:xfrm>
          <a:custGeom>
            <a:avLst/>
            <a:gdLst/>
            <a:ahLst/>
            <a:cxnLst/>
            <a:rect l="l" t="t" r="r" b="b"/>
            <a:pathLst>
              <a:path w="994833" h="338667">
                <a:moveTo>
                  <a:pt x="0" y="0"/>
                </a:moveTo>
                <a:lnTo>
                  <a:pt x="994833" y="0"/>
                </a:lnTo>
                <a:lnTo>
                  <a:pt x="994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525000" y="6471708"/>
            <a:ext cx="1068917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动态扩缩容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646833" y="6471708"/>
            <a:ext cx="846667" cy="338667"/>
          </a:xfrm>
          <a:custGeom>
            <a:avLst/>
            <a:gdLst/>
            <a:ahLst/>
            <a:cxnLst/>
            <a:rect l="l" t="t" r="r" b="b"/>
            <a:pathLst>
              <a:path w="846667" h="338667">
                <a:moveTo>
                  <a:pt x="0" y="0"/>
                </a:moveTo>
                <a:lnTo>
                  <a:pt x="846667" y="0"/>
                </a:lnTo>
                <a:lnTo>
                  <a:pt x="846667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646833" y="6471708"/>
            <a:ext cx="920750" cy="33866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状态迁移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5583" y="7074958"/>
            <a:ext cx="7556500" cy="1449917"/>
          </a:xfrm>
          <a:custGeom>
            <a:avLst/>
            <a:gdLst/>
            <a:ahLst/>
            <a:cxnLst/>
            <a:rect l="l" t="t" r="r" b="b"/>
            <a:pathLst>
              <a:path w="7556500" h="1449917">
                <a:moveTo>
                  <a:pt x="0" y="0"/>
                </a:moveTo>
                <a:lnTo>
                  <a:pt x="7556500" y="0"/>
                </a:lnTo>
                <a:lnTo>
                  <a:pt x="7556500" y="1449917"/>
                </a:lnTo>
                <a:lnTo>
                  <a:pt x="0" y="144991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551333" y="7297208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932333" y="7297208"/>
            <a:ext cx="6773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32333" y="7678208"/>
            <a:ext cx="6762750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的核心设计旨在解决传统流处理框架在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延迟 </a:t>
            </a: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吞吐量 </a:t>
            </a: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正确性 </a:t>
            </a: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之间的权衡难题，通过创新的架构设计实现三者的完美平衡。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591" y="480591"/>
            <a:ext cx="72089" cy="480591"/>
          </a:xfrm>
          <a:custGeom>
            <a:avLst/>
            <a:gdLst/>
            <a:ahLst/>
            <a:cxnLst/>
            <a:rect l="l" t="t" r="r" b="b"/>
            <a:pathLst>
              <a:path w="72089" h="480591">
                <a:moveTo>
                  <a:pt x="0" y="0"/>
                </a:moveTo>
                <a:lnTo>
                  <a:pt x="72089" y="0"/>
                </a:lnTo>
                <a:lnTo>
                  <a:pt x="72089" y="480591"/>
                </a:lnTo>
                <a:lnTo>
                  <a:pt x="0" y="480591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6857" y="576710"/>
            <a:ext cx="1321626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kern="0" spc="76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591" y="1057301"/>
            <a:ext cx="15511084" cy="480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Flink vs Spark Streaming 对比分析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0591" y="1591146"/>
            <a:ext cx="15402950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3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两种设计哲学在流处理模型、延迟、状态管理等方面的根本差异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2606" y="2074660"/>
            <a:ext cx="15270788" cy="4986135"/>
          </a:xfrm>
          <a:custGeom>
            <a:avLst/>
            <a:gdLst/>
            <a:ahLst/>
            <a:cxnLst/>
            <a:rect l="l" t="t" r="r" b="b"/>
            <a:pathLst>
              <a:path w="15270788" h="4986135">
                <a:moveTo>
                  <a:pt x="96133" y="0"/>
                </a:moveTo>
                <a:lnTo>
                  <a:pt x="15174655" y="0"/>
                </a:lnTo>
                <a:cubicBezTo>
                  <a:pt x="15227748" y="0"/>
                  <a:pt x="15270788" y="43040"/>
                  <a:pt x="15270788" y="96133"/>
                </a:cubicBezTo>
                <a:lnTo>
                  <a:pt x="15270788" y="4890002"/>
                </a:lnTo>
                <a:cubicBezTo>
                  <a:pt x="15270788" y="4943094"/>
                  <a:pt x="15227748" y="4986135"/>
                  <a:pt x="15174655" y="4986135"/>
                </a:cubicBezTo>
                <a:lnTo>
                  <a:pt x="96133" y="4986135"/>
                </a:lnTo>
                <a:cubicBezTo>
                  <a:pt x="43040" y="4986135"/>
                  <a:pt x="0" y="4943094"/>
                  <a:pt x="0" y="4890002"/>
                </a:cubicBezTo>
                <a:lnTo>
                  <a:pt x="0" y="96133"/>
                </a:lnTo>
                <a:cubicBezTo>
                  <a:pt x="0" y="43040"/>
                  <a:pt x="43040" y="0"/>
                  <a:pt x="96133" y="0"/>
                </a:cubicBez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4621" y="2086674"/>
            <a:ext cx="15246758" cy="636783"/>
          </a:xfrm>
          <a:custGeom>
            <a:avLst/>
            <a:gdLst/>
            <a:ahLst/>
            <a:cxnLst/>
            <a:rect l="l" t="t" r="r" b="b"/>
            <a:pathLst>
              <a:path w="15246758" h="636783">
                <a:moveTo>
                  <a:pt x="0" y="0"/>
                </a:moveTo>
                <a:lnTo>
                  <a:pt x="15246758" y="0"/>
                </a:lnTo>
                <a:lnTo>
                  <a:pt x="15246758" y="636783"/>
                </a:lnTo>
                <a:lnTo>
                  <a:pt x="0" y="63678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580866" y="2086674"/>
            <a:ext cx="12015" cy="630776"/>
          </a:xfrm>
          <a:custGeom>
            <a:avLst/>
            <a:gdLst/>
            <a:ahLst/>
            <a:cxnLst/>
            <a:rect l="l" t="t" r="r" b="b"/>
            <a:pathLst>
              <a:path w="12015" h="630776">
                <a:moveTo>
                  <a:pt x="0" y="0"/>
                </a:moveTo>
                <a:lnTo>
                  <a:pt x="12015" y="0"/>
                </a:lnTo>
                <a:lnTo>
                  <a:pt x="12015" y="630776"/>
                </a:lnTo>
                <a:lnTo>
                  <a:pt x="0" y="630776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4621" y="2717450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8798" y="2230852"/>
            <a:ext cx="4890016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3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对比维度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2650" y="2086674"/>
            <a:ext cx="12015" cy="630776"/>
          </a:xfrm>
          <a:custGeom>
            <a:avLst/>
            <a:gdLst/>
            <a:ahLst/>
            <a:cxnLst/>
            <a:rect l="l" t="t" r="r" b="b"/>
            <a:pathLst>
              <a:path w="12015" h="630776">
                <a:moveTo>
                  <a:pt x="0" y="0"/>
                </a:moveTo>
                <a:lnTo>
                  <a:pt x="12015" y="0"/>
                </a:lnTo>
                <a:lnTo>
                  <a:pt x="12015" y="630776"/>
                </a:lnTo>
                <a:lnTo>
                  <a:pt x="0" y="630776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586404" y="2717450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760619" y="2290926"/>
            <a:ext cx="216266" cy="216266"/>
          </a:xfrm>
          <a:custGeom>
            <a:avLst/>
            <a:gdLst/>
            <a:ahLst/>
            <a:cxnLst/>
            <a:rect l="l" t="t" r="r" b="b"/>
            <a:pathLst>
              <a:path w="216266" h="216266">
                <a:moveTo>
                  <a:pt x="108133" y="216266"/>
                </a:moveTo>
                <a:cubicBezTo>
                  <a:pt x="167813" y="216266"/>
                  <a:pt x="216266" y="167813"/>
                  <a:pt x="216266" y="108133"/>
                </a:cubicBezTo>
                <a:cubicBezTo>
                  <a:pt x="216266" y="48453"/>
                  <a:pt x="167813" y="0"/>
                  <a:pt x="108133" y="0"/>
                </a:cubicBezTo>
                <a:cubicBezTo>
                  <a:pt x="48453" y="0"/>
                  <a:pt x="0" y="48453"/>
                  <a:pt x="0" y="108133"/>
                </a:cubicBezTo>
                <a:cubicBezTo>
                  <a:pt x="0" y="167813"/>
                  <a:pt x="48453" y="216266"/>
                  <a:pt x="108133" y="216266"/>
                </a:cubicBezTo>
                <a:close/>
                <a:moveTo>
                  <a:pt x="143783" y="89843"/>
                </a:moveTo>
                <a:lnTo>
                  <a:pt x="109992" y="143910"/>
                </a:lnTo>
                <a:cubicBezTo>
                  <a:pt x="108218" y="146740"/>
                  <a:pt x="105176" y="148514"/>
                  <a:pt x="101839" y="148683"/>
                </a:cubicBezTo>
                <a:cubicBezTo>
                  <a:pt x="98502" y="148852"/>
                  <a:pt x="95292" y="147331"/>
                  <a:pt x="93307" y="144628"/>
                </a:cubicBezTo>
                <a:lnTo>
                  <a:pt x="73032" y="117595"/>
                </a:lnTo>
                <a:cubicBezTo>
                  <a:pt x="69653" y="113117"/>
                  <a:pt x="70582" y="106781"/>
                  <a:pt x="75060" y="103402"/>
                </a:cubicBezTo>
                <a:cubicBezTo>
                  <a:pt x="79537" y="100023"/>
                  <a:pt x="85873" y="100952"/>
                  <a:pt x="89252" y="105430"/>
                </a:cubicBezTo>
                <a:lnTo>
                  <a:pt x="100657" y="120636"/>
                </a:lnTo>
                <a:lnTo>
                  <a:pt x="126592" y="79115"/>
                </a:lnTo>
                <a:cubicBezTo>
                  <a:pt x="129548" y="74384"/>
                  <a:pt x="135800" y="72905"/>
                  <a:pt x="140573" y="75904"/>
                </a:cubicBezTo>
                <a:cubicBezTo>
                  <a:pt x="145346" y="78903"/>
                  <a:pt x="146782" y="85113"/>
                  <a:pt x="143783" y="89886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006922" y="2230852"/>
            <a:ext cx="4613676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Flink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188" y="2717450"/>
            <a:ext cx="5082253" cy="12015"/>
          </a:xfrm>
          <a:custGeom>
            <a:avLst/>
            <a:gdLst/>
            <a:ahLst/>
            <a:cxnLst/>
            <a:rect l="l" t="t" r="r" b="b"/>
            <a:pathLst>
              <a:path w="5082253" h="12015">
                <a:moveTo>
                  <a:pt x="0" y="0"/>
                </a:moveTo>
                <a:lnTo>
                  <a:pt x="5082253" y="0"/>
                </a:lnTo>
                <a:lnTo>
                  <a:pt x="5082253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842402" y="2290926"/>
            <a:ext cx="216266" cy="216266"/>
          </a:xfrm>
          <a:custGeom>
            <a:avLst/>
            <a:gdLst/>
            <a:ahLst/>
            <a:cxnLst/>
            <a:rect l="l" t="t" r="r" b="b"/>
            <a:pathLst>
              <a:path w="216266" h="216266">
                <a:moveTo>
                  <a:pt x="0" y="40550"/>
                </a:moveTo>
                <a:cubicBezTo>
                  <a:pt x="0" y="33074"/>
                  <a:pt x="6040" y="27033"/>
                  <a:pt x="13517" y="27033"/>
                </a:cubicBezTo>
                <a:lnTo>
                  <a:pt x="175716" y="27033"/>
                </a:lnTo>
                <a:cubicBezTo>
                  <a:pt x="183193" y="27033"/>
                  <a:pt x="189233" y="33074"/>
                  <a:pt x="189233" y="40550"/>
                </a:cubicBezTo>
                <a:cubicBezTo>
                  <a:pt x="189233" y="48026"/>
                  <a:pt x="183193" y="54067"/>
                  <a:pt x="175716" y="54067"/>
                </a:cubicBezTo>
                <a:lnTo>
                  <a:pt x="13517" y="54067"/>
                </a:lnTo>
                <a:cubicBezTo>
                  <a:pt x="6040" y="54067"/>
                  <a:pt x="0" y="48026"/>
                  <a:pt x="0" y="40550"/>
                </a:cubicBezTo>
                <a:close/>
                <a:moveTo>
                  <a:pt x="27033" y="108133"/>
                </a:moveTo>
                <a:cubicBezTo>
                  <a:pt x="27033" y="100657"/>
                  <a:pt x="33074" y="94616"/>
                  <a:pt x="40550" y="94616"/>
                </a:cubicBezTo>
                <a:lnTo>
                  <a:pt x="202749" y="94616"/>
                </a:lnTo>
                <a:cubicBezTo>
                  <a:pt x="210226" y="94616"/>
                  <a:pt x="216266" y="100657"/>
                  <a:pt x="216266" y="108133"/>
                </a:cubicBezTo>
                <a:cubicBezTo>
                  <a:pt x="216266" y="115609"/>
                  <a:pt x="210226" y="121650"/>
                  <a:pt x="202749" y="121650"/>
                </a:cubicBezTo>
                <a:lnTo>
                  <a:pt x="40550" y="121650"/>
                </a:lnTo>
                <a:cubicBezTo>
                  <a:pt x="33074" y="121650"/>
                  <a:pt x="27033" y="115609"/>
                  <a:pt x="27033" y="108133"/>
                </a:cubicBezTo>
                <a:close/>
                <a:moveTo>
                  <a:pt x="189233" y="175716"/>
                </a:moveTo>
                <a:cubicBezTo>
                  <a:pt x="189233" y="183193"/>
                  <a:pt x="183193" y="189233"/>
                  <a:pt x="175716" y="189233"/>
                </a:cubicBezTo>
                <a:lnTo>
                  <a:pt x="13517" y="189233"/>
                </a:lnTo>
                <a:cubicBezTo>
                  <a:pt x="6040" y="189233"/>
                  <a:pt x="0" y="183193"/>
                  <a:pt x="0" y="175716"/>
                </a:cubicBezTo>
                <a:cubicBezTo>
                  <a:pt x="0" y="168240"/>
                  <a:pt x="6040" y="162200"/>
                  <a:pt x="13517" y="162200"/>
                </a:cubicBezTo>
                <a:lnTo>
                  <a:pt x="175716" y="162200"/>
                </a:lnTo>
                <a:cubicBezTo>
                  <a:pt x="183193" y="162200"/>
                  <a:pt x="189233" y="168240"/>
                  <a:pt x="189233" y="175716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088705" y="2230852"/>
            <a:ext cx="4625691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3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Streaming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621" y="2723458"/>
            <a:ext cx="15246758" cy="865064"/>
          </a:xfrm>
          <a:custGeom>
            <a:avLst/>
            <a:gdLst/>
            <a:ahLst/>
            <a:cxnLst/>
            <a:rect l="l" t="t" r="r" b="b"/>
            <a:pathLst>
              <a:path w="15246758" h="865064">
                <a:moveTo>
                  <a:pt x="0" y="0"/>
                </a:moveTo>
                <a:lnTo>
                  <a:pt x="15246758" y="0"/>
                </a:lnTo>
                <a:lnTo>
                  <a:pt x="15246758" y="865064"/>
                </a:lnTo>
                <a:lnTo>
                  <a:pt x="0" y="865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4621" y="2723458"/>
            <a:ext cx="5076245" cy="859057"/>
          </a:xfrm>
          <a:custGeom>
            <a:avLst/>
            <a:gdLst/>
            <a:ahLst/>
            <a:cxnLst/>
            <a:rect l="l" t="t" r="r" b="b"/>
            <a:pathLst>
              <a:path w="5076245" h="859057">
                <a:moveTo>
                  <a:pt x="0" y="0"/>
                </a:moveTo>
                <a:lnTo>
                  <a:pt x="5076245" y="0"/>
                </a:lnTo>
                <a:lnTo>
                  <a:pt x="507624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580866" y="2723458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04621" y="3582515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72828" y="2915694"/>
            <a:ext cx="192237" cy="192237"/>
          </a:xfrm>
          <a:custGeom>
            <a:avLst/>
            <a:gdLst/>
            <a:ahLst/>
            <a:cxnLst/>
            <a:rect l="l" t="t" r="r" b="b"/>
            <a:pathLst>
              <a:path w="192237" h="192237">
                <a:moveTo>
                  <a:pt x="0" y="30037"/>
                </a:moveTo>
                <a:cubicBezTo>
                  <a:pt x="0" y="20087"/>
                  <a:pt x="8072" y="12015"/>
                  <a:pt x="18022" y="12015"/>
                </a:cubicBezTo>
                <a:lnTo>
                  <a:pt x="54067" y="12015"/>
                </a:lnTo>
                <a:cubicBezTo>
                  <a:pt x="64016" y="12015"/>
                  <a:pt x="72089" y="20087"/>
                  <a:pt x="72089" y="30037"/>
                </a:cubicBezTo>
                <a:lnTo>
                  <a:pt x="72089" y="36044"/>
                </a:lnTo>
                <a:lnTo>
                  <a:pt x="120148" y="36044"/>
                </a:lnTo>
                <a:lnTo>
                  <a:pt x="120148" y="30037"/>
                </a:lnTo>
                <a:cubicBezTo>
                  <a:pt x="120148" y="20087"/>
                  <a:pt x="128220" y="12015"/>
                  <a:pt x="138170" y="12015"/>
                </a:cubicBezTo>
                <a:lnTo>
                  <a:pt x="174214" y="12015"/>
                </a:lnTo>
                <a:cubicBezTo>
                  <a:pt x="184164" y="12015"/>
                  <a:pt x="192237" y="20087"/>
                  <a:pt x="192237" y="30037"/>
                </a:cubicBezTo>
                <a:lnTo>
                  <a:pt x="192237" y="66081"/>
                </a:lnTo>
                <a:cubicBezTo>
                  <a:pt x="192237" y="76031"/>
                  <a:pt x="184164" y="84103"/>
                  <a:pt x="174214" y="84103"/>
                </a:cubicBezTo>
                <a:lnTo>
                  <a:pt x="138170" y="84103"/>
                </a:lnTo>
                <a:cubicBezTo>
                  <a:pt x="128220" y="84103"/>
                  <a:pt x="120148" y="76031"/>
                  <a:pt x="120148" y="66081"/>
                </a:cubicBezTo>
                <a:lnTo>
                  <a:pt x="120148" y="60074"/>
                </a:lnTo>
                <a:lnTo>
                  <a:pt x="72089" y="60074"/>
                </a:lnTo>
                <a:lnTo>
                  <a:pt x="72089" y="66081"/>
                </a:lnTo>
                <a:cubicBezTo>
                  <a:pt x="72089" y="68822"/>
                  <a:pt x="71450" y="71450"/>
                  <a:pt x="70362" y="73778"/>
                </a:cubicBezTo>
                <a:lnTo>
                  <a:pt x="96118" y="108133"/>
                </a:lnTo>
                <a:lnTo>
                  <a:pt x="126155" y="108133"/>
                </a:lnTo>
                <a:cubicBezTo>
                  <a:pt x="136105" y="108133"/>
                  <a:pt x="144177" y="116205"/>
                  <a:pt x="144177" y="126155"/>
                </a:cubicBezTo>
                <a:lnTo>
                  <a:pt x="144177" y="162200"/>
                </a:lnTo>
                <a:cubicBezTo>
                  <a:pt x="144177" y="172149"/>
                  <a:pt x="136105" y="180222"/>
                  <a:pt x="126155" y="180222"/>
                </a:cubicBezTo>
                <a:lnTo>
                  <a:pt x="90111" y="180222"/>
                </a:lnTo>
                <a:cubicBezTo>
                  <a:pt x="80161" y="180222"/>
                  <a:pt x="72089" y="172149"/>
                  <a:pt x="72089" y="162200"/>
                </a:cubicBezTo>
                <a:lnTo>
                  <a:pt x="72089" y="126155"/>
                </a:lnTo>
                <a:cubicBezTo>
                  <a:pt x="72089" y="123414"/>
                  <a:pt x="72727" y="120786"/>
                  <a:pt x="73816" y="118458"/>
                </a:cubicBezTo>
                <a:lnTo>
                  <a:pt x="48059" y="84103"/>
                </a:lnTo>
                <a:lnTo>
                  <a:pt x="18022" y="84103"/>
                </a:lnTo>
                <a:cubicBezTo>
                  <a:pt x="8072" y="84103"/>
                  <a:pt x="0" y="76031"/>
                  <a:pt x="0" y="66081"/>
                </a:cubicBezTo>
                <a:lnTo>
                  <a:pt x="0" y="30037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85212" y="2867635"/>
            <a:ext cx="865064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处理模型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2650" y="2723458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586404" y="3582515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730582" y="2885657"/>
            <a:ext cx="1033271" cy="270333"/>
          </a:xfrm>
          <a:custGeom>
            <a:avLst/>
            <a:gdLst/>
            <a:ahLst/>
            <a:cxnLst/>
            <a:rect l="l" t="t" r="r" b="b"/>
            <a:pathLst>
              <a:path w="1033271" h="270333">
                <a:moveTo>
                  <a:pt x="48060" y="0"/>
                </a:moveTo>
                <a:lnTo>
                  <a:pt x="985212" y="0"/>
                </a:lnTo>
                <a:cubicBezTo>
                  <a:pt x="1011736" y="0"/>
                  <a:pt x="1033271" y="21535"/>
                  <a:pt x="1033271" y="48060"/>
                </a:cubicBezTo>
                <a:lnTo>
                  <a:pt x="1033271" y="222273"/>
                </a:lnTo>
                <a:cubicBezTo>
                  <a:pt x="1033271" y="248798"/>
                  <a:pt x="1011736" y="270333"/>
                  <a:pt x="985212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730582" y="2885657"/>
            <a:ext cx="1117375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原生流处理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30582" y="3204049"/>
            <a:ext cx="4865987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基于事件驱动，逐条处理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188" y="3582515"/>
            <a:ext cx="5082253" cy="12015"/>
          </a:xfrm>
          <a:custGeom>
            <a:avLst/>
            <a:gdLst/>
            <a:ahLst/>
            <a:cxnLst/>
            <a:rect l="l" t="t" r="r" b="b"/>
            <a:pathLst>
              <a:path w="5082253" h="12015">
                <a:moveTo>
                  <a:pt x="0" y="0"/>
                </a:moveTo>
                <a:lnTo>
                  <a:pt x="5082253" y="0"/>
                </a:lnTo>
                <a:lnTo>
                  <a:pt x="5082253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812365" y="2885657"/>
            <a:ext cx="865064" cy="270333"/>
          </a:xfrm>
          <a:custGeom>
            <a:avLst/>
            <a:gdLst/>
            <a:ahLst/>
            <a:cxnLst/>
            <a:rect l="l" t="t" r="r" b="b"/>
            <a:pathLst>
              <a:path w="865064" h="270333">
                <a:moveTo>
                  <a:pt x="48060" y="0"/>
                </a:moveTo>
                <a:lnTo>
                  <a:pt x="817005" y="0"/>
                </a:lnTo>
                <a:cubicBezTo>
                  <a:pt x="843529" y="0"/>
                  <a:pt x="865064" y="21535"/>
                  <a:pt x="865064" y="48060"/>
                </a:cubicBezTo>
                <a:lnTo>
                  <a:pt x="865064" y="222273"/>
                </a:lnTo>
                <a:cubicBezTo>
                  <a:pt x="865064" y="248798"/>
                  <a:pt x="843529" y="270333"/>
                  <a:pt x="817005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812365" y="2885657"/>
            <a:ext cx="949168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微批处理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12365" y="3204049"/>
            <a:ext cx="4878001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将流拆分为小批次，基于批处理引擎执行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4621" y="3591526"/>
            <a:ext cx="15246758" cy="865064"/>
          </a:xfrm>
          <a:custGeom>
            <a:avLst/>
            <a:gdLst/>
            <a:ahLst/>
            <a:cxnLst/>
            <a:rect l="l" t="t" r="r" b="b"/>
            <a:pathLst>
              <a:path w="15246758" h="865064">
                <a:moveTo>
                  <a:pt x="0" y="0"/>
                </a:moveTo>
                <a:lnTo>
                  <a:pt x="15246758" y="0"/>
                </a:lnTo>
                <a:lnTo>
                  <a:pt x="15246758" y="865064"/>
                </a:lnTo>
                <a:lnTo>
                  <a:pt x="0" y="865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04621" y="3591526"/>
            <a:ext cx="5076245" cy="859057"/>
          </a:xfrm>
          <a:custGeom>
            <a:avLst/>
            <a:gdLst/>
            <a:ahLst/>
            <a:cxnLst/>
            <a:rect l="l" t="t" r="r" b="b"/>
            <a:pathLst>
              <a:path w="5076245" h="859057">
                <a:moveTo>
                  <a:pt x="0" y="0"/>
                </a:moveTo>
                <a:lnTo>
                  <a:pt x="5076245" y="0"/>
                </a:lnTo>
                <a:lnTo>
                  <a:pt x="507624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580866" y="3591526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04621" y="4450583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72828" y="3783762"/>
            <a:ext cx="192237" cy="192237"/>
          </a:xfrm>
          <a:custGeom>
            <a:avLst/>
            <a:gdLst/>
            <a:ahLst/>
            <a:cxnLst/>
            <a:rect l="l" t="t" r="r" b="b"/>
            <a:pathLst>
              <a:path w="192237" h="192237">
                <a:moveTo>
                  <a:pt x="96118" y="0"/>
                </a:moveTo>
                <a:cubicBezTo>
                  <a:pt x="149167" y="0"/>
                  <a:pt x="192237" y="43069"/>
                  <a:pt x="192237" y="96118"/>
                </a:cubicBezTo>
                <a:cubicBezTo>
                  <a:pt x="192237" y="149167"/>
                  <a:pt x="149167" y="192237"/>
                  <a:pt x="96118" y="192237"/>
                </a:cubicBezTo>
                <a:cubicBezTo>
                  <a:pt x="43069" y="192237"/>
                  <a:pt x="0" y="149167"/>
                  <a:pt x="0" y="96118"/>
                </a:cubicBezTo>
                <a:cubicBezTo>
                  <a:pt x="0" y="43069"/>
                  <a:pt x="43069" y="0"/>
                  <a:pt x="96118" y="0"/>
                </a:cubicBezTo>
                <a:close/>
                <a:moveTo>
                  <a:pt x="87107" y="45055"/>
                </a:moveTo>
                <a:lnTo>
                  <a:pt x="87107" y="96118"/>
                </a:lnTo>
                <a:cubicBezTo>
                  <a:pt x="87107" y="99122"/>
                  <a:pt x="88609" y="101938"/>
                  <a:pt x="91125" y="103627"/>
                </a:cubicBezTo>
                <a:lnTo>
                  <a:pt x="127169" y="127657"/>
                </a:lnTo>
                <a:cubicBezTo>
                  <a:pt x="131299" y="130435"/>
                  <a:pt x="136893" y="129309"/>
                  <a:pt x="139672" y="125141"/>
                </a:cubicBezTo>
                <a:cubicBezTo>
                  <a:pt x="142450" y="120974"/>
                  <a:pt x="141324" y="115417"/>
                  <a:pt x="137156" y="112639"/>
                </a:cubicBezTo>
                <a:lnTo>
                  <a:pt x="105129" y="91312"/>
                </a:lnTo>
                <a:lnTo>
                  <a:pt x="105129" y="45055"/>
                </a:lnTo>
                <a:cubicBezTo>
                  <a:pt x="105129" y="40062"/>
                  <a:pt x="101112" y="36044"/>
                  <a:pt x="96118" y="36044"/>
                </a:cubicBezTo>
                <a:cubicBezTo>
                  <a:pt x="91125" y="36044"/>
                  <a:pt x="87107" y="40062"/>
                  <a:pt x="87107" y="450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85212" y="3735703"/>
            <a:ext cx="480591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662650" y="3591526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586404" y="4450583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730582" y="3753725"/>
            <a:ext cx="696857" cy="270333"/>
          </a:xfrm>
          <a:custGeom>
            <a:avLst/>
            <a:gdLst/>
            <a:ahLst/>
            <a:cxnLst/>
            <a:rect l="l" t="t" r="r" b="b"/>
            <a:pathLst>
              <a:path w="696857" h="270333">
                <a:moveTo>
                  <a:pt x="48060" y="0"/>
                </a:moveTo>
                <a:lnTo>
                  <a:pt x="648798" y="0"/>
                </a:lnTo>
                <a:cubicBezTo>
                  <a:pt x="675323" y="0"/>
                  <a:pt x="696857" y="21535"/>
                  <a:pt x="696857" y="48060"/>
                </a:cubicBezTo>
                <a:lnTo>
                  <a:pt x="696857" y="222273"/>
                </a:lnTo>
                <a:cubicBezTo>
                  <a:pt x="696857" y="248798"/>
                  <a:pt x="675323" y="270333"/>
                  <a:pt x="648798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730582" y="3753725"/>
            <a:ext cx="780961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30582" y="4072117"/>
            <a:ext cx="4865987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适合对延迟敏感的实时风控、即时大屏等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668188" y="4450583"/>
            <a:ext cx="5082253" cy="12015"/>
          </a:xfrm>
          <a:custGeom>
            <a:avLst/>
            <a:gdLst/>
            <a:ahLst/>
            <a:cxnLst/>
            <a:rect l="l" t="t" r="r" b="b"/>
            <a:pathLst>
              <a:path w="5082253" h="12015">
                <a:moveTo>
                  <a:pt x="0" y="0"/>
                </a:moveTo>
                <a:lnTo>
                  <a:pt x="5082253" y="0"/>
                </a:lnTo>
                <a:lnTo>
                  <a:pt x="5082253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812365" y="3753725"/>
            <a:ext cx="1099071" cy="270333"/>
          </a:xfrm>
          <a:custGeom>
            <a:avLst/>
            <a:gdLst/>
            <a:ahLst/>
            <a:cxnLst/>
            <a:rect l="l" t="t" r="r" b="b"/>
            <a:pathLst>
              <a:path w="1099071" h="270333">
                <a:moveTo>
                  <a:pt x="48060" y="0"/>
                </a:moveTo>
                <a:lnTo>
                  <a:pt x="1051011" y="0"/>
                </a:lnTo>
                <a:cubicBezTo>
                  <a:pt x="1077536" y="0"/>
                  <a:pt x="1099071" y="21535"/>
                  <a:pt x="1099071" y="48060"/>
                </a:cubicBezTo>
                <a:lnTo>
                  <a:pt x="1099071" y="222273"/>
                </a:lnTo>
                <a:cubicBezTo>
                  <a:pt x="1099071" y="248798"/>
                  <a:pt x="1077536" y="270333"/>
                  <a:pt x="1051011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812365" y="3753725"/>
            <a:ext cx="1183174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秒级/亚秒级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12365" y="4072117"/>
            <a:ext cx="4878001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适合准实时分析、ETL 等场景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4621" y="4459594"/>
            <a:ext cx="15246758" cy="865064"/>
          </a:xfrm>
          <a:custGeom>
            <a:avLst/>
            <a:gdLst/>
            <a:ahLst/>
            <a:cxnLst/>
            <a:rect l="l" t="t" r="r" b="b"/>
            <a:pathLst>
              <a:path w="15246758" h="865064">
                <a:moveTo>
                  <a:pt x="0" y="0"/>
                </a:moveTo>
                <a:lnTo>
                  <a:pt x="15246758" y="0"/>
                </a:lnTo>
                <a:lnTo>
                  <a:pt x="15246758" y="865064"/>
                </a:lnTo>
                <a:lnTo>
                  <a:pt x="0" y="865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04621" y="4459594"/>
            <a:ext cx="5076245" cy="859057"/>
          </a:xfrm>
          <a:custGeom>
            <a:avLst/>
            <a:gdLst/>
            <a:ahLst/>
            <a:cxnLst/>
            <a:rect l="l" t="t" r="r" b="b"/>
            <a:pathLst>
              <a:path w="5076245" h="859057">
                <a:moveTo>
                  <a:pt x="0" y="0"/>
                </a:moveTo>
                <a:lnTo>
                  <a:pt x="5076245" y="0"/>
                </a:lnTo>
                <a:lnTo>
                  <a:pt x="507624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580866" y="4459594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04621" y="5318651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84843" y="4651830"/>
            <a:ext cx="168207" cy="192237"/>
          </a:xfrm>
          <a:custGeom>
            <a:avLst/>
            <a:gdLst/>
            <a:ahLst/>
            <a:cxnLst/>
            <a:rect l="l" t="t" r="r" b="b"/>
            <a:pathLst>
              <a:path w="168207" h="192237">
                <a:moveTo>
                  <a:pt x="48059" y="0"/>
                </a:moveTo>
                <a:cubicBezTo>
                  <a:pt x="54705" y="0"/>
                  <a:pt x="60074" y="5369"/>
                  <a:pt x="60074" y="12015"/>
                </a:cubicBezTo>
                <a:lnTo>
                  <a:pt x="60074" y="24030"/>
                </a:lnTo>
                <a:lnTo>
                  <a:pt x="108133" y="24030"/>
                </a:lnTo>
                <a:lnTo>
                  <a:pt x="108133" y="12015"/>
                </a:lnTo>
                <a:cubicBezTo>
                  <a:pt x="108133" y="5369"/>
                  <a:pt x="113502" y="0"/>
                  <a:pt x="120148" y="0"/>
                </a:cubicBezTo>
                <a:cubicBezTo>
                  <a:pt x="126793" y="0"/>
                  <a:pt x="132163" y="5369"/>
                  <a:pt x="132163" y="12015"/>
                </a:cubicBezTo>
                <a:lnTo>
                  <a:pt x="132163" y="24030"/>
                </a:lnTo>
                <a:lnTo>
                  <a:pt x="144177" y="24030"/>
                </a:lnTo>
                <a:cubicBezTo>
                  <a:pt x="157431" y="24030"/>
                  <a:pt x="168207" y="34805"/>
                  <a:pt x="168207" y="48059"/>
                </a:cubicBezTo>
                <a:lnTo>
                  <a:pt x="168207" y="156192"/>
                </a:lnTo>
                <a:cubicBezTo>
                  <a:pt x="168207" y="169446"/>
                  <a:pt x="157431" y="180222"/>
                  <a:pt x="144177" y="180222"/>
                </a:cubicBezTo>
                <a:lnTo>
                  <a:pt x="24030" y="180222"/>
                </a:lnTo>
                <a:cubicBezTo>
                  <a:pt x="10776" y="180222"/>
                  <a:pt x="0" y="169446"/>
                  <a:pt x="0" y="156192"/>
                </a:cubicBezTo>
                <a:lnTo>
                  <a:pt x="0" y="48059"/>
                </a:lnTo>
                <a:cubicBezTo>
                  <a:pt x="0" y="34805"/>
                  <a:pt x="10776" y="24030"/>
                  <a:pt x="24030" y="24030"/>
                </a:cubicBezTo>
                <a:lnTo>
                  <a:pt x="36044" y="24030"/>
                </a:lnTo>
                <a:lnTo>
                  <a:pt x="36044" y="12015"/>
                </a:lnTo>
                <a:cubicBezTo>
                  <a:pt x="36044" y="5369"/>
                  <a:pt x="41413" y="0"/>
                  <a:pt x="48059" y="0"/>
                </a:cubicBezTo>
                <a:close/>
                <a:moveTo>
                  <a:pt x="24030" y="90111"/>
                </a:moveTo>
                <a:lnTo>
                  <a:pt x="24030" y="102126"/>
                </a:lnTo>
                <a:cubicBezTo>
                  <a:pt x="24030" y="105430"/>
                  <a:pt x="26733" y="108133"/>
                  <a:pt x="30037" y="108133"/>
                </a:cubicBezTo>
                <a:lnTo>
                  <a:pt x="42052" y="108133"/>
                </a:lnTo>
                <a:cubicBezTo>
                  <a:pt x="45356" y="108133"/>
                  <a:pt x="48059" y="105430"/>
                  <a:pt x="48059" y="102126"/>
                </a:cubicBezTo>
                <a:lnTo>
                  <a:pt x="48059" y="90111"/>
                </a:lnTo>
                <a:cubicBezTo>
                  <a:pt x="48059" y="86807"/>
                  <a:pt x="45356" y="84103"/>
                  <a:pt x="42052" y="84103"/>
                </a:cubicBezTo>
                <a:lnTo>
                  <a:pt x="30037" y="84103"/>
                </a:lnTo>
                <a:cubicBezTo>
                  <a:pt x="26733" y="84103"/>
                  <a:pt x="24030" y="86807"/>
                  <a:pt x="24030" y="90111"/>
                </a:cubicBezTo>
                <a:close/>
                <a:moveTo>
                  <a:pt x="72089" y="90111"/>
                </a:moveTo>
                <a:lnTo>
                  <a:pt x="72089" y="102126"/>
                </a:lnTo>
                <a:cubicBezTo>
                  <a:pt x="72089" y="105430"/>
                  <a:pt x="74792" y="108133"/>
                  <a:pt x="78096" y="108133"/>
                </a:cubicBezTo>
                <a:lnTo>
                  <a:pt x="90111" y="108133"/>
                </a:lnTo>
                <a:cubicBezTo>
                  <a:pt x="93415" y="108133"/>
                  <a:pt x="96118" y="105430"/>
                  <a:pt x="96118" y="102126"/>
                </a:cubicBezTo>
                <a:lnTo>
                  <a:pt x="96118" y="90111"/>
                </a:lnTo>
                <a:cubicBezTo>
                  <a:pt x="96118" y="86807"/>
                  <a:pt x="93415" y="84103"/>
                  <a:pt x="90111" y="84103"/>
                </a:cubicBezTo>
                <a:lnTo>
                  <a:pt x="78096" y="84103"/>
                </a:lnTo>
                <a:cubicBezTo>
                  <a:pt x="74792" y="84103"/>
                  <a:pt x="72089" y="86807"/>
                  <a:pt x="72089" y="90111"/>
                </a:cubicBezTo>
                <a:close/>
                <a:moveTo>
                  <a:pt x="126155" y="84103"/>
                </a:moveTo>
                <a:cubicBezTo>
                  <a:pt x="122851" y="84103"/>
                  <a:pt x="120148" y="86807"/>
                  <a:pt x="120148" y="90111"/>
                </a:cubicBezTo>
                <a:lnTo>
                  <a:pt x="120148" y="102126"/>
                </a:lnTo>
                <a:cubicBezTo>
                  <a:pt x="120148" y="105430"/>
                  <a:pt x="122851" y="108133"/>
                  <a:pt x="126155" y="108133"/>
                </a:cubicBezTo>
                <a:lnTo>
                  <a:pt x="138170" y="108133"/>
                </a:lnTo>
                <a:cubicBezTo>
                  <a:pt x="141474" y="108133"/>
                  <a:pt x="144177" y="105430"/>
                  <a:pt x="144177" y="102126"/>
                </a:cubicBezTo>
                <a:lnTo>
                  <a:pt x="144177" y="90111"/>
                </a:lnTo>
                <a:cubicBezTo>
                  <a:pt x="144177" y="86807"/>
                  <a:pt x="141474" y="84103"/>
                  <a:pt x="138170" y="84103"/>
                </a:cubicBezTo>
                <a:lnTo>
                  <a:pt x="126155" y="84103"/>
                </a:lnTo>
                <a:close/>
                <a:moveTo>
                  <a:pt x="24030" y="138170"/>
                </a:moveTo>
                <a:lnTo>
                  <a:pt x="24030" y="150185"/>
                </a:lnTo>
                <a:cubicBezTo>
                  <a:pt x="24030" y="153489"/>
                  <a:pt x="26733" y="156192"/>
                  <a:pt x="30037" y="156192"/>
                </a:cubicBezTo>
                <a:lnTo>
                  <a:pt x="42052" y="156192"/>
                </a:lnTo>
                <a:cubicBezTo>
                  <a:pt x="45356" y="156192"/>
                  <a:pt x="48059" y="153489"/>
                  <a:pt x="48059" y="150185"/>
                </a:cubicBezTo>
                <a:lnTo>
                  <a:pt x="48059" y="138170"/>
                </a:lnTo>
                <a:cubicBezTo>
                  <a:pt x="48059" y="134866"/>
                  <a:pt x="45356" y="132163"/>
                  <a:pt x="42052" y="132163"/>
                </a:cubicBezTo>
                <a:lnTo>
                  <a:pt x="30037" y="132163"/>
                </a:lnTo>
                <a:cubicBezTo>
                  <a:pt x="26733" y="132163"/>
                  <a:pt x="24030" y="134866"/>
                  <a:pt x="24030" y="138170"/>
                </a:cubicBezTo>
                <a:close/>
                <a:moveTo>
                  <a:pt x="78096" y="132163"/>
                </a:moveTo>
                <a:cubicBezTo>
                  <a:pt x="74792" y="132163"/>
                  <a:pt x="72089" y="134866"/>
                  <a:pt x="72089" y="138170"/>
                </a:cubicBezTo>
                <a:lnTo>
                  <a:pt x="72089" y="150185"/>
                </a:lnTo>
                <a:cubicBezTo>
                  <a:pt x="72089" y="153489"/>
                  <a:pt x="74792" y="156192"/>
                  <a:pt x="78096" y="156192"/>
                </a:cubicBezTo>
                <a:lnTo>
                  <a:pt x="90111" y="156192"/>
                </a:lnTo>
                <a:cubicBezTo>
                  <a:pt x="93415" y="156192"/>
                  <a:pt x="96118" y="153489"/>
                  <a:pt x="96118" y="150185"/>
                </a:cubicBezTo>
                <a:lnTo>
                  <a:pt x="96118" y="138170"/>
                </a:lnTo>
                <a:cubicBezTo>
                  <a:pt x="96118" y="134866"/>
                  <a:pt x="93415" y="132163"/>
                  <a:pt x="90111" y="132163"/>
                </a:cubicBezTo>
                <a:lnTo>
                  <a:pt x="78096" y="132163"/>
                </a:lnTo>
                <a:close/>
                <a:moveTo>
                  <a:pt x="120148" y="138170"/>
                </a:moveTo>
                <a:lnTo>
                  <a:pt x="120148" y="150185"/>
                </a:lnTo>
                <a:cubicBezTo>
                  <a:pt x="120148" y="153489"/>
                  <a:pt x="122851" y="156192"/>
                  <a:pt x="126155" y="156192"/>
                </a:cubicBezTo>
                <a:lnTo>
                  <a:pt x="138170" y="156192"/>
                </a:lnTo>
                <a:cubicBezTo>
                  <a:pt x="141474" y="156192"/>
                  <a:pt x="144177" y="153489"/>
                  <a:pt x="144177" y="150185"/>
                </a:cubicBezTo>
                <a:lnTo>
                  <a:pt x="144177" y="138170"/>
                </a:lnTo>
                <a:cubicBezTo>
                  <a:pt x="144177" y="134866"/>
                  <a:pt x="141474" y="132163"/>
                  <a:pt x="138170" y="132163"/>
                </a:cubicBezTo>
                <a:lnTo>
                  <a:pt x="126155" y="132163"/>
                </a:lnTo>
                <a:cubicBezTo>
                  <a:pt x="122851" y="132163"/>
                  <a:pt x="120148" y="134866"/>
                  <a:pt x="120148" y="13817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85212" y="4603771"/>
            <a:ext cx="865064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662650" y="4459594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586404" y="5318651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730582" y="4621793"/>
            <a:ext cx="1779502" cy="270333"/>
          </a:xfrm>
          <a:custGeom>
            <a:avLst/>
            <a:gdLst/>
            <a:ahLst/>
            <a:cxnLst/>
            <a:rect l="l" t="t" r="r" b="b"/>
            <a:pathLst>
              <a:path w="1779502" h="270333">
                <a:moveTo>
                  <a:pt x="48060" y="0"/>
                </a:moveTo>
                <a:lnTo>
                  <a:pt x="1731442" y="0"/>
                </a:lnTo>
                <a:cubicBezTo>
                  <a:pt x="1757985" y="0"/>
                  <a:pt x="1779502" y="21517"/>
                  <a:pt x="1779502" y="48060"/>
                </a:cubicBezTo>
                <a:lnTo>
                  <a:pt x="1779502" y="222273"/>
                </a:lnTo>
                <a:cubicBezTo>
                  <a:pt x="1779502" y="248816"/>
                  <a:pt x="1757985" y="270333"/>
                  <a:pt x="1731442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730582" y="4621793"/>
            <a:ext cx="1863605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原生支持 Event Time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730582" y="4940185"/>
            <a:ext cx="4865987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 Watermark 机制处理乱序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668188" y="5318651"/>
            <a:ext cx="5082253" cy="12015"/>
          </a:xfrm>
          <a:custGeom>
            <a:avLst/>
            <a:gdLst/>
            <a:ahLst/>
            <a:cxnLst/>
            <a:rect l="l" t="t" r="r" b="b"/>
            <a:pathLst>
              <a:path w="5082253" h="12015">
                <a:moveTo>
                  <a:pt x="0" y="0"/>
                </a:moveTo>
                <a:lnTo>
                  <a:pt x="5082253" y="0"/>
                </a:lnTo>
                <a:lnTo>
                  <a:pt x="5082253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812365" y="4621793"/>
            <a:ext cx="1201478" cy="270333"/>
          </a:xfrm>
          <a:custGeom>
            <a:avLst/>
            <a:gdLst/>
            <a:ahLst/>
            <a:cxnLst/>
            <a:rect l="l" t="t" r="r" b="b"/>
            <a:pathLst>
              <a:path w="1201478" h="270333">
                <a:moveTo>
                  <a:pt x="48060" y="0"/>
                </a:moveTo>
                <a:lnTo>
                  <a:pt x="1153418" y="0"/>
                </a:lnTo>
                <a:cubicBezTo>
                  <a:pt x="1179943" y="0"/>
                  <a:pt x="1201478" y="21535"/>
                  <a:pt x="1201478" y="48060"/>
                </a:cubicBezTo>
                <a:lnTo>
                  <a:pt x="1201478" y="222273"/>
                </a:lnTo>
                <a:cubicBezTo>
                  <a:pt x="1201478" y="248798"/>
                  <a:pt x="1179943" y="270333"/>
                  <a:pt x="1153418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812365" y="4621793"/>
            <a:ext cx="1285582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基于微批窗口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12365" y="4940185"/>
            <a:ext cx="4878001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Event Time，但处理乱序相对复杂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04621" y="5327662"/>
            <a:ext cx="15246758" cy="865064"/>
          </a:xfrm>
          <a:custGeom>
            <a:avLst/>
            <a:gdLst/>
            <a:ahLst/>
            <a:cxnLst/>
            <a:rect l="l" t="t" r="r" b="b"/>
            <a:pathLst>
              <a:path w="15246758" h="865064">
                <a:moveTo>
                  <a:pt x="0" y="0"/>
                </a:moveTo>
                <a:lnTo>
                  <a:pt x="15246758" y="0"/>
                </a:lnTo>
                <a:lnTo>
                  <a:pt x="15246758" y="865064"/>
                </a:lnTo>
                <a:lnTo>
                  <a:pt x="0" y="865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504621" y="5327662"/>
            <a:ext cx="5076245" cy="859057"/>
          </a:xfrm>
          <a:custGeom>
            <a:avLst/>
            <a:gdLst/>
            <a:ahLst/>
            <a:cxnLst/>
            <a:rect l="l" t="t" r="r" b="b"/>
            <a:pathLst>
              <a:path w="5076245" h="859057">
                <a:moveTo>
                  <a:pt x="0" y="0"/>
                </a:moveTo>
                <a:lnTo>
                  <a:pt x="5076245" y="0"/>
                </a:lnTo>
                <a:lnTo>
                  <a:pt x="507624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5580866" y="5327662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04621" y="6186719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684843" y="5519898"/>
            <a:ext cx="168207" cy="192237"/>
          </a:xfrm>
          <a:custGeom>
            <a:avLst/>
            <a:gdLst/>
            <a:ahLst/>
            <a:cxnLst/>
            <a:rect l="l" t="t" r="r" b="b"/>
            <a:pathLst>
              <a:path w="168207" h="192237">
                <a:moveTo>
                  <a:pt x="168207" y="77270"/>
                </a:moveTo>
                <a:cubicBezTo>
                  <a:pt x="162650" y="80950"/>
                  <a:pt x="156267" y="83916"/>
                  <a:pt x="149622" y="86281"/>
                </a:cubicBezTo>
                <a:cubicBezTo>
                  <a:pt x="131975" y="92589"/>
                  <a:pt x="108809" y="96118"/>
                  <a:pt x="84103" y="96118"/>
                </a:cubicBezTo>
                <a:cubicBezTo>
                  <a:pt x="59398" y="96118"/>
                  <a:pt x="36195" y="92551"/>
                  <a:pt x="18585" y="86281"/>
                </a:cubicBezTo>
                <a:cubicBezTo>
                  <a:pt x="11977" y="83916"/>
                  <a:pt x="5557" y="80950"/>
                  <a:pt x="0" y="77270"/>
                </a:cubicBezTo>
                <a:lnTo>
                  <a:pt x="0" y="108133"/>
                </a:lnTo>
                <a:cubicBezTo>
                  <a:pt x="0" y="124728"/>
                  <a:pt x="37659" y="138170"/>
                  <a:pt x="84103" y="138170"/>
                </a:cubicBezTo>
                <a:cubicBezTo>
                  <a:pt x="130548" y="138170"/>
                  <a:pt x="168207" y="124728"/>
                  <a:pt x="168207" y="108133"/>
                </a:cubicBezTo>
                <a:lnTo>
                  <a:pt x="168207" y="77270"/>
                </a:lnTo>
                <a:close/>
                <a:moveTo>
                  <a:pt x="168207" y="48059"/>
                </a:moveTo>
                <a:lnTo>
                  <a:pt x="168207" y="30037"/>
                </a:lnTo>
                <a:cubicBezTo>
                  <a:pt x="168207" y="13442"/>
                  <a:pt x="130548" y="0"/>
                  <a:pt x="84103" y="0"/>
                </a:cubicBezTo>
                <a:cubicBezTo>
                  <a:pt x="37659" y="0"/>
                  <a:pt x="0" y="13442"/>
                  <a:pt x="0" y="30037"/>
                </a:cubicBezTo>
                <a:lnTo>
                  <a:pt x="0" y="48059"/>
                </a:lnTo>
                <a:cubicBezTo>
                  <a:pt x="0" y="64655"/>
                  <a:pt x="37659" y="78096"/>
                  <a:pt x="84103" y="78096"/>
                </a:cubicBezTo>
                <a:cubicBezTo>
                  <a:pt x="130548" y="78096"/>
                  <a:pt x="168207" y="64655"/>
                  <a:pt x="168207" y="48059"/>
                </a:cubicBezTo>
                <a:close/>
                <a:moveTo>
                  <a:pt x="149622" y="146355"/>
                </a:moveTo>
                <a:cubicBezTo>
                  <a:pt x="132012" y="152625"/>
                  <a:pt x="108846" y="156192"/>
                  <a:pt x="84103" y="156192"/>
                </a:cubicBezTo>
                <a:cubicBezTo>
                  <a:pt x="59361" y="156192"/>
                  <a:pt x="36195" y="152625"/>
                  <a:pt x="18585" y="146355"/>
                </a:cubicBezTo>
                <a:cubicBezTo>
                  <a:pt x="11977" y="143990"/>
                  <a:pt x="5557" y="141024"/>
                  <a:pt x="0" y="137344"/>
                </a:cubicBezTo>
                <a:lnTo>
                  <a:pt x="0" y="162200"/>
                </a:lnTo>
                <a:cubicBezTo>
                  <a:pt x="0" y="178795"/>
                  <a:pt x="37659" y="192237"/>
                  <a:pt x="84103" y="192237"/>
                </a:cubicBezTo>
                <a:cubicBezTo>
                  <a:pt x="130548" y="192237"/>
                  <a:pt x="168207" y="178795"/>
                  <a:pt x="168207" y="162200"/>
                </a:cubicBezTo>
                <a:lnTo>
                  <a:pt x="168207" y="137344"/>
                </a:lnTo>
                <a:cubicBezTo>
                  <a:pt x="162650" y="141024"/>
                  <a:pt x="156267" y="143990"/>
                  <a:pt x="149622" y="1463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85212" y="5471839"/>
            <a:ext cx="865064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662650" y="5327662"/>
            <a:ext cx="12015" cy="859057"/>
          </a:xfrm>
          <a:custGeom>
            <a:avLst/>
            <a:gdLst/>
            <a:ahLst/>
            <a:cxnLst/>
            <a:rect l="l" t="t" r="r" b="b"/>
            <a:pathLst>
              <a:path w="12015" h="859057">
                <a:moveTo>
                  <a:pt x="0" y="0"/>
                </a:moveTo>
                <a:lnTo>
                  <a:pt x="12015" y="0"/>
                </a:lnTo>
                <a:lnTo>
                  <a:pt x="12015" y="859057"/>
                </a:lnTo>
                <a:lnTo>
                  <a:pt x="0" y="85905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586404" y="6186719"/>
            <a:ext cx="5076245" cy="12015"/>
          </a:xfrm>
          <a:custGeom>
            <a:avLst/>
            <a:gdLst/>
            <a:ahLst/>
            <a:cxnLst/>
            <a:rect l="l" t="t" r="r" b="b"/>
            <a:pathLst>
              <a:path w="5076245" h="12015">
                <a:moveTo>
                  <a:pt x="0" y="0"/>
                </a:moveTo>
                <a:lnTo>
                  <a:pt x="5076245" y="0"/>
                </a:lnTo>
                <a:lnTo>
                  <a:pt x="5076245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5730582" y="5489861"/>
            <a:ext cx="1369685" cy="270333"/>
          </a:xfrm>
          <a:custGeom>
            <a:avLst/>
            <a:gdLst/>
            <a:ahLst/>
            <a:cxnLst/>
            <a:rect l="l" t="t" r="r" b="b"/>
            <a:pathLst>
              <a:path w="1369685" h="270333">
                <a:moveTo>
                  <a:pt x="48060" y="0"/>
                </a:moveTo>
                <a:lnTo>
                  <a:pt x="1321625" y="0"/>
                </a:lnTo>
                <a:cubicBezTo>
                  <a:pt x="1348150" y="0"/>
                  <a:pt x="1369685" y="21535"/>
                  <a:pt x="1369685" y="48060"/>
                </a:cubicBezTo>
                <a:lnTo>
                  <a:pt x="1369685" y="222273"/>
                </a:lnTo>
                <a:cubicBezTo>
                  <a:pt x="1369685" y="248798"/>
                  <a:pt x="1348150" y="270333"/>
                  <a:pt x="1321625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5730582" y="5489861"/>
            <a:ext cx="1453789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细粒度状态控制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730582" y="5808253"/>
            <a:ext cx="4865987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Keyed State, Operator State，原生集成 RocksDB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668188" y="6186719"/>
            <a:ext cx="5082253" cy="12015"/>
          </a:xfrm>
          <a:custGeom>
            <a:avLst/>
            <a:gdLst/>
            <a:ahLst/>
            <a:cxnLst/>
            <a:rect l="l" t="t" r="r" b="b"/>
            <a:pathLst>
              <a:path w="5082253" h="12015">
                <a:moveTo>
                  <a:pt x="0" y="0"/>
                </a:moveTo>
                <a:lnTo>
                  <a:pt x="5082253" y="0"/>
                </a:lnTo>
                <a:lnTo>
                  <a:pt x="5082253" y="12015"/>
                </a:lnTo>
                <a:lnTo>
                  <a:pt x="0" y="1201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10812365" y="5489861"/>
            <a:ext cx="1593460" cy="270333"/>
          </a:xfrm>
          <a:custGeom>
            <a:avLst/>
            <a:gdLst/>
            <a:ahLst/>
            <a:cxnLst/>
            <a:rect l="l" t="t" r="r" b="b"/>
            <a:pathLst>
              <a:path w="1593460" h="270333">
                <a:moveTo>
                  <a:pt x="48060" y="0"/>
                </a:moveTo>
                <a:lnTo>
                  <a:pt x="1545401" y="0"/>
                </a:lnTo>
                <a:cubicBezTo>
                  <a:pt x="1571926" y="0"/>
                  <a:pt x="1593460" y="21535"/>
                  <a:pt x="1593460" y="48060"/>
                </a:cubicBezTo>
                <a:lnTo>
                  <a:pt x="1593460" y="222273"/>
                </a:lnTo>
                <a:cubicBezTo>
                  <a:pt x="1593460" y="248798"/>
                  <a:pt x="1571926" y="270333"/>
                  <a:pt x="1545401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10812365" y="5489861"/>
            <a:ext cx="1677564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RDD/Dataset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812365" y="5808253"/>
            <a:ext cx="4878001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通常依赖 Checkpoint 恢复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04621" y="6195730"/>
            <a:ext cx="15246758" cy="853050"/>
          </a:xfrm>
          <a:custGeom>
            <a:avLst/>
            <a:gdLst/>
            <a:ahLst/>
            <a:cxnLst/>
            <a:rect l="l" t="t" r="r" b="b"/>
            <a:pathLst>
              <a:path w="15246758" h="853050">
                <a:moveTo>
                  <a:pt x="0" y="0"/>
                </a:moveTo>
                <a:lnTo>
                  <a:pt x="15246758" y="0"/>
                </a:lnTo>
                <a:lnTo>
                  <a:pt x="15246758" y="853050"/>
                </a:lnTo>
                <a:lnTo>
                  <a:pt x="0" y="8530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504621" y="6195730"/>
            <a:ext cx="5076245" cy="853050"/>
          </a:xfrm>
          <a:custGeom>
            <a:avLst/>
            <a:gdLst/>
            <a:ahLst/>
            <a:cxnLst/>
            <a:rect l="l" t="t" r="r" b="b"/>
            <a:pathLst>
              <a:path w="5076245" h="853050">
                <a:moveTo>
                  <a:pt x="0" y="0"/>
                </a:moveTo>
                <a:lnTo>
                  <a:pt x="5076245" y="0"/>
                </a:lnTo>
                <a:lnTo>
                  <a:pt x="5076245" y="853050"/>
                </a:lnTo>
                <a:lnTo>
                  <a:pt x="0" y="85305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5580866" y="6195730"/>
            <a:ext cx="12015" cy="853050"/>
          </a:xfrm>
          <a:custGeom>
            <a:avLst/>
            <a:gdLst/>
            <a:ahLst/>
            <a:cxnLst/>
            <a:rect l="l" t="t" r="r" b="b"/>
            <a:pathLst>
              <a:path w="12015" h="853050">
                <a:moveTo>
                  <a:pt x="0" y="0"/>
                </a:moveTo>
                <a:lnTo>
                  <a:pt x="12015" y="0"/>
                </a:lnTo>
                <a:lnTo>
                  <a:pt x="12015" y="853050"/>
                </a:lnTo>
                <a:lnTo>
                  <a:pt x="0" y="85305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672828" y="6387966"/>
            <a:ext cx="192237" cy="192237"/>
          </a:xfrm>
          <a:custGeom>
            <a:avLst/>
            <a:gdLst/>
            <a:ahLst/>
            <a:cxnLst/>
            <a:rect l="l" t="t" r="r" b="b"/>
            <a:pathLst>
              <a:path w="192237" h="192237">
                <a:moveTo>
                  <a:pt x="96118" y="0"/>
                </a:moveTo>
                <a:cubicBezTo>
                  <a:pt x="97845" y="0"/>
                  <a:pt x="99573" y="375"/>
                  <a:pt x="101149" y="1089"/>
                </a:cubicBezTo>
                <a:lnTo>
                  <a:pt x="171886" y="31088"/>
                </a:lnTo>
                <a:cubicBezTo>
                  <a:pt x="180147" y="34580"/>
                  <a:pt x="186304" y="42728"/>
                  <a:pt x="186267" y="52565"/>
                </a:cubicBezTo>
                <a:cubicBezTo>
                  <a:pt x="186079" y="89810"/>
                  <a:pt x="170760" y="157957"/>
                  <a:pt x="106068" y="188932"/>
                </a:cubicBezTo>
                <a:cubicBezTo>
                  <a:pt x="99798" y="191936"/>
                  <a:pt x="92514" y="191936"/>
                  <a:pt x="86244" y="188932"/>
                </a:cubicBezTo>
                <a:cubicBezTo>
                  <a:pt x="21514" y="157957"/>
                  <a:pt x="6233" y="89810"/>
                  <a:pt x="6045" y="52565"/>
                </a:cubicBezTo>
                <a:cubicBezTo>
                  <a:pt x="6007" y="42728"/>
                  <a:pt x="12165" y="34580"/>
                  <a:pt x="20425" y="31088"/>
                </a:cubicBezTo>
                <a:lnTo>
                  <a:pt x="91125" y="1089"/>
                </a:lnTo>
                <a:cubicBezTo>
                  <a:pt x="92702" y="375"/>
                  <a:pt x="94391" y="0"/>
                  <a:pt x="96118" y="0"/>
                </a:cubicBezTo>
                <a:close/>
                <a:moveTo>
                  <a:pt x="96118" y="25081"/>
                </a:moveTo>
                <a:lnTo>
                  <a:pt x="96118" y="167043"/>
                </a:lnTo>
                <a:cubicBezTo>
                  <a:pt x="147932" y="141962"/>
                  <a:pt x="161862" y="86394"/>
                  <a:pt x="162200" y="53128"/>
                </a:cubicBezTo>
                <a:lnTo>
                  <a:pt x="96118" y="25118"/>
                </a:lnTo>
                <a:lnTo>
                  <a:pt x="96118" y="25118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985212" y="6339907"/>
            <a:ext cx="865064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0662650" y="6195730"/>
            <a:ext cx="12015" cy="853050"/>
          </a:xfrm>
          <a:custGeom>
            <a:avLst/>
            <a:gdLst/>
            <a:ahLst/>
            <a:cxnLst/>
            <a:rect l="l" t="t" r="r" b="b"/>
            <a:pathLst>
              <a:path w="12015" h="853050">
                <a:moveTo>
                  <a:pt x="0" y="0"/>
                </a:moveTo>
                <a:lnTo>
                  <a:pt x="12015" y="0"/>
                </a:lnTo>
                <a:lnTo>
                  <a:pt x="12015" y="853050"/>
                </a:lnTo>
                <a:lnTo>
                  <a:pt x="0" y="85305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5730582" y="6357929"/>
            <a:ext cx="1891014" cy="270333"/>
          </a:xfrm>
          <a:custGeom>
            <a:avLst/>
            <a:gdLst/>
            <a:ahLst/>
            <a:cxnLst/>
            <a:rect l="l" t="t" r="r" b="b"/>
            <a:pathLst>
              <a:path w="1891014" h="270333">
                <a:moveTo>
                  <a:pt x="48060" y="0"/>
                </a:moveTo>
                <a:lnTo>
                  <a:pt x="1842954" y="0"/>
                </a:lnTo>
                <a:cubicBezTo>
                  <a:pt x="1869497" y="0"/>
                  <a:pt x="1891014" y="21517"/>
                  <a:pt x="1891014" y="48060"/>
                </a:cubicBezTo>
                <a:lnTo>
                  <a:pt x="1891014" y="222273"/>
                </a:lnTo>
                <a:cubicBezTo>
                  <a:pt x="1891014" y="248816"/>
                  <a:pt x="1869497" y="270333"/>
                  <a:pt x="1842954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5730582" y="6357929"/>
            <a:ext cx="1975118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Chandy-Lamport 算法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5730582" y="6676321"/>
            <a:ext cx="4865987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轻量级分布式快照，对处理性能影响小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0812365" y="6357929"/>
            <a:ext cx="1734071" cy="270333"/>
          </a:xfrm>
          <a:custGeom>
            <a:avLst/>
            <a:gdLst/>
            <a:ahLst/>
            <a:cxnLst/>
            <a:rect l="l" t="t" r="r" b="b"/>
            <a:pathLst>
              <a:path w="1734071" h="270333">
                <a:moveTo>
                  <a:pt x="48060" y="0"/>
                </a:moveTo>
                <a:lnTo>
                  <a:pt x="1686011" y="0"/>
                </a:lnTo>
                <a:cubicBezTo>
                  <a:pt x="1712554" y="0"/>
                  <a:pt x="1734071" y="21517"/>
                  <a:pt x="1734071" y="48060"/>
                </a:cubicBezTo>
                <a:lnTo>
                  <a:pt x="1734071" y="222273"/>
                </a:lnTo>
                <a:cubicBezTo>
                  <a:pt x="1734071" y="248816"/>
                  <a:pt x="1712554" y="270333"/>
                  <a:pt x="1686011" y="270333"/>
                </a:cubicBezTo>
                <a:lnTo>
                  <a:pt x="48060" y="270333"/>
                </a:lnTo>
                <a:cubicBezTo>
                  <a:pt x="21535" y="270333"/>
                  <a:pt x="0" y="248798"/>
                  <a:pt x="0" y="222273"/>
                </a:cubicBezTo>
                <a:lnTo>
                  <a:pt x="0" y="48060"/>
                </a:lnTo>
                <a:cubicBezTo>
                  <a:pt x="0" y="21535"/>
                  <a:pt x="21535" y="0"/>
                  <a:pt x="48060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10812365" y="6357929"/>
            <a:ext cx="1818174" cy="270333"/>
          </a:xfrm>
          <a:prstGeom prst="rect">
            <a:avLst/>
          </a:prstGeom>
          <a:noFill/>
          <a:ln/>
        </p:spPr>
        <p:txBody>
          <a:bodyPr wrap="square" lIns="96118" tIns="24030" rIns="96118" bIns="24030" rtlCol="0" anchor="ctr"/>
          <a:lstStyle/>
          <a:p>
            <a:pPr>
              <a:lnSpc>
                <a:spcPct val="120000"/>
              </a:lnSpc>
            </a:pPr>
            <a:r>
              <a:rPr lang="en-US" sz="1324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RDD Lineage / WAL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812365" y="6676321"/>
            <a:ext cx="4878001" cy="2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微批重算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504621" y="7219990"/>
            <a:ext cx="7521254" cy="1826247"/>
          </a:xfrm>
          <a:custGeom>
            <a:avLst/>
            <a:gdLst/>
            <a:ahLst/>
            <a:cxnLst/>
            <a:rect l="l" t="t" r="r" b="b"/>
            <a:pathLst>
              <a:path w="7521254" h="1826247">
                <a:moveTo>
                  <a:pt x="48059" y="0"/>
                </a:moveTo>
                <a:lnTo>
                  <a:pt x="7425138" y="0"/>
                </a:lnTo>
                <a:cubicBezTo>
                  <a:pt x="7478221" y="0"/>
                  <a:pt x="7521254" y="43032"/>
                  <a:pt x="7521254" y="96115"/>
                </a:cubicBezTo>
                <a:lnTo>
                  <a:pt x="7521254" y="1730131"/>
                </a:lnTo>
                <a:cubicBezTo>
                  <a:pt x="7521254" y="1783215"/>
                  <a:pt x="7478221" y="1826247"/>
                  <a:pt x="7425138" y="1826247"/>
                </a:cubicBezTo>
                <a:lnTo>
                  <a:pt x="48059" y="1826247"/>
                </a:lnTo>
                <a:cubicBezTo>
                  <a:pt x="21517" y="1826247"/>
                  <a:pt x="0" y="1804730"/>
                  <a:pt x="0" y="1778188"/>
                </a:cubicBezTo>
                <a:lnTo>
                  <a:pt x="0" y="48059"/>
                </a:lnTo>
                <a:cubicBezTo>
                  <a:pt x="0" y="21517"/>
                  <a:pt x="21517" y="0"/>
                  <a:pt x="48059" y="0"/>
                </a:cubicBezTo>
                <a:close/>
              </a:path>
            </a:pathLst>
          </a:custGeom>
          <a:gradFill flip="none" rotWithShape="1">
            <a:gsLst>
              <a:gs pos="0">
                <a:srgbClr val="3C808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504621" y="7219990"/>
            <a:ext cx="48059" cy="1826247"/>
          </a:xfrm>
          <a:custGeom>
            <a:avLst/>
            <a:gdLst/>
            <a:ahLst/>
            <a:cxnLst/>
            <a:rect l="l" t="t" r="r" b="b"/>
            <a:pathLst>
              <a:path w="48059" h="1826247">
                <a:moveTo>
                  <a:pt x="48059" y="0"/>
                </a:moveTo>
                <a:lnTo>
                  <a:pt x="48059" y="0"/>
                </a:lnTo>
                <a:lnTo>
                  <a:pt x="48059" y="1826247"/>
                </a:lnTo>
                <a:lnTo>
                  <a:pt x="48059" y="1826247"/>
                </a:lnTo>
                <a:cubicBezTo>
                  <a:pt x="21517" y="1826247"/>
                  <a:pt x="0" y="1804730"/>
                  <a:pt x="0" y="1778188"/>
                </a:cubicBezTo>
                <a:lnTo>
                  <a:pt x="0" y="48059"/>
                </a:lnTo>
                <a:cubicBezTo>
                  <a:pt x="0" y="21517"/>
                  <a:pt x="21517" y="0"/>
                  <a:pt x="48059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756931" y="7412226"/>
            <a:ext cx="288355" cy="288355"/>
          </a:xfrm>
          <a:custGeom>
            <a:avLst/>
            <a:gdLst/>
            <a:ahLst/>
            <a:cxnLst/>
            <a:rect l="l" t="t" r="r" b="b"/>
            <a:pathLst>
              <a:path w="288355" h="288355">
                <a:moveTo>
                  <a:pt x="144177" y="288355"/>
                </a:moveTo>
                <a:cubicBezTo>
                  <a:pt x="223751" y="288355"/>
                  <a:pt x="288355" y="223751"/>
                  <a:pt x="288355" y="144177"/>
                </a:cubicBezTo>
                <a:cubicBezTo>
                  <a:pt x="288355" y="64604"/>
                  <a:pt x="223751" y="0"/>
                  <a:pt x="144177" y="0"/>
                </a:cubicBezTo>
                <a:cubicBezTo>
                  <a:pt x="64604" y="0"/>
                  <a:pt x="0" y="64604"/>
                  <a:pt x="0" y="144177"/>
                </a:cubicBezTo>
                <a:cubicBezTo>
                  <a:pt x="0" y="223751"/>
                  <a:pt x="64604" y="288355"/>
                  <a:pt x="144177" y="288355"/>
                </a:cubicBezTo>
                <a:close/>
                <a:moveTo>
                  <a:pt x="191711" y="119791"/>
                </a:moveTo>
                <a:lnTo>
                  <a:pt x="146655" y="191880"/>
                </a:lnTo>
                <a:cubicBezTo>
                  <a:pt x="144290" y="195653"/>
                  <a:pt x="140235" y="198019"/>
                  <a:pt x="135786" y="198244"/>
                </a:cubicBezTo>
                <a:cubicBezTo>
                  <a:pt x="131337" y="198469"/>
                  <a:pt x="127056" y="196442"/>
                  <a:pt x="124409" y="192837"/>
                </a:cubicBezTo>
                <a:lnTo>
                  <a:pt x="97376" y="156793"/>
                </a:lnTo>
                <a:cubicBezTo>
                  <a:pt x="92871" y="150823"/>
                  <a:pt x="94110" y="142375"/>
                  <a:pt x="100079" y="137870"/>
                </a:cubicBezTo>
                <a:cubicBezTo>
                  <a:pt x="106049" y="133364"/>
                  <a:pt x="114497" y="134603"/>
                  <a:pt x="119003" y="140573"/>
                </a:cubicBezTo>
                <a:lnTo>
                  <a:pt x="134209" y="160848"/>
                </a:lnTo>
                <a:lnTo>
                  <a:pt x="168789" y="105486"/>
                </a:lnTo>
                <a:cubicBezTo>
                  <a:pt x="172731" y="99178"/>
                  <a:pt x="181067" y="97207"/>
                  <a:pt x="187431" y="101206"/>
                </a:cubicBezTo>
                <a:cubicBezTo>
                  <a:pt x="193795" y="105204"/>
                  <a:pt x="195710" y="113483"/>
                  <a:pt x="191711" y="119847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1225508" y="7412226"/>
            <a:ext cx="1658040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适用场景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92976" y="7892818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1057301" y="7844759"/>
            <a:ext cx="1826247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实时数仓、实时推荐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792976" y="8253261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1057301" y="8205202"/>
            <a:ext cx="1790203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复杂事件处理 (CEP)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792976" y="8613705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9" name="Text 97"/>
          <p:cNvSpPr/>
          <p:nvPr/>
        </p:nvSpPr>
        <p:spPr>
          <a:xfrm>
            <a:off x="1057301" y="8565645"/>
            <a:ext cx="1826247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实时风控、即时大屏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8247397" y="7219990"/>
            <a:ext cx="7521254" cy="1826247"/>
          </a:xfrm>
          <a:custGeom>
            <a:avLst/>
            <a:gdLst/>
            <a:ahLst/>
            <a:cxnLst/>
            <a:rect l="l" t="t" r="r" b="b"/>
            <a:pathLst>
              <a:path w="7521254" h="1826247">
                <a:moveTo>
                  <a:pt x="48059" y="0"/>
                </a:moveTo>
                <a:lnTo>
                  <a:pt x="7425138" y="0"/>
                </a:lnTo>
                <a:cubicBezTo>
                  <a:pt x="7478221" y="0"/>
                  <a:pt x="7521254" y="43032"/>
                  <a:pt x="7521254" y="96115"/>
                </a:cubicBezTo>
                <a:lnTo>
                  <a:pt x="7521254" y="1730131"/>
                </a:lnTo>
                <a:cubicBezTo>
                  <a:pt x="7521254" y="1783215"/>
                  <a:pt x="7478221" y="1826247"/>
                  <a:pt x="7425138" y="1826247"/>
                </a:cubicBezTo>
                <a:lnTo>
                  <a:pt x="48059" y="1826247"/>
                </a:lnTo>
                <a:cubicBezTo>
                  <a:pt x="21517" y="1826247"/>
                  <a:pt x="0" y="1804730"/>
                  <a:pt x="0" y="1778188"/>
                </a:cubicBezTo>
                <a:lnTo>
                  <a:pt x="0" y="48059"/>
                </a:lnTo>
                <a:cubicBezTo>
                  <a:pt x="0" y="21517"/>
                  <a:pt x="21517" y="0"/>
                  <a:pt x="4805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>
            <a:off x="8247397" y="7219990"/>
            <a:ext cx="48059" cy="1826247"/>
          </a:xfrm>
          <a:custGeom>
            <a:avLst/>
            <a:gdLst/>
            <a:ahLst/>
            <a:cxnLst/>
            <a:rect l="l" t="t" r="r" b="b"/>
            <a:pathLst>
              <a:path w="48059" h="1826247">
                <a:moveTo>
                  <a:pt x="48059" y="0"/>
                </a:moveTo>
                <a:lnTo>
                  <a:pt x="48059" y="0"/>
                </a:lnTo>
                <a:lnTo>
                  <a:pt x="48059" y="1826247"/>
                </a:lnTo>
                <a:lnTo>
                  <a:pt x="48059" y="1826247"/>
                </a:lnTo>
                <a:cubicBezTo>
                  <a:pt x="21517" y="1826247"/>
                  <a:pt x="0" y="1804730"/>
                  <a:pt x="0" y="1778188"/>
                </a:cubicBezTo>
                <a:lnTo>
                  <a:pt x="0" y="48059"/>
                </a:lnTo>
                <a:cubicBezTo>
                  <a:pt x="0" y="21517"/>
                  <a:pt x="21517" y="0"/>
                  <a:pt x="48059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>
            <a:off x="8499707" y="7412226"/>
            <a:ext cx="288355" cy="288355"/>
          </a:xfrm>
          <a:custGeom>
            <a:avLst/>
            <a:gdLst/>
            <a:ahLst/>
            <a:cxnLst/>
            <a:rect l="l" t="t" r="r" b="b"/>
            <a:pathLst>
              <a:path w="288355" h="288355">
                <a:moveTo>
                  <a:pt x="0" y="54067"/>
                </a:moveTo>
                <a:cubicBezTo>
                  <a:pt x="0" y="44098"/>
                  <a:pt x="8054" y="36044"/>
                  <a:pt x="18022" y="36044"/>
                </a:cubicBezTo>
                <a:lnTo>
                  <a:pt x="234288" y="36044"/>
                </a:lnTo>
                <a:cubicBezTo>
                  <a:pt x="244257" y="36044"/>
                  <a:pt x="252310" y="44098"/>
                  <a:pt x="252310" y="54067"/>
                </a:cubicBezTo>
                <a:cubicBezTo>
                  <a:pt x="252310" y="64035"/>
                  <a:pt x="244257" y="72089"/>
                  <a:pt x="234288" y="72089"/>
                </a:cubicBezTo>
                <a:lnTo>
                  <a:pt x="18022" y="72089"/>
                </a:lnTo>
                <a:cubicBezTo>
                  <a:pt x="8054" y="72089"/>
                  <a:pt x="0" y="64035"/>
                  <a:pt x="0" y="54067"/>
                </a:cubicBezTo>
                <a:close/>
                <a:moveTo>
                  <a:pt x="36044" y="144177"/>
                </a:moveTo>
                <a:cubicBezTo>
                  <a:pt x="36044" y="134209"/>
                  <a:pt x="44098" y="126155"/>
                  <a:pt x="54067" y="126155"/>
                </a:cubicBezTo>
                <a:lnTo>
                  <a:pt x="270333" y="126155"/>
                </a:lnTo>
                <a:cubicBezTo>
                  <a:pt x="280301" y="126155"/>
                  <a:pt x="288355" y="134209"/>
                  <a:pt x="288355" y="144177"/>
                </a:cubicBezTo>
                <a:cubicBezTo>
                  <a:pt x="288355" y="154146"/>
                  <a:pt x="280301" y="162200"/>
                  <a:pt x="270333" y="162200"/>
                </a:cubicBezTo>
                <a:lnTo>
                  <a:pt x="54067" y="162200"/>
                </a:lnTo>
                <a:cubicBezTo>
                  <a:pt x="44098" y="162200"/>
                  <a:pt x="36044" y="154146"/>
                  <a:pt x="36044" y="144177"/>
                </a:cubicBezTo>
                <a:close/>
                <a:moveTo>
                  <a:pt x="252310" y="234288"/>
                </a:moveTo>
                <a:cubicBezTo>
                  <a:pt x="252310" y="244257"/>
                  <a:pt x="244257" y="252310"/>
                  <a:pt x="234288" y="252310"/>
                </a:cubicBezTo>
                <a:lnTo>
                  <a:pt x="18022" y="252310"/>
                </a:lnTo>
                <a:cubicBezTo>
                  <a:pt x="8054" y="252310"/>
                  <a:pt x="0" y="244257"/>
                  <a:pt x="0" y="234288"/>
                </a:cubicBezTo>
                <a:cubicBezTo>
                  <a:pt x="0" y="224320"/>
                  <a:pt x="8054" y="216266"/>
                  <a:pt x="18022" y="216266"/>
                </a:cubicBezTo>
                <a:lnTo>
                  <a:pt x="234288" y="216266"/>
                </a:lnTo>
                <a:cubicBezTo>
                  <a:pt x="244257" y="216266"/>
                  <a:pt x="252310" y="224320"/>
                  <a:pt x="252310" y="234288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01"/>
          <p:cNvSpPr/>
          <p:nvPr/>
        </p:nvSpPr>
        <p:spPr>
          <a:xfrm>
            <a:off x="8968284" y="7412226"/>
            <a:ext cx="1778188" cy="33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92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适用场景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535752" y="7892818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03"/>
          <p:cNvSpPr/>
          <p:nvPr/>
        </p:nvSpPr>
        <p:spPr>
          <a:xfrm>
            <a:off x="8800077" y="7844759"/>
            <a:ext cx="2030498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准实时 ETL、流批结合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535752" y="8253261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8800077" y="8205202"/>
            <a:ext cx="1826247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以批处理为主的场景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8535752" y="8613705"/>
            <a:ext cx="96118" cy="192237"/>
          </a:xfrm>
          <a:custGeom>
            <a:avLst/>
            <a:gdLst/>
            <a:ahLst/>
            <a:cxnLst/>
            <a:rect l="l" t="t" r="r" b="b"/>
            <a:pathLst>
              <a:path w="96118" h="192237">
                <a:moveTo>
                  <a:pt x="12203" y="36044"/>
                </a:moveTo>
                <a:cubicBezTo>
                  <a:pt x="12203" y="31201"/>
                  <a:pt x="15131" y="26808"/>
                  <a:pt x="19637" y="24931"/>
                </a:cubicBezTo>
                <a:cubicBezTo>
                  <a:pt x="24142" y="23053"/>
                  <a:pt x="29286" y="24105"/>
                  <a:pt x="32703" y="27559"/>
                </a:cubicBezTo>
                <a:lnTo>
                  <a:pt x="92777" y="87633"/>
                </a:lnTo>
                <a:cubicBezTo>
                  <a:pt x="97470" y="92326"/>
                  <a:pt x="97470" y="99948"/>
                  <a:pt x="92777" y="104641"/>
                </a:cubicBezTo>
                <a:lnTo>
                  <a:pt x="32703" y="164715"/>
                </a:lnTo>
                <a:cubicBezTo>
                  <a:pt x="29248" y="168169"/>
                  <a:pt x="24105" y="169183"/>
                  <a:pt x="19599" y="167306"/>
                </a:cubicBezTo>
                <a:cubicBezTo>
                  <a:pt x="15094" y="165429"/>
                  <a:pt x="12203" y="161036"/>
                  <a:pt x="12203" y="156192"/>
                </a:cubicBezTo>
                <a:lnTo>
                  <a:pt x="12203" y="36044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107"/>
          <p:cNvSpPr/>
          <p:nvPr/>
        </p:nvSpPr>
        <p:spPr>
          <a:xfrm>
            <a:off x="8800077" y="8565645"/>
            <a:ext cx="1477818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 Spark 生态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233" y="492233"/>
            <a:ext cx="73835" cy="492233"/>
          </a:xfrm>
          <a:custGeom>
            <a:avLst/>
            <a:gdLst/>
            <a:ahLst/>
            <a:cxnLst/>
            <a:rect l="l" t="t" r="r" b="b"/>
            <a:pathLst>
              <a:path w="73835" h="492233">
                <a:moveTo>
                  <a:pt x="0" y="0"/>
                </a:moveTo>
                <a:lnTo>
                  <a:pt x="73835" y="0"/>
                </a:lnTo>
                <a:lnTo>
                  <a:pt x="73835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3738" y="590680"/>
            <a:ext cx="1390559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kern="0" spc="78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2233" y="1082913"/>
            <a:ext cx="15566874" cy="59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5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Flink 分层架构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2233" y="1772039"/>
            <a:ext cx="15394592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8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典型的分层架构设计确保扩展性与灵活性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845" y="2369078"/>
            <a:ext cx="49223" cy="2547307"/>
          </a:xfrm>
          <a:custGeom>
            <a:avLst/>
            <a:gdLst/>
            <a:ahLst/>
            <a:cxnLst/>
            <a:rect l="l" t="t" r="r" b="b"/>
            <a:pathLst>
              <a:path w="49223" h="2547307">
                <a:moveTo>
                  <a:pt x="0" y="0"/>
                </a:moveTo>
                <a:lnTo>
                  <a:pt x="49223" y="0"/>
                </a:lnTo>
                <a:lnTo>
                  <a:pt x="49223" y="2547307"/>
                </a:lnTo>
                <a:lnTo>
                  <a:pt x="0" y="2547307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6796" y="2565972"/>
            <a:ext cx="787573" cy="787573"/>
          </a:xfrm>
          <a:custGeom>
            <a:avLst/>
            <a:gdLst/>
            <a:ahLst/>
            <a:cxnLst/>
            <a:rect l="l" t="t" r="r" b="b"/>
            <a:pathLst>
              <a:path w="787573" h="787573">
                <a:moveTo>
                  <a:pt x="0" y="0"/>
                </a:moveTo>
                <a:lnTo>
                  <a:pt x="787573" y="0"/>
                </a:lnTo>
                <a:lnTo>
                  <a:pt x="787573" y="787573"/>
                </a:lnTo>
                <a:lnTo>
                  <a:pt x="0" y="78757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8977" y="2738253"/>
            <a:ext cx="566068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0486" y="2565972"/>
            <a:ext cx="14077868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&amp; Libraries 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0486" y="3156652"/>
            <a:ext cx="14004033" cy="356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最高层的抽象，提供多种编程接口满足不同场景需求。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95098" y="3713490"/>
            <a:ext cx="49223" cy="1009078"/>
          </a:xfrm>
          <a:custGeom>
            <a:avLst/>
            <a:gdLst/>
            <a:ahLst/>
            <a:cxnLst/>
            <a:rect l="l" t="t" r="r" b="b"/>
            <a:pathLst>
              <a:path w="49223" h="1009078">
                <a:moveTo>
                  <a:pt x="0" y="0"/>
                </a:moveTo>
                <a:lnTo>
                  <a:pt x="49223" y="0"/>
                </a:lnTo>
                <a:lnTo>
                  <a:pt x="49223" y="1009078"/>
                </a:lnTo>
                <a:lnTo>
                  <a:pt x="0" y="100907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162749" y="3910384"/>
            <a:ext cx="215352" cy="246117"/>
          </a:xfrm>
          <a:custGeom>
            <a:avLst/>
            <a:gdLst/>
            <a:ahLst/>
            <a:cxnLst/>
            <a:rect l="l" t="t" r="r" b="b"/>
            <a:pathLst>
              <a:path w="215352" h="246117">
                <a:moveTo>
                  <a:pt x="123058" y="76911"/>
                </a:moveTo>
                <a:lnTo>
                  <a:pt x="123058" y="123058"/>
                </a:lnTo>
                <a:lnTo>
                  <a:pt x="184587" y="123058"/>
                </a:lnTo>
                <a:lnTo>
                  <a:pt x="184587" y="76911"/>
                </a:lnTo>
                <a:lnTo>
                  <a:pt x="123058" y="76911"/>
                </a:lnTo>
                <a:close/>
                <a:moveTo>
                  <a:pt x="92294" y="76911"/>
                </a:moveTo>
                <a:lnTo>
                  <a:pt x="30765" y="76911"/>
                </a:lnTo>
                <a:lnTo>
                  <a:pt x="30765" y="123058"/>
                </a:lnTo>
                <a:lnTo>
                  <a:pt x="92294" y="123058"/>
                </a:lnTo>
                <a:lnTo>
                  <a:pt x="92294" y="76911"/>
                </a:lnTo>
                <a:close/>
                <a:moveTo>
                  <a:pt x="0" y="153823"/>
                </a:moveTo>
                <a:lnTo>
                  <a:pt x="0" y="46147"/>
                </a:lnTo>
                <a:cubicBezTo>
                  <a:pt x="0" y="29178"/>
                  <a:pt x="13796" y="15382"/>
                  <a:pt x="30765" y="15382"/>
                </a:cubicBezTo>
                <a:lnTo>
                  <a:pt x="184587" y="15382"/>
                </a:lnTo>
                <a:cubicBezTo>
                  <a:pt x="201556" y="15382"/>
                  <a:pt x="215352" y="29178"/>
                  <a:pt x="215352" y="46147"/>
                </a:cubicBezTo>
                <a:lnTo>
                  <a:pt x="215352" y="199970"/>
                </a:lnTo>
                <a:cubicBezTo>
                  <a:pt x="215352" y="216938"/>
                  <a:pt x="201556" y="230734"/>
                  <a:pt x="184587" y="230734"/>
                </a:cubicBezTo>
                <a:lnTo>
                  <a:pt x="30765" y="230734"/>
                </a:lnTo>
                <a:cubicBezTo>
                  <a:pt x="13796" y="230734"/>
                  <a:pt x="0" y="216938"/>
                  <a:pt x="0" y="199970"/>
                </a:cubicBezTo>
                <a:lnTo>
                  <a:pt x="0" y="153823"/>
                </a:lnTo>
                <a:close/>
                <a:moveTo>
                  <a:pt x="184587" y="153823"/>
                </a:moveTo>
                <a:lnTo>
                  <a:pt x="123058" y="153823"/>
                </a:lnTo>
                <a:lnTo>
                  <a:pt x="123058" y="199970"/>
                </a:lnTo>
                <a:lnTo>
                  <a:pt x="184587" y="199970"/>
                </a:lnTo>
                <a:lnTo>
                  <a:pt x="184587" y="153823"/>
                </a:lnTo>
                <a:close/>
                <a:moveTo>
                  <a:pt x="92294" y="199970"/>
                </a:moveTo>
                <a:lnTo>
                  <a:pt x="92294" y="153823"/>
                </a:lnTo>
                <a:lnTo>
                  <a:pt x="30765" y="153823"/>
                </a:lnTo>
                <a:lnTo>
                  <a:pt x="30765" y="199970"/>
                </a:lnTo>
                <a:lnTo>
                  <a:pt x="92294" y="19997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522695" y="3861160"/>
            <a:ext cx="1907403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8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/ Table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16603" y="4304170"/>
            <a:ext cx="4356263" cy="27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SQL 标准，适用于关系型数据处理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91310" y="3713490"/>
            <a:ext cx="49223" cy="1009078"/>
          </a:xfrm>
          <a:custGeom>
            <a:avLst/>
            <a:gdLst/>
            <a:ahLst/>
            <a:cxnLst/>
            <a:rect l="l" t="t" r="r" b="b"/>
            <a:pathLst>
              <a:path w="49223" h="1009078">
                <a:moveTo>
                  <a:pt x="0" y="0"/>
                </a:moveTo>
                <a:lnTo>
                  <a:pt x="49223" y="0"/>
                </a:lnTo>
                <a:lnTo>
                  <a:pt x="49223" y="1009078"/>
                </a:lnTo>
                <a:lnTo>
                  <a:pt x="0" y="100907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828197" y="3910384"/>
            <a:ext cx="276881" cy="246117"/>
          </a:xfrm>
          <a:custGeom>
            <a:avLst/>
            <a:gdLst/>
            <a:ahLst/>
            <a:cxnLst/>
            <a:rect l="l" t="t" r="r" b="b"/>
            <a:pathLst>
              <a:path w="276881" h="246117">
                <a:moveTo>
                  <a:pt x="173435" y="577"/>
                </a:moveTo>
                <a:cubicBezTo>
                  <a:pt x="165263" y="-1779"/>
                  <a:pt x="156755" y="2980"/>
                  <a:pt x="154400" y="11152"/>
                </a:cubicBezTo>
                <a:lnTo>
                  <a:pt x="92871" y="226504"/>
                </a:lnTo>
                <a:cubicBezTo>
                  <a:pt x="90515" y="234676"/>
                  <a:pt x="95274" y="243184"/>
                  <a:pt x="103446" y="245540"/>
                </a:cubicBezTo>
                <a:cubicBezTo>
                  <a:pt x="111618" y="247895"/>
                  <a:pt x="120126" y="243136"/>
                  <a:pt x="122481" y="234964"/>
                </a:cubicBezTo>
                <a:lnTo>
                  <a:pt x="184011" y="19612"/>
                </a:lnTo>
                <a:cubicBezTo>
                  <a:pt x="186366" y="11441"/>
                  <a:pt x="181607" y="2932"/>
                  <a:pt x="173435" y="577"/>
                </a:cubicBezTo>
                <a:close/>
                <a:moveTo>
                  <a:pt x="204488" y="66000"/>
                </a:moveTo>
                <a:cubicBezTo>
                  <a:pt x="198480" y="72008"/>
                  <a:pt x="198480" y="81766"/>
                  <a:pt x="204488" y="87775"/>
                </a:cubicBezTo>
                <a:lnTo>
                  <a:pt x="239771" y="123058"/>
                </a:lnTo>
                <a:lnTo>
                  <a:pt x="204488" y="158341"/>
                </a:lnTo>
                <a:cubicBezTo>
                  <a:pt x="198480" y="164350"/>
                  <a:pt x="198480" y="174108"/>
                  <a:pt x="204488" y="180117"/>
                </a:cubicBezTo>
                <a:cubicBezTo>
                  <a:pt x="210497" y="186126"/>
                  <a:pt x="220255" y="186126"/>
                  <a:pt x="226264" y="180117"/>
                </a:cubicBezTo>
                <a:lnTo>
                  <a:pt x="272411" y="133970"/>
                </a:lnTo>
                <a:cubicBezTo>
                  <a:pt x="278419" y="127961"/>
                  <a:pt x="278419" y="118203"/>
                  <a:pt x="272411" y="112195"/>
                </a:cubicBezTo>
                <a:lnTo>
                  <a:pt x="226264" y="66048"/>
                </a:lnTo>
                <a:cubicBezTo>
                  <a:pt x="220255" y="60039"/>
                  <a:pt x="210497" y="60039"/>
                  <a:pt x="204488" y="66048"/>
                </a:cubicBezTo>
                <a:close/>
                <a:moveTo>
                  <a:pt x="72441" y="66000"/>
                </a:moveTo>
                <a:cubicBezTo>
                  <a:pt x="66432" y="59991"/>
                  <a:pt x="56674" y="59991"/>
                  <a:pt x="50665" y="66000"/>
                </a:cubicBezTo>
                <a:lnTo>
                  <a:pt x="4519" y="112146"/>
                </a:lnTo>
                <a:cubicBezTo>
                  <a:pt x="-1490" y="118155"/>
                  <a:pt x="-1490" y="127913"/>
                  <a:pt x="4519" y="133922"/>
                </a:cubicBezTo>
                <a:lnTo>
                  <a:pt x="50665" y="180069"/>
                </a:lnTo>
                <a:cubicBezTo>
                  <a:pt x="56674" y="186078"/>
                  <a:pt x="66432" y="186078"/>
                  <a:pt x="72441" y="180069"/>
                </a:cubicBezTo>
                <a:cubicBezTo>
                  <a:pt x="78450" y="174060"/>
                  <a:pt x="78450" y="164302"/>
                  <a:pt x="72441" y="158293"/>
                </a:cubicBezTo>
                <a:lnTo>
                  <a:pt x="37158" y="123058"/>
                </a:lnTo>
                <a:lnTo>
                  <a:pt x="72393" y="87775"/>
                </a:lnTo>
                <a:cubicBezTo>
                  <a:pt x="78402" y="81766"/>
                  <a:pt x="78402" y="72008"/>
                  <a:pt x="72393" y="6600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218907" y="3861160"/>
            <a:ext cx="1907403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8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815" y="4304170"/>
            <a:ext cx="4356263" cy="27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核心流处理 API，提供丰富的数据流转换算子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287522" y="3713490"/>
            <a:ext cx="49223" cy="1009078"/>
          </a:xfrm>
          <a:custGeom>
            <a:avLst/>
            <a:gdLst/>
            <a:ahLst/>
            <a:cxnLst/>
            <a:rect l="l" t="t" r="r" b="b"/>
            <a:pathLst>
              <a:path w="49223" h="1009078">
                <a:moveTo>
                  <a:pt x="0" y="0"/>
                </a:moveTo>
                <a:lnTo>
                  <a:pt x="49223" y="0"/>
                </a:lnTo>
                <a:lnTo>
                  <a:pt x="49223" y="1009078"/>
                </a:lnTo>
                <a:lnTo>
                  <a:pt x="0" y="100907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1555173" y="3910384"/>
            <a:ext cx="215352" cy="246117"/>
          </a:xfrm>
          <a:custGeom>
            <a:avLst/>
            <a:gdLst/>
            <a:ahLst/>
            <a:cxnLst/>
            <a:rect l="l" t="t" r="r" b="b"/>
            <a:pathLst>
              <a:path w="215352" h="246117">
                <a:moveTo>
                  <a:pt x="211410" y="96380"/>
                </a:moveTo>
                <a:cubicBezTo>
                  <a:pt x="207709" y="81526"/>
                  <a:pt x="200691" y="70326"/>
                  <a:pt x="185741" y="70326"/>
                </a:cubicBezTo>
                <a:lnTo>
                  <a:pt x="166465" y="70326"/>
                </a:lnTo>
                <a:lnTo>
                  <a:pt x="166465" y="93111"/>
                </a:lnTo>
                <a:cubicBezTo>
                  <a:pt x="166465" y="110801"/>
                  <a:pt x="151467" y="125702"/>
                  <a:pt x="134355" y="125702"/>
                </a:cubicBezTo>
                <a:lnTo>
                  <a:pt x="83016" y="125702"/>
                </a:lnTo>
                <a:cubicBezTo>
                  <a:pt x="68980" y="125702"/>
                  <a:pt x="57347" y="137720"/>
                  <a:pt x="57347" y="151804"/>
                </a:cubicBezTo>
                <a:lnTo>
                  <a:pt x="57347" y="200739"/>
                </a:lnTo>
                <a:cubicBezTo>
                  <a:pt x="57347" y="214679"/>
                  <a:pt x="69461" y="222851"/>
                  <a:pt x="83016" y="226841"/>
                </a:cubicBezTo>
                <a:cubicBezTo>
                  <a:pt x="99264" y="231600"/>
                  <a:pt x="114886" y="232465"/>
                  <a:pt x="134355" y="226841"/>
                </a:cubicBezTo>
                <a:cubicBezTo>
                  <a:pt x="147285" y="223091"/>
                  <a:pt x="160024" y="215544"/>
                  <a:pt x="160024" y="200739"/>
                </a:cubicBezTo>
                <a:lnTo>
                  <a:pt x="160024" y="181174"/>
                </a:lnTo>
                <a:lnTo>
                  <a:pt x="108734" y="181174"/>
                </a:lnTo>
                <a:lnTo>
                  <a:pt x="108734" y="174637"/>
                </a:lnTo>
                <a:lnTo>
                  <a:pt x="185741" y="174637"/>
                </a:lnTo>
                <a:cubicBezTo>
                  <a:pt x="200691" y="174637"/>
                  <a:pt x="206219" y="164206"/>
                  <a:pt x="211410" y="148583"/>
                </a:cubicBezTo>
                <a:cubicBezTo>
                  <a:pt x="216794" y="132480"/>
                  <a:pt x="216554" y="117002"/>
                  <a:pt x="211410" y="96380"/>
                </a:cubicBezTo>
                <a:close/>
                <a:moveTo>
                  <a:pt x="137575" y="213766"/>
                </a:moveTo>
                <a:cubicBezTo>
                  <a:pt x="133917" y="214022"/>
                  <a:pt x="130421" y="212216"/>
                  <a:pt x="128514" y="209084"/>
                </a:cubicBezTo>
                <a:cubicBezTo>
                  <a:pt x="126606" y="205951"/>
                  <a:pt x="126606" y="202016"/>
                  <a:pt x="128514" y="198884"/>
                </a:cubicBezTo>
                <a:cubicBezTo>
                  <a:pt x="130421" y="195751"/>
                  <a:pt x="133917" y="193945"/>
                  <a:pt x="137575" y="194201"/>
                </a:cubicBezTo>
                <a:cubicBezTo>
                  <a:pt x="141234" y="193945"/>
                  <a:pt x="144730" y="195751"/>
                  <a:pt x="146637" y="198884"/>
                </a:cubicBezTo>
                <a:cubicBezTo>
                  <a:pt x="148545" y="202016"/>
                  <a:pt x="148545" y="205951"/>
                  <a:pt x="146637" y="209084"/>
                </a:cubicBezTo>
                <a:cubicBezTo>
                  <a:pt x="144730" y="212216"/>
                  <a:pt x="141234" y="214022"/>
                  <a:pt x="137575" y="213766"/>
                </a:cubicBezTo>
                <a:close/>
                <a:moveTo>
                  <a:pt x="80661" y="119261"/>
                </a:moveTo>
                <a:lnTo>
                  <a:pt x="131999" y="119261"/>
                </a:lnTo>
                <a:cubicBezTo>
                  <a:pt x="146276" y="119261"/>
                  <a:pt x="157668" y="107484"/>
                  <a:pt x="157668" y="93159"/>
                </a:cubicBezTo>
                <a:lnTo>
                  <a:pt x="157668" y="44176"/>
                </a:lnTo>
                <a:cubicBezTo>
                  <a:pt x="157668" y="30236"/>
                  <a:pt x="145939" y="19805"/>
                  <a:pt x="131999" y="17449"/>
                </a:cubicBezTo>
                <a:cubicBezTo>
                  <a:pt x="114790" y="14613"/>
                  <a:pt x="96091" y="14757"/>
                  <a:pt x="80661" y="17497"/>
                </a:cubicBezTo>
                <a:cubicBezTo>
                  <a:pt x="58933" y="21343"/>
                  <a:pt x="54992" y="29371"/>
                  <a:pt x="54992" y="44224"/>
                </a:cubicBezTo>
                <a:lnTo>
                  <a:pt x="54992" y="63788"/>
                </a:lnTo>
                <a:lnTo>
                  <a:pt x="106378" y="63788"/>
                </a:lnTo>
                <a:lnTo>
                  <a:pt x="106378" y="70326"/>
                </a:lnTo>
                <a:lnTo>
                  <a:pt x="35716" y="70326"/>
                </a:lnTo>
                <a:cubicBezTo>
                  <a:pt x="20766" y="70326"/>
                  <a:pt x="7691" y="79315"/>
                  <a:pt x="3605" y="96380"/>
                </a:cubicBezTo>
                <a:cubicBezTo>
                  <a:pt x="-1106" y="115944"/>
                  <a:pt x="-1298" y="128154"/>
                  <a:pt x="3605" y="148583"/>
                </a:cubicBezTo>
                <a:cubicBezTo>
                  <a:pt x="7259" y="163773"/>
                  <a:pt x="15959" y="174637"/>
                  <a:pt x="30909" y="174637"/>
                </a:cubicBezTo>
                <a:lnTo>
                  <a:pt x="48550" y="174637"/>
                </a:lnTo>
                <a:lnTo>
                  <a:pt x="48550" y="151179"/>
                </a:lnTo>
                <a:cubicBezTo>
                  <a:pt x="48550" y="134210"/>
                  <a:pt x="63212" y="119261"/>
                  <a:pt x="80661" y="119261"/>
                </a:cubicBezTo>
                <a:close/>
                <a:moveTo>
                  <a:pt x="77488" y="31101"/>
                </a:moveTo>
                <a:cubicBezTo>
                  <a:pt x="82900" y="31101"/>
                  <a:pt x="87294" y="35495"/>
                  <a:pt x="87294" y="40907"/>
                </a:cubicBezTo>
                <a:cubicBezTo>
                  <a:pt x="87294" y="46319"/>
                  <a:pt x="82900" y="50713"/>
                  <a:pt x="77488" y="50713"/>
                </a:cubicBezTo>
                <a:cubicBezTo>
                  <a:pt x="72076" y="50713"/>
                  <a:pt x="67682" y="46319"/>
                  <a:pt x="67682" y="40907"/>
                </a:cubicBezTo>
                <a:cubicBezTo>
                  <a:pt x="67682" y="35495"/>
                  <a:pt x="72076" y="31101"/>
                  <a:pt x="77488" y="31101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915119" y="3861160"/>
            <a:ext cx="1353641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8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09026" y="4304170"/>
            <a:ext cx="4356263" cy="27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 Python 开发者提供的 API 接口 (PyFlink)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6845" y="5165578"/>
            <a:ext cx="49223" cy="1981238"/>
          </a:xfrm>
          <a:custGeom>
            <a:avLst/>
            <a:gdLst/>
            <a:ahLst/>
            <a:cxnLst/>
            <a:rect l="l" t="t" r="r" b="b"/>
            <a:pathLst>
              <a:path w="49223" h="1981238">
                <a:moveTo>
                  <a:pt x="0" y="0"/>
                </a:moveTo>
                <a:lnTo>
                  <a:pt x="49223" y="0"/>
                </a:lnTo>
                <a:lnTo>
                  <a:pt x="49223" y="1981238"/>
                </a:lnTo>
                <a:lnTo>
                  <a:pt x="0" y="198123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6796" y="5362471"/>
            <a:ext cx="787573" cy="787573"/>
          </a:xfrm>
          <a:custGeom>
            <a:avLst/>
            <a:gdLst/>
            <a:ahLst/>
            <a:cxnLst/>
            <a:rect l="l" t="t" r="r" b="b"/>
            <a:pathLst>
              <a:path w="787573" h="787573">
                <a:moveTo>
                  <a:pt x="0" y="0"/>
                </a:moveTo>
                <a:lnTo>
                  <a:pt x="787573" y="0"/>
                </a:lnTo>
                <a:lnTo>
                  <a:pt x="787573" y="787573"/>
                </a:lnTo>
                <a:lnTo>
                  <a:pt x="0" y="78757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05521" y="5534753"/>
            <a:ext cx="639903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70486" y="5362471"/>
            <a:ext cx="14077868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 Core 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70486" y="5953151"/>
            <a:ext cx="14004033" cy="356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的</a:t>
            </a:r>
            <a:r>
              <a:rPr lang="en-US" sz="1744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核心引擎 </a:t>
            </a:r>
            <a:r>
              <a:rPr lang="en-US" sz="174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，负责分布式数据流的执行。它将上层 API 生成的 JobGraph 转化为 ExecutionGraph，并调度到物理节点上执行。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82792" y="6460767"/>
            <a:ext cx="4516239" cy="492233"/>
          </a:xfrm>
          <a:custGeom>
            <a:avLst/>
            <a:gdLst/>
            <a:ahLst/>
            <a:cxnLst/>
            <a:rect l="l" t="t" r="r" b="b"/>
            <a:pathLst>
              <a:path w="4516239" h="492233">
                <a:moveTo>
                  <a:pt x="0" y="0"/>
                </a:moveTo>
                <a:lnTo>
                  <a:pt x="4516239" y="0"/>
                </a:lnTo>
                <a:lnTo>
                  <a:pt x="4516239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882792" y="6460767"/>
            <a:ext cx="24612" cy="492233"/>
          </a:xfrm>
          <a:custGeom>
            <a:avLst/>
            <a:gdLst/>
            <a:ahLst/>
            <a:cxnLst/>
            <a:rect l="l" t="t" r="r" b="b"/>
            <a:pathLst>
              <a:path w="24612" h="492233">
                <a:moveTo>
                  <a:pt x="0" y="0"/>
                </a:moveTo>
                <a:lnTo>
                  <a:pt x="24612" y="0"/>
                </a:lnTo>
                <a:lnTo>
                  <a:pt x="24612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091991" y="6559213"/>
            <a:ext cx="4208593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分布式协调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62564" y="6460767"/>
            <a:ext cx="4516239" cy="492233"/>
          </a:xfrm>
          <a:custGeom>
            <a:avLst/>
            <a:gdLst/>
            <a:ahLst/>
            <a:cxnLst/>
            <a:rect l="l" t="t" r="r" b="b"/>
            <a:pathLst>
              <a:path w="4516239" h="492233">
                <a:moveTo>
                  <a:pt x="0" y="0"/>
                </a:moveTo>
                <a:lnTo>
                  <a:pt x="4516239" y="0"/>
                </a:lnTo>
                <a:lnTo>
                  <a:pt x="4516239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562564" y="6460767"/>
            <a:ext cx="24612" cy="492233"/>
          </a:xfrm>
          <a:custGeom>
            <a:avLst/>
            <a:gdLst/>
            <a:ahLst/>
            <a:cxnLst/>
            <a:rect l="l" t="t" r="r" b="b"/>
            <a:pathLst>
              <a:path w="24612" h="492233">
                <a:moveTo>
                  <a:pt x="0" y="0"/>
                </a:moveTo>
                <a:lnTo>
                  <a:pt x="24612" y="0"/>
                </a:lnTo>
                <a:lnTo>
                  <a:pt x="24612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71763" y="6559213"/>
            <a:ext cx="4208593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Checkpoint 容错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242432" y="6460767"/>
            <a:ext cx="4516239" cy="492233"/>
          </a:xfrm>
          <a:custGeom>
            <a:avLst/>
            <a:gdLst/>
            <a:ahLst/>
            <a:cxnLst/>
            <a:rect l="l" t="t" r="r" b="b"/>
            <a:pathLst>
              <a:path w="4516239" h="492233">
                <a:moveTo>
                  <a:pt x="0" y="0"/>
                </a:moveTo>
                <a:lnTo>
                  <a:pt x="4516239" y="0"/>
                </a:lnTo>
                <a:lnTo>
                  <a:pt x="4516239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242432" y="6460767"/>
            <a:ext cx="24612" cy="492233"/>
          </a:xfrm>
          <a:custGeom>
            <a:avLst/>
            <a:gdLst/>
            <a:ahLst/>
            <a:cxnLst/>
            <a:rect l="l" t="t" r="r" b="b"/>
            <a:pathLst>
              <a:path w="24612" h="492233">
                <a:moveTo>
                  <a:pt x="0" y="0"/>
                </a:moveTo>
                <a:lnTo>
                  <a:pt x="24612" y="0"/>
                </a:lnTo>
                <a:lnTo>
                  <a:pt x="24612" y="492233"/>
                </a:lnTo>
                <a:lnTo>
                  <a:pt x="0" y="4922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451631" y="6559213"/>
            <a:ext cx="4208593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6845" y="7396010"/>
            <a:ext cx="49223" cy="1698204"/>
          </a:xfrm>
          <a:custGeom>
            <a:avLst/>
            <a:gdLst/>
            <a:ahLst/>
            <a:cxnLst/>
            <a:rect l="l" t="t" r="r" b="b"/>
            <a:pathLst>
              <a:path w="49223" h="1698204">
                <a:moveTo>
                  <a:pt x="0" y="0"/>
                </a:moveTo>
                <a:lnTo>
                  <a:pt x="49223" y="0"/>
                </a:lnTo>
                <a:lnTo>
                  <a:pt x="49223" y="1698204"/>
                </a:lnTo>
                <a:lnTo>
                  <a:pt x="0" y="1698204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36796" y="7592903"/>
            <a:ext cx="689126" cy="689126"/>
          </a:xfrm>
          <a:custGeom>
            <a:avLst/>
            <a:gdLst/>
            <a:ahLst/>
            <a:cxnLst/>
            <a:rect l="l" t="t" r="r" b="b"/>
            <a:pathLst>
              <a:path w="689126" h="689126">
                <a:moveTo>
                  <a:pt x="0" y="0"/>
                </a:moveTo>
                <a:lnTo>
                  <a:pt x="689126" y="0"/>
                </a:lnTo>
                <a:lnTo>
                  <a:pt x="689126" y="689126"/>
                </a:lnTo>
                <a:lnTo>
                  <a:pt x="0" y="689126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99945" y="7740573"/>
            <a:ext cx="504539" cy="3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722816" y="7592903"/>
            <a:ext cx="4294734" cy="3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 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22816" y="8085136"/>
            <a:ext cx="4245511" cy="31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支持多种部署模式，适应不同的基础设施环境。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722816" y="8552757"/>
            <a:ext cx="713738" cy="344563"/>
          </a:xfrm>
          <a:custGeom>
            <a:avLst/>
            <a:gdLst/>
            <a:ahLst/>
            <a:cxnLst/>
            <a:rect l="l" t="t" r="r" b="b"/>
            <a:pathLst>
              <a:path w="713738" h="344563">
                <a:moveTo>
                  <a:pt x="0" y="0"/>
                </a:moveTo>
                <a:lnTo>
                  <a:pt x="713738" y="0"/>
                </a:lnTo>
                <a:lnTo>
                  <a:pt x="713738" y="344563"/>
                </a:lnTo>
                <a:lnTo>
                  <a:pt x="0" y="34456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722816" y="8552757"/>
            <a:ext cx="799879" cy="344563"/>
          </a:xfrm>
          <a:prstGeom prst="rect">
            <a:avLst/>
          </a:prstGeom>
          <a:noFill/>
          <a:ln/>
        </p:spPr>
        <p:txBody>
          <a:bodyPr wrap="square" lIns="147670" tIns="49223" rIns="147670" bIns="49223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537693" y="8552757"/>
            <a:ext cx="1181360" cy="344563"/>
          </a:xfrm>
          <a:custGeom>
            <a:avLst/>
            <a:gdLst/>
            <a:ahLst/>
            <a:cxnLst/>
            <a:rect l="l" t="t" r="r" b="b"/>
            <a:pathLst>
              <a:path w="1181360" h="344563">
                <a:moveTo>
                  <a:pt x="0" y="0"/>
                </a:moveTo>
                <a:lnTo>
                  <a:pt x="1181360" y="0"/>
                </a:lnTo>
                <a:lnTo>
                  <a:pt x="1181360" y="344563"/>
                </a:lnTo>
                <a:lnTo>
                  <a:pt x="0" y="34456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2537693" y="8552757"/>
            <a:ext cx="1267500" cy="344563"/>
          </a:xfrm>
          <a:prstGeom prst="rect">
            <a:avLst/>
          </a:prstGeom>
          <a:noFill/>
          <a:ln/>
        </p:spPr>
        <p:txBody>
          <a:bodyPr wrap="square" lIns="147670" tIns="49223" rIns="147670" bIns="49223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8941" y="8552757"/>
            <a:ext cx="750656" cy="344563"/>
          </a:xfrm>
          <a:custGeom>
            <a:avLst/>
            <a:gdLst/>
            <a:ahLst/>
            <a:cxnLst/>
            <a:rect l="l" t="t" r="r" b="b"/>
            <a:pathLst>
              <a:path w="750656" h="344563">
                <a:moveTo>
                  <a:pt x="0" y="0"/>
                </a:moveTo>
                <a:lnTo>
                  <a:pt x="750656" y="0"/>
                </a:lnTo>
                <a:lnTo>
                  <a:pt x="750656" y="344563"/>
                </a:lnTo>
                <a:lnTo>
                  <a:pt x="0" y="34456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3818941" y="8552757"/>
            <a:ext cx="836796" cy="344563"/>
          </a:xfrm>
          <a:prstGeom prst="rect">
            <a:avLst/>
          </a:prstGeom>
          <a:noFill/>
          <a:ln/>
        </p:spPr>
        <p:txBody>
          <a:bodyPr wrap="square" lIns="147670" tIns="49223" rIns="147670" bIns="49223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YARN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66217" y="8552757"/>
            <a:ext cx="1205971" cy="344563"/>
          </a:xfrm>
          <a:custGeom>
            <a:avLst/>
            <a:gdLst/>
            <a:ahLst/>
            <a:cxnLst/>
            <a:rect l="l" t="t" r="r" b="b"/>
            <a:pathLst>
              <a:path w="1205971" h="344563">
                <a:moveTo>
                  <a:pt x="0" y="0"/>
                </a:moveTo>
                <a:lnTo>
                  <a:pt x="1205971" y="0"/>
                </a:lnTo>
                <a:lnTo>
                  <a:pt x="1205971" y="344563"/>
                </a:lnTo>
                <a:lnTo>
                  <a:pt x="0" y="34456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666217" y="8552757"/>
            <a:ext cx="1292112" cy="344563"/>
          </a:xfrm>
          <a:prstGeom prst="rect">
            <a:avLst/>
          </a:prstGeom>
          <a:noFill/>
          <a:ln/>
        </p:spPr>
        <p:txBody>
          <a:bodyPr wrap="square" lIns="147670" tIns="49223" rIns="147670" bIns="49223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2595" y="7408315"/>
            <a:ext cx="7481944" cy="1673593"/>
          </a:xfrm>
          <a:custGeom>
            <a:avLst/>
            <a:gdLst/>
            <a:ahLst/>
            <a:cxnLst/>
            <a:rect l="l" t="t" r="r" b="b"/>
            <a:pathLst>
              <a:path w="7481944" h="1673593">
                <a:moveTo>
                  <a:pt x="0" y="0"/>
                </a:moveTo>
                <a:lnTo>
                  <a:pt x="7481944" y="0"/>
                </a:lnTo>
                <a:lnTo>
                  <a:pt x="7481944" y="1673593"/>
                </a:lnTo>
                <a:lnTo>
                  <a:pt x="0" y="167359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557935" y="7666738"/>
            <a:ext cx="295340" cy="295340"/>
          </a:xfrm>
          <a:custGeom>
            <a:avLst/>
            <a:gdLst/>
            <a:ahLst/>
            <a:cxnLst/>
            <a:rect l="l" t="t" r="r" b="b"/>
            <a:pathLst>
              <a:path w="295340" h="295340">
                <a:moveTo>
                  <a:pt x="147670" y="295340"/>
                </a:moveTo>
                <a:cubicBezTo>
                  <a:pt x="229171" y="295340"/>
                  <a:pt x="295340" y="229171"/>
                  <a:pt x="295340" y="147670"/>
                </a:cubicBezTo>
                <a:cubicBezTo>
                  <a:pt x="295340" y="66169"/>
                  <a:pt x="229171" y="0"/>
                  <a:pt x="147670" y="0"/>
                </a:cubicBezTo>
                <a:cubicBezTo>
                  <a:pt x="66169" y="0"/>
                  <a:pt x="0" y="66169"/>
                  <a:pt x="0" y="147670"/>
                </a:cubicBezTo>
                <a:cubicBezTo>
                  <a:pt x="0" y="229171"/>
                  <a:pt x="66169" y="295340"/>
                  <a:pt x="147670" y="295340"/>
                </a:cubicBezTo>
                <a:close/>
                <a:moveTo>
                  <a:pt x="129211" y="92294"/>
                </a:moveTo>
                <a:cubicBezTo>
                  <a:pt x="129211" y="82106"/>
                  <a:pt x="137482" y="73835"/>
                  <a:pt x="147670" y="73835"/>
                </a:cubicBezTo>
                <a:cubicBezTo>
                  <a:pt x="157858" y="73835"/>
                  <a:pt x="166129" y="82106"/>
                  <a:pt x="166129" y="92294"/>
                </a:cubicBezTo>
                <a:cubicBezTo>
                  <a:pt x="166129" y="102481"/>
                  <a:pt x="157858" y="110752"/>
                  <a:pt x="147670" y="110752"/>
                </a:cubicBezTo>
                <a:cubicBezTo>
                  <a:pt x="137482" y="110752"/>
                  <a:pt x="129211" y="102481"/>
                  <a:pt x="129211" y="92294"/>
                </a:cubicBezTo>
                <a:close/>
                <a:moveTo>
                  <a:pt x="124597" y="129211"/>
                </a:moveTo>
                <a:lnTo>
                  <a:pt x="152285" y="129211"/>
                </a:lnTo>
                <a:cubicBezTo>
                  <a:pt x="159957" y="129211"/>
                  <a:pt x="166129" y="135383"/>
                  <a:pt x="166129" y="143055"/>
                </a:cubicBezTo>
                <a:lnTo>
                  <a:pt x="166129" y="193817"/>
                </a:lnTo>
                <a:lnTo>
                  <a:pt x="170743" y="193817"/>
                </a:lnTo>
                <a:cubicBezTo>
                  <a:pt x="178415" y="193817"/>
                  <a:pt x="184587" y="199989"/>
                  <a:pt x="184587" y="207661"/>
                </a:cubicBezTo>
                <a:cubicBezTo>
                  <a:pt x="184587" y="215333"/>
                  <a:pt x="178415" y="221505"/>
                  <a:pt x="170743" y="221505"/>
                </a:cubicBezTo>
                <a:lnTo>
                  <a:pt x="124597" y="221505"/>
                </a:lnTo>
                <a:cubicBezTo>
                  <a:pt x="116925" y="221505"/>
                  <a:pt x="110752" y="215333"/>
                  <a:pt x="110752" y="207661"/>
                </a:cubicBezTo>
                <a:cubicBezTo>
                  <a:pt x="110752" y="199989"/>
                  <a:pt x="116925" y="193817"/>
                  <a:pt x="124597" y="193817"/>
                </a:cubicBezTo>
                <a:lnTo>
                  <a:pt x="138441" y="193817"/>
                </a:lnTo>
                <a:lnTo>
                  <a:pt x="138441" y="156899"/>
                </a:lnTo>
                <a:lnTo>
                  <a:pt x="124597" y="156899"/>
                </a:lnTo>
                <a:cubicBezTo>
                  <a:pt x="116925" y="156899"/>
                  <a:pt x="110752" y="150727"/>
                  <a:pt x="110752" y="143055"/>
                </a:cubicBezTo>
                <a:cubicBezTo>
                  <a:pt x="110752" y="135383"/>
                  <a:pt x="116925" y="129211"/>
                  <a:pt x="124597" y="129211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037862" y="7666738"/>
            <a:ext cx="6571313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8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37862" y="8109748"/>
            <a:ext cx="6546701" cy="6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分层架构使得 Flink 具有良好的</a:t>
            </a:r>
            <a:r>
              <a:rPr lang="en-US" sz="155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扩展性 </a:t>
            </a:r>
            <a:r>
              <a:rPr lang="en-US" sz="155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5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灵活性 </a:t>
            </a:r>
            <a:r>
              <a:rPr lang="en-US" sz="155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，各层职责明确，易于维护和升级。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989" y="455989"/>
            <a:ext cx="68398" cy="455989"/>
          </a:xfrm>
          <a:custGeom>
            <a:avLst/>
            <a:gdLst/>
            <a:ahLst/>
            <a:cxnLst/>
            <a:rect l="l" t="t" r="r" b="b"/>
            <a:pathLst>
              <a:path w="68398" h="455989">
                <a:moveTo>
                  <a:pt x="0" y="0"/>
                </a:moveTo>
                <a:lnTo>
                  <a:pt x="68398" y="0"/>
                </a:lnTo>
                <a:lnTo>
                  <a:pt x="68398" y="455989"/>
                </a:lnTo>
                <a:lnTo>
                  <a:pt x="0" y="455989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184" y="547187"/>
            <a:ext cx="128816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kern="0" spc="72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5989" y="1003175"/>
            <a:ext cx="15617616" cy="54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0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运行时组件架构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5989" y="1627272"/>
            <a:ext cx="15458020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架构实现分布式协作与资源管理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788" y="2062889"/>
            <a:ext cx="10020353" cy="2690334"/>
          </a:xfrm>
          <a:custGeom>
            <a:avLst/>
            <a:gdLst/>
            <a:ahLst/>
            <a:cxnLst/>
            <a:rect l="l" t="t" r="r" b="b"/>
            <a:pathLst>
              <a:path w="10020353" h="2690334">
                <a:moveTo>
                  <a:pt x="0" y="0"/>
                </a:moveTo>
                <a:lnTo>
                  <a:pt x="10020353" y="0"/>
                </a:lnTo>
                <a:lnTo>
                  <a:pt x="10020353" y="2690334"/>
                </a:lnTo>
                <a:lnTo>
                  <a:pt x="0" y="2690334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78788" y="2062889"/>
            <a:ext cx="45599" cy="2690334"/>
          </a:xfrm>
          <a:custGeom>
            <a:avLst/>
            <a:gdLst/>
            <a:ahLst/>
            <a:cxnLst/>
            <a:rect l="l" t="t" r="r" b="b"/>
            <a:pathLst>
              <a:path w="45599" h="2690334">
                <a:moveTo>
                  <a:pt x="0" y="0"/>
                </a:moveTo>
                <a:lnTo>
                  <a:pt x="45599" y="0"/>
                </a:lnTo>
                <a:lnTo>
                  <a:pt x="45599" y="2690334"/>
                </a:lnTo>
                <a:lnTo>
                  <a:pt x="0" y="2690334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5181" y="2245285"/>
            <a:ext cx="638384" cy="638384"/>
          </a:xfrm>
          <a:custGeom>
            <a:avLst/>
            <a:gdLst/>
            <a:ahLst/>
            <a:cxnLst/>
            <a:rect l="l" t="t" r="r" b="b"/>
            <a:pathLst>
              <a:path w="638384" h="638384">
                <a:moveTo>
                  <a:pt x="0" y="0"/>
                </a:moveTo>
                <a:lnTo>
                  <a:pt x="638384" y="0"/>
                </a:lnTo>
                <a:lnTo>
                  <a:pt x="638384" y="638384"/>
                </a:lnTo>
                <a:lnTo>
                  <a:pt x="0" y="638384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40477" y="2427680"/>
            <a:ext cx="307792" cy="273593"/>
          </a:xfrm>
          <a:custGeom>
            <a:avLst/>
            <a:gdLst/>
            <a:ahLst/>
            <a:cxnLst/>
            <a:rect l="l" t="t" r="r" b="b"/>
            <a:pathLst>
              <a:path w="307792" h="273593">
                <a:moveTo>
                  <a:pt x="167255" y="46596"/>
                </a:moveTo>
                <a:cubicBezTo>
                  <a:pt x="172171" y="42696"/>
                  <a:pt x="175271" y="36657"/>
                  <a:pt x="175271" y="29924"/>
                </a:cubicBezTo>
                <a:cubicBezTo>
                  <a:pt x="175271" y="18115"/>
                  <a:pt x="165706" y="8550"/>
                  <a:pt x="153896" y="8550"/>
                </a:cubicBezTo>
                <a:cubicBezTo>
                  <a:pt x="142087" y="8550"/>
                  <a:pt x="132522" y="18115"/>
                  <a:pt x="132522" y="29924"/>
                </a:cubicBezTo>
                <a:cubicBezTo>
                  <a:pt x="132522" y="36657"/>
                  <a:pt x="135674" y="42696"/>
                  <a:pt x="140537" y="46596"/>
                </a:cubicBezTo>
                <a:lnTo>
                  <a:pt x="103987" y="104094"/>
                </a:lnTo>
                <a:cubicBezTo>
                  <a:pt x="98643" y="112483"/>
                  <a:pt x="87261" y="114567"/>
                  <a:pt x="79299" y="108582"/>
                </a:cubicBezTo>
                <a:lnTo>
                  <a:pt x="47505" y="84803"/>
                </a:lnTo>
                <a:cubicBezTo>
                  <a:pt x="49909" y="81383"/>
                  <a:pt x="51299" y="77162"/>
                  <a:pt x="51299" y="72673"/>
                </a:cubicBezTo>
                <a:cubicBezTo>
                  <a:pt x="51299" y="60864"/>
                  <a:pt x="41734" y="51299"/>
                  <a:pt x="29924" y="51299"/>
                </a:cubicBezTo>
                <a:cubicBezTo>
                  <a:pt x="18115" y="51299"/>
                  <a:pt x="8550" y="60864"/>
                  <a:pt x="8550" y="72673"/>
                </a:cubicBezTo>
                <a:cubicBezTo>
                  <a:pt x="8550" y="84322"/>
                  <a:pt x="17901" y="93834"/>
                  <a:pt x="29497" y="94048"/>
                </a:cubicBezTo>
                <a:lnTo>
                  <a:pt x="46917" y="210271"/>
                </a:lnTo>
                <a:cubicBezTo>
                  <a:pt x="49428" y="226997"/>
                  <a:pt x="63803" y="239394"/>
                  <a:pt x="80742" y="239394"/>
                </a:cubicBezTo>
                <a:lnTo>
                  <a:pt x="227050" y="239394"/>
                </a:lnTo>
                <a:cubicBezTo>
                  <a:pt x="243990" y="239394"/>
                  <a:pt x="258364" y="226997"/>
                  <a:pt x="260875" y="210271"/>
                </a:cubicBezTo>
                <a:lnTo>
                  <a:pt x="278296" y="94048"/>
                </a:lnTo>
                <a:cubicBezTo>
                  <a:pt x="289891" y="93834"/>
                  <a:pt x="299243" y="84322"/>
                  <a:pt x="299243" y="72673"/>
                </a:cubicBezTo>
                <a:cubicBezTo>
                  <a:pt x="299243" y="60864"/>
                  <a:pt x="289678" y="51299"/>
                  <a:pt x="277868" y="51299"/>
                </a:cubicBezTo>
                <a:cubicBezTo>
                  <a:pt x="266059" y="51299"/>
                  <a:pt x="256494" y="60864"/>
                  <a:pt x="256494" y="72673"/>
                </a:cubicBezTo>
                <a:cubicBezTo>
                  <a:pt x="256494" y="77162"/>
                  <a:pt x="257883" y="81383"/>
                  <a:pt x="260288" y="84803"/>
                </a:cubicBezTo>
                <a:lnTo>
                  <a:pt x="228547" y="108636"/>
                </a:lnTo>
                <a:cubicBezTo>
                  <a:pt x="220585" y="114621"/>
                  <a:pt x="209203" y="112537"/>
                  <a:pt x="203859" y="104147"/>
                </a:cubicBezTo>
                <a:lnTo>
                  <a:pt x="167255" y="4659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95961" y="2245285"/>
            <a:ext cx="280433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JobManager (Master)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95961" y="2604376"/>
            <a:ext cx="1071574" cy="302093"/>
          </a:xfrm>
          <a:custGeom>
            <a:avLst/>
            <a:gdLst/>
            <a:ahLst/>
            <a:cxnLst/>
            <a:rect l="l" t="t" r="r" b="b"/>
            <a:pathLst>
              <a:path w="1071574" h="302093">
                <a:moveTo>
                  <a:pt x="0" y="0"/>
                </a:moveTo>
                <a:lnTo>
                  <a:pt x="1071574" y="0"/>
                </a:lnTo>
                <a:lnTo>
                  <a:pt x="1071574" y="302093"/>
                </a:lnTo>
                <a:lnTo>
                  <a:pt x="0" y="302093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595961" y="2604376"/>
            <a:ext cx="1151372" cy="302093"/>
          </a:xfrm>
          <a:prstGeom prst="rect">
            <a:avLst/>
          </a:prstGeom>
          <a:noFill/>
          <a:ln/>
        </p:spPr>
        <p:txBody>
          <a:bodyPr wrap="square" lIns="136797" tIns="45599" rIns="136797" bIns="45599" rtlCol="0" anchor="ctr"/>
          <a:lstStyle/>
          <a:p>
            <a:pPr>
              <a:lnSpc>
                <a:spcPct val="120000"/>
              </a:lnSpc>
            </a:pPr>
            <a:r>
              <a:rPr lang="en-US" sz="125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协调者角色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5181" y="3020465"/>
            <a:ext cx="9815158" cy="592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整个作业的</a:t>
            </a:r>
            <a:r>
              <a:rPr lang="en-US" sz="1436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协调者 </a:t>
            </a: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，负责接收客户端提交的 JobGraph，将其转换为 ExecutionGraph，申请资源（Slots），调度 Task，协调 Checkpoint 和故障恢复。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581" y="3750048"/>
            <a:ext cx="3134923" cy="820780"/>
          </a:xfrm>
          <a:custGeom>
            <a:avLst/>
            <a:gdLst/>
            <a:ahLst/>
            <a:cxnLst/>
            <a:rect l="l" t="t" r="r" b="b"/>
            <a:pathLst>
              <a:path w="3134923" h="820780">
                <a:moveTo>
                  <a:pt x="0" y="0"/>
                </a:moveTo>
                <a:lnTo>
                  <a:pt x="3134923" y="0"/>
                </a:lnTo>
                <a:lnTo>
                  <a:pt x="3134923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86581" y="3750048"/>
            <a:ext cx="22799" cy="820780"/>
          </a:xfrm>
          <a:custGeom>
            <a:avLst/>
            <a:gdLst/>
            <a:ahLst/>
            <a:cxnLst/>
            <a:rect l="l" t="t" r="r" b="b"/>
            <a:pathLst>
              <a:path w="22799" h="820780">
                <a:moveTo>
                  <a:pt x="0" y="0"/>
                </a:moveTo>
                <a:lnTo>
                  <a:pt x="22799" y="0"/>
                </a:lnTo>
                <a:lnTo>
                  <a:pt x="22799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34777" y="3886844"/>
            <a:ext cx="294112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4777" y="4206036"/>
            <a:ext cx="2929728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72104" y="3750048"/>
            <a:ext cx="3134923" cy="820780"/>
          </a:xfrm>
          <a:custGeom>
            <a:avLst/>
            <a:gdLst/>
            <a:ahLst/>
            <a:cxnLst/>
            <a:rect l="l" t="t" r="r" b="b"/>
            <a:pathLst>
              <a:path w="3134923" h="820780">
                <a:moveTo>
                  <a:pt x="0" y="0"/>
                </a:moveTo>
                <a:lnTo>
                  <a:pt x="3134923" y="0"/>
                </a:lnTo>
                <a:lnTo>
                  <a:pt x="3134923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072104" y="3750048"/>
            <a:ext cx="22799" cy="820780"/>
          </a:xfrm>
          <a:custGeom>
            <a:avLst/>
            <a:gdLst/>
            <a:ahLst/>
            <a:cxnLst/>
            <a:rect l="l" t="t" r="r" b="b"/>
            <a:pathLst>
              <a:path w="22799" h="820780">
                <a:moveTo>
                  <a:pt x="0" y="0"/>
                </a:moveTo>
                <a:lnTo>
                  <a:pt x="22799" y="0"/>
                </a:lnTo>
                <a:lnTo>
                  <a:pt x="22799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220301" y="3886844"/>
            <a:ext cx="294112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20301" y="4206036"/>
            <a:ext cx="2929728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作业分发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57628" y="3750048"/>
            <a:ext cx="3134923" cy="820780"/>
          </a:xfrm>
          <a:custGeom>
            <a:avLst/>
            <a:gdLst/>
            <a:ahLst/>
            <a:cxnLst/>
            <a:rect l="l" t="t" r="r" b="b"/>
            <a:pathLst>
              <a:path w="3134923" h="820780">
                <a:moveTo>
                  <a:pt x="0" y="0"/>
                </a:moveTo>
                <a:lnTo>
                  <a:pt x="3134923" y="0"/>
                </a:lnTo>
                <a:lnTo>
                  <a:pt x="3134923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357628" y="3750048"/>
            <a:ext cx="22799" cy="820780"/>
          </a:xfrm>
          <a:custGeom>
            <a:avLst/>
            <a:gdLst/>
            <a:ahLst/>
            <a:cxnLst/>
            <a:rect l="l" t="t" r="r" b="b"/>
            <a:pathLst>
              <a:path w="22799" h="820780">
                <a:moveTo>
                  <a:pt x="0" y="0"/>
                </a:moveTo>
                <a:lnTo>
                  <a:pt x="22799" y="0"/>
                </a:lnTo>
                <a:lnTo>
                  <a:pt x="22799" y="820780"/>
                </a:lnTo>
                <a:lnTo>
                  <a:pt x="0" y="82078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505825" y="3886844"/>
            <a:ext cx="294112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JobMaster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05825" y="4206036"/>
            <a:ext cx="2929728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单作业管理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8788" y="4935618"/>
            <a:ext cx="10020353" cy="2120348"/>
          </a:xfrm>
          <a:custGeom>
            <a:avLst/>
            <a:gdLst/>
            <a:ahLst/>
            <a:cxnLst/>
            <a:rect l="l" t="t" r="r" b="b"/>
            <a:pathLst>
              <a:path w="10020353" h="2120348">
                <a:moveTo>
                  <a:pt x="0" y="0"/>
                </a:moveTo>
                <a:lnTo>
                  <a:pt x="10020353" y="0"/>
                </a:lnTo>
                <a:lnTo>
                  <a:pt x="10020353" y="2120348"/>
                </a:lnTo>
                <a:lnTo>
                  <a:pt x="0" y="212034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78788" y="4935618"/>
            <a:ext cx="45599" cy="2120348"/>
          </a:xfrm>
          <a:custGeom>
            <a:avLst/>
            <a:gdLst/>
            <a:ahLst/>
            <a:cxnLst/>
            <a:rect l="l" t="t" r="r" b="b"/>
            <a:pathLst>
              <a:path w="45599" h="2120348">
                <a:moveTo>
                  <a:pt x="0" y="0"/>
                </a:moveTo>
                <a:lnTo>
                  <a:pt x="45599" y="0"/>
                </a:lnTo>
                <a:lnTo>
                  <a:pt x="45599" y="2120348"/>
                </a:lnTo>
                <a:lnTo>
                  <a:pt x="0" y="212034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75181" y="5118014"/>
            <a:ext cx="638384" cy="638384"/>
          </a:xfrm>
          <a:custGeom>
            <a:avLst/>
            <a:gdLst/>
            <a:ahLst/>
            <a:cxnLst/>
            <a:rect l="l" t="t" r="r" b="b"/>
            <a:pathLst>
              <a:path w="638384" h="638384">
                <a:moveTo>
                  <a:pt x="0" y="0"/>
                </a:moveTo>
                <a:lnTo>
                  <a:pt x="638384" y="0"/>
                </a:lnTo>
                <a:lnTo>
                  <a:pt x="638384" y="638384"/>
                </a:lnTo>
                <a:lnTo>
                  <a:pt x="0" y="638384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923377" y="5300409"/>
            <a:ext cx="341992" cy="273593"/>
          </a:xfrm>
          <a:custGeom>
            <a:avLst/>
            <a:gdLst/>
            <a:ahLst/>
            <a:cxnLst/>
            <a:rect l="l" t="t" r="r" b="b"/>
            <a:pathLst>
              <a:path w="341992" h="273593">
                <a:moveTo>
                  <a:pt x="222241" y="112483"/>
                </a:moveTo>
                <a:cubicBezTo>
                  <a:pt x="228760" y="110720"/>
                  <a:pt x="235600" y="113819"/>
                  <a:pt x="238539" y="119857"/>
                </a:cubicBezTo>
                <a:lnTo>
                  <a:pt x="248478" y="139949"/>
                </a:lnTo>
                <a:cubicBezTo>
                  <a:pt x="253982" y="140697"/>
                  <a:pt x="259379" y="142194"/>
                  <a:pt x="264456" y="144278"/>
                </a:cubicBezTo>
                <a:lnTo>
                  <a:pt x="283158" y="131827"/>
                </a:lnTo>
                <a:cubicBezTo>
                  <a:pt x="288769" y="128087"/>
                  <a:pt x="296197" y="128835"/>
                  <a:pt x="300953" y="133590"/>
                </a:cubicBezTo>
                <a:lnTo>
                  <a:pt x="311212" y="143850"/>
                </a:lnTo>
                <a:cubicBezTo>
                  <a:pt x="315968" y="148606"/>
                  <a:pt x="316716" y="156087"/>
                  <a:pt x="312976" y="161644"/>
                </a:cubicBezTo>
                <a:lnTo>
                  <a:pt x="300525" y="180294"/>
                </a:lnTo>
                <a:cubicBezTo>
                  <a:pt x="301540" y="182805"/>
                  <a:pt x="302449" y="185424"/>
                  <a:pt x="303197" y="188149"/>
                </a:cubicBezTo>
                <a:cubicBezTo>
                  <a:pt x="303945" y="190874"/>
                  <a:pt x="304426" y="193546"/>
                  <a:pt x="304800" y="196271"/>
                </a:cubicBezTo>
                <a:lnTo>
                  <a:pt x="324945" y="206210"/>
                </a:lnTo>
                <a:cubicBezTo>
                  <a:pt x="330984" y="209203"/>
                  <a:pt x="334083" y="216042"/>
                  <a:pt x="332320" y="222508"/>
                </a:cubicBezTo>
                <a:lnTo>
                  <a:pt x="328579" y="236509"/>
                </a:lnTo>
                <a:cubicBezTo>
                  <a:pt x="326816" y="242974"/>
                  <a:pt x="320777" y="247356"/>
                  <a:pt x="314044" y="246929"/>
                </a:cubicBezTo>
                <a:lnTo>
                  <a:pt x="291601" y="245486"/>
                </a:lnTo>
                <a:cubicBezTo>
                  <a:pt x="288235" y="249814"/>
                  <a:pt x="284334" y="253822"/>
                  <a:pt x="279899" y="257242"/>
                </a:cubicBezTo>
                <a:lnTo>
                  <a:pt x="281342" y="279632"/>
                </a:lnTo>
                <a:cubicBezTo>
                  <a:pt x="281769" y="286365"/>
                  <a:pt x="277387" y="292456"/>
                  <a:pt x="270921" y="294166"/>
                </a:cubicBezTo>
                <a:lnTo>
                  <a:pt x="256921" y="297907"/>
                </a:lnTo>
                <a:cubicBezTo>
                  <a:pt x="250402" y="299670"/>
                  <a:pt x="243616" y="296571"/>
                  <a:pt x="240623" y="290533"/>
                </a:cubicBezTo>
                <a:lnTo>
                  <a:pt x="230684" y="270441"/>
                </a:lnTo>
                <a:cubicBezTo>
                  <a:pt x="225180" y="269692"/>
                  <a:pt x="219783" y="268196"/>
                  <a:pt x="214707" y="266112"/>
                </a:cubicBezTo>
                <a:lnTo>
                  <a:pt x="196004" y="278563"/>
                </a:lnTo>
                <a:cubicBezTo>
                  <a:pt x="190393" y="282303"/>
                  <a:pt x="182965" y="281555"/>
                  <a:pt x="178210" y="276799"/>
                </a:cubicBezTo>
                <a:lnTo>
                  <a:pt x="167950" y="266540"/>
                </a:lnTo>
                <a:cubicBezTo>
                  <a:pt x="163194" y="261784"/>
                  <a:pt x="162446" y="254356"/>
                  <a:pt x="166187" y="248745"/>
                </a:cubicBezTo>
                <a:lnTo>
                  <a:pt x="178637" y="230043"/>
                </a:lnTo>
                <a:cubicBezTo>
                  <a:pt x="177622" y="227531"/>
                  <a:pt x="176713" y="224913"/>
                  <a:pt x="175965" y="222188"/>
                </a:cubicBezTo>
                <a:cubicBezTo>
                  <a:pt x="175217" y="219462"/>
                  <a:pt x="174736" y="216737"/>
                  <a:pt x="174362" y="214065"/>
                </a:cubicBezTo>
                <a:lnTo>
                  <a:pt x="154217" y="204126"/>
                </a:lnTo>
                <a:cubicBezTo>
                  <a:pt x="148179" y="201134"/>
                  <a:pt x="145133" y="194294"/>
                  <a:pt x="146843" y="187828"/>
                </a:cubicBezTo>
                <a:lnTo>
                  <a:pt x="150583" y="173828"/>
                </a:lnTo>
                <a:cubicBezTo>
                  <a:pt x="152347" y="167362"/>
                  <a:pt x="158385" y="162980"/>
                  <a:pt x="165118" y="163408"/>
                </a:cubicBezTo>
                <a:lnTo>
                  <a:pt x="187508" y="164851"/>
                </a:lnTo>
                <a:cubicBezTo>
                  <a:pt x="190874" y="160522"/>
                  <a:pt x="194775" y="156515"/>
                  <a:pt x="199210" y="153095"/>
                </a:cubicBezTo>
                <a:lnTo>
                  <a:pt x="197767" y="130758"/>
                </a:lnTo>
                <a:cubicBezTo>
                  <a:pt x="197340" y="124025"/>
                  <a:pt x="201722" y="117934"/>
                  <a:pt x="208187" y="116224"/>
                </a:cubicBezTo>
                <a:lnTo>
                  <a:pt x="222188" y="112483"/>
                </a:lnTo>
                <a:close/>
                <a:moveTo>
                  <a:pt x="239608" y="181683"/>
                </a:moveTo>
                <a:cubicBezTo>
                  <a:pt x="226631" y="181698"/>
                  <a:pt x="216108" y="192245"/>
                  <a:pt x="216123" y="205222"/>
                </a:cubicBezTo>
                <a:cubicBezTo>
                  <a:pt x="216137" y="218198"/>
                  <a:pt x="226685" y="228722"/>
                  <a:pt x="239661" y="228707"/>
                </a:cubicBezTo>
                <a:cubicBezTo>
                  <a:pt x="252638" y="228692"/>
                  <a:pt x="263161" y="218145"/>
                  <a:pt x="263146" y="205168"/>
                </a:cubicBezTo>
                <a:cubicBezTo>
                  <a:pt x="263132" y="192192"/>
                  <a:pt x="252584" y="181668"/>
                  <a:pt x="239608" y="181683"/>
                </a:cubicBezTo>
                <a:close/>
                <a:moveTo>
                  <a:pt x="120178" y="-24313"/>
                </a:moveTo>
                <a:lnTo>
                  <a:pt x="134178" y="-20573"/>
                </a:lnTo>
                <a:cubicBezTo>
                  <a:pt x="140644" y="-18810"/>
                  <a:pt x="145026" y="-12718"/>
                  <a:pt x="144598" y="-6038"/>
                </a:cubicBezTo>
                <a:lnTo>
                  <a:pt x="143156" y="16298"/>
                </a:lnTo>
                <a:cubicBezTo>
                  <a:pt x="147591" y="19718"/>
                  <a:pt x="151492" y="23672"/>
                  <a:pt x="154858" y="28054"/>
                </a:cubicBezTo>
                <a:lnTo>
                  <a:pt x="177301" y="26611"/>
                </a:lnTo>
                <a:cubicBezTo>
                  <a:pt x="183981" y="26184"/>
                  <a:pt x="190073" y="30565"/>
                  <a:pt x="191836" y="37031"/>
                </a:cubicBezTo>
                <a:lnTo>
                  <a:pt x="195576" y="51032"/>
                </a:lnTo>
                <a:cubicBezTo>
                  <a:pt x="197286" y="57497"/>
                  <a:pt x="194241" y="64337"/>
                  <a:pt x="188202" y="67330"/>
                </a:cubicBezTo>
                <a:lnTo>
                  <a:pt x="168057" y="77269"/>
                </a:lnTo>
                <a:cubicBezTo>
                  <a:pt x="167683" y="79994"/>
                  <a:pt x="167148" y="82719"/>
                  <a:pt x="166454" y="85391"/>
                </a:cubicBezTo>
                <a:cubicBezTo>
                  <a:pt x="165759" y="88063"/>
                  <a:pt x="164797" y="90735"/>
                  <a:pt x="163782" y="93246"/>
                </a:cubicBezTo>
                <a:lnTo>
                  <a:pt x="176233" y="111949"/>
                </a:lnTo>
                <a:cubicBezTo>
                  <a:pt x="179973" y="117560"/>
                  <a:pt x="179225" y="124987"/>
                  <a:pt x="174469" y="129743"/>
                </a:cubicBezTo>
                <a:lnTo>
                  <a:pt x="164209" y="140003"/>
                </a:lnTo>
                <a:cubicBezTo>
                  <a:pt x="159454" y="144759"/>
                  <a:pt x="152026" y="145507"/>
                  <a:pt x="146415" y="141766"/>
                </a:cubicBezTo>
                <a:lnTo>
                  <a:pt x="127712" y="129316"/>
                </a:lnTo>
                <a:cubicBezTo>
                  <a:pt x="122636" y="131400"/>
                  <a:pt x="117239" y="132896"/>
                  <a:pt x="111735" y="133644"/>
                </a:cubicBezTo>
                <a:lnTo>
                  <a:pt x="101796" y="153736"/>
                </a:lnTo>
                <a:cubicBezTo>
                  <a:pt x="98804" y="159774"/>
                  <a:pt x="91964" y="162820"/>
                  <a:pt x="85498" y="161110"/>
                </a:cubicBezTo>
                <a:lnTo>
                  <a:pt x="71498" y="157370"/>
                </a:lnTo>
                <a:cubicBezTo>
                  <a:pt x="64978" y="155606"/>
                  <a:pt x="60650" y="149514"/>
                  <a:pt x="61078" y="142835"/>
                </a:cubicBezTo>
                <a:lnTo>
                  <a:pt x="62520" y="120445"/>
                </a:lnTo>
                <a:cubicBezTo>
                  <a:pt x="58085" y="117025"/>
                  <a:pt x="54184" y="113071"/>
                  <a:pt x="50818" y="108689"/>
                </a:cubicBezTo>
                <a:lnTo>
                  <a:pt x="28375" y="110132"/>
                </a:lnTo>
                <a:cubicBezTo>
                  <a:pt x="21695" y="110559"/>
                  <a:pt x="15603" y="106178"/>
                  <a:pt x="13840" y="99712"/>
                </a:cubicBezTo>
                <a:lnTo>
                  <a:pt x="10099" y="85712"/>
                </a:lnTo>
                <a:cubicBezTo>
                  <a:pt x="8389" y="79246"/>
                  <a:pt x="11435" y="72406"/>
                  <a:pt x="17474" y="69414"/>
                </a:cubicBezTo>
                <a:lnTo>
                  <a:pt x="37619" y="59474"/>
                </a:lnTo>
                <a:cubicBezTo>
                  <a:pt x="37993" y="56749"/>
                  <a:pt x="38527" y="54077"/>
                  <a:pt x="39222" y="51352"/>
                </a:cubicBezTo>
                <a:cubicBezTo>
                  <a:pt x="39970" y="48627"/>
                  <a:pt x="40825" y="46009"/>
                  <a:pt x="41894" y="43497"/>
                </a:cubicBezTo>
                <a:lnTo>
                  <a:pt x="29443" y="24848"/>
                </a:lnTo>
                <a:cubicBezTo>
                  <a:pt x="25703" y="19237"/>
                  <a:pt x="26451" y="11809"/>
                  <a:pt x="31207" y="7054"/>
                </a:cubicBezTo>
                <a:lnTo>
                  <a:pt x="41466" y="-3206"/>
                </a:lnTo>
                <a:cubicBezTo>
                  <a:pt x="46222" y="-7962"/>
                  <a:pt x="53650" y="-8710"/>
                  <a:pt x="59261" y="-4970"/>
                </a:cubicBezTo>
                <a:lnTo>
                  <a:pt x="77963" y="7481"/>
                </a:lnTo>
                <a:cubicBezTo>
                  <a:pt x="83040" y="5397"/>
                  <a:pt x="88437" y="3901"/>
                  <a:pt x="93941" y="3153"/>
                </a:cubicBezTo>
                <a:lnTo>
                  <a:pt x="103880" y="-16939"/>
                </a:lnTo>
                <a:cubicBezTo>
                  <a:pt x="106872" y="-22978"/>
                  <a:pt x="113659" y="-26023"/>
                  <a:pt x="120178" y="-24313"/>
                </a:cubicBezTo>
                <a:close/>
                <a:moveTo>
                  <a:pt x="102811" y="44886"/>
                </a:moveTo>
                <a:cubicBezTo>
                  <a:pt x="89835" y="44886"/>
                  <a:pt x="79299" y="55422"/>
                  <a:pt x="79299" y="68398"/>
                </a:cubicBezTo>
                <a:cubicBezTo>
                  <a:pt x="79299" y="81375"/>
                  <a:pt x="89835" y="91910"/>
                  <a:pt x="102811" y="91910"/>
                </a:cubicBezTo>
                <a:cubicBezTo>
                  <a:pt x="115788" y="91910"/>
                  <a:pt x="126323" y="81375"/>
                  <a:pt x="126323" y="68398"/>
                </a:cubicBezTo>
                <a:cubicBezTo>
                  <a:pt x="126323" y="55422"/>
                  <a:pt x="115788" y="44886"/>
                  <a:pt x="102811" y="448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595961" y="5118014"/>
            <a:ext cx="2975327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TaskManager (Worker)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95961" y="5477105"/>
            <a:ext cx="1071574" cy="302093"/>
          </a:xfrm>
          <a:custGeom>
            <a:avLst/>
            <a:gdLst/>
            <a:ahLst/>
            <a:cxnLst/>
            <a:rect l="l" t="t" r="r" b="b"/>
            <a:pathLst>
              <a:path w="1071574" h="302093">
                <a:moveTo>
                  <a:pt x="0" y="0"/>
                </a:moveTo>
                <a:lnTo>
                  <a:pt x="1071574" y="0"/>
                </a:lnTo>
                <a:lnTo>
                  <a:pt x="1071574" y="302093"/>
                </a:lnTo>
                <a:lnTo>
                  <a:pt x="0" y="302093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595961" y="5477105"/>
            <a:ext cx="1151372" cy="302093"/>
          </a:xfrm>
          <a:prstGeom prst="rect">
            <a:avLst/>
          </a:prstGeom>
          <a:noFill/>
          <a:ln/>
        </p:spPr>
        <p:txBody>
          <a:bodyPr wrap="square" lIns="136797" tIns="45599" rIns="136797" bIns="45599" rtlCol="0" anchor="ctr"/>
          <a:lstStyle/>
          <a:p>
            <a:pPr>
              <a:lnSpc>
                <a:spcPct val="120000"/>
              </a:lnSpc>
            </a:pPr>
            <a:r>
              <a:rPr lang="en-US" sz="125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工作者角色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5181" y="5893195"/>
            <a:ext cx="9815158" cy="29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实际执行</a:t>
            </a:r>
            <a:r>
              <a:rPr lang="en-US" sz="1436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计算任务 </a:t>
            </a: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的工作节点，负责执行 Task，缓存和交换数据流，向 JobManager 汇报状态。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6581" y="6326384"/>
            <a:ext cx="9712561" cy="547187"/>
          </a:xfrm>
          <a:custGeom>
            <a:avLst/>
            <a:gdLst/>
            <a:ahLst/>
            <a:cxnLst/>
            <a:rect l="l" t="t" r="r" b="b"/>
            <a:pathLst>
              <a:path w="9712561" h="547187">
                <a:moveTo>
                  <a:pt x="0" y="0"/>
                </a:moveTo>
                <a:lnTo>
                  <a:pt x="9712561" y="0"/>
                </a:lnTo>
                <a:lnTo>
                  <a:pt x="9712561" y="547187"/>
                </a:lnTo>
                <a:lnTo>
                  <a:pt x="0" y="54718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86581" y="6326384"/>
            <a:ext cx="22799" cy="547187"/>
          </a:xfrm>
          <a:custGeom>
            <a:avLst/>
            <a:gdLst/>
            <a:ahLst/>
            <a:cxnLst/>
            <a:rect l="l" t="t" r="r" b="b"/>
            <a:pathLst>
              <a:path w="22799" h="547187">
                <a:moveTo>
                  <a:pt x="0" y="0"/>
                </a:moveTo>
                <a:lnTo>
                  <a:pt x="22799" y="0"/>
                </a:lnTo>
                <a:lnTo>
                  <a:pt x="22799" y="547187"/>
                </a:lnTo>
                <a:lnTo>
                  <a:pt x="0" y="547187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80376" y="6463181"/>
            <a:ext cx="942756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 Slots:</a:t>
            </a: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每个 TaskManager 包含一定数量的任务槽，Slot 是资源调度的最小单位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8788" y="7238362"/>
            <a:ext cx="10020353" cy="1732757"/>
          </a:xfrm>
          <a:custGeom>
            <a:avLst/>
            <a:gdLst/>
            <a:ahLst/>
            <a:cxnLst/>
            <a:rect l="l" t="t" r="r" b="b"/>
            <a:pathLst>
              <a:path w="10020353" h="1732757">
                <a:moveTo>
                  <a:pt x="0" y="0"/>
                </a:moveTo>
                <a:lnTo>
                  <a:pt x="10020353" y="0"/>
                </a:lnTo>
                <a:lnTo>
                  <a:pt x="10020353" y="1732757"/>
                </a:lnTo>
                <a:lnTo>
                  <a:pt x="0" y="173275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78788" y="7238362"/>
            <a:ext cx="45599" cy="1732757"/>
          </a:xfrm>
          <a:custGeom>
            <a:avLst/>
            <a:gdLst/>
            <a:ahLst/>
            <a:cxnLst/>
            <a:rect l="l" t="t" r="r" b="b"/>
            <a:pathLst>
              <a:path w="45599" h="1732757">
                <a:moveTo>
                  <a:pt x="0" y="0"/>
                </a:moveTo>
                <a:lnTo>
                  <a:pt x="45599" y="0"/>
                </a:lnTo>
                <a:lnTo>
                  <a:pt x="45599" y="1732757"/>
                </a:lnTo>
                <a:lnTo>
                  <a:pt x="0" y="1732757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75181" y="7420757"/>
            <a:ext cx="638384" cy="638384"/>
          </a:xfrm>
          <a:custGeom>
            <a:avLst/>
            <a:gdLst/>
            <a:ahLst/>
            <a:cxnLst/>
            <a:rect l="l" t="t" r="r" b="b"/>
            <a:pathLst>
              <a:path w="638384" h="638384">
                <a:moveTo>
                  <a:pt x="0" y="0"/>
                </a:moveTo>
                <a:lnTo>
                  <a:pt x="638384" y="0"/>
                </a:lnTo>
                <a:lnTo>
                  <a:pt x="638384" y="638384"/>
                </a:lnTo>
                <a:lnTo>
                  <a:pt x="0" y="638384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74676" y="7603153"/>
            <a:ext cx="239394" cy="273593"/>
          </a:xfrm>
          <a:custGeom>
            <a:avLst/>
            <a:gdLst/>
            <a:ahLst/>
            <a:cxnLst/>
            <a:rect l="l" t="t" r="r" b="b"/>
            <a:pathLst>
              <a:path w="239394" h="273593">
                <a:moveTo>
                  <a:pt x="136797" y="58406"/>
                </a:moveTo>
                <a:lnTo>
                  <a:pt x="136797" y="170996"/>
                </a:lnTo>
                <a:cubicBezTo>
                  <a:pt x="136797" y="180454"/>
                  <a:pt x="129155" y="188095"/>
                  <a:pt x="119697" y="188095"/>
                </a:cubicBezTo>
                <a:cubicBezTo>
                  <a:pt x="110239" y="188095"/>
                  <a:pt x="102597" y="180454"/>
                  <a:pt x="102597" y="170996"/>
                </a:cubicBezTo>
                <a:lnTo>
                  <a:pt x="102597" y="58406"/>
                </a:lnTo>
                <a:lnTo>
                  <a:pt x="80475" y="80528"/>
                </a:lnTo>
                <a:cubicBezTo>
                  <a:pt x="73795" y="87208"/>
                  <a:pt x="62948" y="87208"/>
                  <a:pt x="56268" y="80528"/>
                </a:cubicBezTo>
                <a:cubicBezTo>
                  <a:pt x="49589" y="73849"/>
                  <a:pt x="49589" y="63001"/>
                  <a:pt x="56268" y="56322"/>
                </a:cubicBezTo>
                <a:lnTo>
                  <a:pt x="107567" y="5023"/>
                </a:lnTo>
                <a:cubicBezTo>
                  <a:pt x="114247" y="-1657"/>
                  <a:pt x="125094" y="-1657"/>
                  <a:pt x="131774" y="5023"/>
                </a:cubicBezTo>
                <a:lnTo>
                  <a:pt x="183072" y="56322"/>
                </a:lnTo>
                <a:cubicBezTo>
                  <a:pt x="189752" y="63001"/>
                  <a:pt x="189752" y="73849"/>
                  <a:pt x="183072" y="80528"/>
                </a:cubicBezTo>
                <a:cubicBezTo>
                  <a:pt x="176393" y="87208"/>
                  <a:pt x="165545" y="87208"/>
                  <a:pt x="158866" y="80528"/>
                </a:cubicBezTo>
                <a:lnTo>
                  <a:pt x="136797" y="58406"/>
                </a:lnTo>
                <a:close/>
                <a:moveTo>
                  <a:pt x="119697" y="213745"/>
                </a:moveTo>
                <a:cubicBezTo>
                  <a:pt x="143316" y="213745"/>
                  <a:pt x="162446" y="194615"/>
                  <a:pt x="162446" y="170996"/>
                </a:cubicBezTo>
                <a:lnTo>
                  <a:pt x="205195" y="170996"/>
                </a:lnTo>
                <a:cubicBezTo>
                  <a:pt x="224058" y="170996"/>
                  <a:pt x="239394" y="186332"/>
                  <a:pt x="239394" y="205195"/>
                </a:cubicBezTo>
                <a:lnTo>
                  <a:pt x="239394" y="222295"/>
                </a:lnTo>
                <a:cubicBezTo>
                  <a:pt x="239394" y="241158"/>
                  <a:pt x="224058" y="256494"/>
                  <a:pt x="205195" y="256494"/>
                </a:cubicBezTo>
                <a:lnTo>
                  <a:pt x="34199" y="256494"/>
                </a:lnTo>
                <a:cubicBezTo>
                  <a:pt x="15336" y="256494"/>
                  <a:pt x="0" y="241158"/>
                  <a:pt x="0" y="222295"/>
                </a:cubicBezTo>
                <a:lnTo>
                  <a:pt x="0" y="205195"/>
                </a:lnTo>
                <a:cubicBezTo>
                  <a:pt x="0" y="186332"/>
                  <a:pt x="15336" y="170996"/>
                  <a:pt x="34199" y="170996"/>
                </a:cubicBezTo>
                <a:lnTo>
                  <a:pt x="76948" y="170996"/>
                </a:lnTo>
                <a:cubicBezTo>
                  <a:pt x="76948" y="194615"/>
                  <a:pt x="96078" y="213745"/>
                  <a:pt x="119697" y="213745"/>
                </a:cubicBezTo>
                <a:close/>
                <a:moveTo>
                  <a:pt x="196645" y="226569"/>
                </a:moveTo>
                <a:cubicBezTo>
                  <a:pt x="203723" y="226569"/>
                  <a:pt x="209470" y="220823"/>
                  <a:pt x="209470" y="213745"/>
                </a:cubicBezTo>
                <a:cubicBezTo>
                  <a:pt x="209470" y="206667"/>
                  <a:pt x="203723" y="200920"/>
                  <a:pt x="196645" y="200920"/>
                </a:cubicBezTo>
                <a:cubicBezTo>
                  <a:pt x="189567" y="200920"/>
                  <a:pt x="183820" y="206667"/>
                  <a:pt x="183820" y="213745"/>
                </a:cubicBezTo>
                <a:cubicBezTo>
                  <a:pt x="183820" y="220823"/>
                  <a:pt x="189567" y="226569"/>
                  <a:pt x="196645" y="2265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595961" y="7420757"/>
            <a:ext cx="1527562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Client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595961" y="7779848"/>
            <a:ext cx="1231170" cy="302093"/>
          </a:xfrm>
          <a:custGeom>
            <a:avLst/>
            <a:gdLst/>
            <a:ahLst/>
            <a:cxnLst/>
            <a:rect l="l" t="t" r="r" b="b"/>
            <a:pathLst>
              <a:path w="1231170" h="302093">
                <a:moveTo>
                  <a:pt x="0" y="0"/>
                </a:moveTo>
                <a:lnTo>
                  <a:pt x="1231170" y="0"/>
                </a:lnTo>
                <a:lnTo>
                  <a:pt x="1231170" y="302093"/>
                </a:lnTo>
                <a:lnTo>
                  <a:pt x="0" y="30209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595961" y="7779848"/>
            <a:ext cx="1310968" cy="302093"/>
          </a:xfrm>
          <a:prstGeom prst="rect">
            <a:avLst/>
          </a:prstGeom>
          <a:noFill/>
          <a:ln/>
        </p:spPr>
        <p:txBody>
          <a:bodyPr wrap="square" lIns="136797" tIns="45599" rIns="136797" bIns="45599" rtlCol="0" anchor="ctr"/>
          <a:lstStyle/>
          <a:p>
            <a:pPr>
              <a:lnSpc>
                <a:spcPct val="120000"/>
              </a:lnSpc>
            </a:pPr>
            <a:r>
              <a:rPr lang="en-US" sz="1257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作业提交入口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5181" y="8195938"/>
            <a:ext cx="9815158" cy="592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负责将用户编写的代码（Jar 包）编译为 Dataflow Graph（逻辑图），并提交给 JobManager。严格来说，它不是运行时集群的一部分，而是作业提交的入口。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780038" y="2074289"/>
            <a:ext cx="5004477" cy="6896830"/>
          </a:xfrm>
          <a:custGeom>
            <a:avLst/>
            <a:gdLst/>
            <a:ahLst/>
            <a:cxnLst/>
            <a:rect l="l" t="t" r="r" b="b"/>
            <a:pathLst>
              <a:path w="5004477" h="7466816">
                <a:moveTo>
                  <a:pt x="0" y="0"/>
                </a:moveTo>
                <a:lnTo>
                  <a:pt x="5004477" y="0"/>
                </a:lnTo>
                <a:lnTo>
                  <a:pt x="5004477" y="7466816"/>
                </a:lnTo>
                <a:lnTo>
                  <a:pt x="0" y="7466816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053631" y="2359282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102597" y="34199"/>
                </a:moveTo>
                <a:cubicBezTo>
                  <a:pt x="102597" y="24741"/>
                  <a:pt x="110239" y="17100"/>
                  <a:pt x="119697" y="17100"/>
                </a:cubicBezTo>
                <a:lnTo>
                  <a:pt x="153896" y="17100"/>
                </a:lnTo>
                <a:cubicBezTo>
                  <a:pt x="163354" y="17100"/>
                  <a:pt x="170996" y="24741"/>
                  <a:pt x="170996" y="34199"/>
                </a:cubicBezTo>
                <a:lnTo>
                  <a:pt x="170996" y="68398"/>
                </a:lnTo>
                <a:cubicBezTo>
                  <a:pt x="170996" y="77857"/>
                  <a:pt x="163354" y="85498"/>
                  <a:pt x="153896" y="85498"/>
                </a:cubicBezTo>
                <a:lnTo>
                  <a:pt x="149621" y="85498"/>
                </a:lnTo>
                <a:lnTo>
                  <a:pt x="149621" y="119697"/>
                </a:lnTo>
                <a:lnTo>
                  <a:pt x="213745" y="119697"/>
                </a:lnTo>
                <a:cubicBezTo>
                  <a:pt x="235012" y="119697"/>
                  <a:pt x="252219" y="136904"/>
                  <a:pt x="252219" y="158171"/>
                </a:cubicBezTo>
                <a:lnTo>
                  <a:pt x="252219" y="188095"/>
                </a:lnTo>
                <a:lnTo>
                  <a:pt x="256494" y="188095"/>
                </a:lnTo>
                <a:cubicBezTo>
                  <a:pt x="265952" y="188095"/>
                  <a:pt x="273593" y="195737"/>
                  <a:pt x="273593" y="205195"/>
                </a:cubicBezTo>
                <a:lnTo>
                  <a:pt x="273593" y="239394"/>
                </a:lnTo>
                <a:cubicBezTo>
                  <a:pt x="273593" y="248852"/>
                  <a:pt x="265952" y="256494"/>
                  <a:pt x="256494" y="256494"/>
                </a:cubicBezTo>
                <a:lnTo>
                  <a:pt x="222295" y="256494"/>
                </a:lnTo>
                <a:cubicBezTo>
                  <a:pt x="212836" y="256494"/>
                  <a:pt x="205195" y="248852"/>
                  <a:pt x="205195" y="239394"/>
                </a:cubicBezTo>
                <a:lnTo>
                  <a:pt x="205195" y="205195"/>
                </a:lnTo>
                <a:cubicBezTo>
                  <a:pt x="205195" y="195737"/>
                  <a:pt x="212836" y="188095"/>
                  <a:pt x="222295" y="188095"/>
                </a:cubicBezTo>
                <a:lnTo>
                  <a:pt x="226569" y="188095"/>
                </a:lnTo>
                <a:lnTo>
                  <a:pt x="226569" y="158171"/>
                </a:lnTo>
                <a:cubicBezTo>
                  <a:pt x="226569" y="151064"/>
                  <a:pt x="220852" y="145346"/>
                  <a:pt x="213745" y="145346"/>
                </a:cubicBezTo>
                <a:lnTo>
                  <a:pt x="149621" y="145346"/>
                </a:lnTo>
                <a:lnTo>
                  <a:pt x="149621" y="188095"/>
                </a:lnTo>
                <a:lnTo>
                  <a:pt x="153896" y="188095"/>
                </a:lnTo>
                <a:cubicBezTo>
                  <a:pt x="163354" y="188095"/>
                  <a:pt x="170996" y="195737"/>
                  <a:pt x="170996" y="205195"/>
                </a:cubicBezTo>
                <a:lnTo>
                  <a:pt x="170996" y="239394"/>
                </a:lnTo>
                <a:cubicBezTo>
                  <a:pt x="170996" y="248852"/>
                  <a:pt x="163354" y="256494"/>
                  <a:pt x="153896" y="256494"/>
                </a:cubicBezTo>
                <a:lnTo>
                  <a:pt x="119697" y="256494"/>
                </a:lnTo>
                <a:cubicBezTo>
                  <a:pt x="110239" y="256494"/>
                  <a:pt x="102597" y="248852"/>
                  <a:pt x="102597" y="239394"/>
                </a:cubicBezTo>
                <a:lnTo>
                  <a:pt x="102597" y="205195"/>
                </a:lnTo>
                <a:cubicBezTo>
                  <a:pt x="102597" y="195737"/>
                  <a:pt x="110239" y="188095"/>
                  <a:pt x="119697" y="188095"/>
                </a:cubicBezTo>
                <a:lnTo>
                  <a:pt x="123972" y="188095"/>
                </a:lnTo>
                <a:lnTo>
                  <a:pt x="123972" y="145346"/>
                </a:lnTo>
                <a:lnTo>
                  <a:pt x="59849" y="145346"/>
                </a:lnTo>
                <a:cubicBezTo>
                  <a:pt x="52742" y="145346"/>
                  <a:pt x="47024" y="151064"/>
                  <a:pt x="47024" y="158171"/>
                </a:cubicBezTo>
                <a:lnTo>
                  <a:pt x="47024" y="188095"/>
                </a:lnTo>
                <a:lnTo>
                  <a:pt x="51299" y="188095"/>
                </a:lnTo>
                <a:cubicBezTo>
                  <a:pt x="60757" y="188095"/>
                  <a:pt x="68398" y="195737"/>
                  <a:pt x="68398" y="205195"/>
                </a:cubicBezTo>
                <a:lnTo>
                  <a:pt x="68398" y="239394"/>
                </a:lnTo>
                <a:cubicBezTo>
                  <a:pt x="68398" y="248852"/>
                  <a:pt x="60757" y="256494"/>
                  <a:pt x="51299" y="256494"/>
                </a:cubicBezTo>
                <a:lnTo>
                  <a:pt x="17100" y="256494"/>
                </a:lnTo>
                <a:cubicBezTo>
                  <a:pt x="7641" y="256494"/>
                  <a:pt x="0" y="248852"/>
                  <a:pt x="0" y="239394"/>
                </a:cubicBezTo>
                <a:lnTo>
                  <a:pt x="0" y="205195"/>
                </a:lnTo>
                <a:cubicBezTo>
                  <a:pt x="0" y="195737"/>
                  <a:pt x="7641" y="188095"/>
                  <a:pt x="17100" y="188095"/>
                </a:cubicBezTo>
                <a:lnTo>
                  <a:pt x="21374" y="188095"/>
                </a:lnTo>
                <a:lnTo>
                  <a:pt x="21374" y="158171"/>
                </a:lnTo>
                <a:cubicBezTo>
                  <a:pt x="21374" y="136904"/>
                  <a:pt x="38581" y="119697"/>
                  <a:pt x="59849" y="119697"/>
                </a:cubicBezTo>
                <a:lnTo>
                  <a:pt x="123972" y="119697"/>
                </a:lnTo>
                <a:lnTo>
                  <a:pt x="123972" y="85498"/>
                </a:lnTo>
                <a:lnTo>
                  <a:pt x="119697" y="85498"/>
                </a:lnTo>
                <a:cubicBezTo>
                  <a:pt x="110239" y="85498"/>
                  <a:pt x="102597" y="77857"/>
                  <a:pt x="102597" y="68398"/>
                </a:cubicBezTo>
                <a:lnTo>
                  <a:pt x="102597" y="34199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361424" y="2313683"/>
            <a:ext cx="4320494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组件协作流程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19432" y="2906468"/>
            <a:ext cx="455989" cy="455989"/>
          </a:xfrm>
          <a:custGeom>
            <a:avLst/>
            <a:gdLst/>
            <a:ahLst/>
            <a:cxnLst/>
            <a:rect l="l" t="t" r="r" b="b"/>
            <a:pathLst>
              <a:path w="455989" h="455989">
                <a:moveTo>
                  <a:pt x="0" y="0"/>
                </a:moveTo>
                <a:lnTo>
                  <a:pt x="455989" y="0"/>
                </a:lnTo>
                <a:lnTo>
                  <a:pt x="455989" y="455989"/>
                </a:lnTo>
                <a:lnTo>
                  <a:pt x="0" y="455989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206370" y="2974867"/>
            <a:ext cx="182396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612217" y="2906468"/>
            <a:ext cx="402410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作业提交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612217" y="3225660"/>
            <a:ext cx="401270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将用户代码编译为 JobGraph，提交到 JobManager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19432" y="3801346"/>
            <a:ext cx="455989" cy="455989"/>
          </a:xfrm>
          <a:custGeom>
            <a:avLst/>
            <a:gdLst/>
            <a:ahLst/>
            <a:cxnLst/>
            <a:rect l="l" t="t" r="r" b="b"/>
            <a:pathLst>
              <a:path w="455989" h="455989">
                <a:moveTo>
                  <a:pt x="0" y="0"/>
                </a:moveTo>
                <a:lnTo>
                  <a:pt x="455989" y="0"/>
                </a:lnTo>
                <a:lnTo>
                  <a:pt x="455989" y="455989"/>
                </a:lnTo>
                <a:lnTo>
                  <a:pt x="0" y="455989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187756" y="3869745"/>
            <a:ext cx="216595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612217" y="3801346"/>
            <a:ext cx="402410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资源申请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612217" y="4120538"/>
            <a:ext cx="401270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JobManager 向 ResourceManager 申请所需的 Task Slots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19432" y="4696224"/>
            <a:ext cx="455989" cy="455989"/>
          </a:xfrm>
          <a:custGeom>
            <a:avLst/>
            <a:gdLst/>
            <a:ahLst/>
            <a:cxnLst/>
            <a:rect l="l" t="t" r="r" b="b"/>
            <a:pathLst>
              <a:path w="455989" h="455989">
                <a:moveTo>
                  <a:pt x="0" y="0"/>
                </a:moveTo>
                <a:lnTo>
                  <a:pt x="455989" y="0"/>
                </a:lnTo>
                <a:lnTo>
                  <a:pt x="455989" y="455989"/>
                </a:lnTo>
                <a:lnTo>
                  <a:pt x="0" y="455989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186865" y="4764623"/>
            <a:ext cx="227994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612217" y="4696224"/>
            <a:ext cx="402410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612217" y="5015416"/>
            <a:ext cx="401270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ResourceManager 分配资源，JobManager 调度 Task 到 TaskManager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19432" y="5591102"/>
            <a:ext cx="455989" cy="455989"/>
          </a:xfrm>
          <a:custGeom>
            <a:avLst/>
            <a:gdLst/>
            <a:ahLst/>
            <a:cxnLst/>
            <a:rect l="l" t="t" r="r" b="b"/>
            <a:pathLst>
              <a:path w="455989" h="455989">
                <a:moveTo>
                  <a:pt x="0" y="0"/>
                </a:moveTo>
                <a:lnTo>
                  <a:pt x="455989" y="0"/>
                </a:lnTo>
                <a:lnTo>
                  <a:pt x="455989" y="455989"/>
                </a:lnTo>
                <a:lnTo>
                  <a:pt x="0" y="455989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186954" y="5659501"/>
            <a:ext cx="227994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612217" y="5591102"/>
            <a:ext cx="402410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612217" y="5910294"/>
            <a:ext cx="4012701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TaskManager 执行任务，并定期向 JobManager 汇报状态和 Checkpoint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6600" y="6096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核心概念: 并行度、任务槽与算子链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288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Flink 并行执行机制是掌握性能调优的关键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06475" y="2819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74800" y="27432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403600"/>
            <a:ext cx="471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一个特定算子（Operator）的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子任务（Subtask）个数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" y="4216400"/>
            <a:ext cx="4597400" cy="800100"/>
          </a:xfrm>
          <a:custGeom>
            <a:avLst/>
            <a:gdLst/>
            <a:ahLst/>
            <a:cxnLst/>
            <a:rect l="l" t="t" r="r" b="b"/>
            <a:pathLst>
              <a:path w="4597400" h="800100">
                <a:moveTo>
                  <a:pt x="0" y="0"/>
                </a:moveTo>
                <a:lnTo>
                  <a:pt x="4597400" y="0"/>
                </a:lnTo>
                <a:lnTo>
                  <a:pt x="45974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25500" y="4216400"/>
            <a:ext cx="25400" cy="800100"/>
          </a:xfrm>
          <a:custGeom>
            <a:avLst/>
            <a:gdLst/>
            <a:ahLst/>
            <a:cxnLst/>
            <a:rect l="l" t="t" r="r" b="b"/>
            <a:pathLst>
              <a:path w="25400" h="800100">
                <a:moveTo>
                  <a:pt x="0" y="0"/>
                </a:moveTo>
                <a:lnTo>
                  <a:pt x="25400" y="0"/>
                </a:lnTo>
                <a:lnTo>
                  <a:pt x="254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90600" y="4368800"/>
            <a:ext cx="436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例如：一个 map 算子的并行度为 2，意味着有两个线程同时执行该 map 逻辑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5162550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配置方式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56197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7752" y="3299"/>
                </a:moveTo>
                <a:cubicBezTo>
                  <a:pt x="68793" y="-1841"/>
                  <a:pt x="73343" y="-5556"/>
                  <a:pt x="78621" y="-5556"/>
                </a:cubicBezTo>
                <a:lnTo>
                  <a:pt x="99387" y="-5556"/>
                </a:lnTo>
                <a:cubicBezTo>
                  <a:pt x="104666" y="-5556"/>
                  <a:pt x="109215" y="-1841"/>
                  <a:pt x="110257" y="3299"/>
                </a:cubicBezTo>
                <a:lnTo>
                  <a:pt x="115292" y="27608"/>
                </a:lnTo>
                <a:cubicBezTo>
                  <a:pt x="120189" y="29691"/>
                  <a:pt x="124773" y="32365"/>
                  <a:pt x="128940" y="35525"/>
                </a:cubicBezTo>
                <a:lnTo>
                  <a:pt x="152484" y="27712"/>
                </a:lnTo>
                <a:cubicBezTo>
                  <a:pt x="157485" y="26045"/>
                  <a:pt x="162972" y="28129"/>
                  <a:pt x="165611" y="32712"/>
                </a:cubicBezTo>
                <a:lnTo>
                  <a:pt x="175994" y="50701"/>
                </a:lnTo>
                <a:cubicBezTo>
                  <a:pt x="178633" y="55285"/>
                  <a:pt x="177696" y="61049"/>
                  <a:pt x="173737" y="64557"/>
                </a:cubicBezTo>
                <a:lnTo>
                  <a:pt x="155228" y="81017"/>
                </a:lnTo>
                <a:cubicBezTo>
                  <a:pt x="155540" y="83587"/>
                  <a:pt x="155679" y="86226"/>
                  <a:pt x="155679" y="88900"/>
                </a:cubicBezTo>
                <a:cubicBezTo>
                  <a:pt x="155679" y="91574"/>
                  <a:pt x="155506" y="94213"/>
                  <a:pt x="155228" y="96783"/>
                </a:cubicBezTo>
                <a:lnTo>
                  <a:pt x="173772" y="113278"/>
                </a:lnTo>
                <a:cubicBezTo>
                  <a:pt x="177731" y="116785"/>
                  <a:pt x="178633" y="122585"/>
                  <a:pt x="176029" y="127134"/>
                </a:cubicBezTo>
                <a:lnTo>
                  <a:pt x="165646" y="145122"/>
                </a:lnTo>
                <a:cubicBezTo>
                  <a:pt x="163006" y="149671"/>
                  <a:pt x="157520" y="151790"/>
                  <a:pt x="152519" y="150123"/>
                </a:cubicBezTo>
                <a:lnTo>
                  <a:pt x="128974" y="142309"/>
                </a:lnTo>
                <a:cubicBezTo>
                  <a:pt x="124773" y="145470"/>
                  <a:pt x="120189" y="148109"/>
                  <a:pt x="115327" y="150227"/>
                </a:cubicBezTo>
                <a:lnTo>
                  <a:pt x="110326" y="174501"/>
                </a:lnTo>
                <a:cubicBezTo>
                  <a:pt x="109250" y="179675"/>
                  <a:pt x="104701" y="183356"/>
                  <a:pt x="99457" y="183356"/>
                </a:cubicBezTo>
                <a:lnTo>
                  <a:pt x="78690" y="183356"/>
                </a:lnTo>
                <a:cubicBezTo>
                  <a:pt x="73412" y="183356"/>
                  <a:pt x="68863" y="179641"/>
                  <a:pt x="67821" y="174501"/>
                </a:cubicBezTo>
                <a:lnTo>
                  <a:pt x="62820" y="150227"/>
                </a:lnTo>
                <a:cubicBezTo>
                  <a:pt x="57924" y="148144"/>
                  <a:pt x="53375" y="145470"/>
                  <a:pt x="49173" y="142309"/>
                </a:cubicBezTo>
                <a:lnTo>
                  <a:pt x="25524" y="150123"/>
                </a:lnTo>
                <a:cubicBezTo>
                  <a:pt x="20523" y="151790"/>
                  <a:pt x="15037" y="149706"/>
                  <a:pt x="12397" y="145122"/>
                </a:cubicBezTo>
                <a:lnTo>
                  <a:pt x="2014" y="127134"/>
                </a:lnTo>
                <a:cubicBezTo>
                  <a:pt x="-625" y="122550"/>
                  <a:pt x="313" y="116785"/>
                  <a:pt x="4271" y="113278"/>
                </a:cubicBezTo>
                <a:lnTo>
                  <a:pt x="22815" y="96783"/>
                </a:lnTo>
                <a:cubicBezTo>
                  <a:pt x="22503" y="94213"/>
                  <a:pt x="22364" y="91574"/>
                  <a:pt x="22364" y="88900"/>
                </a:cubicBezTo>
                <a:cubicBezTo>
                  <a:pt x="22364" y="86226"/>
                  <a:pt x="22538" y="83587"/>
                  <a:pt x="22815" y="81017"/>
                </a:cubicBezTo>
                <a:lnTo>
                  <a:pt x="4271" y="64522"/>
                </a:lnTo>
                <a:cubicBezTo>
                  <a:pt x="313" y="61015"/>
                  <a:pt x="-590" y="55215"/>
                  <a:pt x="2014" y="50666"/>
                </a:cubicBezTo>
                <a:lnTo>
                  <a:pt x="12397" y="32678"/>
                </a:lnTo>
                <a:cubicBezTo>
                  <a:pt x="15037" y="28094"/>
                  <a:pt x="20523" y="26010"/>
                  <a:pt x="25524" y="27677"/>
                </a:cubicBezTo>
                <a:lnTo>
                  <a:pt x="49069" y="35491"/>
                </a:lnTo>
                <a:cubicBezTo>
                  <a:pt x="53271" y="32330"/>
                  <a:pt x="57854" y="29691"/>
                  <a:pt x="62716" y="27573"/>
                </a:cubicBezTo>
                <a:lnTo>
                  <a:pt x="67752" y="3299"/>
                </a:lnTo>
                <a:close/>
                <a:moveTo>
                  <a:pt x="89004" y="116681"/>
                </a:moveTo>
                <a:cubicBezTo>
                  <a:pt x="98929" y="116644"/>
                  <a:pt x="108081" y="111315"/>
                  <a:pt x="113011" y="102700"/>
                </a:cubicBezTo>
                <a:cubicBezTo>
                  <a:pt x="117942" y="94086"/>
                  <a:pt x="117902" y="83496"/>
                  <a:pt x="112907" y="74919"/>
                </a:cubicBezTo>
                <a:cubicBezTo>
                  <a:pt x="107912" y="66342"/>
                  <a:pt x="98721" y="61082"/>
                  <a:pt x="88796" y="61119"/>
                </a:cubicBezTo>
                <a:cubicBezTo>
                  <a:pt x="78871" y="61156"/>
                  <a:pt x="69719" y="66485"/>
                  <a:pt x="64789" y="75100"/>
                </a:cubicBezTo>
                <a:cubicBezTo>
                  <a:pt x="59858" y="83714"/>
                  <a:pt x="59898" y="94304"/>
                  <a:pt x="64893" y="102881"/>
                </a:cubicBezTo>
                <a:cubicBezTo>
                  <a:pt x="69888" y="111458"/>
                  <a:pt x="79079" y="116718"/>
                  <a:pt x="89004" y="116681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36650" y="556895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配置文件设置默认值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" y="5949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3264" y="41186"/>
                </a:moveTo>
                <a:cubicBezTo>
                  <a:pt x="-1077" y="36845"/>
                  <a:pt x="-1077" y="29795"/>
                  <a:pt x="3264" y="25455"/>
                </a:cubicBezTo>
                <a:cubicBezTo>
                  <a:pt x="7605" y="21114"/>
                  <a:pt x="14655" y="21114"/>
                  <a:pt x="18995" y="25455"/>
                </a:cubicBezTo>
                <a:lnTo>
                  <a:pt x="74558" y="81017"/>
                </a:lnTo>
                <a:cubicBezTo>
                  <a:pt x="78899" y="85358"/>
                  <a:pt x="78899" y="92407"/>
                  <a:pt x="74558" y="96748"/>
                </a:cubicBezTo>
                <a:lnTo>
                  <a:pt x="18995" y="152311"/>
                </a:lnTo>
                <a:cubicBezTo>
                  <a:pt x="14655" y="156652"/>
                  <a:pt x="7605" y="156652"/>
                  <a:pt x="3264" y="152311"/>
                </a:cubicBezTo>
                <a:cubicBezTo>
                  <a:pt x="-1077" y="147970"/>
                  <a:pt x="-1077" y="140920"/>
                  <a:pt x="3264" y="136580"/>
                </a:cubicBezTo>
                <a:lnTo>
                  <a:pt x="50944" y="88900"/>
                </a:lnTo>
                <a:lnTo>
                  <a:pt x="3264" y="41186"/>
                </a:lnTo>
                <a:close/>
                <a:moveTo>
                  <a:pt x="77788" y="133350"/>
                </a:move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77788" y="155575"/>
                </a:lnTo>
                <a:cubicBezTo>
                  <a:pt x="71641" y="155575"/>
                  <a:pt x="66675" y="150609"/>
                  <a:pt x="66675" y="144463"/>
                </a:cubicBezTo>
                <a:cubicBezTo>
                  <a:pt x="66675" y="138316"/>
                  <a:pt x="71641" y="133350"/>
                  <a:pt x="77788" y="13335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36650" y="589915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提交参数指定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088" y="62801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25293" y="417"/>
                </a:moveTo>
                <a:cubicBezTo>
                  <a:pt x="119390" y="-1285"/>
                  <a:pt x="113243" y="2153"/>
                  <a:pt x="111542" y="8057"/>
                </a:cubicBezTo>
                <a:lnTo>
                  <a:pt x="67092" y="163632"/>
                </a:lnTo>
                <a:cubicBezTo>
                  <a:pt x="65390" y="169535"/>
                  <a:pt x="68828" y="175682"/>
                  <a:pt x="74732" y="177383"/>
                </a:cubicBezTo>
                <a:cubicBezTo>
                  <a:pt x="80635" y="179085"/>
                  <a:pt x="86782" y="175647"/>
                  <a:pt x="88483" y="169743"/>
                </a:cubicBezTo>
                <a:lnTo>
                  <a:pt x="132933" y="14168"/>
                </a:lnTo>
                <a:cubicBezTo>
                  <a:pt x="134635" y="8265"/>
                  <a:pt x="131197" y="2118"/>
                  <a:pt x="125293" y="417"/>
                </a:cubicBezTo>
                <a:close/>
                <a:moveTo>
                  <a:pt x="147727" y="47680"/>
                </a:moveTo>
                <a:cubicBezTo>
                  <a:pt x="143386" y="52020"/>
                  <a:pt x="143386" y="59070"/>
                  <a:pt x="147727" y="63411"/>
                </a:cubicBezTo>
                <a:lnTo>
                  <a:pt x="173216" y="88900"/>
                </a:lnTo>
                <a:lnTo>
                  <a:pt x="147727" y="114389"/>
                </a:lnTo>
                <a:cubicBezTo>
                  <a:pt x="143386" y="118730"/>
                  <a:pt x="143386" y="125780"/>
                  <a:pt x="147727" y="130120"/>
                </a:cubicBezTo>
                <a:cubicBezTo>
                  <a:pt x="152068" y="134461"/>
                  <a:pt x="159117" y="134461"/>
                  <a:pt x="163458" y="130120"/>
                </a:cubicBezTo>
                <a:lnTo>
                  <a:pt x="196795" y="96783"/>
                </a:lnTo>
                <a:cubicBezTo>
                  <a:pt x="201136" y="92442"/>
                  <a:pt x="201136" y="85393"/>
                  <a:pt x="196795" y="81052"/>
                </a:cubicBezTo>
                <a:lnTo>
                  <a:pt x="163458" y="47714"/>
                </a:lnTo>
                <a:cubicBezTo>
                  <a:pt x="159117" y="43373"/>
                  <a:pt x="152068" y="43373"/>
                  <a:pt x="147727" y="47714"/>
                </a:cubicBezTo>
                <a:close/>
                <a:moveTo>
                  <a:pt x="52333" y="47680"/>
                </a:moveTo>
                <a:cubicBezTo>
                  <a:pt x="47992" y="43339"/>
                  <a:pt x="40943" y="43339"/>
                  <a:pt x="36602" y="47680"/>
                </a:cubicBezTo>
                <a:lnTo>
                  <a:pt x="3264" y="81017"/>
                </a:lnTo>
                <a:cubicBezTo>
                  <a:pt x="-1077" y="85358"/>
                  <a:pt x="-1077" y="92407"/>
                  <a:pt x="3264" y="96748"/>
                </a:cubicBezTo>
                <a:lnTo>
                  <a:pt x="36602" y="130086"/>
                </a:lnTo>
                <a:cubicBezTo>
                  <a:pt x="40943" y="134427"/>
                  <a:pt x="47992" y="134427"/>
                  <a:pt x="52333" y="130086"/>
                </a:cubicBezTo>
                <a:cubicBezTo>
                  <a:pt x="56674" y="125745"/>
                  <a:pt x="56674" y="118695"/>
                  <a:pt x="52333" y="114355"/>
                </a:cubicBezTo>
                <a:lnTo>
                  <a:pt x="26844" y="88900"/>
                </a:lnTo>
                <a:lnTo>
                  <a:pt x="52298" y="63411"/>
                </a:lnTo>
                <a:cubicBezTo>
                  <a:pt x="56639" y="59070"/>
                  <a:pt x="56639" y="52020"/>
                  <a:pt x="52298" y="4768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36650" y="622935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代码中设置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8034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977434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71109" y="2819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90500" y="47625"/>
                </a:moveTo>
                <a:lnTo>
                  <a:pt x="127000" y="47625"/>
                </a:lnTo>
                <a:lnTo>
                  <a:pt x="127000" y="111125"/>
                </a:lnTo>
                <a:lnTo>
                  <a:pt x="190500" y="111125"/>
                </a:lnTo>
                <a:lnTo>
                  <a:pt x="190500" y="47625"/>
                </a:lnTo>
                <a:close/>
                <a:moveTo>
                  <a:pt x="222250" y="111125"/>
                </a:move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111125"/>
                </a:lnTo>
                <a:close/>
                <a:moveTo>
                  <a:pt x="31750" y="142875"/>
                </a:moveTo>
                <a:lnTo>
                  <a:pt x="31750" y="206375"/>
                </a:lnTo>
                <a:lnTo>
                  <a:pt x="95250" y="206375"/>
                </a:lnTo>
                <a:lnTo>
                  <a:pt x="95250" y="142875"/>
                </a:lnTo>
                <a:lnTo>
                  <a:pt x="31750" y="142875"/>
                </a:lnTo>
                <a:close/>
                <a:moveTo>
                  <a:pt x="95250" y="111125"/>
                </a:moveTo>
                <a:lnTo>
                  <a:pt x="95250" y="47625"/>
                </a:lnTo>
                <a:lnTo>
                  <a:pt x="31750" y="47625"/>
                </a:lnTo>
                <a:lnTo>
                  <a:pt x="31750" y="111125"/>
                </a:lnTo>
                <a:lnTo>
                  <a:pt x="95250" y="111125"/>
                </a:lnTo>
                <a:close/>
                <a:moveTo>
                  <a:pt x="127000" y="142875"/>
                </a:moveTo>
                <a:lnTo>
                  <a:pt x="127000" y="206375"/>
                </a:lnTo>
                <a:lnTo>
                  <a:pt x="190500" y="206375"/>
                </a:lnTo>
                <a:lnTo>
                  <a:pt x="190500" y="142875"/>
                </a:lnTo>
                <a:lnTo>
                  <a:pt x="127000" y="1428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739434" y="27432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77434" y="3403600"/>
            <a:ext cx="471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TaskManager 资源的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静态隔离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。一个 Slot 代表 TaskManager 的一份固定内存资源。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90134" y="4216400"/>
            <a:ext cx="4597400" cy="546100"/>
          </a:xfrm>
          <a:custGeom>
            <a:avLst/>
            <a:gdLst/>
            <a:ahLst/>
            <a:cxnLst/>
            <a:rect l="l" t="t" r="r" b="b"/>
            <a:pathLst>
              <a:path w="4597400" h="546100">
                <a:moveTo>
                  <a:pt x="0" y="0"/>
                </a:moveTo>
                <a:lnTo>
                  <a:pt x="4597400" y="0"/>
                </a:lnTo>
                <a:lnTo>
                  <a:pt x="4597400" y="546100"/>
                </a:lnTo>
                <a:lnTo>
                  <a:pt x="0" y="5461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990134" y="4216400"/>
            <a:ext cx="25400" cy="546100"/>
          </a:xfrm>
          <a:custGeom>
            <a:avLst/>
            <a:gdLst/>
            <a:ahLst/>
            <a:cxnLst/>
            <a:rect l="l" t="t" r="r" b="b"/>
            <a:pathLst>
              <a:path w="25400" h="546100">
                <a:moveTo>
                  <a:pt x="0" y="0"/>
                </a:moveTo>
                <a:lnTo>
                  <a:pt x="25400" y="0"/>
                </a:lnTo>
                <a:lnTo>
                  <a:pt x="25400" y="546100"/>
                </a:lnTo>
                <a:lnTo>
                  <a:pt x="0" y="546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155234" y="4368800"/>
            <a:ext cx="4368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 资源目前是共享的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77434" y="4918075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 共享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77434" y="5324475"/>
            <a:ext cx="4699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允许不同任务的 Subtask 共享同一个 Slot（只要它们属于同一个 Job 且来自不同的 JobVertex）。这使得一个 Slot 可以执行完整的 Pipeline，提高了资源利用率。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62667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142067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303992" y="2819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904067" y="27432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算子链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42067" y="3403600"/>
            <a:ext cx="4711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为了减少线程间切换和缓冲的开销，Flink 会将多个连续的、并行度相同的、且连接方式为 One-to-One 的算子合并为一个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Operator Chain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54767" y="4546600"/>
            <a:ext cx="4597400" cy="800100"/>
          </a:xfrm>
          <a:custGeom>
            <a:avLst/>
            <a:gdLst/>
            <a:ahLst/>
            <a:cxnLst/>
            <a:rect l="l" t="t" r="r" b="b"/>
            <a:pathLst>
              <a:path w="4597400" h="800100">
                <a:moveTo>
                  <a:pt x="0" y="0"/>
                </a:moveTo>
                <a:lnTo>
                  <a:pt x="4597400" y="0"/>
                </a:lnTo>
                <a:lnTo>
                  <a:pt x="45974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154767" y="4546600"/>
            <a:ext cx="25400" cy="800100"/>
          </a:xfrm>
          <a:custGeom>
            <a:avLst/>
            <a:gdLst/>
            <a:ahLst/>
            <a:cxnLst/>
            <a:rect l="l" t="t" r="r" b="b"/>
            <a:pathLst>
              <a:path w="25400" h="800100">
                <a:moveTo>
                  <a:pt x="0" y="0"/>
                </a:moveTo>
                <a:lnTo>
                  <a:pt x="25400" y="0"/>
                </a:lnTo>
                <a:lnTo>
                  <a:pt x="254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319867" y="4699000"/>
            <a:ext cx="436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合并后的算子链在一个线程中串行执行，极大地提升了吞吐量并降低了延迟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42067" y="5492750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链化条件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78580" y="59372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465917" y="589915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并行度相同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78580" y="62420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465917" y="620395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One-to-One 连接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78580" y="65468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465917" y="650875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连续算子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2.hubspot.net/22297e0eee858b51c5bafaf9a62957d11cdcb29a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7324" b="1732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5A6F7B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2600325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149725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4759325"/>
            <a:ext cx="155448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4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与执行原理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75533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781050" y="757872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46200" y="7553325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编程模型概览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62600" y="75533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829300" y="7578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5383" y="162520"/>
                </a:moveTo>
                <a:cubicBezTo>
                  <a:pt x="210979" y="156924"/>
                  <a:pt x="210979" y="147876"/>
                  <a:pt x="205383" y="142339"/>
                </a:cubicBezTo>
                <a:lnTo>
                  <a:pt x="119658" y="56555"/>
                </a:lnTo>
                <a:cubicBezTo>
                  <a:pt x="115550" y="52447"/>
                  <a:pt x="109418" y="51256"/>
                  <a:pt x="104061" y="53459"/>
                </a:cubicBezTo>
                <a:cubicBezTo>
                  <a:pt x="98703" y="55662"/>
                  <a:pt x="95250" y="60900"/>
                  <a:pt x="95250" y="66675"/>
                </a:cubicBezTo>
                <a:lnTo>
                  <a:pt x="95250" y="114300"/>
                </a:lnTo>
                <a:lnTo>
                  <a:pt x="28575" y="114300"/>
                </a:lnTo>
                <a:cubicBezTo>
                  <a:pt x="12799" y="114300"/>
                  <a:pt x="0" y="127099"/>
                  <a:pt x="0" y="142875"/>
                </a:cubicBezTo>
                <a:lnTo>
                  <a:pt x="0" y="161925"/>
                </a:lnTo>
                <a:cubicBezTo>
                  <a:pt x="0" y="177701"/>
                  <a:pt x="12799" y="190500"/>
                  <a:pt x="28575" y="190500"/>
                </a:cubicBezTo>
                <a:lnTo>
                  <a:pt x="95250" y="190500"/>
                </a:lnTo>
                <a:lnTo>
                  <a:pt x="95250" y="238125"/>
                </a:lnTo>
                <a:cubicBezTo>
                  <a:pt x="95250" y="243900"/>
                  <a:pt x="98703" y="249138"/>
                  <a:pt x="104061" y="251341"/>
                </a:cubicBezTo>
                <a:cubicBezTo>
                  <a:pt x="109418" y="253544"/>
                  <a:pt x="115550" y="252353"/>
                  <a:pt x="119658" y="248245"/>
                </a:cubicBezTo>
                <a:lnTo>
                  <a:pt x="205383" y="162520"/>
                </a:lnTo>
                <a:close/>
                <a:moveTo>
                  <a:pt x="209550" y="247650"/>
                </a:moveTo>
                <a:cubicBezTo>
                  <a:pt x="199013" y="247650"/>
                  <a:pt x="190500" y="256163"/>
                  <a:pt x="190500" y="266700"/>
                </a:cubicBezTo>
                <a:cubicBezTo>
                  <a:pt x="190500" y="277237"/>
                  <a:pt x="199013" y="285750"/>
                  <a:pt x="209550" y="285750"/>
                </a:cubicBezTo>
                <a:lnTo>
                  <a:pt x="247650" y="285750"/>
                </a:lnTo>
                <a:cubicBezTo>
                  <a:pt x="279202" y="285750"/>
                  <a:pt x="304800" y="260152"/>
                  <a:pt x="304800" y="228600"/>
                </a:cubicBezTo>
                <a:lnTo>
                  <a:pt x="304800" y="76200"/>
                </a:lnTo>
                <a:cubicBezTo>
                  <a:pt x="304800" y="44648"/>
                  <a:pt x="279202" y="19050"/>
                  <a:pt x="247650" y="19050"/>
                </a:cubicBezTo>
                <a:lnTo>
                  <a:pt x="209550" y="19050"/>
                </a:lnTo>
                <a:cubicBezTo>
                  <a:pt x="199013" y="19050"/>
                  <a:pt x="190500" y="27563"/>
                  <a:pt x="190500" y="38100"/>
                </a:cubicBezTo>
                <a:cubicBezTo>
                  <a:pt x="190500" y="48637"/>
                  <a:pt x="199013" y="57150"/>
                  <a:pt x="209550" y="57150"/>
                </a:cubicBez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228600"/>
                </a:lnTo>
                <a:cubicBezTo>
                  <a:pt x="266700" y="239137"/>
                  <a:pt x="258187" y="247650"/>
                  <a:pt x="247650" y="247650"/>
                </a:cubicBezTo>
                <a:lnTo>
                  <a:pt x="209550" y="24765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375400" y="7553325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数据源详解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400" y="82137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00100" y="823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346200" y="8213725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转换操作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62600" y="82137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829300" y="823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0633" y="162520"/>
                </a:moveTo>
                <a:cubicBezTo>
                  <a:pt x="306229" y="156924"/>
                  <a:pt x="306229" y="147876"/>
                  <a:pt x="300633" y="142339"/>
                </a:cubicBezTo>
                <a:lnTo>
                  <a:pt x="214908" y="56555"/>
                </a:lnTo>
                <a:cubicBezTo>
                  <a:pt x="210800" y="52447"/>
                  <a:pt x="204668" y="51256"/>
                  <a:pt x="199311" y="53459"/>
                </a:cubicBezTo>
                <a:cubicBezTo>
                  <a:pt x="193953" y="55662"/>
                  <a:pt x="190500" y="60900"/>
                  <a:pt x="190500" y="66675"/>
                </a:cubicBezTo>
                <a:lnTo>
                  <a:pt x="190500" y="114300"/>
                </a:lnTo>
                <a:lnTo>
                  <a:pt x="123825" y="114300"/>
                </a:lnTo>
                <a:cubicBezTo>
                  <a:pt x="108049" y="114300"/>
                  <a:pt x="95250" y="127099"/>
                  <a:pt x="95250" y="142875"/>
                </a:cubicBezTo>
                <a:lnTo>
                  <a:pt x="95250" y="161925"/>
                </a:lnTo>
                <a:cubicBezTo>
                  <a:pt x="95250" y="177701"/>
                  <a:pt x="108049" y="190500"/>
                  <a:pt x="123825" y="190500"/>
                </a:cubicBezTo>
                <a:lnTo>
                  <a:pt x="190500" y="190500"/>
                </a:lnTo>
                <a:lnTo>
                  <a:pt x="190500" y="238125"/>
                </a:lnTo>
                <a:cubicBezTo>
                  <a:pt x="190500" y="243900"/>
                  <a:pt x="193953" y="249138"/>
                  <a:pt x="199311" y="251341"/>
                </a:cubicBezTo>
                <a:cubicBezTo>
                  <a:pt x="204668" y="253544"/>
                  <a:pt x="210800" y="252353"/>
                  <a:pt x="214908" y="248245"/>
                </a:cubicBezTo>
                <a:lnTo>
                  <a:pt x="300633" y="162520"/>
                </a:lnTo>
                <a:close/>
                <a:moveTo>
                  <a:pt x="95250" y="57150"/>
                </a:moveTo>
                <a:cubicBezTo>
                  <a:pt x="105787" y="57150"/>
                  <a:pt x="114300" y="48637"/>
                  <a:pt x="114300" y="38100"/>
                </a:cubicBezTo>
                <a:cubicBezTo>
                  <a:pt x="114300" y="27563"/>
                  <a:pt x="105787" y="19050"/>
                  <a:pt x="95250" y="19050"/>
                </a:cubicBezTo>
                <a:lnTo>
                  <a:pt x="57150" y="19050"/>
                </a:lnTo>
                <a:cubicBezTo>
                  <a:pt x="25598" y="19050"/>
                  <a:pt x="0" y="44648"/>
                  <a:pt x="0" y="76200"/>
                </a:cubicBezTo>
                <a:lnTo>
                  <a:pt x="0" y="228600"/>
                </a:lnTo>
                <a:cubicBezTo>
                  <a:pt x="0" y="260152"/>
                  <a:pt x="25598" y="285750"/>
                  <a:pt x="57150" y="285750"/>
                </a:cubicBezTo>
                <a:lnTo>
                  <a:pt x="95250" y="285750"/>
                </a:lnTo>
                <a:cubicBezTo>
                  <a:pt x="105787" y="285750"/>
                  <a:pt x="114300" y="277237"/>
                  <a:pt x="114300" y="266700"/>
                </a:cubicBezTo>
                <a:cubicBezTo>
                  <a:pt x="114300" y="256163"/>
                  <a:pt x="105787" y="247650"/>
                  <a:pt x="95250" y="247650"/>
                </a:cubicBezTo>
                <a:lnTo>
                  <a:pt x="57150" y="247650"/>
                </a:lnTo>
                <a:cubicBezTo>
                  <a:pt x="46613" y="247650"/>
                  <a:pt x="38100" y="239137"/>
                  <a:pt x="38100" y="22860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lnTo>
                  <a:pt x="95250" y="5715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375400" y="8213725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数据汇输出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238" y="458238"/>
            <a:ext cx="68736" cy="458238"/>
          </a:xfrm>
          <a:custGeom>
            <a:avLst/>
            <a:gdLst/>
            <a:ahLst/>
            <a:cxnLst/>
            <a:rect l="l" t="t" r="r" b="b"/>
            <a:pathLst>
              <a:path w="68736" h="458238">
                <a:moveTo>
                  <a:pt x="0" y="0"/>
                </a:moveTo>
                <a:lnTo>
                  <a:pt x="68736" y="0"/>
                </a:lnTo>
                <a:lnTo>
                  <a:pt x="68736" y="458238"/>
                </a:lnTo>
                <a:lnTo>
                  <a:pt x="0" y="45823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4445" y="549886"/>
            <a:ext cx="129452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b="1" kern="0" spc="72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8238" y="1008124"/>
            <a:ext cx="15614467" cy="549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3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DataStream API 编程模型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238" y="1563930"/>
            <a:ext cx="15454083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→ Transformation → Sink 构建完整数据流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1150" y="1888175"/>
            <a:ext cx="45824" cy="1832953"/>
          </a:xfrm>
          <a:custGeom>
            <a:avLst/>
            <a:gdLst/>
            <a:ahLst/>
            <a:cxnLst/>
            <a:rect l="l" t="t" r="r" b="b"/>
            <a:pathLst>
              <a:path w="45824" h="1832953">
                <a:moveTo>
                  <a:pt x="0" y="0"/>
                </a:moveTo>
                <a:lnTo>
                  <a:pt x="45824" y="0"/>
                </a:lnTo>
                <a:lnTo>
                  <a:pt x="45824" y="1832953"/>
                </a:lnTo>
                <a:lnTo>
                  <a:pt x="0" y="183295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3181" y="2025647"/>
            <a:ext cx="458238" cy="458238"/>
          </a:xfrm>
          <a:custGeom>
            <a:avLst/>
            <a:gdLst/>
            <a:ahLst/>
            <a:cxnLst/>
            <a:rect l="l" t="t" r="r" b="b"/>
            <a:pathLst>
              <a:path w="458238" h="458238">
                <a:moveTo>
                  <a:pt x="0" y="0"/>
                </a:moveTo>
                <a:lnTo>
                  <a:pt x="458238" y="0"/>
                </a:lnTo>
                <a:lnTo>
                  <a:pt x="458238" y="458238"/>
                </a:lnTo>
                <a:lnTo>
                  <a:pt x="0" y="45823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2061" y="2151662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138948" y="109950"/>
                </a:moveTo>
                <a:cubicBezTo>
                  <a:pt x="142734" y="106164"/>
                  <a:pt x="142734" y="100043"/>
                  <a:pt x="138948" y="96297"/>
                </a:cubicBezTo>
                <a:lnTo>
                  <a:pt x="80952" y="38261"/>
                </a:lnTo>
                <a:cubicBezTo>
                  <a:pt x="78173" y="35482"/>
                  <a:pt x="74025" y="34677"/>
                  <a:pt x="70400" y="36167"/>
                </a:cubicBezTo>
                <a:cubicBezTo>
                  <a:pt x="66776" y="37657"/>
                  <a:pt x="64440" y="41201"/>
                  <a:pt x="64440" y="45108"/>
                </a:cubicBezTo>
                <a:lnTo>
                  <a:pt x="64440" y="77328"/>
                </a:lnTo>
                <a:lnTo>
                  <a:pt x="19332" y="77328"/>
                </a:lnTo>
                <a:cubicBezTo>
                  <a:pt x="8659" y="77328"/>
                  <a:pt x="0" y="85987"/>
                  <a:pt x="0" y="96660"/>
                </a:cubicBezTo>
                <a:lnTo>
                  <a:pt x="0" y="109548"/>
                </a:lnTo>
                <a:cubicBezTo>
                  <a:pt x="0" y="120220"/>
                  <a:pt x="8659" y="128879"/>
                  <a:pt x="19332" y="128879"/>
                </a:cubicBezTo>
                <a:lnTo>
                  <a:pt x="64440" y="128879"/>
                </a:lnTo>
                <a:lnTo>
                  <a:pt x="64440" y="161099"/>
                </a:lnTo>
                <a:cubicBezTo>
                  <a:pt x="64440" y="165006"/>
                  <a:pt x="66776" y="168550"/>
                  <a:pt x="70400" y="170040"/>
                </a:cubicBezTo>
                <a:cubicBezTo>
                  <a:pt x="74025" y="171531"/>
                  <a:pt x="78173" y="170725"/>
                  <a:pt x="80952" y="167946"/>
                </a:cubicBezTo>
                <a:lnTo>
                  <a:pt x="138948" y="109950"/>
                </a:lnTo>
                <a:close/>
                <a:moveTo>
                  <a:pt x="141767" y="167543"/>
                </a:moveTo>
                <a:cubicBezTo>
                  <a:pt x="134639" y="167543"/>
                  <a:pt x="128879" y="173303"/>
                  <a:pt x="128879" y="180431"/>
                </a:cubicBezTo>
                <a:cubicBezTo>
                  <a:pt x="128879" y="187560"/>
                  <a:pt x="134639" y="193319"/>
                  <a:pt x="141767" y="193319"/>
                </a:cubicBezTo>
                <a:lnTo>
                  <a:pt x="167543" y="193319"/>
                </a:lnTo>
                <a:cubicBezTo>
                  <a:pt x="188889" y="193319"/>
                  <a:pt x="206207" y="176001"/>
                  <a:pt x="206207" y="154655"/>
                </a:cubicBezTo>
                <a:lnTo>
                  <a:pt x="206207" y="51552"/>
                </a:lnTo>
                <a:cubicBezTo>
                  <a:pt x="206207" y="30206"/>
                  <a:pt x="188889" y="12888"/>
                  <a:pt x="167543" y="12888"/>
                </a:cubicBezTo>
                <a:lnTo>
                  <a:pt x="141767" y="12888"/>
                </a:lnTo>
                <a:cubicBezTo>
                  <a:pt x="134639" y="12888"/>
                  <a:pt x="128879" y="18647"/>
                  <a:pt x="128879" y="25776"/>
                </a:cubicBezTo>
                <a:cubicBezTo>
                  <a:pt x="128879" y="32905"/>
                  <a:pt x="134639" y="38664"/>
                  <a:pt x="141767" y="38664"/>
                </a:cubicBezTo>
                <a:lnTo>
                  <a:pt x="167543" y="38664"/>
                </a:lnTo>
                <a:cubicBezTo>
                  <a:pt x="174672" y="38664"/>
                  <a:pt x="180431" y="44423"/>
                  <a:pt x="180431" y="51552"/>
                </a:cubicBezTo>
                <a:lnTo>
                  <a:pt x="180431" y="154655"/>
                </a:lnTo>
                <a:cubicBezTo>
                  <a:pt x="180431" y="161784"/>
                  <a:pt x="174672" y="167543"/>
                  <a:pt x="167543" y="167543"/>
                </a:cubicBezTo>
                <a:lnTo>
                  <a:pt x="141767" y="16754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8891" y="2094382"/>
            <a:ext cx="8477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3181" y="2575532"/>
            <a:ext cx="6032007" cy="59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程序的</a:t>
            </a:r>
            <a:r>
              <a:rPr lang="en-US" sz="144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数据入口 </a:t>
            </a: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，负责从外部系统读取数据并转换为 DataStream。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3181" y="3262890"/>
            <a:ext cx="1065404" cy="320767"/>
          </a:xfrm>
          <a:custGeom>
            <a:avLst/>
            <a:gdLst/>
            <a:ahLst/>
            <a:cxnLst/>
            <a:rect l="l" t="t" r="r" b="b"/>
            <a:pathLst>
              <a:path w="1065404" h="320767">
                <a:moveTo>
                  <a:pt x="0" y="0"/>
                </a:moveTo>
                <a:lnTo>
                  <a:pt x="1065404" y="0"/>
                </a:lnTo>
                <a:lnTo>
                  <a:pt x="1065404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3181" y="3262890"/>
            <a:ext cx="1145595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 Source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90949" y="3262890"/>
            <a:ext cx="1031036" cy="320767"/>
          </a:xfrm>
          <a:custGeom>
            <a:avLst/>
            <a:gdLst/>
            <a:ahLst/>
            <a:cxnLst/>
            <a:rect l="l" t="t" r="r" b="b"/>
            <a:pathLst>
              <a:path w="1031036" h="320767">
                <a:moveTo>
                  <a:pt x="0" y="0"/>
                </a:moveTo>
                <a:lnTo>
                  <a:pt x="1031036" y="0"/>
                </a:lnTo>
                <a:lnTo>
                  <a:pt x="1031036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890949" y="3262890"/>
            <a:ext cx="1111228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1150" y="4626599"/>
            <a:ext cx="45824" cy="1535098"/>
          </a:xfrm>
          <a:custGeom>
            <a:avLst/>
            <a:gdLst/>
            <a:ahLst/>
            <a:cxnLst/>
            <a:rect l="l" t="t" r="r" b="b"/>
            <a:pathLst>
              <a:path w="45824" h="1535098">
                <a:moveTo>
                  <a:pt x="0" y="0"/>
                </a:moveTo>
                <a:lnTo>
                  <a:pt x="45824" y="0"/>
                </a:lnTo>
                <a:lnTo>
                  <a:pt x="45824" y="1535098"/>
                </a:lnTo>
                <a:lnTo>
                  <a:pt x="0" y="153509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3181" y="4764070"/>
            <a:ext cx="458238" cy="458238"/>
          </a:xfrm>
          <a:custGeom>
            <a:avLst/>
            <a:gdLst/>
            <a:ahLst/>
            <a:cxnLst/>
            <a:rect l="l" t="t" r="r" b="b"/>
            <a:pathLst>
              <a:path w="458238" h="458238">
                <a:moveTo>
                  <a:pt x="0" y="0"/>
                </a:moveTo>
                <a:lnTo>
                  <a:pt x="458238" y="0"/>
                </a:lnTo>
                <a:lnTo>
                  <a:pt x="458238" y="458238"/>
                </a:lnTo>
                <a:lnTo>
                  <a:pt x="0" y="45823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2061" y="4890086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202421" y="60654"/>
                </a:moveTo>
                <a:lnTo>
                  <a:pt x="163758" y="99318"/>
                </a:lnTo>
                <a:cubicBezTo>
                  <a:pt x="160052" y="103023"/>
                  <a:pt x="154535" y="104110"/>
                  <a:pt x="149702" y="102097"/>
                </a:cubicBezTo>
                <a:cubicBezTo>
                  <a:pt x="144869" y="100083"/>
                  <a:pt x="141767" y="95411"/>
                  <a:pt x="141767" y="90216"/>
                </a:cubicBezTo>
                <a:lnTo>
                  <a:pt x="141767" y="64440"/>
                </a:lnTo>
                <a:lnTo>
                  <a:pt x="12888" y="64440"/>
                </a:lnTo>
                <a:cubicBezTo>
                  <a:pt x="5759" y="64440"/>
                  <a:pt x="0" y="58680"/>
                  <a:pt x="0" y="51552"/>
                </a:cubicBezTo>
                <a:cubicBezTo>
                  <a:pt x="0" y="44423"/>
                  <a:pt x="5759" y="38664"/>
                  <a:pt x="12888" y="38664"/>
                </a:cubicBezTo>
                <a:lnTo>
                  <a:pt x="141767" y="38664"/>
                </a:lnTo>
                <a:lnTo>
                  <a:pt x="141767" y="12888"/>
                </a:lnTo>
                <a:cubicBezTo>
                  <a:pt x="141767" y="7692"/>
                  <a:pt x="144909" y="2980"/>
                  <a:pt x="149742" y="967"/>
                </a:cubicBezTo>
                <a:cubicBezTo>
                  <a:pt x="154575" y="-1047"/>
                  <a:pt x="160092" y="81"/>
                  <a:pt x="163798" y="3746"/>
                </a:cubicBezTo>
                <a:lnTo>
                  <a:pt x="202462" y="42409"/>
                </a:lnTo>
                <a:cubicBezTo>
                  <a:pt x="207496" y="47444"/>
                  <a:pt x="207496" y="55620"/>
                  <a:pt x="202462" y="60654"/>
                </a:cubicBezTo>
                <a:close/>
                <a:moveTo>
                  <a:pt x="42409" y="202421"/>
                </a:moveTo>
                <a:lnTo>
                  <a:pt x="3746" y="163758"/>
                </a:lnTo>
                <a:cubicBezTo>
                  <a:pt x="-1289" y="158723"/>
                  <a:pt x="-1289" y="150547"/>
                  <a:pt x="3746" y="145513"/>
                </a:cubicBezTo>
                <a:lnTo>
                  <a:pt x="42409" y="106849"/>
                </a:lnTo>
                <a:cubicBezTo>
                  <a:pt x="46115" y="103144"/>
                  <a:pt x="51632" y="102056"/>
                  <a:pt x="56465" y="104070"/>
                </a:cubicBezTo>
                <a:cubicBezTo>
                  <a:pt x="61298" y="106084"/>
                  <a:pt x="64440" y="110796"/>
                  <a:pt x="64440" y="115992"/>
                </a:cubicBezTo>
                <a:lnTo>
                  <a:pt x="64440" y="141767"/>
                </a:lnTo>
                <a:lnTo>
                  <a:pt x="193319" y="141767"/>
                </a:lnTo>
                <a:cubicBezTo>
                  <a:pt x="200448" y="141767"/>
                  <a:pt x="206207" y="147527"/>
                  <a:pt x="206207" y="154655"/>
                </a:cubicBezTo>
                <a:cubicBezTo>
                  <a:pt x="206207" y="161784"/>
                  <a:pt x="200448" y="167543"/>
                  <a:pt x="193319" y="167543"/>
                </a:cubicBezTo>
                <a:lnTo>
                  <a:pt x="64440" y="167543"/>
                </a:lnTo>
                <a:lnTo>
                  <a:pt x="64440" y="193319"/>
                </a:lnTo>
                <a:cubicBezTo>
                  <a:pt x="64440" y="198515"/>
                  <a:pt x="61298" y="203227"/>
                  <a:pt x="56465" y="205241"/>
                </a:cubicBezTo>
                <a:cubicBezTo>
                  <a:pt x="51632" y="207254"/>
                  <a:pt x="46115" y="206127"/>
                  <a:pt x="42409" y="20246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28891" y="4832806"/>
            <a:ext cx="1718393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181" y="5313956"/>
            <a:ext cx="5842537" cy="297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 DataStream 进行</a:t>
            </a:r>
            <a:r>
              <a:rPr lang="en-US" sz="144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转换操作 </a:t>
            </a: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，生成新的 DataStream。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181" y="5703459"/>
            <a:ext cx="824829" cy="320767"/>
          </a:xfrm>
          <a:custGeom>
            <a:avLst/>
            <a:gdLst/>
            <a:ahLst/>
            <a:cxnLst/>
            <a:rect l="l" t="t" r="r" b="b"/>
            <a:pathLst>
              <a:path w="824829" h="320767">
                <a:moveTo>
                  <a:pt x="0" y="0"/>
                </a:moveTo>
                <a:lnTo>
                  <a:pt x="824829" y="0"/>
                </a:lnTo>
                <a:lnTo>
                  <a:pt x="824829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3181" y="5703459"/>
            <a:ext cx="905020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基本转换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49658" y="5703459"/>
            <a:ext cx="824829" cy="320767"/>
          </a:xfrm>
          <a:custGeom>
            <a:avLst/>
            <a:gdLst/>
            <a:ahLst/>
            <a:cxnLst/>
            <a:rect l="l" t="t" r="r" b="b"/>
            <a:pathLst>
              <a:path w="824829" h="320767">
                <a:moveTo>
                  <a:pt x="0" y="0"/>
                </a:moveTo>
                <a:lnTo>
                  <a:pt x="824829" y="0"/>
                </a:lnTo>
                <a:lnTo>
                  <a:pt x="824829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49658" y="5703459"/>
            <a:ext cx="905020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聚合转换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66134" y="5703459"/>
            <a:ext cx="824829" cy="320767"/>
          </a:xfrm>
          <a:custGeom>
            <a:avLst/>
            <a:gdLst/>
            <a:ahLst/>
            <a:cxnLst/>
            <a:rect l="l" t="t" r="r" b="b"/>
            <a:pathLst>
              <a:path w="824829" h="320767">
                <a:moveTo>
                  <a:pt x="0" y="0"/>
                </a:moveTo>
                <a:lnTo>
                  <a:pt x="824829" y="0"/>
                </a:lnTo>
                <a:lnTo>
                  <a:pt x="824829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566134" y="5703459"/>
            <a:ext cx="905020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多流转换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1150" y="7367206"/>
            <a:ext cx="45824" cy="1535098"/>
          </a:xfrm>
          <a:custGeom>
            <a:avLst/>
            <a:gdLst/>
            <a:ahLst/>
            <a:cxnLst/>
            <a:rect l="l" t="t" r="r" b="b"/>
            <a:pathLst>
              <a:path w="45824" h="1535098">
                <a:moveTo>
                  <a:pt x="0" y="0"/>
                </a:moveTo>
                <a:lnTo>
                  <a:pt x="45824" y="0"/>
                </a:lnTo>
                <a:lnTo>
                  <a:pt x="45824" y="1535098"/>
                </a:lnTo>
                <a:lnTo>
                  <a:pt x="0" y="153509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33181" y="7504677"/>
            <a:ext cx="458238" cy="458238"/>
          </a:xfrm>
          <a:custGeom>
            <a:avLst/>
            <a:gdLst/>
            <a:ahLst/>
            <a:cxnLst/>
            <a:rect l="l" t="t" r="r" b="b"/>
            <a:pathLst>
              <a:path w="458238" h="458238">
                <a:moveTo>
                  <a:pt x="0" y="0"/>
                </a:moveTo>
                <a:lnTo>
                  <a:pt x="458238" y="0"/>
                </a:lnTo>
                <a:lnTo>
                  <a:pt x="458238" y="458238"/>
                </a:lnTo>
                <a:lnTo>
                  <a:pt x="0" y="45823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2061" y="7630693"/>
            <a:ext cx="206207" cy="206207"/>
          </a:xfrm>
          <a:custGeom>
            <a:avLst/>
            <a:gdLst/>
            <a:ahLst/>
            <a:cxnLst/>
            <a:rect l="l" t="t" r="r" b="b"/>
            <a:pathLst>
              <a:path w="206207" h="206207">
                <a:moveTo>
                  <a:pt x="203388" y="109950"/>
                </a:moveTo>
                <a:cubicBezTo>
                  <a:pt x="207174" y="106164"/>
                  <a:pt x="207174" y="100043"/>
                  <a:pt x="203388" y="96297"/>
                </a:cubicBezTo>
                <a:lnTo>
                  <a:pt x="145392" y="38261"/>
                </a:lnTo>
                <a:cubicBezTo>
                  <a:pt x="142613" y="35482"/>
                  <a:pt x="138465" y="34677"/>
                  <a:pt x="134840" y="36167"/>
                </a:cubicBezTo>
                <a:cubicBezTo>
                  <a:pt x="131215" y="37657"/>
                  <a:pt x="128879" y="41201"/>
                  <a:pt x="128879" y="45108"/>
                </a:cubicBezTo>
                <a:lnTo>
                  <a:pt x="128879" y="77328"/>
                </a:lnTo>
                <a:lnTo>
                  <a:pt x="83772" y="77328"/>
                </a:lnTo>
                <a:cubicBezTo>
                  <a:pt x="73099" y="77328"/>
                  <a:pt x="64440" y="85987"/>
                  <a:pt x="64440" y="96660"/>
                </a:cubicBezTo>
                <a:lnTo>
                  <a:pt x="64440" y="109548"/>
                </a:lnTo>
                <a:cubicBezTo>
                  <a:pt x="64440" y="120220"/>
                  <a:pt x="73099" y="128879"/>
                  <a:pt x="83772" y="128879"/>
                </a:cubicBezTo>
                <a:lnTo>
                  <a:pt x="128879" y="128879"/>
                </a:lnTo>
                <a:lnTo>
                  <a:pt x="128879" y="161099"/>
                </a:lnTo>
                <a:cubicBezTo>
                  <a:pt x="128879" y="165006"/>
                  <a:pt x="131215" y="168550"/>
                  <a:pt x="134840" y="170040"/>
                </a:cubicBezTo>
                <a:cubicBezTo>
                  <a:pt x="138465" y="171531"/>
                  <a:pt x="142613" y="170725"/>
                  <a:pt x="145392" y="167946"/>
                </a:cubicBezTo>
                <a:lnTo>
                  <a:pt x="203388" y="109950"/>
                </a:lnTo>
                <a:close/>
                <a:moveTo>
                  <a:pt x="64440" y="38664"/>
                </a:moveTo>
                <a:cubicBezTo>
                  <a:pt x="71568" y="38664"/>
                  <a:pt x="77328" y="32905"/>
                  <a:pt x="77328" y="25776"/>
                </a:cubicBezTo>
                <a:cubicBezTo>
                  <a:pt x="77328" y="18647"/>
                  <a:pt x="71568" y="12888"/>
                  <a:pt x="64440" y="12888"/>
                </a:cubicBezTo>
                <a:lnTo>
                  <a:pt x="38664" y="12888"/>
                </a:lnTo>
                <a:cubicBezTo>
                  <a:pt x="17318" y="12888"/>
                  <a:pt x="0" y="30206"/>
                  <a:pt x="0" y="51552"/>
                </a:cubicBezTo>
                <a:lnTo>
                  <a:pt x="0" y="154655"/>
                </a:lnTo>
                <a:cubicBezTo>
                  <a:pt x="0" y="176001"/>
                  <a:pt x="17318" y="193319"/>
                  <a:pt x="38664" y="193319"/>
                </a:cubicBezTo>
                <a:lnTo>
                  <a:pt x="64440" y="193319"/>
                </a:lnTo>
                <a:cubicBezTo>
                  <a:pt x="71568" y="193319"/>
                  <a:pt x="77328" y="187560"/>
                  <a:pt x="77328" y="180431"/>
                </a:cubicBezTo>
                <a:cubicBezTo>
                  <a:pt x="77328" y="173303"/>
                  <a:pt x="71568" y="167543"/>
                  <a:pt x="64440" y="167543"/>
                </a:cubicBezTo>
                <a:lnTo>
                  <a:pt x="38664" y="167543"/>
                </a:lnTo>
                <a:cubicBezTo>
                  <a:pt x="31535" y="167543"/>
                  <a:pt x="25776" y="161784"/>
                  <a:pt x="25776" y="154655"/>
                </a:cubicBezTo>
                <a:lnTo>
                  <a:pt x="25776" y="51552"/>
                </a:lnTo>
                <a:cubicBezTo>
                  <a:pt x="25776" y="44423"/>
                  <a:pt x="31535" y="38664"/>
                  <a:pt x="38664" y="38664"/>
                </a:cubicBezTo>
                <a:lnTo>
                  <a:pt x="64440" y="3866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328891" y="7573413"/>
            <a:ext cx="549886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3181" y="8054563"/>
            <a:ext cx="5842537" cy="297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程序的</a:t>
            </a:r>
            <a:r>
              <a:rPr lang="en-US" sz="144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数据出口 </a:t>
            </a: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，负责将计算结果写入外部系统。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181" y="8444066"/>
            <a:ext cx="595710" cy="320767"/>
          </a:xfrm>
          <a:custGeom>
            <a:avLst/>
            <a:gdLst/>
            <a:ahLst/>
            <a:cxnLst/>
            <a:rect l="l" t="t" r="r" b="b"/>
            <a:pathLst>
              <a:path w="595710" h="320767">
                <a:moveTo>
                  <a:pt x="0" y="0"/>
                </a:moveTo>
                <a:lnTo>
                  <a:pt x="595710" y="0"/>
                </a:lnTo>
                <a:lnTo>
                  <a:pt x="595710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33181" y="8444066"/>
            <a:ext cx="675901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18122" y="8444066"/>
            <a:ext cx="595710" cy="320767"/>
          </a:xfrm>
          <a:custGeom>
            <a:avLst/>
            <a:gdLst/>
            <a:ahLst/>
            <a:cxnLst/>
            <a:rect l="l" t="t" r="r" b="b"/>
            <a:pathLst>
              <a:path w="595710" h="320767">
                <a:moveTo>
                  <a:pt x="0" y="0"/>
                </a:moveTo>
                <a:lnTo>
                  <a:pt x="595710" y="0"/>
                </a:lnTo>
                <a:lnTo>
                  <a:pt x="595710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418122" y="8444066"/>
            <a:ext cx="675901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04942" y="8444066"/>
            <a:ext cx="446782" cy="320767"/>
          </a:xfrm>
          <a:custGeom>
            <a:avLst/>
            <a:gdLst/>
            <a:ahLst/>
            <a:cxnLst/>
            <a:rect l="l" t="t" r="r" b="b"/>
            <a:pathLst>
              <a:path w="446782" h="320767">
                <a:moveTo>
                  <a:pt x="0" y="0"/>
                </a:moveTo>
                <a:lnTo>
                  <a:pt x="446782" y="0"/>
                </a:lnTo>
                <a:lnTo>
                  <a:pt x="446782" y="320767"/>
                </a:lnTo>
                <a:lnTo>
                  <a:pt x="0" y="320767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104942" y="8444066"/>
            <a:ext cx="526974" cy="320767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5189" y="1884697"/>
            <a:ext cx="9015837" cy="7017607"/>
          </a:xfrm>
          <a:custGeom>
            <a:avLst/>
            <a:gdLst/>
            <a:ahLst/>
            <a:cxnLst/>
            <a:rect l="l" t="t" r="r" b="b"/>
            <a:pathLst>
              <a:path w="9015837" h="7400547">
                <a:moveTo>
                  <a:pt x="0" y="0"/>
                </a:moveTo>
                <a:lnTo>
                  <a:pt x="9015837" y="0"/>
                </a:lnTo>
                <a:lnTo>
                  <a:pt x="9015837" y="7400547"/>
                </a:lnTo>
                <a:lnTo>
                  <a:pt x="0" y="740054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022948" y="2286046"/>
            <a:ext cx="309311" cy="274943"/>
          </a:xfrm>
          <a:custGeom>
            <a:avLst/>
            <a:gdLst/>
            <a:ahLst/>
            <a:cxnLst/>
            <a:rect l="l" t="t" r="r" b="b"/>
            <a:pathLst>
              <a:path w="309311" h="274943">
                <a:moveTo>
                  <a:pt x="193749" y="644"/>
                </a:moveTo>
                <a:cubicBezTo>
                  <a:pt x="184620" y="-1987"/>
                  <a:pt x="175115" y="3329"/>
                  <a:pt x="172484" y="12458"/>
                </a:cubicBezTo>
                <a:lnTo>
                  <a:pt x="103748" y="253033"/>
                </a:lnTo>
                <a:cubicBezTo>
                  <a:pt x="101117" y="262162"/>
                  <a:pt x="106433" y="271667"/>
                  <a:pt x="115562" y="274299"/>
                </a:cubicBezTo>
                <a:cubicBezTo>
                  <a:pt x="124691" y="276930"/>
                  <a:pt x="134196" y="271614"/>
                  <a:pt x="136827" y="262485"/>
                </a:cubicBezTo>
                <a:lnTo>
                  <a:pt x="205563" y="21910"/>
                </a:lnTo>
                <a:cubicBezTo>
                  <a:pt x="208194" y="12781"/>
                  <a:pt x="202878" y="3276"/>
                  <a:pt x="193749" y="644"/>
                </a:cubicBezTo>
                <a:close/>
                <a:moveTo>
                  <a:pt x="228439" y="73730"/>
                </a:moveTo>
                <a:cubicBezTo>
                  <a:pt x="221726" y="80442"/>
                  <a:pt x="221726" y="91343"/>
                  <a:pt x="228439" y="98056"/>
                </a:cubicBezTo>
                <a:lnTo>
                  <a:pt x="267855" y="137471"/>
                </a:lnTo>
                <a:lnTo>
                  <a:pt x="228439" y="176887"/>
                </a:lnTo>
                <a:cubicBezTo>
                  <a:pt x="221726" y="183600"/>
                  <a:pt x="221726" y="194501"/>
                  <a:pt x="228439" y="201213"/>
                </a:cubicBezTo>
                <a:cubicBezTo>
                  <a:pt x="235151" y="207926"/>
                  <a:pt x="246052" y="207926"/>
                  <a:pt x="252765" y="201213"/>
                </a:cubicBezTo>
                <a:lnTo>
                  <a:pt x="304317" y="149661"/>
                </a:lnTo>
                <a:cubicBezTo>
                  <a:pt x="311029" y="142949"/>
                  <a:pt x="311029" y="132048"/>
                  <a:pt x="304317" y="125335"/>
                </a:cubicBezTo>
                <a:lnTo>
                  <a:pt x="252765" y="73784"/>
                </a:lnTo>
                <a:cubicBezTo>
                  <a:pt x="246052" y="67071"/>
                  <a:pt x="235151" y="67071"/>
                  <a:pt x="228439" y="73784"/>
                </a:cubicBezTo>
                <a:close/>
                <a:moveTo>
                  <a:pt x="80926" y="73730"/>
                </a:moveTo>
                <a:cubicBezTo>
                  <a:pt x="74213" y="67017"/>
                  <a:pt x="63312" y="67017"/>
                  <a:pt x="56600" y="73730"/>
                </a:cubicBezTo>
                <a:lnTo>
                  <a:pt x="5048" y="125282"/>
                </a:lnTo>
                <a:cubicBezTo>
                  <a:pt x="-1665" y="131994"/>
                  <a:pt x="-1665" y="142895"/>
                  <a:pt x="5048" y="149608"/>
                </a:cubicBezTo>
                <a:lnTo>
                  <a:pt x="56600" y="201159"/>
                </a:lnTo>
                <a:cubicBezTo>
                  <a:pt x="63312" y="207872"/>
                  <a:pt x="74213" y="207872"/>
                  <a:pt x="80926" y="201159"/>
                </a:cubicBezTo>
                <a:cubicBezTo>
                  <a:pt x="87638" y="194447"/>
                  <a:pt x="87638" y="183546"/>
                  <a:pt x="80926" y="176833"/>
                </a:cubicBezTo>
                <a:lnTo>
                  <a:pt x="41510" y="137471"/>
                </a:lnTo>
                <a:lnTo>
                  <a:pt x="80872" y="98056"/>
                </a:lnTo>
                <a:cubicBezTo>
                  <a:pt x="87584" y="91343"/>
                  <a:pt x="87584" y="80442"/>
                  <a:pt x="80872" y="7373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349443" y="2240222"/>
            <a:ext cx="8328479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5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代码示例：WordCount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17220" y="2801564"/>
            <a:ext cx="8511774" cy="5086444"/>
          </a:xfrm>
          <a:custGeom>
            <a:avLst/>
            <a:gdLst/>
            <a:ahLst/>
            <a:cxnLst/>
            <a:rect l="l" t="t" r="r" b="b"/>
            <a:pathLst>
              <a:path w="8511774" h="5086444">
                <a:moveTo>
                  <a:pt x="0" y="0"/>
                </a:moveTo>
                <a:lnTo>
                  <a:pt x="8511774" y="0"/>
                </a:lnTo>
                <a:lnTo>
                  <a:pt x="8511774" y="5086444"/>
                </a:lnTo>
                <a:lnTo>
                  <a:pt x="0" y="508644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211971" y="2996315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创建执行环境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11971" y="3256938"/>
            <a:ext cx="8202464" cy="52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StreamExecutionEnvironment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env = 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StreamExecutionEnvironment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getExecutionEnvironment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11971" y="4038807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Source: 读取数据源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11971" y="4299430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source = env.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readTextFile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"input.txt"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11971" y="4820676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Transformation: 转换操作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11971" y="5081299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WordCount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counts = source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11971" y="5341922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flatMap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Tokenizer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()) </a:t>
            </a: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分词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11971" y="5602545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(value -&gt; value.word) </a:t>
            </a: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按单词分组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11971" y="5863168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"count"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</a:t>
            </a: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统计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11971" y="6384414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4. Sink: 输出结果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11971" y="6645037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counts.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11971" y="7166283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5. 执行作业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11971" y="7426906"/>
            <a:ext cx="820246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env.</a:t>
            </a:r>
            <a:r>
              <a:rPr lang="en-US" sz="1263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"WordCount Example"</a:t>
            </a:r>
            <a:r>
              <a:rPr lang="en-US" sz="126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017220" y="8077031"/>
            <a:ext cx="8523230" cy="549886"/>
          </a:xfrm>
          <a:custGeom>
            <a:avLst/>
            <a:gdLst/>
            <a:ahLst/>
            <a:cxnLst/>
            <a:rect l="l" t="t" r="r" b="b"/>
            <a:pathLst>
              <a:path w="8523230" h="549886">
                <a:moveTo>
                  <a:pt x="0" y="0"/>
                </a:moveTo>
                <a:lnTo>
                  <a:pt x="8523230" y="0"/>
                </a:lnTo>
                <a:lnTo>
                  <a:pt x="8523230" y="549886"/>
                </a:lnTo>
                <a:lnTo>
                  <a:pt x="0" y="549886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017220" y="8077031"/>
            <a:ext cx="22912" cy="549886"/>
          </a:xfrm>
          <a:custGeom>
            <a:avLst/>
            <a:gdLst/>
            <a:ahLst/>
            <a:cxnLst/>
            <a:rect l="l" t="t" r="r" b="b"/>
            <a:pathLst>
              <a:path w="22912" h="549886">
                <a:moveTo>
                  <a:pt x="0" y="0"/>
                </a:moveTo>
                <a:lnTo>
                  <a:pt x="22912" y="0"/>
                </a:lnTo>
                <a:lnTo>
                  <a:pt x="22912" y="549886"/>
                </a:lnTo>
                <a:lnTo>
                  <a:pt x="0" y="549886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7189059" y="8266054"/>
            <a:ext cx="183295" cy="183295"/>
          </a:xfrm>
          <a:custGeom>
            <a:avLst/>
            <a:gdLst/>
            <a:ahLst/>
            <a:cxnLst/>
            <a:rect l="l" t="t" r="r" b="b"/>
            <a:pathLst>
              <a:path w="183295" h="183295">
                <a:moveTo>
                  <a:pt x="91648" y="183295"/>
                </a:moveTo>
                <a:cubicBezTo>
                  <a:pt x="142229" y="183295"/>
                  <a:pt x="183295" y="142229"/>
                  <a:pt x="183295" y="91648"/>
                </a:cubicBezTo>
                <a:cubicBezTo>
                  <a:pt x="183295" y="41066"/>
                  <a:pt x="142229" y="0"/>
                  <a:pt x="91648" y="0"/>
                </a:cubicBezTo>
                <a:cubicBezTo>
                  <a:pt x="41066" y="0"/>
                  <a:pt x="0" y="41066"/>
                  <a:pt x="0" y="91648"/>
                </a:cubicBezTo>
                <a:cubicBezTo>
                  <a:pt x="0" y="142229"/>
                  <a:pt x="41066" y="183295"/>
                  <a:pt x="91648" y="183295"/>
                </a:cubicBezTo>
                <a:close/>
                <a:moveTo>
                  <a:pt x="80192" y="57280"/>
                </a:moveTo>
                <a:cubicBezTo>
                  <a:pt x="80192" y="50957"/>
                  <a:pt x="85325" y="45824"/>
                  <a:pt x="91648" y="45824"/>
                </a:cubicBezTo>
                <a:cubicBezTo>
                  <a:pt x="97970" y="45824"/>
                  <a:pt x="103104" y="50957"/>
                  <a:pt x="103104" y="57280"/>
                </a:cubicBezTo>
                <a:cubicBezTo>
                  <a:pt x="103104" y="63602"/>
                  <a:pt x="97970" y="68736"/>
                  <a:pt x="91648" y="68736"/>
                </a:cubicBezTo>
                <a:cubicBezTo>
                  <a:pt x="85325" y="68736"/>
                  <a:pt x="80192" y="63602"/>
                  <a:pt x="80192" y="57280"/>
                </a:cubicBezTo>
                <a:close/>
                <a:moveTo>
                  <a:pt x="77328" y="80192"/>
                </a:moveTo>
                <a:lnTo>
                  <a:pt x="94512" y="80192"/>
                </a:lnTo>
                <a:cubicBezTo>
                  <a:pt x="99273" y="80192"/>
                  <a:pt x="103104" y="84022"/>
                  <a:pt x="103104" y="88784"/>
                </a:cubicBezTo>
                <a:lnTo>
                  <a:pt x="103104" y="120288"/>
                </a:lnTo>
                <a:lnTo>
                  <a:pt x="105968" y="120288"/>
                </a:lnTo>
                <a:cubicBezTo>
                  <a:pt x="110729" y="120288"/>
                  <a:pt x="114560" y="124118"/>
                  <a:pt x="114560" y="128879"/>
                </a:cubicBezTo>
                <a:cubicBezTo>
                  <a:pt x="114560" y="133641"/>
                  <a:pt x="110729" y="137471"/>
                  <a:pt x="105968" y="137471"/>
                </a:cubicBezTo>
                <a:lnTo>
                  <a:pt x="77328" y="137471"/>
                </a:lnTo>
                <a:cubicBezTo>
                  <a:pt x="72566" y="137471"/>
                  <a:pt x="68736" y="133641"/>
                  <a:pt x="68736" y="128879"/>
                </a:cubicBezTo>
                <a:cubicBezTo>
                  <a:pt x="68736" y="124118"/>
                  <a:pt x="72566" y="120288"/>
                  <a:pt x="77328" y="120288"/>
                </a:cubicBezTo>
                <a:lnTo>
                  <a:pt x="85920" y="120288"/>
                </a:lnTo>
                <a:lnTo>
                  <a:pt x="85920" y="97376"/>
                </a:lnTo>
                <a:lnTo>
                  <a:pt x="77328" y="97376"/>
                </a:lnTo>
                <a:cubicBezTo>
                  <a:pt x="72566" y="97376"/>
                  <a:pt x="68736" y="93545"/>
                  <a:pt x="68736" y="88784"/>
                </a:cubicBezTo>
                <a:cubicBezTo>
                  <a:pt x="68736" y="84022"/>
                  <a:pt x="72566" y="80192"/>
                  <a:pt x="77328" y="80192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7477937" y="8214503"/>
            <a:ext cx="8016690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程序本质是一个</a:t>
            </a:r>
            <a:r>
              <a:rPr lang="en-US" sz="144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分布式数据流图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6600" y="609600"/>
            <a:ext cx="146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2.2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数据源 (Data Sources)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288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程序的数据入口，支持多种数据源类型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489200"/>
            <a:ext cx="7442200" cy="6375400"/>
          </a:xfrm>
          <a:custGeom>
            <a:avLst/>
            <a:gdLst/>
            <a:ahLst/>
            <a:cxnLst/>
            <a:rect l="l" t="t" r="r" b="b"/>
            <a:pathLst>
              <a:path w="7442200" h="6375400">
                <a:moveTo>
                  <a:pt x="0" y="0"/>
                </a:moveTo>
                <a:lnTo>
                  <a:pt x="7442200" y="0"/>
                </a:lnTo>
                <a:lnTo>
                  <a:pt x="7442200" y="6375400"/>
                </a:lnTo>
                <a:lnTo>
                  <a:pt x="0" y="63754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489200"/>
            <a:ext cx="50800" cy="6375400"/>
          </a:xfrm>
          <a:custGeom>
            <a:avLst/>
            <a:gdLst/>
            <a:ahLst/>
            <a:cxnLst/>
            <a:rect l="l" t="t" r="r" b="b"/>
            <a:pathLst>
              <a:path w="50800" h="6375400">
                <a:moveTo>
                  <a:pt x="0" y="0"/>
                </a:moveTo>
                <a:lnTo>
                  <a:pt x="50800" y="0"/>
                </a:lnTo>
                <a:lnTo>
                  <a:pt x="50800" y="6375400"/>
                </a:lnTo>
                <a:lnTo>
                  <a:pt x="0" y="63754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69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41400" y="2870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5541" y="15875"/>
                </a:moveTo>
                <a:cubicBezTo>
                  <a:pt x="29716" y="15875"/>
                  <a:pt x="16321" y="27484"/>
                  <a:pt x="14089" y="43111"/>
                </a:cubicBezTo>
                <a:lnTo>
                  <a:pt x="298" y="139502"/>
                </a:lnTo>
                <a:cubicBezTo>
                  <a:pt x="99" y="140990"/>
                  <a:pt x="0" y="142478"/>
                  <a:pt x="0" y="144016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222250" y="238125"/>
                </a:lnTo>
                <a:cubicBezTo>
                  <a:pt x="239762" y="238125"/>
                  <a:pt x="254000" y="223887"/>
                  <a:pt x="254000" y="206375"/>
                </a:cubicBezTo>
                <a:lnTo>
                  <a:pt x="254000" y="144016"/>
                </a:lnTo>
                <a:cubicBezTo>
                  <a:pt x="254000" y="142528"/>
                  <a:pt x="253901" y="140990"/>
                  <a:pt x="253702" y="139502"/>
                </a:cubicBezTo>
                <a:lnTo>
                  <a:pt x="239911" y="43111"/>
                </a:lnTo>
                <a:cubicBezTo>
                  <a:pt x="237679" y="27484"/>
                  <a:pt x="224284" y="15875"/>
                  <a:pt x="208459" y="15875"/>
                </a:cubicBezTo>
                <a:lnTo>
                  <a:pt x="45541" y="15875"/>
                </a:lnTo>
                <a:close/>
                <a:moveTo>
                  <a:pt x="45541" y="47625"/>
                </a:moveTo>
                <a:lnTo>
                  <a:pt x="208508" y="47625"/>
                </a:lnTo>
                <a:lnTo>
                  <a:pt x="222101" y="142875"/>
                </a:lnTo>
                <a:lnTo>
                  <a:pt x="192385" y="142875"/>
                </a:lnTo>
                <a:cubicBezTo>
                  <a:pt x="186382" y="142875"/>
                  <a:pt x="180876" y="146248"/>
                  <a:pt x="178197" y="151656"/>
                </a:cubicBezTo>
                <a:lnTo>
                  <a:pt x="171103" y="165844"/>
                </a:lnTo>
                <a:cubicBezTo>
                  <a:pt x="168424" y="171202"/>
                  <a:pt x="162917" y="174625"/>
                  <a:pt x="156914" y="174625"/>
                </a:cubicBezTo>
                <a:lnTo>
                  <a:pt x="97185" y="174625"/>
                </a:lnTo>
                <a:cubicBezTo>
                  <a:pt x="91182" y="174625"/>
                  <a:pt x="85675" y="171252"/>
                  <a:pt x="82996" y="165844"/>
                </a:cubicBezTo>
                <a:lnTo>
                  <a:pt x="75902" y="151656"/>
                </a:lnTo>
                <a:cubicBezTo>
                  <a:pt x="73223" y="146298"/>
                  <a:pt x="67717" y="142875"/>
                  <a:pt x="61714" y="142875"/>
                </a:cubicBezTo>
                <a:lnTo>
                  <a:pt x="31899" y="142875"/>
                </a:lnTo>
                <a:lnTo>
                  <a:pt x="45541" y="4762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25600" y="2768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35052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测试、调试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和简单场景，快速验证数据处理逻辑。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" y="4038600"/>
            <a:ext cx="7099300" cy="1193800"/>
          </a:xfrm>
          <a:custGeom>
            <a:avLst/>
            <a:gdLst/>
            <a:ahLst/>
            <a:cxnLst/>
            <a:rect l="l" t="t" r="r" b="b"/>
            <a:pathLst>
              <a:path w="7099300" h="1193800">
                <a:moveTo>
                  <a:pt x="0" y="0"/>
                </a:moveTo>
                <a:lnTo>
                  <a:pt x="7099300" y="0"/>
                </a:lnTo>
                <a:lnTo>
                  <a:pt x="7099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76300" y="4038600"/>
            <a:ext cx="25400" cy="1193800"/>
          </a:xfrm>
          <a:custGeom>
            <a:avLst/>
            <a:gdLst/>
            <a:ahLst/>
            <a:cxnLst/>
            <a:rect l="l" t="t" r="r" b="b"/>
            <a:pathLst>
              <a:path w="25400" h="1193800">
                <a:moveTo>
                  <a:pt x="0" y="0"/>
                </a:moveTo>
                <a:lnTo>
                  <a:pt x="25400" y="0"/>
                </a:lnTo>
                <a:lnTo>
                  <a:pt x="254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123950" y="430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" y="21431"/>
                </a:moveTo>
                <a:cubicBezTo>
                  <a:pt x="11921" y="21431"/>
                  <a:pt x="7144" y="26209"/>
                  <a:pt x="7144" y="32147"/>
                </a:cubicBezTo>
                <a:lnTo>
                  <a:pt x="7144" y="53578"/>
                </a:lnTo>
                <a:cubicBezTo>
                  <a:pt x="7144" y="59516"/>
                  <a:pt x="11921" y="64294"/>
                  <a:pt x="17859" y="64294"/>
                </a:cubicBezTo>
                <a:lnTo>
                  <a:pt x="39291" y="64294"/>
                </a:lnTo>
                <a:cubicBezTo>
                  <a:pt x="45229" y="64294"/>
                  <a:pt x="50006" y="59516"/>
                  <a:pt x="50006" y="53578"/>
                </a:cubicBezTo>
                <a:lnTo>
                  <a:pt x="50006" y="32147"/>
                </a:lnTo>
                <a:cubicBezTo>
                  <a:pt x="50006" y="26209"/>
                  <a:pt x="45229" y="21431"/>
                  <a:pt x="39291" y="21431"/>
                </a:cubicBezTo>
                <a:lnTo>
                  <a:pt x="17859" y="21431"/>
                </a:ln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7144" y="103584"/>
                </a:moveTo>
                <a:lnTo>
                  <a:pt x="7144" y="125016"/>
                </a:lnTo>
                <a:cubicBezTo>
                  <a:pt x="7144" y="130954"/>
                  <a:pt x="11921" y="135731"/>
                  <a:pt x="17859" y="135731"/>
                </a:cubicBezTo>
                <a:lnTo>
                  <a:pt x="39291" y="135731"/>
                </a:lnTo>
                <a:cubicBezTo>
                  <a:pt x="45229" y="135731"/>
                  <a:pt x="50006" y="130954"/>
                  <a:pt x="50006" y="125016"/>
                </a:cubicBezTo>
                <a:lnTo>
                  <a:pt x="50006" y="103584"/>
                </a:lnTo>
                <a:cubicBezTo>
                  <a:pt x="50006" y="97646"/>
                  <a:pt x="45229" y="92869"/>
                  <a:pt x="39291" y="92869"/>
                </a:cubicBezTo>
                <a:lnTo>
                  <a:pt x="17859" y="92869"/>
                </a:lnTo>
                <a:cubicBezTo>
                  <a:pt x="11921" y="92869"/>
                  <a:pt x="7144" y="97646"/>
                  <a:pt x="7144" y="103584"/>
                </a:cubicBezTo>
                <a:close/>
                <a:moveTo>
                  <a:pt x="17859" y="164306"/>
                </a:moveTo>
                <a:cubicBezTo>
                  <a:pt x="11921" y="164306"/>
                  <a:pt x="7144" y="169084"/>
                  <a:pt x="7144" y="175022"/>
                </a:cubicBezTo>
                <a:lnTo>
                  <a:pt x="7144" y="196453"/>
                </a:lnTo>
                <a:cubicBezTo>
                  <a:pt x="7144" y="202391"/>
                  <a:pt x="11921" y="207169"/>
                  <a:pt x="17859" y="207169"/>
                </a:cubicBezTo>
                <a:lnTo>
                  <a:pt x="39291" y="207169"/>
                </a:lnTo>
                <a:cubicBezTo>
                  <a:pt x="45229" y="207169"/>
                  <a:pt x="50006" y="202391"/>
                  <a:pt x="50006" y="196453"/>
                </a:cubicBezTo>
                <a:lnTo>
                  <a:pt x="50006" y="175022"/>
                </a:lnTo>
                <a:cubicBezTo>
                  <a:pt x="50006" y="169084"/>
                  <a:pt x="45229" y="164306"/>
                  <a:pt x="39291" y="164306"/>
                </a:cubicBezTo>
                <a:lnTo>
                  <a:pt x="17859" y="164306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84300" y="42418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fromCollection(Collection)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" y="4699000"/>
            <a:ext cx="678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Java 集合读取数据，适用于单元测试和简单测试场景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6300" y="5384800"/>
            <a:ext cx="7099300" cy="1193800"/>
          </a:xfrm>
          <a:custGeom>
            <a:avLst/>
            <a:gdLst/>
            <a:ahLst/>
            <a:cxnLst/>
            <a:rect l="l" t="t" r="r" b="b"/>
            <a:pathLst>
              <a:path w="7099300" h="1193800">
                <a:moveTo>
                  <a:pt x="0" y="0"/>
                </a:moveTo>
                <a:lnTo>
                  <a:pt x="7099300" y="0"/>
                </a:lnTo>
                <a:lnTo>
                  <a:pt x="7099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76300" y="5384800"/>
            <a:ext cx="25400" cy="1193800"/>
          </a:xfrm>
          <a:custGeom>
            <a:avLst/>
            <a:gdLst/>
            <a:ahLst/>
            <a:cxnLst/>
            <a:rect l="l" t="t" r="r" b="b"/>
            <a:pathLst>
              <a:path w="25400" h="1193800">
                <a:moveTo>
                  <a:pt x="0" y="0"/>
                </a:moveTo>
                <a:lnTo>
                  <a:pt x="25400" y="0"/>
                </a:lnTo>
                <a:lnTo>
                  <a:pt x="254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52525" y="5651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384300" y="55880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readTextFile(path)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" y="6045200"/>
            <a:ext cx="678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从文本文件读取数据，逐行解析为字符串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6300" y="6731000"/>
            <a:ext cx="7099300" cy="1193800"/>
          </a:xfrm>
          <a:custGeom>
            <a:avLst/>
            <a:gdLst/>
            <a:ahLst/>
            <a:cxnLst/>
            <a:rect l="l" t="t" r="r" b="b"/>
            <a:pathLst>
              <a:path w="7099300" h="1193800">
                <a:moveTo>
                  <a:pt x="0" y="0"/>
                </a:moveTo>
                <a:lnTo>
                  <a:pt x="7099300" y="0"/>
                </a:lnTo>
                <a:lnTo>
                  <a:pt x="7099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76300" y="6731000"/>
            <a:ext cx="25400" cy="1193800"/>
          </a:xfrm>
          <a:custGeom>
            <a:avLst/>
            <a:gdLst/>
            <a:ahLst/>
            <a:cxnLst/>
            <a:rect l="l" t="t" r="r" b="b"/>
            <a:pathLst>
              <a:path w="25400" h="1193800">
                <a:moveTo>
                  <a:pt x="0" y="0"/>
                </a:moveTo>
                <a:lnTo>
                  <a:pt x="25400" y="0"/>
                </a:lnTo>
                <a:lnTo>
                  <a:pt x="254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38238" y="6997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384300" y="69342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socketTextStream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" y="7391400"/>
            <a:ext cx="678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Socket 端口读取数据，适用于简单的网络数据源测试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05800" y="2489200"/>
            <a:ext cx="7442200" cy="6375400"/>
          </a:xfrm>
          <a:custGeom>
            <a:avLst/>
            <a:gdLst/>
            <a:ahLst/>
            <a:cxnLst/>
            <a:rect l="l" t="t" r="r" b="b"/>
            <a:pathLst>
              <a:path w="7442200" h="6375400">
                <a:moveTo>
                  <a:pt x="0" y="0"/>
                </a:moveTo>
                <a:lnTo>
                  <a:pt x="7442200" y="0"/>
                </a:lnTo>
                <a:lnTo>
                  <a:pt x="7442200" y="6375400"/>
                </a:lnTo>
                <a:lnTo>
                  <a:pt x="0" y="63754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05800" y="2489200"/>
            <a:ext cx="50800" cy="6375400"/>
          </a:xfrm>
          <a:custGeom>
            <a:avLst/>
            <a:gdLst/>
            <a:ahLst/>
            <a:cxnLst/>
            <a:rect l="l" t="t" r="r" b="b"/>
            <a:pathLst>
              <a:path w="50800" h="6375400">
                <a:moveTo>
                  <a:pt x="0" y="0"/>
                </a:moveTo>
                <a:lnTo>
                  <a:pt x="50800" y="0"/>
                </a:lnTo>
                <a:lnTo>
                  <a:pt x="50800" y="6375400"/>
                </a:lnTo>
                <a:lnTo>
                  <a:pt x="0" y="63754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36000" y="269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797925" y="2870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398000" y="2768600"/>
            <a:ext cx="219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35052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适用于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生产环境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，提供与外部系统的可靠连接和容错保障。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48700" y="4038600"/>
            <a:ext cx="7099300" cy="1930400"/>
          </a:xfrm>
          <a:custGeom>
            <a:avLst/>
            <a:gdLst/>
            <a:ahLst/>
            <a:cxnLst/>
            <a:rect l="l" t="t" r="r" b="b"/>
            <a:pathLst>
              <a:path w="7099300" h="1930400">
                <a:moveTo>
                  <a:pt x="0" y="0"/>
                </a:moveTo>
                <a:lnTo>
                  <a:pt x="7099300" y="0"/>
                </a:lnTo>
                <a:lnTo>
                  <a:pt x="70993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648700" y="4038600"/>
            <a:ext cx="25400" cy="1930400"/>
          </a:xfrm>
          <a:custGeom>
            <a:avLst/>
            <a:gdLst/>
            <a:ahLst/>
            <a:cxnLst/>
            <a:rect l="l" t="t" r="r" b="b"/>
            <a:pathLst>
              <a:path w="25400" h="1930400">
                <a:moveTo>
                  <a:pt x="0" y="0"/>
                </a:moveTo>
                <a:lnTo>
                  <a:pt x="25400" y="0"/>
                </a:lnTo>
                <a:lnTo>
                  <a:pt x="254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896350" y="430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156700" y="42418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 Source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64600" y="4699000"/>
            <a:ext cx="678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生产环境最常用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Source，支持精确一次语义、动态分区发现、偏移量管理。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864600" y="54610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914400" y="0"/>
                </a:ln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864600" y="5461000"/>
            <a:ext cx="1003300" cy="3048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精确一次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880600" y="54610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0"/>
                </a:moveTo>
                <a:lnTo>
                  <a:pt x="914400" y="0"/>
                </a:lnTo>
                <a:lnTo>
                  <a:pt x="9144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880600" y="5461000"/>
            <a:ext cx="1003300" cy="3048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动态分区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96600" y="5461000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0" y="0"/>
                </a:moveTo>
                <a:lnTo>
                  <a:pt x="558800" y="0"/>
                </a:lnTo>
                <a:lnTo>
                  <a:pt x="558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896600" y="5461000"/>
            <a:ext cx="647700" cy="3048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48700" y="6121400"/>
            <a:ext cx="7099300" cy="1193800"/>
          </a:xfrm>
          <a:custGeom>
            <a:avLst/>
            <a:gdLst/>
            <a:ahLst/>
            <a:cxnLst/>
            <a:rect l="l" t="t" r="r" b="b"/>
            <a:pathLst>
              <a:path w="7099300" h="1193800">
                <a:moveTo>
                  <a:pt x="0" y="0"/>
                </a:moveTo>
                <a:lnTo>
                  <a:pt x="7099300" y="0"/>
                </a:lnTo>
                <a:lnTo>
                  <a:pt x="7099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648700" y="6121400"/>
            <a:ext cx="25400" cy="1193800"/>
          </a:xfrm>
          <a:custGeom>
            <a:avLst/>
            <a:gdLst/>
            <a:ahLst/>
            <a:cxnLst/>
            <a:rect l="l" t="t" r="r" b="b"/>
            <a:pathLst>
              <a:path w="25400" h="1193800">
                <a:moveTo>
                  <a:pt x="0" y="0"/>
                </a:moveTo>
                <a:lnTo>
                  <a:pt x="25400" y="0"/>
                </a:lnTo>
                <a:lnTo>
                  <a:pt x="254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910638" y="6388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156700" y="63246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FileSystem Source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64600" y="6781800"/>
            <a:ext cx="678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HDFS、S3 等分布式文件系统，支持多种文件格式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48700" y="7467600"/>
            <a:ext cx="7099300" cy="1193800"/>
          </a:xfrm>
          <a:custGeom>
            <a:avLst/>
            <a:gdLst/>
            <a:ahLst/>
            <a:cxnLst/>
            <a:rect l="l" t="t" r="r" b="b"/>
            <a:pathLst>
              <a:path w="7099300" h="1193800">
                <a:moveTo>
                  <a:pt x="0" y="0"/>
                </a:moveTo>
                <a:lnTo>
                  <a:pt x="7099300" y="0"/>
                </a:lnTo>
                <a:lnTo>
                  <a:pt x="7099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48700" y="7467600"/>
            <a:ext cx="25400" cy="1193800"/>
          </a:xfrm>
          <a:custGeom>
            <a:avLst/>
            <a:gdLst/>
            <a:ahLst/>
            <a:cxnLst/>
            <a:rect l="l" t="t" r="r" b="b"/>
            <a:pathLst>
              <a:path w="25400" h="1193800">
                <a:moveTo>
                  <a:pt x="0" y="0"/>
                </a:moveTo>
                <a:lnTo>
                  <a:pt x="25400" y="0"/>
                </a:lnTo>
                <a:lnTo>
                  <a:pt x="254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910638" y="7734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156700" y="7670800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 Connectors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64600" y="8128000"/>
            <a:ext cx="678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MySQL、Elasticsearch、Pulsar 等丰富的连接器生态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464126"/>
            <a:ext cx="69619" cy="464126"/>
          </a:xfrm>
          <a:custGeom>
            <a:avLst/>
            <a:gdLst/>
            <a:ahLst/>
            <a:cxnLst/>
            <a:rect l="l" t="t" r="r" b="b"/>
            <a:pathLst>
              <a:path w="69619" h="464126">
                <a:moveTo>
                  <a:pt x="0" y="0"/>
                </a:moveTo>
                <a:lnTo>
                  <a:pt x="69619" y="0"/>
                </a:lnTo>
                <a:lnTo>
                  <a:pt x="69619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2982" y="556951"/>
            <a:ext cx="134596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2.3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4126" y="1021076"/>
            <a:ext cx="15606224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8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转换操作 (Transformations)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4126" y="1642276"/>
            <a:ext cx="15443780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DataStream 转换为新的 DataStream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7332" y="2174201"/>
            <a:ext cx="4931335" cy="3156054"/>
          </a:xfrm>
          <a:custGeom>
            <a:avLst/>
            <a:gdLst/>
            <a:ahLst/>
            <a:cxnLst/>
            <a:rect l="l" t="t" r="r" b="b"/>
            <a:pathLst>
              <a:path w="4931335" h="3156054">
                <a:moveTo>
                  <a:pt x="0" y="0"/>
                </a:moveTo>
                <a:lnTo>
                  <a:pt x="4931335" y="0"/>
                </a:lnTo>
                <a:lnTo>
                  <a:pt x="4931335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7332" y="2174201"/>
            <a:ext cx="46413" cy="3156054"/>
          </a:xfrm>
          <a:custGeom>
            <a:avLst/>
            <a:gdLst/>
            <a:ahLst/>
            <a:cxnLst/>
            <a:rect l="l" t="t" r="r" b="b"/>
            <a:pathLst>
              <a:path w="46413" h="3156054">
                <a:moveTo>
                  <a:pt x="0" y="0"/>
                </a:moveTo>
                <a:lnTo>
                  <a:pt x="46413" y="0"/>
                </a:lnTo>
                <a:lnTo>
                  <a:pt x="46413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2601" y="2313438"/>
            <a:ext cx="464126" cy="464126"/>
          </a:xfrm>
          <a:custGeom>
            <a:avLst/>
            <a:gdLst/>
            <a:ahLst/>
            <a:cxnLst/>
            <a:rect l="l" t="t" r="r" b="b"/>
            <a:pathLst>
              <a:path w="464126" h="464126">
                <a:moveTo>
                  <a:pt x="0" y="0"/>
                </a:moveTo>
                <a:lnTo>
                  <a:pt x="464126" y="0"/>
                </a:lnTo>
                <a:lnTo>
                  <a:pt x="464126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66247" y="2383057"/>
            <a:ext cx="324888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5964" y="2359851"/>
            <a:ext cx="1253139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基本转换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4204" y="2916802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54204" y="2916802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8632" y="3009627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632" y="3288102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一对一转换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204" y="3705815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54204" y="3705815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8632" y="3798640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FlatMap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632" y="4077116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一对多转换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204" y="4494829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54204" y="4494829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8632" y="4587654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632" y="4866129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过滤数据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73483" y="2174201"/>
            <a:ext cx="4931335" cy="3156054"/>
          </a:xfrm>
          <a:custGeom>
            <a:avLst/>
            <a:gdLst/>
            <a:ahLst/>
            <a:cxnLst/>
            <a:rect l="l" t="t" r="r" b="b"/>
            <a:pathLst>
              <a:path w="4931335" h="3156054">
                <a:moveTo>
                  <a:pt x="0" y="0"/>
                </a:moveTo>
                <a:lnTo>
                  <a:pt x="4931335" y="0"/>
                </a:lnTo>
                <a:lnTo>
                  <a:pt x="4931335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673483" y="2174201"/>
            <a:ext cx="46413" cy="3156054"/>
          </a:xfrm>
          <a:custGeom>
            <a:avLst/>
            <a:gdLst/>
            <a:ahLst/>
            <a:cxnLst/>
            <a:rect l="l" t="t" r="r" b="b"/>
            <a:pathLst>
              <a:path w="46413" h="3156054">
                <a:moveTo>
                  <a:pt x="0" y="0"/>
                </a:moveTo>
                <a:lnTo>
                  <a:pt x="46413" y="0"/>
                </a:lnTo>
                <a:lnTo>
                  <a:pt x="46413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928752" y="2313438"/>
            <a:ext cx="464126" cy="464126"/>
          </a:xfrm>
          <a:custGeom>
            <a:avLst/>
            <a:gdLst/>
            <a:ahLst/>
            <a:cxnLst/>
            <a:rect l="l" t="t" r="r" b="b"/>
            <a:pathLst>
              <a:path w="464126" h="464126">
                <a:moveTo>
                  <a:pt x="0" y="0"/>
                </a:moveTo>
                <a:lnTo>
                  <a:pt x="464126" y="0"/>
                </a:lnTo>
                <a:lnTo>
                  <a:pt x="464126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33452" y="2383057"/>
            <a:ext cx="35969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2115" y="2359851"/>
            <a:ext cx="1253139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聚合转换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0355" y="2916802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940355" y="2916802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044783" y="3009627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44783" y="3288102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逻辑分区，</a:t>
            </a:r>
            <a:r>
              <a:rPr lang="en-US" sz="1279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有状态计算基础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40355" y="3705815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940355" y="3705815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44783" y="3798640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/ Sum / Max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44783" y="4077116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滚动聚合操作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59633" y="2174201"/>
            <a:ext cx="4931335" cy="3156054"/>
          </a:xfrm>
          <a:custGeom>
            <a:avLst/>
            <a:gdLst/>
            <a:ahLst/>
            <a:cxnLst/>
            <a:rect l="l" t="t" r="r" b="b"/>
            <a:pathLst>
              <a:path w="4931335" h="3156054">
                <a:moveTo>
                  <a:pt x="0" y="0"/>
                </a:moveTo>
                <a:lnTo>
                  <a:pt x="4931335" y="0"/>
                </a:lnTo>
                <a:lnTo>
                  <a:pt x="4931335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859633" y="2174201"/>
            <a:ext cx="46413" cy="3156054"/>
          </a:xfrm>
          <a:custGeom>
            <a:avLst/>
            <a:gdLst/>
            <a:ahLst/>
            <a:cxnLst/>
            <a:rect l="l" t="t" r="r" b="b"/>
            <a:pathLst>
              <a:path w="46413" h="3156054">
                <a:moveTo>
                  <a:pt x="0" y="0"/>
                </a:moveTo>
                <a:lnTo>
                  <a:pt x="46413" y="0"/>
                </a:lnTo>
                <a:lnTo>
                  <a:pt x="46413" y="3156054"/>
                </a:lnTo>
                <a:lnTo>
                  <a:pt x="0" y="3156054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114902" y="2313438"/>
            <a:ext cx="464126" cy="464126"/>
          </a:xfrm>
          <a:custGeom>
            <a:avLst/>
            <a:gdLst/>
            <a:ahLst/>
            <a:cxnLst/>
            <a:rect l="l" t="t" r="r" b="b"/>
            <a:pathLst>
              <a:path w="464126" h="464126">
                <a:moveTo>
                  <a:pt x="0" y="0"/>
                </a:moveTo>
                <a:lnTo>
                  <a:pt x="464126" y="0"/>
                </a:lnTo>
                <a:lnTo>
                  <a:pt x="464126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218696" y="2383057"/>
            <a:ext cx="35969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718266" y="2359851"/>
            <a:ext cx="1253139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多流转换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26505" y="2916802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126505" y="2916802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230934" y="3009627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30934" y="3288102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合并多条流（类型必须一致）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26505" y="3705815"/>
            <a:ext cx="4664463" cy="696188"/>
          </a:xfrm>
          <a:custGeom>
            <a:avLst/>
            <a:gdLst/>
            <a:ahLst/>
            <a:cxnLst/>
            <a:rect l="l" t="t" r="r" b="b"/>
            <a:pathLst>
              <a:path w="4664463" h="696188">
                <a:moveTo>
                  <a:pt x="0" y="0"/>
                </a:moveTo>
                <a:lnTo>
                  <a:pt x="4664463" y="0"/>
                </a:lnTo>
                <a:lnTo>
                  <a:pt x="4664463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126505" y="3705815"/>
            <a:ext cx="23206" cy="696188"/>
          </a:xfrm>
          <a:custGeom>
            <a:avLst/>
            <a:gdLst/>
            <a:ahLst/>
            <a:cxnLst/>
            <a:rect l="l" t="t" r="r" b="b"/>
            <a:pathLst>
              <a:path w="23206" h="696188">
                <a:moveTo>
                  <a:pt x="0" y="0"/>
                </a:moveTo>
                <a:lnTo>
                  <a:pt x="23206" y="0"/>
                </a:lnTo>
                <a:lnTo>
                  <a:pt x="23206" y="696188"/>
                </a:lnTo>
                <a:lnTo>
                  <a:pt x="0" y="696188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230934" y="3798640"/>
            <a:ext cx="45600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30934" y="4077116"/>
            <a:ext cx="4548431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连接两条流（类型可不同）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5729" y="5573921"/>
            <a:ext cx="15304542" cy="2552691"/>
          </a:xfrm>
          <a:custGeom>
            <a:avLst/>
            <a:gdLst/>
            <a:ahLst/>
            <a:cxnLst/>
            <a:rect l="l" t="t" r="r" b="b"/>
            <a:pathLst>
              <a:path w="15304542" h="2552691">
                <a:moveTo>
                  <a:pt x="0" y="0"/>
                </a:moveTo>
                <a:lnTo>
                  <a:pt x="15304542" y="0"/>
                </a:lnTo>
                <a:lnTo>
                  <a:pt x="15304542" y="2552691"/>
                </a:lnTo>
                <a:lnTo>
                  <a:pt x="0" y="2552691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36799" y="5863999"/>
            <a:ext cx="313285" cy="278475"/>
          </a:xfrm>
          <a:custGeom>
            <a:avLst/>
            <a:gdLst/>
            <a:ahLst/>
            <a:cxnLst/>
            <a:rect l="l" t="t" r="r" b="b"/>
            <a:pathLst>
              <a:path w="313285" h="278475">
                <a:moveTo>
                  <a:pt x="196238" y="653"/>
                </a:moveTo>
                <a:cubicBezTo>
                  <a:pt x="186992" y="-2012"/>
                  <a:pt x="177365" y="3372"/>
                  <a:pt x="174700" y="12618"/>
                </a:cubicBezTo>
                <a:lnTo>
                  <a:pt x="105081" y="256284"/>
                </a:lnTo>
                <a:cubicBezTo>
                  <a:pt x="102416" y="265531"/>
                  <a:pt x="107800" y="275158"/>
                  <a:pt x="117047" y="277823"/>
                </a:cubicBezTo>
                <a:cubicBezTo>
                  <a:pt x="126293" y="280488"/>
                  <a:pt x="135920" y="275103"/>
                  <a:pt x="138585" y="265857"/>
                </a:cubicBezTo>
                <a:lnTo>
                  <a:pt x="208204" y="22191"/>
                </a:lnTo>
                <a:cubicBezTo>
                  <a:pt x="210869" y="12945"/>
                  <a:pt x="205484" y="3318"/>
                  <a:pt x="196238" y="653"/>
                </a:cubicBezTo>
                <a:close/>
                <a:moveTo>
                  <a:pt x="231374" y="74677"/>
                </a:moveTo>
                <a:cubicBezTo>
                  <a:pt x="224575" y="81476"/>
                  <a:pt x="224575" y="92517"/>
                  <a:pt x="231374" y="99316"/>
                </a:cubicBezTo>
                <a:lnTo>
                  <a:pt x="271296" y="139238"/>
                </a:lnTo>
                <a:lnTo>
                  <a:pt x="231374" y="179160"/>
                </a:lnTo>
                <a:cubicBezTo>
                  <a:pt x="224575" y="185958"/>
                  <a:pt x="224575" y="197000"/>
                  <a:pt x="231374" y="203798"/>
                </a:cubicBezTo>
                <a:cubicBezTo>
                  <a:pt x="238173" y="210597"/>
                  <a:pt x="249214" y="210597"/>
                  <a:pt x="256012" y="203798"/>
                </a:cubicBezTo>
                <a:lnTo>
                  <a:pt x="308227" y="151584"/>
                </a:lnTo>
                <a:cubicBezTo>
                  <a:pt x="315025" y="144785"/>
                  <a:pt x="315025" y="133744"/>
                  <a:pt x="308227" y="126946"/>
                </a:cubicBezTo>
                <a:lnTo>
                  <a:pt x="256012" y="74731"/>
                </a:lnTo>
                <a:cubicBezTo>
                  <a:pt x="249214" y="67933"/>
                  <a:pt x="238173" y="67933"/>
                  <a:pt x="231374" y="74731"/>
                </a:cubicBezTo>
                <a:close/>
                <a:moveTo>
                  <a:pt x="81965" y="74677"/>
                </a:moveTo>
                <a:cubicBezTo>
                  <a:pt x="75167" y="67878"/>
                  <a:pt x="64125" y="67878"/>
                  <a:pt x="57327" y="74677"/>
                </a:cubicBezTo>
                <a:lnTo>
                  <a:pt x="5113" y="126891"/>
                </a:lnTo>
                <a:cubicBezTo>
                  <a:pt x="-1686" y="133690"/>
                  <a:pt x="-1686" y="144731"/>
                  <a:pt x="5113" y="151530"/>
                </a:cubicBezTo>
                <a:lnTo>
                  <a:pt x="57327" y="203744"/>
                </a:lnTo>
                <a:cubicBezTo>
                  <a:pt x="64125" y="210543"/>
                  <a:pt x="75167" y="210543"/>
                  <a:pt x="81965" y="203744"/>
                </a:cubicBezTo>
                <a:cubicBezTo>
                  <a:pt x="88764" y="196945"/>
                  <a:pt x="88764" y="185904"/>
                  <a:pt x="81965" y="179105"/>
                </a:cubicBezTo>
                <a:lnTo>
                  <a:pt x="42043" y="139238"/>
                </a:lnTo>
                <a:lnTo>
                  <a:pt x="81911" y="99316"/>
                </a:lnTo>
                <a:cubicBezTo>
                  <a:pt x="88710" y="92517"/>
                  <a:pt x="88710" y="81476"/>
                  <a:pt x="81911" y="74677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67489" y="5817587"/>
            <a:ext cx="14608354" cy="37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3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代码示例：转换操作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0998" y="6386141"/>
            <a:ext cx="7286772" cy="1485202"/>
          </a:xfrm>
          <a:custGeom>
            <a:avLst/>
            <a:gdLst/>
            <a:ahLst/>
            <a:cxnLst/>
            <a:rect l="l" t="t" r="r" b="b"/>
            <a:pathLst>
              <a:path w="7286772" h="1485202">
                <a:moveTo>
                  <a:pt x="0" y="0"/>
                </a:moveTo>
                <a:lnTo>
                  <a:pt x="7286772" y="0"/>
                </a:lnTo>
                <a:lnTo>
                  <a:pt x="7286772" y="1485202"/>
                </a:lnTo>
                <a:lnTo>
                  <a:pt x="0" y="148520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81839" y="6536981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基本转换示例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81839" y="6809655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1839" y="7035916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96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 -&gt; x * 2)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81839" y="7262178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96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 -&gt; x &gt; 10)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1839" y="7488439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96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31703" y="6386141"/>
            <a:ext cx="7286772" cy="1485202"/>
          </a:xfrm>
          <a:custGeom>
            <a:avLst/>
            <a:gdLst/>
            <a:ahLst/>
            <a:cxnLst/>
            <a:rect l="l" t="t" r="r" b="b"/>
            <a:pathLst>
              <a:path w="7286772" h="1485202">
                <a:moveTo>
                  <a:pt x="0" y="0"/>
                </a:moveTo>
                <a:lnTo>
                  <a:pt x="7286772" y="0"/>
                </a:lnTo>
                <a:lnTo>
                  <a:pt x="7286772" y="1485202"/>
                </a:lnTo>
                <a:lnTo>
                  <a:pt x="0" y="148520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BC8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382544" y="6536981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KeyBy + 聚合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82544" y="6809655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82544" y="7035916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96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(value -&gt; value.word)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82544" y="7262178"/>
            <a:ext cx="7054709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96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96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"count"</a:t>
            </a:r>
            <a:r>
              <a:rPr lang="en-US" sz="109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87332" y="8364476"/>
            <a:ext cx="15304542" cy="672982"/>
          </a:xfrm>
          <a:custGeom>
            <a:avLst/>
            <a:gdLst/>
            <a:ahLst/>
            <a:cxnLst/>
            <a:rect l="l" t="t" r="r" b="b"/>
            <a:pathLst>
              <a:path w="15304542" h="672982">
                <a:moveTo>
                  <a:pt x="0" y="0"/>
                </a:moveTo>
                <a:lnTo>
                  <a:pt x="15304542" y="0"/>
                </a:lnTo>
                <a:lnTo>
                  <a:pt x="15304542" y="672982"/>
                </a:lnTo>
                <a:lnTo>
                  <a:pt x="0" y="672982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487332" y="8364476"/>
            <a:ext cx="46413" cy="672982"/>
          </a:xfrm>
          <a:custGeom>
            <a:avLst/>
            <a:gdLst/>
            <a:ahLst/>
            <a:cxnLst/>
            <a:rect l="l" t="t" r="r" b="b"/>
            <a:pathLst>
              <a:path w="46413" h="672982">
                <a:moveTo>
                  <a:pt x="0" y="0"/>
                </a:moveTo>
                <a:lnTo>
                  <a:pt x="46413" y="0"/>
                </a:lnTo>
                <a:lnTo>
                  <a:pt x="46413" y="672982"/>
                </a:lnTo>
                <a:lnTo>
                  <a:pt x="0" y="672982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707792" y="8613944"/>
            <a:ext cx="208857" cy="185650"/>
          </a:xfrm>
          <a:custGeom>
            <a:avLst/>
            <a:gdLst/>
            <a:ahLst/>
            <a:cxnLst/>
            <a:rect l="l" t="t" r="r" b="b"/>
            <a:pathLst>
              <a:path w="208857" h="185650">
                <a:moveTo>
                  <a:pt x="112224" y="-6853"/>
                </a:moveTo>
                <a:cubicBezTo>
                  <a:pt x="110737" y="-9754"/>
                  <a:pt x="107728" y="-11603"/>
                  <a:pt x="104465" y="-11603"/>
                </a:cubicBezTo>
                <a:cubicBezTo>
                  <a:pt x="101201" y="-11603"/>
                  <a:pt x="98192" y="-9754"/>
                  <a:pt x="96705" y="-6853"/>
                </a:cubicBezTo>
                <a:lnTo>
                  <a:pt x="70018" y="45434"/>
                </a:lnTo>
                <a:lnTo>
                  <a:pt x="12038" y="54644"/>
                </a:lnTo>
                <a:cubicBezTo>
                  <a:pt x="8811" y="55151"/>
                  <a:pt x="6128" y="57436"/>
                  <a:pt x="5113" y="60554"/>
                </a:cubicBezTo>
                <a:cubicBezTo>
                  <a:pt x="4097" y="63672"/>
                  <a:pt x="4931" y="67081"/>
                  <a:pt x="7216" y="69401"/>
                </a:cubicBezTo>
                <a:lnTo>
                  <a:pt x="48697" y="110919"/>
                </a:lnTo>
                <a:lnTo>
                  <a:pt x="39559" y="168898"/>
                </a:lnTo>
                <a:cubicBezTo>
                  <a:pt x="39052" y="172125"/>
                  <a:pt x="40393" y="175389"/>
                  <a:pt x="43040" y="177310"/>
                </a:cubicBezTo>
                <a:cubicBezTo>
                  <a:pt x="45687" y="179232"/>
                  <a:pt x="49168" y="179522"/>
                  <a:pt x="52105" y="178036"/>
                </a:cubicBezTo>
                <a:lnTo>
                  <a:pt x="104465" y="151421"/>
                </a:lnTo>
                <a:lnTo>
                  <a:pt x="156787" y="178036"/>
                </a:lnTo>
                <a:cubicBezTo>
                  <a:pt x="159688" y="179522"/>
                  <a:pt x="163205" y="179232"/>
                  <a:pt x="165852" y="177310"/>
                </a:cubicBezTo>
                <a:cubicBezTo>
                  <a:pt x="168499" y="175389"/>
                  <a:pt x="169841" y="172162"/>
                  <a:pt x="169333" y="168898"/>
                </a:cubicBezTo>
                <a:lnTo>
                  <a:pt x="160160" y="110919"/>
                </a:lnTo>
                <a:lnTo>
                  <a:pt x="201641" y="69401"/>
                </a:lnTo>
                <a:cubicBezTo>
                  <a:pt x="203961" y="67081"/>
                  <a:pt x="204759" y="63672"/>
                  <a:pt x="203744" y="60554"/>
                </a:cubicBezTo>
                <a:cubicBezTo>
                  <a:pt x="202729" y="57436"/>
                  <a:pt x="200082" y="55151"/>
                  <a:pt x="196818" y="54644"/>
                </a:cubicBezTo>
                <a:lnTo>
                  <a:pt x="138875" y="45434"/>
                </a:lnTo>
                <a:lnTo>
                  <a:pt x="112224" y="-685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13059" y="8550126"/>
            <a:ext cx="14685990" cy="301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2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关键概念：</a:t>
            </a:r>
            <a:r>
              <a:rPr lang="en-US" sz="1462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KeyBy </a:t>
            </a:r>
            <a:r>
              <a:rPr lang="en-US" sz="146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 Flink 中</a:t>
            </a:r>
            <a:r>
              <a:rPr lang="en-US" sz="1462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有状态计算的基础 </a:t>
            </a:r>
            <a:r>
              <a:rPr lang="en-US" sz="146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，它将相同 Key 的数据分发到同一个 Subtask，使得状态操作成为可能。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822" y="478822"/>
            <a:ext cx="71823" cy="478822"/>
          </a:xfrm>
          <a:custGeom>
            <a:avLst/>
            <a:gdLst/>
            <a:ahLst/>
            <a:cxnLst/>
            <a:rect l="l" t="t" r="r" b="b"/>
            <a:pathLst>
              <a:path w="71823" h="478822">
                <a:moveTo>
                  <a:pt x="0" y="0"/>
                </a:moveTo>
                <a:lnTo>
                  <a:pt x="71823" y="0"/>
                </a:lnTo>
                <a:lnTo>
                  <a:pt x="71823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94292" y="574586"/>
            <a:ext cx="1388583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kern="0" spc="75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2.4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8822" y="1053408"/>
            <a:ext cx="15585649" cy="57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24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数据汇 (Data Sinks)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8822" y="1695182"/>
            <a:ext cx="15418062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将计算结果写入外部系统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763" y="2160484"/>
            <a:ext cx="8977909" cy="1939228"/>
          </a:xfrm>
          <a:custGeom>
            <a:avLst/>
            <a:gdLst/>
            <a:ahLst/>
            <a:cxnLst/>
            <a:rect l="l" t="t" r="r" b="b"/>
            <a:pathLst>
              <a:path w="8977909" h="1939228">
                <a:moveTo>
                  <a:pt x="0" y="0"/>
                </a:moveTo>
                <a:lnTo>
                  <a:pt x="8977909" y="0"/>
                </a:lnTo>
                <a:lnTo>
                  <a:pt x="8977909" y="1939228"/>
                </a:lnTo>
                <a:lnTo>
                  <a:pt x="0" y="1939228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763" y="2160484"/>
            <a:ext cx="47882" cy="1939228"/>
          </a:xfrm>
          <a:custGeom>
            <a:avLst/>
            <a:gdLst/>
            <a:ahLst/>
            <a:cxnLst/>
            <a:rect l="l" t="t" r="r" b="b"/>
            <a:pathLst>
              <a:path w="47882" h="1939228">
                <a:moveTo>
                  <a:pt x="0" y="0"/>
                </a:moveTo>
                <a:lnTo>
                  <a:pt x="47882" y="0"/>
                </a:lnTo>
                <a:lnTo>
                  <a:pt x="47882" y="1939228"/>
                </a:lnTo>
                <a:lnTo>
                  <a:pt x="0" y="193922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13997" y="2399895"/>
            <a:ext cx="574586" cy="574586"/>
          </a:xfrm>
          <a:custGeom>
            <a:avLst/>
            <a:gdLst/>
            <a:ahLst/>
            <a:cxnLst/>
            <a:rect l="l" t="t" r="r" b="b"/>
            <a:pathLst>
              <a:path w="574586" h="574586">
                <a:moveTo>
                  <a:pt x="0" y="0"/>
                </a:moveTo>
                <a:lnTo>
                  <a:pt x="574586" y="0"/>
                </a:lnTo>
                <a:lnTo>
                  <a:pt x="574586" y="574586"/>
                </a:lnTo>
                <a:lnTo>
                  <a:pt x="0" y="574586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81585" y="2567482"/>
            <a:ext cx="239411" cy="239411"/>
          </a:xfrm>
          <a:custGeom>
            <a:avLst/>
            <a:gdLst/>
            <a:ahLst/>
            <a:cxnLst/>
            <a:rect l="l" t="t" r="r" b="b"/>
            <a:pathLst>
              <a:path w="239411" h="239411">
                <a:moveTo>
                  <a:pt x="0" y="44890"/>
                </a:moveTo>
                <a:cubicBezTo>
                  <a:pt x="0" y="36613"/>
                  <a:pt x="6687" y="29926"/>
                  <a:pt x="14963" y="29926"/>
                </a:cubicBezTo>
                <a:lnTo>
                  <a:pt x="194521" y="29926"/>
                </a:lnTo>
                <a:cubicBezTo>
                  <a:pt x="202798" y="29926"/>
                  <a:pt x="209485" y="36613"/>
                  <a:pt x="209485" y="44890"/>
                </a:cubicBezTo>
                <a:cubicBezTo>
                  <a:pt x="209485" y="53166"/>
                  <a:pt x="202798" y="59853"/>
                  <a:pt x="194521" y="59853"/>
                </a:cubicBezTo>
                <a:lnTo>
                  <a:pt x="14963" y="59853"/>
                </a:lnTo>
                <a:cubicBezTo>
                  <a:pt x="6687" y="59853"/>
                  <a:pt x="0" y="53166"/>
                  <a:pt x="0" y="44890"/>
                </a:cubicBezTo>
                <a:close/>
                <a:moveTo>
                  <a:pt x="29926" y="119705"/>
                </a:moveTo>
                <a:cubicBezTo>
                  <a:pt x="29926" y="111429"/>
                  <a:pt x="36613" y="104742"/>
                  <a:pt x="44890" y="104742"/>
                </a:cubicBezTo>
                <a:lnTo>
                  <a:pt x="224448" y="104742"/>
                </a:lnTo>
                <a:cubicBezTo>
                  <a:pt x="232724" y="104742"/>
                  <a:pt x="239411" y="111429"/>
                  <a:pt x="239411" y="119705"/>
                </a:cubicBezTo>
                <a:cubicBezTo>
                  <a:pt x="239411" y="127982"/>
                  <a:pt x="232724" y="134669"/>
                  <a:pt x="224448" y="134669"/>
                </a:cubicBezTo>
                <a:lnTo>
                  <a:pt x="44890" y="134669"/>
                </a:lnTo>
                <a:cubicBezTo>
                  <a:pt x="36613" y="134669"/>
                  <a:pt x="29926" y="127982"/>
                  <a:pt x="29926" y="119705"/>
                </a:cubicBezTo>
                <a:close/>
                <a:moveTo>
                  <a:pt x="209485" y="194521"/>
                </a:moveTo>
                <a:cubicBezTo>
                  <a:pt x="209485" y="202798"/>
                  <a:pt x="202798" y="209485"/>
                  <a:pt x="194521" y="209485"/>
                </a:cubicBezTo>
                <a:lnTo>
                  <a:pt x="14963" y="209485"/>
                </a:lnTo>
                <a:cubicBezTo>
                  <a:pt x="6687" y="209485"/>
                  <a:pt x="0" y="202798"/>
                  <a:pt x="0" y="194521"/>
                </a:cubicBezTo>
                <a:cubicBezTo>
                  <a:pt x="0" y="186245"/>
                  <a:pt x="6687" y="179558"/>
                  <a:pt x="14963" y="179558"/>
                </a:cubicBezTo>
                <a:lnTo>
                  <a:pt x="194521" y="179558"/>
                </a:lnTo>
                <a:cubicBezTo>
                  <a:pt x="202798" y="179558"/>
                  <a:pt x="209485" y="186245"/>
                  <a:pt x="209485" y="1945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80112" y="2352013"/>
            <a:ext cx="1508289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 Sink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80112" y="2729085"/>
            <a:ext cx="957644" cy="317219"/>
          </a:xfrm>
          <a:custGeom>
            <a:avLst/>
            <a:gdLst/>
            <a:ahLst/>
            <a:cxnLst/>
            <a:rect l="l" t="t" r="r" b="b"/>
            <a:pathLst>
              <a:path w="957644" h="317219">
                <a:moveTo>
                  <a:pt x="0" y="0"/>
                </a:moveTo>
                <a:lnTo>
                  <a:pt x="957644" y="0"/>
                </a:lnTo>
                <a:lnTo>
                  <a:pt x="957644" y="317219"/>
                </a:lnTo>
                <a:lnTo>
                  <a:pt x="0" y="317219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580112" y="2729085"/>
            <a:ext cx="1041437" cy="317219"/>
          </a:xfrm>
          <a:prstGeom prst="rect">
            <a:avLst/>
          </a:prstGeom>
          <a:noFill/>
          <a:ln/>
        </p:spPr>
        <p:txBody>
          <a:bodyPr wrap="square" lIns="143647" tIns="47882" rIns="143647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生产常用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997" y="3166010"/>
            <a:ext cx="8762439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将结果数据写入 Kafka Topic，支持</a:t>
            </a:r>
            <a:r>
              <a:rPr lang="en-US" sz="1508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精确一次 </a:t>
            </a:r>
            <a:r>
              <a:rPr lang="en-US" sz="150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语义、事务性写入。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997" y="3573008"/>
            <a:ext cx="694292" cy="335175"/>
          </a:xfrm>
          <a:custGeom>
            <a:avLst/>
            <a:gdLst/>
            <a:ahLst/>
            <a:cxnLst/>
            <a:rect l="l" t="t" r="r" b="b"/>
            <a:pathLst>
              <a:path w="694292" h="335175">
                <a:moveTo>
                  <a:pt x="0" y="0"/>
                </a:moveTo>
                <a:lnTo>
                  <a:pt x="694292" y="0"/>
                </a:lnTo>
                <a:lnTo>
                  <a:pt x="694292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13997" y="3573008"/>
            <a:ext cx="778085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04053" y="3573008"/>
            <a:ext cx="526704" cy="335175"/>
          </a:xfrm>
          <a:custGeom>
            <a:avLst/>
            <a:gdLst/>
            <a:ahLst/>
            <a:cxnLst/>
            <a:rect l="l" t="t" r="r" b="b"/>
            <a:pathLst>
              <a:path w="526704" h="335175">
                <a:moveTo>
                  <a:pt x="0" y="0"/>
                </a:moveTo>
                <a:lnTo>
                  <a:pt x="526704" y="0"/>
                </a:lnTo>
                <a:lnTo>
                  <a:pt x="526704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04053" y="3573008"/>
            <a:ext cx="610498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26521" y="3573008"/>
            <a:ext cx="694292" cy="335175"/>
          </a:xfrm>
          <a:custGeom>
            <a:avLst/>
            <a:gdLst/>
            <a:ahLst/>
            <a:cxnLst/>
            <a:rect l="l" t="t" r="r" b="b"/>
            <a:pathLst>
              <a:path w="694292" h="335175">
                <a:moveTo>
                  <a:pt x="0" y="0"/>
                </a:moveTo>
                <a:lnTo>
                  <a:pt x="694292" y="0"/>
                </a:lnTo>
                <a:lnTo>
                  <a:pt x="694292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226521" y="3573008"/>
            <a:ext cx="778085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763" y="4291241"/>
            <a:ext cx="4381219" cy="1604053"/>
          </a:xfrm>
          <a:custGeom>
            <a:avLst/>
            <a:gdLst/>
            <a:ahLst/>
            <a:cxnLst/>
            <a:rect l="l" t="t" r="r" b="b"/>
            <a:pathLst>
              <a:path w="4381219" h="1604053">
                <a:moveTo>
                  <a:pt x="0" y="0"/>
                </a:moveTo>
                <a:lnTo>
                  <a:pt x="4381219" y="0"/>
                </a:lnTo>
                <a:lnTo>
                  <a:pt x="4381219" y="1604053"/>
                </a:lnTo>
                <a:lnTo>
                  <a:pt x="0" y="160405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02763" y="4291241"/>
            <a:ext cx="47882" cy="1604053"/>
          </a:xfrm>
          <a:custGeom>
            <a:avLst/>
            <a:gdLst/>
            <a:ahLst/>
            <a:cxnLst/>
            <a:rect l="l" t="t" r="r" b="b"/>
            <a:pathLst>
              <a:path w="47882" h="1604053">
                <a:moveTo>
                  <a:pt x="0" y="0"/>
                </a:moveTo>
                <a:lnTo>
                  <a:pt x="47882" y="0"/>
                </a:lnTo>
                <a:lnTo>
                  <a:pt x="47882" y="1604053"/>
                </a:lnTo>
                <a:lnTo>
                  <a:pt x="0" y="1604053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66115" y="4434887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14250" y="4566563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188536" y="86609"/>
                </a:moveTo>
                <a:cubicBezTo>
                  <a:pt x="182308" y="90733"/>
                  <a:pt x="175153" y="94058"/>
                  <a:pt x="167705" y="96709"/>
                </a:cubicBezTo>
                <a:cubicBezTo>
                  <a:pt x="147925" y="103779"/>
                  <a:pt x="121959" y="107735"/>
                  <a:pt x="94268" y="107735"/>
                </a:cubicBezTo>
                <a:cubicBezTo>
                  <a:pt x="66577" y="107735"/>
                  <a:pt x="40569" y="103737"/>
                  <a:pt x="20832" y="96709"/>
                </a:cubicBezTo>
                <a:cubicBezTo>
                  <a:pt x="13425" y="94058"/>
                  <a:pt x="6228" y="90733"/>
                  <a:pt x="0" y="86609"/>
                </a:cubicBezTo>
                <a:lnTo>
                  <a:pt x="0" y="121202"/>
                </a:lnTo>
                <a:cubicBezTo>
                  <a:pt x="0" y="139803"/>
                  <a:pt x="42210" y="154869"/>
                  <a:pt x="94268" y="154869"/>
                </a:cubicBezTo>
                <a:cubicBezTo>
                  <a:pt x="146326" y="154869"/>
                  <a:pt x="188536" y="139803"/>
                  <a:pt x="188536" y="121202"/>
                </a:cubicBezTo>
                <a:lnTo>
                  <a:pt x="188536" y="86609"/>
                </a:lnTo>
                <a:close/>
                <a:moveTo>
                  <a:pt x="188536" y="53867"/>
                </a:moveTo>
                <a:lnTo>
                  <a:pt x="188536" y="33667"/>
                </a:lnTo>
                <a:cubicBezTo>
                  <a:pt x="188536" y="15066"/>
                  <a:pt x="146326" y="0"/>
                  <a:pt x="94268" y="0"/>
                </a:cubicBezTo>
                <a:cubicBezTo>
                  <a:pt x="42210" y="0"/>
                  <a:pt x="0" y="15066"/>
                  <a:pt x="0" y="33667"/>
                </a:cubicBezTo>
                <a:lnTo>
                  <a:pt x="0" y="53867"/>
                </a:lnTo>
                <a:cubicBezTo>
                  <a:pt x="0" y="72469"/>
                  <a:pt x="42210" y="87535"/>
                  <a:pt x="94268" y="87535"/>
                </a:cubicBezTo>
                <a:cubicBezTo>
                  <a:pt x="146326" y="87535"/>
                  <a:pt x="188536" y="72469"/>
                  <a:pt x="188536" y="53867"/>
                </a:cubicBezTo>
                <a:close/>
                <a:moveTo>
                  <a:pt x="167705" y="164043"/>
                </a:moveTo>
                <a:cubicBezTo>
                  <a:pt x="147967" y="171071"/>
                  <a:pt x="122001" y="175069"/>
                  <a:pt x="94268" y="175069"/>
                </a:cubicBezTo>
                <a:cubicBezTo>
                  <a:pt x="66535" y="175069"/>
                  <a:pt x="40569" y="171071"/>
                  <a:pt x="20832" y="164043"/>
                </a:cubicBezTo>
                <a:cubicBezTo>
                  <a:pt x="13425" y="161392"/>
                  <a:pt x="6228" y="158067"/>
                  <a:pt x="0" y="153943"/>
                </a:cubicBezTo>
                <a:lnTo>
                  <a:pt x="0" y="181803"/>
                </a:lnTo>
                <a:cubicBezTo>
                  <a:pt x="0" y="200404"/>
                  <a:pt x="42210" y="215470"/>
                  <a:pt x="94268" y="215470"/>
                </a:cubicBezTo>
                <a:cubicBezTo>
                  <a:pt x="146326" y="215470"/>
                  <a:pt x="188536" y="200404"/>
                  <a:pt x="188536" y="181803"/>
                </a:cubicBezTo>
                <a:lnTo>
                  <a:pt x="188536" y="153943"/>
                </a:lnTo>
                <a:cubicBezTo>
                  <a:pt x="182308" y="158067"/>
                  <a:pt x="175153" y="161392"/>
                  <a:pt x="167705" y="16404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88583" y="4506711"/>
            <a:ext cx="1268878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Sink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6115" y="5009473"/>
            <a:ext cx="4213632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 MySQL、PostgreSQL 等关系型数据库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6115" y="5416472"/>
            <a:ext cx="526704" cy="335175"/>
          </a:xfrm>
          <a:custGeom>
            <a:avLst/>
            <a:gdLst/>
            <a:ahLst/>
            <a:cxnLst/>
            <a:rect l="l" t="t" r="r" b="b"/>
            <a:pathLst>
              <a:path w="526704" h="335175">
                <a:moveTo>
                  <a:pt x="0" y="0"/>
                </a:moveTo>
                <a:lnTo>
                  <a:pt x="526704" y="0"/>
                </a:lnTo>
                <a:lnTo>
                  <a:pt x="526704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66115" y="5416472"/>
            <a:ext cx="610498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88583" y="5416472"/>
            <a:ext cx="694292" cy="335175"/>
          </a:xfrm>
          <a:custGeom>
            <a:avLst/>
            <a:gdLst/>
            <a:ahLst/>
            <a:cxnLst/>
            <a:rect l="l" t="t" r="r" b="b"/>
            <a:pathLst>
              <a:path w="694292" h="335175">
                <a:moveTo>
                  <a:pt x="0" y="0"/>
                </a:moveTo>
                <a:lnTo>
                  <a:pt x="694292" y="0"/>
                </a:lnTo>
                <a:lnTo>
                  <a:pt x="694292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388583" y="5416472"/>
            <a:ext cx="778085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99546" y="4291241"/>
            <a:ext cx="4381219" cy="1604053"/>
          </a:xfrm>
          <a:custGeom>
            <a:avLst/>
            <a:gdLst/>
            <a:ahLst/>
            <a:cxnLst/>
            <a:rect l="l" t="t" r="r" b="b"/>
            <a:pathLst>
              <a:path w="4381219" h="1604053">
                <a:moveTo>
                  <a:pt x="0" y="0"/>
                </a:moveTo>
                <a:lnTo>
                  <a:pt x="4381219" y="0"/>
                </a:lnTo>
                <a:lnTo>
                  <a:pt x="4381219" y="1604053"/>
                </a:lnTo>
                <a:lnTo>
                  <a:pt x="0" y="1604053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099546" y="4291241"/>
            <a:ext cx="47882" cy="1604053"/>
          </a:xfrm>
          <a:custGeom>
            <a:avLst/>
            <a:gdLst/>
            <a:ahLst/>
            <a:cxnLst/>
            <a:rect l="l" t="t" r="r" b="b"/>
            <a:pathLst>
              <a:path w="47882" h="1604053">
                <a:moveTo>
                  <a:pt x="0" y="0"/>
                </a:moveTo>
                <a:lnTo>
                  <a:pt x="47882" y="0"/>
                </a:lnTo>
                <a:lnTo>
                  <a:pt x="47882" y="1604053"/>
                </a:lnTo>
                <a:lnTo>
                  <a:pt x="0" y="160405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362898" y="4434887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524500" y="4566563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26934" y="0"/>
                </a:moveTo>
                <a:cubicBezTo>
                  <a:pt x="12078" y="0"/>
                  <a:pt x="0" y="12078"/>
                  <a:pt x="0" y="26934"/>
                </a:cubicBezTo>
                <a:lnTo>
                  <a:pt x="0" y="188536"/>
                </a:lnTo>
                <a:cubicBezTo>
                  <a:pt x="0" y="203392"/>
                  <a:pt x="12078" y="215470"/>
                  <a:pt x="26934" y="215470"/>
                </a:cubicBezTo>
                <a:lnTo>
                  <a:pt x="134669" y="215470"/>
                </a:lnTo>
                <a:cubicBezTo>
                  <a:pt x="149524" y="215470"/>
                  <a:pt x="161602" y="203392"/>
                  <a:pt x="161602" y="188536"/>
                </a:cubicBezTo>
                <a:lnTo>
                  <a:pt x="161602" y="71753"/>
                </a:lnTo>
                <a:cubicBezTo>
                  <a:pt x="161602" y="64599"/>
                  <a:pt x="158783" y="57739"/>
                  <a:pt x="153733" y="52689"/>
                </a:cubicBezTo>
                <a:lnTo>
                  <a:pt x="108871" y="7870"/>
                </a:lnTo>
                <a:cubicBezTo>
                  <a:pt x="103821" y="2820"/>
                  <a:pt x="97003" y="0"/>
                  <a:pt x="89849" y="0"/>
                </a:cubicBezTo>
                <a:lnTo>
                  <a:pt x="26934" y="0"/>
                </a:lnTo>
                <a:close/>
                <a:moveTo>
                  <a:pt x="136983" y="74068"/>
                </a:moveTo>
                <a:lnTo>
                  <a:pt x="97635" y="74068"/>
                </a:lnTo>
                <a:cubicBezTo>
                  <a:pt x="92038" y="74068"/>
                  <a:pt x="87535" y="69565"/>
                  <a:pt x="87535" y="63968"/>
                </a:cubicBezTo>
                <a:lnTo>
                  <a:pt x="87535" y="24619"/>
                </a:lnTo>
                <a:lnTo>
                  <a:pt x="136983" y="7406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985366" y="4506711"/>
            <a:ext cx="1029467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Sink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62898" y="5009473"/>
            <a:ext cx="4213632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 HDFS/S3，支持 Parquet/Avro 格式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62898" y="5416472"/>
            <a:ext cx="526704" cy="335175"/>
          </a:xfrm>
          <a:custGeom>
            <a:avLst/>
            <a:gdLst/>
            <a:ahLst/>
            <a:cxnLst/>
            <a:rect l="l" t="t" r="r" b="b"/>
            <a:pathLst>
              <a:path w="526704" h="335175">
                <a:moveTo>
                  <a:pt x="0" y="0"/>
                </a:moveTo>
                <a:lnTo>
                  <a:pt x="526704" y="0"/>
                </a:lnTo>
                <a:lnTo>
                  <a:pt x="526704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362898" y="5416472"/>
            <a:ext cx="610498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85366" y="5416472"/>
            <a:ext cx="526704" cy="335175"/>
          </a:xfrm>
          <a:custGeom>
            <a:avLst/>
            <a:gdLst/>
            <a:ahLst/>
            <a:cxnLst/>
            <a:rect l="l" t="t" r="r" b="b"/>
            <a:pathLst>
              <a:path w="526704" h="335175">
                <a:moveTo>
                  <a:pt x="0" y="0"/>
                </a:moveTo>
                <a:lnTo>
                  <a:pt x="526704" y="0"/>
                </a:lnTo>
                <a:lnTo>
                  <a:pt x="526704" y="335175"/>
                </a:lnTo>
                <a:lnTo>
                  <a:pt x="0" y="335175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985366" y="5416472"/>
            <a:ext cx="610498" cy="335175"/>
          </a:xfrm>
          <a:prstGeom prst="rect">
            <a:avLst/>
          </a:prstGeom>
          <a:noFill/>
          <a:ln/>
        </p:spPr>
        <p:txBody>
          <a:bodyPr wrap="square" lIns="95764" tIns="47882" rIns="95764" bIns="47882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2763" y="6086823"/>
            <a:ext cx="8977909" cy="1173113"/>
          </a:xfrm>
          <a:custGeom>
            <a:avLst/>
            <a:gdLst/>
            <a:ahLst/>
            <a:cxnLst/>
            <a:rect l="l" t="t" r="r" b="b"/>
            <a:pathLst>
              <a:path w="8977909" h="1173113">
                <a:moveTo>
                  <a:pt x="0" y="0"/>
                </a:moveTo>
                <a:lnTo>
                  <a:pt x="8977909" y="0"/>
                </a:lnTo>
                <a:lnTo>
                  <a:pt x="8977909" y="1173113"/>
                </a:lnTo>
                <a:lnTo>
                  <a:pt x="0" y="117311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02763" y="6086823"/>
            <a:ext cx="47882" cy="1173113"/>
          </a:xfrm>
          <a:custGeom>
            <a:avLst/>
            <a:gdLst/>
            <a:ahLst/>
            <a:cxnLst/>
            <a:rect l="l" t="t" r="r" b="b"/>
            <a:pathLst>
              <a:path w="47882" h="1173113">
                <a:moveTo>
                  <a:pt x="0" y="0"/>
                </a:moveTo>
                <a:lnTo>
                  <a:pt x="47882" y="0"/>
                </a:lnTo>
                <a:lnTo>
                  <a:pt x="47882" y="1173113"/>
                </a:lnTo>
                <a:lnTo>
                  <a:pt x="0" y="117311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66115" y="6230469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0" y="0"/>
                </a:moveTo>
                <a:lnTo>
                  <a:pt x="478822" y="0"/>
                </a:lnTo>
                <a:lnTo>
                  <a:pt x="478822" y="478822"/>
                </a:lnTo>
                <a:lnTo>
                  <a:pt x="0" y="478822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00784" y="6362145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3956" y="49912"/>
                </a:moveTo>
                <a:cubicBezTo>
                  <a:pt x="-1305" y="44651"/>
                  <a:pt x="-1305" y="36108"/>
                  <a:pt x="3956" y="30848"/>
                </a:cubicBezTo>
                <a:cubicBezTo>
                  <a:pt x="9216" y="25587"/>
                  <a:pt x="17759" y="25587"/>
                  <a:pt x="23020" y="30848"/>
                </a:cubicBezTo>
                <a:lnTo>
                  <a:pt x="90354" y="98182"/>
                </a:lnTo>
                <a:cubicBezTo>
                  <a:pt x="95615" y="103442"/>
                  <a:pt x="95615" y="111985"/>
                  <a:pt x="90354" y="117246"/>
                </a:cubicBezTo>
                <a:lnTo>
                  <a:pt x="23020" y="184580"/>
                </a:lnTo>
                <a:cubicBezTo>
                  <a:pt x="17759" y="189841"/>
                  <a:pt x="9216" y="189841"/>
                  <a:pt x="3956" y="184580"/>
                </a:cubicBezTo>
                <a:cubicBezTo>
                  <a:pt x="-1305" y="179320"/>
                  <a:pt x="-1305" y="170777"/>
                  <a:pt x="3956" y="165516"/>
                </a:cubicBezTo>
                <a:lnTo>
                  <a:pt x="61737" y="107735"/>
                </a:lnTo>
                <a:lnTo>
                  <a:pt x="3956" y="49912"/>
                </a:lnTo>
                <a:close/>
                <a:moveTo>
                  <a:pt x="94268" y="161602"/>
                </a:moveTo>
                <a:lnTo>
                  <a:pt x="202003" y="161602"/>
                </a:lnTo>
                <a:cubicBezTo>
                  <a:pt x="209452" y="161602"/>
                  <a:pt x="215470" y="167620"/>
                  <a:pt x="215470" y="175069"/>
                </a:cubicBezTo>
                <a:cubicBezTo>
                  <a:pt x="215470" y="182518"/>
                  <a:pt x="209452" y="188536"/>
                  <a:pt x="202003" y="188536"/>
                </a:cubicBezTo>
                <a:lnTo>
                  <a:pt x="94268" y="188536"/>
                </a:lnTo>
                <a:cubicBezTo>
                  <a:pt x="86819" y="188536"/>
                  <a:pt x="80801" y="182518"/>
                  <a:pt x="80801" y="175069"/>
                </a:cubicBezTo>
                <a:cubicBezTo>
                  <a:pt x="80801" y="167620"/>
                  <a:pt x="86819" y="161602"/>
                  <a:pt x="94268" y="16160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88583" y="6302292"/>
            <a:ext cx="1161143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 Sink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6115" y="6805055"/>
            <a:ext cx="8810321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打印到控制台，适用于调试和开发阶段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780216" y="2172454"/>
            <a:ext cx="5985272" cy="6859122"/>
          </a:xfrm>
          <a:custGeom>
            <a:avLst/>
            <a:gdLst/>
            <a:ahLst/>
            <a:cxnLst/>
            <a:rect l="l" t="t" r="r" b="b"/>
            <a:pathLst>
              <a:path w="5985272" h="6859122">
                <a:moveTo>
                  <a:pt x="0" y="0"/>
                </a:moveTo>
                <a:lnTo>
                  <a:pt x="5985272" y="0"/>
                </a:lnTo>
                <a:lnTo>
                  <a:pt x="5985272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049553" y="2471718"/>
            <a:ext cx="323205" cy="287293"/>
          </a:xfrm>
          <a:custGeom>
            <a:avLst/>
            <a:gdLst/>
            <a:ahLst/>
            <a:cxnLst/>
            <a:rect l="l" t="t" r="r" b="b"/>
            <a:pathLst>
              <a:path w="323205" h="287293">
                <a:moveTo>
                  <a:pt x="202452" y="673"/>
                </a:moveTo>
                <a:cubicBezTo>
                  <a:pt x="192913" y="-2076"/>
                  <a:pt x="182981" y="3479"/>
                  <a:pt x="180232" y="13018"/>
                </a:cubicBezTo>
                <a:lnTo>
                  <a:pt x="108408" y="264399"/>
                </a:lnTo>
                <a:cubicBezTo>
                  <a:pt x="105659" y="273938"/>
                  <a:pt x="111214" y="283870"/>
                  <a:pt x="120753" y="286620"/>
                </a:cubicBezTo>
                <a:cubicBezTo>
                  <a:pt x="130292" y="289369"/>
                  <a:pt x="140224" y="283814"/>
                  <a:pt x="142973" y="274275"/>
                </a:cubicBezTo>
                <a:lnTo>
                  <a:pt x="214796" y="22894"/>
                </a:lnTo>
                <a:cubicBezTo>
                  <a:pt x="217546" y="13355"/>
                  <a:pt x="211991" y="3423"/>
                  <a:pt x="202452" y="673"/>
                </a:cubicBezTo>
                <a:close/>
                <a:moveTo>
                  <a:pt x="238700" y="77042"/>
                </a:moveTo>
                <a:cubicBezTo>
                  <a:pt x="231686" y="84056"/>
                  <a:pt x="231686" y="95446"/>
                  <a:pt x="238700" y="102460"/>
                </a:cubicBezTo>
                <a:lnTo>
                  <a:pt x="279886" y="143647"/>
                </a:lnTo>
                <a:lnTo>
                  <a:pt x="238700" y="184833"/>
                </a:lnTo>
                <a:cubicBezTo>
                  <a:pt x="231686" y="191847"/>
                  <a:pt x="231686" y="203237"/>
                  <a:pt x="238700" y="210251"/>
                </a:cubicBezTo>
                <a:cubicBezTo>
                  <a:pt x="245714" y="217265"/>
                  <a:pt x="257105" y="217265"/>
                  <a:pt x="264119" y="210251"/>
                </a:cubicBezTo>
                <a:lnTo>
                  <a:pt x="317986" y="156384"/>
                </a:lnTo>
                <a:cubicBezTo>
                  <a:pt x="325000" y="149370"/>
                  <a:pt x="325000" y="137979"/>
                  <a:pt x="317986" y="130965"/>
                </a:cubicBezTo>
                <a:lnTo>
                  <a:pt x="264119" y="77098"/>
                </a:lnTo>
                <a:cubicBezTo>
                  <a:pt x="257105" y="70084"/>
                  <a:pt x="245714" y="70084"/>
                  <a:pt x="238700" y="77098"/>
                </a:cubicBezTo>
                <a:close/>
                <a:moveTo>
                  <a:pt x="84561" y="77042"/>
                </a:moveTo>
                <a:cubicBezTo>
                  <a:pt x="77547" y="70028"/>
                  <a:pt x="66156" y="70028"/>
                  <a:pt x="59142" y="77042"/>
                </a:cubicBezTo>
                <a:lnTo>
                  <a:pt x="5275" y="130909"/>
                </a:lnTo>
                <a:cubicBezTo>
                  <a:pt x="-1739" y="137923"/>
                  <a:pt x="-1739" y="149314"/>
                  <a:pt x="5275" y="156328"/>
                </a:cubicBezTo>
                <a:lnTo>
                  <a:pt x="59142" y="210195"/>
                </a:lnTo>
                <a:cubicBezTo>
                  <a:pt x="66156" y="217209"/>
                  <a:pt x="77547" y="217209"/>
                  <a:pt x="84561" y="210195"/>
                </a:cubicBezTo>
                <a:cubicBezTo>
                  <a:pt x="91575" y="203181"/>
                  <a:pt x="91575" y="191791"/>
                  <a:pt x="84561" y="184777"/>
                </a:cubicBezTo>
                <a:lnTo>
                  <a:pt x="43375" y="143647"/>
                </a:lnTo>
                <a:lnTo>
                  <a:pt x="84505" y="102460"/>
                </a:lnTo>
                <a:cubicBezTo>
                  <a:pt x="91519" y="95446"/>
                  <a:pt x="91519" y="84056"/>
                  <a:pt x="84505" y="77042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390714" y="2423836"/>
            <a:ext cx="5267040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 使用示例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43568" y="3010392"/>
            <a:ext cx="5458568" cy="1532230"/>
          </a:xfrm>
          <a:custGeom>
            <a:avLst/>
            <a:gdLst/>
            <a:ahLst/>
            <a:cxnLst/>
            <a:rect l="l" t="t" r="r" b="b"/>
            <a:pathLst>
              <a:path w="5458568" h="1532230">
                <a:moveTo>
                  <a:pt x="0" y="0"/>
                </a:moveTo>
                <a:lnTo>
                  <a:pt x="5458568" y="0"/>
                </a:lnTo>
                <a:lnTo>
                  <a:pt x="5458568" y="1532230"/>
                </a:lnTo>
                <a:lnTo>
                  <a:pt x="0" y="15322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199185" y="3166010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Kafka Sink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99185" y="3447317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199185" y="3680743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13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addSink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FlinkKafkaProducer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&lt;&gt;(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99185" y="3914169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"topic"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SimpleStringSchema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(), properties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199185" y="4147594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043568" y="4704225"/>
            <a:ext cx="5458568" cy="1999081"/>
          </a:xfrm>
          <a:custGeom>
            <a:avLst/>
            <a:gdLst/>
            <a:ahLst/>
            <a:cxnLst/>
            <a:rect l="l" t="t" r="r" b="b"/>
            <a:pathLst>
              <a:path w="5458568" h="1999081">
                <a:moveTo>
                  <a:pt x="0" y="0"/>
                </a:moveTo>
                <a:lnTo>
                  <a:pt x="5458568" y="0"/>
                </a:lnTo>
                <a:lnTo>
                  <a:pt x="5458568" y="1999081"/>
                </a:lnTo>
                <a:lnTo>
                  <a:pt x="0" y="19990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BC8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199185" y="4859842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JDBC Sink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99185" y="5141149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99185" y="5374575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13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addSink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JdbcSink.sink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199185" y="5608001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"INSERT INTO table VALUES (?)"</a:t>
            </a: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199185" y="5841426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(ps, t) -&gt; ps.setString(1, t.toString()),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99185" y="6074852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jdbcConnectionOptions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199185" y="6308278"/>
            <a:ext cx="5219158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043568" y="6852937"/>
            <a:ext cx="5470539" cy="1843464"/>
          </a:xfrm>
          <a:custGeom>
            <a:avLst/>
            <a:gdLst/>
            <a:ahLst/>
            <a:cxnLst/>
            <a:rect l="l" t="t" r="r" b="b"/>
            <a:pathLst>
              <a:path w="5470539" h="1843464">
                <a:moveTo>
                  <a:pt x="0" y="0"/>
                </a:moveTo>
                <a:lnTo>
                  <a:pt x="5470539" y="0"/>
                </a:lnTo>
                <a:lnTo>
                  <a:pt x="5470539" y="1843464"/>
                </a:lnTo>
                <a:lnTo>
                  <a:pt x="0" y="1843464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043568" y="6852937"/>
            <a:ext cx="23941" cy="1843464"/>
          </a:xfrm>
          <a:custGeom>
            <a:avLst/>
            <a:gdLst/>
            <a:ahLst/>
            <a:cxnLst/>
            <a:rect l="l" t="t" r="r" b="b"/>
            <a:pathLst>
              <a:path w="23941" h="1843464">
                <a:moveTo>
                  <a:pt x="0" y="0"/>
                </a:moveTo>
                <a:lnTo>
                  <a:pt x="23941" y="0"/>
                </a:lnTo>
                <a:lnTo>
                  <a:pt x="23941" y="1843464"/>
                </a:lnTo>
                <a:lnTo>
                  <a:pt x="0" y="1843464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0199185" y="6996584"/>
            <a:ext cx="526704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 选择策略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265023" y="7427524"/>
            <a:ext cx="83794" cy="167588"/>
          </a:xfrm>
          <a:custGeom>
            <a:avLst/>
            <a:gdLst/>
            <a:ahLst/>
            <a:cxnLst/>
            <a:rect l="l" t="t" r="r" b="b"/>
            <a:pathLst>
              <a:path w="83794" h="167588">
                <a:moveTo>
                  <a:pt x="10638" y="31423"/>
                </a:moveTo>
                <a:cubicBezTo>
                  <a:pt x="10638" y="27200"/>
                  <a:pt x="13191" y="23371"/>
                  <a:pt x="17119" y="21734"/>
                </a:cubicBezTo>
                <a:cubicBezTo>
                  <a:pt x="21047" y="20097"/>
                  <a:pt x="25531" y="21014"/>
                  <a:pt x="28510" y="24025"/>
                </a:cubicBezTo>
                <a:lnTo>
                  <a:pt x="80881" y="76396"/>
                </a:lnTo>
                <a:cubicBezTo>
                  <a:pt x="84972" y="80488"/>
                  <a:pt x="84972" y="87132"/>
                  <a:pt x="80881" y="91224"/>
                </a:cubicBezTo>
                <a:lnTo>
                  <a:pt x="28510" y="143595"/>
                </a:lnTo>
                <a:cubicBezTo>
                  <a:pt x="25498" y="146606"/>
                  <a:pt x="21014" y="147490"/>
                  <a:pt x="17086" y="145854"/>
                </a:cubicBezTo>
                <a:cubicBezTo>
                  <a:pt x="13158" y="144217"/>
                  <a:pt x="10638" y="140387"/>
                  <a:pt x="10638" y="136165"/>
                </a:cubicBezTo>
                <a:lnTo>
                  <a:pt x="10638" y="3142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10504434" y="7379641"/>
            <a:ext cx="1987110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实时数据流 → Kafka Sink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265023" y="7738758"/>
            <a:ext cx="83794" cy="167588"/>
          </a:xfrm>
          <a:custGeom>
            <a:avLst/>
            <a:gdLst/>
            <a:ahLst/>
            <a:cxnLst/>
            <a:rect l="l" t="t" r="r" b="b"/>
            <a:pathLst>
              <a:path w="83794" h="167588">
                <a:moveTo>
                  <a:pt x="10638" y="31423"/>
                </a:moveTo>
                <a:cubicBezTo>
                  <a:pt x="10638" y="27200"/>
                  <a:pt x="13191" y="23371"/>
                  <a:pt x="17119" y="21734"/>
                </a:cubicBezTo>
                <a:cubicBezTo>
                  <a:pt x="21047" y="20097"/>
                  <a:pt x="25531" y="21014"/>
                  <a:pt x="28510" y="24025"/>
                </a:cubicBezTo>
                <a:lnTo>
                  <a:pt x="80881" y="76396"/>
                </a:lnTo>
                <a:cubicBezTo>
                  <a:pt x="84972" y="80488"/>
                  <a:pt x="84972" y="87132"/>
                  <a:pt x="80881" y="91224"/>
                </a:cubicBezTo>
                <a:lnTo>
                  <a:pt x="28510" y="143595"/>
                </a:lnTo>
                <a:cubicBezTo>
                  <a:pt x="25498" y="146606"/>
                  <a:pt x="21014" y="147490"/>
                  <a:pt x="17086" y="145854"/>
                </a:cubicBezTo>
                <a:cubicBezTo>
                  <a:pt x="13158" y="144217"/>
                  <a:pt x="10638" y="140387"/>
                  <a:pt x="10638" y="136165"/>
                </a:cubicBezTo>
                <a:lnTo>
                  <a:pt x="10638" y="3142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0504434" y="7690876"/>
            <a:ext cx="1663906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数据归档 → File Sink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265023" y="8049992"/>
            <a:ext cx="83794" cy="167588"/>
          </a:xfrm>
          <a:custGeom>
            <a:avLst/>
            <a:gdLst/>
            <a:ahLst/>
            <a:cxnLst/>
            <a:rect l="l" t="t" r="r" b="b"/>
            <a:pathLst>
              <a:path w="83794" h="167588">
                <a:moveTo>
                  <a:pt x="10638" y="31423"/>
                </a:moveTo>
                <a:cubicBezTo>
                  <a:pt x="10638" y="27200"/>
                  <a:pt x="13191" y="23371"/>
                  <a:pt x="17119" y="21734"/>
                </a:cubicBezTo>
                <a:cubicBezTo>
                  <a:pt x="21047" y="20097"/>
                  <a:pt x="25531" y="21014"/>
                  <a:pt x="28510" y="24025"/>
                </a:cubicBezTo>
                <a:lnTo>
                  <a:pt x="80881" y="76396"/>
                </a:lnTo>
                <a:cubicBezTo>
                  <a:pt x="84972" y="80488"/>
                  <a:pt x="84972" y="87132"/>
                  <a:pt x="80881" y="91224"/>
                </a:cubicBezTo>
                <a:lnTo>
                  <a:pt x="28510" y="143595"/>
                </a:lnTo>
                <a:cubicBezTo>
                  <a:pt x="25498" y="146606"/>
                  <a:pt x="21014" y="147490"/>
                  <a:pt x="17086" y="145854"/>
                </a:cubicBezTo>
                <a:cubicBezTo>
                  <a:pt x="13158" y="144217"/>
                  <a:pt x="10638" y="140387"/>
                  <a:pt x="10638" y="136165"/>
                </a:cubicBezTo>
                <a:lnTo>
                  <a:pt x="10638" y="3142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0504434" y="8002110"/>
            <a:ext cx="1987110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数据库存储 → JDBC Sink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265023" y="8361226"/>
            <a:ext cx="83794" cy="167588"/>
          </a:xfrm>
          <a:custGeom>
            <a:avLst/>
            <a:gdLst/>
            <a:ahLst/>
            <a:cxnLst/>
            <a:rect l="l" t="t" r="r" b="b"/>
            <a:pathLst>
              <a:path w="83794" h="167588">
                <a:moveTo>
                  <a:pt x="10638" y="31423"/>
                </a:moveTo>
                <a:cubicBezTo>
                  <a:pt x="10638" y="27200"/>
                  <a:pt x="13191" y="23371"/>
                  <a:pt x="17119" y="21734"/>
                </a:cubicBezTo>
                <a:cubicBezTo>
                  <a:pt x="21047" y="20097"/>
                  <a:pt x="25531" y="21014"/>
                  <a:pt x="28510" y="24025"/>
                </a:cubicBezTo>
                <a:lnTo>
                  <a:pt x="80881" y="76396"/>
                </a:lnTo>
                <a:cubicBezTo>
                  <a:pt x="84972" y="80488"/>
                  <a:pt x="84972" y="87132"/>
                  <a:pt x="80881" y="91224"/>
                </a:cubicBezTo>
                <a:lnTo>
                  <a:pt x="28510" y="143595"/>
                </a:lnTo>
                <a:cubicBezTo>
                  <a:pt x="25498" y="146606"/>
                  <a:pt x="21014" y="147490"/>
                  <a:pt x="17086" y="145854"/>
                </a:cubicBezTo>
                <a:cubicBezTo>
                  <a:pt x="13158" y="144217"/>
                  <a:pt x="10638" y="140387"/>
                  <a:pt x="10638" y="136165"/>
                </a:cubicBezTo>
                <a:lnTo>
                  <a:pt x="10638" y="3142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0504434" y="8313344"/>
            <a:ext cx="1747700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调试测试 → Print Sink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liftech.com/415c671a48a6d014ab6862db1c13e617cc3249ac.webp"/>
          <p:cNvPicPr>
            <a:picLocks noChangeAspect="1"/>
          </p:cNvPicPr>
          <p:nvPr/>
        </p:nvPicPr>
        <p:blipFill>
          <a:blip r:embed="rId3">
            <a:alphaModFix amt="30000"/>
          </a:blip>
          <a:srcRect t="20374" b="2037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BC8A4B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095625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645025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254625"/>
            <a:ext cx="15544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时间语义与窗口操作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70580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00100" y="708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46200" y="7058025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三种时间语义详解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62600" y="70580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829300" y="708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4435" y="73878"/>
                </a:moveTo>
                <a:cubicBezTo>
                  <a:pt x="256758" y="83165"/>
                  <a:pt x="271820" y="92154"/>
                  <a:pt x="288608" y="94417"/>
                </a:cubicBezTo>
                <a:cubicBezTo>
                  <a:pt x="296406" y="95488"/>
                  <a:pt x="303609" y="89952"/>
                  <a:pt x="304681" y="82153"/>
                </a:cubicBezTo>
                <a:cubicBezTo>
                  <a:pt x="305753" y="74355"/>
                  <a:pt x="300216" y="67151"/>
                  <a:pt x="292418" y="66080"/>
                </a:cubicBezTo>
                <a:cubicBezTo>
                  <a:pt x="282952" y="64830"/>
                  <a:pt x="272653" y="59353"/>
                  <a:pt x="261640" y="51078"/>
                </a:cubicBezTo>
                <a:cubicBezTo>
                  <a:pt x="238780" y="33814"/>
                  <a:pt x="207764" y="33814"/>
                  <a:pt x="184845" y="51078"/>
                </a:cubicBezTo>
                <a:cubicBezTo>
                  <a:pt x="170557" y="61853"/>
                  <a:pt x="160615" y="66735"/>
                  <a:pt x="152400" y="66735"/>
                </a:cubicBezTo>
                <a:cubicBezTo>
                  <a:pt x="144185" y="66735"/>
                  <a:pt x="134243" y="61853"/>
                  <a:pt x="119955" y="51078"/>
                </a:cubicBezTo>
                <a:cubicBezTo>
                  <a:pt x="97095" y="33814"/>
                  <a:pt x="66080" y="33814"/>
                  <a:pt x="43160" y="51078"/>
                </a:cubicBezTo>
                <a:cubicBezTo>
                  <a:pt x="32147" y="59353"/>
                  <a:pt x="21848" y="64830"/>
                  <a:pt x="12382" y="66080"/>
                </a:cubicBezTo>
                <a:cubicBezTo>
                  <a:pt x="4584" y="67151"/>
                  <a:pt x="-953" y="74295"/>
                  <a:pt x="119" y="82153"/>
                </a:cubicBezTo>
                <a:cubicBezTo>
                  <a:pt x="1191" y="90011"/>
                  <a:pt x="8334" y="95488"/>
                  <a:pt x="16192" y="94417"/>
                </a:cubicBezTo>
                <a:cubicBezTo>
                  <a:pt x="32980" y="92154"/>
                  <a:pt x="48101" y="83165"/>
                  <a:pt x="60365" y="73878"/>
                </a:cubicBezTo>
                <a:cubicBezTo>
                  <a:pt x="73045" y="64294"/>
                  <a:pt x="90071" y="64294"/>
                  <a:pt x="102751" y="73878"/>
                </a:cubicBezTo>
                <a:cubicBezTo>
                  <a:pt x="117157" y="84773"/>
                  <a:pt x="133886" y="95250"/>
                  <a:pt x="152400" y="95250"/>
                </a:cubicBezTo>
                <a:cubicBezTo>
                  <a:pt x="170914" y="95250"/>
                  <a:pt x="187583" y="84713"/>
                  <a:pt x="202049" y="73878"/>
                </a:cubicBezTo>
                <a:cubicBezTo>
                  <a:pt x="214729" y="64294"/>
                  <a:pt x="231755" y="64294"/>
                  <a:pt x="244435" y="73878"/>
                </a:cubicBezTo>
                <a:close/>
                <a:moveTo>
                  <a:pt x="244435" y="159603"/>
                </a:moveTo>
                <a:cubicBezTo>
                  <a:pt x="256758" y="168890"/>
                  <a:pt x="271820" y="177879"/>
                  <a:pt x="288608" y="180142"/>
                </a:cubicBezTo>
                <a:cubicBezTo>
                  <a:pt x="296406" y="181213"/>
                  <a:pt x="303609" y="175677"/>
                  <a:pt x="304681" y="167878"/>
                </a:cubicBezTo>
                <a:cubicBezTo>
                  <a:pt x="305753" y="160080"/>
                  <a:pt x="300216" y="152876"/>
                  <a:pt x="292418" y="151805"/>
                </a:cubicBezTo>
                <a:cubicBezTo>
                  <a:pt x="282952" y="150555"/>
                  <a:pt x="272653" y="145078"/>
                  <a:pt x="261640" y="136803"/>
                </a:cubicBezTo>
                <a:cubicBezTo>
                  <a:pt x="238780" y="119539"/>
                  <a:pt x="207764" y="119539"/>
                  <a:pt x="184845" y="136803"/>
                </a:cubicBezTo>
                <a:cubicBezTo>
                  <a:pt x="170557" y="147578"/>
                  <a:pt x="160615" y="152460"/>
                  <a:pt x="152400" y="152460"/>
                </a:cubicBezTo>
                <a:cubicBezTo>
                  <a:pt x="144185" y="152460"/>
                  <a:pt x="134243" y="147578"/>
                  <a:pt x="119955" y="136803"/>
                </a:cubicBezTo>
                <a:cubicBezTo>
                  <a:pt x="97095" y="119539"/>
                  <a:pt x="66080" y="119539"/>
                  <a:pt x="43160" y="136803"/>
                </a:cubicBezTo>
                <a:cubicBezTo>
                  <a:pt x="32147" y="145078"/>
                  <a:pt x="21848" y="150555"/>
                  <a:pt x="12382" y="151805"/>
                </a:cubicBezTo>
                <a:cubicBezTo>
                  <a:pt x="4584" y="152817"/>
                  <a:pt x="-953" y="160020"/>
                  <a:pt x="119" y="167878"/>
                </a:cubicBezTo>
                <a:cubicBezTo>
                  <a:pt x="1191" y="175736"/>
                  <a:pt x="8334" y="181213"/>
                  <a:pt x="16192" y="180142"/>
                </a:cubicBezTo>
                <a:cubicBezTo>
                  <a:pt x="32980" y="177879"/>
                  <a:pt x="48101" y="168890"/>
                  <a:pt x="60365" y="159603"/>
                </a:cubicBezTo>
                <a:cubicBezTo>
                  <a:pt x="73045" y="150019"/>
                  <a:pt x="90071" y="150019"/>
                  <a:pt x="102751" y="159603"/>
                </a:cubicBezTo>
                <a:cubicBezTo>
                  <a:pt x="117157" y="170498"/>
                  <a:pt x="133886" y="180975"/>
                  <a:pt x="152400" y="180975"/>
                </a:cubicBezTo>
                <a:cubicBezTo>
                  <a:pt x="170914" y="180975"/>
                  <a:pt x="187583" y="170438"/>
                  <a:pt x="202049" y="159603"/>
                </a:cubicBezTo>
                <a:cubicBezTo>
                  <a:pt x="214729" y="150019"/>
                  <a:pt x="231755" y="150019"/>
                  <a:pt x="244435" y="159603"/>
                </a:cubicBezTo>
                <a:close/>
                <a:moveTo>
                  <a:pt x="202049" y="245328"/>
                </a:moveTo>
                <a:cubicBezTo>
                  <a:pt x="214729" y="235744"/>
                  <a:pt x="231755" y="235744"/>
                  <a:pt x="244435" y="245328"/>
                </a:cubicBezTo>
                <a:cubicBezTo>
                  <a:pt x="256758" y="254615"/>
                  <a:pt x="271820" y="263604"/>
                  <a:pt x="288608" y="265867"/>
                </a:cubicBezTo>
                <a:cubicBezTo>
                  <a:pt x="296406" y="266938"/>
                  <a:pt x="303609" y="261402"/>
                  <a:pt x="304681" y="253603"/>
                </a:cubicBezTo>
                <a:cubicBezTo>
                  <a:pt x="305753" y="245805"/>
                  <a:pt x="300216" y="238601"/>
                  <a:pt x="292418" y="237530"/>
                </a:cubicBezTo>
                <a:cubicBezTo>
                  <a:pt x="282952" y="236280"/>
                  <a:pt x="272653" y="230803"/>
                  <a:pt x="261640" y="222528"/>
                </a:cubicBezTo>
                <a:cubicBezTo>
                  <a:pt x="238780" y="205264"/>
                  <a:pt x="207764" y="205264"/>
                  <a:pt x="184845" y="222528"/>
                </a:cubicBezTo>
                <a:cubicBezTo>
                  <a:pt x="170557" y="233303"/>
                  <a:pt x="160615" y="238185"/>
                  <a:pt x="152400" y="238185"/>
                </a:cubicBezTo>
                <a:cubicBezTo>
                  <a:pt x="144185" y="238185"/>
                  <a:pt x="134243" y="233303"/>
                  <a:pt x="119955" y="222528"/>
                </a:cubicBezTo>
                <a:cubicBezTo>
                  <a:pt x="97095" y="205264"/>
                  <a:pt x="66080" y="205264"/>
                  <a:pt x="43160" y="222528"/>
                </a:cubicBezTo>
                <a:cubicBezTo>
                  <a:pt x="32147" y="230803"/>
                  <a:pt x="21848" y="236280"/>
                  <a:pt x="12382" y="237530"/>
                </a:cubicBezTo>
                <a:cubicBezTo>
                  <a:pt x="4584" y="238601"/>
                  <a:pt x="-953" y="245745"/>
                  <a:pt x="119" y="253603"/>
                </a:cubicBezTo>
                <a:cubicBezTo>
                  <a:pt x="1191" y="261461"/>
                  <a:pt x="8334" y="266938"/>
                  <a:pt x="16192" y="265867"/>
                </a:cubicBezTo>
                <a:cubicBezTo>
                  <a:pt x="32980" y="263604"/>
                  <a:pt x="48101" y="254615"/>
                  <a:pt x="60365" y="245328"/>
                </a:cubicBezTo>
                <a:cubicBezTo>
                  <a:pt x="73045" y="235744"/>
                  <a:pt x="90071" y="235744"/>
                  <a:pt x="102751" y="245328"/>
                </a:cubicBezTo>
                <a:cubicBezTo>
                  <a:pt x="117157" y="256223"/>
                  <a:pt x="133886" y="266700"/>
                  <a:pt x="152400" y="266700"/>
                </a:cubicBezTo>
                <a:cubicBezTo>
                  <a:pt x="170914" y="266700"/>
                  <a:pt x="187583" y="256163"/>
                  <a:pt x="202049" y="245328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375400" y="7058025"/>
            <a:ext cx="250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机制原理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400" y="77184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00100" y="7743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52388" y="76200"/>
                </a:moveTo>
                <a:lnTo>
                  <a:pt x="252413" y="76200"/>
                </a:lnTo>
                <a:cubicBezTo>
                  <a:pt x="260330" y="76200"/>
                  <a:pt x="266700" y="82570"/>
                  <a:pt x="266700" y="90488"/>
                </a:cubicBezTo>
                <a:cubicBezTo>
                  <a:pt x="266700" y="98405"/>
                  <a:pt x="260330" y="104775"/>
                  <a:pt x="252413" y="104775"/>
                </a:cubicBezTo>
                <a:lnTo>
                  <a:pt x="52388" y="104775"/>
                </a:lnTo>
                <a:cubicBezTo>
                  <a:pt x="44470" y="104775"/>
                  <a:pt x="38100" y="98405"/>
                  <a:pt x="38100" y="90488"/>
                </a:cubicBezTo>
                <a:cubicBezTo>
                  <a:pt x="38100" y="82570"/>
                  <a:pt x="44470" y="76200"/>
                  <a:pt x="52388" y="7620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346200" y="7718425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窗口类型与操作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62600" y="7718425"/>
            <a:ext cx="50800" cy="355600"/>
          </a:xfrm>
          <a:custGeom>
            <a:avLst/>
            <a:gdLst/>
            <a:ahLst/>
            <a:cxnLst/>
            <a:rect l="l" t="t" r="r" b="b"/>
            <a:pathLst>
              <a:path w="50800" h="355600">
                <a:moveTo>
                  <a:pt x="0" y="0"/>
                </a:moveTo>
                <a:lnTo>
                  <a:pt x="50800" y="0"/>
                </a:lnTo>
                <a:lnTo>
                  <a:pt x="508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829300" y="7743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375400" y="7718425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实时流量统计案例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6600" y="6096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时间语义概述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288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支持三种时间语义处理时间相关问题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489200"/>
            <a:ext cx="4889500" cy="6146800"/>
          </a:xfrm>
          <a:custGeom>
            <a:avLst/>
            <a:gdLst/>
            <a:ahLst/>
            <a:cxnLst/>
            <a:rect l="l" t="t" r="r" b="b"/>
            <a:pathLst>
              <a:path w="4889500" h="6146800">
                <a:moveTo>
                  <a:pt x="0" y="0"/>
                </a:moveTo>
                <a:lnTo>
                  <a:pt x="4889500" y="0"/>
                </a:lnTo>
                <a:lnTo>
                  <a:pt x="48895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128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06475" y="2819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152995" y="113457"/>
                </a:moveTo>
                <a:cubicBezTo>
                  <a:pt x="156468" y="107900"/>
                  <a:pt x="154781" y="100558"/>
                  <a:pt x="149225" y="97036"/>
                </a:cubicBezTo>
                <a:cubicBezTo>
                  <a:pt x="143669" y="93514"/>
                  <a:pt x="136327" y="95250"/>
                  <a:pt x="132804" y="100806"/>
                </a:cubicBezTo>
                <a:lnTo>
                  <a:pt x="102344" y="149572"/>
                </a:lnTo>
                <a:lnTo>
                  <a:pt x="88950" y="131713"/>
                </a:lnTo>
                <a:cubicBezTo>
                  <a:pt x="84981" y="126454"/>
                  <a:pt x="77539" y="125363"/>
                  <a:pt x="72281" y="129332"/>
                </a:cubicBezTo>
                <a:cubicBezTo>
                  <a:pt x="67022" y="133300"/>
                  <a:pt x="65931" y="140742"/>
                  <a:pt x="69900" y="146000"/>
                </a:cubicBezTo>
                <a:lnTo>
                  <a:pt x="93712" y="177750"/>
                </a:lnTo>
                <a:cubicBezTo>
                  <a:pt x="96044" y="180876"/>
                  <a:pt x="99814" y="182662"/>
                  <a:pt x="103733" y="182513"/>
                </a:cubicBezTo>
                <a:cubicBezTo>
                  <a:pt x="107652" y="182364"/>
                  <a:pt x="111224" y="180280"/>
                  <a:pt x="113308" y="176907"/>
                </a:cubicBezTo>
                <a:lnTo>
                  <a:pt x="152995" y="11340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74800" y="27432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397250"/>
            <a:ext cx="1016000" cy="336550"/>
          </a:xfrm>
          <a:custGeom>
            <a:avLst/>
            <a:gdLst/>
            <a:ahLst/>
            <a:cxnLst/>
            <a:rect l="l" t="t" r="r" b="b"/>
            <a:pathLst>
              <a:path w="1016000" h="336550">
                <a:moveTo>
                  <a:pt x="0" y="0"/>
                </a:moveTo>
                <a:lnTo>
                  <a:pt x="1016000" y="0"/>
                </a:lnTo>
                <a:lnTo>
                  <a:pt x="1016000" y="336550"/>
                </a:lnTo>
                <a:lnTo>
                  <a:pt x="0" y="33655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2800" y="3397250"/>
            <a:ext cx="1104900" cy="33655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3860800"/>
            <a:ext cx="471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实际发生的时间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，通常嵌入在数据记录中。最符合业务逻辑的时间概念，能够处理乱序事件。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" y="4673600"/>
            <a:ext cx="4597400" cy="596900"/>
          </a:xfrm>
          <a:custGeom>
            <a:avLst/>
            <a:gdLst/>
            <a:ahLst/>
            <a:cxnLst/>
            <a:rect l="l" t="t" r="r" b="b"/>
            <a:pathLst>
              <a:path w="4597400" h="596900">
                <a:moveTo>
                  <a:pt x="0" y="0"/>
                </a:moveTo>
                <a:lnTo>
                  <a:pt x="4597400" y="0"/>
                </a:lnTo>
                <a:lnTo>
                  <a:pt x="4597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5500" y="4673600"/>
            <a:ext cx="25400" cy="596900"/>
          </a:xfrm>
          <a:custGeom>
            <a:avLst/>
            <a:gdLst/>
            <a:ahLst/>
            <a:cxnLst/>
            <a:rect l="l" t="t" r="r" b="b"/>
            <a:pathLst>
              <a:path w="25400" h="596900">
                <a:moveTo>
                  <a:pt x="0" y="0"/>
                </a:moveTo>
                <a:lnTo>
                  <a:pt x="25400" y="0"/>
                </a:lnTo>
                <a:lnTo>
                  <a:pt x="25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90600" y="4826000"/>
            <a:ext cx="436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需要配合 Watermark 机制来处理延迟数据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5961063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9313" y="64182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36650" y="6367463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处理乱序数据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9313" y="67484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36650" y="6697663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需要精确时间计算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9313" y="70786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36650" y="7027863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业务准确性要求高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" y="7975600"/>
            <a:ext cx="4610100" cy="508000"/>
          </a:xfrm>
          <a:custGeom>
            <a:avLst/>
            <a:gdLst/>
            <a:ahLst/>
            <a:cxnLst/>
            <a:rect l="l" t="t" r="r" b="b"/>
            <a:pathLst>
              <a:path w="4610100" h="508000">
                <a:moveTo>
                  <a:pt x="0" y="0"/>
                </a:moveTo>
                <a:lnTo>
                  <a:pt x="4610100" y="0"/>
                </a:lnTo>
                <a:lnTo>
                  <a:pt x="46101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455267" y="8096250"/>
            <a:ext cx="132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推荐默认使用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98034" y="2489200"/>
            <a:ext cx="4889500" cy="6146800"/>
          </a:xfrm>
          <a:custGeom>
            <a:avLst/>
            <a:gdLst/>
            <a:ahLst/>
            <a:cxnLst/>
            <a:rect l="l" t="t" r="r" b="b"/>
            <a:pathLst>
              <a:path w="4889500" h="6146800">
                <a:moveTo>
                  <a:pt x="0" y="0"/>
                </a:moveTo>
                <a:lnTo>
                  <a:pt x="4889500" y="0"/>
                </a:lnTo>
                <a:lnTo>
                  <a:pt x="48895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698034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77434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155234" y="281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39434" y="2743200"/>
            <a:ext cx="246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77434" y="3397250"/>
            <a:ext cx="1016000" cy="336550"/>
          </a:xfrm>
          <a:custGeom>
            <a:avLst/>
            <a:gdLst/>
            <a:ahLst/>
            <a:cxnLst/>
            <a:rect l="l" t="t" r="r" b="b"/>
            <a:pathLst>
              <a:path w="1016000" h="336550">
                <a:moveTo>
                  <a:pt x="0" y="0"/>
                </a:moveTo>
                <a:lnTo>
                  <a:pt x="1016000" y="0"/>
                </a:lnTo>
                <a:lnTo>
                  <a:pt x="1016000" y="336550"/>
                </a:lnTo>
                <a:lnTo>
                  <a:pt x="0" y="33655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977434" y="3397250"/>
            <a:ext cx="1104900" cy="33655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处理时间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77434" y="3860800"/>
            <a:ext cx="471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数据被 Flink 处理的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系统时间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，延迟最低，但无法处理乱序事件。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90134" y="4673600"/>
            <a:ext cx="4597400" cy="596900"/>
          </a:xfrm>
          <a:custGeom>
            <a:avLst/>
            <a:gdLst/>
            <a:ahLst/>
            <a:cxnLst/>
            <a:rect l="l" t="t" r="r" b="b"/>
            <a:pathLst>
              <a:path w="4597400" h="596900">
                <a:moveTo>
                  <a:pt x="0" y="0"/>
                </a:moveTo>
                <a:lnTo>
                  <a:pt x="4597400" y="0"/>
                </a:lnTo>
                <a:lnTo>
                  <a:pt x="4597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990134" y="4673600"/>
            <a:ext cx="25400" cy="596900"/>
          </a:xfrm>
          <a:custGeom>
            <a:avLst/>
            <a:gdLst/>
            <a:ahLst/>
            <a:cxnLst/>
            <a:rect l="l" t="t" r="r" b="b"/>
            <a:pathLst>
              <a:path w="25400" h="596900">
                <a:moveTo>
                  <a:pt x="0" y="0"/>
                </a:moveTo>
                <a:lnTo>
                  <a:pt x="25400" y="0"/>
                </a:lnTo>
                <a:lnTo>
                  <a:pt x="25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155234" y="4826000"/>
            <a:ext cx="436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适合对延迟敏感但对准确性要求不高的场景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77434" y="5961063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13946" y="64182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01284" y="6367463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极低延迟要求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13946" y="67484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301284" y="6697663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数据顺序保证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13946" y="70786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01284" y="7027863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简单的 ETL 场景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77434" y="7975600"/>
            <a:ext cx="4610100" cy="508000"/>
          </a:xfrm>
          <a:custGeom>
            <a:avLst/>
            <a:gdLst/>
            <a:ahLst/>
            <a:cxnLst/>
            <a:rect l="l" t="t" r="r" b="b"/>
            <a:pathLst>
              <a:path w="4610100" h="508000">
                <a:moveTo>
                  <a:pt x="0" y="0"/>
                </a:moveTo>
                <a:lnTo>
                  <a:pt x="4610100" y="0"/>
                </a:lnTo>
                <a:lnTo>
                  <a:pt x="46101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619901" y="8096250"/>
            <a:ext cx="132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延迟优先场景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62667" y="2489200"/>
            <a:ext cx="4889500" cy="6146800"/>
          </a:xfrm>
          <a:custGeom>
            <a:avLst/>
            <a:gdLst/>
            <a:ahLst/>
            <a:cxnLst/>
            <a:rect l="l" t="t" r="r" b="b"/>
            <a:pathLst>
              <a:path w="4889500" h="6146800">
                <a:moveTo>
                  <a:pt x="0" y="0"/>
                </a:moveTo>
                <a:lnTo>
                  <a:pt x="4889500" y="0"/>
                </a:lnTo>
                <a:lnTo>
                  <a:pt x="48895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862667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142067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319867" y="281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1152" y="135434"/>
                </a:moveTo>
                <a:cubicBezTo>
                  <a:pt x="175816" y="130770"/>
                  <a:pt x="175816" y="123230"/>
                  <a:pt x="171152" y="118616"/>
                </a:cubicBezTo>
                <a:lnTo>
                  <a:pt x="99715" y="47129"/>
                </a:lnTo>
                <a:cubicBezTo>
                  <a:pt x="96292" y="43706"/>
                  <a:pt x="91182" y="42714"/>
                  <a:pt x="86717" y="44549"/>
                </a:cubicBezTo>
                <a:cubicBezTo>
                  <a:pt x="82252" y="46385"/>
                  <a:pt x="79375" y="50750"/>
                  <a:pt x="79375" y="55563"/>
                </a:cubicBezTo>
                <a:lnTo>
                  <a:pt x="79375" y="95250"/>
                </a:lnTo>
                <a:lnTo>
                  <a:pt x="23812" y="95250"/>
                </a:lnTo>
                <a:cubicBezTo>
                  <a:pt x="10666" y="95250"/>
                  <a:pt x="0" y="105916"/>
                  <a:pt x="0" y="119063"/>
                </a:cubicBezTo>
                <a:lnTo>
                  <a:pt x="0" y="134938"/>
                </a:lnTo>
                <a:cubicBezTo>
                  <a:pt x="0" y="148084"/>
                  <a:pt x="10666" y="158750"/>
                  <a:pt x="23812" y="158750"/>
                </a:cubicBezTo>
                <a:lnTo>
                  <a:pt x="79375" y="158750"/>
                </a:lnTo>
                <a:lnTo>
                  <a:pt x="79375" y="198438"/>
                </a:lnTo>
                <a:cubicBezTo>
                  <a:pt x="79375" y="203250"/>
                  <a:pt x="82252" y="207615"/>
                  <a:pt x="86717" y="209451"/>
                </a:cubicBezTo>
                <a:cubicBezTo>
                  <a:pt x="91182" y="211286"/>
                  <a:pt x="96292" y="210294"/>
                  <a:pt x="99715" y="206871"/>
                </a:cubicBezTo>
                <a:lnTo>
                  <a:pt x="171152" y="135434"/>
                </a:lnTo>
                <a:close/>
                <a:moveTo>
                  <a:pt x="174625" y="206375"/>
                </a:moveTo>
                <a:cubicBezTo>
                  <a:pt x="165844" y="206375"/>
                  <a:pt x="158750" y="213469"/>
                  <a:pt x="158750" y="222250"/>
                </a:cubicBezTo>
                <a:cubicBezTo>
                  <a:pt x="158750" y="231031"/>
                  <a:pt x="165844" y="238125"/>
                  <a:pt x="174625" y="238125"/>
                </a:cubicBezTo>
                <a:lnTo>
                  <a:pt x="206375" y="238125"/>
                </a:lnTo>
                <a:cubicBezTo>
                  <a:pt x="232668" y="238125"/>
                  <a:pt x="254000" y="216793"/>
                  <a:pt x="254000" y="190500"/>
                </a:cubicBezTo>
                <a:lnTo>
                  <a:pt x="254000" y="63500"/>
                </a:lnTo>
                <a:cubicBezTo>
                  <a:pt x="254000" y="37207"/>
                  <a:pt x="232668" y="15875"/>
                  <a:pt x="206375" y="15875"/>
                </a:cubicBezTo>
                <a:lnTo>
                  <a:pt x="174625" y="15875"/>
                </a:lnTo>
                <a:cubicBezTo>
                  <a:pt x="165844" y="15875"/>
                  <a:pt x="158750" y="22969"/>
                  <a:pt x="158750" y="31750"/>
                </a:cubicBezTo>
                <a:cubicBezTo>
                  <a:pt x="158750" y="40531"/>
                  <a:pt x="165844" y="47625"/>
                  <a:pt x="174625" y="47625"/>
                </a:cubicBez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90500"/>
                </a:lnTo>
                <a:cubicBezTo>
                  <a:pt x="222250" y="199281"/>
                  <a:pt x="215156" y="206375"/>
                  <a:pt x="206375" y="206375"/>
                </a:cubicBezTo>
                <a:lnTo>
                  <a:pt x="174625" y="2063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904067" y="2743200"/>
            <a:ext cx="220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Ingestion 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42067" y="3397250"/>
            <a:ext cx="1016000" cy="336550"/>
          </a:xfrm>
          <a:custGeom>
            <a:avLst/>
            <a:gdLst/>
            <a:ahLst/>
            <a:cxnLst/>
            <a:rect l="l" t="t" r="r" b="b"/>
            <a:pathLst>
              <a:path w="1016000" h="336550">
                <a:moveTo>
                  <a:pt x="0" y="0"/>
                </a:moveTo>
                <a:lnTo>
                  <a:pt x="1016000" y="0"/>
                </a:lnTo>
                <a:lnTo>
                  <a:pt x="1016000" y="336550"/>
                </a:lnTo>
                <a:lnTo>
                  <a:pt x="0" y="33655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142067" y="3397250"/>
            <a:ext cx="1104900" cy="33655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摄入时间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142067" y="3860800"/>
            <a:ext cx="471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数据进入 Flink 系统的</a:t>
            </a:r>
            <a:r>
              <a:rPr lang="en-US" sz="1600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时间戳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，介于 Event Time 和 Processing Time 之间。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154767" y="4673600"/>
            <a:ext cx="4597400" cy="596900"/>
          </a:xfrm>
          <a:custGeom>
            <a:avLst/>
            <a:gdLst/>
            <a:ahLst/>
            <a:cxnLst/>
            <a:rect l="l" t="t" r="r" b="b"/>
            <a:pathLst>
              <a:path w="4597400" h="596900">
                <a:moveTo>
                  <a:pt x="0" y="0"/>
                </a:moveTo>
                <a:lnTo>
                  <a:pt x="4597400" y="0"/>
                </a:lnTo>
                <a:lnTo>
                  <a:pt x="4597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1154767" y="4673600"/>
            <a:ext cx="25400" cy="596900"/>
          </a:xfrm>
          <a:custGeom>
            <a:avLst/>
            <a:gdLst/>
            <a:ahLst/>
            <a:cxnLst/>
            <a:rect l="l" t="t" r="r" b="b"/>
            <a:pathLst>
              <a:path w="25400" h="596900">
                <a:moveTo>
                  <a:pt x="0" y="0"/>
                </a:moveTo>
                <a:lnTo>
                  <a:pt x="25400" y="0"/>
                </a:lnTo>
                <a:lnTo>
                  <a:pt x="254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319867" y="4826000"/>
            <a:ext cx="436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 Event Time 延迟低，比 Processing Time 更稳定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42067" y="5961063"/>
            <a:ext cx="471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178580" y="64182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465917" y="6367463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中等延迟要求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78580" y="67484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465917" y="6697663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无法获取事件时间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178580" y="70786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465917" y="7027863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需要一定的确定性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142067" y="7975600"/>
            <a:ext cx="4610100" cy="508000"/>
          </a:xfrm>
          <a:custGeom>
            <a:avLst/>
            <a:gdLst/>
            <a:ahLst/>
            <a:cxnLst/>
            <a:rect l="l" t="t" r="r" b="b"/>
            <a:pathLst>
              <a:path w="4610100" h="508000">
                <a:moveTo>
                  <a:pt x="0" y="0"/>
                </a:moveTo>
                <a:lnTo>
                  <a:pt x="4610100" y="0"/>
                </a:lnTo>
                <a:lnTo>
                  <a:pt x="46101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2987734" y="80962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折中方案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63500" cy="423333"/>
          </a:xfrm>
          <a:custGeom>
            <a:avLst/>
            <a:gdLst/>
            <a:ahLst/>
            <a:cxnLst/>
            <a:rect l="l" t="t" r="r" b="b"/>
            <a:pathLst>
              <a:path w="63500" h="423333">
                <a:moveTo>
                  <a:pt x="0" y="0"/>
                </a:moveTo>
                <a:lnTo>
                  <a:pt x="63500" y="0"/>
                </a:lnTo>
                <a:lnTo>
                  <a:pt x="635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3833" y="508000"/>
            <a:ext cx="1227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31333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Watermark 机制详解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524000"/>
            <a:ext cx="15515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处理乱序事件的核心机制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2074333"/>
            <a:ext cx="10075333" cy="2137833"/>
          </a:xfrm>
          <a:custGeom>
            <a:avLst/>
            <a:gdLst/>
            <a:ahLst/>
            <a:cxnLst/>
            <a:rect l="l" t="t" r="r" b="b"/>
            <a:pathLst>
              <a:path w="10075333" h="2137833">
                <a:moveTo>
                  <a:pt x="0" y="0"/>
                </a:moveTo>
                <a:lnTo>
                  <a:pt x="10075333" y="0"/>
                </a:lnTo>
                <a:lnTo>
                  <a:pt x="10075333" y="2137833"/>
                </a:lnTo>
                <a:lnTo>
                  <a:pt x="0" y="21378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4500" y="2074333"/>
            <a:ext cx="42333" cy="2137833"/>
          </a:xfrm>
          <a:custGeom>
            <a:avLst/>
            <a:gdLst/>
            <a:ahLst/>
            <a:cxnLst/>
            <a:rect l="l" t="t" r="r" b="b"/>
            <a:pathLst>
              <a:path w="42333" h="2137833">
                <a:moveTo>
                  <a:pt x="0" y="0"/>
                </a:moveTo>
                <a:lnTo>
                  <a:pt x="42333" y="0"/>
                </a:lnTo>
                <a:lnTo>
                  <a:pt x="42333" y="2137833"/>
                </a:lnTo>
                <a:lnTo>
                  <a:pt x="0" y="213783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9667" y="22436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7833" y="239183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69747" y="51304"/>
                </a:moveTo>
                <a:cubicBezTo>
                  <a:pt x="178304" y="57754"/>
                  <a:pt x="188764" y="63996"/>
                  <a:pt x="200422" y="65567"/>
                </a:cubicBezTo>
                <a:cubicBezTo>
                  <a:pt x="205838" y="66311"/>
                  <a:pt x="210840" y="62466"/>
                  <a:pt x="211584" y="57051"/>
                </a:cubicBezTo>
                <a:cubicBezTo>
                  <a:pt x="212328" y="51635"/>
                  <a:pt x="208483" y="46633"/>
                  <a:pt x="203068" y="45889"/>
                </a:cubicBezTo>
                <a:cubicBezTo>
                  <a:pt x="196494" y="45021"/>
                  <a:pt x="189342" y="41217"/>
                  <a:pt x="181694" y="35471"/>
                </a:cubicBezTo>
                <a:cubicBezTo>
                  <a:pt x="165819" y="23482"/>
                  <a:pt x="144281" y="23482"/>
                  <a:pt x="128364" y="35471"/>
                </a:cubicBezTo>
                <a:cubicBezTo>
                  <a:pt x="118442" y="42953"/>
                  <a:pt x="111538" y="46343"/>
                  <a:pt x="105833" y="46343"/>
                </a:cubicBezTo>
                <a:cubicBezTo>
                  <a:pt x="100128" y="46343"/>
                  <a:pt x="93224" y="42953"/>
                  <a:pt x="83302" y="35471"/>
                </a:cubicBezTo>
                <a:cubicBezTo>
                  <a:pt x="67427" y="23482"/>
                  <a:pt x="45889" y="23482"/>
                  <a:pt x="29972" y="35471"/>
                </a:cubicBezTo>
                <a:cubicBezTo>
                  <a:pt x="22324" y="41217"/>
                  <a:pt x="15172" y="45021"/>
                  <a:pt x="8599" y="45889"/>
                </a:cubicBezTo>
                <a:cubicBezTo>
                  <a:pt x="3183" y="46633"/>
                  <a:pt x="-661" y="51594"/>
                  <a:pt x="83" y="57051"/>
                </a:cubicBezTo>
                <a:cubicBezTo>
                  <a:pt x="827" y="62508"/>
                  <a:pt x="5788" y="66311"/>
                  <a:pt x="11245" y="65567"/>
                </a:cubicBezTo>
                <a:cubicBezTo>
                  <a:pt x="22903" y="63996"/>
                  <a:pt x="33404" y="57754"/>
                  <a:pt x="41920" y="51304"/>
                </a:cubicBezTo>
                <a:cubicBezTo>
                  <a:pt x="50726" y="44648"/>
                  <a:pt x="62549" y="44648"/>
                  <a:pt x="71355" y="51304"/>
                </a:cubicBezTo>
                <a:cubicBezTo>
                  <a:pt x="81359" y="58870"/>
                  <a:pt x="92976" y="66146"/>
                  <a:pt x="105833" y="66146"/>
                </a:cubicBezTo>
                <a:cubicBezTo>
                  <a:pt x="118690" y="66146"/>
                  <a:pt x="130266" y="58828"/>
                  <a:pt x="140312" y="51304"/>
                </a:cubicBezTo>
                <a:cubicBezTo>
                  <a:pt x="149118" y="44648"/>
                  <a:pt x="160941" y="44648"/>
                  <a:pt x="169747" y="51304"/>
                </a:cubicBezTo>
                <a:close/>
                <a:moveTo>
                  <a:pt x="169747" y="110836"/>
                </a:moveTo>
                <a:cubicBezTo>
                  <a:pt x="178304" y="117285"/>
                  <a:pt x="188764" y="123527"/>
                  <a:pt x="200422" y="125098"/>
                </a:cubicBezTo>
                <a:cubicBezTo>
                  <a:pt x="205838" y="125842"/>
                  <a:pt x="210840" y="121998"/>
                  <a:pt x="211584" y="116582"/>
                </a:cubicBezTo>
                <a:cubicBezTo>
                  <a:pt x="212328" y="111166"/>
                  <a:pt x="208483" y="106164"/>
                  <a:pt x="203068" y="105420"/>
                </a:cubicBezTo>
                <a:cubicBezTo>
                  <a:pt x="196494" y="104552"/>
                  <a:pt x="189342" y="100748"/>
                  <a:pt x="181694" y="95002"/>
                </a:cubicBezTo>
                <a:cubicBezTo>
                  <a:pt x="165819" y="83013"/>
                  <a:pt x="144281" y="83013"/>
                  <a:pt x="128364" y="95002"/>
                </a:cubicBezTo>
                <a:cubicBezTo>
                  <a:pt x="118442" y="102485"/>
                  <a:pt x="111538" y="105875"/>
                  <a:pt x="105833" y="105875"/>
                </a:cubicBezTo>
                <a:cubicBezTo>
                  <a:pt x="100128" y="105875"/>
                  <a:pt x="93224" y="102485"/>
                  <a:pt x="83302" y="95002"/>
                </a:cubicBezTo>
                <a:cubicBezTo>
                  <a:pt x="67427" y="83013"/>
                  <a:pt x="45889" y="83013"/>
                  <a:pt x="29972" y="95002"/>
                </a:cubicBezTo>
                <a:cubicBezTo>
                  <a:pt x="22324" y="100748"/>
                  <a:pt x="15172" y="104552"/>
                  <a:pt x="8599" y="105420"/>
                </a:cubicBezTo>
                <a:cubicBezTo>
                  <a:pt x="3183" y="106123"/>
                  <a:pt x="-661" y="111125"/>
                  <a:pt x="83" y="116582"/>
                </a:cubicBezTo>
                <a:cubicBezTo>
                  <a:pt x="827" y="122039"/>
                  <a:pt x="5788" y="125842"/>
                  <a:pt x="11245" y="125098"/>
                </a:cubicBezTo>
                <a:cubicBezTo>
                  <a:pt x="22903" y="123527"/>
                  <a:pt x="33404" y="117285"/>
                  <a:pt x="41920" y="110836"/>
                </a:cubicBezTo>
                <a:cubicBezTo>
                  <a:pt x="50726" y="104180"/>
                  <a:pt x="62549" y="104180"/>
                  <a:pt x="71355" y="110836"/>
                </a:cubicBezTo>
                <a:cubicBezTo>
                  <a:pt x="81359" y="118401"/>
                  <a:pt x="92976" y="125677"/>
                  <a:pt x="105833" y="125677"/>
                </a:cubicBezTo>
                <a:cubicBezTo>
                  <a:pt x="118690" y="125677"/>
                  <a:pt x="130266" y="118360"/>
                  <a:pt x="140312" y="110836"/>
                </a:cubicBezTo>
                <a:cubicBezTo>
                  <a:pt x="149118" y="104180"/>
                  <a:pt x="160941" y="104180"/>
                  <a:pt x="169747" y="110836"/>
                </a:cubicBezTo>
                <a:close/>
                <a:moveTo>
                  <a:pt x="140312" y="170367"/>
                </a:moveTo>
                <a:cubicBezTo>
                  <a:pt x="149118" y="163711"/>
                  <a:pt x="160941" y="163711"/>
                  <a:pt x="169747" y="170367"/>
                </a:cubicBezTo>
                <a:cubicBezTo>
                  <a:pt x="178304" y="176816"/>
                  <a:pt x="188764" y="183059"/>
                  <a:pt x="200422" y="184630"/>
                </a:cubicBezTo>
                <a:cubicBezTo>
                  <a:pt x="205838" y="185374"/>
                  <a:pt x="210840" y="181529"/>
                  <a:pt x="211584" y="176113"/>
                </a:cubicBezTo>
                <a:cubicBezTo>
                  <a:pt x="212328" y="170698"/>
                  <a:pt x="208483" y="165695"/>
                  <a:pt x="203068" y="164951"/>
                </a:cubicBezTo>
                <a:cubicBezTo>
                  <a:pt x="196494" y="164083"/>
                  <a:pt x="189342" y="160280"/>
                  <a:pt x="181694" y="154533"/>
                </a:cubicBezTo>
                <a:cubicBezTo>
                  <a:pt x="165819" y="142544"/>
                  <a:pt x="144281" y="142544"/>
                  <a:pt x="128364" y="154533"/>
                </a:cubicBezTo>
                <a:cubicBezTo>
                  <a:pt x="118442" y="162016"/>
                  <a:pt x="111538" y="165406"/>
                  <a:pt x="105833" y="165406"/>
                </a:cubicBezTo>
                <a:cubicBezTo>
                  <a:pt x="100128" y="165406"/>
                  <a:pt x="93224" y="162016"/>
                  <a:pt x="83302" y="154533"/>
                </a:cubicBezTo>
                <a:cubicBezTo>
                  <a:pt x="67427" y="142544"/>
                  <a:pt x="45889" y="142544"/>
                  <a:pt x="29972" y="154533"/>
                </a:cubicBezTo>
                <a:cubicBezTo>
                  <a:pt x="22324" y="160280"/>
                  <a:pt x="15172" y="164083"/>
                  <a:pt x="8599" y="164951"/>
                </a:cubicBezTo>
                <a:cubicBezTo>
                  <a:pt x="3183" y="165695"/>
                  <a:pt x="-661" y="170656"/>
                  <a:pt x="83" y="176113"/>
                </a:cubicBezTo>
                <a:cubicBezTo>
                  <a:pt x="827" y="181570"/>
                  <a:pt x="5788" y="185374"/>
                  <a:pt x="11245" y="184630"/>
                </a:cubicBezTo>
                <a:cubicBezTo>
                  <a:pt x="22903" y="183059"/>
                  <a:pt x="33404" y="176816"/>
                  <a:pt x="41920" y="170367"/>
                </a:cubicBezTo>
                <a:cubicBezTo>
                  <a:pt x="50726" y="163711"/>
                  <a:pt x="62549" y="163711"/>
                  <a:pt x="71355" y="170367"/>
                </a:cubicBezTo>
                <a:cubicBezTo>
                  <a:pt x="81359" y="177932"/>
                  <a:pt x="92976" y="185208"/>
                  <a:pt x="105833" y="185208"/>
                </a:cubicBezTo>
                <a:cubicBezTo>
                  <a:pt x="118690" y="185208"/>
                  <a:pt x="130266" y="177891"/>
                  <a:pt x="140312" y="17036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54667" y="2328333"/>
            <a:ext cx="2243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的作用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9667" y="2878667"/>
            <a:ext cx="9884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是 Flink 处理</a:t>
            </a:r>
            <a:r>
              <a:rPr lang="en-US" sz="133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乱序事件 </a:t>
            </a:r>
            <a:r>
              <a:rPr lang="en-US" sz="1333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的核心机制，它表示"时间进展"，告诉系统某个时间点之前的数据应该已经到达。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0250" y="3280833"/>
            <a:ext cx="4826000" cy="762000"/>
          </a:xfrm>
          <a:custGeom>
            <a:avLst/>
            <a:gdLst/>
            <a:ahLst/>
            <a:cxnLst/>
            <a:rect l="l" t="t" r="r" b="b"/>
            <a:pathLst>
              <a:path w="4826000" h="762000">
                <a:moveTo>
                  <a:pt x="0" y="0"/>
                </a:moveTo>
                <a:lnTo>
                  <a:pt x="4826000" y="0"/>
                </a:lnTo>
                <a:lnTo>
                  <a:pt x="4826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0250" y="3280833"/>
            <a:ext cx="21167" cy="762000"/>
          </a:xfrm>
          <a:custGeom>
            <a:avLst/>
            <a:gdLst/>
            <a:ahLst/>
            <a:cxnLst/>
            <a:rect l="l" t="t" r="r" b="b"/>
            <a:pathLst>
              <a:path w="21167" h="762000">
                <a:moveTo>
                  <a:pt x="0" y="0"/>
                </a:moveTo>
                <a:lnTo>
                  <a:pt x="21167" y="0"/>
                </a:lnTo>
                <a:lnTo>
                  <a:pt x="2116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7833" y="3407833"/>
            <a:ext cx="4646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处理乱序数据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7833" y="3704167"/>
            <a:ext cx="463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正确计算乱序到达的事件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94743" y="3280833"/>
            <a:ext cx="4826000" cy="762000"/>
          </a:xfrm>
          <a:custGeom>
            <a:avLst/>
            <a:gdLst/>
            <a:ahLst/>
            <a:cxnLst/>
            <a:rect l="l" t="t" r="r" b="b"/>
            <a:pathLst>
              <a:path w="4826000" h="762000">
                <a:moveTo>
                  <a:pt x="0" y="0"/>
                </a:moveTo>
                <a:lnTo>
                  <a:pt x="4826000" y="0"/>
                </a:lnTo>
                <a:lnTo>
                  <a:pt x="4826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694743" y="3280833"/>
            <a:ext cx="21167" cy="762000"/>
          </a:xfrm>
          <a:custGeom>
            <a:avLst/>
            <a:gdLst/>
            <a:ahLst/>
            <a:cxnLst/>
            <a:rect l="l" t="t" r="r" b="b"/>
            <a:pathLst>
              <a:path w="21167" h="762000">
                <a:moveTo>
                  <a:pt x="0" y="0"/>
                </a:moveTo>
                <a:lnTo>
                  <a:pt x="21167" y="0"/>
                </a:lnTo>
                <a:lnTo>
                  <a:pt x="2116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32326" y="3407833"/>
            <a:ext cx="4646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触发窗口计算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32326" y="3704167"/>
            <a:ext cx="463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定义何时触发窗口计算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500" y="4381500"/>
            <a:ext cx="10075333" cy="3026833"/>
          </a:xfrm>
          <a:custGeom>
            <a:avLst/>
            <a:gdLst/>
            <a:ahLst/>
            <a:cxnLst/>
            <a:rect l="l" t="t" r="r" b="b"/>
            <a:pathLst>
              <a:path w="10075333" h="3026833">
                <a:moveTo>
                  <a:pt x="0" y="0"/>
                </a:moveTo>
                <a:lnTo>
                  <a:pt x="10075333" y="0"/>
                </a:lnTo>
                <a:lnTo>
                  <a:pt x="10075333" y="3026833"/>
                </a:lnTo>
                <a:lnTo>
                  <a:pt x="0" y="3026833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4500" y="4381500"/>
            <a:ext cx="42333" cy="3026833"/>
          </a:xfrm>
          <a:custGeom>
            <a:avLst/>
            <a:gdLst/>
            <a:ahLst/>
            <a:cxnLst/>
            <a:rect l="l" t="t" r="r" b="b"/>
            <a:pathLst>
              <a:path w="42333" h="3026833">
                <a:moveTo>
                  <a:pt x="0" y="0"/>
                </a:moveTo>
                <a:lnTo>
                  <a:pt x="42333" y="0"/>
                </a:lnTo>
                <a:lnTo>
                  <a:pt x="42333" y="3026833"/>
                </a:lnTo>
                <a:lnTo>
                  <a:pt x="0" y="3026833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9667" y="45508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1375" y="4699000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54667" y="4635500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生成策略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0250" y="5185833"/>
            <a:ext cx="9789583" cy="963083"/>
          </a:xfrm>
          <a:custGeom>
            <a:avLst/>
            <a:gdLst/>
            <a:ahLst/>
            <a:cxnLst/>
            <a:rect l="l" t="t" r="r" b="b"/>
            <a:pathLst>
              <a:path w="9789583" h="963083">
                <a:moveTo>
                  <a:pt x="0" y="0"/>
                </a:moveTo>
                <a:lnTo>
                  <a:pt x="9789583" y="0"/>
                </a:lnTo>
                <a:lnTo>
                  <a:pt x="9789583" y="963083"/>
                </a:lnTo>
                <a:lnTo>
                  <a:pt x="0" y="96308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30250" y="5185833"/>
            <a:ext cx="21167" cy="963083"/>
          </a:xfrm>
          <a:custGeom>
            <a:avLst/>
            <a:gdLst/>
            <a:ahLst/>
            <a:cxnLst/>
            <a:rect l="l" t="t" r="r" b="b"/>
            <a:pathLst>
              <a:path w="21167" h="963083">
                <a:moveTo>
                  <a:pt x="0" y="0"/>
                </a:moveTo>
                <a:lnTo>
                  <a:pt x="21167" y="0"/>
                </a:lnTo>
                <a:lnTo>
                  <a:pt x="21167" y="963083"/>
                </a:lnTo>
                <a:lnTo>
                  <a:pt x="0" y="96308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10167" y="5355167"/>
            <a:ext cx="953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周期性生成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0167" y="5736167"/>
            <a:ext cx="951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按照固定时间间隔生成 Watermark，适用于大多数场景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0250" y="6273271"/>
            <a:ext cx="9789583" cy="963083"/>
          </a:xfrm>
          <a:custGeom>
            <a:avLst/>
            <a:gdLst/>
            <a:ahLst/>
            <a:cxnLst/>
            <a:rect l="l" t="t" r="r" b="b"/>
            <a:pathLst>
              <a:path w="9789583" h="963083">
                <a:moveTo>
                  <a:pt x="0" y="0"/>
                </a:moveTo>
                <a:lnTo>
                  <a:pt x="9789583" y="0"/>
                </a:lnTo>
                <a:lnTo>
                  <a:pt x="9789583" y="963083"/>
                </a:lnTo>
                <a:lnTo>
                  <a:pt x="0" y="963083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30250" y="6273271"/>
            <a:ext cx="21167" cy="963083"/>
          </a:xfrm>
          <a:custGeom>
            <a:avLst/>
            <a:gdLst/>
            <a:ahLst/>
            <a:cxnLst/>
            <a:rect l="l" t="t" r="r" b="b"/>
            <a:pathLst>
              <a:path w="21167" h="963083">
                <a:moveTo>
                  <a:pt x="0" y="0"/>
                </a:moveTo>
                <a:lnTo>
                  <a:pt x="21167" y="0"/>
                </a:lnTo>
                <a:lnTo>
                  <a:pt x="21167" y="963083"/>
                </a:lnTo>
                <a:lnTo>
                  <a:pt x="0" y="963083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0167" y="6442604"/>
            <a:ext cx="953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基于事件生成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0167" y="6823604"/>
            <a:ext cx="9514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根据特殊事件生成 Watermark，适用于不规则数据流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3917" y="7582958"/>
            <a:ext cx="10075333" cy="1291167"/>
          </a:xfrm>
          <a:custGeom>
            <a:avLst/>
            <a:gdLst/>
            <a:ahLst/>
            <a:cxnLst/>
            <a:rect l="l" t="t" r="r" b="b"/>
            <a:pathLst>
              <a:path w="10075333" h="1291167">
                <a:moveTo>
                  <a:pt x="0" y="0"/>
                </a:moveTo>
                <a:lnTo>
                  <a:pt x="10075333" y="0"/>
                </a:lnTo>
                <a:lnTo>
                  <a:pt x="10075333" y="1291167"/>
                </a:lnTo>
                <a:lnTo>
                  <a:pt x="0" y="129116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5583" y="77628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58333" y="7762875"/>
            <a:ext cx="9376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关键理解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8333" y="8143875"/>
            <a:ext cx="9355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是一种</a:t>
            </a:r>
            <a:r>
              <a:rPr lang="en-US" sz="1333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启发式机制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，它假设在某个时间点之后，不会有更早的数据到达。当 Watermark 超过窗口结束时间时，触发窗口计算。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86236" y="2084917"/>
            <a:ext cx="5037667" cy="8149167"/>
          </a:xfrm>
          <a:custGeom>
            <a:avLst/>
            <a:gdLst/>
            <a:ahLst/>
            <a:cxnLst/>
            <a:rect l="l" t="t" r="r" b="b"/>
            <a:pathLst>
              <a:path w="5037667" h="8149167">
                <a:moveTo>
                  <a:pt x="0" y="0"/>
                </a:moveTo>
                <a:lnTo>
                  <a:pt x="5037667" y="0"/>
                </a:lnTo>
                <a:lnTo>
                  <a:pt x="5037667" y="8149167"/>
                </a:lnTo>
                <a:lnTo>
                  <a:pt x="0" y="8149167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024361" y="2349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325986" y="2307167"/>
            <a:ext cx="440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 生成示例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19069" y="2825750"/>
            <a:ext cx="4572000" cy="2836333"/>
          </a:xfrm>
          <a:custGeom>
            <a:avLst/>
            <a:gdLst/>
            <a:ahLst/>
            <a:cxnLst/>
            <a:rect l="l" t="t" r="r" b="b"/>
            <a:pathLst>
              <a:path w="4572000" h="2836333">
                <a:moveTo>
                  <a:pt x="0" y="0"/>
                </a:moveTo>
                <a:lnTo>
                  <a:pt x="4572000" y="0"/>
                </a:lnTo>
                <a:lnTo>
                  <a:pt x="4572000" y="2836333"/>
                </a:lnTo>
                <a:lnTo>
                  <a:pt x="0" y="28363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98986" y="3005667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从 Kafka 读取事件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98986" y="321204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events = env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98986" y="3418417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addSource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KafkaSource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&lt;&gt;())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98986" y="362479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assignTimestampsAndWatermarks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98986" y="3857625"/>
            <a:ext cx="1363348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WatermarkStrategy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98986" y="403754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.&lt;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forBoundedOutOfOrderness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98986" y="4243917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Duration.ofSeconds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r>
              <a:rPr lang="en-US" sz="1000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5秒延迟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98986" y="445029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98986" y="4656667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withTimestampAssigner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((event, timestamp) -&gt;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98986" y="486304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getTimestamp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98986" y="5069417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98986" y="5275792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19069" y="5842000"/>
            <a:ext cx="4582583" cy="751417"/>
          </a:xfrm>
          <a:custGeom>
            <a:avLst/>
            <a:gdLst/>
            <a:ahLst/>
            <a:cxnLst/>
            <a:rect l="l" t="t" r="r" b="b"/>
            <a:pathLst>
              <a:path w="4582583" h="751417">
                <a:moveTo>
                  <a:pt x="0" y="0"/>
                </a:moveTo>
                <a:lnTo>
                  <a:pt x="4582583" y="0"/>
                </a:lnTo>
                <a:lnTo>
                  <a:pt x="4582583" y="751417"/>
                </a:lnTo>
                <a:lnTo>
                  <a:pt x="0" y="75141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019069" y="5842000"/>
            <a:ext cx="21167" cy="751417"/>
          </a:xfrm>
          <a:custGeom>
            <a:avLst/>
            <a:gdLst/>
            <a:ahLst/>
            <a:cxnLst/>
            <a:rect l="l" t="t" r="r" b="b"/>
            <a:pathLst>
              <a:path w="21167" h="751417">
                <a:moveTo>
                  <a:pt x="0" y="0"/>
                </a:moveTo>
                <a:lnTo>
                  <a:pt x="21167" y="0"/>
                </a:lnTo>
                <a:lnTo>
                  <a:pt x="21167" y="751417"/>
                </a:lnTo>
                <a:lnTo>
                  <a:pt x="0" y="751417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156652" y="5969000"/>
            <a:ext cx="440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延迟设置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56652" y="6265333"/>
            <a:ext cx="4392083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根据业务特点设置合理的延迟时间，平衡准确性和延迟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19069" y="6723063"/>
            <a:ext cx="4582583" cy="751417"/>
          </a:xfrm>
          <a:custGeom>
            <a:avLst/>
            <a:gdLst/>
            <a:ahLst/>
            <a:cxnLst/>
            <a:rect l="l" t="t" r="r" b="b"/>
            <a:pathLst>
              <a:path w="4582583" h="751417">
                <a:moveTo>
                  <a:pt x="0" y="0"/>
                </a:moveTo>
                <a:lnTo>
                  <a:pt x="4582583" y="0"/>
                </a:lnTo>
                <a:lnTo>
                  <a:pt x="4582583" y="751417"/>
                </a:lnTo>
                <a:lnTo>
                  <a:pt x="0" y="751417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1019069" y="6723063"/>
            <a:ext cx="21167" cy="751417"/>
          </a:xfrm>
          <a:custGeom>
            <a:avLst/>
            <a:gdLst/>
            <a:ahLst/>
            <a:cxnLst/>
            <a:rect l="l" t="t" r="r" b="b"/>
            <a:pathLst>
              <a:path w="21167" h="751417">
                <a:moveTo>
                  <a:pt x="0" y="0"/>
                </a:moveTo>
                <a:lnTo>
                  <a:pt x="21167" y="0"/>
                </a:lnTo>
                <a:lnTo>
                  <a:pt x="21167" y="751417"/>
                </a:lnTo>
                <a:lnTo>
                  <a:pt x="0" y="751417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156652" y="6850063"/>
            <a:ext cx="440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时间提取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56652" y="7146396"/>
            <a:ext cx="4392083" cy="201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从事件数据中提取时间戳字段作为事件时间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0510" y="460510"/>
            <a:ext cx="69076" cy="460510"/>
          </a:xfrm>
          <a:custGeom>
            <a:avLst/>
            <a:gdLst/>
            <a:ahLst/>
            <a:cxnLst/>
            <a:rect l="l" t="t" r="r" b="b"/>
            <a:pathLst>
              <a:path w="69076" h="460510">
                <a:moveTo>
                  <a:pt x="0" y="0"/>
                </a:moveTo>
                <a:lnTo>
                  <a:pt x="69076" y="0"/>
                </a:lnTo>
                <a:lnTo>
                  <a:pt x="69076" y="460510"/>
                </a:lnTo>
                <a:lnTo>
                  <a:pt x="0" y="46051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7739" y="552612"/>
            <a:ext cx="1335479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kern="0" spc="73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510" y="1013122"/>
            <a:ext cx="15542210" cy="46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63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窗口操作类型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68091" y="1062963"/>
            <a:ext cx="12520113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将无限流数据切分为有限块进行处理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3535" y="1543653"/>
            <a:ext cx="7552363" cy="6493190"/>
          </a:xfrm>
          <a:custGeom>
            <a:avLst/>
            <a:gdLst/>
            <a:ahLst/>
            <a:cxnLst/>
            <a:rect l="l" t="t" r="r" b="b"/>
            <a:pathLst>
              <a:path w="7552363" h="6493190">
                <a:moveTo>
                  <a:pt x="0" y="0"/>
                </a:moveTo>
                <a:lnTo>
                  <a:pt x="7552363" y="0"/>
                </a:lnTo>
                <a:lnTo>
                  <a:pt x="7552363" y="6493190"/>
                </a:lnTo>
                <a:lnTo>
                  <a:pt x="0" y="649319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3535" y="1543653"/>
            <a:ext cx="46051" cy="6493190"/>
          </a:xfrm>
          <a:custGeom>
            <a:avLst/>
            <a:gdLst/>
            <a:ahLst/>
            <a:cxnLst/>
            <a:rect l="l" t="t" r="r" b="b"/>
            <a:pathLst>
              <a:path w="46051" h="6493190">
                <a:moveTo>
                  <a:pt x="0" y="0"/>
                </a:moveTo>
                <a:lnTo>
                  <a:pt x="46051" y="0"/>
                </a:lnTo>
                <a:lnTo>
                  <a:pt x="46051" y="6493190"/>
                </a:lnTo>
                <a:lnTo>
                  <a:pt x="0" y="649319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90765" y="1727857"/>
            <a:ext cx="460510" cy="460510"/>
          </a:xfrm>
          <a:custGeom>
            <a:avLst/>
            <a:gdLst/>
            <a:ahLst/>
            <a:cxnLst/>
            <a:rect l="l" t="t" r="r" b="b"/>
            <a:pathLst>
              <a:path w="460510" h="460510">
                <a:moveTo>
                  <a:pt x="0" y="0"/>
                </a:moveTo>
                <a:lnTo>
                  <a:pt x="460510" y="0"/>
                </a:lnTo>
                <a:lnTo>
                  <a:pt x="460510" y="460510"/>
                </a:lnTo>
                <a:lnTo>
                  <a:pt x="0" y="46051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0283" y="1854497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cubicBezTo>
                  <a:pt x="160801" y="0"/>
                  <a:pt x="207229" y="46428"/>
                  <a:pt x="207229" y="103615"/>
                </a:cubicBezTo>
                <a:cubicBezTo>
                  <a:pt x="207229" y="160801"/>
                  <a:pt x="160801" y="207229"/>
                  <a:pt x="103615" y="207229"/>
                </a:cubicBezTo>
                <a:cubicBezTo>
                  <a:pt x="46428" y="207229"/>
                  <a:pt x="0" y="160801"/>
                  <a:pt x="0" y="103615"/>
                </a:cubicBezTo>
                <a:cubicBezTo>
                  <a:pt x="0" y="46428"/>
                  <a:pt x="46428" y="0"/>
                  <a:pt x="103615" y="0"/>
                </a:cubicBezTo>
                <a:close/>
                <a:moveTo>
                  <a:pt x="93901" y="48569"/>
                </a:moveTo>
                <a:lnTo>
                  <a:pt x="93901" y="103615"/>
                </a:lnTo>
                <a:cubicBezTo>
                  <a:pt x="93901" y="106853"/>
                  <a:pt x="95520" y="109888"/>
                  <a:pt x="98232" y="111710"/>
                </a:cubicBezTo>
                <a:lnTo>
                  <a:pt x="137087" y="137613"/>
                </a:lnTo>
                <a:cubicBezTo>
                  <a:pt x="141539" y="140608"/>
                  <a:pt x="147570" y="139394"/>
                  <a:pt x="150565" y="134902"/>
                </a:cubicBezTo>
                <a:cubicBezTo>
                  <a:pt x="153560" y="130409"/>
                  <a:pt x="152346" y="124419"/>
                  <a:pt x="147853" y="121424"/>
                </a:cubicBezTo>
                <a:lnTo>
                  <a:pt x="113329" y="98434"/>
                </a:lnTo>
                <a:lnTo>
                  <a:pt x="113329" y="48569"/>
                </a:lnTo>
                <a:cubicBezTo>
                  <a:pt x="113329" y="43186"/>
                  <a:pt x="108998" y="38856"/>
                  <a:pt x="103615" y="38856"/>
                </a:cubicBezTo>
                <a:cubicBezTo>
                  <a:pt x="98232" y="38856"/>
                  <a:pt x="93901" y="43186"/>
                  <a:pt x="93901" y="485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89428" y="1796933"/>
            <a:ext cx="1036147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时间窗口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765" y="2326519"/>
            <a:ext cx="7253031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45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时间跨度 </a:t>
            </a:r>
            <a:r>
              <a:rPr lang="en-US" sz="14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划分窗口，支持滚动、滑动和会话三种模式。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2278" y="2764004"/>
            <a:ext cx="7149416" cy="1600272"/>
          </a:xfrm>
          <a:custGeom>
            <a:avLst/>
            <a:gdLst/>
            <a:ahLst/>
            <a:cxnLst/>
            <a:rect l="l" t="t" r="r" b="b"/>
            <a:pathLst>
              <a:path w="7149416" h="1600272">
                <a:moveTo>
                  <a:pt x="23025" y="0"/>
                </a:moveTo>
                <a:lnTo>
                  <a:pt x="7057321" y="0"/>
                </a:lnTo>
                <a:cubicBezTo>
                  <a:pt x="7108184" y="0"/>
                  <a:pt x="7149416" y="41233"/>
                  <a:pt x="7149416" y="92096"/>
                </a:cubicBezTo>
                <a:lnTo>
                  <a:pt x="7149416" y="1508176"/>
                </a:lnTo>
                <a:cubicBezTo>
                  <a:pt x="7149416" y="1559039"/>
                  <a:pt x="7108184" y="1600272"/>
                  <a:pt x="7057321" y="1600272"/>
                </a:cubicBez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02278" y="2764004"/>
            <a:ext cx="23025" cy="1600272"/>
          </a:xfrm>
          <a:custGeom>
            <a:avLst/>
            <a:gdLst/>
            <a:ahLst/>
            <a:cxnLst/>
            <a:rect l="l" t="t" r="r" b="b"/>
            <a:pathLst>
              <a:path w="23025" h="1600272">
                <a:moveTo>
                  <a:pt x="23025" y="0"/>
                </a:moveTo>
                <a:lnTo>
                  <a:pt x="23025" y="0"/>
                </a:lnTo>
                <a:lnTo>
                  <a:pt x="23025" y="1600272"/>
                </a:ln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74969" y="2948208"/>
            <a:ext cx="184204" cy="184204"/>
          </a:xfrm>
          <a:custGeom>
            <a:avLst/>
            <a:gdLst/>
            <a:ahLst/>
            <a:cxnLst/>
            <a:rect l="l" t="t" r="r" b="b"/>
            <a:pathLst>
              <a:path w="184204" h="184204">
                <a:moveTo>
                  <a:pt x="23709" y="82208"/>
                </a:moveTo>
                <a:cubicBezTo>
                  <a:pt x="28494" y="48749"/>
                  <a:pt x="57312" y="23025"/>
                  <a:pt x="92102" y="23025"/>
                </a:cubicBezTo>
                <a:cubicBezTo>
                  <a:pt x="111170" y="23025"/>
                  <a:pt x="128439" y="30761"/>
                  <a:pt x="140959" y="43245"/>
                </a:cubicBezTo>
                <a:cubicBezTo>
                  <a:pt x="141031" y="43317"/>
                  <a:pt x="141103" y="43389"/>
                  <a:pt x="141175" y="43461"/>
                </a:cubicBezTo>
                <a:lnTo>
                  <a:pt x="143909" y="46051"/>
                </a:lnTo>
                <a:lnTo>
                  <a:pt x="126676" y="46051"/>
                </a:lnTo>
                <a:cubicBezTo>
                  <a:pt x="120308" y="46051"/>
                  <a:pt x="115163" y="51196"/>
                  <a:pt x="115163" y="57564"/>
                </a:cubicBezTo>
                <a:cubicBezTo>
                  <a:pt x="115163" y="63932"/>
                  <a:pt x="120308" y="69076"/>
                  <a:pt x="126676" y="69076"/>
                </a:cubicBezTo>
                <a:lnTo>
                  <a:pt x="172727" y="69076"/>
                </a:lnTo>
                <a:cubicBezTo>
                  <a:pt x="179095" y="69076"/>
                  <a:pt x="184240" y="63932"/>
                  <a:pt x="184240" y="57564"/>
                </a:cubicBezTo>
                <a:lnTo>
                  <a:pt x="184240" y="11513"/>
                </a:lnTo>
                <a:cubicBezTo>
                  <a:pt x="184240" y="5145"/>
                  <a:pt x="179095" y="0"/>
                  <a:pt x="172727" y="0"/>
                </a:cubicBezTo>
                <a:cubicBezTo>
                  <a:pt x="166359" y="0"/>
                  <a:pt x="161214" y="5145"/>
                  <a:pt x="161214" y="11513"/>
                </a:cubicBezTo>
                <a:lnTo>
                  <a:pt x="161214" y="30725"/>
                </a:lnTo>
                <a:lnTo>
                  <a:pt x="157149" y="26875"/>
                </a:lnTo>
                <a:cubicBezTo>
                  <a:pt x="140492" y="10290"/>
                  <a:pt x="117466" y="0"/>
                  <a:pt x="92102" y="0"/>
                </a:cubicBezTo>
                <a:cubicBezTo>
                  <a:pt x="45691" y="0"/>
                  <a:pt x="7303" y="34322"/>
                  <a:pt x="935" y="78970"/>
                </a:cubicBezTo>
                <a:cubicBezTo>
                  <a:pt x="36" y="85266"/>
                  <a:pt x="4389" y="91095"/>
                  <a:pt x="10685" y="91994"/>
                </a:cubicBezTo>
                <a:cubicBezTo>
                  <a:pt x="16981" y="92893"/>
                  <a:pt x="22810" y="88504"/>
                  <a:pt x="23709" y="82244"/>
                </a:cubicBezTo>
                <a:close/>
                <a:moveTo>
                  <a:pt x="183269" y="105234"/>
                </a:moveTo>
                <a:cubicBezTo>
                  <a:pt x="184168" y="98938"/>
                  <a:pt x="179779" y="93109"/>
                  <a:pt x="173519" y="92210"/>
                </a:cubicBezTo>
                <a:cubicBezTo>
                  <a:pt x="167259" y="91310"/>
                  <a:pt x="161394" y="95700"/>
                  <a:pt x="160495" y="101960"/>
                </a:cubicBezTo>
                <a:cubicBezTo>
                  <a:pt x="155710" y="135419"/>
                  <a:pt x="126892" y="161142"/>
                  <a:pt x="92102" y="161142"/>
                </a:cubicBezTo>
                <a:cubicBezTo>
                  <a:pt x="73034" y="161142"/>
                  <a:pt x="55765" y="153407"/>
                  <a:pt x="43245" y="140923"/>
                </a:cubicBezTo>
                <a:cubicBezTo>
                  <a:pt x="43173" y="140851"/>
                  <a:pt x="43101" y="140779"/>
                  <a:pt x="43029" y="140707"/>
                </a:cubicBezTo>
                <a:lnTo>
                  <a:pt x="40295" y="138117"/>
                </a:lnTo>
                <a:lnTo>
                  <a:pt x="57528" y="138117"/>
                </a:lnTo>
                <a:cubicBezTo>
                  <a:pt x="63896" y="138117"/>
                  <a:pt x="69041" y="132972"/>
                  <a:pt x="69041" y="126604"/>
                </a:cubicBezTo>
                <a:cubicBezTo>
                  <a:pt x="69041" y="120236"/>
                  <a:pt x="63896" y="115092"/>
                  <a:pt x="57528" y="115092"/>
                </a:cubicBezTo>
                <a:lnTo>
                  <a:pt x="11513" y="115127"/>
                </a:lnTo>
                <a:cubicBezTo>
                  <a:pt x="8455" y="115127"/>
                  <a:pt x="5505" y="116351"/>
                  <a:pt x="3346" y="118545"/>
                </a:cubicBezTo>
                <a:cubicBezTo>
                  <a:pt x="1187" y="120740"/>
                  <a:pt x="-36" y="123654"/>
                  <a:pt x="0" y="126748"/>
                </a:cubicBezTo>
                <a:lnTo>
                  <a:pt x="360" y="172439"/>
                </a:lnTo>
                <a:cubicBezTo>
                  <a:pt x="396" y="178807"/>
                  <a:pt x="5612" y="183916"/>
                  <a:pt x="11980" y="183844"/>
                </a:cubicBezTo>
                <a:cubicBezTo>
                  <a:pt x="18348" y="183772"/>
                  <a:pt x="23457" y="178592"/>
                  <a:pt x="23385" y="172224"/>
                </a:cubicBezTo>
                <a:lnTo>
                  <a:pt x="23241" y="153695"/>
                </a:lnTo>
                <a:lnTo>
                  <a:pt x="27091" y="157329"/>
                </a:lnTo>
                <a:cubicBezTo>
                  <a:pt x="43748" y="173914"/>
                  <a:pt x="66738" y="184204"/>
                  <a:pt x="92102" y="184204"/>
                </a:cubicBezTo>
                <a:cubicBezTo>
                  <a:pt x="138513" y="184204"/>
                  <a:pt x="176901" y="149882"/>
                  <a:pt x="183269" y="105234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82198" y="2902157"/>
            <a:ext cx="6723445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滚动窗口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1943" y="3224514"/>
            <a:ext cx="6942187" cy="264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窗口不重叠，固定长度，按顺序排列。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1943" y="3814002"/>
            <a:ext cx="6861598" cy="414459"/>
          </a:xfrm>
          <a:custGeom>
            <a:avLst/>
            <a:gdLst/>
            <a:ahLst/>
            <a:cxnLst/>
            <a:rect l="l" t="t" r="r" b="b"/>
            <a:pathLst>
              <a:path w="6861598" h="414459">
                <a:moveTo>
                  <a:pt x="46051" y="0"/>
                </a:moveTo>
                <a:lnTo>
                  <a:pt x="6815547" y="0"/>
                </a:lnTo>
                <a:cubicBezTo>
                  <a:pt x="6840980" y="0"/>
                  <a:pt x="6861598" y="20618"/>
                  <a:pt x="6861598" y="46051"/>
                </a:cubicBezTo>
                <a:lnTo>
                  <a:pt x="6861598" y="368408"/>
                </a:lnTo>
                <a:cubicBezTo>
                  <a:pt x="6861598" y="393841"/>
                  <a:pt x="6840980" y="414459"/>
                  <a:pt x="6815547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4045" y="3906104"/>
            <a:ext cx="6757983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TumblingEventTimeWindows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Time.seconds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278" y="4504767"/>
            <a:ext cx="7149416" cy="1600272"/>
          </a:xfrm>
          <a:custGeom>
            <a:avLst/>
            <a:gdLst/>
            <a:ahLst/>
            <a:cxnLst/>
            <a:rect l="l" t="t" r="r" b="b"/>
            <a:pathLst>
              <a:path w="7149416" h="1600272">
                <a:moveTo>
                  <a:pt x="23025" y="0"/>
                </a:moveTo>
                <a:lnTo>
                  <a:pt x="7057321" y="0"/>
                </a:lnTo>
                <a:cubicBezTo>
                  <a:pt x="7108184" y="0"/>
                  <a:pt x="7149416" y="41233"/>
                  <a:pt x="7149416" y="92096"/>
                </a:cubicBezTo>
                <a:lnTo>
                  <a:pt x="7149416" y="1508176"/>
                </a:lnTo>
                <a:cubicBezTo>
                  <a:pt x="7149416" y="1559039"/>
                  <a:pt x="7108184" y="1600272"/>
                  <a:pt x="7057321" y="1600272"/>
                </a:cubicBez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02278" y="4504767"/>
            <a:ext cx="23025" cy="1600272"/>
          </a:xfrm>
          <a:custGeom>
            <a:avLst/>
            <a:gdLst/>
            <a:ahLst/>
            <a:cxnLst/>
            <a:rect l="l" t="t" r="r" b="b"/>
            <a:pathLst>
              <a:path w="23025" h="1600272">
                <a:moveTo>
                  <a:pt x="23025" y="0"/>
                </a:moveTo>
                <a:lnTo>
                  <a:pt x="23025" y="0"/>
                </a:lnTo>
                <a:lnTo>
                  <a:pt x="23025" y="1600272"/>
                </a:ln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74969" y="4688971"/>
            <a:ext cx="184204" cy="184204"/>
          </a:xfrm>
          <a:custGeom>
            <a:avLst/>
            <a:gdLst/>
            <a:ahLst/>
            <a:cxnLst/>
            <a:rect l="l" t="t" r="r" b="b"/>
            <a:pathLst>
              <a:path w="184204" h="184204">
                <a:moveTo>
                  <a:pt x="83647" y="1871"/>
                </a:moveTo>
                <a:cubicBezTo>
                  <a:pt x="89008" y="-612"/>
                  <a:pt x="95196" y="-612"/>
                  <a:pt x="100557" y="1871"/>
                </a:cubicBezTo>
                <a:lnTo>
                  <a:pt x="179203" y="38208"/>
                </a:lnTo>
                <a:cubicBezTo>
                  <a:pt x="182261" y="39611"/>
                  <a:pt x="184204" y="42669"/>
                  <a:pt x="184204" y="46051"/>
                </a:cubicBezTo>
                <a:cubicBezTo>
                  <a:pt x="184204" y="49433"/>
                  <a:pt x="182261" y="52491"/>
                  <a:pt x="179203" y="53894"/>
                </a:cubicBezTo>
                <a:lnTo>
                  <a:pt x="100557" y="90231"/>
                </a:lnTo>
                <a:cubicBezTo>
                  <a:pt x="95196" y="92714"/>
                  <a:pt x="89008" y="92714"/>
                  <a:pt x="83647" y="90231"/>
                </a:cubicBezTo>
                <a:lnTo>
                  <a:pt x="5001" y="53894"/>
                </a:lnTo>
                <a:cubicBezTo>
                  <a:pt x="1943" y="52455"/>
                  <a:pt x="0" y="49397"/>
                  <a:pt x="0" y="46051"/>
                </a:cubicBezTo>
                <a:cubicBezTo>
                  <a:pt x="0" y="42705"/>
                  <a:pt x="1943" y="39611"/>
                  <a:pt x="5001" y="38208"/>
                </a:cubicBezTo>
                <a:lnTo>
                  <a:pt x="83647" y="1871"/>
                </a:lnTo>
                <a:close/>
                <a:moveTo>
                  <a:pt x="17305" y="78575"/>
                </a:moveTo>
                <a:lnTo>
                  <a:pt x="76416" y="105881"/>
                </a:lnTo>
                <a:cubicBezTo>
                  <a:pt x="86382" y="110486"/>
                  <a:pt x="97858" y="110486"/>
                  <a:pt x="107824" y="105881"/>
                </a:cubicBezTo>
                <a:lnTo>
                  <a:pt x="166935" y="78575"/>
                </a:lnTo>
                <a:lnTo>
                  <a:pt x="179203" y="84259"/>
                </a:lnTo>
                <a:cubicBezTo>
                  <a:pt x="182261" y="85662"/>
                  <a:pt x="184204" y="88720"/>
                  <a:pt x="184204" y="92102"/>
                </a:cubicBezTo>
                <a:cubicBezTo>
                  <a:pt x="184204" y="95484"/>
                  <a:pt x="182261" y="98542"/>
                  <a:pt x="179203" y="99945"/>
                </a:cubicBezTo>
                <a:lnTo>
                  <a:pt x="100557" y="136282"/>
                </a:lnTo>
                <a:cubicBezTo>
                  <a:pt x="95196" y="138765"/>
                  <a:pt x="89008" y="138765"/>
                  <a:pt x="83647" y="136282"/>
                </a:cubicBezTo>
                <a:lnTo>
                  <a:pt x="5001" y="99945"/>
                </a:lnTo>
                <a:cubicBezTo>
                  <a:pt x="1943" y="98506"/>
                  <a:pt x="0" y="95448"/>
                  <a:pt x="0" y="92102"/>
                </a:cubicBezTo>
                <a:cubicBezTo>
                  <a:pt x="0" y="88756"/>
                  <a:pt x="1943" y="85662"/>
                  <a:pt x="5001" y="84259"/>
                </a:cubicBezTo>
                <a:lnTo>
                  <a:pt x="17269" y="78575"/>
                </a:lnTo>
                <a:close/>
                <a:moveTo>
                  <a:pt x="5001" y="130310"/>
                </a:moveTo>
                <a:lnTo>
                  <a:pt x="17269" y="124625"/>
                </a:lnTo>
                <a:lnTo>
                  <a:pt x="76380" y="151932"/>
                </a:lnTo>
                <a:cubicBezTo>
                  <a:pt x="86346" y="156537"/>
                  <a:pt x="97822" y="156537"/>
                  <a:pt x="107788" y="151932"/>
                </a:cubicBezTo>
                <a:lnTo>
                  <a:pt x="166899" y="124625"/>
                </a:lnTo>
                <a:lnTo>
                  <a:pt x="179167" y="130310"/>
                </a:lnTo>
                <a:cubicBezTo>
                  <a:pt x="182225" y="131713"/>
                  <a:pt x="184168" y="134771"/>
                  <a:pt x="184168" y="138153"/>
                </a:cubicBezTo>
                <a:cubicBezTo>
                  <a:pt x="184168" y="141535"/>
                  <a:pt x="182225" y="144593"/>
                  <a:pt x="179167" y="145996"/>
                </a:cubicBezTo>
                <a:lnTo>
                  <a:pt x="100521" y="182333"/>
                </a:lnTo>
                <a:cubicBezTo>
                  <a:pt x="95160" y="184816"/>
                  <a:pt x="88972" y="184816"/>
                  <a:pt x="83611" y="182333"/>
                </a:cubicBezTo>
                <a:lnTo>
                  <a:pt x="5001" y="145996"/>
                </a:lnTo>
                <a:cubicBezTo>
                  <a:pt x="1943" y="144557"/>
                  <a:pt x="0" y="141499"/>
                  <a:pt x="0" y="138153"/>
                </a:cubicBezTo>
                <a:cubicBezTo>
                  <a:pt x="0" y="134807"/>
                  <a:pt x="1943" y="131713"/>
                  <a:pt x="5001" y="13031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82198" y="4642920"/>
            <a:ext cx="6723445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滑动窗口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1943" y="4965277"/>
            <a:ext cx="6942187" cy="264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窗口有重叠，可配置滑动间隔。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1943" y="5324511"/>
            <a:ext cx="6861598" cy="644714"/>
          </a:xfrm>
          <a:custGeom>
            <a:avLst/>
            <a:gdLst/>
            <a:ahLst/>
            <a:cxnLst/>
            <a:rect l="l" t="t" r="r" b="b"/>
            <a:pathLst>
              <a:path w="6861598" h="644714">
                <a:moveTo>
                  <a:pt x="46052" y="0"/>
                </a:moveTo>
                <a:lnTo>
                  <a:pt x="6815546" y="0"/>
                </a:lnTo>
                <a:cubicBezTo>
                  <a:pt x="6840980" y="0"/>
                  <a:pt x="6861598" y="20618"/>
                  <a:pt x="6861598" y="46052"/>
                </a:cubicBezTo>
                <a:lnTo>
                  <a:pt x="6861598" y="598662"/>
                </a:lnTo>
                <a:cubicBezTo>
                  <a:pt x="6861598" y="624096"/>
                  <a:pt x="6840980" y="644714"/>
                  <a:pt x="6815546" y="644714"/>
                </a:cubicBezTo>
                <a:lnTo>
                  <a:pt x="46052" y="644714"/>
                </a:lnTo>
                <a:cubicBezTo>
                  <a:pt x="20618" y="644714"/>
                  <a:pt x="0" y="624096"/>
                  <a:pt x="0" y="598662"/>
                </a:cubicBezTo>
                <a:lnTo>
                  <a:pt x="0" y="46052"/>
                </a:lnTo>
                <a:cubicBezTo>
                  <a:pt x="0" y="20618"/>
                  <a:pt x="20618" y="0"/>
                  <a:pt x="46052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44045" y="5416613"/>
            <a:ext cx="6757983" cy="46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SlidingEventTimeWindows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Time.seconds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 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Time.seconds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2278" y="6245531"/>
            <a:ext cx="7149416" cy="1600272"/>
          </a:xfrm>
          <a:custGeom>
            <a:avLst/>
            <a:gdLst/>
            <a:ahLst/>
            <a:cxnLst/>
            <a:rect l="l" t="t" r="r" b="b"/>
            <a:pathLst>
              <a:path w="7149416" h="1600272">
                <a:moveTo>
                  <a:pt x="23025" y="0"/>
                </a:moveTo>
                <a:lnTo>
                  <a:pt x="7057321" y="0"/>
                </a:lnTo>
                <a:cubicBezTo>
                  <a:pt x="7108184" y="0"/>
                  <a:pt x="7149416" y="41233"/>
                  <a:pt x="7149416" y="92096"/>
                </a:cubicBezTo>
                <a:lnTo>
                  <a:pt x="7149416" y="1508176"/>
                </a:lnTo>
                <a:cubicBezTo>
                  <a:pt x="7149416" y="1559039"/>
                  <a:pt x="7108184" y="1600272"/>
                  <a:pt x="7057321" y="1600272"/>
                </a:cubicBez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02278" y="6245531"/>
            <a:ext cx="23025" cy="1600272"/>
          </a:xfrm>
          <a:custGeom>
            <a:avLst/>
            <a:gdLst/>
            <a:ahLst/>
            <a:cxnLst/>
            <a:rect l="l" t="t" r="r" b="b"/>
            <a:pathLst>
              <a:path w="23025" h="1600272">
                <a:moveTo>
                  <a:pt x="23025" y="0"/>
                </a:moveTo>
                <a:lnTo>
                  <a:pt x="23025" y="0"/>
                </a:lnTo>
                <a:lnTo>
                  <a:pt x="23025" y="1600272"/>
                </a:lnTo>
                <a:lnTo>
                  <a:pt x="23025" y="1600272"/>
                </a:lnTo>
                <a:cubicBezTo>
                  <a:pt x="10309" y="1600272"/>
                  <a:pt x="0" y="1589963"/>
                  <a:pt x="0" y="1577246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3456" y="6429735"/>
            <a:ext cx="207229" cy="184204"/>
          </a:xfrm>
          <a:custGeom>
            <a:avLst/>
            <a:gdLst/>
            <a:ahLst/>
            <a:cxnLst/>
            <a:rect l="l" t="t" r="r" b="b"/>
            <a:pathLst>
              <a:path w="207229" h="184204">
                <a:moveTo>
                  <a:pt x="80589" y="2878"/>
                </a:moveTo>
                <a:cubicBezTo>
                  <a:pt x="104417" y="2878"/>
                  <a:pt x="123762" y="22223"/>
                  <a:pt x="123762" y="46051"/>
                </a:cubicBezTo>
                <a:cubicBezTo>
                  <a:pt x="123762" y="69879"/>
                  <a:pt x="104417" y="89224"/>
                  <a:pt x="80589" y="89224"/>
                </a:cubicBezTo>
                <a:cubicBezTo>
                  <a:pt x="56762" y="89224"/>
                  <a:pt x="37416" y="69879"/>
                  <a:pt x="37416" y="46051"/>
                </a:cubicBezTo>
                <a:cubicBezTo>
                  <a:pt x="37416" y="22223"/>
                  <a:pt x="56762" y="2878"/>
                  <a:pt x="80589" y="2878"/>
                </a:cubicBezTo>
                <a:close/>
                <a:moveTo>
                  <a:pt x="69904" y="109371"/>
                </a:moveTo>
                <a:lnTo>
                  <a:pt x="91275" y="109371"/>
                </a:lnTo>
                <a:cubicBezTo>
                  <a:pt x="92678" y="109371"/>
                  <a:pt x="94117" y="109407"/>
                  <a:pt x="95520" y="109515"/>
                </a:cubicBezTo>
                <a:cubicBezTo>
                  <a:pt x="89692" y="119661"/>
                  <a:pt x="86346" y="131389"/>
                  <a:pt x="86346" y="143909"/>
                </a:cubicBezTo>
                <a:cubicBezTo>
                  <a:pt x="86346" y="158948"/>
                  <a:pt x="91167" y="172871"/>
                  <a:pt x="99297" y="184204"/>
                </a:cubicBezTo>
                <a:lnTo>
                  <a:pt x="16442" y="184204"/>
                </a:lnTo>
                <a:cubicBezTo>
                  <a:pt x="10541" y="184204"/>
                  <a:pt x="5756" y="179419"/>
                  <a:pt x="5756" y="173519"/>
                </a:cubicBezTo>
                <a:cubicBezTo>
                  <a:pt x="5756" y="138081"/>
                  <a:pt x="34466" y="109371"/>
                  <a:pt x="69904" y="109371"/>
                </a:cubicBezTo>
                <a:close/>
                <a:moveTo>
                  <a:pt x="103615" y="143909"/>
                </a:moveTo>
                <a:cubicBezTo>
                  <a:pt x="103615" y="115316"/>
                  <a:pt x="126829" y="92102"/>
                  <a:pt x="155422" y="92102"/>
                </a:cubicBezTo>
                <a:cubicBezTo>
                  <a:pt x="184015" y="92102"/>
                  <a:pt x="207229" y="115316"/>
                  <a:pt x="207229" y="143909"/>
                </a:cubicBezTo>
                <a:cubicBezTo>
                  <a:pt x="207229" y="172503"/>
                  <a:pt x="184015" y="195717"/>
                  <a:pt x="155422" y="195717"/>
                </a:cubicBezTo>
                <a:cubicBezTo>
                  <a:pt x="126829" y="195717"/>
                  <a:pt x="103615" y="172503"/>
                  <a:pt x="103615" y="143909"/>
                </a:cubicBezTo>
                <a:close/>
                <a:moveTo>
                  <a:pt x="155422" y="115127"/>
                </a:moveTo>
                <a:cubicBezTo>
                  <a:pt x="152256" y="115127"/>
                  <a:pt x="149666" y="117718"/>
                  <a:pt x="149666" y="120884"/>
                </a:cubicBezTo>
                <a:lnTo>
                  <a:pt x="149666" y="143909"/>
                </a:lnTo>
                <a:cubicBezTo>
                  <a:pt x="149666" y="147075"/>
                  <a:pt x="152256" y="149666"/>
                  <a:pt x="155422" y="149666"/>
                </a:cubicBezTo>
                <a:lnTo>
                  <a:pt x="172691" y="149666"/>
                </a:lnTo>
                <a:cubicBezTo>
                  <a:pt x="175857" y="149666"/>
                  <a:pt x="178448" y="147075"/>
                  <a:pt x="178448" y="143909"/>
                </a:cubicBezTo>
                <a:cubicBezTo>
                  <a:pt x="178448" y="140743"/>
                  <a:pt x="175857" y="138153"/>
                  <a:pt x="172691" y="138153"/>
                </a:cubicBezTo>
                <a:lnTo>
                  <a:pt x="161178" y="138153"/>
                </a:lnTo>
                <a:lnTo>
                  <a:pt x="161178" y="120884"/>
                </a:lnTo>
                <a:cubicBezTo>
                  <a:pt x="161178" y="117718"/>
                  <a:pt x="158588" y="115127"/>
                  <a:pt x="155422" y="115127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82198" y="6383684"/>
            <a:ext cx="6723445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会话窗口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1943" y="6706041"/>
            <a:ext cx="6942187" cy="264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基于活动间隙动态划分窗口。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1943" y="7295529"/>
            <a:ext cx="6861598" cy="414459"/>
          </a:xfrm>
          <a:custGeom>
            <a:avLst/>
            <a:gdLst/>
            <a:ahLst/>
            <a:cxnLst/>
            <a:rect l="l" t="t" r="r" b="b"/>
            <a:pathLst>
              <a:path w="6861598" h="414459">
                <a:moveTo>
                  <a:pt x="46051" y="0"/>
                </a:moveTo>
                <a:lnTo>
                  <a:pt x="6815547" y="0"/>
                </a:lnTo>
                <a:cubicBezTo>
                  <a:pt x="6840980" y="0"/>
                  <a:pt x="6861598" y="20618"/>
                  <a:pt x="6861598" y="46051"/>
                </a:cubicBezTo>
                <a:lnTo>
                  <a:pt x="6861598" y="368408"/>
                </a:lnTo>
                <a:cubicBezTo>
                  <a:pt x="6861598" y="393841"/>
                  <a:pt x="6840980" y="414459"/>
                  <a:pt x="6815547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44045" y="7387631"/>
            <a:ext cx="6757983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EventTimeSessionWindows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withGap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Time.seconds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0519" y="1543653"/>
            <a:ext cx="7552363" cy="6493190"/>
          </a:xfrm>
          <a:custGeom>
            <a:avLst/>
            <a:gdLst/>
            <a:ahLst/>
            <a:cxnLst/>
            <a:rect l="l" t="t" r="r" b="b"/>
            <a:pathLst>
              <a:path w="7552363" h="6493190">
                <a:moveTo>
                  <a:pt x="0" y="0"/>
                </a:moveTo>
                <a:lnTo>
                  <a:pt x="7552363" y="0"/>
                </a:lnTo>
                <a:lnTo>
                  <a:pt x="7552363" y="6493190"/>
                </a:lnTo>
                <a:lnTo>
                  <a:pt x="0" y="649319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40519" y="1543653"/>
            <a:ext cx="46051" cy="6493190"/>
          </a:xfrm>
          <a:custGeom>
            <a:avLst/>
            <a:gdLst/>
            <a:ahLst/>
            <a:cxnLst/>
            <a:rect l="l" t="t" r="r" b="b"/>
            <a:pathLst>
              <a:path w="46051" h="6493190">
                <a:moveTo>
                  <a:pt x="0" y="0"/>
                </a:moveTo>
                <a:lnTo>
                  <a:pt x="46051" y="0"/>
                </a:lnTo>
                <a:lnTo>
                  <a:pt x="46051" y="6493190"/>
                </a:lnTo>
                <a:lnTo>
                  <a:pt x="0" y="649319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47749" y="1727857"/>
            <a:ext cx="460510" cy="460510"/>
          </a:xfrm>
          <a:custGeom>
            <a:avLst/>
            <a:gdLst/>
            <a:ahLst/>
            <a:cxnLst/>
            <a:rect l="l" t="t" r="r" b="b"/>
            <a:pathLst>
              <a:path w="460510" h="460510">
                <a:moveTo>
                  <a:pt x="0" y="0"/>
                </a:moveTo>
                <a:lnTo>
                  <a:pt x="460510" y="0"/>
                </a:lnTo>
                <a:lnTo>
                  <a:pt x="460510" y="460510"/>
                </a:lnTo>
                <a:lnTo>
                  <a:pt x="0" y="46051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03171" y="1854497"/>
            <a:ext cx="155422" cy="207229"/>
          </a:xfrm>
          <a:custGeom>
            <a:avLst/>
            <a:gdLst/>
            <a:ahLst/>
            <a:cxnLst/>
            <a:rect l="l" t="t" r="r" b="b"/>
            <a:pathLst>
              <a:path w="155422" h="207229">
                <a:moveTo>
                  <a:pt x="25904" y="0"/>
                </a:moveTo>
                <a:cubicBezTo>
                  <a:pt x="11616" y="0"/>
                  <a:pt x="0" y="11616"/>
                  <a:pt x="0" y="25904"/>
                </a:cubicBezTo>
                <a:lnTo>
                  <a:pt x="0" y="181326"/>
                </a:lnTo>
                <a:cubicBezTo>
                  <a:pt x="0" y="195613"/>
                  <a:pt x="11616" y="207229"/>
                  <a:pt x="25904" y="207229"/>
                </a:cubicBezTo>
                <a:lnTo>
                  <a:pt x="129518" y="207229"/>
                </a:lnTo>
                <a:cubicBezTo>
                  <a:pt x="143806" y="207229"/>
                  <a:pt x="155422" y="195613"/>
                  <a:pt x="155422" y="181326"/>
                </a:cubicBezTo>
                <a:lnTo>
                  <a:pt x="155422" y="25904"/>
                </a:lnTo>
                <a:cubicBezTo>
                  <a:pt x="155422" y="11616"/>
                  <a:pt x="143806" y="0"/>
                  <a:pt x="129518" y="0"/>
                </a:cubicBezTo>
                <a:lnTo>
                  <a:pt x="25904" y="0"/>
                </a:lnTo>
                <a:close/>
                <a:moveTo>
                  <a:pt x="38856" y="25904"/>
                </a:moveTo>
                <a:lnTo>
                  <a:pt x="116567" y="25904"/>
                </a:lnTo>
                <a:cubicBezTo>
                  <a:pt x="123731" y="25904"/>
                  <a:pt x="129518" y="31692"/>
                  <a:pt x="129518" y="38856"/>
                </a:cubicBezTo>
                <a:lnTo>
                  <a:pt x="129518" y="51807"/>
                </a:lnTo>
                <a:cubicBezTo>
                  <a:pt x="129518" y="58971"/>
                  <a:pt x="123731" y="64759"/>
                  <a:pt x="116567" y="64759"/>
                </a:cubicBezTo>
                <a:lnTo>
                  <a:pt x="38856" y="64759"/>
                </a:lnTo>
                <a:cubicBezTo>
                  <a:pt x="31692" y="64759"/>
                  <a:pt x="25904" y="58971"/>
                  <a:pt x="25904" y="51807"/>
                </a:cubicBezTo>
                <a:lnTo>
                  <a:pt x="25904" y="38856"/>
                </a:lnTo>
                <a:cubicBezTo>
                  <a:pt x="25904" y="31692"/>
                  <a:pt x="31692" y="25904"/>
                  <a:pt x="38856" y="25904"/>
                </a:cubicBezTo>
                <a:close/>
                <a:moveTo>
                  <a:pt x="45331" y="93901"/>
                </a:moveTo>
                <a:cubicBezTo>
                  <a:pt x="45331" y="99262"/>
                  <a:pt x="40979" y="103615"/>
                  <a:pt x="35618" y="103615"/>
                </a:cubicBezTo>
                <a:cubicBezTo>
                  <a:pt x="30256" y="103615"/>
                  <a:pt x="25904" y="99262"/>
                  <a:pt x="25904" y="93901"/>
                </a:cubicBezTo>
                <a:cubicBezTo>
                  <a:pt x="25904" y="88540"/>
                  <a:pt x="30256" y="84187"/>
                  <a:pt x="35618" y="84187"/>
                </a:cubicBezTo>
                <a:cubicBezTo>
                  <a:pt x="40979" y="84187"/>
                  <a:pt x="45331" y="88540"/>
                  <a:pt x="45331" y="93901"/>
                </a:cubicBezTo>
                <a:close/>
                <a:moveTo>
                  <a:pt x="77711" y="103615"/>
                </a:moveTo>
                <a:cubicBezTo>
                  <a:pt x="72350" y="103615"/>
                  <a:pt x="67997" y="99262"/>
                  <a:pt x="67997" y="93901"/>
                </a:cubicBezTo>
                <a:cubicBezTo>
                  <a:pt x="67997" y="88540"/>
                  <a:pt x="72350" y="84187"/>
                  <a:pt x="77711" y="84187"/>
                </a:cubicBezTo>
                <a:cubicBezTo>
                  <a:pt x="83072" y="84187"/>
                  <a:pt x="87425" y="88540"/>
                  <a:pt x="87425" y="93901"/>
                </a:cubicBezTo>
                <a:cubicBezTo>
                  <a:pt x="87425" y="99262"/>
                  <a:pt x="83072" y="103615"/>
                  <a:pt x="77711" y="103615"/>
                </a:cubicBezTo>
                <a:close/>
                <a:moveTo>
                  <a:pt x="129518" y="93901"/>
                </a:moveTo>
                <a:cubicBezTo>
                  <a:pt x="129518" y="99262"/>
                  <a:pt x="125166" y="103615"/>
                  <a:pt x="119805" y="103615"/>
                </a:cubicBezTo>
                <a:cubicBezTo>
                  <a:pt x="114443" y="103615"/>
                  <a:pt x="110091" y="99262"/>
                  <a:pt x="110091" y="93901"/>
                </a:cubicBezTo>
                <a:cubicBezTo>
                  <a:pt x="110091" y="88540"/>
                  <a:pt x="114443" y="84187"/>
                  <a:pt x="119805" y="84187"/>
                </a:cubicBezTo>
                <a:cubicBezTo>
                  <a:pt x="125166" y="84187"/>
                  <a:pt x="129518" y="88540"/>
                  <a:pt x="129518" y="93901"/>
                </a:cubicBezTo>
                <a:close/>
                <a:moveTo>
                  <a:pt x="35618" y="142470"/>
                </a:moveTo>
                <a:cubicBezTo>
                  <a:pt x="30256" y="142470"/>
                  <a:pt x="25904" y="138118"/>
                  <a:pt x="25904" y="132756"/>
                </a:cubicBezTo>
                <a:cubicBezTo>
                  <a:pt x="25904" y="127395"/>
                  <a:pt x="30256" y="123042"/>
                  <a:pt x="35618" y="123042"/>
                </a:cubicBezTo>
                <a:cubicBezTo>
                  <a:pt x="40979" y="123042"/>
                  <a:pt x="45331" y="127395"/>
                  <a:pt x="45331" y="132756"/>
                </a:cubicBezTo>
                <a:cubicBezTo>
                  <a:pt x="45331" y="138118"/>
                  <a:pt x="40979" y="142470"/>
                  <a:pt x="35618" y="142470"/>
                </a:cubicBezTo>
                <a:close/>
                <a:moveTo>
                  <a:pt x="87425" y="132756"/>
                </a:moveTo>
                <a:cubicBezTo>
                  <a:pt x="87425" y="138118"/>
                  <a:pt x="83072" y="142470"/>
                  <a:pt x="77711" y="142470"/>
                </a:cubicBezTo>
                <a:cubicBezTo>
                  <a:pt x="72350" y="142470"/>
                  <a:pt x="67997" y="138118"/>
                  <a:pt x="67997" y="132756"/>
                </a:cubicBezTo>
                <a:cubicBezTo>
                  <a:pt x="67997" y="127395"/>
                  <a:pt x="72350" y="123042"/>
                  <a:pt x="77711" y="123042"/>
                </a:cubicBezTo>
                <a:cubicBezTo>
                  <a:pt x="83072" y="123042"/>
                  <a:pt x="87425" y="127395"/>
                  <a:pt x="87425" y="132756"/>
                </a:cubicBezTo>
                <a:close/>
                <a:moveTo>
                  <a:pt x="119805" y="142470"/>
                </a:moveTo>
                <a:cubicBezTo>
                  <a:pt x="114443" y="142470"/>
                  <a:pt x="110091" y="138118"/>
                  <a:pt x="110091" y="132756"/>
                </a:cubicBezTo>
                <a:cubicBezTo>
                  <a:pt x="110091" y="127395"/>
                  <a:pt x="114443" y="123042"/>
                  <a:pt x="119805" y="123042"/>
                </a:cubicBezTo>
                <a:cubicBezTo>
                  <a:pt x="125166" y="123042"/>
                  <a:pt x="129518" y="127395"/>
                  <a:pt x="129518" y="132756"/>
                </a:cubicBezTo>
                <a:cubicBezTo>
                  <a:pt x="129518" y="138118"/>
                  <a:pt x="125166" y="142470"/>
                  <a:pt x="119805" y="142470"/>
                </a:cubicBezTo>
                <a:close/>
                <a:moveTo>
                  <a:pt x="25904" y="171612"/>
                </a:moveTo>
                <a:cubicBezTo>
                  <a:pt x="25904" y="166229"/>
                  <a:pt x="30234" y="161898"/>
                  <a:pt x="35618" y="161898"/>
                </a:cubicBezTo>
                <a:lnTo>
                  <a:pt x="80949" y="161898"/>
                </a:lnTo>
                <a:cubicBezTo>
                  <a:pt x="86332" y="161898"/>
                  <a:pt x="90663" y="166229"/>
                  <a:pt x="90663" y="171612"/>
                </a:cubicBezTo>
                <a:cubicBezTo>
                  <a:pt x="90663" y="176995"/>
                  <a:pt x="86332" y="181326"/>
                  <a:pt x="80949" y="181326"/>
                </a:cubicBezTo>
                <a:lnTo>
                  <a:pt x="35618" y="181326"/>
                </a:lnTo>
                <a:cubicBezTo>
                  <a:pt x="30234" y="181326"/>
                  <a:pt x="25904" y="176995"/>
                  <a:pt x="25904" y="171612"/>
                </a:cubicBezTo>
                <a:close/>
                <a:moveTo>
                  <a:pt x="119805" y="161898"/>
                </a:moveTo>
                <a:cubicBezTo>
                  <a:pt x="125188" y="161898"/>
                  <a:pt x="129518" y="166229"/>
                  <a:pt x="129518" y="171612"/>
                </a:cubicBezTo>
                <a:cubicBezTo>
                  <a:pt x="129518" y="176995"/>
                  <a:pt x="125188" y="181326"/>
                  <a:pt x="119805" y="181326"/>
                </a:cubicBezTo>
                <a:cubicBezTo>
                  <a:pt x="114421" y="181326"/>
                  <a:pt x="110091" y="176995"/>
                  <a:pt x="110091" y="171612"/>
                </a:cubicBezTo>
                <a:cubicBezTo>
                  <a:pt x="110091" y="166229"/>
                  <a:pt x="114421" y="161898"/>
                  <a:pt x="119805" y="1618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046411" y="1796933"/>
            <a:ext cx="1036147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计数窗口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47749" y="2326519"/>
            <a:ext cx="7253031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450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元素数量 </a:t>
            </a:r>
            <a:r>
              <a:rPr lang="en-US" sz="14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划分窗口，达到指定数量触发计算。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59261" y="2764004"/>
            <a:ext cx="7149416" cy="2106833"/>
          </a:xfrm>
          <a:custGeom>
            <a:avLst/>
            <a:gdLst/>
            <a:ahLst/>
            <a:cxnLst/>
            <a:rect l="l" t="t" r="r" b="b"/>
            <a:pathLst>
              <a:path w="7149416" h="2106833">
                <a:moveTo>
                  <a:pt x="23025" y="0"/>
                </a:moveTo>
                <a:lnTo>
                  <a:pt x="7057306" y="0"/>
                </a:lnTo>
                <a:cubicBezTo>
                  <a:pt x="7108177" y="0"/>
                  <a:pt x="7149416" y="41239"/>
                  <a:pt x="7149416" y="92111"/>
                </a:cubicBezTo>
                <a:lnTo>
                  <a:pt x="7149416" y="2014722"/>
                </a:lnTo>
                <a:cubicBezTo>
                  <a:pt x="7149416" y="2065593"/>
                  <a:pt x="7108177" y="2106833"/>
                  <a:pt x="7057306" y="2106833"/>
                </a:cubicBezTo>
                <a:lnTo>
                  <a:pt x="23025" y="2106833"/>
                </a:lnTo>
                <a:cubicBezTo>
                  <a:pt x="10309" y="2106833"/>
                  <a:pt x="0" y="2096524"/>
                  <a:pt x="0" y="2083807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459261" y="2764004"/>
            <a:ext cx="23025" cy="2106833"/>
          </a:xfrm>
          <a:custGeom>
            <a:avLst/>
            <a:gdLst/>
            <a:ahLst/>
            <a:cxnLst/>
            <a:rect l="l" t="t" r="r" b="b"/>
            <a:pathLst>
              <a:path w="23025" h="2106833">
                <a:moveTo>
                  <a:pt x="23025" y="0"/>
                </a:moveTo>
                <a:lnTo>
                  <a:pt x="23025" y="0"/>
                </a:lnTo>
                <a:lnTo>
                  <a:pt x="23025" y="2106833"/>
                </a:lnTo>
                <a:lnTo>
                  <a:pt x="23025" y="2106833"/>
                </a:lnTo>
                <a:cubicBezTo>
                  <a:pt x="10309" y="2106833"/>
                  <a:pt x="0" y="2096524"/>
                  <a:pt x="0" y="2083807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608927" y="2902157"/>
            <a:ext cx="695370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滚动计数窗口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08927" y="4323172"/>
            <a:ext cx="6861598" cy="414459"/>
          </a:xfrm>
          <a:custGeom>
            <a:avLst/>
            <a:gdLst/>
            <a:ahLst/>
            <a:cxnLst/>
            <a:rect l="l" t="t" r="r" b="b"/>
            <a:pathLst>
              <a:path w="6861598" h="414459">
                <a:moveTo>
                  <a:pt x="46051" y="0"/>
                </a:moveTo>
                <a:lnTo>
                  <a:pt x="6815547" y="0"/>
                </a:lnTo>
                <a:cubicBezTo>
                  <a:pt x="6840980" y="0"/>
                  <a:pt x="6861598" y="20618"/>
                  <a:pt x="6861598" y="46051"/>
                </a:cubicBezTo>
                <a:lnTo>
                  <a:pt x="6861598" y="368408"/>
                </a:lnTo>
                <a:cubicBezTo>
                  <a:pt x="6861598" y="393841"/>
                  <a:pt x="6840980" y="414459"/>
                  <a:pt x="6815547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01029" y="4415274"/>
            <a:ext cx="6757983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countWindow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59261" y="5013937"/>
            <a:ext cx="7149416" cy="2106833"/>
          </a:xfrm>
          <a:custGeom>
            <a:avLst/>
            <a:gdLst/>
            <a:ahLst/>
            <a:cxnLst/>
            <a:rect l="l" t="t" r="r" b="b"/>
            <a:pathLst>
              <a:path w="7149416" h="2106833">
                <a:moveTo>
                  <a:pt x="23025" y="0"/>
                </a:moveTo>
                <a:lnTo>
                  <a:pt x="7057306" y="0"/>
                </a:lnTo>
                <a:cubicBezTo>
                  <a:pt x="7108177" y="0"/>
                  <a:pt x="7149416" y="41239"/>
                  <a:pt x="7149416" y="92111"/>
                </a:cubicBezTo>
                <a:lnTo>
                  <a:pt x="7149416" y="2014722"/>
                </a:lnTo>
                <a:cubicBezTo>
                  <a:pt x="7149416" y="2065593"/>
                  <a:pt x="7108177" y="2106833"/>
                  <a:pt x="7057306" y="2106833"/>
                </a:cubicBezTo>
                <a:lnTo>
                  <a:pt x="23025" y="2106833"/>
                </a:lnTo>
                <a:cubicBezTo>
                  <a:pt x="10309" y="2106833"/>
                  <a:pt x="0" y="2096524"/>
                  <a:pt x="0" y="2083807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59261" y="5013937"/>
            <a:ext cx="23025" cy="2106833"/>
          </a:xfrm>
          <a:custGeom>
            <a:avLst/>
            <a:gdLst/>
            <a:ahLst/>
            <a:cxnLst/>
            <a:rect l="l" t="t" r="r" b="b"/>
            <a:pathLst>
              <a:path w="23025" h="2106833">
                <a:moveTo>
                  <a:pt x="23025" y="0"/>
                </a:moveTo>
                <a:lnTo>
                  <a:pt x="23025" y="0"/>
                </a:lnTo>
                <a:lnTo>
                  <a:pt x="23025" y="2106833"/>
                </a:lnTo>
                <a:lnTo>
                  <a:pt x="23025" y="2106833"/>
                </a:lnTo>
                <a:cubicBezTo>
                  <a:pt x="10309" y="2106833"/>
                  <a:pt x="0" y="2096524"/>
                  <a:pt x="0" y="2083807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08927" y="5152090"/>
            <a:ext cx="695370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滑动计数窗口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08927" y="6573104"/>
            <a:ext cx="6861598" cy="414459"/>
          </a:xfrm>
          <a:custGeom>
            <a:avLst/>
            <a:gdLst/>
            <a:ahLst/>
            <a:cxnLst/>
            <a:rect l="l" t="t" r="r" b="b"/>
            <a:pathLst>
              <a:path w="6861598" h="414459">
                <a:moveTo>
                  <a:pt x="46051" y="0"/>
                </a:moveTo>
                <a:lnTo>
                  <a:pt x="6815547" y="0"/>
                </a:lnTo>
                <a:cubicBezTo>
                  <a:pt x="6840980" y="0"/>
                  <a:pt x="6861598" y="20618"/>
                  <a:pt x="6861598" y="46051"/>
                </a:cubicBezTo>
                <a:lnTo>
                  <a:pt x="6861598" y="368408"/>
                </a:lnTo>
                <a:cubicBezTo>
                  <a:pt x="6861598" y="393841"/>
                  <a:pt x="6840980" y="414459"/>
                  <a:pt x="6815547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01029" y="6665206"/>
            <a:ext cx="6757983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countWindow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269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r>
              <a:rPr lang="en-US" sz="12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59261" y="7309830"/>
            <a:ext cx="7149416" cy="541099"/>
          </a:xfrm>
          <a:custGeom>
            <a:avLst/>
            <a:gdLst/>
            <a:ahLst/>
            <a:cxnLst/>
            <a:rect l="l" t="t" r="r" b="b"/>
            <a:pathLst>
              <a:path w="7149416" h="541099">
                <a:moveTo>
                  <a:pt x="23025" y="0"/>
                </a:moveTo>
                <a:lnTo>
                  <a:pt x="7057316" y="0"/>
                </a:lnTo>
                <a:cubicBezTo>
                  <a:pt x="7108182" y="0"/>
                  <a:pt x="7149416" y="41235"/>
                  <a:pt x="7149416" y="92100"/>
                </a:cubicBezTo>
                <a:lnTo>
                  <a:pt x="7149416" y="448999"/>
                </a:lnTo>
                <a:cubicBezTo>
                  <a:pt x="7149416" y="499864"/>
                  <a:pt x="7108182" y="541099"/>
                  <a:pt x="7057316" y="541099"/>
                </a:cubicBezTo>
                <a:lnTo>
                  <a:pt x="23025" y="541099"/>
                </a:lnTo>
                <a:cubicBezTo>
                  <a:pt x="10309" y="541099"/>
                  <a:pt x="0" y="530790"/>
                  <a:pt x="0" y="518074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59261" y="7309830"/>
            <a:ext cx="23025" cy="541099"/>
          </a:xfrm>
          <a:custGeom>
            <a:avLst/>
            <a:gdLst/>
            <a:ahLst/>
            <a:cxnLst/>
            <a:rect l="l" t="t" r="r" b="b"/>
            <a:pathLst>
              <a:path w="23025" h="541099">
                <a:moveTo>
                  <a:pt x="23025" y="0"/>
                </a:moveTo>
                <a:lnTo>
                  <a:pt x="23025" y="0"/>
                </a:lnTo>
                <a:lnTo>
                  <a:pt x="23025" y="541099"/>
                </a:lnTo>
                <a:lnTo>
                  <a:pt x="23025" y="541099"/>
                </a:lnTo>
                <a:cubicBezTo>
                  <a:pt x="10309" y="541099"/>
                  <a:pt x="0" y="530790"/>
                  <a:pt x="0" y="518074"/>
                </a:cubicBezTo>
                <a:lnTo>
                  <a:pt x="0" y="23025"/>
                </a:lnTo>
                <a:cubicBezTo>
                  <a:pt x="0" y="10317"/>
                  <a:pt x="10317" y="0"/>
                  <a:pt x="23025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637709" y="7447983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207229"/>
                </a:moveTo>
                <a:cubicBezTo>
                  <a:pt x="160801" y="207229"/>
                  <a:pt x="207229" y="160801"/>
                  <a:pt x="207229" y="103615"/>
                </a:cubicBezTo>
                <a:cubicBezTo>
                  <a:pt x="207229" y="46428"/>
                  <a:pt x="160801" y="0"/>
                  <a:pt x="103615" y="0"/>
                </a:cubicBezTo>
                <a:cubicBezTo>
                  <a:pt x="46428" y="0"/>
                  <a:pt x="0" y="46428"/>
                  <a:pt x="0" y="103615"/>
                </a:cubicBezTo>
                <a:cubicBezTo>
                  <a:pt x="0" y="160801"/>
                  <a:pt x="46428" y="207229"/>
                  <a:pt x="103615" y="207229"/>
                </a:cubicBezTo>
                <a:close/>
                <a:moveTo>
                  <a:pt x="90663" y="64759"/>
                </a:moveTo>
                <a:cubicBezTo>
                  <a:pt x="90663" y="57611"/>
                  <a:pt x="96466" y="51807"/>
                  <a:pt x="103615" y="51807"/>
                </a:cubicBezTo>
                <a:cubicBezTo>
                  <a:pt x="110763" y="51807"/>
                  <a:pt x="116567" y="57611"/>
                  <a:pt x="116567" y="64759"/>
                </a:cubicBezTo>
                <a:cubicBezTo>
                  <a:pt x="116567" y="71908"/>
                  <a:pt x="110763" y="77711"/>
                  <a:pt x="103615" y="77711"/>
                </a:cubicBezTo>
                <a:cubicBezTo>
                  <a:pt x="96466" y="77711"/>
                  <a:pt x="90663" y="71908"/>
                  <a:pt x="90663" y="64759"/>
                </a:cubicBezTo>
                <a:close/>
                <a:moveTo>
                  <a:pt x="87425" y="90663"/>
                </a:moveTo>
                <a:lnTo>
                  <a:pt x="106853" y="90663"/>
                </a:lnTo>
                <a:cubicBezTo>
                  <a:pt x="112236" y="90663"/>
                  <a:pt x="116567" y="94994"/>
                  <a:pt x="116567" y="100377"/>
                </a:cubicBezTo>
                <a:lnTo>
                  <a:pt x="116567" y="135994"/>
                </a:lnTo>
                <a:lnTo>
                  <a:pt x="119805" y="135994"/>
                </a:lnTo>
                <a:cubicBezTo>
                  <a:pt x="125188" y="135994"/>
                  <a:pt x="129518" y="140325"/>
                  <a:pt x="129518" y="145708"/>
                </a:cubicBezTo>
                <a:cubicBezTo>
                  <a:pt x="129518" y="151091"/>
                  <a:pt x="125188" y="155422"/>
                  <a:pt x="119805" y="155422"/>
                </a:cubicBezTo>
                <a:lnTo>
                  <a:pt x="87425" y="155422"/>
                </a:lnTo>
                <a:cubicBezTo>
                  <a:pt x="82042" y="155422"/>
                  <a:pt x="77711" y="151091"/>
                  <a:pt x="77711" y="145708"/>
                </a:cubicBezTo>
                <a:cubicBezTo>
                  <a:pt x="77711" y="140325"/>
                  <a:pt x="82042" y="135994"/>
                  <a:pt x="87425" y="135994"/>
                </a:cubicBezTo>
                <a:lnTo>
                  <a:pt x="97139" y="135994"/>
                </a:lnTo>
                <a:lnTo>
                  <a:pt x="97139" y="110091"/>
                </a:lnTo>
                <a:lnTo>
                  <a:pt x="87425" y="110091"/>
                </a:lnTo>
                <a:cubicBezTo>
                  <a:pt x="82042" y="110091"/>
                  <a:pt x="77711" y="105760"/>
                  <a:pt x="77711" y="100377"/>
                </a:cubicBezTo>
                <a:cubicBezTo>
                  <a:pt x="77711" y="94994"/>
                  <a:pt x="82042" y="90663"/>
                  <a:pt x="87425" y="90663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960066" y="7447983"/>
            <a:ext cx="2981802" cy="264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注意：</a:t>
            </a:r>
            <a:r>
              <a:rPr lang="en-US" sz="1269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计数窗口可能导致窗口大小不均。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3535" y="8216459"/>
            <a:ext cx="4961994" cy="874969"/>
          </a:xfrm>
          <a:custGeom>
            <a:avLst/>
            <a:gdLst/>
            <a:ahLst/>
            <a:cxnLst/>
            <a:rect l="l" t="t" r="r" b="b"/>
            <a:pathLst>
              <a:path w="4961994" h="874969">
                <a:moveTo>
                  <a:pt x="46051" y="0"/>
                </a:moveTo>
                <a:lnTo>
                  <a:pt x="4869895" y="0"/>
                </a:lnTo>
                <a:cubicBezTo>
                  <a:pt x="4920760" y="0"/>
                  <a:pt x="4961994" y="41234"/>
                  <a:pt x="4961994" y="92099"/>
                </a:cubicBezTo>
                <a:lnTo>
                  <a:pt x="4961994" y="782870"/>
                </a:lnTo>
                <a:cubicBezTo>
                  <a:pt x="4961994" y="833735"/>
                  <a:pt x="4920760" y="874969"/>
                  <a:pt x="4869895" y="874969"/>
                </a:cubicBez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C808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83535" y="8216459"/>
            <a:ext cx="46051" cy="874969"/>
          </a:xfrm>
          <a:custGeom>
            <a:avLst/>
            <a:gdLst/>
            <a:ahLst/>
            <a:cxnLst/>
            <a:rect l="l" t="t" r="r" b="b"/>
            <a:pathLst>
              <a:path w="46051" h="874969">
                <a:moveTo>
                  <a:pt x="46051" y="0"/>
                </a:moveTo>
                <a:lnTo>
                  <a:pt x="46051" y="0"/>
                </a:lnTo>
                <a:lnTo>
                  <a:pt x="46051" y="874969"/>
                </a:ln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79252" y="8515791"/>
            <a:ext cx="276306" cy="276306"/>
          </a:xfrm>
          <a:custGeom>
            <a:avLst/>
            <a:gdLst/>
            <a:ahLst/>
            <a:cxnLst/>
            <a:rect l="l" t="t" r="r" b="b"/>
            <a:pathLst>
              <a:path w="276306" h="276306">
                <a:moveTo>
                  <a:pt x="34538" y="34538"/>
                </a:moveTo>
                <a:cubicBezTo>
                  <a:pt x="34538" y="24986"/>
                  <a:pt x="26821" y="17269"/>
                  <a:pt x="17269" y="17269"/>
                </a:cubicBezTo>
                <a:cubicBezTo>
                  <a:pt x="7717" y="17269"/>
                  <a:pt x="0" y="24986"/>
                  <a:pt x="0" y="34538"/>
                </a:cubicBezTo>
                <a:lnTo>
                  <a:pt x="0" y="215864"/>
                </a:lnTo>
                <a:cubicBezTo>
                  <a:pt x="0" y="239717"/>
                  <a:pt x="19320" y="259037"/>
                  <a:pt x="43173" y="259037"/>
                </a:cubicBezTo>
                <a:lnTo>
                  <a:pt x="259037" y="259037"/>
                </a:lnTo>
                <a:cubicBezTo>
                  <a:pt x="268589" y="259037"/>
                  <a:pt x="276306" y="251320"/>
                  <a:pt x="276306" y="241768"/>
                </a:cubicBezTo>
                <a:cubicBezTo>
                  <a:pt x="276306" y="232216"/>
                  <a:pt x="268589" y="224499"/>
                  <a:pt x="259037" y="224499"/>
                </a:cubicBezTo>
                <a:lnTo>
                  <a:pt x="43173" y="224499"/>
                </a:lnTo>
                <a:cubicBezTo>
                  <a:pt x="38424" y="224499"/>
                  <a:pt x="34538" y="220613"/>
                  <a:pt x="34538" y="215864"/>
                </a:cubicBezTo>
                <a:lnTo>
                  <a:pt x="34538" y="34538"/>
                </a:lnTo>
                <a:close/>
                <a:moveTo>
                  <a:pt x="253964" y="81273"/>
                </a:moveTo>
                <a:cubicBezTo>
                  <a:pt x="260710" y="74527"/>
                  <a:pt x="260710" y="63572"/>
                  <a:pt x="253964" y="56826"/>
                </a:cubicBezTo>
                <a:cubicBezTo>
                  <a:pt x="247218" y="50080"/>
                  <a:pt x="236263" y="50080"/>
                  <a:pt x="229517" y="56826"/>
                </a:cubicBezTo>
                <a:lnTo>
                  <a:pt x="172691" y="113706"/>
                </a:lnTo>
                <a:lnTo>
                  <a:pt x="141715" y="82784"/>
                </a:lnTo>
                <a:cubicBezTo>
                  <a:pt x="134969" y="76038"/>
                  <a:pt x="124014" y="76038"/>
                  <a:pt x="117268" y="82784"/>
                </a:cubicBezTo>
                <a:lnTo>
                  <a:pt x="65461" y="134591"/>
                </a:lnTo>
                <a:cubicBezTo>
                  <a:pt x="58715" y="141337"/>
                  <a:pt x="58715" y="152292"/>
                  <a:pt x="65461" y="159038"/>
                </a:cubicBezTo>
                <a:cubicBezTo>
                  <a:pt x="72207" y="165784"/>
                  <a:pt x="83162" y="165784"/>
                  <a:pt x="89907" y="159038"/>
                </a:cubicBezTo>
                <a:lnTo>
                  <a:pt x="129518" y="119427"/>
                </a:lnTo>
                <a:lnTo>
                  <a:pt x="160495" y="150403"/>
                </a:lnTo>
                <a:cubicBezTo>
                  <a:pt x="167241" y="157149"/>
                  <a:pt x="178196" y="157149"/>
                  <a:pt x="184942" y="150403"/>
                </a:cubicBezTo>
                <a:lnTo>
                  <a:pt x="254018" y="81327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28249" y="8354612"/>
            <a:ext cx="92102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8249" y="8630918"/>
            <a:ext cx="93253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54828" y="8216459"/>
            <a:ext cx="4961994" cy="874969"/>
          </a:xfrm>
          <a:custGeom>
            <a:avLst/>
            <a:gdLst/>
            <a:ahLst/>
            <a:cxnLst/>
            <a:rect l="l" t="t" r="r" b="b"/>
            <a:pathLst>
              <a:path w="4961994" h="874969">
                <a:moveTo>
                  <a:pt x="46051" y="0"/>
                </a:moveTo>
                <a:lnTo>
                  <a:pt x="4869895" y="0"/>
                </a:lnTo>
                <a:cubicBezTo>
                  <a:pt x="4920760" y="0"/>
                  <a:pt x="4961994" y="41234"/>
                  <a:pt x="4961994" y="92099"/>
                </a:cubicBezTo>
                <a:lnTo>
                  <a:pt x="4961994" y="782870"/>
                </a:lnTo>
                <a:cubicBezTo>
                  <a:pt x="4961994" y="833735"/>
                  <a:pt x="4920760" y="874969"/>
                  <a:pt x="4869895" y="874969"/>
                </a:cubicBez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654828" y="8216459"/>
            <a:ext cx="46051" cy="874969"/>
          </a:xfrm>
          <a:custGeom>
            <a:avLst/>
            <a:gdLst/>
            <a:ahLst/>
            <a:cxnLst/>
            <a:rect l="l" t="t" r="r" b="b"/>
            <a:pathLst>
              <a:path w="46051" h="874969">
                <a:moveTo>
                  <a:pt x="46051" y="0"/>
                </a:moveTo>
                <a:lnTo>
                  <a:pt x="46051" y="0"/>
                </a:lnTo>
                <a:lnTo>
                  <a:pt x="46051" y="874969"/>
                </a:ln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850545" y="8515791"/>
            <a:ext cx="276306" cy="276306"/>
          </a:xfrm>
          <a:custGeom>
            <a:avLst/>
            <a:gdLst/>
            <a:ahLst/>
            <a:cxnLst/>
            <a:rect l="l" t="t" r="r" b="b"/>
            <a:pathLst>
              <a:path w="276306" h="276306">
                <a:moveTo>
                  <a:pt x="0" y="138153"/>
                </a:moveTo>
                <a:cubicBezTo>
                  <a:pt x="0" y="61904"/>
                  <a:pt x="61904" y="0"/>
                  <a:pt x="138153" y="0"/>
                </a:cubicBezTo>
                <a:cubicBezTo>
                  <a:pt x="214402" y="0"/>
                  <a:pt x="276306" y="61904"/>
                  <a:pt x="276306" y="138153"/>
                </a:cubicBezTo>
                <a:cubicBezTo>
                  <a:pt x="276306" y="214402"/>
                  <a:pt x="214402" y="276306"/>
                  <a:pt x="138153" y="276306"/>
                </a:cubicBezTo>
                <a:cubicBezTo>
                  <a:pt x="61904" y="276306"/>
                  <a:pt x="0" y="214402"/>
                  <a:pt x="0" y="138153"/>
                </a:cubicBezTo>
                <a:close/>
                <a:moveTo>
                  <a:pt x="155422" y="51807"/>
                </a:moveTo>
                <a:cubicBezTo>
                  <a:pt x="155422" y="42276"/>
                  <a:pt x="147684" y="34538"/>
                  <a:pt x="138153" y="34538"/>
                </a:cubicBezTo>
                <a:cubicBezTo>
                  <a:pt x="128622" y="34538"/>
                  <a:pt x="120884" y="42276"/>
                  <a:pt x="120884" y="51807"/>
                </a:cubicBezTo>
                <a:cubicBezTo>
                  <a:pt x="120884" y="61338"/>
                  <a:pt x="128622" y="69076"/>
                  <a:pt x="138153" y="69076"/>
                </a:cubicBezTo>
                <a:cubicBezTo>
                  <a:pt x="147684" y="69076"/>
                  <a:pt x="155422" y="61338"/>
                  <a:pt x="155422" y="51807"/>
                </a:cubicBezTo>
                <a:close/>
                <a:moveTo>
                  <a:pt x="138153" y="224499"/>
                </a:moveTo>
                <a:cubicBezTo>
                  <a:pt x="157203" y="224499"/>
                  <a:pt x="172691" y="209010"/>
                  <a:pt x="172691" y="189960"/>
                </a:cubicBezTo>
                <a:cubicBezTo>
                  <a:pt x="172691" y="181218"/>
                  <a:pt x="169453" y="173177"/>
                  <a:pt x="164057" y="167133"/>
                </a:cubicBezTo>
                <a:lnTo>
                  <a:pt x="201563" y="92174"/>
                </a:lnTo>
                <a:cubicBezTo>
                  <a:pt x="204747" y="85752"/>
                  <a:pt x="202157" y="77981"/>
                  <a:pt x="195789" y="74797"/>
                </a:cubicBezTo>
                <a:cubicBezTo>
                  <a:pt x="189421" y="71613"/>
                  <a:pt x="181596" y="74203"/>
                  <a:pt x="178412" y="80571"/>
                </a:cubicBezTo>
                <a:lnTo>
                  <a:pt x="140905" y="155530"/>
                </a:lnTo>
                <a:cubicBezTo>
                  <a:pt x="139988" y="155476"/>
                  <a:pt x="139070" y="155422"/>
                  <a:pt x="138153" y="155422"/>
                </a:cubicBezTo>
                <a:cubicBezTo>
                  <a:pt x="119103" y="155422"/>
                  <a:pt x="103615" y="170910"/>
                  <a:pt x="103615" y="189960"/>
                </a:cubicBezTo>
                <a:cubicBezTo>
                  <a:pt x="103615" y="209010"/>
                  <a:pt x="119103" y="224499"/>
                  <a:pt x="138153" y="224499"/>
                </a:cubicBezTo>
                <a:close/>
                <a:moveTo>
                  <a:pt x="94980" y="77711"/>
                </a:moveTo>
                <a:cubicBezTo>
                  <a:pt x="94980" y="68180"/>
                  <a:pt x="87242" y="60442"/>
                  <a:pt x="77711" y="60442"/>
                </a:cubicBezTo>
                <a:cubicBezTo>
                  <a:pt x="68180" y="60442"/>
                  <a:pt x="60442" y="68180"/>
                  <a:pt x="60442" y="77711"/>
                </a:cubicBezTo>
                <a:cubicBezTo>
                  <a:pt x="60442" y="87242"/>
                  <a:pt x="68180" y="94980"/>
                  <a:pt x="77711" y="94980"/>
                </a:cubicBezTo>
                <a:cubicBezTo>
                  <a:pt x="87242" y="94980"/>
                  <a:pt x="94980" y="87242"/>
                  <a:pt x="94980" y="77711"/>
                </a:cubicBezTo>
                <a:close/>
                <a:moveTo>
                  <a:pt x="51807" y="155422"/>
                </a:moveTo>
                <a:cubicBezTo>
                  <a:pt x="61338" y="155422"/>
                  <a:pt x="69076" y="147684"/>
                  <a:pt x="69076" y="138153"/>
                </a:cubicBezTo>
                <a:cubicBezTo>
                  <a:pt x="69076" y="128622"/>
                  <a:pt x="61338" y="120884"/>
                  <a:pt x="51807" y="120884"/>
                </a:cubicBezTo>
                <a:cubicBezTo>
                  <a:pt x="42276" y="120884"/>
                  <a:pt x="34538" y="128622"/>
                  <a:pt x="34538" y="138153"/>
                </a:cubicBezTo>
                <a:cubicBezTo>
                  <a:pt x="34538" y="147684"/>
                  <a:pt x="42276" y="155422"/>
                  <a:pt x="51807" y="155422"/>
                </a:cubicBezTo>
                <a:close/>
                <a:moveTo>
                  <a:pt x="241768" y="138153"/>
                </a:moveTo>
                <a:cubicBezTo>
                  <a:pt x="241768" y="128622"/>
                  <a:pt x="234030" y="120884"/>
                  <a:pt x="224499" y="120884"/>
                </a:cubicBezTo>
                <a:cubicBezTo>
                  <a:pt x="214967" y="120884"/>
                  <a:pt x="207229" y="128622"/>
                  <a:pt x="207229" y="138153"/>
                </a:cubicBezTo>
                <a:cubicBezTo>
                  <a:pt x="207229" y="147684"/>
                  <a:pt x="214967" y="155422"/>
                  <a:pt x="224499" y="155422"/>
                </a:cubicBezTo>
                <a:cubicBezTo>
                  <a:pt x="234030" y="155422"/>
                  <a:pt x="241768" y="147684"/>
                  <a:pt x="241768" y="138153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299542" y="8354612"/>
            <a:ext cx="82891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性能特点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99542" y="8630918"/>
            <a:ext cx="840431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826210" y="8216459"/>
            <a:ext cx="4961994" cy="874969"/>
          </a:xfrm>
          <a:custGeom>
            <a:avLst/>
            <a:gdLst/>
            <a:ahLst/>
            <a:cxnLst/>
            <a:rect l="l" t="t" r="r" b="b"/>
            <a:pathLst>
              <a:path w="4961994" h="874969">
                <a:moveTo>
                  <a:pt x="46051" y="0"/>
                </a:moveTo>
                <a:lnTo>
                  <a:pt x="4869895" y="0"/>
                </a:lnTo>
                <a:cubicBezTo>
                  <a:pt x="4920760" y="0"/>
                  <a:pt x="4961994" y="41234"/>
                  <a:pt x="4961994" y="92099"/>
                </a:cubicBezTo>
                <a:lnTo>
                  <a:pt x="4961994" y="782870"/>
                </a:lnTo>
                <a:cubicBezTo>
                  <a:pt x="4961994" y="833735"/>
                  <a:pt x="4920760" y="874969"/>
                  <a:pt x="4869895" y="874969"/>
                </a:cubicBez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BC8A4B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826210" y="8216459"/>
            <a:ext cx="46051" cy="874969"/>
          </a:xfrm>
          <a:custGeom>
            <a:avLst/>
            <a:gdLst/>
            <a:ahLst/>
            <a:cxnLst/>
            <a:rect l="l" t="t" r="r" b="b"/>
            <a:pathLst>
              <a:path w="46051" h="874969">
                <a:moveTo>
                  <a:pt x="46051" y="0"/>
                </a:moveTo>
                <a:lnTo>
                  <a:pt x="46051" y="0"/>
                </a:lnTo>
                <a:lnTo>
                  <a:pt x="46051" y="874969"/>
                </a:lnTo>
                <a:lnTo>
                  <a:pt x="46051" y="874969"/>
                </a:lnTo>
                <a:cubicBezTo>
                  <a:pt x="20618" y="874969"/>
                  <a:pt x="0" y="854351"/>
                  <a:pt x="0" y="82891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987389" y="8515791"/>
            <a:ext cx="345382" cy="276306"/>
          </a:xfrm>
          <a:custGeom>
            <a:avLst/>
            <a:gdLst/>
            <a:ahLst/>
            <a:cxnLst/>
            <a:rect l="l" t="t" r="r" b="b"/>
            <a:pathLst>
              <a:path w="345382" h="276306">
                <a:moveTo>
                  <a:pt x="224445" y="113598"/>
                </a:moveTo>
                <a:cubicBezTo>
                  <a:pt x="231028" y="111818"/>
                  <a:pt x="237936" y="114948"/>
                  <a:pt x="240904" y="121046"/>
                </a:cubicBezTo>
                <a:lnTo>
                  <a:pt x="250942" y="141337"/>
                </a:lnTo>
                <a:cubicBezTo>
                  <a:pt x="256500" y="142092"/>
                  <a:pt x="261951" y="143604"/>
                  <a:pt x="267078" y="145708"/>
                </a:cubicBezTo>
                <a:lnTo>
                  <a:pt x="285966" y="133134"/>
                </a:lnTo>
                <a:cubicBezTo>
                  <a:pt x="291632" y="129357"/>
                  <a:pt x="299134" y="130112"/>
                  <a:pt x="303937" y="134915"/>
                </a:cubicBezTo>
                <a:lnTo>
                  <a:pt x="314298" y="145276"/>
                </a:lnTo>
                <a:cubicBezTo>
                  <a:pt x="319101" y="150079"/>
                  <a:pt x="319857" y="157635"/>
                  <a:pt x="316079" y="163247"/>
                </a:cubicBezTo>
                <a:lnTo>
                  <a:pt x="303505" y="182081"/>
                </a:lnTo>
                <a:cubicBezTo>
                  <a:pt x="304530" y="184618"/>
                  <a:pt x="305448" y="187262"/>
                  <a:pt x="306203" y="190014"/>
                </a:cubicBezTo>
                <a:cubicBezTo>
                  <a:pt x="306959" y="192767"/>
                  <a:pt x="307444" y="195465"/>
                  <a:pt x="307822" y="198217"/>
                </a:cubicBezTo>
                <a:lnTo>
                  <a:pt x="328167" y="208255"/>
                </a:lnTo>
                <a:cubicBezTo>
                  <a:pt x="334265" y="211277"/>
                  <a:pt x="337395" y="218185"/>
                  <a:pt x="335615" y="224714"/>
                </a:cubicBezTo>
                <a:lnTo>
                  <a:pt x="331837" y="238854"/>
                </a:lnTo>
                <a:cubicBezTo>
                  <a:pt x="330056" y="245383"/>
                  <a:pt x="323958" y="249809"/>
                  <a:pt x="317158" y="249377"/>
                </a:cubicBezTo>
                <a:lnTo>
                  <a:pt x="294492" y="247920"/>
                </a:lnTo>
                <a:cubicBezTo>
                  <a:pt x="291093" y="252291"/>
                  <a:pt x="287153" y="256339"/>
                  <a:pt x="282674" y="259792"/>
                </a:cubicBezTo>
                <a:lnTo>
                  <a:pt x="284131" y="282404"/>
                </a:lnTo>
                <a:cubicBezTo>
                  <a:pt x="284563" y="289204"/>
                  <a:pt x="280138" y="295356"/>
                  <a:pt x="273608" y="297083"/>
                </a:cubicBezTo>
                <a:lnTo>
                  <a:pt x="259469" y="300860"/>
                </a:lnTo>
                <a:cubicBezTo>
                  <a:pt x="252885" y="302641"/>
                  <a:pt x="246031" y="299511"/>
                  <a:pt x="243009" y="293413"/>
                </a:cubicBezTo>
                <a:lnTo>
                  <a:pt x="232971" y="273122"/>
                </a:lnTo>
                <a:cubicBezTo>
                  <a:pt x="227413" y="272366"/>
                  <a:pt x="221962" y="270855"/>
                  <a:pt x="216835" y="268751"/>
                </a:cubicBezTo>
                <a:lnTo>
                  <a:pt x="197947" y="281325"/>
                </a:lnTo>
                <a:cubicBezTo>
                  <a:pt x="192281" y="285102"/>
                  <a:pt x="184780" y="284347"/>
                  <a:pt x="179977" y="279544"/>
                </a:cubicBezTo>
                <a:lnTo>
                  <a:pt x="169615" y="269182"/>
                </a:lnTo>
                <a:cubicBezTo>
                  <a:pt x="164812" y="264379"/>
                  <a:pt x="164057" y="256878"/>
                  <a:pt x="167834" y="251212"/>
                </a:cubicBezTo>
                <a:lnTo>
                  <a:pt x="180408" y="232324"/>
                </a:lnTo>
                <a:cubicBezTo>
                  <a:pt x="179383" y="229787"/>
                  <a:pt x="178466" y="227143"/>
                  <a:pt x="177710" y="224391"/>
                </a:cubicBezTo>
                <a:cubicBezTo>
                  <a:pt x="176955" y="221638"/>
                  <a:pt x="176469" y="218886"/>
                  <a:pt x="176091" y="216188"/>
                </a:cubicBezTo>
                <a:lnTo>
                  <a:pt x="155746" y="206150"/>
                </a:lnTo>
                <a:cubicBezTo>
                  <a:pt x="149648" y="203128"/>
                  <a:pt x="146572" y="196220"/>
                  <a:pt x="148299" y="189691"/>
                </a:cubicBezTo>
                <a:lnTo>
                  <a:pt x="152076" y="175551"/>
                </a:lnTo>
                <a:cubicBezTo>
                  <a:pt x="153857" y="169022"/>
                  <a:pt x="159955" y="164596"/>
                  <a:pt x="166755" y="165028"/>
                </a:cubicBezTo>
                <a:lnTo>
                  <a:pt x="189367" y="166485"/>
                </a:lnTo>
                <a:cubicBezTo>
                  <a:pt x="192767" y="162114"/>
                  <a:pt x="196706" y="158066"/>
                  <a:pt x="201185" y="154613"/>
                </a:cubicBezTo>
                <a:lnTo>
                  <a:pt x="199728" y="132055"/>
                </a:lnTo>
                <a:cubicBezTo>
                  <a:pt x="199296" y="125255"/>
                  <a:pt x="203722" y="119103"/>
                  <a:pt x="210252" y="117376"/>
                </a:cubicBezTo>
                <a:lnTo>
                  <a:pt x="224391" y="113598"/>
                </a:lnTo>
                <a:close/>
                <a:moveTo>
                  <a:pt x="241984" y="183484"/>
                </a:moveTo>
                <a:cubicBezTo>
                  <a:pt x="228878" y="183499"/>
                  <a:pt x="218251" y="194151"/>
                  <a:pt x="218266" y="207256"/>
                </a:cubicBezTo>
                <a:cubicBezTo>
                  <a:pt x="218280" y="220362"/>
                  <a:pt x="228932" y="230989"/>
                  <a:pt x="242038" y="230975"/>
                </a:cubicBezTo>
                <a:cubicBezTo>
                  <a:pt x="255143" y="230960"/>
                  <a:pt x="265770" y="220308"/>
                  <a:pt x="265756" y="207202"/>
                </a:cubicBezTo>
                <a:cubicBezTo>
                  <a:pt x="265741" y="194097"/>
                  <a:pt x="255089" y="183470"/>
                  <a:pt x="241984" y="183484"/>
                </a:cubicBezTo>
                <a:close/>
                <a:moveTo>
                  <a:pt x="121370" y="-24555"/>
                </a:moveTo>
                <a:lnTo>
                  <a:pt x="135509" y="-20777"/>
                </a:lnTo>
                <a:cubicBezTo>
                  <a:pt x="142039" y="-18996"/>
                  <a:pt x="146464" y="-12844"/>
                  <a:pt x="146032" y="-6098"/>
                </a:cubicBezTo>
                <a:lnTo>
                  <a:pt x="144575" y="16460"/>
                </a:lnTo>
                <a:cubicBezTo>
                  <a:pt x="149054" y="19913"/>
                  <a:pt x="152994" y="23907"/>
                  <a:pt x="156393" y="28332"/>
                </a:cubicBezTo>
                <a:lnTo>
                  <a:pt x="179059" y="26875"/>
                </a:lnTo>
                <a:cubicBezTo>
                  <a:pt x="185805" y="26443"/>
                  <a:pt x="191957" y="30869"/>
                  <a:pt x="193738" y="37398"/>
                </a:cubicBezTo>
                <a:lnTo>
                  <a:pt x="197516" y="51538"/>
                </a:lnTo>
                <a:cubicBezTo>
                  <a:pt x="199242" y="58067"/>
                  <a:pt x="196166" y="64975"/>
                  <a:pt x="190068" y="67997"/>
                </a:cubicBezTo>
                <a:lnTo>
                  <a:pt x="169723" y="78035"/>
                </a:lnTo>
                <a:cubicBezTo>
                  <a:pt x="169345" y="80787"/>
                  <a:pt x="168806" y="83539"/>
                  <a:pt x="168104" y="86238"/>
                </a:cubicBezTo>
                <a:cubicBezTo>
                  <a:pt x="167403" y="88936"/>
                  <a:pt x="166431" y="91634"/>
                  <a:pt x="165406" y="94171"/>
                </a:cubicBezTo>
                <a:lnTo>
                  <a:pt x="177980" y="113059"/>
                </a:lnTo>
                <a:cubicBezTo>
                  <a:pt x="181758" y="118725"/>
                  <a:pt x="181002" y="126226"/>
                  <a:pt x="176199" y="131029"/>
                </a:cubicBezTo>
                <a:lnTo>
                  <a:pt x="165838" y="141391"/>
                </a:lnTo>
                <a:cubicBezTo>
                  <a:pt x="161035" y="146194"/>
                  <a:pt x="153533" y="146949"/>
                  <a:pt x="147867" y="143172"/>
                </a:cubicBezTo>
                <a:lnTo>
                  <a:pt x="128979" y="130598"/>
                </a:lnTo>
                <a:cubicBezTo>
                  <a:pt x="123852" y="132702"/>
                  <a:pt x="118401" y="134213"/>
                  <a:pt x="112843" y="134969"/>
                </a:cubicBezTo>
                <a:lnTo>
                  <a:pt x="102805" y="155260"/>
                </a:lnTo>
                <a:cubicBezTo>
                  <a:pt x="99783" y="161358"/>
                  <a:pt x="92875" y="164434"/>
                  <a:pt x="86346" y="162708"/>
                </a:cubicBezTo>
                <a:lnTo>
                  <a:pt x="72207" y="158930"/>
                </a:lnTo>
                <a:cubicBezTo>
                  <a:pt x="65623" y="157149"/>
                  <a:pt x="61251" y="150997"/>
                  <a:pt x="61683" y="144251"/>
                </a:cubicBezTo>
                <a:lnTo>
                  <a:pt x="63140" y="121639"/>
                </a:lnTo>
                <a:cubicBezTo>
                  <a:pt x="58661" y="118186"/>
                  <a:pt x="54722" y="114192"/>
                  <a:pt x="51322" y="109767"/>
                </a:cubicBezTo>
                <a:lnTo>
                  <a:pt x="28656" y="111224"/>
                </a:lnTo>
                <a:cubicBezTo>
                  <a:pt x="21910" y="111656"/>
                  <a:pt x="15758" y="107230"/>
                  <a:pt x="13977" y="100701"/>
                </a:cubicBezTo>
                <a:lnTo>
                  <a:pt x="10200" y="86561"/>
                </a:lnTo>
                <a:cubicBezTo>
                  <a:pt x="8473" y="80032"/>
                  <a:pt x="11549" y="73124"/>
                  <a:pt x="17647" y="70102"/>
                </a:cubicBezTo>
                <a:lnTo>
                  <a:pt x="37992" y="60064"/>
                </a:lnTo>
                <a:cubicBezTo>
                  <a:pt x="38370" y="57312"/>
                  <a:pt x="38909" y="54614"/>
                  <a:pt x="39611" y="51861"/>
                </a:cubicBezTo>
                <a:cubicBezTo>
                  <a:pt x="40367" y="49109"/>
                  <a:pt x="41230" y="46465"/>
                  <a:pt x="42309" y="43928"/>
                </a:cubicBezTo>
                <a:lnTo>
                  <a:pt x="29735" y="25094"/>
                </a:lnTo>
                <a:cubicBezTo>
                  <a:pt x="25958" y="19428"/>
                  <a:pt x="26713" y="11926"/>
                  <a:pt x="31516" y="7124"/>
                </a:cubicBezTo>
                <a:lnTo>
                  <a:pt x="41878" y="-3238"/>
                </a:lnTo>
                <a:cubicBezTo>
                  <a:pt x="46681" y="-8041"/>
                  <a:pt x="54182" y="-8796"/>
                  <a:pt x="59848" y="-5019"/>
                </a:cubicBezTo>
                <a:lnTo>
                  <a:pt x="78736" y="7555"/>
                </a:lnTo>
                <a:cubicBezTo>
                  <a:pt x="83863" y="5451"/>
                  <a:pt x="89314" y="3940"/>
                  <a:pt x="94872" y="3184"/>
                </a:cubicBezTo>
                <a:lnTo>
                  <a:pt x="104910" y="-17107"/>
                </a:lnTo>
                <a:cubicBezTo>
                  <a:pt x="107932" y="-23205"/>
                  <a:pt x="114786" y="-26281"/>
                  <a:pt x="121370" y="-24555"/>
                </a:cubicBezTo>
                <a:close/>
                <a:moveTo>
                  <a:pt x="103831" y="45331"/>
                </a:moveTo>
                <a:cubicBezTo>
                  <a:pt x="90725" y="45331"/>
                  <a:pt x="80086" y="55971"/>
                  <a:pt x="80086" y="69076"/>
                </a:cubicBezTo>
                <a:cubicBezTo>
                  <a:pt x="80086" y="82182"/>
                  <a:pt x="90725" y="92822"/>
                  <a:pt x="103831" y="92822"/>
                </a:cubicBezTo>
                <a:cubicBezTo>
                  <a:pt x="116936" y="92822"/>
                  <a:pt x="127576" y="82182"/>
                  <a:pt x="127576" y="69076"/>
                </a:cubicBezTo>
                <a:cubicBezTo>
                  <a:pt x="127576" y="55971"/>
                  <a:pt x="116936" y="45331"/>
                  <a:pt x="103831" y="45331"/>
                </a:cubicBez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470924" y="8354612"/>
            <a:ext cx="92102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470924" y="8630918"/>
            <a:ext cx="93253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事件驱动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6600" y="6096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窗口函数应用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8288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增量聚合与全窗口函数的对比与选择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489200"/>
            <a:ext cx="7442200" cy="6146800"/>
          </a:xfrm>
          <a:custGeom>
            <a:avLst/>
            <a:gdLst/>
            <a:ahLst/>
            <a:cxnLst/>
            <a:rect l="l" t="t" r="r" b="b"/>
            <a:pathLst>
              <a:path w="7442200" h="6146800">
                <a:moveTo>
                  <a:pt x="0" y="0"/>
                </a:moveTo>
                <a:lnTo>
                  <a:pt x="7442200" y="0"/>
                </a:lnTo>
                <a:lnTo>
                  <a:pt x="74422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69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41400" y="2870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5094" y="170656"/>
                </a:moveTo>
                <a:lnTo>
                  <a:pt x="115094" y="138906"/>
                </a:lnTo>
                <a:lnTo>
                  <a:pt x="83344" y="138906"/>
                </a:lnTo>
                <a:cubicBezTo>
                  <a:pt x="76746" y="138906"/>
                  <a:pt x="71438" y="133598"/>
                  <a:pt x="71438" y="127000"/>
                </a:cubicBezTo>
                <a:cubicBezTo>
                  <a:pt x="71438" y="120402"/>
                  <a:pt x="76746" y="115094"/>
                  <a:pt x="83344" y="115094"/>
                </a:cubicBezTo>
                <a:lnTo>
                  <a:pt x="115094" y="115094"/>
                </a:lnTo>
                <a:lnTo>
                  <a:pt x="115094" y="83344"/>
                </a:lnTo>
                <a:cubicBezTo>
                  <a:pt x="115094" y="76746"/>
                  <a:pt x="120402" y="71438"/>
                  <a:pt x="127000" y="71438"/>
                </a:cubicBezTo>
                <a:cubicBezTo>
                  <a:pt x="133598" y="71438"/>
                  <a:pt x="138906" y="76746"/>
                  <a:pt x="138906" y="83344"/>
                </a:cubicBezTo>
                <a:lnTo>
                  <a:pt x="138906" y="115094"/>
                </a:lnTo>
                <a:lnTo>
                  <a:pt x="170656" y="115094"/>
                </a:lnTo>
                <a:cubicBezTo>
                  <a:pt x="177254" y="115094"/>
                  <a:pt x="182563" y="120402"/>
                  <a:pt x="182563" y="127000"/>
                </a:cubicBezTo>
                <a:cubicBezTo>
                  <a:pt x="182563" y="133598"/>
                  <a:pt x="177254" y="138906"/>
                  <a:pt x="170656" y="138906"/>
                </a:cubicBezTo>
                <a:lnTo>
                  <a:pt x="138906" y="138906"/>
                </a:lnTo>
                <a:lnTo>
                  <a:pt x="138906" y="170656"/>
                </a:lnTo>
                <a:cubicBezTo>
                  <a:pt x="138906" y="177254"/>
                  <a:pt x="133598" y="182563"/>
                  <a:pt x="127000" y="182563"/>
                </a:cubicBezTo>
                <a:cubicBezTo>
                  <a:pt x="120402" y="182563"/>
                  <a:pt x="115094" y="177254"/>
                  <a:pt x="115094" y="1706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25600" y="2768600"/>
            <a:ext cx="24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增量聚合函数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3505200"/>
            <a:ext cx="721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窗口每到达一条数据就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立即进行聚合计算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，保持中间状态，内存占用小，性能高。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" y="4368800"/>
            <a:ext cx="7099300" cy="1054100"/>
          </a:xfrm>
          <a:custGeom>
            <a:avLst/>
            <a:gdLst/>
            <a:ahLst/>
            <a:cxnLst/>
            <a:rect l="l" t="t" r="r" b="b"/>
            <a:pathLst>
              <a:path w="7099300" h="1054100">
                <a:moveTo>
                  <a:pt x="0" y="0"/>
                </a:moveTo>
                <a:lnTo>
                  <a:pt x="7099300" y="0"/>
                </a:lnTo>
                <a:lnTo>
                  <a:pt x="70993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76300" y="4368800"/>
            <a:ext cx="25400" cy="1054100"/>
          </a:xfrm>
          <a:custGeom>
            <a:avLst/>
            <a:gdLst/>
            <a:ahLst/>
            <a:cxnLst/>
            <a:rect l="l" t="t" r="r" b="b"/>
            <a:pathLst>
              <a:path w="25400" h="1054100">
                <a:moveTo>
                  <a:pt x="0" y="0"/>
                </a:moveTo>
                <a:lnTo>
                  <a:pt x="25400" y="0"/>
                </a:lnTo>
                <a:lnTo>
                  <a:pt x="254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41400" y="4521200"/>
            <a:ext cx="689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ReduceFunction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1400" y="4978400"/>
            <a:ext cx="6870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接收两个值，返回一个值，适合简单的聚合操作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6300" y="5572125"/>
            <a:ext cx="7099300" cy="1054100"/>
          </a:xfrm>
          <a:custGeom>
            <a:avLst/>
            <a:gdLst/>
            <a:ahLst/>
            <a:cxnLst/>
            <a:rect l="l" t="t" r="r" b="b"/>
            <a:pathLst>
              <a:path w="7099300" h="1054100">
                <a:moveTo>
                  <a:pt x="0" y="0"/>
                </a:moveTo>
                <a:lnTo>
                  <a:pt x="7099300" y="0"/>
                </a:lnTo>
                <a:lnTo>
                  <a:pt x="70993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76300" y="5572125"/>
            <a:ext cx="25400" cy="1054100"/>
          </a:xfrm>
          <a:custGeom>
            <a:avLst/>
            <a:gdLst/>
            <a:ahLst/>
            <a:cxnLst/>
            <a:rect l="l" t="t" r="r" b="b"/>
            <a:pathLst>
              <a:path w="25400" h="1054100">
                <a:moveTo>
                  <a:pt x="0" y="0"/>
                </a:moveTo>
                <a:lnTo>
                  <a:pt x="25400" y="0"/>
                </a:lnTo>
                <a:lnTo>
                  <a:pt x="254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41400" y="5724525"/>
            <a:ext cx="689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AggregateFunction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1400" y="6181725"/>
            <a:ext cx="6870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更灵活的增量聚合，支持自定义累加器和结果类型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6300" y="6826250"/>
            <a:ext cx="7099300" cy="1574800"/>
          </a:xfrm>
          <a:custGeom>
            <a:avLst/>
            <a:gdLst/>
            <a:ahLst/>
            <a:cxnLst/>
            <a:rect l="l" t="t" r="r" b="b"/>
            <a:pathLst>
              <a:path w="7099300" h="1574800">
                <a:moveTo>
                  <a:pt x="0" y="0"/>
                </a:moveTo>
                <a:lnTo>
                  <a:pt x="7099300" y="0"/>
                </a:lnTo>
                <a:lnTo>
                  <a:pt x="70993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76300" y="6826250"/>
            <a:ext cx="25400" cy="1574800"/>
          </a:xfrm>
          <a:custGeom>
            <a:avLst/>
            <a:gdLst/>
            <a:ahLst/>
            <a:cxnLst/>
            <a:rect l="l" t="t" r="r" b="b"/>
            <a:pathLst>
              <a:path w="25400" h="1574800">
                <a:moveTo>
                  <a:pt x="0" y="0"/>
                </a:moveTo>
                <a:lnTo>
                  <a:pt x="25400" y="0"/>
                </a:lnTo>
                <a:lnTo>
                  <a:pt x="254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41400" y="697865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7913" y="74231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65250" y="738505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内存占用小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7913" y="77279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365250" y="768985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计算性能高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7913" y="80327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365250" y="799465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实时性强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5800" y="2489200"/>
            <a:ext cx="7442200" cy="6146800"/>
          </a:xfrm>
          <a:custGeom>
            <a:avLst/>
            <a:gdLst/>
            <a:ahLst/>
            <a:cxnLst/>
            <a:rect l="l" t="t" r="r" b="b"/>
            <a:pathLst>
              <a:path w="7442200" h="6146800">
                <a:moveTo>
                  <a:pt x="0" y="0"/>
                </a:moveTo>
                <a:lnTo>
                  <a:pt x="7442200" y="0"/>
                </a:lnTo>
                <a:lnTo>
                  <a:pt x="74422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05800" y="2489200"/>
            <a:ext cx="50800" cy="6146800"/>
          </a:xfrm>
          <a:custGeom>
            <a:avLst/>
            <a:gdLst/>
            <a:ahLst/>
            <a:cxnLst/>
            <a:rect l="l" t="t" r="r" b="b"/>
            <a:pathLst>
              <a:path w="50800" h="6146800">
                <a:moveTo>
                  <a:pt x="0" y="0"/>
                </a:moveTo>
                <a:lnTo>
                  <a:pt x="50800" y="0"/>
                </a:lnTo>
                <a:lnTo>
                  <a:pt x="50800" y="6146800"/>
                </a:lnTo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6000" y="269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813800" y="2870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79375" y="158750"/>
                </a:moveTo>
                <a:cubicBezTo>
                  <a:pt x="79375" y="167512"/>
                  <a:pt x="72262" y="174625"/>
                  <a:pt x="63500" y="174625"/>
                </a:cubicBezTo>
                <a:cubicBezTo>
                  <a:pt x="54738" y="174625"/>
                  <a:pt x="47625" y="167512"/>
                  <a:pt x="47625" y="158750"/>
                </a:cubicBezTo>
                <a:cubicBezTo>
                  <a:pt x="47625" y="149988"/>
                  <a:pt x="54738" y="142875"/>
                  <a:pt x="63500" y="142875"/>
                </a:cubicBezTo>
                <a:cubicBezTo>
                  <a:pt x="72262" y="142875"/>
                  <a:pt x="79375" y="149988"/>
                  <a:pt x="79375" y="158750"/>
                </a:cubicBezTo>
                <a:close/>
                <a:moveTo>
                  <a:pt x="63500" y="111125"/>
                </a:moveTo>
                <a:cubicBezTo>
                  <a:pt x="54738" y="111125"/>
                  <a:pt x="47625" y="104012"/>
                  <a:pt x="47625" y="95250"/>
                </a:cubicBezTo>
                <a:cubicBezTo>
                  <a:pt x="47625" y="86488"/>
                  <a:pt x="54738" y="79375"/>
                  <a:pt x="63500" y="79375"/>
                </a:cubicBezTo>
                <a:cubicBezTo>
                  <a:pt x="72262" y="79375"/>
                  <a:pt x="79375" y="86488"/>
                  <a:pt x="79375" y="95250"/>
                </a:cubicBezTo>
                <a:cubicBezTo>
                  <a:pt x="79375" y="104012"/>
                  <a:pt x="72262" y="111125"/>
                  <a:pt x="63500" y="111125"/>
                </a:cubicBezTo>
                <a:close/>
                <a:moveTo>
                  <a:pt x="123031" y="83344"/>
                </a:moveTo>
                <a:lnTo>
                  <a:pt x="194469" y="83344"/>
                </a:lnTo>
                <a:cubicBezTo>
                  <a:pt x="201067" y="83344"/>
                  <a:pt x="206375" y="88652"/>
                  <a:pt x="206375" y="95250"/>
                </a:cubicBezTo>
                <a:cubicBezTo>
                  <a:pt x="206375" y="101848"/>
                  <a:pt x="201067" y="107156"/>
                  <a:pt x="194469" y="107156"/>
                </a:cubicBezTo>
                <a:lnTo>
                  <a:pt x="123031" y="107156"/>
                </a:lnTo>
                <a:cubicBezTo>
                  <a:pt x="116433" y="107156"/>
                  <a:pt x="111125" y="101848"/>
                  <a:pt x="111125" y="95250"/>
                </a:cubicBezTo>
                <a:cubicBezTo>
                  <a:pt x="111125" y="88652"/>
                  <a:pt x="116433" y="83344"/>
                  <a:pt x="123031" y="83344"/>
                </a:cubicBezTo>
                <a:close/>
                <a:moveTo>
                  <a:pt x="123031" y="146844"/>
                </a:moveTo>
                <a:lnTo>
                  <a:pt x="194469" y="146844"/>
                </a:lnTo>
                <a:cubicBezTo>
                  <a:pt x="201067" y="146844"/>
                  <a:pt x="206375" y="152152"/>
                  <a:pt x="206375" y="158750"/>
                </a:cubicBezTo>
                <a:cubicBezTo>
                  <a:pt x="206375" y="165348"/>
                  <a:pt x="201067" y="170656"/>
                  <a:pt x="194469" y="170656"/>
                </a:cubicBezTo>
                <a:lnTo>
                  <a:pt x="123031" y="170656"/>
                </a:lnTo>
                <a:cubicBezTo>
                  <a:pt x="116433" y="170656"/>
                  <a:pt x="111125" y="165348"/>
                  <a:pt x="111125" y="158750"/>
                </a:cubicBezTo>
                <a:cubicBezTo>
                  <a:pt x="111125" y="152152"/>
                  <a:pt x="116433" y="146844"/>
                  <a:pt x="123031" y="14684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98000" y="2768600"/>
            <a:ext cx="209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全窗口函数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6000" y="3505200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窗口触发时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一次性计算所有数据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，可获取窗口元信息，内存占用大。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48700" y="4038600"/>
            <a:ext cx="7099300" cy="1054100"/>
          </a:xfrm>
          <a:custGeom>
            <a:avLst/>
            <a:gdLst/>
            <a:ahLst/>
            <a:cxnLst/>
            <a:rect l="l" t="t" r="r" b="b"/>
            <a:pathLst>
              <a:path w="7099300" h="1054100">
                <a:moveTo>
                  <a:pt x="0" y="0"/>
                </a:moveTo>
                <a:lnTo>
                  <a:pt x="7099300" y="0"/>
                </a:lnTo>
                <a:lnTo>
                  <a:pt x="70993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48700" y="4038600"/>
            <a:ext cx="25400" cy="1054100"/>
          </a:xfrm>
          <a:custGeom>
            <a:avLst/>
            <a:gdLst/>
            <a:ahLst/>
            <a:cxnLst/>
            <a:rect l="l" t="t" r="r" b="b"/>
            <a:pathLst>
              <a:path w="25400" h="1054100">
                <a:moveTo>
                  <a:pt x="0" y="0"/>
                </a:moveTo>
                <a:lnTo>
                  <a:pt x="25400" y="0"/>
                </a:lnTo>
                <a:lnTo>
                  <a:pt x="254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13800" y="4191000"/>
            <a:ext cx="689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WindowFunction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13800" y="4648200"/>
            <a:ext cx="6870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接收窗口和所有数据，支持获取窗口元信息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48700" y="5241925"/>
            <a:ext cx="7099300" cy="1054100"/>
          </a:xfrm>
          <a:custGeom>
            <a:avLst/>
            <a:gdLst/>
            <a:ahLst/>
            <a:cxnLst/>
            <a:rect l="l" t="t" r="r" b="b"/>
            <a:pathLst>
              <a:path w="7099300" h="1054100">
                <a:moveTo>
                  <a:pt x="0" y="0"/>
                </a:moveTo>
                <a:lnTo>
                  <a:pt x="7099300" y="0"/>
                </a:lnTo>
                <a:lnTo>
                  <a:pt x="70993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48700" y="5241925"/>
            <a:ext cx="25400" cy="1054100"/>
          </a:xfrm>
          <a:custGeom>
            <a:avLst/>
            <a:gdLst/>
            <a:ahLst/>
            <a:cxnLst/>
            <a:rect l="l" t="t" r="r" b="b"/>
            <a:pathLst>
              <a:path w="25400" h="1054100">
                <a:moveTo>
                  <a:pt x="0" y="0"/>
                </a:moveTo>
                <a:lnTo>
                  <a:pt x="25400" y="0"/>
                </a:lnTo>
                <a:lnTo>
                  <a:pt x="25400" y="1054100"/>
                </a:lnTo>
                <a:lnTo>
                  <a:pt x="0" y="1054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813800" y="5394325"/>
            <a:ext cx="689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ProcessWindowFunction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13800" y="5851525"/>
            <a:ext cx="6870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功能更强大，支持上下文和侧输出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48700" y="6496050"/>
            <a:ext cx="7099300" cy="1574800"/>
          </a:xfrm>
          <a:custGeom>
            <a:avLst/>
            <a:gdLst/>
            <a:ahLst/>
            <a:cxnLst/>
            <a:rect l="l" t="t" r="r" b="b"/>
            <a:pathLst>
              <a:path w="7099300" h="1574800">
                <a:moveTo>
                  <a:pt x="0" y="0"/>
                </a:moveTo>
                <a:lnTo>
                  <a:pt x="7099300" y="0"/>
                </a:lnTo>
                <a:lnTo>
                  <a:pt x="70993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648700" y="6496050"/>
            <a:ext cx="25400" cy="1574800"/>
          </a:xfrm>
          <a:custGeom>
            <a:avLst/>
            <a:gdLst/>
            <a:ahLst/>
            <a:cxnLst/>
            <a:rect l="l" t="t" r="r" b="b"/>
            <a:pathLst>
              <a:path w="25400" h="1574800">
                <a:moveTo>
                  <a:pt x="0" y="0"/>
                </a:moveTo>
                <a:lnTo>
                  <a:pt x="25400" y="0"/>
                </a:lnTo>
                <a:lnTo>
                  <a:pt x="254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813800" y="664845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50313" y="70929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137650" y="705485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获取窗口元信息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850313" y="73977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137650" y="735965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访问所有数据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850313" y="77025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137650" y="766445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复杂计算逻辑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0" y="0"/>
                </a:moveTo>
                <a:lnTo>
                  <a:pt x="76200" y="0"/>
                </a:lnTo>
                <a:lnTo>
                  <a:pt x="7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6600" y="6096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实践案例: 实时流量统计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684336"/>
            <a:ext cx="153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完整展示 Flink 实时数据处理应用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0700" y="2112959"/>
            <a:ext cx="7493000" cy="6845303"/>
          </a:xfrm>
          <a:custGeom>
            <a:avLst/>
            <a:gdLst/>
            <a:ahLst/>
            <a:cxnLst/>
            <a:rect l="l" t="t" r="r" b="b"/>
            <a:pathLst>
              <a:path w="7493000" h="6375400">
                <a:moveTo>
                  <a:pt x="0" y="0"/>
                </a:moveTo>
                <a:lnTo>
                  <a:pt x="7493000" y="0"/>
                </a:lnTo>
                <a:lnTo>
                  <a:pt x="7493000" y="6375400"/>
                </a:lnTo>
                <a:lnTo>
                  <a:pt x="0" y="6375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 w="25400">
            <a:solidFill>
              <a:srgbClr val="5A6F7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2475" y="237966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4100" y="232886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完整代码示例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300" y="2706683"/>
            <a:ext cx="7035800" cy="6048377"/>
          </a:xfrm>
          <a:custGeom>
            <a:avLst/>
            <a:gdLst/>
            <a:ahLst/>
            <a:cxnLst/>
            <a:rect l="l" t="t" r="r" b="b"/>
            <a:pathLst>
              <a:path w="7035800" h="5308600">
                <a:moveTo>
                  <a:pt x="0" y="0"/>
                </a:moveTo>
                <a:lnTo>
                  <a:pt x="7035800" y="0"/>
                </a:lnTo>
                <a:lnTo>
                  <a:pt x="7035800" y="5308600"/>
                </a:lnTo>
                <a:lnTo>
                  <a:pt x="0" y="5308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25400">
            <a:solidFill>
              <a:srgbClr val="3C80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27146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1. 创建执行环境并设置时间语义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09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StreamExecutionEnvironment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env = 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StreamExecutionEnvironment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getExecutionEnvironment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12736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setStreamTimeCharacteristic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TimeCharacteristic.EventTime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5401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2. 从 Kafka 读取用户访问日志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64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UserAccessLog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accessLogs = env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5286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addSource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FlinkKafkaConsumer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&lt;&gt;(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1592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"user-access-logs"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SimpleStringSchema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(), properties))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3656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(log -&gt; 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JSON.parseObject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(log, 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UserAccessLog.class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5719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assignTimestampsAndWatermarks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03767"/>
            <a:ext cx="13633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WatermarkStrategy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9847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.&lt;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UserAccessLog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forBoundedOutOfOrderness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1911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Duration.ofSeconds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3974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withTimestampAssigner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((event, timestamp) -&gt;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60386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getTimestamp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8102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62229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3. 按用户ID分组，统计每5分钟内的访问次数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642936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UserVisitCount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userVisitCounts = accessLogs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66357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UserAccessLog::getUserId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68421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TumblingEventTimeWindows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Time.minutes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70484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VisitCountAggregator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74612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4. 写入到 Kafka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76676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userVisitCounts.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addSink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FlinkKafkaProducer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&lt;&gt;(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787399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"user-visit-counts"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SimpleStringSchema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(), properties));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8286742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5. 执行作业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8493117"/>
            <a:ext cx="676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env.</a:t>
            </a:r>
            <a:r>
              <a:rPr lang="en-US" sz="10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000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"Real-time Traffic Analysis"</a:t>
            </a:r>
            <a:r>
              <a:rPr lang="en-US" sz="10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5000" y="2100260"/>
            <a:ext cx="7493000" cy="2489200"/>
          </a:xfrm>
          <a:custGeom>
            <a:avLst/>
            <a:gdLst/>
            <a:ahLst/>
            <a:cxnLst/>
            <a:rect l="l" t="t" r="r" b="b"/>
            <a:pathLst>
              <a:path w="7493000" h="2489200">
                <a:moveTo>
                  <a:pt x="0" y="0"/>
                </a:moveTo>
                <a:lnTo>
                  <a:pt x="7493000" y="0"/>
                </a:lnTo>
                <a:lnTo>
                  <a:pt x="7493000" y="2489200"/>
                </a:lnTo>
                <a:lnTo>
                  <a:pt x="0" y="2489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55000" y="2100260"/>
            <a:ext cx="50800" cy="2489200"/>
          </a:xfrm>
          <a:custGeom>
            <a:avLst/>
            <a:gdLst/>
            <a:ahLst/>
            <a:cxnLst/>
            <a:rect l="l" t="t" r="r" b="b"/>
            <a:pathLst>
              <a:path w="50800" h="2489200">
                <a:moveTo>
                  <a:pt x="0" y="0"/>
                </a:moveTo>
                <a:lnTo>
                  <a:pt x="50800" y="0"/>
                </a:lnTo>
                <a:lnTo>
                  <a:pt x="50800" y="2489200"/>
                </a:lnTo>
                <a:lnTo>
                  <a:pt x="0" y="2489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34400" y="220186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48700" y="234156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194800" y="227806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案例要点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70913" y="286226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858250" y="2811460"/>
            <a:ext cx="246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Kafka 作为数据源和 Sink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70913" y="321786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858250" y="316706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 + Watermark 处理乱序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70913" y="357346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858250" y="352266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 按用户ID分组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70913" y="392906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858250" y="387826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滚动时间窗口统计访问量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70913" y="428466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858250" y="423386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自定义聚合函数实现计数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55000" y="4691060"/>
            <a:ext cx="7493000" cy="2616200"/>
          </a:xfrm>
          <a:custGeom>
            <a:avLst/>
            <a:gdLst/>
            <a:ahLst/>
            <a:cxnLst/>
            <a:rect l="l" t="t" r="r" b="b"/>
            <a:pathLst>
              <a:path w="7493000" h="2616200">
                <a:moveTo>
                  <a:pt x="0" y="0"/>
                </a:moveTo>
                <a:lnTo>
                  <a:pt x="7493000" y="0"/>
                </a:lnTo>
                <a:lnTo>
                  <a:pt x="7493000" y="2616200"/>
                </a:lnTo>
                <a:lnTo>
                  <a:pt x="0" y="26162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255000" y="4691060"/>
            <a:ext cx="50800" cy="2616200"/>
          </a:xfrm>
          <a:custGeom>
            <a:avLst/>
            <a:gdLst/>
            <a:ahLst/>
            <a:cxnLst/>
            <a:rect l="l" t="t" r="r" b="b"/>
            <a:pathLst>
              <a:path w="50800" h="2616200">
                <a:moveTo>
                  <a:pt x="0" y="0"/>
                </a:moveTo>
                <a:lnTo>
                  <a:pt x="50800" y="0"/>
                </a:lnTo>
                <a:lnTo>
                  <a:pt x="50800" y="2616200"/>
                </a:lnTo>
                <a:lnTo>
                  <a:pt x="0" y="26162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34400" y="484346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677275" y="4983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194800" y="491966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34400" y="5503860"/>
            <a:ext cx="7302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该案例展示了 Flink 在</a:t>
            </a:r>
            <a:r>
              <a:rPr lang="en-US" sz="14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实时用户行为分析 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中的应用，可用于实时监控、个性化推荐、异常检测等场景。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34400" y="6234110"/>
            <a:ext cx="3556000" cy="406400"/>
          </a:xfrm>
          <a:custGeom>
            <a:avLst/>
            <a:gdLst/>
            <a:ahLst/>
            <a:cxnLst/>
            <a:rect l="l" t="t" r="r" b="b"/>
            <a:pathLst>
              <a:path w="3556000" h="406400">
                <a:moveTo>
                  <a:pt x="0" y="0"/>
                </a:moveTo>
                <a:lnTo>
                  <a:pt x="3556000" y="0"/>
                </a:lnTo>
                <a:lnTo>
                  <a:pt x="3556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912350" y="6329360"/>
            <a:ext cx="8001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实时统计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192000" y="6234110"/>
            <a:ext cx="3556000" cy="406400"/>
          </a:xfrm>
          <a:custGeom>
            <a:avLst/>
            <a:gdLst/>
            <a:ahLst/>
            <a:cxnLst/>
            <a:rect l="l" t="t" r="r" b="b"/>
            <a:pathLst>
              <a:path w="3556000" h="406400">
                <a:moveTo>
                  <a:pt x="0" y="0"/>
                </a:moveTo>
                <a:lnTo>
                  <a:pt x="3556000" y="0"/>
                </a:lnTo>
                <a:lnTo>
                  <a:pt x="3556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3658850" y="6329360"/>
            <a:ext cx="622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534400" y="6742110"/>
            <a:ext cx="3556000" cy="406400"/>
          </a:xfrm>
          <a:custGeom>
            <a:avLst/>
            <a:gdLst/>
            <a:ahLst/>
            <a:cxnLst/>
            <a:rect l="l" t="t" r="r" b="b"/>
            <a:pathLst>
              <a:path w="3556000" h="406400">
                <a:moveTo>
                  <a:pt x="0" y="0"/>
                </a:moveTo>
                <a:lnTo>
                  <a:pt x="3556000" y="0"/>
                </a:lnTo>
                <a:lnTo>
                  <a:pt x="3556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001250" y="6837360"/>
            <a:ext cx="622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192000" y="6742110"/>
            <a:ext cx="3556000" cy="406400"/>
          </a:xfrm>
          <a:custGeom>
            <a:avLst/>
            <a:gdLst/>
            <a:ahLst/>
            <a:cxnLst/>
            <a:rect l="l" t="t" r="r" b="b"/>
            <a:pathLst>
              <a:path w="3556000" h="406400">
                <a:moveTo>
                  <a:pt x="0" y="0"/>
                </a:moveTo>
                <a:lnTo>
                  <a:pt x="3556000" y="0"/>
                </a:lnTo>
                <a:lnTo>
                  <a:pt x="3556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3658850" y="6837360"/>
            <a:ext cx="622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准确性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55000" y="7402510"/>
            <a:ext cx="7493000" cy="1104900"/>
          </a:xfrm>
          <a:custGeom>
            <a:avLst/>
            <a:gdLst/>
            <a:ahLst/>
            <a:cxnLst/>
            <a:rect l="l" t="t" r="r" b="b"/>
            <a:pathLst>
              <a:path w="7493000" h="1104900">
                <a:moveTo>
                  <a:pt x="0" y="0"/>
                </a:moveTo>
                <a:lnTo>
                  <a:pt x="7493000" y="0"/>
                </a:lnTo>
                <a:lnTo>
                  <a:pt x="74930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255000" y="7402510"/>
            <a:ext cx="50800" cy="1104900"/>
          </a:xfrm>
          <a:custGeom>
            <a:avLst/>
            <a:gdLst/>
            <a:ahLst/>
            <a:cxnLst/>
            <a:rect l="l" t="t" r="r" b="b"/>
            <a:pathLst>
              <a:path w="50800" h="1104900">
                <a:moveTo>
                  <a:pt x="0" y="0"/>
                </a:moveTo>
                <a:lnTo>
                  <a:pt x="50800" y="0"/>
                </a:lnTo>
                <a:lnTo>
                  <a:pt x="508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8547100" y="760571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953500" y="7605710"/>
            <a:ext cx="591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953500" y="8012110"/>
            <a:ext cx="589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合理设置 Watermark 延迟，选择合适的窗口类型，优化并行度和资源分配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b2fe92d4f2e83eb5ba042885300617388372c1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380" b="1238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30000"/>
                </a:srgbClr>
              </a:gs>
              <a:gs pos="100000">
                <a:srgbClr val="1A1D21">
                  <a:alpha val="9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314455"/>
            <a:ext cx="965200" cy="965200"/>
          </a:xfrm>
          <a:custGeom>
            <a:avLst/>
            <a:gdLst/>
            <a:ahLst/>
            <a:cxnLst/>
            <a:rect l="l" t="t" r="r" b="b"/>
            <a:pathLst>
              <a:path w="965200" h="965200">
                <a:moveTo>
                  <a:pt x="0" y="0"/>
                </a:moveTo>
                <a:lnTo>
                  <a:pt x="965200" y="0"/>
                </a:lnTo>
                <a:lnTo>
                  <a:pt x="9652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79463" y="1606555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727200" y="1416055"/>
            <a:ext cx="6388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课程总结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27200" y="2279655"/>
            <a:ext cx="615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Flink 核心技术，构建实时数据处理应用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299085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33400" y="3448055"/>
            <a:ext cx="50800" cy="2184400"/>
          </a:xfrm>
          <a:custGeom>
            <a:avLst/>
            <a:gdLst/>
            <a:ahLst/>
            <a:cxnLst/>
            <a:rect l="l" t="t" r="r" b="b"/>
            <a:pathLst>
              <a:path w="50800" h="2184400">
                <a:moveTo>
                  <a:pt x="0" y="0"/>
                </a:moveTo>
                <a:lnTo>
                  <a:pt x="50800" y="0"/>
                </a:lnTo>
                <a:lnTo>
                  <a:pt x="50800" y="2184400"/>
                </a:lnTo>
                <a:lnTo>
                  <a:pt x="0" y="21844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63600" y="3651255"/>
            <a:ext cx="726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 概览与核心概念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89000" y="43624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219200" y="4311655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Flink 的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流处理优先 </a:t>
            </a: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9000" y="47688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219200" y="4718055"/>
            <a:ext cx="429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JobManager + TaskManager 运行时组件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9000" y="51752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219200" y="5124455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理解并行度、Slot、算子链的执行机制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05800" y="3448055"/>
            <a:ext cx="50800" cy="2184400"/>
          </a:xfrm>
          <a:custGeom>
            <a:avLst/>
            <a:gdLst/>
            <a:ahLst/>
            <a:cxnLst/>
            <a:rect l="l" t="t" r="r" b="b"/>
            <a:pathLst>
              <a:path w="50800" h="2184400">
                <a:moveTo>
                  <a:pt x="0" y="0"/>
                </a:moveTo>
                <a:lnTo>
                  <a:pt x="50800" y="0"/>
                </a:lnTo>
                <a:lnTo>
                  <a:pt x="50800" y="2184400"/>
                </a:lnTo>
                <a:lnTo>
                  <a:pt x="0" y="2184400"/>
                </a:lnTo>
                <a:lnTo>
                  <a:pt x="0" y="0"/>
                </a:lnTo>
                <a:close/>
              </a:path>
            </a:pathLst>
          </a:custGeom>
          <a:solidFill>
            <a:srgbClr val="5A6F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36000" y="3651255"/>
            <a:ext cx="726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5A6F7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 与执行原理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61400" y="43624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991600" y="4311655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Source → Transformation → Sink 编程模型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661400" y="47688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991600" y="4718055"/>
            <a:ext cx="360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 Kafka Connector 和常用转换操作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661400" y="51752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8991600" y="5124455"/>
            <a:ext cx="283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KeyBy 是</a:t>
            </a:r>
            <a:r>
              <a:rPr lang="en-US" sz="1600" dirty="0">
                <a:solidFill>
                  <a:srgbClr val="BC8A4B"/>
                </a:solidFill>
                <a:highlight>
                  <a:srgbClr val="BC8A4B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有状态计算基础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33400" y="5937255"/>
            <a:ext cx="50800" cy="2184400"/>
          </a:xfrm>
          <a:custGeom>
            <a:avLst/>
            <a:gdLst/>
            <a:ahLst/>
            <a:cxnLst/>
            <a:rect l="l" t="t" r="r" b="b"/>
            <a:pathLst>
              <a:path w="50800" h="2184400">
                <a:moveTo>
                  <a:pt x="0" y="0"/>
                </a:moveTo>
                <a:lnTo>
                  <a:pt x="50800" y="0"/>
                </a:lnTo>
                <a:lnTo>
                  <a:pt x="50800" y="2184400"/>
                </a:lnTo>
                <a:lnTo>
                  <a:pt x="0" y="2184400"/>
                </a:lnTo>
                <a:lnTo>
                  <a:pt x="0" y="0"/>
                </a:ln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63600" y="6140455"/>
            <a:ext cx="726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 err="1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时间语义与窗口机制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89000" y="68516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219200" y="6800855"/>
            <a:ext cx="492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Event Time、Processing Time、Ingestion Time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9000" y="72580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219200" y="7207255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Watermark 机制处理乱序数据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89000" y="766445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1219200" y="7613655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熟悉滚动、滑动、会话窗口和窗口函数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93100" y="5949955"/>
            <a:ext cx="7442200" cy="2159000"/>
          </a:xfrm>
          <a:custGeom>
            <a:avLst/>
            <a:gdLst/>
            <a:ahLst/>
            <a:cxnLst/>
            <a:rect l="l" t="t" r="r" b="b"/>
            <a:pathLst>
              <a:path w="7442200" h="2159000">
                <a:moveTo>
                  <a:pt x="0" y="0"/>
                </a:moveTo>
                <a:lnTo>
                  <a:pt x="7442200" y="0"/>
                </a:lnTo>
                <a:lnTo>
                  <a:pt x="74422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>
              <a:alpha val="20000"/>
            </a:srgbClr>
          </a:solidFill>
          <a:ln w="25400">
            <a:solidFill>
              <a:srgbClr val="3C80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8597900" y="621665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BC8A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9093200" y="6216655"/>
            <a:ext cx="650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C8A4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下一步学习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93200" y="6673855"/>
            <a:ext cx="647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深入学习 Flink SQL、Table API、状态管理、Checkpoint 机制等高级特性，构建企业级实时数据处理应用。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1868</Words>
  <Application>Microsoft Macintosh PowerPoint</Application>
  <PresentationFormat>自定义</PresentationFormat>
  <Paragraphs>554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MiSans</vt:lpstr>
      <vt:lpstr>Liter</vt:lpstr>
      <vt:lpstr>Arial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flink_design_implementation</dc:title>
  <dc:subject>flink_design_implementation</dc:subject>
  <dc:creator>Kimi</dc:creator>
  <cp:lastModifiedBy>王 天青</cp:lastModifiedBy>
  <cp:revision>5</cp:revision>
  <dcterms:created xsi:type="dcterms:W3CDTF">2025-12-19T14:08:21Z</dcterms:created>
  <dcterms:modified xsi:type="dcterms:W3CDTF">2025-12-19T14:17:24Z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{"Label":"flink_design_implementation","ContentProducer":"001191110108MACG2KBH8F10000","ProduceID":"19b36ded-c082-8948-8000-0000657c6a96","ReservedCode1":"","ContentPropagator":"001191110108MACG2KBH8F20000","PropagateID":"19b36ded-c082-8948-8000-0000657c6a96","ReservedCode2":""}</vt:lpwstr>
  </property>
</Properties>
</file>