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6256000" cy="9144000"/>
  <p:notesSz cx="9144000" cy="16256000"/>
  <p:embeddedFontLst>
    <p:embeddedFont>
      <p:font typeface="微软雅黑" panose="020B0503020204020204" pitchFamily="34" charset="-122"/>
      <p:regular r:id="rId33"/>
      <p:bold r:id="rId34"/>
    </p:embeddedFont>
    <p:embeddedFont>
      <p:font typeface="MiSans" pitchFamily="2" charset="-122"/>
      <p:regular r:id="rId35"/>
    </p:embeddedFont>
    <p:embeddedFont>
      <p:font typeface="Noto Sans SC" panose="020B0200000000000000" pitchFamily="34" charset="-128"/>
      <p:regular r:id="rId36"/>
    </p:embeddedFont>
    <p:embeddedFont>
      <p:font typeface="Liter" panose="02000503030000020004" pitchFamily="2" charset="0"/>
      <p:regular r:id="rId3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48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3437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08000" y="114300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812800" h="50800">
                <a:moveTo>
                  <a:pt x="0" y="0"/>
                </a:moveTo>
                <a:lnTo>
                  <a:pt x="812800" y="0"/>
                </a:lnTo>
                <a:lnTo>
                  <a:pt x="81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1473200" y="990600"/>
            <a:ext cx="306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kern="0" spc="180" dirty="0">
                <a:solidFill>
                  <a:srgbClr val="D4A2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DISTRIBUTED SYSTEMS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5196046" y="914400"/>
            <a:ext cx="546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196046" y="1168400"/>
            <a:ext cx="546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4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SOSP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2454275"/>
            <a:ext cx="15849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kern="0" spc="-240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File System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8000" y="4181475"/>
            <a:ext cx="1625600" cy="76200"/>
          </a:xfrm>
          <a:custGeom>
            <a:avLst/>
            <a:gdLst/>
            <a:ahLst/>
            <a:cxnLst/>
            <a:rect l="l" t="t" r="r" b="b"/>
            <a:pathLst>
              <a:path w="1625600" h="76200">
                <a:moveTo>
                  <a:pt x="0" y="0"/>
                </a:moveTo>
                <a:lnTo>
                  <a:pt x="1625600" y="0"/>
                </a:lnTo>
                <a:lnTo>
                  <a:pt x="16256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508000" y="4562475"/>
            <a:ext cx="154686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600" dirty="0">
                <a:solidFill>
                  <a:srgbClr val="F8F9FA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大规模分布式存储系统的设计与实现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6100" y="57372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1041400" y="5711825"/>
            <a:ext cx="215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经典论文深度解读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65150" y="6245225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1041400" y="6219825"/>
            <a:ext cx="190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分布式存储架构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426200" y="5737225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38100"/>
                </a:moveTo>
                <a:cubicBezTo>
                  <a:pt x="0" y="17085"/>
                  <a:pt x="17085" y="0"/>
                  <a:pt x="38100" y="0"/>
                </a:cubicBezTo>
                <a:lnTo>
                  <a:pt x="127099" y="0"/>
                </a:lnTo>
                <a:cubicBezTo>
                  <a:pt x="137220" y="0"/>
                  <a:pt x="146923" y="3989"/>
                  <a:pt x="154067" y="11132"/>
                </a:cubicBezTo>
                <a:lnTo>
                  <a:pt x="217468" y="74593"/>
                </a:lnTo>
                <a:cubicBezTo>
                  <a:pt x="224611" y="81736"/>
                  <a:pt x="228600" y="91440"/>
                  <a:pt x="228600" y="10156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23825" y="34826"/>
                </a:moveTo>
                <a:lnTo>
                  <a:pt x="123825" y="90488"/>
                </a:lnTo>
                <a:cubicBezTo>
                  <a:pt x="123825" y="98405"/>
                  <a:pt x="130195" y="104775"/>
                  <a:pt x="138113" y="104775"/>
                </a:cubicBezTo>
                <a:lnTo>
                  <a:pt x="193774" y="104775"/>
                </a:lnTo>
                <a:lnTo>
                  <a:pt x="123825" y="34826"/>
                </a:lnTo>
                <a:close/>
                <a:moveTo>
                  <a:pt x="71438" y="152400"/>
                </a:moveTo>
                <a:cubicBezTo>
                  <a:pt x="63520" y="152400"/>
                  <a:pt x="57150" y="158770"/>
                  <a:pt x="57150" y="166688"/>
                </a:cubicBezTo>
                <a:cubicBezTo>
                  <a:pt x="57150" y="174605"/>
                  <a:pt x="63520" y="180975"/>
                  <a:pt x="71438" y="180975"/>
                </a:cubicBezTo>
                <a:lnTo>
                  <a:pt x="157163" y="180975"/>
                </a:lnTo>
                <a:cubicBezTo>
                  <a:pt x="165080" y="180975"/>
                  <a:pt x="171450" y="174605"/>
                  <a:pt x="171450" y="166688"/>
                </a:cubicBezTo>
                <a:cubicBezTo>
                  <a:pt x="171450" y="158770"/>
                  <a:pt x="165080" y="152400"/>
                  <a:pt x="157163" y="152400"/>
                </a:cubicBezTo>
                <a:lnTo>
                  <a:pt x="71438" y="152400"/>
                </a:lnTo>
                <a:close/>
                <a:moveTo>
                  <a:pt x="71438" y="209550"/>
                </a:moveTo>
                <a:cubicBezTo>
                  <a:pt x="63520" y="209550"/>
                  <a:pt x="57150" y="215920"/>
                  <a:pt x="57150" y="223838"/>
                </a:cubicBezTo>
                <a:cubicBezTo>
                  <a:pt x="57150" y="231755"/>
                  <a:pt x="63520" y="238125"/>
                  <a:pt x="71438" y="238125"/>
                </a:cubicBezTo>
                <a:lnTo>
                  <a:pt x="157163" y="238125"/>
                </a:lnTo>
                <a:cubicBezTo>
                  <a:pt x="165080" y="238125"/>
                  <a:pt x="171450" y="231755"/>
                  <a:pt x="171450" y="223838"/>
                </a:cubicBezTo>
                <a:cubicBezTo>
                  <a:pt x="171450" y="215920"/>
                  <a:pt x="165080" y="209550"/>
                  <a:pt x="157163" y="209550"/>
                </a:cubicBezTo>
                <a:lnTo>
                  <a:pt x="71438" y="20955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6883400" y="5711825"/>
            <a:ext cx="2882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Google File System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07150" y="6245225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76200" y="0"/>
                </a:moveTo>
                <a:cubicBezTo>
                  <a:pt x="86737" y="0"/>
                  <a:pt x="95250" y="8513"/>
                  <a:pt x="95250" y="19050"/>
                </a:cubicBezTo>
                <a:lnTo>
                  <a:pt x="95250" y="38100"/>
                </a:lnTo>
                <a:lnTo>
                  <a:pt x="171450" y="38100"/>
                </a:lnTo>
                <a:lnTo>
                  <a:pt x="171450" y="19050"/>
                </a:lnTo>
                <a:cubicBezTo>
                  <a:pt x="171450" y="8513"/>
                  <a:pt x="179963" y="0"/>
                  <a:pt x="190500" y="0"/>
                </a:cubicBezTo>
                <a:cubicBezTo>
                  <a:pt x="201037" y="0"/>
                  <a:pt x="209550" y="8513"/>
                  <a:pt x="209550" y="19050"/>
                </a:cubicBezTo>
                <a:lnTo>
                  <a:pt x="209550" y="38100"/>
                </a:lnTo>
                <a:lnTo>
                  <a:pt x="228600" y="38100"/>
                </a:lnTo>
                <a:cubicBezTo>
                  <a:pt x="249615" y="38100"/>
                  <a:pt x="266700" y="55185"/>
                  <a:pt x="266700" y="76200"/>
                </a:cubicBezTo>
                <a:lnTo>
                  <a:pt x="266700" y="247650"/>
                </a:lnTo>
                <a:cubicBezTo>
                  <a:pt x="266700" y="268665"/>
                  <a:pt x="249615" y="285750"/>
                  <a:pt x="228600" y="285750"/>
                </a:cubicBezTo>
                <a:lnTo>
                  <a:pt x="38100" y="285750"/>
                </a:lnTo>
                <a:cubicBezTo>
                  <a:pt x="17085" y="285750"/>
                  <a:pt x="0" y="268665"/>
                  <a:pt x="0" y="247650"/>
                </a:cubicBezTo>
                <a:lnTo>
                  <a:pt x="0" y="76200"/>
                </a:lnTo>
                <a:cubicBezTo>
                  <a:pt x="0" y="55185"/>
                  <a:pt x="17085" y="38100"/>
                  <a:pt x="38100" y="38100"/>
                </a:cubicBezTo>
                <a:lnTo>
                  <a:pt x="57150" y="38100"/>
                </a:lnTo>
                <a:lnTo>
                  <a:pt x="57150" y="19050"/>
                </a:lnTo>
                <a:cubicBezTo>
                  <a:pt x="57150" y="8513"/>
                  <a:pt x="65663" y="0"/>
                  <a:pt x="76200" y="0"/>
                </a:cubicBezTo>
                <a:close/>
                <a:moveTo>
                  <a:pt x="38100" y="142875"/>
                </a:moveTo>
                <a:lnTo>
                  <a:pt x="38100" y="161925"/>
                </a:lnTo>
                <a:cubicBezTo>
                  <a:pt x="38100" y="167164"/>
                  <a:pt x="42386" y="171450"/>
                  <a:pt x="47625" y="171450"/>
                </a:cubicBezTo>
                <a:lnTo>
                  <a:pt x="66675" y="171450"/>
                </a:lnTo>
                <a:cubicBezTo>
                  <a:pt x="71914" y="171450"/>
                  <a:pt x="76200" y="167164"/>
                  <a:pt x="76200" y="161925"/>
                </a:cubicBezTo>
                <a:lnTo>
                  <a:pt x="76200" y="142875"/>
                </a:lnTo>
                <a:cubicBezTo>
                  <a:pt x="76200" y="137636"/>
                  <a:pt x="71914" y="133350"/>
                  <a:pt x="66675" y="133350"/>
                </a:cubicBezTo>
                <a:lnTo>
                  <a:pt x="47625" y="133350"/>
                </a:lnTo>
                <a:cubicBezTo>
                  <a:pt x="42386" y="133350"/>
                  <a:pt x="38100" y="137636"/>
                  <a:pt x="38100" y="142875"/>
                </a:cubicBezTo>
                <a:close/>
                <a:moveTo>
                  <a:pt x="114300" y="142875"/>
                </a:moveTo>
                <a:lnTo>
                  <a:pt x="114300" y="161925"/>
                </a:lnTo>
                <a:cubicBezTo>
                  <a:pt x="114300" y="167164"/>
                  <a:pt x="118586" y="171450"/>
                  <a:pt x="123825" y="171450"/>
                </a:cubicBezTo>
                <a:lnTo>
                  <a:pt x="142875" y="171450"/>
                </a:lnTo>
                <a:cubicBezTo>
                  <a:pt x="148114" y="171450"/>
                  <a:pt x="152400" y="167164"/>
                  <a:pt x="152400" y="161925"/>
                </a:cubicBezTo>
                <a:lnTo>
                  <a:pt x="152400" y="142875"/>
                </a:lnTo>
                <a:cubicBezTo>
                  <a:pt x="152400" y="137636"/>
                  <a:pt x="148114" y="133350"/>
                  <a:pt x="142875" y="133350"/>
                </a:cubicBezTo>
                <a:lnTo>
                  <a:pt x="123825" y="133350"/>
                </a:lnTo>
                <a:cubicBezTo>
                  <a:pt x="118586" y="133350"/>
                  <a:pt x="114300" y="137636"/>
                  <a:pt x="114300" y="142875"/>
                </a:cubicBezTo>
                <a:close/>
                <a:moveTo>
                  <a:pt x="200025" y="133350"/>
                </a:moveTo>
                <a:cubicBezTo>
                  <a:pt x="194786" y="133350"/>
                  <a:pt x="190500" y="137636"/>
                  <a:pt x="190500" y="142875"/>
                </a:cubicBezTo>
                <a:lnTo>
                  <a:pt x="190500" y="161925"/>
                </a:lnTo>
                <a:cubicBezTo>
                  <a:pt x="190500" y="167164"/>
                  <a:pt x="194786" y="171450"/>
                  <a:pt x="200025" y="171450"/>
                </a:cubicBezTo>
                <a:lnTo>
                  <a:pt x="219075" y="171450"/>
                </a:lnTo>
                <a:cubicBezTo>
                  <a:pt x="224314" y="171450"/>
                  <a:pt x="228600" y="167164"/>
                  <a:pt x="228600" y="161925"/>
                </a:cubicBezTo>
                <a:lnTo>
                  <a:pt x="228600" y="142875"/>
                </a:lnTo>
                <a:cubicBezTo>
                  <a:pt x="228600" y="137636"/>
                  <a:pt x="224314" y="133350"/>
                  <a:pt x="219075" y="133350"/>
                </a:cubicBezTo>
                <a:lnTo>
                  <a:pt x="200025" y="133350"/>
                </a:lnTo>
                <a:close/>
                <a:moveTo>
                  <a:pt x="38100" y="219075"/>
                </a:move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66675" y="247650"/>
                </a:lnTo>
                <a:cubicBezTo>
                  <a:pt x="71914" y="247650"/>
                  <a:pt x="76200" y="243364"/>
                  <a:pt x="76200" y="238125"/>
                </a:cubicBezTo>
                <a:lnTo>
                  <a:pt x="76200" y="219075"/>
                </a:lnTo>
                <a:cubicBezTo>
                  <a:pt x="76200" y="213836"/>
                  <a:pt x="71914" y="209550"/>
                  <a:pt x="66675" y="209550"/>
                </a:cubicBezTo>
                <a:lnTo>
                  <a:pt x="47625" y="209550"/>
                </a:lnTo>
                <a:cubicBezTo>
                  <a:pt x="42386" y="209550"/>
                  <a:pt x="38100" y="213836"/>
                  <a:pt x="38100" y="219075"/>
                </a:cubicBezTo>
                <a:close/>
                <a:moveTo>
                  <a:pt x="123825" y="209550"/>
                </a:moveTo>
                <a:cubicBezTo>
                  <a:pt x="118586" y="209550"/>
                  <a:pt x="114300" y="213836"/>
                  <a:pt x="114300" y="219075"/>
                </a:cubicBezTo>
                <a:lnTo>
                  <a:pt x="114300" y="238125"/>
                </a:lnTo>
                <a:cubicBezTo>
                  <a:pt x="114300" y="243364"/>
                  <a:pt x="118586" y="247650"/>
                  <a:pt x="123825" y="247650"/>
                </a:cubicBezTo>
                <a:lnTo>
                  <a:pt x="142875" y="247650"/>
                </a:lnTo>
                <a:cubicBezTo>
                  <a:pt x="148114" y="247650"/>
                  <a:pt x="152400" y="243364"/>
                  <a:pt x="152400" y="238125"/>
                </a:cubicBezTo>
                <a:lnTo>
                  <a:pt x="152400" y="219075"/>
                </a:lnTo>
                <a:cubicBezTo>
                  <a:pt x="152400" y="213836"/>
                  <a:pt x="148114" y="209550"/>
                  <a:pt x="142875" y="209550"/>
                </a:cubicBezTo>
                <a:lnTo>
                  <a:pt x="123825" y="209550"/>
                </a:lnTo>
                <a:close/>
                <a:moveTo>
                  <a:pt x="190500" y="219075"/>
                </a:moveTo>
                <a:lnTo>
                  <a:pt x="190500" y="238125"/>
                </a:lnTo>
                <a:cubicBezTo>
                  <a:pt x="190500" y="243364"/>
                  <a:pt x="194786" y="247650"/>
                  <a:pt x="200025" y="247650"/>
                </a:cubicBezTo>
                <a:lnTo>
                  <a:pt x="219075" y="247650"/>
                </a:lnTo>
                <a:cubicBezTo>
                  <a:pt x="224314" y="247650"/>
                  <a:pt x="228600" y="243364"/>
                  <a:pt x="228600" y="238125"/>
                </a:cubicBezTo>
                <a:lnTo>
                  <a:pt x="228600" y="219075"/>
                </a:lnTo>
                <a:cubicBezTo>
                  <a:pt x="228600" y="213836"/>
                  <a:pt x="224314" y="209550"/>
                  <a:pt x="219075" y="209550"/>
                </a:cubicBezTo>
                <a:lnTo>
                  <a:pt x="200025" y="209550"/>
                </a:lnTo>
                <a:cubicBezTo>
                  <a:pt x="194786" y="209550"/>
                  <a:pt x="190500" y="213836"/>
                  <a:pt x="190500" y="219075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6883400" y="6219825"/>
            <a:ext cx="167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2003 · SOSP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08000" y="7613650"/>
            <a:ext cx="15240000" cy="12700"/>
          </a:xfrm>
          <a:custGeom>
            <a:avLst/>
            <a:gdLst/>
            <a:ahLst/>
            <a:cxnLst/>
            <a:rect l="l" t="t" r="r" b="b"/>
            <a:pathLst>
              <a:path w="15240000" h="12700">
                <a:moveTo>
                  <a:pt x="0" y="0"/>
                </a:moveTo>
                <a:lnTo>
                  <a:pt x="15240000" y="0"/>
                </a:lnTo>
                <a:lnTo>
                  <a:pt x="15240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508000" y="7950200"/>
            <a:ext cx="723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Authors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448991" y="7924800"/>
            <a:ext cx="523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Sanjay Ghemawat · Howard Gobioff · Shun-Tak Leung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4786273" y="7950200"/>
            <a:ext cx="1054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Google, Inc.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504" y="653255"/>
            <a:ext cx="603005" cy="50250"/>
          </a:xfrm>
          <a:custGeom>
            <a:avLst/>
            <a:gdLst/>
            <a:ahLst/>
            <a:cxnLst/>
            <a:rect l="l" t="t" r="r" b="b"/>
            <a:pathLst>
              <a:path w="603005" h="50250">
                <a:moveTo>
                  <a:pt x="0" y="0"/>
                </a:moveTo>
                <a:lnTo>
                  <a:pt x="603005" y="0"/>
                </a:lnTo>
                <a:lnTo>
                  <a:pt x="603005" y="50250"/>
                </a:lnTo>
                <a:lnTo>
                  <a:pt x="0" y="5025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256260" y="502504"/>
            <a:ext cx="2160767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1" b="1" kern="0" spc="89" dirty="0">
                <a:solidFill>
                  <a:srgbClr val="D4A2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 OUTLINE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504" y="1005008"/>
            <a:ext cx="15552495" cy="603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748" b="1" dirty="0" err="1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504" y="2010015"/>
            <a:ext cx="804006" cy="804006"/>
          </a:xfrm>
          <a:custGeom>
            <a:avLst/>
            <a:gdLst/>
            <a:ahLst/>
            <a:cxnLst/>
            <a:rect l="l" t="t" r="r" b="b"/>
            <a:pathLst>
              <a:path w="804006" h="804006">
                <a:moveTo>
                  <a:pt x="100501" y="0"/>
                </a:moveTo>
                <a:lnTo>
                  <a:pt x="703505" y="0"/>
                </a:lnTo>
                <a:cubicBezTo>
                  <a:pt x="759010" y="0"/>
                  <a:pt x="804006" y="44996"/>
                  <a:pt x="804006" y="100501"/>
                </a:cubicBezTo>
                <a:lnTo>
                  <a:pt x="804006" y="703505"/>
                </a:lnTo>
                <a:cubicBezTo>
                  <a:pt x="804006" y="759010"/>
                  <a:pt x="759010" y="804006"/>
                  <a:pt x="703505" y="804006"/>
                </a:cubicBezTo>
                <a:lnTo>
                  <a:pt x="100501" y="804006"/>
                </a:lnTo>
                <a:cubicBezTo>
                  <a:pt x="44996" y="804006"/>
                  <a:pt x="0" y="759010"/>
                  <a:pt x="0" y="703505"/>
                </a:cubicBezTo>
                <a:lnTo>
                  <a:pt x="0" y="100501"/>
                </a:lnTo>
                <a:cubicBezTo>
                  <a:pt x="0" y="45033"/>
                  <a:pt x="45033" y="0"/>
                  <a:pt x="100501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08903" y="2185892"/>
            <a:ext cx="577879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68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32637" y="2010015"/>
            <a:ext cx="6394362" cy="1457261"/>
          </a:xfrm>
          <a:custGeom>
            <a:avLst/>
            <a:gdLst/>
            <a:ahLst/>
            <a:cxnLst/>
            <a:rect l="l" t="t" r="r" b="b"/>
            <a:pathLst>
              <a:path w="6394362" h="1457261">
                <a:moveTo>
                  <a:pt x="50250" y="0"/>
                </a:moveTo>
                <a:lnTo>
                  <a:pt x="6293854" y="0"/>
                </a:lnTo>
                <a:cubicBezTo>
                  <a:pt x="6349363" y="0"/>
                  <a:pt x="6394362" y="44999"/>
                  <a:pt x="6394362" y="100507"/>
                </a:cubicBezTo>
                <a:lnTo>
                  <a:pt x="6394362" y="1356754"/>
                </a:lnTo>
                <a:cubicBezTo>
                  <a:pt x="6394362" y="1412263"/>
                  <a:pt x="6349363" y="1457261"/>
                  <a:pt x="6293854" y="1457261"/>
                </a:cubicBezTo>
                <a:lnTo>
                  <a:pt x="50250" y="1457261"/>
                </a:lnTo>
                <a:cubicBezTo>
                  <a:pt x="22498" y="1457261"/>
                  <a:pt x="0" y="1434763"/>
                  <a:pt x="0" y="1407011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532637" y="2010015"/>
            <a:ext cx="50250" cy="1457261"/>
          </a:xfrm>
          <a:custGeom>
            <a:avLst/>
            <a:gdLst/>
            <a:ahLst/>
            <a:cxnLst/>
            <a:rect l="l" t="t" r="r" b="b"/>
            <a:pathLst>
              <a:path w="50250" h="1457261">
                <a:moveTo>
                  <a:pt x="50250" y="0"/>
                </a:moveTo>
                <a:lnTo>
                  <a:pt x="50250" y="0"/>
                </a:lnTo>
                <a:lnTo>
                  <a:pt x="50250" y="1457261"/>
                </a:lnTo>
                <a:lnTo>
                  <a:pt x="50250" y="1457261"/>
                </a:lnTo>
                <a:cubicBezTo>
                  <a:pt x="22498" y="1457261"/>
                  <a:pt x="0" y="1434763"/>
                  <a:pt x="0" y="1407011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758764" y="2211017"/>
            <a:ext cx="6092859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7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传统文件系统基础与局限性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58764" y="2663270"/>
            <a:ext cx="6067734" cy="603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理解传统文件系统的分层架构、POSIX 标准接口，以及面对大规模数据存储时的根本性限制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30376" y="2010015"/>
            <a:ext cx="804006" cy="804006"/>
          </a:xfrm>
          <a:custGeom>
            <a:avLst/>
            <a:gdLst/>
            <a:ahLst/>
            <a:cxnLst/>
            <a:rect l="l" t="t" r="r" b="b"/>
            <a:pathLst>
              <a:path w="804006" h="804006">
                <a:moveTo>
                  <a:pt x="100501" y="0"/>
                </a:moveTo>
                <a:lnTo>
                  <a:pt x="703505" y="0"/>
                </a:lnTo>
                <a:cubicBezTo>
                  <a:pt x="759010" y="0"/>
                  <a:pt x="804006" y="44996"/>
                  <a:pt x="804006" y="100501"/>
                </a:cubicBezTo>
                <a:lnTo>
                  <a:pt x="804006" y="703505"/>
                </a:lnTo>
                <a:cubicBezTo>
                  <a:pt x="804006" y="759010"/>
                  <a:pt x="759010" y="804006"/>
                  <a:pt x="703505" y="804006"/>
                </a:cubicBezTo>
                <a:lnTo>
                  <a:pt x="100501" y="804006"/>
                </a:lnTo>
                <a:cubicBezTo>
                  <a:pt x="44996" y="804006"/>
                  <a:pt x="0" y="759010"/>
                  <a:pt x="0" y="703505"/>
                </a:cubicBezTo>
                <a:lnTo>
                  <a:pt x="0" y="100501"/>
                </a:lnTo>
                <a:cubicBezTo>
                  <a:pt x="0" y="45033"/>
                  <a:pt x="45033" y="0"/>
                  <a:pt x="100501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502621" y="2185892"/>
            <a:ext cx="653255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68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360509" y="2010015"/>
            <a:ext cx="6394362" cy="1457261"/>
          </a:xfrm>
          <a:custGeom>
            <a:avLst/>
            <a:gdLst/>
            <a:ahLst/>
            <a:cxnLst/>
            <a:rect l="l" t="t" r="r" b="b"/>
            <a:pathLst>
              <a:path w="6394362" h="1457261">
                <a:moveTo>
                  <a:pt x="50250" y="0"/>
                </a:moveTo>
                <a:lnTo>
                  <a:pt x="6293854" y="0"/>
                </a:lnTo>
                <a:cubicBezTo>
                  <a:pt x="6349363" y="0"/>
                  <a:pt x="6394362" y="44999"/>
                  <a:pt x="6394362" y="100507"/>
                </a:cubicBezTo>
                <a:lnTo>
                  <a:pt x="6394362" y="1356754"/>
                </a:lnTo>
                <a:cubicBezTo>
                  <a:pt x="6394362" y="1412263"/>
                  <a:pt x="6349363" y="1457261"/>
                  <a:pt x="6293854" y="1457261"/>
                </a:cubicBezTo>
                <a:lnTo>
                  <a:pt x="50250" y="1457261"/>
                </a:lnTo>
                <a:cubicBezTo>
                  <a:pt x="22498" y="1457261"/>
                  <a:pt x="0" y="1434763"/>
                  <a:pt x="0" y="1407011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9360509" y="2010015"/>
            <a:ext cx="50250" cy="1457261"/>
          </a:xfrm>
          <a:custGeom>
            <a:avLst/>
            <a:gdLst/>
            <a:ahLst/>
            <a:cxnLst/>
            <a:rect l="l" t="t" r="r" b="b"/>
            <a:pathLst>
              <a:path w="50250" h="1457261">
                <a:moveTo>
                  <a:pt x="50250" y="0"/>
                </a:moveTo>
                <a:lnTo>
                  <a:pt x="50250" y="0"/>
                </a:lnTo>
                <a:lnTo>
                  <a:pt x="50250" y="1457261"/>
                </a:lnTo>
                <a:lnTo>
                  <a:pt x="50250" y="1457261"/>
                </a:lnTo>
                <a:cubicBezTo>
                  <a:pt x="22498" y="1457261"/>
                  <a:pt x="0" y="1434763"/>
                  <a:pt x="0" y="1407011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586635" y="2211017"/>
            <a:ext cx="6092859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7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GFS 要解决的问题与设计目标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86635" y="2663270"/>
            <a:ext cx="6067734" cy="603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深入分析 Google 面临的技术挑战，理解 GFS 的设计假设和核心目标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504" y="3668278"/>
            <a:ext cx="804006" cy="804006"/>
          </a:xfrm>
          <a:custGeom>
            <a:avLst/>
            <a:gdLst/>
            <a:ahLst/>
            <a:cxnLst/>
            <a:rect l="l" t="t" r="r" b="b"/>
            <a:pathLst>
              <a:path w="804006" h="804006">
                <a:moveTo>
                  <a:pt x="100501" y="0"/>
                </a:moveTo>
                <a:lnTo>
                  <a:pt x="703505" y="0"/>
                </a:lnTo>
                <a:cubicBezTo>
                  <a:pt x="759010" y="0"/>
                  <a:pt x="804006" y="44996"/>
                  <a:pt x="804006" y="100501"/>
                </a:cubicBezTo>
                <a:lnTo>
                  <a:pt x="804006" y="703505"/>
                </a:lnTo>
                <a:cubicBezTo>
                  <a:pt x="804006" y="759010"/>
                  <a:pt x="759010" y="804006"/>
                  <a:pt x="703505" y="804006"/>
                </a:cubicBezTo>
                <a:lnTo>
                  <a:pt x="100501" y="804006"/>
                </a:lnTo>
                <a:cubicBezTo>
                  <a:pt x="44996" y="804006"/>
                  <a:pt x="0" y="759010"/>
                  <a:pt x="0" y="703505"/>
                </a:cubicBezTo>
                <a:lnTo>
                  <a:pt x="0" y="100501"/>
                </a:lnTo>
                <a:cubicBezTo>
                  <a:pt x="0" y="45033"/>
                  <a:pt x="45033" y="0"/>
                  <a:pt x="100501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73080" y="3844155"/>
            <a:ext cx="653255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68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532637" y="3668278"/>
            <a:ext cx="6394362" cy="1457261"/>
          </a:xfrm>
          <a:custGeom>
            <a:avLst/>
            <a:gdLst/>
            <a:ahLst/>
            <a:cxnLst/>
            <a:rect l="l" t="t" r="r" b="b"/>
            <a:pathLst>
              <a:path w="6394362" h="1457261">
                <a:moveTo>
                  <a:pt x="50250" y="0"/>
                </a:moveTo>
                <a:lnTo>
                  <a:pt x="6293854" y="0"/>
                </a:lnTo>
                <a:cubicBezTo>
                  <a:pt x="6349363" y="0"/>
                  <a:pt x="6394362" y="44999"/>
                  <a:pt x="6394362" y="100507"/>
                </a:cubicBezTo>
                <a:lnTo>
                  <a:pt x="6394362" y="1356754"/>
                </a:lnTo>
                <a:cubicBezTo>
                  <a:pt x="6394362" y="1412263"/>
                  <a:pt x="6349363" y="1457261"/>
                  <a:pt x="6293854" y="1457261"/>
                </a:cubicBezTo>
                <a:lnTo>
                  <a:pt x="50250" y="1457261"/>
                </a:lnTo>
                <a:cubicBezTo>
                  <a:pt x="22498" y="1457261"/>
                  <a:pt x="0" y="1434763"/>
                  <a:pt x="0" y="1407011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1532637" y="3668278"/>
            <a:ext cx="50250" cy="1457261"/>
          </a:xfrm>
          <a:custGeom>
            <a:avLst/>
            <a:gdLst/>
            <a:ahLst/>
            <a:cxnLst/>
            <a:rect l="l" t="t" r="r" b="b"/>
            <a:pathLst>
              <a:path w="50250" h="1457261">
                <a:moveTo>
                  <a:pt x="50250" y="0"/>
                </a:moveTo>
                <a:lnTo>
                  <a:pt x="50250" y="0"/>
                </a:lnTo>
                <a:lnTo>
                  <a:pt x="50250" y="1457261"/>
                </a:lnTo>
                <a:lnTo>
                  <a:pt x="50250" y="1457261"/>
                </a:lnTo>
                <a:cubicBezTo>
                  <a:pt x="22498" y="1457261"/>
                  <a:pt x="0" y="1434763"/>
                  <a:pt x="0" y="1407011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758764" y="3869280"/>
            <a:ext cx="6092859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7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GFS 架构设计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58764" y="4321533"/>
            <a:ext cx="6067734" cy="603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深入剖析 Master-ChunkServer 架构、核心组件职责和关键设计决策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30376" y="3668278"/>
            <a:ext cx="804006" cy="804006"/>
          </a:xfrm>
          <a:custGeom>
            <a:avLst/>
            <a:gdLst/>
            <a:ahLst/>
            <a:cxnLst/>
            <a:rect l="l" t="t" r="r" b="b"/>
            <a:pathLst>
              <a:path w="804006" h="804006">
                <a:moveTo>
                  <a:pt x="100501" y="0"/>
                </a:moveTo>
                <a:lnTo>
                  <a:pt x="703505" y="0"/>
                </a:lnTo>
                <a:cubicBezTo>
                  <a:pt x="759010" y="0"/>
                  <a:pt x="804006" y="44996"/>
                  <a:pt x="804006" y="100501"/>
                </a:cubicBezTo>
                <a:lnTo>
                  <a:pt x="804006" y="703505"/>
                </a:lnTo>
                <a:cubicBezTo>
                  <a:pt x="804006" y="759010"/>
                  <a:pt x="759010" y="804006"/>
                  <a:pt x="703505" y="804006"/>
                </a:cubicBezTo>
                <a:lnTo>
                  <a:pt x="100501" y="804006"/>
                </a:lnTo>
                <a:cubicBezTo>
                  <a:pt x="44996" y="804006"/>
                  <a:pt x="0" y="759010"/>
                  <a:pt x="0" y="703505"/>
                </a:cubicBezTo>
                <a:lnTo>
                  <a:pt x="0" y="100501"/>
                </a:lnTo>
                <a:cubicBezTo>
                  <a:pt x="0" y="45033"/>
                  <a:pt x="45033" y="0"/>
                  <a:pt x="100501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501148" y="3844155"/>
            <a:ext cx="653255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68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360509" y="3668278"/>
            <a:ext cx="6394362" cy="1457261"/>
          </a:xfrm>
          <a:custGeom>
            <a:avLst/>
            <a:gdLst/>
            <a:ahLst/>
            <a:cxnLst/>
            <a:rect l="l" t="t" r="r" b="b"/>
            <a:pathLst>
              <a:path w="6394362" h="1457261">
                <a:moveTo>
                  <a:pt x="50250" y="0"/>
                </a:moveTo>
                <a:lnTo>
                  <a:pt x="6293854" y="0"/>
                </a:lnTo>
                <a:cubicBezTo>
                  <a:pt x="6349363" y="0"/>
                  <a:pt x="6394362" y="44999"/>
                  <a:pt x="6394362" y="100507"/>
                </a:cubicBezTo>
                <a:lnTo>
                  <a:pt x="6394362" y="1356754"/>
                </a:lnTo>
                <a:cubicBezTo>
                  <a:pt x="6394362" y="1412263"/>
                  <a:pt x="6349363" y="1457261"/>
                  <a:pt x="6293854" y="1457261"/>
                </a:cubicBezTo>
                <a:lnTo>
                  <a:pt x="50250" y="1457261"/>
                </a:lnTo>
                <a:cubicBezTo>
                  <a:pt x="22498" y="1457261"/>
                  <a:pt x="0" y="1434763"/>
                  <a:pt x="0" y="1407011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9360509" y="3668278"/>
            <a:ext cx="50250" cy="1457261"/>
          </a:xfrm>
          <a:custGeom>
            <a:avLst/>
            <a:gdLst/>
            <a:ahLst/>
            <a:cxnLst/>
            <a:rect l="l" t="t" r="r" b="b"/>
            <a:pathLst>
              <a:path w="50250" h="1457261">
                <a:moveTo>
                  <a:pt x="50250" y="0"/>
                </a:moveTo>
                <a:lnTo>
                  <a:pt x="50250" y="0"/>
                </a:lnTo>
                <a:lnTo>
                  <a:pt x="50250" y="1457261"/>
                </a:lnTo>
                <a:lnTo>
                  <a:pt x="50250" y="1457261"/>
                </a:lnTo>
                <a:cubicBezTo>
                  <a:pt x="22498" y="1457261"/>
                  <a:pt x="0" y="1434763"/>
                  <a:pt x="0" y="1407011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9586635" y="4020031"/>
            <a:ext cx="6092859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7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GFS 关键操作流程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586635" y="4472284"/>
            <a:ext cx="6067734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深入剖析读取、写入、追加等核心操作的实现机制和性能优化策略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2504" y="5326541"/>
            <a:ext cx="804006" cy="804006"/>
          </a:xfrm>
          <a:custGeom>
            <a:avLst/>
            <a:gdLst/>
            <a:ahLst/>
            <a:cxnLst/>
            <a:rect l="l" t="t" r="r" b="b"/>
            <a:pathLst>
              <a:path w="804006" h="804006">
                <a:moveTo>
                  <a:pt x="100501" y="0"/>
                </a:moveTo>
                <a:lnTo>
                  <a:pt x="703505" y="0"/>
                </a:lnTo>
                <a:cubicBezTo>
                  <a:pt x="759010" y="0"/>
                  <a:pt x="804006" y="44996"/>
                  <a:pt x="804006" y="100501"/>
                </a:cubicBezTo>
                <a:lnTo>
                  <a:pt x="804006" y="703505"/>
                </a:lnTo>
                <a:cubicBezTo>
                  <a:pt x="804006" y="759010"/>
                  <a:pt x="759010" y="804006"/>
                  <a:pt x="703505" y="804006"/>
                </a:cubicBezTo>
                <a:lnTo>
                  <a:pt x="100501" y="804006"/>
                </a:lnTo>
                <a:cubicBezTo>
                  <a:pt x="44996" y="804006"/>
                  <a:pt x="0" y="759010"/>
                  <a:pt x="0" y="703505"/>
                </a:cubicBezTo>
                <a:lnTo>
                  <a:pt x="0" y="100501"/>
                </a:lnTo>
                <a:cubicBezTo>
                  <a:pt x="0" y="45033"/>
                  <a:pt x="45033" y="0"/>
                  <a:pt x="100501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75730" y="5502417"/>
            <a:ext cx="640692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68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532637" y="5326541"/>
            <a:ext cx="6394362" cy="1155759"/>
          </a:xfrm>
          <a:custGeom>
            <a:avLst/>
            <a:gdLst/>
            <a:ahLst/>
            <a:cxnLst/>
            <a:rect l="l" t="t" r="r" b="b"/>
            <a:pathLst>
              <a:path w="6394362" h="1155759">
                <a:moveTo>
                  <a:pt x="50250" y="0"/>
                </a:moveTo>
                <a:lnTo>
                  <a:pt x="6293857" y="0"/>
                </a:lnTo>
                <a:cubicBezTo>
                  <a:pt x="6349364" y="0"/>
                  <a:pt x="6394362" y="44998"/>
                  <a:pt x="6394362" y="100505"/>
                </a:cubicBezTo>
                <a:lnTo>
                  <a:pt x="6394362" y="1055254"/>
                </a:lnTo>
                <a:cubicBezTo>
                  <a:pt x="6394362" y="1110761"/>
                  <a:pt x="6349364" y="1155759"/>
                  <a:pt x="6293857" y="1155759"/>
                </a:cubicBezTo>
                <a:lnTo>
                  <a:pt x="50250" y="1155759"/>
                </a:lnTo>
                <a:cubicBezTo>
                  <a:pt x="22498" y="1155759"/>
                  <a:pt x="0" y="1133261"/>
                  <a:pt x="0" y="1105509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1532637" y="5326541"/>
            <a:ext cx="50250" cy="1155759"/>
          </a:xfrm>
          <a:custGeom>
            <a:avLst/>
            <a:gdLst/>
            <a:ahLst/>
            <a:cxnLst/>
            <a:rect l="l" t="t" r="r" b="b"/>
            <a:pathLst>
              <a:path w="50250" h="1155759">
                <a:moveTo>
                  <a:pt x="50250" y="0"/>
                </a:moveTo>
                <a:lnTo>
                  <a:pt x="50250" y="0"/>
                </a:lnTo>
                <a:lnTo>
                  <a:pt x="50250" y="1155759"/>
                </a:lnTo>
                <a:lnTo>
                  <a:pt x="50250" y="1155759"/>
                </a:lnTo>
                <a:cubicBezTo>
                  <a:pt x="22498" y="1155759"/>
                  <a:pt x="0" y="1133261"/>
                  <a:pt x="0" y="1105509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758764" y="5527543"/>
            <a:ext cx="6092859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7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一致性模型与数据完整性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758764" y="5979796"/>
            <a:ext cx="6067734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 GFS 的宽松一致性模型、租约机制和数据完整性保护机制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30376" y="5326541"/>
            <a:ext cx="804006" cy="804006"/>
          </a:xfrm>
          <a:custGeom>
            <a:avLst/>
            <a:gdLst/>
            <a:ahLst/>
            <a:cxnLst/>
            <a:rect l="l" t="t" r="r" b="b"/>
            <a:pathLst>
              <a:path w="804006" h="804006">
                <a:moveTo>
                  <a:pt x="100501" y="0"/>
                </a:moveTo>
                <a:lnTo>
                  <a:pt x="703505" y="0"/>
                </a:lnTo>
                <a:cubicBezTo>
                  <a:pt x="759010" y="0"/>
                  <a:pt x="804006" y="44996"/>
                  <a:pt x="804006" y="100501"/>
                </a:cubicBezTo>
                <a:lnTo>
                  <a:pt x="804006" y="703505"/>
                </a:lnTo>
                <a:cubicBezTo>
                  <a:pt x="804006" y="759010"/>
                  <a:pt x="759010" y="804006"/>
                  <a:pt x="703505" y="804006"/>
                </a:cubicBezTo>
                <a:lnTo>
                  <a:pt x="100501" y="804006"/>
                </a:lnTo>
                <a:cubicBezTo>
                  <a:pt x="44996" y="804006"/>
                  <a:pt x="0" y="759010"/>
                  <a:pt x="0" y="703505"/>
                </a:cubicBezTo>
                <a:lnTo>
                  <a:pt x="0" y="100501"/>
                </a:lnTo>
                <a:cubicBezTo>
                  <a:pt x="0" y="45033"/>
                  <a:pt x="45033" y="0"/>
                  <a:pt x="100501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499382" y="5502417"/>
            <a:ext cx="653255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68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360509" y="5326541"/>
            <a:ext cx="6394362" cy="1155759"/>
          </a:xfrm>
          <a:custGeom>
            <a:avLst/>
            <a:gdLst/>
            <a:ahLst/>
            <a:cxnLst/>
            <a:rect l="l" t="t" r="r" b="b"/>
            <a:pathLst>
              <a:path w="6394362" h="1155759">
                <a:moveTo>
                  <a:pt x="50250" y="0"/>
                </a:moveTo>
                <a:lnTo>
                  <a:pt x="6293857" y="0"/>
                </a:lnTo>
                <a:cubicBezTo>
                  <a:pt x="6349364" y="0"/>
                  <a:pt x="6394362" y="44998"/>
                  <a:pt x="6394362" y="100505"/>
                </a:cubicBezTo>
                <a:lnTo>
                  <a:pt x="6394362" y="1055254"/>
                </a:lnTo>
                <a:cubicBezTo>
                  <a:pt x="6394362" y="1110761"/>
                  <a:pt x="6349364" y="1155759"/>
                  <a:pt x="6293857" y="1155759"/>
                </a:cubicBezTo>
                <a:lnTo>
                  <a:pt x="50250" y="1155759"/>
                </a:lnTo>
                <a:cubicBezTo>
                  <a:pt x="22498" y="1155759"/>
                  <a:pt x="0" y="1133261"/>
                  <a:pt x="0" y="1105509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9360509" y="5326541"/>
            <a:ext cx="50250" cy="1155759"/>
          </a:xfrm>
          <a:custGeom>
            <a:avLst/>
            <a:gdLst/>
            <a:ahLst/>
            <a:cxnLst/>
            <a:rect l="l" t="t" r="r" b="b"/>
            <a:pathLst>
              <a:path w="50250" h="1155759">
                <a:moveTo>
                  <a:pt x="50250" y="0"/>
                </a:moveTo>
                <a:lnTo>
                  <a:pt x="50250" y="0"/>
                </a:lnTo>
                <a:lnTo>
                  <a:pt x="50250" y="1155759"/>
                </a:lnTo>
                <a:lnTo>
                  <a:pt x="50250" y="1155759"/>
                </a:lnTo>
                <a:cubicBezTo>
                  <a:pt x="22498" y="1155759"/>
                  <a:pt x="0" y="1133261"/>
                  <a:pt x="0" y="1105509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9586635" y="5527543"/>
            <a:ext cx="6092859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7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故障处理与系统可靠性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586635" y="5979796"/>
            <a:ext cx="6067734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系统分析故障模型、检测机制、恢复策略和可靠性保证机制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02504" y="6683301"/>
            <a:ext cx="804006" cy="804006"/>
          </a:xfrm>
          <a:custGeom>
            <a:avLst/>
            <a:gdLst/>
            <a:ahLst/>
            <a:cxnLst/>
            <a:rect l="l" t="t" r="r" b="b"/>
            <a:pathLst>
              <a:path w="804006" h="804006">
                <a:moveTo>
                  <a:pt x="100501" y="0"/>
                </a:moveTo>
                <a:lnTo>
                  <a:pt x="703505" y="0"/>
                </a:lnTo>
                <a:cubicBezTo>
                  <a:pt x="759010" y="0"/>
                  <a:pt x="804006" y="44996"/>
                  <a:pt x="804006" y="100501"/>
                </a:cubicBezTo>
                <a:lnTo>
                  <a:pt x="804006" y="703505"/>
                </a:lnTo>
                <a:cubicBezTo>
                  <a:pt x="804006" y="759010"/>
                  <a:pt x="759010" y="804006"/>
                  <a:pt x="703505" y="804006"/>
                </a:cubicBezTo>
                <a:lnTo>
                  <a:pt x="100501" y="804006"/>
                </a:lnTo>
                <a:cubicBezTo>
                  <a:pt x="44996" y="804006"/>
                  <a:pt x="0" y="759010"/>
                  <a:pt x="0" y="703505"/>
                </a:cubicBezTo>
                <a:lnTo>
                  <a:pt x="0" y="100501"/>
                </a:lnTo>
                <a:cubicBezTo>
                  <a:pt x="0" y="45033"/>
                  <a:pt x="45033" y="0"/>
                  <a:pt x="100501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87802" y="6859178"/>
            <a:ext cx="628130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68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532637" y="6683301"/>
            <a:ext cx="6394362" cy="1457261"/>
          </a:xfrm>
          <a:custGeom>
            <a:avLst/>
            <a:gdLst/>
            <a:ahLst/>
            <a:cxnLst/>
            <a:rect l="l" t="t" r="r" b="b"/>
            <a:pathLst>
              <a:path w="6394362" h="1457261">
                <a:moveTo>
                  <a:pt x="50250" y="0"/>
                </a:moveTo>
                <a:lnTo>
                  <a:pt x="6293854" y="0"/>
                </a:lnTo>
                <a:cubicBezTo>
                  <a:pt x="6349363" y="0"/>
                  <a:pt x="6394362" y="44999"/>
                  <a:pt x="6394362" y="100507"/>
                </a:cubicBezTo>
                <a:lnTo>
                  <a:pt x="6394362" y="1356754"/>
                </a:lnTo>
                <a:cubicBezTo>
                  <a:pt x="6394362" y="1412263"/>
                  <a:pt x="6349363" y="1457261"/>
                  <a:pt x="6293854" y="1457261"/>
                </a:cubicBezTo>
                <a:lnTo>
                  <a:pt x="50250" y="1457261"/>
                </a:lnTo>
                <a:cubicBezTo>
                  <a:pt x="22498" y="1457261"/>
                  <a:pt x="0" y="1434763"/>
                  <a:pt x="0" y="1407011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1532637" y="6683301"/>
            <a:ext cx="50250" cy="1457261"/>
          </a:xfrm>
          <a:custGeom>
            <a:avLst/>
            <a:gdLst/>
            <a:ahLst/>
            <a:cxnLst/>
            <a:rect l="l" t="t" r="r" b="b"/>
            <a:pathLst>
              <a:path w="50250" h="1457261">
                <a:moveTo>
                  <a:pt x="50250" y="0"/>
                </a:moveTo>
                <a:lnTo>
                  <a:pt x="50250" y="0"/>
                </a:lnTo>
                <a:lnTo>
                  <a:pt x="50250" y="1457261"/>
                </a:lnTo>
                <a:lnTo>
                  <a:pt x="50250" y="1457261"/>
                </a:lnTo>
                <a:cubicBezTo>
                  <a:pt x="22498" y="1457261"/>
                  <a:pt x="0" y="1434763"/>
                  <a:pt x="0" y="1407011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758764" y="7035054"/>
            <a:ext cx="6092859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7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性能优化与扩展性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758764" y="7487308"/>
            <a:ext cx="6067734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深入分析网络优化技术、负载均衡机制和系统扩展性设计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330376" y="6683301"/>
            <a:ext cx="804006" cy="804006"/>
          </a:xfrm>
          <a:custGeom>
            <a:avLst/>
            <a:gdLst/>
            <a:ahLst/>
            <a:cxnLst/>
            <a:rect l="l" t="t" r="r" b="b"/>
            <a:pathLst>
              <a:path w="804006" h="804006">
                <a:moveTo>
                  <a:pt x="100501" y="0"/>
                </a:moveTo>
                <a:lnTo>
                  <a:pt x="703505" y="0"/>
                </a:lnTo>
                <a:cubicBezTo>
                  <a:pt x="759010" y="0"/>
                  <a:pt x="804006" y="44996"/>
                  <a:pt x="804006" y="100501"/>
                </a:cubicBezTo>
                <a:lnTo>
                  <a:pt x="804006" y="703505"/>
                </a:lnTo>
                <a:cubicBezTo>
                  <a:pt x="804006" y="759010"/>
                  <a:pt x="759010" y="804006"/>
                  <a:pt x="703505" y="804006"/>
                </a:cubicBezTo>
                <a:lnTo>
                  <a:pt x="100501" y="804006"/>
                </a:lnTo>
                <a:cubicBezTo>
                  <a:pt x="44996" y="804006"/>
                  <a:pt x="0" y="759010"/>
                  <a:pt x="0" y="703505"/>
                </a:cubicBezTo>
                <a:lnTo>
                  <a:pt x="0" y="100501"/>
                </a:lnTo>
                <a:cubicBezTo>
                  <a:pt x="0" y="45033"/>
                  <a:pt x="45033" y="0"/>
                  <a:pt x="100501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496437" y="6859178"/>
            <a:ext cx="665818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68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360509" y="6683301"/>
            <a:ext cx="6394362" cy="1457261"/>
          </a:xfrm>
          <a:custGeom>
            <a:avLst/>
            <a:gdLst/>
            <a:ahLst/>
            <a:cxnLst/>
            <a:rect l="l" t="t" r="r" b="b"/>
            <a:pathLst>
              <a:path w="6394362" h="1457261">
                <a:moveTo>
                  <a:pt x="50250" y="0"/>
                </a:moveTo>
                <a:lnTo>
                  <a:pt x="6293854" y="0"/>
                </a:lnTo>
                <a:cubicBezTo>
                  <a:pt x="6349363" y="0"/>
                  <a:pt x="6394362" y="44999"/>
                  <a:pt x="6394362" y="100507"/>
                </a:cubicBezTo>
                <a:lnTo>
                  <a:pt x="6394362" y="1356754"/>
                </a:lnTo>
                <a:cubicBezTo>
                  <a:pt x="6394362" y="1412263"/>
                  <a:pt x="6349363" y="1457261"/>
                  <a:pt x="6293854" y="1457261"/>
                </a:cubicBezTo>
                <a:lnTo>
                  <a:pt x="50250" y="1457261"/>
                </a:lnTo>
                <a:cubicBezTo>
                  <a:pt x="22498" y="1457261"/>
                  <a:pt x="0" y="1434763"/>
                  <a:pt x="0" y="1407011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9360509" y="6683301"/>
            <a:ext cx="50250" cy="1457261"/>
          </a:xfrm>
          <a:custGeom>
            <a:avLst/>
            <a:gdLst/>
            <a:ahLst/>
            <a:cxnLst/>
            <a:rect l="l" t="t" r="r" b="b"/>
            <a:pathLst>
              <a:path w="50250" h="1457261">
                <a:moveTo>
                  <a:pt x="50250" y="0"/>
                </a:moveTo>
                <a:lnTo>
                  <a:pt x="50250" y="0"/>
                </a:lnTo>
                <a:lnTo>
                  <a:pt x="50250" y="1457261"/>
                </a:lnTo>
                <a:lnTo>
                  <a:pt x="50250" y="1457261"/>
                </a:lnTo>
                <a:cubicBezTo>
                  <a:pt x="22498" y="1457261"/>
                  <a:pt x="0" y="1434763"/>
                  <a:pt x="0" y="1407011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9586635" y="6884303"/>
            <a:ext cx="6092859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7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GFS 的影响和局限性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586635" y="7336556"/>
            <a:ext cx="6067734" cy="603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分析 GFS 对后续系统的影响、设计局限性,以及从 GFS 到 HDFS 的演进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02504" y="8448346"/>
            <a:ext cx="15250992" cy="12563"/>
          </a:xfrm>
          <a:custGeom>
            <a:avLst/>
            <a:gdLst/>
            <a:ahLst/>
            <a:cxnLst/>
            <a:rect l="l" t="t" r="r" b="b"/>
            <a:pathLst>
              <a:path w="15250992" h="12563">
                <a:moveTo>
                  <a:pt x="0" y="0"/>
                </a:moveTo>
                <a:lnTo>
                  <a:pt x="15250992" y="0"/>
                </a:lnTo>
                <a:lnTo>
                  <a:pt x="15250992" y="12563"/>
                </a:lnTo>
                <a:lnTo>
                  <a:pt x="0" y="12563"/>
                </a:lnTo>
                <a:lnTo>
                  <a:pt x="0" y="0"/>
                </a:lnTo>
                <a:close/>
              </a:path>
            </a:pathLst>
          </a:custGeom>
          <a:solidFill>
            <a:srgbClr val="495057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08000" y="11811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152400" y="0"/>
                </a:moveTo>
                <a:lnTo>
                  <a:pt x="1066800" y="0"/>
                </a:lnTo>
                <a:cubicBezTo>
                  <a:pt x="1150912" y="0"/>
                  <a:pt x="1219200" y="68288"/>
                  <a:pt x="1219200" y="152400"/>
                </a:cubicBezTo>
                <a:lnTo>
                  <a:pt x="1219200" y="1066800"/>
                </a:lnTo>
                <a:cubicBezTo>
                  <a:pt x="1219200" y="1150912"/>
                  <a:pt x="1150912" y="1219200"/>
                  <a:pt x="1066800" y="1219200"/>
                </a:cubicBezTo>
                <a:lnTo>
                  <a:pt x="152400" y="1219200"/>
                </a:lnTo>
                <a:cubicBezTo>
                  <a:pt x="68288" y="1219200"/>
                  <a:pt x="0" y="1150912"/>
                  <a:pt x="0" y="10668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801191" y="1485900"/>
            <a:ext cx="939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32000" y="1282700"/>
            <a:ext cx="101600" cy="1016000"/>
          </a:xfrm>
          <a:custGeom>
            <a:avLst/>
            <a:gdLst/>
            <a:ahLst/>
            <a:cxnLst/>
            <a:rect l="l" t="t" r="r" b="b"/>
            <a:pathLst>
              <a:path w="101600" h="1016000">
                <a:moveTo>
                  <a:pt x="0" y="0"/>
                </a:moveTo>
                <a:lnTo>
                  <a:pt x="101600" y="0"/>
                </a:lnTo>
                <a:lnTo>
                  <a:pt x="1016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08000" y="2806700"/>
            <a:ext cx="1061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传统文件系统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基础与局限性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397500"/>
            <a:ext cx="2438400" cy="76200"/>
          </a:xfrm>
          <a:custGeom>
            <a:avLst/>
            <a:gdLst/>
            <a:ahLst/>
            <a:cxnLst/>
            <a:rect l="l" t="t" r="r" b="b"/>
            <a:pathLst>
              <a:path w="2438400" h="76200">
                <a:moveTo>
                  <a:pt x="0" y="0"/>
                </a:moveTo>
                <a:lnTo>
                  <a:pt x="2438400" y="0"/>
                </a:lnTo>
                <a:lnTo>
                  <a:pt x="2438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08000" y="5880100"/>
            <a:ext cx="8686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理解传统文件系统的分层架构、POSIX 标准接口，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以及面对大规模数据存储时的根本性限制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14350" y="7283450"/>
            <a:ext cx="2070100" cy="673100"/>
          </a:xfrm>
          <a:custGeom>
            <a:avLst/>
            <a:gdLst/>
            <a:ahLst/>
            <a:cxnLst/>
            <a:rect l="l" t="t" r="r" b="b"/>
            <a:pathLst>
              <a:path w="2070100" h="673100">
                <a:moveTo>
                  <a:pt x="101598" y="0"/>
                </a:moveTo>
                <a:lnTo>
                  <a:pt x="1968502" y="0"/>
                </a:lnTo>
                <a:cubicBezTo>
                  <a:pt x="2024613" y="0"/>
                  <a:pt x="2070100" y="45487"/>
                  <a:pt x="2070100" y="101598"/>
                </a:cubicBezTo>
                <a:lnTo>
                  <a:pt x="2070100" y="571502"/>
                </a:lnTo>
                <a:cubicBezTo>
                  <a:pt x="2070100" y="627613"/>
                  <a:pt x="2024613" y="673100"/>
                  <a:pt x="1968502" y="673100"/>
                </a:cubicBezTo>
                <a:lnTo>
                  <a:pt x="101598" y="673100"/>
                </a:lnTo>
                <a:cubicBezTo>
                  <a:pt x="45487" y="673100"/>
                  <a:pt x="0" y="627613"/>
                  <a:pt x="0" y="5715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857250" y="7493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5342" y="2580"/>
                </a:moveTo>
                <a:cubicBezTo>
                  <a:pt x="122734" y="-843"/>
                  <a:pt x="131266" y="-843"/>
                  <a:pt x="138658" y="2580"/>
                </a:cubicBezTo>
                <a:lnTo>
                  <a:pt x="247104" y="52685"/>
                </a:lnTo>
                <a:cubicBezTo>
                  <a:pt x="251321" y="54620"/>
                  <a:pt x="254000" y="58837"/>
                  <a:pt x="254000" y="63500"/>
                </a:cubicBezTo>
                <a:cubicBezTo>
                  <a:pt x="254000" y="68163"/>
                  <a:pt x="251321" y="72380"/>
                  <a:pt x="247104" y="74315"/>
                </a:cubicBezTo>
                <a:lnTo>
                  <a:pt x="138658" y="124420"/>
                </a:lnTo>
                <a:cubicBezTo>
                  <a:pt x="131266" y="127843"/>
                  <a:pt x="122734" y="127843"/>
                  <a:pt x="115342" y="124420"/>
                </a:cubicBezTo>
                <a:lnTo>
                  <a:pt x="6896" y="74315"/>
                </a:lnTo>
                <a:cubicBezTo>
                  <a:pt x="2679" y="72330"/>
                  <a:pt x="0" y="68114"/>
                  <a:pt x="0" y="63500"/>
                </a:cubicBezTo>
                <a:cubicBezTo>
                  <a:pt x="0" y="58886"/>
                  <a:pt x="2679" y="54620"/>
                  <a:pt x="6896" y="52685"/>
                </a:cubicBezTo>
                <a:lnTo>
                  <a:pt x="115342" y="2580"/>
                </a:lnTo>
                <a:close/>
                <a:moveTo>
                  <a:pt x="23862" y="108347"/>
                </a:moveTo>
                <a:lnTo>
                  <a:pt x="105370" y="146000"/>
                </a:lnTo>
                <a:cubicBezTo>
                  <a:pt x="119112" y="152350"/>
                  <a:pt x="134938" y="152350"/>
                  <a:pt x="148679" y="146000"/>
                </a:cubicBezTo>
                <a:lnTo>
                  <a:pt x="230188" y="108347"/>
                </a:lnTo>
                <a:lnTo>
                  <a:pt x="247104" y="116185"/>
                </a:lnTo>
                <a:cubicBezTo>
                  <a:pt x="251321" y="118120"/>
                  <a:pt x="254000" y="122337"/>
                  <a:pt x="254000" y="127000"/>
                </a:cubicBezTo>
                <a:cubicBezTo>
                  <a:pt x="254000" y="131663"/>
                  <a:pt x="251321" y="135880"/>
                  <a:pt x="247104" y="137815"/>
                </a:cubicBezTo>
                <a:lnTo>
                  <a:pt x="138658" y="187920"/>
                </a:lnTo>
                <a:cubicBezTo>
                  <a:pt x="131266" y="191343"/>
                  <a:pt x="122734" y="191343"/>
                  <a:pt x="115342" y="187920"/>
                </a:cubicBezTo>
                <a:lnTo>
                  <a:pt x="6896" y="137815"/>
                </a:lnTo>
                <a:cubicBezTo>
                  <a:pt x="2679" y="135830"/>
                  <a:pt x="0" y="131614"/>
                  <a:pt x="0" y="127000"/>
                </a:cubicBezTo>
                <a:cubicBezTo>
                  <a:pt x="0" y="122386"/>
                  <a:pt x="2679" y="118120"/>
                  <a:pt x="6896" y="116185"/>
                </a:cubicBezTo>
                <a:lnTo>
                  <a:pt x="23812" y="108347"/>
                </a:lnTo>
                <a:close/>
                <a:moveTo>
                  <a:pt x="6896" y="179685"/>
                </a:moveTo>
                <a:lnTo>
                  <a:pt x="23812" y="171847"/>
                </a:lnTo>
                <a:lnTo>
                  <a:pt x="105321" y="209500"/>
                </a:lnTo>
                <a:cubicBezTo>
                  <a:pt x="119063" y="215850"/>
                  <a:pt x="134888" y="215850"/>
                  <a:pt x="148630" y="209500"/>
                </a:cubicBezTo>
                <a:lnTo>
                  <a:pt x="230138" y="171847"/>
                </a:lnTo>
                <a:lnTo>
                  <a:pt x="247055" y="179685"/>
                </a:lnTo>
                <a:cubicBezTo>
                  <a:pt x="251271" y="181620"/>
                  <a:pt x="253950" y="185837"/>
                  <a:pt x="253950" y="190500"/>
                </a:cubicBezTo>
                <a:cubicBezTo>
                  <a:pt x="253950" y="195163"/>
                  <a:pt x="251271" y="199380"/>
                  <a:pt x="247055" y="201315"/>
                </a:cubicBezTo>
                <a:lnTo>
                  <a:pt x="138609" y="251420"/>
                </a:lnTo>
                <a:cubicBezTo>
                  <a:pt x="131217" y="254843"/>
                  <a:pt x="122684" y="254843"/>
                  <a:pt x="115292" y="251420"/>
                </a:cubicBezTo>
                <a:lnTo>
                  <a:pt x="6896" y="201315"/>
                </a:lnTo>
                <a:cubicBezTo>
                  <a:pt x="2679" y="199330"/>
                  <a:pt x="0" y="195114"/>
                  <a:pt x="0" y="190500"/>
                </a:cubicBezTo>
                <a:cubicBezTo>
                  <a:pt x="0" y="185886"/>
                  <a:pt x="2679" y="181620"/>
                  <a:pt x="6896" y="179685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1354138" y="74676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分层架构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795588" y="7283450"/>
            <a:ext cx="2324100" cy="673100"/>
          </a:xfrm>
          <a:custGeom>
            <a:avLst/>
            <a:gdLst/>
            <a:ahLst/>
            <a:cxnLst/>
            <a:rect l="l" t="t" r="r" b="b"/>
            <a:pathLst>
              <a:path w="2324100" h="673100">
                <a:moveTo>
                  <a:pt x="101598" y="0"/>
                </a:moveTo>
                <a:lnTo>
                  <a:pt x="2222502" y="0"/>
                </a:lnTo>
                <a:cubicBezTo>
                  <a:pt x="2278613" y="0"/>
                  <a:pt x="2324100" y="45487"/>
                  <a:pt x="2324100" y="101598"/>
                </a:cubicBezTo>
                <a:lnTo>
                  <a:pt x="2324100" y="571502"/>
                </a:lnTo>
                <a:cubicBezTo>
                  <a:pt x="2324100" y="627613"/>
                  <a:pt x="2278613" y="673100"/>
                  <a:pt x="2222502" y="673100"/>
                </a:cubicBezTo>
                <a:lnTo>
                  <a:pt x="101598" y="673100"/>
                </a:lnTo>
                <a:cubicBezTo>
                  <a:pt x="45487" y="673100"/>
                  <a:pt x="0" y="627613"/>
                  <a:pt x="0" y="5715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3122613" y="74930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78991" y="595"/>
                </a:moveTo>
                <a:cubicBezTo>
                  <a:pt x="170557" y="-1836"/>
                  <a:pt x="161776" y="3076"/>
                  <a:pt x="159345" y="11509"/>
                </a:cubicBezTo>
                <a:lnTo>
                  <a:pt x="95845" y="233759"/>
                </a:lnTo>
                <a:cubicBezTo>
                  <a:pt x="93414" y="242193"/>
                  <a:pt x="98326" y="250974"/>
                  <a:pt x="106759" y="253405"/>
                </a:cubicBezTo>
                <a:cubicBezTo>
                  <a:pt x="115193" y="255836"/>
                  <a:pt x="123974" y="250924"/>
                  <a:pt x="126405" y="242491"/>
                </a:cubicBezTo>
                <a:lnTo>
                  <a:pt x="189905" y="20241"/>
                </a:lnTo>
                <a:cubicBezTo>
                  <a:pt x="192336" y="11807"/>
                  <a:pt x="187424" y="3026"/>
                  <a:pt x="178991" y="595"/>
                </a:cubicBezTo>
                <a:close/>
                <a:moveTo>
                  <a:pt x="211038" y="68114"/>
                </a:moveTo>
                <a:cubicBezTo>
                  <a:pt x="204837" y="74315"/>
                  <a:pt x="204837" y="84386"/>
                  <a:pt x="211038" y="90587"/>
                </a:cubicBezTo>
                <a:lnTo>
                  <a:pt x="247452" y="127000"/>
                </a:lnTo>
                <a:lnTo>
                  <a:pt x="211038" y="163413"/>
                </a:lnTo>
                <a:cubicBezTo>
                  <a:pt x="204837" y="169614"/>
                  <a:pt x="204837" y="179685"/>
                  <a:pt x="211038" y="185886"/>
                </a:cubicBezTo>
                <a:cubicBezTo>
                  <a:pt x="217239" y="192087"/>
                  <a:pt x="227310" y="192087"/>
                  <a:pt x="233511" y="185886"/>
                </a:cubicBezTo>
                <a:lnTo>
                  <a:pt x="281136" y="138261"/>
                </a:lnTo>
                <a:cubicBezTo>
                  <a:pt x="287338" y="132060"/>
                  <a:pt x="287338" y="121989"/>
                  <a:pt x="281136" y="115788"/>
                </a:cubicBezTo>
                <a:lnTo>
                  <a:pt x="233511" y="68163"/>
                </a:lnTo>
                <a:cubicBezTo>
                  <a:pt x="227310" y="61962"/>
                  <a:pt x="217239" y="61962"/>
                  <a:pt x="211038" y="68163"/>
                </a:cubicBezTo>
                <a:close/>
                <a:moveTo>
                  <a:pt x="74761" y="68114"/>
                </a:moveTo>
                <a:cubicBezTo>
                  <a:pt x="68560" y="61912"/>
                  <a:pt x="58489" y="61912"/>
                  <a:pt x="52288" y="68114"/>
                </a:cubicBezTo>
                <a:lnTo>
                  <a:pt x="4663" y="115739"/>
                </a:lnTo>
                <a:cubicBezTo>
                  <a:pt x="-1538" y="121940"/>
                  <a:pt x="-1538" y="132011"/>
                  <a:pt x="4663" y="138212"/>
                </a:cubicBezTo>
                <a:lnTo>
                  <a:pt x="52288" y="185837"/>
                </a:lnTo>
                <a:cubicBezTo>
                  <a:pt x="58489" y="192038"/>
                  <a:pt x="68560" y="192038"/>
                  <a:pt x="74761" y="185837"/>
                </a:cubicBezTo>
                <a:cubicBezTo>
                  <a:pt x="80962" y="179636"/>
                  <a:pt x="80962" y="169565"/>
                  <a:pt x="74761" y="163364"/>
                </a:cubicBezTo>
                <a:lnTo>
                  <a:pt x="38348" y="127000"/>
                </a:lnTo>
                <a:lnTo>
                  <a:pt x="74712" y="90587"/>
                </a:lnTo>
                <a:cubicBezTo>
                  <a:pt x="80913" y="84386"/>
                  <a:pt x="80913" y="74315"/>
                  <a:pt x="74712" y="68114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3635375" y="7467600"/>
            <a:ext cx="12916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POSIX 接口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339755" y="7283450"/>
            <a:ext cx="2070100" cy="673100"/>
          </a:xfrm>
          <a:custGeom>
            <a:avLst/>
            <a:gdLst/>
            <a:ahLst/>
            <a:cxnLst/>
            <a:rect l="l" t="t" r="r" b="b"/>
            <a:pathLst>
              <a:path w="2070100" h="673100">
                <a:moveTo>
                  <a:pt x="101598" y="0"/>
                </a:moveTo>
                <a:lnTo>
                  <a:pt x="1968502" y="0"/>
                </a:lnTo>
                <a:cubicBezTo>
                  <a:pt x="2024613" y="0"/>
                  <a:pt x="2070100" y="45487"/>
                  <a:pt x="2070100" y="101598"/>
                </a:cubicBezTo>
                <a:lnTo>
                  <a:pt x="2070100" y="571502"/>
                </a:lnTo>
                <a:cubicBezTo>
                  <a:pt x="2070100" y="627613"/>
                  <a:pt x="2024613" y="673100"/>
                  <a:pt x="1968502" y="673100"/>
                </a:cubicBezTo>
                <a:lnTo>
                  <a:pt x="101598" y="673100"/>
                </a:lnTo>
                <a:cubicBezTo>
                  <a:pt x="45487" y="673100"/>
                  <a:pt x="0" y="627613"/>
                  <a:pt x="0" y="5715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5682655" y="7493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34293" y="0"/>
                  <a:pt x="140990" y="4018"/>
                  <a:pt x="144463" y="10418"/>
                </a:cubicBezTo>
                <a:lnTo>
                  <a:pt x="251619" y="208855"/>
                </a:lnTo>
                <a:cubicBezTo>
                  <a:pt x="254943" y="215007"/>
                  <a:pt x="254794" y="222448"/>
                  <a:pt x="251222" y="228451"/>
                </a:cubicBezTo>
                <a:cubicBezTo>
                  <a:pt x="247650" y="234454"/>
                  <a:pt x="241151" y="238125"/>
                  <a:pt x="234156" y="238125"/>
                </a:cubicBezTo>
                <a:lnTo>
                  <a:pt x="19844" y="238125"/>
                </a:lnTo>
                <a:cubicBezTo>
                  <a:pt x="12849" y="238125"/>
                  <a:pt x="6400" y="234454"/>
                  <a:pt x="2778" y="228451"/>
                </a:cubicBezTo>
                <a:cubicBezTo>
                  <a:pt x="-843" y="222448"/>
                  <a:pt x="-943" y="215007"/>
                  <a:pt x="2381" y="208855"/>
                </a:cubicBezTo>
                <a:lnTo>
                  <a:pt x="109538" y="10418"/>
                </a:lnTo>
                <a:cubicBezTo>
                  <a:pt x="113010" y="4018"/>
                  <a:pt x="119707" y="0"/>
                  <a:pt x="127000" y="0"/>
                </a:cubicBezTo>
                <a:close/>
                <a:moveTo>
                  <a:pt x="127000" y="83344"/>
                </a:moveTo>
                <a:cubicBezTo>
                  <a:pt x="120402" y="83344"/>
                  <a:pt x="115094" y="88652"/>
                  <a:pt x="115094" y="95250"/>
                </a:cubicBezTo>
                <a:lnTo>
                  <a:pt x="115094" y="150813"/>
                </a:lnTo>
                <a:cubicBezTo>
                  <a:pt x="115094" y="157411"/>
                  <a:pt x="120402" y="162719"/>
                  <a:pt x="127000" y="162719"/>
                </a:cubicBezTo>
                <a:cubicBezTo>
                  <a:pt x="133598" y="162719"/>
                  <a:pt x="138906" y="157411"/>
                  <a:pt x="138906" y="150813"/>
                </a:cubicBezTo>
                <a:lnTo>
                  <a:pt x="138906" y="95250"/>
                </a:lnTo>
                <a:cubicBezTo>
                  <a:pt x="138906" y="88652"/>
                  <a:pt x="133598" y="83344"/>
                  <a:pt x="127000" y="83344"/>
                </a:cubicBezTo>
                <a:close/>
                <a:moveTo>
                  <a:pt x="140246" y="190500"/>
                </a:moveTo>
                <a:cubicBezTo>
                  <a:pt x="140547" y="185583"/>
                  <a:pt x="138095" y="180906"/>
                  <a:pt x="133880" y="178356"/>
                </a:cubicBezTo>
                <a:cubicBezTo>
                  <a:pt x="129666" y="175807"/>
                  <a:pt x="124384" y="175807"/>
                  <a:pt x="120169" y="178356"/>
                </a:cubicBezTo>
                <a:cubicBezTo>
                  <a:pt x="115955" y="180906"/>
                  <a:pt x="113503" y="185583"/>
                  <a:pt x="113804" y="190500"/>
                </a:cubicBezTo>
                <a:cubicBezTo>
                  <a:pt x="113503" y="195417"/>
                  <a:pt x="115955" y="200094"/>
                  <a:pt x="120169" y="202644"/>
                </a:cubicBezTo>
                <a:cubicBezTo>
                  <a:pt x="124384" y="205193"/>
                  <a:pt x="129666" y="205193"/>
                  <a:pt x="133880" y="202644"/>
                </a:cubicBezTo>
                <a:cubicBezTo>
                  <a:pt x="138095" y="200094"/>
                  <a:pt x="140547" y="195417"/>
                  <a:pt x="140246" y="19050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6179542" y="74676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核心局限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7416" y="596769"/>
            <a:ext cx="477416" cy="47742"/>
          </a:xfrm>
          <a:custGeom>
            <a:avLst/>
            <a:gdLst/>
            <a:ahLst/>
            <a:cxnLst/>
            <a:rect l="l" t="t" r="r" b="b"/>
            <a:pathLst>
              <a:path w="477416" h="47742">
                <a:moveTo>
                  <a:pt x="0" y="0"/>
                </a:moveTo>
                <a:lnTo>
                  <a:pt x="477416" y="0"/>
                </a:lnTo>
                <a:lnTo>
                  <a:pt x="477416" y="47742"/>
                </a:lnTo>
                <a:lnTo>
                  <a:pt x="0" y="47742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98056" y="477416"/>
            <a:ext cx="3055460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b="1" kern="0" spc="75" dirty="0">
                <a:solidFill>
                  <a:srgbClr val="D4A2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SYSTEM FUNDAMENTALS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7416" y="859348"/>
            <a:ext cx="15516006" cy="477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83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Linux 文件系统分层架构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83383" y="1533698"/>
            <a:ext cx="10001856" cy="7710261"/>
          </a:xfrm>
          <a:custGeom>
            <a:avLst/>
            <a:gdLst/>
            <a:ahLst/>
            <a:cxnLst/>
            <a:rect l="l" t="t" r="r" b="b"/>
            <a:pathLst>
              <a:path w="10001856" h="7710261">
                <a:moveTo>
                  <a:pt x="95453" y="0"/>
                </a:moveTo>
                <a:lnTo>
                  <a:pt x="9906403" y="0"/>
                </a:lnTo>
                <a:cubicBezTo>
                  <a:pt x="9959120" y="0"/>
                  <a:pt x="10001856" y="42736"/>
                  <a:pt x="10001856" y="95453"/>
                </a:cubicBezTo>
                <a:lnTo>
                  <a:pt x="10001856" y="7614808"/>
                </a:lnTo>
                <a:cubicBezTo>
                  <a:pt x="10001856" y="7667526"/>
                  <a:pt x="9959120" y="7710261"/>
                  <a:pt x="9906403" y="7710261"/>
                </a:cubicBezTo>
                <a:lnTo>
                  <a:pt x="95453" y="7710261"/>
                </a:lnTo>
                <a:cubicBezTo>
                  <a:pt x="42736" y="7710261"/>
                  <a:pt x="0" y="7667526"/>
                  <a:pt x="0" y="7614808"/>
                </a:cubicBezTo>
                <a:lnTo>
                  <a:pt x="0" y="95453"/>
                </a:lnTo>
                <a:cubicBezTo>
                  <a:pt x="0" y="42736"/>
                  <a:pt x="42736" y="0"/>
                  <a:pt x="95453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99671" y="1826115"/>
            <a:ext cx="9393151" cy="1050314"/>
          </a:xfrm>
          <a:custGeom>
            <a:avLst/>
            <a:gdLst/>
            <a:ahLst/>
            <a:cxnLst/>
            <a:rect l="l" t="t" r="r" b="b"/>
            <a:pathLst>
              <a:path w="9393151" h="1050314">
                <a:moveTo>
                  <a:pt x="47742" y="0"/>
                </a:moveTo>
                <a:lnTo>
                  <a:pt x="9297667" y="0"/>
                </a:lnTo>
                <a:cubicBezTo>
                  <a:pt x="9350402" y="0"/>
                  <a:pt x="9393151" y="42750"/>
                  <a:pt x="9393151" y="95484"/>
                </a:cubicBezTo>
                <a:lnTo>
                  <a:pt x="9393151" y="954830"/>
                </a:lnTo>
                <a:cubicBezTo>
                  <a:pt x="9393151" y="1007565"/>
                  <a:pt x="9350402" y="1050314"/>
                  <a:pt x="9297667" y="1050314"/>
                </a:cubicBezTo>
                <a:lnTo>
                  <a:pt x="47742" y="1050314"/>
                </a:lnTo>
                <a:cubicBezTo>
                  <a:pt x="21375" y="1050314"/>
                  <a:pt x="0" y="1028940"/>
                  <a:pt x="0" y="1002573"/>
                </a:cubicBezTo>
                <a:lnTo>
                  <a:pt x="0" y="47742"/>
                </a:lnTo>
                <a:cubicBezTo>
                  <a:pt x="0" y="21375"/>
                  <a:pt x="21375" y="0"/>
                  <a:pt x="47742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99671" y="1826115"/>
            <a:ext cx="47742" cy="1050314"/>
          </a:xfrm>
          <a:custGeom>
            <a:avLst/>
            <a:gdLst/>
            <a:ahLst/>
            <a:cxnLst/>
            <a:rect l="l" t="t" r="r" b="b"/>
            <a:pathLst>
              <a:path w="47742" h="1050314">
                <a:moveTo>
                  <a:pt x="47742" y="0"/>
                </a:moveTo>
                <a:lnTo>
                  <a:pt x="47742" y="0"/>
                </a:lnTo>
                <a:lnTo>
                  <a:pt x="47742" y="1050314"/>
                </a:lnTo>
                <a:lnTo>
                  <a:pt x="47742" y="1050314"/>
                </a:lnTo>
                <a:cubicBezTo>
                  <a:pt x="21375" y="1050314"/>
                  <a:pt x="0" y="1028940"/>
                  <a:pt x="0" y="1002573"/>
                </a:cubicBezTo>
                <a:lnTo>
                  <a:pt x="0" y="47742"/>
                </a:lnTo>
                <a:cubicBezTo>
                  <a:pt x="0" y="21392"/>
                  <a:pt x="21392" y="0"/>
                  <a:pt x="47742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014508" y="2064822"/>
            <a:ext cx="572899" cy="572899"/>
          </a:xfrm>
          <a:custGeom>
            <a:avLst/>
            <a:gdLst/>
            <a:ahLst/>
            <a:cxnLst/>
            <a:rect l="l" t="t" r="r" b="b"/>
            <a:pathLst>
              <a:path w="572899" h="572899">
                <a:moveTo>
                  <a:pt x="286449" y="0"/>
                </a:moveTo>
                <a:lnTo>
                  <a:pt x="286449" y="0"/>
                </a:lnTo>
                <a:cubicBezTo>
                  <a:pt x="444651" y="0"/>
                  <a:pt x="572899" y="128248"/>
                  <a:pt x="572899" y="286449"/>
                </a:cubicBezTo>
                <a:lnTo>
                  <a:pt x="572899" y="286449"/>
                </a:lnTo>
                <a:cubicBezTo>
                  <a:pt x="572899" y="444651"/>
                  <a:pt x="444651" y="572899"/>
                  <a:pt x="286449" y="572899"/>
                </a:cubicBezTo>
                <a:lnTo>
                  <a:pt x="286449" y="572899"/>
                </a:lnTo>
                <a:cubicBezTo>
                  <a:pt x="128248" y="572899"/>
                  <a:pt x="0" y="444651"/>
                  <a:pt x="0" y="286449"/>
                </a:cubicBezTo>
                <a:lnTo>
                  <a:pt x="0" y="286449"/>
                </a:lnTo>
                <a:cubicBezTo>
                  <a:pt x="0" y="128248"/>
                  <a:pt x="128248" y="0"/>
                  <a:pt x="286449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181604" y="2231918"/>
            <a:ext cx="238708" cy="238708"/>
          </a:xfrm>
          <a:custGeom>
            <a:avLst/>
            <a:gdLst/>
            <a:ahLst/>
            <a:cxnLst/>
            <a:rect l="l" t="t" r="r" b="b"/>
            <a:pathLst>
              <a:path w="238708" h="238708">
                <a:moveTo>
                  <a:pt x="29838" y="14919"/>
                </a:moveTo>
                <a:cubicBezTo>
                  <a:pt x="13381" y="14919"/>
                  <a:pt x="0" y="28300"/>
                  <a:pt x="0" y="44758"/>
                </a:cubicBezTo>
                <a:lnTo>
                  <a:pt x="0" y="164112"/>
                </a:lnTo>
                <a:cubicBezTo>
                  <a:pt x="0" y="180569"/>
                  <a:pt x="13381" y="193950"/>
                  <a:pt x="29838" y="193950"/>
                </a:cubicBezTo>
                <a:lnTo>
                  <a:pt x="96975" y="193950"/>
                </a:lnTo>
                <a:lnTo>
                  <a:pt x="89515" y="216329"/>
                </a:lnTo>
                <a:lnTo>
                  <a:pt x="55947" y="216329"/>
                </a:lnTo>
                <a:cubicBezTo>
                  <a:pt x="49746" y="216329"/>
                  <a:pt x="44758" y="221318"/>
                  <a:pt x="44758" y="227518"/>
                </a:cubicBezTo>
                <a:cubicBezTo>
                  <a:pt x="44758" y="233719"/>
                  <a:pt x="49746" y="238708"/>
                  <a:pt x="55947" y="238708"/>
                </a:cubicBezTo>
                <a:lnTo>
                  <a:pt x="182761" y="238708"/>
                </a:lnTo>
                <a:cubicBezTo>
                  <a:pt x="188961" y="238708"/>
                  <a:pt x="193950" y="233719"/>
                  <a:pt x="193950" y="227518"/>
                </a:cubicBezTo>
                <a:cubicBezTo>
                  <a:pt x="193950" y="221318"/>
                  <a:pt x="188961" y="216329"/>
                  <a:pt x="182761" y="216329"/>
                </a:cubicBezTo>
                <a:lnTo>
                  <a:pt x="149192" y="216329"/>
                </a:lnTo>
                <a:lnTo>
                  <a:pt x="141733" y="193950"/>
                </a:lnTo>
                <a:lnTo>
                  <a:pt x="208869" y="193950"/>
                </a:lnTo>
                <a:cubicBezTo>
                  <a:pt x="225327" y="193950"/>
                  <a:pt x="238708" y="180569"/>
                  <a:pt x="238708" y="164112"/>
                </a:cubicBezTo>
                <a:lnTo>
                  <a:pt x="238708" y="44758"/>
                </a:lnTo>
                <a:cubicBezTo>
                  <a:pt x="238708" y="28300"/>
                  <a:pt x="225327" y="14919"/>
                  <a:pt x="208869" y="14919"/>
                </a:cubicBezTo>
                <a:lnTo>
                  <a:pt x="29838" y="14919"/>
                </a:lnTo>
                <a:close/>
                <a:moveTo>
                  <a:pt x="44758" y="44758"/>
                </a:moveTo>
                <a:lnTo>
                  <a:pt x="193950" y="44758"/>
                </a:lnTo>
                <a:cubicBezTo>
                  <a:pt x="202202" y="44758"/>
                  <a:pt x="208869" y="51425"/>
                  <a:pt x="208869" y="59677"/>
                </a:cubicBezTo>
                <a:lnTo>
                  <a:pt x="208869" y="134273"/>
                </a:lnTo>
                <a:cubicBezTo>
                  <a:pt x="208869" y="142525"/>
                  <a:pt x="202202" y="149192"/>
                  <a:pt x="193950" y="149192"/>
                </a:cubicBezTo>
                <a:lnTo>
                  <a:pt x="44758" y="149192"/>
                </a:lnTo>
                <a:cubicBezTo>
                  <a:pt x="36506" y="149192"/>
                  <a:pt x="29838" y="142525"/>
                  <a:pt x="29838" y="134273"/>
                </a:cubicBezTo>
                <a:lnTo>
                  <a:pt x="29838" y="59677"/>
                </a:lnTo>
                <a:cubicBezTo>
                  <a:pt x="29838" y="51425"/>
                  <a:pt x="36506" y="44758"/>
                  <a:pt x="44758" y="44758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778373" y="2017081"/>
            <a:ext cx="8342837" cy="334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78373" y="2399013"/>
            <a:ext cx="8318966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用户程序通过系统调用访问文件，发起文件操作请求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9671" y="3019653"/>
            <a:ext cx="9393151" cy="1050314"/>
          </a:xfrm>
          <a:custGeom>
            <a:avLst/>
            <a:gdLst/>
            <a:ahLst/>
            <a:cxnLst/>
            <a:rect l="l" t="t" r="r" b="b"/>
            <a:pathLst>
              <a:path w="9393151" h="1050314">
                <a:moveTo>
                  <a:pt x="47742" y="0"/>
                </a:moveTo>
                <a:lnTo>
                  <a:pt x="9297667" y="0"/>
                </a:lnTo>
                <a:cubicBezTo>
                  <a:pt x="9350402" y="0"/>
                  <a:pt x="9393151" y="42750"/>
                  <a:pt x="9393151" y="95484"/>
                </a:cubicBezTo>
                <a:lnTo>
                  <a:pt x="9393151" y="954830"/>
                </a:lnTo>
                <a:cubicBezTo>
                  <a:pt x="9393151" y="1007565"/>
                  <a:pt x="9350402" y="1050314"/>
                  <a:pt x="9297667" y="1050314"/>
                </a:cubicBezTo>
                <a:lnTo>
                  <a:pt x="47742" y="1050314"/>
                </a:lnTo>
                <a:cubicBezTo>
                  <a:pt x="21375" y="1050314"/>
                  <a:pt x="0" y="1028940"/>
                  <a:pt x="0" y="1002573"/>
                </a:cubicBezTo>
                <a:lnTo>
                  <a:pt x="0" y="47742"/>
                </a:lnTo>
                <a:cubicBezTo>
                  <a:pt x="0" y="21375"/>
                  <a:pt x="21375" y="0"/>
                  <a:pt x="47742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799671" y="3019653"/>
            <a:ext cx="47742" cy="1050314"/>
          </a:xfrm>
          <a:custGeom>
            <a:avLst/>
            <a:gdLst/>
            <a:ahLst/>
            <a:cxnLst/>
            <a:rect l="l" t="t" r="r" b="b"/>
            <a:pathLst>
              <a:path w="47742" h="1050314">
                <a:moveTo>
                  <a:pt x="47742" y="0"/>
                </a:moveTo>
                <a:lnTo>
                  <a:pt x="47742" y="0"/>
                </a:lnTo>
                <a:lnTo>
                  <a:pt x="47742" y="1050314"/>
                </a:lnTo>
                <a:lnTo>
                  <a:pt x="47742" y="1050314"/>
                </a:lnTo>
                <a:cubicBezTo>
                  <a:pt x="21375" y="1050314"/>
                  <a:pt x="0" y="1028940"/>
                  <a:pt x="0" y="1002573"/>
                </a:cubicBezTo>
                <a:lnTo>
                  <a:pt x="0" y="47742"/>
                </a:lnTo>
                <a:cubicBezTo>
                  <a:pt x="0" y="21392"/>
                  <a:pt x="21392" y="0"/>
                  <a:pt x="47742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1014508" y="3258361"/>
            <a:ext cx="572899" cy="572899"/>
          </a:xfrm>
          <a:custGeom>
            <a:avLst/>
            <a:gdLst/>
            <a:ahLst/>
            <a:cxnLst/>
            <a:rect l="l" t="t" r="r" b="b"/>
            <a:pathLst>
              <a:path w="572899" h="572899">
                <a:moveTo>
                  <a:pt x="286449" y="0"/>
                </a:moveTo>
                <a:lnTo>
                  <a:pt x="286449" y="0"/>
                </a:lnTo>
                <a:cubicBezTo>
                  <a:pt x="444651" y="0"/>
                  <a:pt x="572899" y="128248"/>
                  <a:pt x="572899" y="286449"/>
                </a:cubicBezTo>
                <a:lnTo>
                  <a:pt x="572899" y="286449"/>
                </a:lnTo>
                <a:cubicBezTo>
                  <a:pt x="572899" y="444651"/>
                  <a:pt x="444651" y="572899"/>
                  <a:pt x="286449" y="572899"/>
                </a:cubicBezTo>
                <a:lnTo>
                  <a:pt x="286449" y="572899"/>
                </a:lnTo>
                <a:cubicBezTo>
                  <a:pt x="128248" y="572899"/>
                  <a:pt x="0" y="444651"/>
                  <a:pt x="0" y="286449"/>
                </a:cubicBezTo>
                <a:lnTo>
                  <a:pt x="0" y="286449"/>
                </a:lnTo>
                <a:cubicBezTo>
                  <a:pt x="0" y="128248"/>
                  <a:pt x="128248" y="0"/>
                  <a:pt x="286449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218062" y="3377715"/>
            <a:ext cx="286449" cy="334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78373" y="3210620"/>
            <a:ext cx="8342837" cy="334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LibC 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78373" y="3592552"/>
            <a:ext cx="8318966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 C 库，封装 POSIX 接口，提供统一的 API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9671" y="4213192"/>
            <a:ext cx="9393151" cy="1050314"/>
          </a:xfrm>
          <a:custGeom>
            <a:avLst/>
            <a:gdLst/>
            <a:ahLst/>
            <a:cxnLst/>
            <a:rect l="l" t="t" r="r" b="b"/>
            <a:pathLst>
              <a:path w="9393151" h="1050314">
                <a:moveTo>
                  <a:pt x="47742" y="0"/>
                </a:moveTo>
                <a:lnTo>
                  <a:pt x="9297667" y="0"/>
                </a:lnTo>
                <a:cubicBezTo>
                  <a:pt x="9350402" y="0"/>
                  <a:pt x="9393151" y="42750"/>
                  <a:pt x="9393151" y="95484"/>
                </a:cubicBezTo>
                <a:lnTo>
                  <a:pt x="9393151" y="954830"/>
                </a:lnTo>
                <a:cubicBezTo>
                  <a:pt x="9393151" y="1007565"/>
                  <a:pt x="9350402" y="1050314"/>
                  <a:pt x="9297667" y="1050314"/>
                </a:cubicBezTo>
                <a:lnTo>
                  <a:pt x="47742" y="1050314"/>
                </a:lnTo>
                <a:cubicBezTo>
                  <a:pt x="21375" y="1050314"/>
                  <a:pt x="0" y="1028940"/>
                  <a:pt x="0" y="1002573"/>
                </a:cubicBezTo>
                <a:lnTo>
                  <a:pt x="0" y="47742"/>
                </a:lnTo>
                <a:cubicBezTo>
                  <a:pt x="0" y="21375"/>
                  <a:pt x="21375" y="0"/>
                  <a:pt x="47742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799671" y="4213192"/>
            <a:ext cx="47742" cy="1050314"/>
          </a:xfrm>
          <a:custGeom>
            <a:avLst/>
            <a:gdLst/>
            <a:ahLst/>
            <a:cxnLst/>
            <a:rect l="l" t="t" r="r" b="b"/>
            <a:pathLst>
              <a:path w="47742" h="1050314">
                <a:moveTo>
                  <a:pt x="47742" y="0"/>
                </a:moveTo>
                <a:lnTo>
                  <a:pt x="47742" y="0"/>
                </a:lnTo>
                <a:lnTo>
                  <a:pt x="47742" y="1050314"/>
                </a:lnTo>
                <a:lnTo>
                  <a:pt x="47742" y="1050314"/>
                </a:lnTo>
                <a:cubicBezTo>
                  <a:pt x="21375" y="1050314"/>
                  <a:pt x="0" y="1028940"/>
                  <a:pt x="0" y="1002573"/>
                </a:cubicBezTo>
                <a:lnTo>
                  <a:pt x="0" y="47742"/>
                </a:lnTo>
                <a:cubicBezTo>
                  <a:pt x="0" y="21392"/>
                  <a:pt x="21392" y="0"/>
                  <a:pt x="47742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1014508" y="4451900"/>
            <a:ext cx="572899" cy="572899"/>
          </a:xfrm>
          <a:custGeom>
            <a:avLst/>
            <a:gdLst/>
            <a:ahLst/>
            <a:cxnLst/>
            <a:rect l="l" t="t" r="r" b="b"/>
            <a:pathLst>
              <a:path w="572899" h="572899">
                <a:moveTo>
                  <a:pt x="286449" y="0"/>
                </a:moveTo>
                <a:lnTo>
                  <a:pt x="286449" y="0"/>
                </a:lnTo>
                <a:cubicBezTo>
                  <a:pt x="444651" y="0"/>
                  <a:pt x="572899" y="128248"/>
                  <a:pt x="572899" y="286449"/>
                </a:cubicBezTo>
                <a:lnTo>
                  <a:pt x="572899" y="286449"/>
                </a:lnTo>
                <a:cubicBezTo>
                  <a:pt x="572899" y="444651"/>
                  <a:pt x="444651" y="572899"/>
                  <a:pt x="286449" y="572899"/>
                </a:cubicBezTo>
                <a:lnTo>
                  <a:pt x="286449" y="572899"/>
                </a:lnTo>
                <a:cubicBezTo>
                  <a:pt x="128248" y="572899"/>
                  <a:pt x="0" y="444651"/>
                  <a:pt x="0" y="286449"/>
                </a:cubicBezTo>
                <a:lnTo>
                  <a:pt x="0" y="286449"/>
                </a:lnTo>
                <a:cubicBezTo>
                  <a:pt x="0" y="128248"/>
                  <a:pt x="128248" y="0"/>
                  <a:pt x="286449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1181604" y="4618996"/>
            <a:ext cx="238708" cy="238708"/>
          </a:xfrm>
          <a:custGeom>
            <a:avLst/>
            <a:gdLst/>
            <a:ahLst/>
            <a:cxnLst/>
            <a:rect l="l" t="t" r="r" b="b"/>
            <a:pathLst>
              <a:path w="238708" h="238708">
                <a:moveTo>
                  <a:pt x="4383" y="55294"/>
                </a:moveTo>
                <a:cubicBezTo>
                  <a:pt x="-1445" y="49467"/>
                  <a:pt x="-1445" y="40002"/>
                  <a:pt x="4383" y="34174"/>
                </a:cubicBezTo>
                <a:cubicBezTo>
                  <a:pt x="10210" y="28347"/>
                  <a:pt x="19675" y="28347"/>
                  <a:pt x="25503" y="34174"/>
                </a:cubicBezTo>
                <a:lnTo>
                  <a:pt x="100099" y="108771"/>
                </a:lnTo>
                <a:cubicBezTo>
                  <a:pt x="105927" y="114598"/>
                  <a:pt x="105927" y="124063"/>
                  <a:pt x="100099" y="129891"/>
                </a:cubicBezTo>
                <a:lnTo>
                  <a:pt x="25503" y="204487"/>
                </a:lnTo>
                <a:cubicBezTo>
                  <a:pt x="19675" y="210315"/>
                  <a:pt x="10210" y="210315"/>
                  <a:pt x="4383" y="204487"/>
                </a:cubicBezTo>
                <a:cubicBezTo>
                  <a:pt x="-1445" y="198659"/>
                  <a:pt x="-1445" y="189195"/>
                  <a:pt x="4383" y="183367"/>
                </a:cubicBezTo>
                <a:lnTo>
                  <a:pt x="68395" y="119354"/>
                </a:lnTo>
                <a:lnTo>
                  <a:pt x="4383" y="55294"/>
                </a:lnTo>
                <a:close/>
                <a:moveTo>
                  <a:pt x="104435" y="179031"/>
                </a:moveTo>
                <a:lnTo>
                  <a:pt x="223789" y="179031"/>
                </a:lnTo>
                <a:cubicBezTo>
                  <a:pt x="232041" y="179031"/>
                  <a:pt x="238708" y="185698"/>
                  <a:pt x="238708" y="193950"/>
                </a:cubicBezTo>
                <a:cubicBezTo>
                  <a:pt x="238708" y="202202"/>
                  <a:pt x="232041" y="208869"/>
                  <a:pt x="223789" y="208869"/>
                </a:cubicBezTo>
                <a:lnTo>
                  <a:pt x="104435" y="208869"/>
                </a:lnTo>
                <a:cubicBezTo>
                  <a:pt x="96182" y="208869"/>
                  <a:pt x="89515" y="202202"/>
                  <a:pt x="89515" y="193950"/>
                </a:cubicBezTo>
                <a:cubicBezTo>
                  <a:pt x="89515" y="185698"/>
                  <a:pt x="96182" y="179031"/>
                  <a:pt x="104435" y="179031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778373" y="4404159"/>
            <a:ext cx="8342837" cy="334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POSIX 接口层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778373" y="4786091"/>
            <a:ext cx="8318966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定义标准的文件操作接口，确保跨平台兼容性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99671" y="5406731"/>
            <a:ext cx="9393151" cy="1050314"/>
          </a:xfrm>
          <a:custGeom>
            <a:avLst/>
            <a:gdLst/>
            <a:ahLst/>
            <a:cxnLst/>
            <a:rect l="l" t="t" r="r" b="b"/>
            <a:pathLst>
              <a:path w="9393151" h="1050314">
                <a:moveTo>
                  <a:pt x="47742" y="0"/>
                </a:moveTo>
                <a:lnTo>
                  <a:pt x="9297667" y="0"/>
                </a:lnTo>
                <a:cubicBezTo>
                  <a:pt x="9350402" y="0"/>
                  <a:pt x="9393151" y="42750"/>
                  <a:pt x="9393151" y="95484"/>
                </a:cubicBezTo>
                <a:lnTo>
                  <a:pt x="9393151" y="954830"/>
                </a:lnTo>
                <a:cubicBezTo>
                  <a:pt x="9393151" y="1007565"/>
                  <a:pt x="9350402" y="1050314"/>
                  <a:pt x="9297667" y="1050314"/>
                </a:cubicBezTo>
                <a:lnTo>
                  <a:pt x="47742" y="1050314"/>
                </a:lnTo>
                <a:cubicBezTo>
                  <a:pt x="21375" y="1050314"/>
                  <a:pt x="0" y="1028940"/>
                  <a:pt x="0" y="1002573"/>
                </a:cubicBezTo>
                <a:lnTo>
                  <a:pt x="0" y="47742"/>
                </a:lnTo>
                <a:cubicBezTo>
                  <a:pt x="0" y="21375"/>
                  <a:pt x="21375" y="0"/>
                  <a:pt x="47742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799671" y="5406731"/>
            <a:ext cx="47742" cy="1050314"/>
          </a:xfrm>
          <a:custGeom>
            <a:avLst/>
            <a:gdLst/>
            <a:ahLst/>
            <a:cxnLst/>
            <a:rect l="l" t="t" r="r" b="b"/>
            <a:pathLst>
              <a:path w="47742" h="1050314">
                <a:moveTo>
                  <a:pt x="47742" y="0"/>
                </a:moveTo>
                <a:lnTo>
                  <a:pt x="47742" y="0"/>
                </a:lnTo>
                <a:lnTo>
                  <a:pt x="47742" y="1050314"/>
                </a:lnTo>
                <a:lnTo>
                  <a:pt x="47742" y="1050314"/>
                </a:lnTo>
                <a:cubicBezTo>
                  <a:pt x="21375" y="1050314"/>
                  <a:pt x="0" y="1028940"/>
                  <a:pt x="0" y="1002573"/>
                </a:cubicBezTo>
                <a:lnTo>
                  <a:pt x="0" y="47742"/>
                </a:lnTo>
                <a:cubicBezTo>
                  <a:pt x="0" y="21392"/>
                  <a:pt x="21392" y="0"/>
                  <a:pt x="47742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1014508" y="5645439"/>
            <a:ext cx="572899" cy="572899"/>
          </a:xfrm>
          <a:custGeom>
            <a:avLst/>
            <a:gdLst/>
            <a:ahLst/>
            <a:cxnLst/>
            <a:rect l="l" t="t" r="r" b="b"/>
            <a:pathLst>
              <a:path w="572899" h="572899">
                <a:moveTo>
                  <a:pt x="286449" y="0"/>
                </a:moveTo>
                <a:lnTo>
                  <a:pt x="286449" y="0"/>
                </a:lnTo>
                <a:cubicBezTo>
                  <a:pt x="444651" y="0"/>
                  <a:pt x="572899" y="128248"/>
                  <a:pt x="572899" y="286449"/>
                </a:cubicBezTo>
                <a:lnTo>
                  <a:pt x="572899" y="286449"/>
                </a:lnTo>
                <a:cubicBezTo>
                  <a:pt x="572899" y="444651"/>
                  <a:pt x="444651" y="572899"/>
                  <a:pt x="286449" y="572899"/>
                </a:cubicBezTo>
                <a:lnTo>
                  <a:pt x="286449" y="572899"/>
                </a:lnTo>
                <a:cubicBezTo>
                  <a:pt x="128248" y="572899"/>
                  <a:pt x="0" y="444651"/>
                  <a:pt x="0" y="286449"/>
                </a:cubicBezTo>
                <a:lnTo>
                  <a:pt x="0" y="286449"/>
                </a:lnTo>
                <a:cubicBezTo>
                  <a:pt x="0" y="128248"/>
                  <a:pt x="128248" y="0"/>
                  <a:pt x="286449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1181604" y="5812535"/>
            <a:ext cx="238708" cy="238708"/>
          </a:xfrm>
          <a:custGeom>
            <a:avLst/>
            <a:gdLst/>
            <a:ahLst/>
            <a:cxnLst/>
            <a:rect l="l" t="t" r="r" b="b"/>
            <a:pathLst>
              <a:path w="238708" h="238708">
                <a:moveTo>
                  <a:pt x="108398" y="2424"/>
                </a:moveTo>
                <a:cubicBezTo>
                  <a:pt x="115344" y="-793"/>
                  <a:pt x="123363" y="-793"/>
                  <a:pt x="130310" y="2424"/>
                </a:cubicBezTo>
                <a:lnTo>
                  <a:pt x="232227" y="49513"/>
                </a:lnTo>
                <a:cubicBezTo>
                  <a:pt x="236190" y="51331"/>
                  <a:pt x="238708" y="55294"/>
                  <a:pt x="238708" y="59677"/>
                </a:cubicBezTo>
                <a:cubicBezTo>
                  <a:pt x="238708" y="64059"/>
                  <a:pt x="236190" y="68022"/>
                  <a:pt x="232227" y="69841"/>
                </a:cubicBezTo>
                <a:lnTo>
                  <a:pt x="130310" y="116930"/>
                </a:lnTo>
                <a:cubicBezTo>
                  <a:pt x="123363" y="120146"/>
                  <a:pt x="115344" y="120146"/>
                  <a:pt x="108398" y="116930"/>
                </a:cubicBezTo>
                <a:lnTo>
                  <a:pt x="6481" y="69841"/>
                </a:lnTo>
                <a:cubicBezTo>
                  <a:pt x="2518" y="67976"/>
                  <a:pt x="0" y="64013"/>
                  <a:pt x="0" y="59677"/>
                </a:cubicBezTo>
                <a:cubicBezTo>
                  <a:pt x="0" y="55341"/>
                  <a:pt x="2518" y="51331"/>
                  <a:pt x="6481" y="49513"/>
                </a:cubicBezTo>
                <a:lnTo>
                  <a:pt x="108398" y="2424"/>
                </a:lnTo>
                <a:close/>
                <a:moveTo>
                  <a:pt x="22425" y="101824"/>
                </a:moveTo>
                <a:lnTo>
                  <a:pt x="99026" y="137210"/>
                </a:lnTo>
                <a:cubicBezTo>
                  <a:pt x="111941" y="143178"/>
                  <a:pt x="126814" y="143178"/>
                  <a:pt x="139728" y="137210"/>
                </a:cubicBezTo>
                <a:lnTo>
                  <a:pt x="216329" y="101824"/>
                </a:lnTo>
                <a:lnTo>
                  <a:pt x="232227" y="109190"/>
                </a:lnTo>
                <a:cubicBezTo>
                  <a:pt x="236190" y="111008"/>
                  <a:pt x="238708" y="114971"/>
                  <a:pt x="238708" y="119354"/>
                </a:cubicBezTo>
                <a:cubicBezTo>
                  <a:pt x="238708" y="123736"/>
                  <a:pt x="236190" y="127699"/>
                  <a:pt x="232227" y="129518"/>
                </a:cubicBezTo>
                <a:lnTo>
                  <a:pt x="130310" y="176606"/>
                </a:lnTo>
                <a:cubicBezTo>
                  <a:pt x="123363" y="179823"/>
                  <a:pt x="115344" y="179823"/>
                  <a:pt x="108398" y="176606"/>
                </a:cubicBezTo>
                <a:lnTo>
                  <a:pt x="6481" y="129518"/>
                </a:lnTo>
                <a:cubicBezTo>
                  <a:pt x="2518" y="127653"/>
                  <a:pt x="0" y="123690"/>
                  <a:pt x="0" y="119354"/>
                </a:cubicBezTo>
                <a:cubicBezTo>
                  <a:pt x="0" y="115018"/>
                  <a:pt x="2518" y="111008"/>
                  <a:pt x="6481" y="109190"/>
                </a:cubicBezTo>
                <a:lnTo>
                  <a:pt x="22379" y="101824"/>
                </a:lnTo>
                <a:close/>
                <a:moveTo>
                  <a:pt x="6481" y="168867"/>
                </a:moveTo>
                <a:lnTo>
                  <a:pt x="22379" y="161501"/>
                </a:lnTo>
                <a:lnTo>
                  <a:pt x="98980" y="196887"/>
                </a:lnTo>
                <a:cubicBezTo>
                  <a:pt x="111894" y="202855"/>
                  <a:pt x="126767" y="202855"/>
                  <a:pt x="139681" y="196887"/>
                </a:cubicBezTo>
                <a:lnTo>
                  <a:pt x="216282" y="161501"/>
                </a:lnTo>
                <a:lnTo>
                  <a:pt x="232181" y="168867"/>
                </a:lnTo>
                <a:cubicBezTo>
                  <a:pt x="236144" y="170685"/>
                  <a:pt x="238661" y="174648"/>
                  <a:pt x="238661" y="179031"/>
                </a:cubicBezTo>
                <a:cubicBezTo>
                  <a:pt x="238661" y="183413"/>
                  <a:pt x="236144" y="187376"/>
                  <a:pt x="232181" y="189195"/>
                </a:cubicBezTo>
                <a:lnTo>
                  <a:pt x="130264" y="236283"/>
                </a:lnTo>
                <a:cubicBezTo>
                  <a:pt x="123317" y="239500"/>
                  <a:pt x="115298" y="239500"/>
                  <a:pt x="108351" y="236283"/>
                </a:cubicBezTo>
                <a:lnTo>
                  <a:pt x="6481" y="189195"/>
                </a:lnTo>
                <a:cubicBezTo>
                  <a:pt x="2518" y="187330"/>
                  <a:pt x="0" y="183367"/>
                  <a:pt x="0" y="179031"/>
                </a:cubicBezTo>
                <a:cubicBezTo>
                  <a:pt x="0" y="174695"/>
                  <a:pt x="2518" y="170685"/>
                  <a:pt x="6481" y="168867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778373" y="5597698"/>
            <a:ext cx="8342837" cy="334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VFS 层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778373" y="5979630"/>
            <a:ext cx="8318966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虚拟文件系统，提供统一的文件系统接口抽象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99671" y="6600270"/>
            <a:ext cx="9393151" cy="1050314"/>
          </a:xfrm>
          <a:custGeom>
            <a:avLst/>
            <a:gdLst/>
            <a:ahLst/>
            <a:cxnLst/>
            <a:rect l="l" t="t" r="r" b="b"/>
            <a:pathLst>
              <a:path w="9393151" h="1050314">
                <a:moveTo>
                  <a:pt x="47742" y="0"/>
                </a:moveTo>
                <a:lnTo>
                  <a:pt x="9297667" y="0"/>
                </a:lnTo>
                <a:cubicBezTo>
                  <a:pt x="9350402" y="0"/>
                  <a:pt x="9393151" y="42750"/>
                  <a:pt x="9393151" y="95484"/>
                </a:cubicBezTo>
                <a:lnTo>
                  <a:pt x="9393151" y="954830"/>
                </a:lnTo>
                <a:cubicBezTo>
                  <a:pt x="9393151" y="1007565"/>
                  <a:pt x="9350402" y="1050314"/>
                  <a:pt x="9297667" y="1050314"/>
                </a:cubicBezTo>
                <a:lnTo>
                  <a:pt x="47742" y="1050314"/>
                </a:lnTo>
                <a:cubicBezTo>
                  <a:pt x="21375" y="1050314"/>
                  <a:pt x="0" y="1028940"/>
                  <a:pt x="0" y="1002573"/>
                </a:cubicBezTo>
                <a:lnTo>
                  <a:pt x="0" y="47742"/>
                </a:lnTo>
                <a:cubicBezTo>
                  <a:pt x="0" y="21375"/>
                  <a:pt x="21375" y="0"/>
                  <a:pt x="47742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799671" y="6600270"/>
            <a:ext cx="47742" cy="1050314"/>
          </a:xfrm>
          <a:custGeom>
            <a:avLst/>
            <a:gdLst/>
            <a:ahLst/>
            <a:cxnLst/>
            <a:rect l="l" t="t" r="r" b="b"/>
            <a:pathLst>
              <a:path w="47742" h="1050314">
                <a:moveTo>
                  <a:pt x="47742" y="0"/>
                </a:moveTo>
                <a:lnTo>
                  <a:pt x="47742" y="0"/>
                </a:lnTo>
                <a:lnTo>
                  <a:pt x="47742" y="1050314"/>
                </a:lnTo>
                <a:lnTo>
                  <a:pt x="47742" y="1050314"/>
                </a:lnTo>
                <a:cubicBezTo>
                  <a:pt x="21375" y="1050314"/>
                  <a:pt x="0" y="1028940"/>
                  <a:pt x="0" y="1002573"/>
                </a:cubicBezTo>
                <a:lnTo>
                  <a:pt x="0" y="47742"/>
                </a:lnTo>
                <a:cubicBezTo>
                  <a:pt x="0" y="21392"/>
                  <a:pt x="21392" y="0"/>
                  <a:pt x="47742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1014508" y="6838978"/>
            <a:ext cx="572899" cy="572899"/>
          </a:xfrm>
          <a:custGeom>
            <a:avLst/>
            <a:gdLst/>
            <a:ahLst/>
            <a:cxnLst/>
            <a:rect l="l" t="t" r="r" b="b"/>
            <a:pathLst>
              <a:path w="572899" h="572899">
                <a:moveTo>
                  <a:pt x="286449" y="0"/>
                </a:moveTo>
                <a:lnTo>
                  <a:pt x="286449" y="0"/>
                </a:lnTo>
                <a:cubicBezTo>
                  <a:pt x="444651" y="0"/>
                  <a:pt x="572899" y="128248"/>
                  <a:pt x="572899" y="286449"/>
                </a:cubicBezTo>
                <a:lnTo>
                  <a:pt x="572899" y="286449"/>
                </a:lnTo>
                <a:cubicBezTo>
                  <a:pt x="572899" y="444651"/>
                  <a:pt x="444651" y="572899"/>
                  <a:pt x="286449" y="572899"/>
                </a:cubicBezTo>
                <a:lnTo>
                  <a:pt x="286449" y="572899"/>
                </a:lnTo>
                <a:cubicBezTo>
                  <a:pt x="128248" y="572899"/>
                  <a:pt x="0" y="444651"/>
                  <a:pt x="0" y="286449"/>
                </a:cubicBezTo>
                <a:lnTo>
                  <a:pt x="0" y="286449"/>
                </a:lnTo>
                <a:cubicBezTo>
                  <a:pt x="0" y="128248"/>
                  <a:pt x="128248" y="0"/>
                  <a:pt x="286449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1181604" y="7006073"/>
            <a:ext cx="238708" cy="238708"/>
          </a:xfrm>
          <a:custGeom>
            <a:avLst/>
            <a:gdLst/>
            <a:ahLst/>
            <a:cxnLst/>
            <a:rect l="l" t="t" r="r" b="b"/>
            <a:pathLst>
              <a:path w="238708" h="238708">
                <a:moveTo>
                  <a:pt x="29838" y="208869"/>
                </a:moveTo>
                <a:lnTo>
                  <a:pt x="208869" y="208869"/>
                </a:lnTo>
                <a:cubicBezTo>
                  <a:pt x="225327" y="208869"/>
                  <a:pt x="238708" y="195489"/>
                  <a:pt x="238708" y="179031"/>
                </a:cubicBezTo>
                <a:lnTo>
                  <a:pt x="238708" y="67137"/>
                </a:lnTo>
                <a:cubicBezTo>
                  <a:pt x="238708" y="50679"/>
                  <a:pt x="225327" y="37298"/>
                  <a:pt x="208869" y="37298"/>
                </a:cubicBezTo>
                <a:lnTo>
                  <a:pt x="139262" y="37298"/>
                </a:lnTo>
                <a:cubicBezTo>
                  <a:pt x="136045" y="37298"/>
                  <a:pt x="132874" y="36272"/>
                  <a:pt x="130310" y="34314"/>
                </a:cubicBezTo>
                <a:lnTo>
                  <a:pt x="112407" y="20887"/>
                </a:lnTo>
                <a:cubicBezTo>
                  <a:pt x="107232" y="17017"/>
                  <a:pt x="100938" y="14919"/>
                  <a:pt x="94504" y="14919"/>
                </a:cubicBezTo>
                <a:lnTo>
                  <a:pt x="29838" y="14919"/>
                </a:lnTo>
                <a:cubicBezTo>
                  <a:pt x="13381" y="14919"/>
                  <a:pt x="0" y="28300"/>
                  <a:pt x="0" y="44758"/>
                </a:cubicBezTo>
                <a:lnTo>
                  <a:pt x="0" y="179031"/>
                </a:lnTo>
                <a:cubicBezTo>
                  <a:pt x="0" y="195489"/>
                  <a:pt x="13381" y="208869"/>
                  <a:pt x="29838" y="208869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778373" y="6791236"/>
            <a:ext cx="8342837" cy="334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具体文件系统层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778373" y="7173169"/>
            <a:ext cx="8318966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 ext4、XFS 等具体文件系统实现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99671" y="7793809"/>
            <a:ext cx="9393151" cy="1050314"/>
          </a:xfrm>
          <a:custGeom>
            <a:avLst/>
            <a:gdLst/>
            <a:ahLst/>
            <a:cxnLst/>
            <a:rect l="l" t="t" r="r" b="b"/>
            <a:pathLst>
              <a:path w="9393151" h="1050314">
                <a:moveTo>
                  <a:pt x="47742" y="0"/>
                </a:moveTo>
                <a:lnTo>
                  <a:pt x="9297667" y="0"/>
                </a:lnTo>
                <a:cubicBezTo>
                  <a:pt x="9350402" y="0"/>
                  <a:pt x="9393151" y="42750"/>
                  <a:pt x="9393151" y="95484"/>
                </a:cubicBezTo>
                <a:lnTo>
                  <a:pt x="9393151" y="954830"/>
                </a:lnTo>
                <a:cubicBezTo>
                  <a:pt x="9393151" y="1007565"/>
                  <a:pt x="9350402" y="1050314"/>
                  <a:pt x="9297667" y="1050314"/>
                </a:cubicBezTo>
                <a:lnTo>
                  <a:pt x="47742" y="1050314"/>
                </a:lnTo>
                <a:cubicBezTo>
                  <a:pt x="21375" y="1050314"/>
                  <a:pt x="0" y="1028940"/>
                  <a:pt x="0" y="1002573"/>
                </a:cubicBezTo>
                <a:lnTo>
                  <a:pt x="0" y="47742"/>
                </a:lnTo>
                <a:cubicBezTo>
                  <a:pt x="0" y="21375"/>
                  <a:pt x="21375" y="0"/>
                  <a:pt x="47742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799671" y="7793809"/>
            <a:ext cx="47742" cy="1050314"/>
          </a:xfrm>
          <a:custGeom>
            <a:avLst/>
            <a:gdLst/>
            <a:ahLst/>
            <a:cxnLst/>
            <a:rect l="l" t="t" r="r" b="b"/>
            <a:pathLst>
              <a:path w="47742" h="1050314">
                <a:moveTo>
                  <a:pt x="47742" y="0"/>
                </a:moveTo>
                <a:lnTo>
                  <a:pt x="47742" y="0"/>
                </a:lnTo>
                <a:lnTo>
                  <a:pt x="47742" y="1050314"/>
                </a:lnTo>
                <a:lnTo>
                  <a:pt x="47742" y="1050314"/>
                </a:lnTo>
                <a:cubicBezTo>
                  <a:pt x="21375" y="1050314"/>
                  <a:pt x="0" y="1028940"/>
                  <a:pt x="0" y="1002573"/>
                </a:cubicBezTo>
                <a:lnTo>
                  <a:pt x="0" y="47742"/>
                </a:lnTo>
                <a:cubicBezTo>
                  <a:pt x="0" y="21392"/>
                  <a:pt x="21392" y="0"/>
                  <a:pt x="47742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1014508" y="8032517"/>
            <a:ext cx="572899" cy="572899"/>
          </a:xfrm>
          <a:custGeom>
            <a:avLst/>
            <a:gdLst/>
            <a:ahLst/>
            <a:cxnLst/>
            <a:rect l="l" t="t" r="r" b="b"/>
            <a:pathLst>
              <a:path w="572899" h="572899">
                <a:moveTo>
                  <a:pt x="286449" y="0"/>
                </a:moveTo>
                <a:lnTo>
                  <a:pt x="286449" y="0"/>
                </a:lnTo>
                <a:cubicBezTo>
                  <a:pt x="444651" y="0"/>
                  <a:pt x="572899" y="128248"/>
                  <a:pt x="572899" y="286449"/>
                </a:cubicBezTo>
                <a:lnTo>
                  <a:pt x="572899" y="286449"/>
                </a:lnTo>
                <a:cubicBezTo>
                  <a:pt x="572899" y="444651"/>
                  <a:pt x="444651" y="572899"/>
                  <a:pt x="286449" y="572899"/>
                </a:cubicBezTo>
                <a:lnTo>
                  <a:pt x="286449" y="572899"/>
                </a:lnTo>
                <a:cubicBezTo>
                  <a:pt x="128248" y="572899"/>
                  <a:pt x="0" y="444651"/>
                  <a:pt x="0" y="286449"/>
                </a:cubicBezTo>
                <a:lnTo>
                  <a:pt x="0" y="286449"/>
                </a:lnTo>
                <a:cubicBezTo>
                  <a:pt x="0" y="128248"/>
                  <a:pt x="128248" y="0"/>
                  <a:pt x="286449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1196523" y="8199612"/>
            <a:ext cx="208869" cy="238708"/>
          </a:xfrm>
          <a:custGeom>
            <a:avLst/>
            <a:gdLst/>
            <a:ahLst/>
            <a:cxnLst/>
            <a:rect l="l" t="t" r="r" b="b"/>
            <a:pathLst>
              <a:path w="208869" h="238708">
                <a:moveTo>
                  <a:pt x="29838" y="14919"/>
                </a:moveTo>
                <a:cubicBezTo>
                  <a:pt x="13381" y="14919"/>
                  <a:pt x="0" y="28300"/>
                  <a:pt x="0" y="44758"/>
                </a:cubicBezTo>
                <a:lnTo>
                  <a:pt x="0" y="121265"/>
                </a:lnTo>
                <a:cubicBezTo>
                  <a:pt x="8439" y="115344"/>
                  <a:pt x="18742" y="111894"/>
                  <a:pt x="29838" y="111894"/>
                </a:cubicBezTo>
                <a:lnTo>
                  <a:pt x="179031" y="111894"/>
                </a:lnTo>
                <a:cubicBezTo>
                  <a:pt x="190127" y="111894"/>
                  <a:pt x="200431" y="115344"/>
                  <a:pt x="208869" y="121265"/>
                </a:cubicBezTo>
                <a:lnTo>
                  <a:pt x="208869" y="44758"/>
                </a:lnTo>
                <a:cubicBezTo>
                  <a:pt x="208869" y="28300"/>
                  <a:pt x="195489" y="14919"/>
                  <a:pt x="179031" y="14919"/>
                </a:cubicBezTo>
                <a:lnTo>
                  <a:pt x="29838" y="14919"/>
                </a:lnTo>
                <a:close/>
                <a:moveTo>
                  <a:pt x="208869" y="164112"/>
                </a:moveTo>
                <a:cubicBezTo>
                  <a:pt x="208869" y="147654"/>
                  <a:pt x="195489" y="134273"/>
                  <a:pt x="179031" y="134273"/>
                </a:cubicBezTo>
                <a:lnTo>
                  <a:pt x="29838" y="134273"/>
                </a:lnTo>
                <a:cubicBezTo>
                  <a:pt x="13381" y="134273"/>
                  <a:pt x="0" y="147654"/>
                  <a:pt x="0" y="164112"/>
                </a:cubicBezTo>
                <a:lnTo>
                  <a:pt x="0" y="193950"/>
                </a:lnTo>
                <a:cubicBezTo>
                  <a:pt x="0" y="210408"/>
                  <a:pt x="13381" y="223789"/>
                  <a:pt x="29838" y="223789"/>
                </a:cubicBezTo>
                <a:lnTo>
                  <a:pt x="179031" y="223789"/>
                </a:lnTo>
                <a:cubicBezTo>
                  <a:pt x="195489" y="223789"/>
                  <a:pt x="208869" y="210408"/>
                  <a:pt x="208869" y="193950"/>
                </a:cubicBezTo>
                <a:lnTo>
                  <a:pt x="208869" y="164112"/>
                </a:lnTo>
                <a:close/>
                <a:moveTo>
                  <a:pt x="104435" y="179031"/>
                </a:moveTo>
                <a:cubicBezTo>
                  <a:pt x="104435" y="170797"/>
                  <a:pt x="111120" y="164112"/>
                  <a:pt x="119354" y="164112"/>
                </a:cubicBezTo>
                <a:cubicBezTo>
                  <a:pt x="127588" y="164112"/>
                  <a:pt x="134273" y="170797"/>
                  <a:pt x="134273" y="179031"/>
                </a:cubicBezTo>
                <a:cubicBezTo>
                  <a:pt x="134273" y="187265"/>
                  <a:pt x="127588" y="193950"/>
                  <a:pt x="119354" y="193950"/>
                </a:cubicBezTo>
                <a:cubicBezTo>
                  <a:pt x="111120" y="193950"/>
                  <a:pt x="104435" y="187265"/>
                  <a:pt x="104435" y="179031"/>
                </a:cubicBezTo>
                <a:close/>
                <a:moveTo>
                  <a:pt x="164112" y="164112"/>
                </a:moveTo>
                <a:cubicBezTo>
                  <a:pt x="172346" y="164112"/>
                  <a:pt x="179031" y="170797"/>
                  <a:pt x="179031" y="179031"/>
                </a:cubicBezTo>
                <a:cubicBezTo>
                  <a:pt x="179031" y="187265"/>
                  <a:pt x="172346" y="193950"/>
                  <a:pt x="164112" y="193950"/>
                </a:cubicBezTo>
                <a:cubicBezTo>
                  <a:pt x="155877" y="193950"/>
                  <a:pt x="149192" y="187265"/>
                  <a:pt x="149192" y="179031"/>
                </a:cubicBezTo>
                <a:cubicBezTo>
                  <a:pt x="149192" y="170797"/>
                  <a:pt x="155877" y="164112"/>
                  <a:pt x="164112" y="164112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778373" y="7984775"/>
            <a:ext cx="8342837" cy="334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块设备层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778373" y="8366708"/>
            <a:ext cx="8318966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与存储设备交互，管理磁盘块读写操作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781759" y="1533698"/>
            <a:ext cx="4988993" cy="2589979"/>
          </a:xfrm>
          <a:custGeom>
            <a:avLst/>
            <a:gdLst/>
            <a:ahLst/>
            <a:cxnLst/>
            <a:rect l="l" t="t" r="r" b="b"/>
            <a:pathLst>
              <a:path w="4988993" h="2589979">
                <a:moveTo>
                  <a:pt x="95493" y="0"/>
                </a:moveTo>
                <a:lnTo>
                  <a:pt x="4893500" y="0"/>
                </a:lnTo>
                <a:cubicBezTo>
                  <a:pt x="4946239" y="0"/>
                  <a:pt x="4988993" y="42753"/>
                  <a:pt x="4988993" y="95493"/>
                </a:cubicBezTo>
                <a:lnTo>
                  <a:pt x="4988993" y="2494487"/>
                </a:lnTo>
                <a:cubicBezTo>
                  <a:pt x="4988993" y="2547226"/>
                  <a:pt x="4946239" y="2589979"/>
                  <a:pt x="4893500" y="2589979"/>
                </a:cubicBezTo>
                <a:lnTo>
                  <a:pt x="95493" y="2589979"/>
                </a:lnTo>
                <a:cubicBezTo>
                  <a:pt x="42753" y="2589979"/>
                  <a:pt x="0" y="2547226"/>
                  <a:pt x="0" y="2494487"/>
                </a:cubicBezTo>
                <a:lnTo>
                  <a:pt x="0" y="95493"/>
                </a:lnTo>
                <a:cubicBezTo>
                  <a:pt x="0" y="42789"/>
                  <a:pt x="42789" y="0"/>
                  <a:pt x="95493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11056273" y="1838050"/>
            <a:ext cx="214837" cy="214837"/>
          </a:xfrm>
          <a:custGeom>
            <a:avLst/>
            <a:gdLst/>
            <a:ahLst/>
            <a:cxnLst/>
            <a:rect l="l" t="t" r="r" b="b"/>
            <a:pathLst>
              <a:path w="214837" h="214837">
                <a:moveTo>
                  <a:pt x="107419" y="214837"/>
                </a:moveTo>
                <a:cubicBezTo>
                  <a:pt x="166704" y="214837"/>
                  <a:pt x="214837" y="166704"/>
                  <a:pt x="214837" y="107419"/>
                </a:cubicBezTo>
                <a:cubicBezTo>
                  <a:pt x="214837" y="48133"/>
                  <a:pt x="166704" y="0"/>
                  <a:pt x="107419" y="0"/>
                </a:cubicBezTo>
                <a:cubicBezTo>
                  <a:pt x="48133" y="0"/>
                  <a:pt x="0" y="48133"/>
                  <a:pt x="0" y="107419"/>
                </a:cubicBezTo>
                <a:cubicBezTo>
                  <a:pt x="0" y="166704"/>
                  <a:pt x="48133" y="214837"/>
                  <a:pt x="107419" y="214837"/>
                </a:cubicBezTo>
                <a:close/>
                <a:moveTo>
                  <a:pt x="142833" y="89250"/>
                </a:moveTo>
                <a:lnTo>
                  <a:pt x="109265" y="142959"/>
                </a:lnTo>
                <a:cubicBezTo>
                  <a:pt x="107502" y="145770"/>
                  <a:pt x="104481" y="147533"/>
                  <a:pt x="101166" y="147700"/>
                </a:cubicBezTo>
                <a:cubicBezTo>
                  <a:pt x="97852" y="147868"/>
                  <a:pt x="94663" y="146358"/>
                  <a:pt x="92690" y="143672"/>
                </a:cubicBezTo>
                <a:lnTo>
                  <a:pt x="72549" y="116818"/>
                </a:lnTo>
                <a:cubicBezTo>
                  <a:pt x="69193" y="112370"/>
                  <a:pt x="70116" y="106076"/>
                  <a:pt x="74564" y="102719"/>
                </a:cubicBezTo>
                <a:cubicBezTo>
                  <a:pt x="79011" y="99362"/>
                  <a:pt x="85305" y="100285"/>
                  <a:pt x="88662" y="104733"/>
                </a:cubicBezTo>
                <a:lnTo>
                  <a:pt x="99992" y="119839"/>
                </a:lnTo>
                <a:lnTo>
                  <a:pt x="125755" y="78592"/>
                </a:lnTo>
                <a:cubicBezTo>
                  <a:pt x="128692" y="73892"/>
                  <a:pt x="134903" y="72424"/>
                  <a:pt x="139644" y="75403"/>
                </a:cubicBezTo>
                <a:cubicBezTo>
                  <a:pt x="144386" y="78382"/>
                  <a:pt x="145812" y="84550"/>
                  <a:pt x="142833" y="89292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1300949" y="1778373"/>
            <a:ext cx="4332546" cy="334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92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分层设计的核心价值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1098047" y="2351272"/>
            <a:ext cx="95483" cy="190966"/>
          </a:xfrm>
          <a:custGeom>
            <a:avLst/>
            <a:gdLst/>
            <a:ahLst/>
            <a:cxnLst/>
            <a:rect l="l" t="t" r="r" b="b"/>
            <a:pathLst>
              <a:path w="95483" h="190966">
                <a:moveTo>
                  <a:pt x="92164" y="87054"/>
                </a:moveTo>
                <a:cubicBezTo>
                  <a:pt x="96826" y="91716"/>
                  <a:pt x="96826" y="99288"/>
                  <a:pt x="92164" y="103950"/>
                </a:cubicBezTo>
                <a:lnTo>
                  <a:pt x="32487" y="163627"/>
                </a:lnTo>
                <a:cubicBezTo>
                  <a:pt x="27824" y="168289"/>
                  <a:pt x="20253" y="168289"/>
                  <a:pt x="15591" y="163627"/>
                </a:cubicBezTo>
                <a:cubicBezTo>
                  <a:pt x="10928" y="158964"/>
                  <a:pt x="10928" y="151393"/>
                  <a:pt x="15591" y="146731"/>
                </a:cubicBezTo>
                <a:lnTo>
                  <a:pt x="66838" y="95483"/>
                </a:lnTo>
                <a:lnTo>
                  <a:pt x="15628" y="44236"/>
                </a:lnTo>
                <a:cubicBezTo>
                  <a:pt x="10966" y="39573"/>
                  <a:pt x="10966" y="32002"/>
                  <a:pt x="15628" y="27340"/>
                </a:cubicBezTo>
                <a:cubicBezTo>
                  <a:pt x="20290" y="22677"/>
                  <a:pt x="27862" y="22677"/>
                  <a:pt x="32524" y="27340"/>
                </a:cubicBezTo>
                <a:lnTo>
                  <a:pt x="92201" y="87016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1408367" y="2303530"/>
            <a:ext cx="3723841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职责分离</a:t>
            </a:r>
            <a:r>
              <a:rPr lang="en-US" sz="1504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：每层专注特定功能，降低复杂度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1098047" y="2780946"/>
            <a:ext cx="95483" cy="190966"/>
          </a:xfrm>
          <a:custGeom>
            <a:avLst/>
            <a:gdLst/>
            <a:ahLst/>
            <a:cxnLst/>
            <a:rect l="l" t="t" r="r" b="b"/>
            <a:pathLst>
              <a:path w="95483" h="190966">
                <a:moveTo>
                  <a:pt x="92164" y="87054"/>
                </a:moveTo>
                <a:cubicBezTo>
                  <a:pt x="96826" y="91716"/>
                  <a:pt x="96826" y="99288"/>
                  <a:pt x="92164" y="103950"/>
                </a:cubicBezTo>
                <a:lnTo>
                  <a:pt x="32487" y="163627"/>
                </a:lnTo>
                <a:cubicBezTo>
                  <a:pt x="27824" y="168289"/>
                  <a:pt x="20253" y="168289"/>
                  <a:pt x="15591" y="163627"/>
                </a:cubicBezTo>
                <a:cubicBezTo>
                  <a:pt x="10928" y="158964"/>
                  <a:pt x="10928" y="151393"/>
                  <a:pt x="15591" y="146731"/>
                </a:cubicBezTo>
                <a:lnTo>
                  <a:pt x="66838" y="95483"/>
                </a:lnTo>
                <a:lnTo>
                  <a:pt x="15628" y="44236"/>
                </a:lnTo>
                <a:cubicBezTo>
                  <a:pt x="10966" y="39573"/>
                  <a:pt x="10966" y="32002"/>
                  <a:pt x="15628" y="27340"/>
                </a:cubicBezTo>
                <a:cubicBezTo>
                  <a:pt x="20290" y="22677"/>
                  <a:pt x="27862" y="22677"/>
                  <a:pt x="32524" y="27340"/>
                </a:cubicBezTo>
                <a:lnTo>
                  <a:pt x="92201" y="87016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1408367" y="2733204"/>
            <a:ext cx="3365780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标准化接口</a:t>
            </a:r>
            <a:r>
              <a:rPr lang="en-US" sz="1504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：POSIX 提供跨平台兼容性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1098047" y="3210620"/>
            <a:ext cx="95483" cy="190966"/>
          </a:xfrm>
          <a:custGeom>
            <a:avLst/>
            <a:gdLst/>
            <a:ahLst/>
            <a:cxnLst/>
            <a:rect l="l" t="t" r="r" b="b"/>
            <a:pathLst>
              <a:path w="95483" h="190966">
                <a:moveTo>
                  <a:pt x="92164" y="87054"/>
                </a:moveTo>
                <a:cubicBezTo>
                  <a:pt x="96826" y="91716"/>
                  <a:pt x="96826" y="99288"/>
                  <a:pt x="92164" y="103950"/>
                </a:cubicBezTo>
                <a:lnTo>
                  <a:pt x="32487" y="163627"/>
                </a:lnTo>
                <a:cubicBezTo>
                  <a:pt x="27824" y="168289"/>
                  <a:pt x="20253" y="168289"/>
                  <a:pt x="15591" y="163627"/>
                </a:cubicBezTo>
                <a:cubicBezTo>
                  <a:pt x="10928" y="158964"/>
                  <a:pt x="10928" y="151393"/>
                  <a:pt x="15591" y="146731"/>
                </a:cubicBezTo>
                <a:lnTo>
                  <a:pt x="66838" y="95483"/>
                </a:lnTo>
                <a:lnTo>
                  <a:pt x="15628" y="44236"/>
                </a:lnTo>
                <a:cubicBezTo>
                  <a:pt x="10966" y="39573"/>
                  <a:pt x="10966" y="32002"/>
                  <a:pt x="15628" y="27340"/>
                </a:cubicBezTo>
                <a:cubicBezTo>
                  <a:pt x="20290" y="22677"/>
                  <a:pt x="27862" y="22677"/>
                  <a:pt x="32524" y="27340"/>
                </a:cubicBezTo>
                <a:lnTo>
                  <a:pt x="92201" y="87016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1408367" y="3162878"/>
            <a:ext cx="2959977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灵活替换</a:t>
            </a:r>
            <a:r>
              <a:rPr lang="en-US" sz="1504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：支持多种文件系统实现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098047" y="3640294"/>
            <a:ext cx="95483" cy="190966"/>
          </a:xfrm>
          <a:custGeom>
            <a:avLst/>
            <a:gdLst/>
            <a:ahLst/>
            <a:cxnLst/>
            <a:rect l="l" t="t" r="r" b="b"/>
            <a:pathLst>
              <a:path w="95483" h="190966">
                <a:moveTo>
                  <a:pt x="92164" y="87054"/>
                </a:moveTo>
                <a:cubicBezTo>
                  <a:pt x="96826" y="91716"/>
                  <a:pt x="96826" y="99288"/>
                  <a:pt x="92164" y="103950"/>
                </a:cubicBezTo>
                <a:lnTo>
                  <a:pt x="32487" y="163627"/>
                </a:lnTo>
                <a:cubicBezTo>
                  <a:pt x="27824" y="168289"/>
                  <a:pt x="20253" y="168289"/>
                  <a:pt x="15591" y="163627"/>
                </a:cubicBezTo>
                <a:cubicBezTo>
                  <a:pt x="10928" y="158964"/>
                  <a:pt x="10928" y="151393"/>
                  <a:pt x="15591" y="146731"/>
                </a:cubicBezTo>
                <a:lnTo>
                  <a:pt x="66838" y="95483"/>
                </a:lnTo>
                <a:lnTo>
                  <a:pt x="15628" y="44236"/>
                </a:lnTo>
                <a:cubicBezTo>
                  <a:pt x="10966" y="39573"/>
                  <a:pt x="10966" y="32002"/>
                  <a:pt x="15628" y="27340"/>
                </a:cubicBezTo>
                <a:cubicBezTo>
                  <a:pt x="20290" y="22677"/>
                  <a:pt x="27862" y="22677"/>
                  <a:pt x="32524" y="27340"/>
                </a:cubicBezTo>
                <a:lnTo>
                  <a:pt x="92201" y="87016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1408367" y="3592552"/>
            <a:ext cx="3616423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易于扩展</a:t>
            </a:r>
            <a:r>
              <a:rPr lang="en-US" sz="1504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：新文件系统只需实现 VFS 接口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0781759" y="4326579"/>
            <a:ext cx="4988993" cy="4917380"/>
          </a:xfrm>
          <a:custGeom>
            <a:avLst/>
            <a:gdLst/>
            <a:ahLst/>
            <a:cxnLst/>
            <a:rect l="l" t="t" r="r" b="b"/>
            <a:pathLst>
              <a:path w="4988993" h="4917380">
                <a:moveTo>
                  <a:pt x="95496" y="0"/>
                </a:moveTo>
                <a:lnTo>
                  <a:pt x="4893497" y="0"/>
                </a:lnTo>
                <a:cubicBezTo>
                  <a:pt x="4946238" y="0"/>
                  <a:pt x="4988993" y="42755"/>
                  <a:pt x="4988993" y="95496"/>
                </a:cubicBezTo>
                <a:lnTo>
                  <a:pt x="4988993" y="4821885"/>
                </a:lnTo>
                <a:cubicBezTo>
                  <a:pt x="4988993" y="4874626"/>
                  <a:pt x="4946238" y="4917380"/>
                  <a:pt x="4893497" y="4917380"/>
                </a:cubicBezTo>
                <a:lnTo>
                  <a:pt x="95496" y="4917380"/>
                </a:lnTo>
                <a:cubicBezTo>
                  <a:pt x="42755" y="4917380"/>
                  <a:pt x="0" y="4874626"/>
                  <a:pt x="0" y="4821885"/>
                </a:cubicBezTo>
                <a:lnTo>
                  <a:pt x="0" y="95496"/>
                </a:lnTo>
                <a:cubicBezTo>
                  <a:pt x="0" y="42790"/>
                  <a:pt x="42790" y="0"/>
                  <a:pt x="95496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11083128" y="4630931"/>
            <a:ext cx="161128" cy="214837"/>
          </a:xfrm>
          <a:custGeom>
            <a:avLst/>
            <a:gdLst/>
            <a:ahLst/>
            <a:cxnLst/>
            <a:rect l="l" t="t" r="r" b="b"/>
            <a:pathLst>
              <a:path w="161128" h="214837">
                <a:moveTo>
                  <a:pt x="71081" y="210893"/>
                </a:moveTo>
                <a:cubicBezTo>
                  <a:pt x="76326" y="216138"/>
                  <a:pt x="84844" y="216138"/>
                  <a:pt x="90089" y="210893"/>
                </a:cubicBezTo>
                <a:lnTo>
                  <a:pt x="157225" y="143756"/>
                </a:lnTo>
                <a:cubicBezTo>
                  <a:pt x="162470" y="138511"/>
                  <a:pt x="162470" y="129993"/>
                  <a:pt x="157225" y="124748"/>
                </a:cubicBezTo>
                <a:cubicBezTo>
                  <a:pt x="151980" y="119503"/>
                  <a:pt x="143462" y="119503"/>
                  <a:pt x="138217" y="124748"/>
                </a:cubicBezTo>
                <a:lnTo>
                  <a:pt x="93991" y="168974"/>
                </a:lnTo>
                <a:lnTo>
                  <a:pt x="93991" y="13427"/>
                </a:lnTo>
                <a:cubicBezTo>
                  <a:pt x="93991" y="6000"/>
                  <a:pt x="87991" y="0"/>
                  <a:pt x="80564" y="0"/>
                </a:cubicBezTo>
                <a:cubicBezTo>
                  <a:pt x="73137" y="0"/>
                  <a:pt x="67137" y="6000"/>
                  <a:pt x="67137" y="13427"/>
                </a:cubicBezTo>
                <a:lnTo>
                  <a:pt x="67137" y="168974"/>
                </a:lnTo>
                <a:lnTo>
                  <a:pt x="22910" y="124748"/>
                </a:lnTo>
                <a:cubicBezTo>
                  <a:pt x="17665" y="119503"/>
                  <a:pt x="9147" y="119503"/>
                  <a:pt x="3902" y="124748"/>
                </a:cubicBezTo>
                <a:cubicBezTo>
                  <a:pt x="-1343" y="129993"/>
                  <a:pt x="-1343" y="138511"/>
                  <a:pt x="3902" y="143756"/>
                </a:cubicBezTo>
                <a:lnTo>
                  <a:pt x="71039" y="210893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11300949" y="4571254"/>
            <a:ext cx="4332546" cy="334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92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数据流传递过程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1038370" y="5096411"/>
            <a:ext cx="4487706" cy="572899"/>
          </a:xfrm>
          <a:custGeom>
            <a:avLst/>
            <a:gdLst/>
            <a:ahLst/>
            <a:cxnLst/>
            <a:rect l="l" t="t" r="r" b="b"/>
            <a:pathLst>
              <a:path w="4487706" h="572899">
                <a:moveTo>
                  <a:pt x="23871" y="0"/>
                </a:moveTo>
                <a:lnTo>
                  <a:pt x="4439967" y="0"/>
                </a:lnTo>
                <a:cubicBezTo>
                  <a:pt x="4466333" y="0"/>
                  <a:pt x="4487706" y="21374"/>
                  <a:pt x="4487706" y="47740"/>
                </a:cubicBezTo>
                <a:lnTo>
                  <a:pt x="4487706" y="525159"/>
                </a:lnTo>
                <a:cubicBezTo>
                  <a:pt x="4487706" y="551525"/>
                  <a:pt x="4466333" y="572899"/>
                  <a:pt x="4439967" y="572899"/>
                </a:cubicBezTo>
                <a:lnTo>
                  <a:pt x="23871" y="572899"/>
                </a:lnTo>
                <a:cubicBezTo>
                  <a:pt x="10687" y="572899"/>
                  <a:pt x="0" y="562211"/>
                  <a:pt x="0" y="549028"/>
                </a:cubicBezTo>
                <a:lnTo>
                  <a:pt x="0" y="23871"/>
                </a:lnTo>
                <a:cubicBezTo>
                  <a:pt x="0" y="10696"/>
                  <a:pt x="10696" y="0"/>
                  <a:pt x="23871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11038370" y="5096411"/>
            <a:ext cx="23871" cy="572899"/>
          </a:xfrm>
          <a:custGeom>
            <a:avLst/>
            <a:gdLst/>
            <a:ahLst/>
            <a:cxnLst/>
            <a:rect l="l" t="t" r="r" b="b"/>
            <a:pathLst>
              <a:path w="23871" h="572899">
                <a:moveTo>
                  <a:pt x="23871" y="0"/>
                </a:moveTo>
                <a:lnTo>
                  <a:pt x="23871" y="0"/>
                </a:lnTo>
                <a:lnTo>
                  <a:pt x="23871" y="572899"/>
                </a:lnTo>
                <a:lnTo>
                  <a:pt x="23871" y="572899"/>
                </a:lnTo>
                <a:cubicBezTo>
                  <a:pt x="10687" y="572899"/>
                  <a:pt x="0" y="562211"/>
                  <a:pt x="0" y="549028"/>
                </a:cubicBezTo>
                <a:lnTo>
                  <a:pt x="0" y="23871"/>
                </a:lnTo>
                <a:cubicBezTo>
                  <a:pt x="0" y="10696"/>
                  <a:pt x="10696" y="0"/>
                  <a:pt x="23871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11193530" y="5239636"/>
            <a:ext cx="4284805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</a:t>
            </a:r>
            <a:r>
              <a:rPr lang="en-US" sz="1504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应用程序发起文件操作请求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1038370" y="5812535"/>
            <a:ext cx="4487706" cy="572899"/>
          </a:xfrm>
          <a:custGeom>
            <a:avLst/>
            <a:gdLst/>
            <a:ahLst/>
            <a:cxnLst/>
            <a:rect l="l" t="t" r="r" b="b"/>
            <a:pathLst>
              <a:path w="4487706" h="572899">
                <a:moveTo>
                  <a:pt x="23871" y="0"/>
                </a:moveTo>
                <a:lnTo>
                  <a:pt x="4439967" y="0"/>
                </a:lnTo>
                <a:cubicBezTo>
                  <a:pt x="4466333" y="0"/>
                  <a:pt x="4487706" y="21374"/>
                  <a:pt x="4487706" y="47740"/>
                </a:cubicBezTo>
                <a:lnTo>
                  <a:pt x="4487706" y="525159"/>
                </a:lnTo>
                <a:cubicBezTo>
                  <a:pt x="4487706" y="551525"/>
                  <a:pt x="4466333" y="572899"/>
                  <a:pt x="4439967" y="572899"/>
                </a:cubicBezTo>
                <a:lnTo>
                  <a:pt x="23871" y="572899"/>
                </a:lnTo>
                <a:cubicBezTo>
                  <a:pt x="10687" y="572899"/>
                  <a:pt x="0" y="562211"/>
                  <a:pt x="0" y="549028"/>
                </a:cubicBezTo>
                <a:lnTo>
                  <a:pt x="0" y="23871"/>
                </a:lnTo>
                <a:cubicBezTo>
                  <a:pt x="0" y="10696"/>
                  <a:pt x="10696" y="0"/>
                  <a:pt x="23871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11038370" y="5812535"/>
            <a:ext cx="23871" cy="572899"/>
          </a:xfrm>
          <a:custGeom>
            <a:avLst/>
            <a:gdLst/>
            <a:ahLst/>
            <a:cxnLst/>
            <a:rect l="l" t="t" r="r" b="b"/>
            <a:pathLst>
              <a:path w="23871" h="572899">
                <a:moveTo>
                  <a:pt x="23871" y="0"/>
                </a:moveTo>
                <a:lnTo>
                  <a:pt x="23871" y="0"/>
                </a:lnTo>
                <a:lnTo>
                  <a:pt x="23871" y="572899"/>
                </a:lnTo>
                <a:lnTo>
                  <a:pt x="23871" y="572899"/>
                </a:lnTo>
                <a:cubicBezTo>
                  <a:pt x="10687" y="572899"/>
                  <a:pt x="0" y="562211"/>
                  <a:pt x="0" y="549028"/>
                </a:cubicBezTo>
                <a:lnTo>
                  <a:pt x="0" y="23871"/>
                </a:lnTo>
                <a:cubicBezTo>
                  <a:pt x="0" y="10696"/>
                  <a:pt x="10696" y="0"/>
                  <a:pt x="23871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11193530" y="5955759"/>
            <a:ext cx="4284805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</a:t>
            </a:r>
            <a:r>
              <a:rPr lang="en-US" sz="1504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LibC 封装为 POSIX 标准调用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1038370" y="6528658"/>
            <a:ext cx="4487706" cy="572899"/>
          </a:xfrm>
          <a:custGeom>
            <a:avLst/>
            <a:gdLst/>
            <a:ahLst/>
            <a:cxnLst/>
            <a:rect l="l" t="t" r="r" b="b"/>
            <a:pathLst>
              <a:path w="4487706" h="572899">
                <a:moveTo>
                  <a:pt x="23871" y="0"/>
                </a:moveTo>
                <a:lnTo>
                  <a:pt x="4439967" y="0"/>
                </a:lnTo>
                <a:cubicBezTo>
                  <a:pt x="4466333" y="0"/>
                  <a:pt x="4487706" y="21374"/>
                  <a:pt x="4487706" y="47740"/>
                </a:cubicBezTo>
                <a:lnTo>
                  <a:pt x="4487706" y="525159"/>
                </a:lnTo>
                <a:cubicBezTo>
                  <a:pt x="4487706" y="551525"/>
                  <a:pt x="4466333" y="572899"/>
                  <a:pt x="4439967" y="572899"/>
                </a:cubicBezTo>
                <a:lnTo>
                  <a:pt x="23871" y="572899"/>
                </a:lnTo>
                <a:cubicBezTo>
                  <a:pt x="10687" y="572899"/>
                  <a:pt x="0" y="562211"/>
                  <a:pt x="0" y="549028"/>
                </a:cubicBezTo>
                <a:lnTo>
                  <a:pt x="0" y="23871"/>
                </a:lnTo>
                <a:cubicBezTo>
                  <a:pt x="0" y="10696"/>
                  <a:pt x="10696" y="0"/>
                  <a:pt x="23871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11038370" y="6528658"/>
            <a:ext cx="23871" cy="572899"/>
          </a:xfrm>
          <a:custGeom>
            <a:avLst/>
            <a:gdLst/>
            <a:ahLst/>
            <a:cxnLst/>
            <a:rect l="l" t="t" r="r" b="b"/>
            <a:pathLst>
              <a:path w="23871" h="572899">
                <a:moveTo>
                  <a:pt x="23871" y="0"/>
                </a:moveTo>
                <a:lnTo>
                  <a:pt x="23871" y="0"/>
                </a:lnTo>
                <a:lnTo>
                  <a:pt x="23871" y="572899"/>
                </a:lnTo>
                <a:lnTo>
                  <a:pt x="23871" y="572899"/>
                </a:lnTo>
                <a:cubicBezTo>
                  <a:pt x="10687" y="572899"/>
                  <a:pt x="0" y="562211"/>
                  <a:pt x="0" y="549028"/>
                </a:cubicBezTo>
                <a:lnTo>
                  <a:pt x="0" y="23871"/>
                </a:lnTo>
                <a:cubicBezTo>
                  <a:pt x="0" y="10696"/>
                  <a:pt x="10696" y="0"/>
                  <a:pt x="23871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11193530" y="6671883"/>
            <a:ext cx="4284805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</a:t>
            </a:r>
            <a:r>
              <a:rPr lang="en-US" sz="1504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VFS 提供统一抽象接口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1038370" y="7244781"/>
            <a:ext cx="4487706" cy="572899"/>
          </a:xfrm>
          <a:custGeom>
            <a:avLst/>
            <a:gdLst/>
            <a:ahLst/>
            <a:cxnLst/>
            <a:rect l="l" t="t" r="r" b="b"/>
            <a:pathLst>
              <a:path w="4487706" h="572899">
                <a:moveTo>
                  <a:pt x="23871" y="0"/>
                </a:moveTo>
                <a:lnTo>
                  <a:pt x="4439967" y="0"/>
                </a:lnTo>
                <a:cubicBezTo>
                  <a:pt x="4466333" y="0"/>
                  <a:pt x="4487706" y="21374"/>
                  <a:pt x="4487706" y="47740"/>
                </a:cubicBezTo>
                <a:lnTo>
                  <a:pt x="4487706" y="525159"/>
                </a:lnTo>
                <a:cubicBezTo>
                  <a:pt x="4487706" y="551525"/>
                  <a:pt x="4466333" y="572899"/>
                  <a:pt x="4439967" y="572899"/>
                </a:cubicBezTo>
                <a:lnTo>
                  <a:pt x="23871" y="572899"/>
                </a:lnTo>
                <a:cubicBezTo>
                  <a:pt x="10687" y="572899"/>
                  <a:pt x="0" y="562211"/>
                  <a:pt x="0" y="549028"/>
                </a:cubicBezTo>
                <a:lnTo>
                  <a:pt x="0" y="23871"/>
                </a:lnTo>
                <a:cubicBezTo>
                  <a:pt x="0" y="10696"/>
                  <a:pt x="10696" y="0"/>
                  <a:pt x="23871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64"/>
          <p:cNvSpPr/>
          <p:nvPr/>
        </p:nvSpPr>
        <p:spPr>
          <a:xfrm>
            <a:off x="11038370" y="7244781"/>
            <a:ext cx="23871" cy="572899"/>
          </a:xfrm>
          <a:custGeom>
            <a:avLst/>
            <a:gdLst/>
            <a:ahLst/>
            <a:cxnLst/>
            <a:rect l="l" t="t" r="r" b="b"/>
            <a:pathLst>
              <a:path w="23871" h="572899">
                <a:moveTo>
                  <a:pt x="23871" y="0"/>
                </a:moveTo>
                <a:lnTo>
                  <a:pt x="23871" y="0"/>
                </a:lnTo>
                <a:lnTo>
                  <a:pt x="23871" y="572899"/>
                </a:lnTo>
                <a:lnTo>
                  <a:pt x="23871" y="572899"/>
                </a:lnTo>
                <a:cubicBezTo>
                  <a:pt x="10687" y="572899"/>
                  <a:pt x="0" y="562211"/>
                  <a:pt x="0" y="549028"/>
                </a:cubicBezTo>
                <a:lnTo>
                  <a:pt x="0" y="23871"/>
                </a:lnTo>
                <a:cubicBezTo>
                  <a:pt x="0" y="10696"/>
                  <a:pt x="10696" y="0"/>
                  <a:pt x="23871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11193530" y="7388006"/>
            <a:ext cx="4284805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</a:t>
            </a:r>
            <a:r>
              <a:rPr lang="en-US" sz="1504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具体文件系统执行实际操作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1038370" y="7960905"/>
            <a:ext cx="4487706" cy="572899"/>
          </a:xfrm>
          <a:custGeom>
            <a:avLst/>
            <a:gdLst/>
            <a:ahLst/>
            <a:cxnLst/>
            <a:rect l="l" t="t" r="r" b="b"/>
            <a:pathLst>
              <a:path w="4487706" h="572899">
                <a:moveTo>
                  <a:pt x="23871" y="0"/>
                </a:moveTo>
                <a:lnTo>
                  <a:pt x="4439967" y="0"/>
                </a:lnTo>
                <a:cubicBezTo>
                  <a:pt x="4466333" y="0"/>
                  <a:pt x="4487706" y="21374"/>
                  <a:pt x="4487706" y="47740"/>
                </a:cubicBezTo>
                <a:lnTo>
                  <a:pt x="4487706" y="525159"/>
                </a:lnTo>
                <a:cubicBezTo>
                  <a:pt x="4487706" y="551525"/>
                  <a:pt x="4466333" y="572899"/>
                  <a:pt x="4439967" y="572899"/>
                </a:cubicBezTo>
                <a:lnTo>
                  <a:pt x="23871" y="572899"/>
                </a:lnTo>
                <a:cubicBezTo>
                  <a:pt x="10687" y="572899"/>
                  <a:pt x="0" y="562211"/>
                  <a:pt x="0" y="549028"/>
                </a:cubicBezTo>
                <a:lnTo>
                  <a:pt x="0" y="23871"/>
                </a:lnTo>
                <a:cubicBezTo>
                  <a:pt x="0" y="10696"/>
                  <a:pt x="10696" y="0"/>
                  <a:pt x="23871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67"/>
          <p:cNvSpPr/>
          <p:nvPr/>
        </p:nvSpPr>
        <p:spPr>
          <a:xfrm>
            <a:off x="11038370" y="7960905"/>
            <a:ext cx="23871" cy="572899"/>
          </a:xfrm>
          <a:custGeom>
            <a:avLst/>
            <a:gdLst/>
            <a:ahLst/>
            <a:cxnLst/>
            <a:rect l="l" t="t" r="r" b="b"/>
            <a:pathLst>
              <a:path w="23871" h="572899">
                <a:moveTo>
                  <a:pt x="23871" y="0"/>
                </a:moveTo>
                <a:lnTo>
                  <a:pt x="23871" y="0"/>
                </a:lnTo>
                <a:lnTo>
                  <a:pt x="23871" y="572899"/>
                </a:lnTo>
                <a:lnTo>
                  <a:pt x="23871" y="572899"/>
                </a:lnTo>
                <a:cubicBezTo>
                  <a:pt x="10687" y="572899"/>
                  <a:pt x="0" y="562211"/>
                  <a:pt x="0" y="549028"/>
                </a:cubicBezTo>
                <a:lnTo>
                  <a:pt x="0" y="23871"/>
                </a:lnTo>
                <a:cubicBezTo>
                  <a:pt x="0" y="10696"/>
                  <a:pt x="10696" y="0"/>
                  <a:pt x="23871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11193530" y="8104129"/>
            <a:ext cx="4284805" cy="286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4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</a:t>
            </a:r>
            <a:r>
              <a:rPr lang="en-US" sz="1504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块设备层与物理存储交互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36" y="592420"/>
            <a:ext cx="473936" cy="47394"/>
          </a:xfrm>
          <a:custGeom>
            <a:avLst/>
            <a:gdLst/>
            <a:ahLst/>
            <a:cxnLst/>
            <a:rect l="l" t="t" r="r" b="b"/>
            <a:pathLst>
              <a:path w="473936" h="47394">
                <a:moveTo>
                  <a:pt x="0" y="0"/>
                </a:moveTo>
                <a:lnTo>
                  <a:pt x="473936" y="0"/>
                </a:lnTo>
                <a:lnTo>
                  <a:pt x="473936" y="47394"/>
                </a:lnTo>
                <a:lnTo>
                  <a:pt x="0" y="47394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90052" y="473936"/>
            <a:ext cx="1824653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3" b="1" kern="0" spc="75" dirty="0">
                <a:solidFill>
                  <a:srgbClr val="D4A2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POSIX INTERFACE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3936" y="853085"/>
            <a:ext cx="15521399" cy="4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59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POSIX 文件接口标准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9860" y="1522519"/>
            <a:ext cx="7523732" cy="2808070"/>
          </a:xfrm>
          <a:custGeom>
            <a:avLst/>
            <a:gdLst/>
            <a:ahLst/>
            <a:cxnLst/>
            <a:rect l="l" t="t" r="r" b="b"/>
            <a:pathLst>
              <a:path w="7523732" h="2808070">
                <a:moveTo>
                  <a:pt x="94800" y="0"/>
                </a:moveTo>
                <a:lnTo>
                  <a:pt x="7428931" y="0"/>
                </a:lnTo>
                <a:cubicBezTo>
                  <a:pt x="7481288" y="0"/>
                  <a:pt x="7523732" y="42444"/>
                  <a:pt x="7523732" y="94800"/>
                </a:cubicBezTo>
                <a:lnTo>
                  <a:pt x="7523732" y="2713270"/>
                </a:lnTo>
                <a:cubicBezTo>
                  <a:pt x="7523732" y="2765626"/>
                  <a:pt x="7481288" y="2808070"/>
                  <a:pt x="7428931" y="2808070"/>
                </a:cubicBezTo>
                <a:lnTo>
                  <a:pt x="94800" y="2808070"/>
                </a:lnTo>
                <a:cubicBezTo>
                  <a:pt x="42444" y="2808070"/>
                  <a:pt x="0" y="2765626"/>
                  <a:pt x="0" y="2713270"/>
                </a:cubicBezTo>
                <a:lnTo>
                  <a:pt x="0" y="94800"/>
                </a:lnTo>
                <a:cubicBezTo>
                  <a:pt x="0" y="42479"/>
                  <a:pt x="42479" y="0"/>
                  <a:pt x="94800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39044" y="1824653"/>
            <a:ext cx="239930" cy="213271"/>
          </a:xfrm>
          <a:custGeom>
            <a:avLst/>
            <a:gdLst/>
            <a:ahLst/>
            <a:cxnLst/>
            <a:rect l="l" t="t" r="r" b="b"/>
            <a:pathLst>
              <a:path w="239930" h="213271">
                <a:moveTo>
                  <a:pt x="23327" y="93973"/>
                </a:moveTo>
                <a:lnTo>
                  <a:pt x="13496" y="123381"/>
                </a:lnTo>
                <a:lnTo>
                  <a:pt x="13496" y="39988"/>
                </a:lnTo>
                <a:cubicBezTo>
                  <a:pt x="13496" y="25284"/>
                  <a:pt x="25451" y="13329"/>
                  <a:pt x="40155" y="13329"/>
                </a:cubicBezTo>
                <a:lnTo>
                  <a:pt x="97930" y="13329"/>
                </a:lnTo>
                <a:cubicBezTo>
                  <a:pt x="103678" y="13329"/>
                  <a:pt x="109301" y="15204"/>
                  <a:pt x="113925" y="18661"/>
                </a:cubicBezTo>
                <a:lnTo>
                  <a:pt x="129920" y="30658"/>
                </a:lnTo>
                <a:cubicBezTo>
                  <a:pt x="132211" y="32407"/>
                  <a:pt x="135044" y="33324"/>
                  <a:pt x="137918" y="33324"/>
                </a:cubicBezTo>
                <a:lnTo>
                  <a:pt x="186779" y="33324"/>
                </a:lnTo>
                <a:cubicBezTo>
                  <a:pt x="201483" y="33324"/>
                  <a:pt x="213438" y="45278"/>
                  <a:pt x="213438" y="59983"/>
                </a:cubicBezTo>
                <a:lnTo>
                  <a:pt x="213438" y="66647"/>
                </a:lnTo>
                <a:lnTo>
                  <a:pt x="61232" y="66647"/>
                </a:lnTo>
                <a:cubicBezTo>
                  <a:pt x="44029" y="66647"/>
                  <a:pt x="28742" y="77644"/>
                  <a:pt x="23285" y="93973"/>
                </a:cubicBezTo>
                <a:close/>
                <a:moveTo>
                  <a:pt x="199025" y="186612"/>
                </a:moveTo>
                <a:lnTo>
                  <a:pt x="41238" y="186612"/>
                </a:lnTo>
                <a:cubicBezTo>
                  <a:pt x="27575" y="186612"/>
                  <a:pt x="17953" y="173241"/>
                  <a:pt x="22285" y="160287"/>
                </a:cubicBezTo>
                <a:lnTo>
                  <a:pt x="42279" y="100304"/>
                </a:lnTo>
                <a:cubicBezTo>
                  <a:pt x="44987" y="92140"/>
                  <a:pt x="52651" y="86641"/>
                  <a:pt x="61232" y="86641"/>
                </a:cubicBezTo>
                <a:lnTo>
                  <a:pt x="219019" y="86641"/>
                </a:lnTo>
                <a:cubicBezTo>
                  <a:pt x="232682" y="86641"/>
                  <a:pt x="242304" y="100012"/>
                  <a:pt x="237972" y="112967"/>
                </a:cubicBezTo>
                <a:lnTo>
                  <a:pt x="217978" y="172950"/>
                </a:lnTo>
                <a:cubicBezTo>
                  <a:pt x="215271" y="181114"/>
                  <a:pt x="207606" y="186612"/>
                  <a:pt x="199025" y="186612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95265" y="1765411"/>
            <a:ext cx="6872070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文件打开和关闭操作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22752" y="2239347"/>
            <a:ext cx="7037948" cy="758297"/>
          </a:xfrm>
          <a:custGeom>
            <a:avLst/>
            <a:gdLst/>
            <a:ahLst/>
            <a:cxnLst/>
            <a:rect l="l" t="t" r="r" b="b"/>
            <a:pathLst>
              <a:path w="7037948" h="758297">
                <a:moveTo>
                  <a:pt x="47394" y="0"/>
                </a:moveTo>
                <a:lnTo>
                  <a:pt x="6990554" y="0"/>
                </a:lnTo>
                <a:cubicBezTo>
                  <a:pt x="7016729" y="0"/>
                  <a:pt x="7037948" y="21219"/>
                  <a:pt x="7037948" y="47394"/>
                </a:cubicBezTo>
                <a:lnTo>
                  <a:pt x="7037948" y="710904"/>
                </a:lnTo>
                <a:cubicBezTo>
                  <a:pt x="7037948" y="737079"/>
                  <a:pt x="7016729" y="758297"/>
                  <a:pt x="6990554" y="758297"/>
                </a:cubicBezTo>
                <a:lnTo>
                  <a:pt x="47394" y="758297"/>
                </a:lnTo>
                <a:cubicBezTo>
                  <a:pt x="21219" y="758297"/>
                  <a:pt x="0" y="737079"/>
                  <a:pt x="0" y="710904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22752" y="2239347"/>
            <a:ext cx="7120886" cy="758297"/>
          </a:xfrm>
          <a:prstGeom prst="rect">
            <a:avLst/>
          </a:prstGeom>
          <a:noFill/>
          <a:ln/>
        </p:spPr>
        <p:txBody>
          <a:bodyPr wrap="square" lIns="142181" tIns="142181" rIns="142181" bIns="142181" rtlCol="0" anchor="ctr"/>
          <a:lstStyle/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r>
              <a:rPr lang="en-US" sz="1306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open(</a:t>
            </a:r>
            <a:r>
              <a:rPr lang="en-US" sz="1306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 char *</a:t>
            </a:r>
            <a:r>
              <a:rPr lang="en-US" sz="1306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pathname,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r>
              <a:rPr lang="en-US" sz="1306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flags, </a:t>
            </a:r>
            <a:r>
              <a:rPr lang="en-US" sz="1306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mode_t</a:t>
            </a:r>
            <a:r>
              <a:rPr lang="en-US" sz="1306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mode);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2752" y="3139825"/>
            <a:ext cx="7037948" cy="521329"/>
          </a:xfrm>
          <a:custGeom>
            <a:avLst/>
            <a:gdLst/>
            <a:ahLst/>
            <a:cxnLst/>
            <a:rect l="l" t="t" r="r" b="b"/>
            <a:pathLst>
              <a:path w="7037948" h="521329">
                <a:moveTo>
                  <a:pt x="47394" y="0"/>
                </a:moveTo>
                <a:lnTo>
                  <a:pt x="6990553" y="0"/>
                </a:lnTo>
                <a:cubicBezTo>
                  <a:pt x="7016728" y="0"/>
                  <a:pt x="7037948" y="21219"/>
                  <a:pt x="7037948" y="47394"/>
                </a:cubicBezTo>
                <a:lnTo>
                  <a:pt x="7037948" y="473935"/>
                </a:lnTo>
                <a:cubicBezTo>
                  <a:pt x="7037948" y="500110"/>
                  <a:pt x="7016728" y="521329"/>
                  <a:pt x="6990553" y="521329"/>
                </a:cubicBezTo>
                <a:lnTo>
                  <a:pt x="47394" y="521329"/>
                </a:lnTo>
                <a:cubicBezTo>
                  <a:pt x="21219" y="521329"/>
                  <a:pt x="0" y="500110"/>
                  <a:pt x="0" y="473935"/>
                </a:cubicBezTo>
                <a:lnTo>
                  <a:pt x="0" y="47394"/>
                </a:lnTo>
                <a:cubicBezTo>
                  <a:pt x="0" y="21219"/>
                  <a:pt x="21219" y="0"/>
                  <a:pt x="47394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22752" y="3139825"/>
            <a:ext cx="7120886" cy="521329"/>
          </a:xfrm>
          <a:prstGeom prst="rect">
            <a:avLst/>
          </a:prstGeom>
          <a:noFill/>
          <a:ln/>
        </p:spPr>
        <p:txBody>
          <a:bodyPr wrap="square" lIns="142181" tIns="142181" rIns="142181" bIns="142181" rtlCol="0" anchor="ctr"/>
          <a:lstStyle/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r>
              <a:rPr lang="en-US" sz="1306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close(</a:t>
            </a:r>
            <a:r>
              <a:rPr lang="en-US" sz="1306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r>
              <a:rPr lang="en-US" sz="1306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fd);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752" y="3803335"/>
            <a:ext cx="7132735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3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打开文件返回文件描述符，关闭文件释放资源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9860" y="4532012"/>
            <a:ext cx="7523732" cy="3045038"/>
          </a:xfrm>
          <a:custGeom>
            <a:avLst/>
            <a:gdLst/>
            <a:ahLst/>
            <a:cxnLst/>
            <a:rect l="l" t="t" r="r" b="b"/>
            <a:pathLst>
              <a:path w="7523732" h="3045038">
                <a:moveTo>
                  <a:pt x="94792" y="0"/>
                </a:moveTo>
                <a:lnTo>
                  <a:pt x="7428940" y="0"/>
                </a:lnTo>
                <a:cubicBezTo>
                  <a:pt x="7481292" y="0"/>
                  <a:pt x="7523732" y="42440"/>
                  <a:pt x="7523732" y="94792"/>
                </a:cubicBezTo>
                <a:lnTo>
                  <a:pt x="7523732" y="2950246"/>
                </a:lnTo>
                <a:cubicBezTo>
                  <a:pt x="7523732" y="3002598"/>
                  <a:pt x="7481292" y="3045038"/>
                  <a:pt x="7428940" y="3045038"/>
                </a:cubicBezTo>
                <a:lnTo>
                  <a:pt x="94792" y="3045038"/>
                </a:lnTo>
                <a:cubicBezTo>
                  <a:pt x="42475" y="3045038"/>
                  <a:pt x="0" y="3002563"/>
                  <a:pt x="0" y="2950246"/>
                </a:cubicBezTo>
                <a:lnTo>
                  <a:pt x="0" y="94792"/>
                </a:lnTo>
                <a:cubicBezTo>
                  <a:pt x="0" y="42475"/>
                  <a:pt x="42475" y="0"/>
                  <a:pt x="94792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779032" y="4834146"/>
            <a:ext cx="159953" cy="213271"/>
          </a:xfrm>
          <a:custGeom>
            <a:avLst/>
            <a:gdLst/>
            <a:ahLst/>
            <a:cxnLst/>
            <a:rect l="l" t="t" r="r" b="b"/>
            <a:pathLst>
              <a:path w="159953" h="213271">
                <a:moveTo>
                  <a:pt x="0" y="26659"/>
                </a:moveTo>
                <a:cubicBezTo>
                  <a:pt x="0" y="11955"/>
                  <a:pt x="11955" y="0"/>
                  <a:pt x="26659" y="0"/>
                </a:cubicBezTo>
                <a:lnTo>
                  <a:pt x="88932" y="0"/>
                </a:lnTo>
                <a:cubicBezTo>
                  <a:pt x="96014" y="0"/>
                  <a:pt x="102803" y="2791"/>
                  <a:pt x="107802" y="7789"/>
                </a:cubicBezTo>
                <a:lnTo>
                  <a:pt x="152164" y="52193"/>
                </a:lnTo>
                <a:cubicBezTo>
                  <a:pt x="157163" y="57192"/>
                  <a:pt x="159953" y="63981"/>
                  <a:pt x="159953" y="71063"/>
                </a:cubicBezTo>
                <a:lnTo>
                  <a:pt x="159953" y="186612"/>
                </a:lnTo>
                <a:cubicBezTo>
                  <a:pt x="159953" y="201316"/>
                  <a:pt x="147999" y="213271"/>
                  <a:pt x="133294" y="213271"/>
                </a:cubicBezTo>
                <a:lnTo>
                  <a:pt x="26659" y="213271"/>
                </a:lnTo>
                <a:cubicBezTo>
                  <a:pt x="11955" y="213271"/>
                  <a:pt x="0" y="201316"/>
                  <a:pt x="0" y="186612"/>
                </a:cubicBezTo>
                <a:lnTo>
                  <a:pt x="0" y="26659"/>
                </a:lnTo>
                <a:close/>
                <a:moveTo>
                  <a:pt x="86641" y="24368"/>
                </a:moveTo>
                <a:lnTo>
                  <a:pt x="86641" y="63315"/>
                </a:lnTo>
                <a:cubicBezTo>
                  <a:pt x="86641" y="68855"/>
                  <a:pt x="91098" y="73312"/>
                  <a:pt x="96638" y="73312"/>
                </a:cubicBezTo>
                <a:lnTo>
                  <a:pt x="135585" y="73312"/>
                </a:lnTo>
                <a:lnTo>
                  <a:pt x="86641" y="24368"/>
                </a:lnTo>
                <a:close/>
                <a:moveTo>
                  <a:pt x="49985" y="106636"/>
                </a:moveTo>
                <a:cubicBezTo>
                  <a:pt x="44445" y="106636"/>
                  <a:pt x="39988" y="111093"/>
                  <a:pt x="39988" y="116633"/>
                </a:cubicBezTo>
                <a:cubicBezTo>
                  <a:pt x="39988" y="122173"/>
                  <a:pt x="44445" y="126630"/>
                  <a:pt x="49985" y="126630"/>
                </a:cubicBezTo>
                <a:lnTo>
                  <a:pt x="109968" y="126630"/>
                </a:lnTo>
                <a:cubicBezTo>
                  <a:pt x="115508" y="126630"/>
                  <a:pt x="119965" y="122173"/>
                  <a:pt x="119965" y="116633"/>
                </a:cubicBezTo>
                <a:cubicBezTo>
                  <a:pt x="119965" y="111093"/>
                  <a:pt x="115508" y="106636"/>
                  <a:pt x="109968" y="106636"/>
                </a:cubicBezTo>
                <a:lnTo>
                  <a:pt x="49985" y="106636"/>
                </a:lnTo>
                <a:close/>
                <a:moveTo>
                  <a:pt x="49985" y="146624"/>
                </a:moveTo>
                <a:cubicBezTo>
                  <a:pt x="44445" y="146624"/>
                  <a:pt x="39988" y="151081"/>
                  <a:pt x="39988" y="156621"/>
                </a:cubicBezTo>
                <a:cubicBezTo>
                  <a:pt x="39988" y="162161"/>
                  <a:pt x="44445" y="166618"/>
                  <a:pt x="49985" y="166618"/>
                </a:cubicBezTo>
                <a:lnTo>
                  <a:pt x="109968" y="166618"/>
                </a:lnTo>
                <a:cubicBezTo>
                  <a:pt x="115508" y="166618"/>
                  <a:pt x="119965" y="162161"/>
                  <a:pt x="119965" y="156621"/>
                </a:cubicBezTo>
                <a:cubicBezTo>
                  <a:pt x="119965" y="151081"/>
                  <a:pt x="115508" y="146624"/>
                  <a:pt x="109968" y="146624"/>
                </a:cubicBezTo>
                <a:lnTo>
                  <a:pt x="49985" y="146624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95265" y="4774904"/>
            <a:ext cx="6872070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文件状态查询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2752" y="5248840"/>
            <a:ext cx="7037948" cy="758297"/>
          </a:xfrm>
          <a:custGeom>
            <a:avLst/>
            <a:gdLst/>
            <a:ahLst/>
            <a:cxnLst/>
            <a:rect l="l" t="t" r="r" b="b"/>
            <a:pathLst>
              <a:path w="7037948" h="758297">
                <a:moveTo>
                  <a:pt x="47394" y="0"/>
                </a:moveTo>
                <a:lnTo>
                  <a:pt x="6990554" y="0"/>
                </a:lnTo>
                <a:cubicBezTo>
                  <a:pt x="7016729" y="0"/>
                  <a:pt x="7037948" y="21219"/>
                  <a:pt x="7037948" y="47394"/>
                </a:cubicBezTo>
                <a:lnTo>
                  <a:pt x="7037948" y="710904"/>
                </a:lnTo>
                <a:cubicBezTo>
                  <a:pt x="7037948" y="737079"/>
                  <a:pt x="7016729" y="758297"/>
                  <a:pt x="6990554" y="758297"/>
                </a:cubicBezTo>
                <a:lnTo>
                  <a:pt x="47394" y="758297"/>
                </a:lnTo>
                <a:cubicBezTo>
                  <a:pt x="21219" y="758297"/>
                  <a:pt x="0" y="737079"/>
                  <a:pt x="0" y="710904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22752" y="5248840"/>
            <a:ext cx="7120886" cy="758297"/>
          </a:xfrm>
          <a:prstGeom prst="rect">
            <a:avLst/>
          </a:prstGeom>
          <a:noFill/>
          <a:ln/>
        </p:spPr>
        <p:txBody>
          <a:bodyPr wrap="square" lIns="142181" tIns="142181" rIns="142181" bIns="142181" rtlCol="0" anchor="ctr"/>
          <a:lstStyle/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r>
              <a:rPr lang="en-US" sz="1306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stat(</a:t>
            </a:r>
            <a:r>
              <a:rPr lang="en-US" sz="1306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 char *</a:t>
            </a:r>
            <a:r>
              <a:rPr lang="en-US" sz="1306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pathname,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struct stat *</a:t>
            </a:r>
            <a:r>
              <a:rPr lang="en-US" sz="1306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statbuf);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2752" y="6149318"/>
            <a:ext cx="7037948" cy="758297"/>
          </a:xfrm>
          <a:custGeom>
            <a:avLst/>
            <a:gdLst/>
            <a:ahLst/>
            <a:cxnLst/>
            <a:rect l="l" t="t" r="r" b="b"/>
            <a:pathLst>
              <a:path w="7037948" h="758297">
                <a:moveTo>
                  <a:pt x="47394" y="0"/>
                </a:moveTo>
                <a:lnTo>
                  <a:pt x="6990554" y="0"/>
                </a:lnTo>
                <a:cubicBezTo>
                  <a:pt x="7016729" y="0"/>
                  <a:pt x="7037948" y="21219"/>
                  <a:pt x="7037948" y="47394"/>
                </a:cubicBezTo>
                <a:lnTo>
                  <a:pt x="7037948" y="710904"/>
                </a:lnTo>
                <a:cubicBezTo>
                  <a:pt x="7037948" y="737079"/>
                  <a:pt x="7016729" y="758297"/>
                  <a:pt x="6990554" y="758297"/>
                </a:cubicBezTo>
                <a:lnTo>
                  <a:pt x="47394" y="758297"/>
                </a:lnTo>
                <a:cubicBezTo>
                  <a:pt x="21219" y="758297"/>
                  <a:pt x="0" y="737079"/>
                  <a:pt x="0" y="710904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22752" y="6149318"/>
            <a:ext cx="7120886" cy="758297"/>
          </a:xfrm>
          <a:prstGeom prst="rect">
            <a:avLst/>
          </a:prstGeom>
          <a:noFill/>
          <a:ln/>
        </p:spPr>
        <p:txBody>
          <a:bodyPr wrap="square" lIns="142181" tIns="142181" rIns="142181" bIns="142181" rtlCol="0" anchor="ctr"/>
          <a:lstStyle/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r>
              <a:rPr lang="en-US" sz="1306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fstat(</a:t>
            </a:r>
            <a:r>
              <a:rPr lang="en-US" sz="1306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r>
              <a:rPr lang="en-US" sz="1306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fd,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struct stat *</a:t>
            </a:r>
            <a:r>
              <a:rPr lang="en-US" sz="1306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statbuf);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2752" y="7049796"/>
            <a:ext cx="7132735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3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获取文件元数据信息（大小、权限、时间等）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55000" y="1522519"/>
            <a:ext cx="7523732" cy="3045038"/>
          </a:xfrm>
          <a:custGeom>
            <a:avLst/>
            <a:gdLst/>
            <a:ahLst/>
            <a:cxnLst/>
            <a:rect l="l" t="t" r="r" b="b"/>
            <a:pathLst>
              <a:path w="7523732" h="3045038">
                <a:moveTo>
                  <a:pt x="94792" y="0"/>
                </a:moveTo>
                <a:lnTo>
                  <a:pt x="7428940" y="0"/>
                </a:lnTo>
                <a:cubicBezTo>
                  <a:pt x="7481292" y="0"/>
                  <a:pt x="7523732" y="42440"/>
                  <a:pt x="7523732" y="94792"/>
                </a:cubicBezTo>
                <a:lnTo>
                  <a:pt x="7523732" y="2950246"/>
                </a:lnTo>
                <a:cubicBezTo>
                  <a:pt x="7523732" y="3002598"/>
                  <a:pt x="7481292" y="3045038"/>
                  <a:pt x="7428940" y="3045038"/>
                </a:cubicBezTo>
                <a:lnTo>
                  <a:pt x="94792" y="3045038"/>
                </a:lnTo>
                <a:cubicBezTo>
                  <a:pt x="42475" y="3045038"/>
                  <a:pt x="0" y="3002563"/>
                  <a:pt x="0" y="2950246"/>
                </a:cubicBezTo>
                <a:lnTo>
                  <a:pt x="0" y="94792"/>
                </a:lnTo>
                <a:cubicBezTo>
                  <a:pt x="0" y="42475"/>
                  <a:pt x="42475" y="0"/>
                  <a:pt x="94792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527513" y="1824653"/>
            <a:ext cx="213271" cy="213271"/>
          </a:xfrm>
          <a:custGeom>
            <a:avLst/>
            <a:gdLst/>
            <a:ahLst/>
            <a:cxnLst/>
            <a:rect l="l" t="t" r="r" b="b"/>
            <a:pathLst>
              <a:path w="213271" h="213271">
                <a:moveTo>
                  <a:pt x="209356" y="62732"/>
                </a:moveTo>
                <a:lnTo>
                  <a:pt x="169367" y="102720"/>
                </a:lnTo>
                <a:cubicBezTo>
                  <a:pt x="165535" y="106552"/>
                  <a:pt x="159828" y="107677"/>
                  <a:pt x="154830" y="105594"/>
                </a:cubicBezTo>
                <a:cubicBezTo>
                  <a:pt x="149831" y="103511"/>
                  <a:pt x="146624" y="98680"/>
                  <a:pt x="146624" y="93306"/>
                </a:cubicBezTo>
                <a:lnTo>
                  <a:pt x="146624" y="66647"/>
                </a:lnTo>
                <a:lnTo>
                  <a:pt x="13329" y="66647"/>
                </a:lnTo>
                <a:cubicBezTo>
                  <a:pt x="5957" y="66647"/>
                  <a:pt x="0" y="60691"/>
                  <a:pt x="0" y="53318"/>
                </a:cubicBezTo>
                <a:cubicBezTo>
                  <a:pt x="0" y="45945"/>
                  <a:pt x="5957" y="39988"/>
                  <a:pt x="13329" y="39988"/>
                </a:cubicBezTo>
                <a:lnTo>
                  <a:pt x="146624" y="39988"/>
                </a:lnTo>
                <a:lnTo>
                  <a:pt x="146624" y="13329"/>
                </a:lnTo>
                <a:cubicBezTo>
                  <a:pt x="146624" y="7956"/>
                  <a:pt x="149873" y="3082"/>
                  <a:pt x="154872" y="1000"/>
                </a:cubicBezTo>
                <a:cubicBezTo>
                  <a:pt x="159870" y="-1083"/>
                  <a:pt x="165577" y="83"/>
                  <a:pt x="169409" y="3874"/>
                </a:cubicBezTo>
                <a:lnTo>
                  <a:pt x="209397" y="43862"/>
                </a:lnTo>
                <a:cubicBezTo>
                  <a:pt x="214604" y="49069"/>
                  <a:pt x="214604" y="57525"/>
                  <a:pt x="209397" y="62732"/>
                </a:cubicBezTo>
                <a:close/>
                <a:moveTo>
                  <a:pt x="43862" y="209356"/>
                </a:moveTo>
                <a:lnTo>
                  <a:pt x="3874" y="169367"/>
                </a:lnTo>
                <a:cubicBezTo>
                  <a:pt x="-1333" y="164160"/>
                  <a:pt x="-1333" y="155705"/>
                  <a:pt x="3874" y="150498"/>
                </a:cubicBezTo>
                <a:lnTo>
                  <a:pt x="43862" y="110509"/>
                </a:lnTo>
                <a:cubicBezTo>
                  <a:pt x="47694" y="106677"/>
                  <a:pt x="53401" y="105553"/>
                  <a:pt x="58400" y="107635"/>
                </a:cubicBezTo>
                <a:cubicBezTo>
                  <a:pt x="63398" y="109718"/>
                  <a:pt x="66647" y="114592"/>
                  <a:pt x="66647" y="119965"/>
                </a:cubicBezTo>
                <a:lnTo>
                  <a:pt x="66647" y="146624"/>
                </a:lnTo>
                <a:lnTo>
                  <a:pt x="199942" y="146624"/>
                </a:lnTo>
                <a:cubicBezTo>
                  <a:pt x="207315" y="146624"/>
                  <a:pt x="213271" y="152581"/>
                  <a:pt x="213271" y="159953"/>
                </a:cubicBezTo>
                <a:cubicBezTo>
                  <a:pt x="213271" y="167326"/>
                  <a:pt x="207315" y="173283"/>
                  <a:pt x="199942" y="173283"/>
                </a:cubicBezTo>
                <a:lnTo>
                  <a:pt x="66647" y="173283"/>
                </a:lnTo>
                <a:lnTo>
                  <a:pt x="66647" y="199942"/>
                </a:lnTo>
                <a:cubicBezTo>
                  <a:pt x="66647" y="205315"/>
                  <a:pt x="63398" y="210189"/>
                  <a:pt x="58400" y="212271"/>
                </a:cubicBezTo>
                <a:cubicBezTo>
                  <a:pt x="53401" y="214354"/>
                  <a:pt x="47694" y="213188"/>
                  <a:pt x="43862" y="209397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770405" y="1765411"/>
            <a:ext cx="6872070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文件读写操作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497892" y="2239347"/>
            <a:ext cx="7037948" cy="758297"/>
          </a:xfrm>
          <a:custGeom>
            <a:avLst/>
            <a:gdLst/>
            <a:ahLst/>
            <a:cxnLst/>
            <a:rect l="l" t="t" r="r" b="b"/>
            <a:pathLst>
              <a:path w="7037948" h="758297">
                <a:moveTo>
                  <a:pt x="47394" y="0"/>
                </a:moveTo>
                <a:lnTo>
                  <a:pt x="6990554" y="0"/>
                </a:lnTo>
                <a:cubicBezTo>
                  <a:pt x="7016729" y="0"/>
                  <a:pt x="7037948" y="21219"/>
                  <a:pt x="7037948" y="47394"/>
                </a:cubicBezTo>
                <a:lnTo>
                  <a:pt x="7037948" y="710904"/>
                </a:lnTo>
                <a:cubicBezTo>
                  <a:pt x="7037948" y="737079"/>
                  <a:pt x="7016729" y="758297"/>
                  <a:pt x="6990554" y="758297"/>
                </a:cubicBezTo>
                <a:lnTo>
                  <a:pt x="47394" y="758297"/>
                </a:lnTo>
                <a:cubicBezTo>
                  <a:pt x="21219" y="758297"/>
                  <a:pt x="0" y="737079"/>
                  <a:pt x="0" y="710904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497892" y="2239347"/>
            <a:ext cx="7120886" cy="758297"/>
          </a:xfrm>
          <a:prstGeom prst="rect">
            <a:avLst/>
          </a:prstGeom>
          <a:noFill/>
          <a:ln/>
        </p:spPr>
        <p:txBody>
          <a:bodyPr wrap="square" lIns="142181" tIns="142181" rIns="142181" bIns="142181" rtlCol="0" anchor="ctr"/>
          <a:lstStyle/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ssize_t</a:t>
            </a:r>
            <a:r>
              <a:rPr lang="en-US" sz="1306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read(</a:t>
            </a:r>
            <a:r>
              <a:rPr lang="en-US" sz="1306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r>
              <a:rPr lang="en-US" sz="1306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fd,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void *</a:t>
            </a:r>
            <a:r>
              <a:rPr lang="en-US" sz="1306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buf, </a:t>
            </a:r>
            <a:r>
              <a:rPr lang="en-US" sz="1306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size_t</a:t>
            </a:r>
            <a:r>
              <a:rPr lang="en-US" sz="1306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count);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497892" y="3139825"/>
            <a:ext cx="7037948" cy="758297"/>
          </a:xfrm>
          <a:custGeom>
            <a:avLst/>
            <a:gdLst/>
            <a:ahLst/>
            <a:cxnLst/>
            <a:rect l="l" t="t" r="r" b="b"/>
            <a:pathLst>
              <a:path w="7037948" h="758297">
                <a:moveTo>
                  <a:pt x="47394" y="0"/>
                </a:moveTo>
                <a:lnTo>
                  <a:pt x="6990554" y="0"/>
                </a:lnTo>
                <a:cubicBezTo>
                  <a:pt x="7016729" y="0"/>
                  <a:pt x="7037948" y="21219"/>
                  <a:pt x="7037948" y="47394"/>
                </a:cubicBezTo>
                <a:lnTo>
                  <a:pt x="7037948" y="710904"/>
                </a:lnTo>
                <a:cubicBezTo>
                  <a:pt x="7037948" y="737079"/>
                  <a:pt x="7016729" y="758297"/>
                  <a:pt x="6990554" y="758297"/>
                </a:cubicBezTo>
                <a:lnTo>
                  <a:pt x="47394" y="758297"/>
                </a:lnTo>
                <a:cubicBezTo>
                  <a:pt x="21219" y="758297"/>
                  <a:pt x="0" y="737079"/>
                  <a:pt x="0" y="710904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497892" y="3139825"/>
            <a:ext cx="7120886" cy="758297"/>
          </a:xfrm>
          <a:prstGeom prst="rect">
            <a:avLst/>
          </a:prstGeom>
          <a:noFill/>
          <a:ln/>
        </p:spPr>
        <p:txBody>
          <a:bodyPr wrap="square" lIns="142181" tIns="142181" rIns="142181" bIns="142181" rtlCol="0" anchor="ctr"/>
          <a:lstStyle/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ssize_t</a:t>
            </a:r>
            <a:r>
              <a:rPr lang="en-US" sz="1306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write(</a:t>
            </a:r>
            <a:r>
              <a:rPr lang="en-US" sz="1306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r>
              <a:rPr lang="en-US" sz="1306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fd,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 void *</a:t>
            </a:r>
            <a:r>
              <a:rPr lang="en-US" sz="1306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buf, </a:t>
            </a:r>
            <a:r>
              <a:rPr lang="en-US" sz="1306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size_t</a:t>
            </a:r>
            <a:r>
              <a:rPr lang="en-US" sz="1306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count);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97892" y="4040303"/>
            <a:ext cx="7132735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3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从文件读取数据到缓冲区，将缓冲区数据写入文件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55000" y="4768980"/>
            <a:ext cx="7523732" cy="2144560"/>
          </a:xfrm>
          <a:custGeom>
            <a:avLst/>
            <a:gdLst/>
            <a:ahLst/>
            <a:cxnLst/>
            <a:rect l="l" t="t" r="r" b="b"/>
            <a:pathLst>
              <a:path w="7523732" h="2144560">
                <a:moveTo>
                  <a:pt x="94790" y="0"/>
                </a:moveTo>
                <a:lnTo>
                  <a:pt x="7428942" y="0"/>
                </a:lnTo>
                <a:cubicBezTo>
                  <a:pt x="7481293" y="0"/>
                  <a:pt x="7523732" y="42439"/>
                  <a:pt x="7523732" y="94790"/>
                </a:cubicBezTo>
                <a:lnTo>
                  <a:pt x="7523732" y="2049770"/>
                </a:lnTo>
                <a:cubicBezTo>
                  <a:pt x="7523732" y="2102121"/>
                  <a:pt x="7481293" y="2144560"/>
                  <a:pt x="7428942" y="2144560"/>
                </a:cubicBezTo>
                <a:lnTo>
                  <a:pt x="94790" y="2144560"/>
                </a:lnTo>
                <a:cubicBezTo>
                  <a:pt x="42439" y="2144560"/>
                  <a:pt x="0" y="2102121"/>
                  <a:pt x="0" y="2049770"/>
                </a:cubicBezTo>
                <a:lnTo>
                  <a:pt x="0" y="94790"/>
                </a:lnTo>
                <a:cubicBezTo>
                  <a:pt x="0" y="42474"/>
                  <a:pt x="42474" y="0"/>
                  <a:pt x="94790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554172" y="5071114"/>
            <a:ext cx="159953" cy="213271"/>
          </a:xfrm>
          <a:custGeom>
            <a:avLst/>
            <a:gdLst/>
            <a:ahLst/>
            <a:cxnLst/>
            <a:rect l="l" t="t" r="r" b="b"/>
            <a:pathLst>
              <a:path w="159953" h="213271">
                <a:moveTo>
                  <a:pt x="0" y="78560"/>
                </a:moveTo>
                <a:cubicBezTo>
                  <a:pt x="0" y="35156"/>
                  <a:pt x="35823" y="0"/>
                  <a:pt x="79977" y="0"/>
                </a:cubicBezTo>
                <a:cubicBezTo>
                  <a:pt x="124130" y="0"/>
                  <a:pt x="159953" y="35156"/>
                  <a:pt x="159953" y="78560"/>
                </a:cubicBezTo>
                <a:cubicBezTo>
                  <a:pt x="159953" y="128254"/>
                  <a:pt x="109885" y="187820"/>
                  <a:pt x="88974" y="210522"/>
                </a:cubicBezTo>
                <a:cubicBezTo>
                  <a:pt x="84059" y="215854"/>
                  <a:pt x="75853" y="215854"/>
                  <a:pt x="70938" y="210522"/>
                </a:cubicBezTo>
                <a:cubicBezTo>
                  <a:pt x="50027" y="187820"/>
                  <a:pt x="-42" y="128254"/>
                  <a:pt x="-42" y="78560"/>
                </a:cubicBezTo>
                <a:close/>
                <a:moveTo>
                  <a:pt x="79977" y="106636"/>
                </a:moveTo>
                <a:cubicBezTo>
                  <a:pt x="94690" y="106636"/>
                  <a:pt x="106636" y="94690"/>
                  <a:pt x="106636" y="79977"/>
                </a:cubicBezTo>
                <a:cubicBezTo>
                  <a:pt x="106636" y="65263"/>
                  <a:pt x="94690" y="53318"/>
                  <a:pt x="79977" y="53318"/>
                </a:cubicBezTo>
                <a:cubicBezTo>
                  <a:pt x="65263" y="53318"/>
                  <a:pt x="53318" y="65263"/>
                  <a:pt x="53318" y="79977"/>
                </a:cubicBezTo>
                <a:cubicBezTo>
                  <a:pt x="53318" y="94690"/>
                  <a:pt x="65263" y="106636"/>
                  <a:pt x="79977" y="106636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770405" y="5011872"/>
            <a:ext cx="6872070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文件定位操作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497892" y="5485808"/>
            <a:ext cx="7037948" cy="758297"/>
          </a:xfrm>
          <a:custGeom>
            <a:avLst/>
            <a:gdLst/>
            <a:ahLst/>
            <a:cxnLst/>
            <a:rect l="l" t="t" r="r" b="b"/>
            <a:pathLst>
              <a:path w="7037948" h="758297">
                <a:moveTo>
                  <a:pt x="47394" y="0"/>
                </a:moveTo>
                <a:lnTo>
                  <a:pt x="6990554" y="0"/>
                </a:lnTo>
                <a:cubicBezTo>
                  <a:pt x="7016729" y="0"/>
                  <a:pt x="7037948" y="21219"/>
                  <a:pt x="7037948" y="47394"/>
                </a:cubicBezTo>
                <a:lnTo>
                  <a:pt x="7037948" y="710904"/>
                </a:lnTo>
                <a:cubicBezTo>
                  <a:pt x="7037948" y="737079"/>
                  <a:pt x="7016729" y="758297"/>
                  <a:pt x="6990554" y="758297"/>
                </a:cubicBezTo>
                <a:lnTo>
                  <a:pt x="47394" y="758297"/>
                </a:lnTo>
                <a:cubicBezTo>
                  <a:pt x="21219" y="758297"/>
                  <a:pt x="0" y="737079"/>
                  <a:pt x="0" y="710904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497892" y="5485808"/>
            <a:ext cx="7120886" cy="758297"/>
          </a:xfrm>
          <a:prstGeom prst="rect">
            <a:avLst/>
          </a:prstGeom>
          <a:noFill/>
          <a:ln/>
        </p:spPr>
        <p:txBody>
          <a:bodyPr wrap="square" lIns="142181" tIns="142181" rIns="142181" bIns="142181" rtlCol="0" anchor="ctr"/>
          <a:lstStyle/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off_t</a:t>
            </a:r>
            <a:r>
              <a:rPr lang="en-US" sz="1306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lseek(</a:t>
            </a:r>
            <a:r>
              <a:rPr lang="en-US" sz="1306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r>
              <a:rPr lang="en-US" sz="1306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fd,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off_t</a:t>
            </a:r>
            <a:r>
              <a:rPr lang="en-US" sz="1306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offset, </a:t>
            </a:r>
            <a:r>
              <a:rPr lang="en-US" sz="1306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</a:t>
            </a:r>
            <a:r>
              <a:rPr lang="en-US" sz="1306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whence);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97892" y="6386286"/>
            <a:ext cx="7132735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3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设置文件读写位置偏移量，支持随机访问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97633" y="7938611"/>
            <a:ext cx="3661155" cy="1090052"/>
          </a:xfrm>
          <a:custGeom>
            <a:avLst/>
            <a:gdLst/>
            <a:ahLst/>
            <a:cxnLst/>
            <a:rect l="l" t="t" r="r" b="b"/>
            <a:pathLst>
              <a:path w="3661155" h="1090052">
                <a:moveTo>
                  <a:pt x="47394" y="0"/>
                </a:moveTo>
                <a:lnTo>
                  <a:pt x="3566364" y="0"/>
                </a:lnTo>
                <a:cubicBezTo>
                  <a:pt x="3618715" y="0"/>
                  <a:pt x="3661155" y="42439"/>
                  <a:pt x="3661155" y="94791"/>
                </a:cubicBezTo>
                <a:lnTo>
                  <a:pt x="3661155" y="995262"/>
                </a:lnTo>
                <a:cubicBezTo>
                  <a:pt x="3661155" y="1047613"/>
                  <a:pt x="3618715" y="1090052"/>
                  <a:pt x="3566364" y="1090052"/>
                </a:cubicBezTo>
                <a:lnTo>
                  <a:pt x="47394" y="1090052"/>
                </a:lnTo>
                <a:cubicBezTo>
                  <a:pt x="21219" y="1090052"/>
                  <a:pt x="0" y="1068834"/>
                  <a:pt x="0" y="1042659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497633" y="7938611"/>
            <a:ext cx="47394" cy="1090052"/>
          </a:xfrm>
          <a:custGeom>
            <a:avLst/>
            <a:gdLst/>
            <a:ahLst/>
            <a:cxnLst/>
            <a:rect l="l" t="t" r="r" b="b"/>
            <a:pathLst>
              <a:path w="47394" h="1090052">
                <a:moveTo>
                  <a:pt x="47394" y="0"/>
                </a:moveTo>
                <a:lnTo>
                  <a:pt x="47394" y="0"/>
                </a:lnTo>
                <a:lnTo>
                  <a:pt x="47394" y="1090052"/>
                </a:lnTo>
                <a:lnTo>
                  <a:pt x="47394" y="1090052"/>
                </a:lnTo>
                <a:cubicBezTo>
                  <a:pt x="21219" y="1090052"/>
                  <a:pt x="0" y="1068834"/>
                  <a:pt x="0" y="1042659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740525" y="8175579"/>
            <a:ext cx="236968" cy="236968"/>
          </a:xfrm>
          <a:custGeom>
            <a:avLst/>
            <a:gdLst/>
            <a:ahLst/>
            <a:cxnLst/>
            <a:rect l="l" t="t" r="r" b="b"/>
            <a:pathLst>
              <a:path w="236968" h="236968">
                <a:moveTo>
                  <a:pt x="118484" y="236968"/>
                </a:moveTo>
                <a:cubicBezTo>
                  <a:pt x="183877" y="236968"/>
                  <a:pt x="236968" y="183877"/>
                  <a:pt x="236968" y="118484"/>
                </a:cubicBezTo>
                <a:cubicBezTo>
                  <a:pt x="236968" y="53091"/>
                  <a:pt x="183877" y="0"/>
                  <a:pt x="118484" y="0"/>
                </a:cubicBezTo>
                <a:cubicBezTo>
                  <a:pt x="53091" y="0"/>
                  <a:pt x="0" y="53091"/>
                  <a:pt x="0" y="118484"/>
                </a:cubicBezTo>
                <a:cubicBezTo>
                  <a:pt x="0" y="183877"/>
                  <a:pt x="53091" y="236968"/>
                  <a:pt x="118484" y="236968"/>
                </a:cubicBezTo>
                <a:close/>
                <a:moveTo>
                  <a:pt x="157547" y="98444"/>
                </a:moveTo>
                <a:lnTo>
                  <a:pt x="120520" y="157685"/>
                </a:lnTo>
                <a:cubicBezTo>
                  <a:pt x="118577" y="160786"/>
                  <a:pt x="115244" y="162730"/>
                  <a:pt x="111588" y="162915"/>
                </a:cubicBezTo>
                <a:cubicBezTo>
                  <a:pt x="107931" y="163101"/>
                  <a:pt x="104414" y="161434"/>
                  <a:pt x="102239" y="158472"/>
                </a:cubicBezTo>
                <a:lnTo>
                  <a:pt x="80023" y="128851"/>
                </a:lnTo>
                <a:cubicBezTo>
                  <a:pt x="76320" y="123945"/>
                  <a:pt x="77339" y="117003"/>
                  <a:pt x="82245" y="113300"/>
                </a:cubicBezTo>
                <a:cubicBezTo>
                  <a:pt x="87151" y="109598"/>
                  <a:pt x="94093" y="110616"/>
                  <a:pt x="97796" y="115522"/>
                </a:cubicBezTo>
                <a:lnTo>
                  <a:pt x="110292" y="132184"/>
                </a:lnTo>
                <a:lnTo>
                  <a:pt x="138710" y="86688"/>
                </a:lnTo>
                <a:cubicBezTo>
                  <a:pt x="141949" y="81504"/>
                  <a:pt x="148799" y="79884"/>
                  <a:pt x="154029" y="83170"/>
                </a:cubicBezTo>
                <a:cubicBezTo>
                  <a:pt x="159259" y="86456"/>
                  <a:pt x="160833" y="93260"/>
                  <a:pt x="157547" y="9849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149294" y="8128185"/>
            <a:ext cx="746449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统一性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10904" y="8554727"/>
            <a:ext cx="3353096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3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为不同文件系统提供统一的访问接口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373354" y="7938611"/>
            <a:ext cx="3661155" cy="1090052"/>
          </a:xfrm>
          <a:custGeom>
            <a:avLst/>
            <a:gdLst/>
            <a:ahLst/>
            <a:cxnLst/>
            <a:rect l="l" t="t" r="r" b="b"/>
            <a:pathLst>
              <a:path w="3661155" h="1090052">
                <a:moveTo>
                  <a:pt x="47394" y="0"/>
                </a:moveTo>
                <a:lnTo>
                  <a:pt x="3566364" y="0"/>
                </a:lnTo>
                <a:cubicBezTo>
                  <a:pt x="3618715" y="0"/>
                  <a:pt x="3661155" y="42439"/>
                  <a:pt x="3661155" y="94791"/>
                </a:cubicBezTo>
                <a:lnTo>
                  <a:pt x="3661155" y="995262"/>
                </a:lnTo>
                <a:cubicBezTo>
                  <a:pt x="3661155" y="1047613"/>
                  <a:pt x="3618715" y="1090052"/>
                  <a:pt x="3566364" y="1090052"/>
                </a:cubicBezTo>
                <a:lnTo>
                  <a:pt x="47394" y="1090052"/>
                </a:lnTo>
                <a:cubicBezTo>
                  <a:pt x="21219" y="1090052"/>
                  <a:pt x="0" y="1068834"/>
                  <a:pt x="0" y="1042659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4373354" y="7938611"/>
            <a:ext cx="47394" cy="1090052"/>
          </a:xfrm>
          <a:custGeom>
            <a:avLst/>
            <a:gdLst/>
            <a:ahLst/>
            <a:cxnLst/>
            <a:rect l="l" t="t" r="r" b="b"/>
            <a:pathLst>
              <a:path w="47394" h="1090052">
                <a:moveTo>
                  <a:pt x="47394" y="0"/>
                </a:moveTo>
                <a:lnTo>
                  <a:pt x="47394" y="0"/>
                </a:lnTo>
                <a:lnTo>
                  <a:pt x="47394" y="1090052"/>
                </a:lnTo>
                <a:lnTo>
                  <a:pt x="47394" y="1090052"/>
                </a:lnTo>
                <a:cubicBezTo>
                  <a:pt x="21219" y="1090052"/>
                  <a:pt x="0" y="1068834"/>
                  <a:pt x="0" y="1042659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4616246" y="8175579"/>
            <a:ext cx="236968" cy="236968"/>
          </a:xfrm>
          <a:custGeom>
            <a:avLst/>
            <a:gdLst/>
            <a:ahLst/>
            <a:cxnLst/>
            <a:rect l="l" t="t" r="r" b="b"/>
            <a:pathLst>
              <a:path w="236968" h="236968">
                <a:moveTo>
                  <a:pt x="162869" y="129592"/>
                </a:moveTo>
                <a:lnTo>
                  <a:pt x="74515" y="129592"/>
                </a:lnTo>
                <a:cubicBezTo>
                  <a:pt x="75858" y="159444"/>
                  <a:pt x="82476" y="186936"/>
                  <a:pt x="91871" y="207069"/>
                </a:cubicBezTo>
                <a:cubicBezTo>
                  <a:pt x="97148" y="218409"/>
                  <a:pt x="102840" y="226415"/>
                  <a:pt x="108117" y="231321"/>
                </a:cubicBezTo>
                <a:cubicBezTo>
                  <a:pt x="113300" y="236181"/>
                  <a:pt x="116864" y="236968"/>
                  <a:pt x="118715" y="236968"/>
                </a:cubicBezTo>
                <a:cubicBezTo>
                  <a:pt x="120567" y="236968"/>
                  <a:pt x="124130" y="236181"/>
                  <a:pt x="129314" y="231321"/>
                </a:cubicBezTo>
                <a:cubicBezTo>
                  <a:pt x="134590" y="226415"/>
                  <a:pt x="140283" y="218362"/>
                  <a:pt x="145559" y="207069"/>
                </a:cubicBezTo>
                <a:cubicBezTo>
                  <a:pt x="154955" y="186936"/>
                  <a:pt x="161573" y="159444"/>
                  <a:pt x="162915" y="129592"/>
                </a:cubicBezTo>
                <a:close/>
                <a:moveTo>
                  <a:pt x="74469" y="107376"/>
                </a:moveTo>
                <a:lnTo>
                  <a:pt x="162823" y="107376"/>
                </a:lnTo>
                <a:cubicBezTo>
                  <a:pt x="161527" y="77524"/>
                  <a:pt x="154909" y="50032"/>
                  <a:pt x="145513" y="29899"/>
                </a:cubicBezTo>
                <a:cubicBezTo>
                  <a:pt x="140237" y="18606"/>
                  <a:pt x="134544" y="10552"/>
                  <a:pt x="129268" y="5647"/>
                </a:cubicBezTo>
                <a:cubicBezTo>
                  <a:pt x="124084" y="787"/>
                  <a:pt x="120520" y="0"/>
                  <a:pt x="118669" y="0"/>
                </a:cubicBezTo>
                <a:cubicBezTo>
                  <a:pt x="116818" y="0"/>
                  <a:pt x="113254" y="787"/>
                  <a:pt x="108070" y="5647"/>
                </a:cubicBezTo>
                <a:cubicBezTo>
                  <a:pt x="102794" y="10552"/>
                  <a:pt x="97101" y="18606"/>
                  <a:pt x="91825" y="29899"/>
                </a:cubicBezTo>
                <a:cubicBezTo>
                  <a:pt x="82430" y="50032"/>
                  <a:pt x="75811" y="77524"/>
                  <a:pt x="74469" y="107376"/>
                </a:cubicBezTo>
                <a:close/>
                <a:moveTo>
                  <a:pt x="52253" y="107376"/>
                </a:moveTo>
                <a:cubicBezTo>
                  <a:pt x="53873" y="67758"/>
                  <a:pt x="64102" y="30963"/>
                  <a:pt x="79051" y="6804"/>
                </a:cubicBezTo>
                <a:cubicBezTo>
                  <a:pt x="36425" y="21892"/>
                  <a:pt x="5045" y="60723"/>
                  <a:pt x="694" y="107376"/>
                </a:cubicBezTo>
                <a:lnTo>
                  <a:pt x="52253" y="107376"/>
                </a:lnTo>
                <a:close/>
                <a:moveTo>
                  <a:pt x="694" y="129592"/>
                </a:moveTo>
                <a:cubicBezTo>
                  <a:pt x="5045" y="176245"/>
                  <a:pt x="36425" y="215076"/>
                  <a:pt x="79051" y="230164"/>
                </a:cubicBezTo>
                <a:cubicBezTo>
                  <a:pt x="64102" y="206005"/>
                  <a:pt x="53873" y="169210"/>
                  <a:pt x="52253" y="129592"/>
                </a:cubicBezTo>
                <a:lnTo>
                  <a:pt x="694" y="129592"/>
                </a:lnTo>
                <a:close/>
                <a:moveTo>
                  <a:pt x="185085" y="129592"/>
                </a:moveTo>
                <a:cubicBezTo>
                  <a:pt x="183465" y="169210"/>
                  <a:pt x="173237" y="206005"/>
                  <a:pt x="158287" y="230164"/>
                </a:cubicBezTo>
                <a:cubicBezTo>
                  <a:pt x="200914" y="215030"/>
                  <a:pt x="232293" y="176245"/>
                  <a:pt x="236644" y="129592"/>
                </a:cubicBezTo>
                <a:lnTo>
                  <a:pt x="185085" y="129592"/>
                </a:lnTo>
                <a:close/>
                <a:moveTo>
                  <a:pt x="236644" y="107376"/>
                </a:moveTo>
                <a:cubicBezTo>
                  <a:pt x="232293" y="60723"/>
                  <a:pt x="200914" y="21892"/>
                  <a:pt x="158287" y="6804"/>
                </a:cubicBezTo>
                <a:cubicBezTo>
                  <a:pt x="173237" y="30963"/>
                  <a:pt x="183465" y="67758"/>
                  <a:pt x="185085" y="107376"/>
                </a:cubicBezTo>
                <a:lnTo>
                  <a:pt x="236644" y="107376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5025016" y="8128185"/>
            <a:ext cx="959720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可移植性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586625" y="8554727"/>
            <a:ext cx="3353096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3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应用程序可在不同操作系统间移植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49076" y="7938611"/>
            <a:ext cx="3661155" cy="1090052"/>
          </a:xfrm>
          <a:custGeom>
            <a:avLst/>
            <a:gdLst/>
            <a:ahLst/>
            <a:cxnLst/>
            <a:rect l="l" t="t" r="r" b="b"/>
            <a:pathLst>
              <a:path w="3661155" h="1090052">
                <a:moveTo>
                  <a:pt x="47394" y="0"/>
                </a:moveTo>
                <a:lnTo>
                  <a:pt x="3566364" y="0"/>
                </a:lnTo>
                <a:cubicBezTo>
                  <a:pt x="3618715" y="0"/>
                  <a:pt x="3661155" y="42439"/>
                  <a:pt x="3661155" y="94791"/>
                </a:cubicBezTo>
                <a:lnTo>
                  <a:pt x="3661155" y="995262"/>
                </a:lnTo>
                <a:cubicBezTo>
                  <a:pt x="3661155" y="1047613"/>
                  <a:pt x="3618715" y="1090052"/>
                  <a:pt x="3566364" y="1090052"/>
                </a:cubicBezTo>
                <a:lnTo>
                  <a:pt x="47394" y="1090052"/>
                </a:lnTo>
                <a:cubicBezTo>
                  <a:pt x="21219" y="1090052"/>
                  <a:pt x="0" y="1068834"/>
                  <a:pt x="0" y="1042659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8249076" y="7938611"/>
            <a:ext cx="47394" cy="1090052"/>
          </a:xfrm>
          <a:custGeom>
            <a:avLst/>
            <a:gdLst/>
            <a:ahLst/>
            <a:cxnLst/>
            <a:rect l="l" t="t" r="r" b="b"/>
            <a:pathLst>
              <a:path w="47394" h="1090052">
                <a:moveTo>
                  <a:pt x="47394" y="0"/>
                </a:moveTo>
                <a:lnTo>
                  <a:pt x="47394" y="0"/>
                </a:lnTo>
                <a:lnTo>
                  <a:pt x="47394" y="1090052"/>
                </a:lnTo>
                <a:lnTo>
                  <a:pt x="47394" y="1090052"/>
                </a:lnTo>
                <a:cubicBezTo>
                  <a:pt x="21219" y="1090052"/>
                  <a:pt x="0" y="1068834"/>
                  <a:pt x="0" y="1042659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521589" y="8175579"/>
            <a:ext cx="177726" cy="236968"/>
          </a:xfrm>
          <a:custGeom>
            <a:avLst/>
            <a:gdLst/>
            <a:ahLst/>
            <a:cxnLst/>
            <a:rect l="l" t="t" r="r" b="b"/>
            <a:pathLst>
              <a:path w="177726" h="236968">
                <a:moveTo>
                  <a:pt x="59242" y="44431"/>
                </a:moveTo>
                <a:lnTo>
                  <a:pt x="59242" y="74052"/>
                </a:lnTo>
                <a:lnTo>
                  <a:pt x="118484" y="74052"/>
                </a:lnTo>
                <a:lnTo>
                  <a:pt x="118484" y="44431"/>
                </a:lnTo>
                <a:cubicBezTo>
                  <a:pt x="118484" y="28094"/>
                  <a:pt x="105201" y="14810"/>
                  <a:pt x="88863" y="14810"/>
                </a:cubicBezTo>
                <a:cubicBezTo>
                  <a:pt x="72525" y="14810"/>
                  <a:pt x="59242" y="28094"/>
                  <a:pt x="59242" y="44431"/>
                </a:cubicBezTo>
                <a:close/>
                <a:moveTo>
                  <a:pt x="29621" y="74052"/>
                </a:moveTo>
                <a:lnTo>
                  <a:pt x="29621" y="44431"/>
                </a:lnTo>
                <a:cubicBezTo>
                  <a:pt x="29621" y="11710"/>
                  <a:pt x="56141" y="-14810"/>
                  <a:pt x="88863" y="-14810"/>
                </a:cubicBezTo>
                <a:cubicBezTo>
                  <a:pt x="121585" y="-14810"/>
                  <a:pt x="148105" y="11710"/>
                  <a:pt x="148105" y="44431"/>
                </a:cubicBezTo>
                <a:lnTo>
                  <a:pt x="148105" y="74052"/>
                </a:lnTo>
                <a:cubicBezTo>
                  <a:pt x="164443" y="74052"/>
                  <a:pt x="177726" y="87336"/>
                  <a:pt x="177726" y="103673"/>
                </a:cubicBezTo>
                <a:lnTo>
                  <a:pt x="177726" y="207347"/>
                </a:lnTo>
                <a:cubicBezTo>
                  <a:pt x="177726" y="223685"/>
                  <a:pt x="164443" y="236968"/>
                  <a:pt x="148105" y="236968"/>
                </a:cubicBezTo>
                <a:lnTo>
                  <a:pt x="29621" y="236968"/>
                </a:lnTo>
                <a:cubicBezTo>
                  <a:pt x="13283" y="236968"/>
                  <a:pt x="0" y="223685"/>
                  <a:pt x="0" y="207347"/>
                </a:cubicBezTo>
                <a:lnTo>
                  <a:pt x="0" y="103673"/>
                </a:lnTo>
                <a:cubicBezTo>
                  <a:pt x="0" y="87336"/>
                  <a:pt x="13283" y="74052"/>
                  <a:pt x="29621" y="74052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900738" y="8128185"/>
            <a:ext cx="746449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原子性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462347" y="8554727"/>
            <a:ext cx="3353096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3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某些操作保证原子性，如文件创建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2124797" y="7938611"/>
            <a:ext cx="3661155" cy="1090052"/>
          </a:xfrm>
          <a:custGeom>
            <a:avLst/>
            <a:gdLst/>
            <a:ahLst/>
            <a:cxnLst/>
            <a:rect l="l" t="t" r="r" b="b"/>
            <a:pathLst>
              <a:path w="3661155" h="1090052">
                <a:moveTo>
                  <a:pt x="47394" y="0"/>
                </a:moveTo>
                <a:lnTo>
                  <a:pt x="3566364" y="0"/>
                </a:lnTo>
                <a:cubicBezTo>
                  <a:pt x="3618715" y="0"/>
                  <a:pt x="3661155" y="42439"/>
                  <a:pt x="3661155" y="94791"/>
                </a:cubicBezTo>
                <a:lnTo>
                  <a:pt x="3661155" y="995262"/>
                </a:lnTo>
                <a:cubicBezTo>
                  <a:pt x="3661155" y="1047613"/>
                  <a:pt x="3618715" y="1090052"/>
                  <a:pt x="3566364" y="1090052"/>
                </a:cubicBezTo>
                <a:lnTo>
                  <a:pt x="47394" y="1090052"/>
                </a:lnTo>
                <a:cubicBezTo>
                  <a:pt x="21219" y="1090052"/>
                  <a:pt x="0" y="1068834"/>
                  <a:pt x="0" y="1042659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12124797" y="7938611"/>
            <a:ext cx="47394" cy="1090052"/>
          </a:xfrm>
          <a:custGeom>
            <a:avLst/>
            <a:gdLst/>
            <a:ahLst/>
            <a:cxnLst/>
            <a:rect l="l" t="t" r="r" b="b"/>
            <a:pathLst>
              <a:path w="47394" h="1090052">
                <a:moveTo>
                  <a:pt x="47394" y="0"/>
                </a:moveTo>
                <a:lnTo>
                  <a:pt x="47394" y="0"/>
                </a:lnTo>
                <a:lnTo>
                  <a:pt x="47394" y="1090052"/>
                </a:lnTo>
                <a:lnTo>
                  <a:pt x="47394" y="1090052"/>
                </a:lnTo>
                <a:cubicBezTo>
                  <a:pt x="21219" y="1090052"/>
                  <a:pt x="0" y="1068834"/>
                  <a:pt x="0" y="1042659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12367690" y="8175579"/>
            <a:ext cx="236968" cy="236968"/>
          </a:xfrm>
          <a:custGeom>
            <a:avLst/>
            <a:gdLst/>
            <a:ahLst/>
            <a:cxnLst/>
            <a:rect l="l" t="t" r="r" b="b"/>
            <a:pathLst>
              <a:path w="236968" h="236968">
                <a:moveTo>
                  <a:pt x="30500" y="105756"/>
                </a:moveTo>
                <a:cubicBezTo>
                  <a:pt x="36656" y="62713"/>
                  <a:pt x="73728" y="29621"/>
                  <a:pt x="118484" y="29621"/>
                </a:cubicBezTo>
                <a:cubicBezTo>
                  <a:pt x="143014" y="29621"/>
                  <a:pt x="165230" y="39572"/>
                  <a:pt x="181336" y="55632"/>
                </a:cubicBezTo>
                <a:cubicBezTo>
                  <a:pt x="181429" y="55724"/>
                  <a:pt x="181521" y="55817"/>
                  <a:pt x="181614" y="55910"/>
                </a:cubicBezTo>
                <a:lnTo>
                  <a:pt x="185131" y="59242"/>
                </a:lnTo>
                <a:lnTo>
                  <a:pt x="162962" y="59242"/>
                </a:lnTo>
                <a:cubicBezTo>
                  <a:pt x="154770" y="59242"/>
                  <a:pt x="148151" y="65860"/>
                  <a:pt x="148151" y="74052"/>
                </a:cubicBezTo>
                <a:cubicBezTo>
                  <a:pt x="148151" y="82245"/>
                  <a:pt x="154770" y="88863"/>
                  <a:pt x="162962" y="88863"/>
                </a:cubicBezTo>
                <a:lnTo>
                  <a:pt x="222204" y="88863"/>
                </a:lnTo>
                <a:cubicBezTo>
                  <a:pt x="230396" y="88863"/>
                  <a:pt x="237014" y="82245"/>
                  <a:pt x="237014" y="74052"/>
                </a:cubicBezTo>
                <a:lnTo>
                  <a:pt x="237014" y="14810"/>
                </a:lnTo>
                <a:cubicBezTo>
                  <a:pt x="237014" y="6618"/>
                  <a:pt x="230396" y="0"/>
                  <a:pt x="222204" y="0"/>
                </a:cubicBezTo>
                <a:cubicBezTo>
                  <a:pt x="214012" y="0"/>
                  <a:pt x="207393" y="6618"/>
                  <a:pt x="207393" y="14810"/>
                </a:cubicBezTo>
                <a:lnTo>
                  <a:pt x="207393" y="39526"/>
                </a:lnTo>
                <a:lnTo>
                  <a:pt x="202163" y="34573"/>
                </a:lnTo>
                <a:cubicBezTo>
                  <a:pt x="180734" y="13237"/>
                  <a:pt x="151113" y="0"/>
                  <a:pt x="118484" y="0"/>
                </a:cubicBezTo>
                <a:cubicBezTo>
                  <a:pt x="58779" y="0"/>
                  <a:pt x="9395" y="44154"/>
                  <a:pt x="1203" y="101591"/>
                </a:cubicBezTo>
                <a:cubicBezTo>
                  <a:pt x="46" y="109690"/>
                  <a:pt x="5647" y="117188"/>
                  <a:pt x="13746" y="118345"/>
                </a:cubicBezTo>
                <a:cubicBezTo>
                  <a:pt x="21845" y="119502"/>
                  <a:pt x="29343" y="113856"/>
                  <a:pt x="30500" y="105802"/>
                </a:cubicBezTo>
                <a:close/>
                <a:moveTo>
                  <a:pt x="235765" y="135377"/>
                </a:moveTo>
                <a:cubicBezTo>
                  <a:pt x="236922" y="127278"/>
                  <a:pt x="231275" y="119780"/>
                  <a:pt x="223222" y="118623"/>
                </a:cubicBezTo>
                <a:cubicBezTo>
                  <a:pt x="215169" y="117466"/>
                  <a:pt x="207625" y="123112"/>
                  <a:pt x="206468" y="131165"/>
                </a:cubicBezTo>
                <a:cubicBezTo>
                  <a:pt x="200312" y="174208"/>
                  <a:pt x="163239" y="207301"/>
                  <a:pt x="118484" y="207301"/>
                </a:cubicBezTo>
                <a:cubicBezTo>
                  <a:pt x="93954" y="207301"/>
                  <a:pt x="71738" y="197350"/>
                  <a:pt x="55632" y="181290"/>
                </a:cubicBezTo>
                <a:cubicBezTo>
                  <a:pt x="55539" y="181197"/>
                  <a:pt x="55447" y="181105"/>
                  <a:pt x="55354" y="181012"/>
                </a:cubicBezTo>
                <a:lnTo>
                  <a:pt x="51837" y="177680"/>
                </a:lnTo>
                <a:lnTo>
                  <a:pt x="74006" y="177680"/>
                </a:lnTo>
                <a:cubicBezTo>
                  <a:pt x="82198" y="177680"/>
                  <a:pt x="88817" y="171061"/>
                  <a:pt x="88817" y="162869"/>
                </a:cubicBezTo>
                <a:cubicBezTo>
                  <a:pt x="88817" y="154677"/>
                  <a:pt x="82198" y="148059"/>
                  <a:pt x="74006" y="148059"/>
                </a:cubicBezTo>
                <a:lnTo>
                  <a:pt x="14810" y="148105"/>
                </a:lnTo>
                <a:cubicBezTo>
                  <a:pt x="10876" y="148105"/>
                  <a:pt x="7081" y="149679"/>
                  <a:pt x="4304" y="152502"/>
                </a:cubicBezTo>
                <a:cubicBezTo>
                  <a:pt x="1527" y="155325"/>
                  <a:pt x="-46" y="159074"/>
                  <a:pt x="0" y="163054"/>
                </a:cubicBezTo>
                <a:lnTo>
                  <a:pt x="463" y="221833"/>
                </a:lnTo>
                <a:cubicBezTo>
                  <a:pt x="509" y="230026"/>
                  <a:pt x="7220" y="236598"/>
                  <a:pt x="15412" y="236505"/>
                </a:cubicBezTo>
                <a:cubicBezTo>
                  <a:pt x="23604" y="236413"/>
                  <a:pt x="30176" y="229748"/>
                  <a:pt x="30084" y="221556"/>
                </a:cubicBezTo>
                <a:lnTo>
                  <a:pt x="29899" y="197720"/>
                </a:lnTo>
                <a:lnTo>
                  <a:pt x="34851" y="202395"/>
                </a:lnTo>
                <a:cubicBezTo>
                  <a:pt x="56280" y="223731"/>
                  <a:pt x="85855" y="236968"/>
                  <a:pt x="118484" y="236968"/>
                </a:cubicBezTo>
                <a:cubicBezTo>
                  <a:pt x="178189" y="236968"/>
                  <a:pt x="227573" y="192814"/>
                  <a:pt x="235765" y="135377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12776459" y="8128185"/>
            <a:ext cx="959720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强一致性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2338069" y="8554727"/>
            <a:ext cx="3353096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3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读取总是返回最新写入的数据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504" y="628130"/>
            <a:ext cx="502504" cy="50250"/>
          </a:xfrm>
          <a:custGeom>
            <a:avLst/>
            <a:gdLst/>
            <a:ahLst/>
            <a:cxnLst/>
            <a:rect l="l" t="t" r="r" b="b"/>
            <a:pathLst>
              <a:path w="502504" h="50250">
                <a:moveTo>
                  <a:pt x="0" y="0"/>
                </a:moveTo>
                <a:lnTo>
                  <a:pt x="502504" y="0"/>
                </a:lnTo>
                <a:lnTo>
                  <a:pt x="502504" y="50250"/>
                </a:lnTo>
                <a:lnTo>
                  <a:pt x="0" y="5025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155759" y="502504"/>
            <a:ext cx="2550207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kern="0" spc="79" dirty="0">
                <a:solidFill>
                  <a:srgbClr val="D4A2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CAPACITY LIMITATIONS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504" y="904507"/>
            <a:ext cx="15477119" cy="50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61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传统文件系统的容量限制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785" y="1614294"/>
            <a:ext cx="10163141" cy="7401119"/>
          </a:xfrm>
          <a:custGeom>
            <a:avLst/>
            <a:gdLst/>
            <a:ahLst/>
            <a:cxnLst/>
            <a:rect l="l" t="t" r="r" b="b"/>
            <a:pathLst>
              <a:path w="10163141" h="7524995">
                <a:moveTo>
                  <a:pt x="100534" y="0"/>
                </a:moveTo>
                <a:lnTo>
                  <a:pt x="10062607" y="0"/>
                </a:lnTo>
                <a:cubicBezTo>
                  <a:pt x="10118130" y="0"/>
                  <a:pt x="10163141" y="45011"/>
                  <a:pt x="10163141" y="100534"/>
                </a:cubicBezTo>
                <a:lnTo>
                  <a:pt x="10163141" y="7424461"/>
                </a:lnTo>
                <a:cubicBezTo>
                  <a:pt x="10163141" y="7479985"/>
                  <a:pt x="10118130" y="7524995"/>
                  <a:pt x="10062607" y="7524995"/>
                </a:cubicBezTo>
                <a:lnTo>
                  <a:pt x="100534" y="7524995"/>
                </a:lnTo>
                <a:cubicBezTo>
                  <a:pt x="45011" y="7524995"/>
                  <a:pt x="0" y="7479985"/>
                  <a:pt x="0" y="7424461"/>
                </a:cubicBezTo>
                <a:lnTo>
                  <a:pt x="0" y="100534"/>
                </a:lnTo>
                <a:cubicBezTo>
                  <a:pt x="0" y="45048"/>
                  <a:pt x="45048" y="0"/>
                  <a:pt x="100534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13428" y="1922077"/>
            <a:ext cx="219845" cy="251252"/>
          </a:xfrm>
          <a:custGeom>
            <a:avLst/>
            <a:gdLst/>
            <a:ahLst/>
            <a:cxnLst/>
            <a:rect l="l" t="t" r="r" b="b"/>
            <a:pathLst>
              <a:path w="219845" h="251252">
                <a:moveTo>
                  <a:pt x="31406" y="15703"/>
                </a:moveTo>
                <a:cubicBezTo>
                  <a:pt x="14084" y="15703"/>
                  <a:pt x="0" y="29787"/>
                  <a:pt x="0" y="47110"/>
                </a:cubicBezTo>
                <a:lnTo>
                  <a:pt x="0" y="127638"/>
                </a:lnTo>
                <a:cubicBezTo>
                  <a:pt x="8882" y="121406"/>
                  <a:pt x="19727" y="117774"/>
                  <a:pt x="31406" y="117774"/>
                </a:cubicBezTo>
                <a:lnTo>
                  <a:pt x="188439" y="117774"/>
                </a:lnTo>
                <a:cubicBezTo>
                  <a:pt x="200118" y="117774"/>
                  <a:pt x="210963" y="121406"/>
                  <a:pt x="219845" y="127638"/>
                </a:cubicBezTo>
                <a:lnTo>
                  <a:pt x="219845" y="47110"/>
                </a:lnTo>
                <a:cubicBezTo>
                  <a:pt x="219845" y="29787"/>
                  <a:pt x="205762" y="15703"/>
                  <a:pt x="188439" y="15703"/>
                </a:cubicBezTo>
                <a:lnTo>
                  <a:pt x="31406" y="15703"/>
                </a:lnTo>
                <a:close/>
                <a:moveTo>
                  <a:pt x="219845" y="172736"/>
                </a:moveTo>
                <a:cubicBezTo>
                  <a:pt x="219845" y="155413"/>
                  <a:pt x="205762" y="141329"/>
                  <a:pt x="188439" y="141329"/>
                </a:cubicBezTo>
                <a:lnTo>
                  <a:pt x="31406" y="141329"/>
                </a:lnTo>
                <a:cubicBezTo>
                  <a:pt x="14084" y="141329"/>
                  <a:pt x="0" y="155413"/>
                  <a:pt x="0" y="172736"/>
                </a:cubicBezTo>
                <a:lnTo>
                  <a:pt x="0" y="204142"/>
                </a:lnTo>
                <a:cubicBezTo>
                  <a:pt x="0" y="221465"/>
                  <a:pt x="14084" y="235549"/>
                  <a:pt x="31406" y="235549"/>
                </a:cubicBezTo>
                <a:lnTo>
                  <a:pt x="188439" y="235549"/>
                </a:lnTo>
                <a:cubicBezTo>
                  <a:pt x="205762" y="235549"/>
                  <a:pt x="219845" y="221465"/>
                  <a:pt x="219845" y="204142"/>
                </a:cubicBezTo>
                <a:lnTo>
                  <a:pt x="219845" y="172736"/>
                </a:lnTo>
                <a:close/>
                <a:moveTo>
                  <a:pt x="109923" y="188439"/>
                </a:moveTo>
                <a:cubicBezTo>
                  <a:pt x="109923" y="179772"/>
                  <a:pt x="116959" y="172736"/>
                  <a:pt x="125626" y="172736"/>
                </a:cubicBezTo>
                <a:cubicBezTo>
                  <a:pt x="134293" y="172736"/>
                  <a:pt x="141329" y="179772"/>
                  <a:pt x="141329" y="188439"/>
                </a:cubicBezTo>
                <a:cubicBezTo>
                  <a:pt x="141329" y="197106"/>
                  <a:pt x="134293" y="204142"/>
                  <a:pt x="125626" y="204142"/>
                </a:cubicBezTo>
                <a:cubicBezTo>
                  <a:pt x="116959" y="204142"/>
                  <a:pt x="109923" y="197106"/>
                  <a:pt x="109923" y="188439"/>
                </a:cubicBezTo>
                <a:close/>
                <a:moveTo>
                  <a:pt x="172736" y="172736"/>
                </a:moveTo>
                <a:cubicBezTo>
                  <a:pt x="181403" y="172736"/>
                  <a:pt x="188439" y="179772"/>
                  <a:pt x="188439" y="188439"/>
                </a:cubicBezTo>
                <a:cubicBezTo>
                  <a:pt x="188439" y="197106"/>
                  <a:pt x="181403" y="204142"/>
                  <a:pt x="172736" y="204142"/>
                </a:cubicBezTo>
                <a:cubicBezTo>
                  <a:pt x="164069" y="204142"/>
                  <a:pt x="157032" y="197106"/>
                  <a:pt x="157032" y="188439"/>
                </a:cubicBezTo>
                <a:cubicBezTo>
                  <a:pt x="157032" y="179772"/>
                  <a:pt x="164069" y="172736"/>
                  <a:pt x="172736" y="172736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80383" y="1871827"/>
            <a:ext cx="9459635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7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文件系统容量上限对比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6318" y="2374331"/>
            <a:ext cx="9648074" cy="502504"/>
          </a:xfrm>
          <a:custGeom>
            <a:avLst/>
            <a:gdLst/>
            <a:ahLst/>
            <a:cxnLst/>
            <a:rect l="l" t="t" r="r" b="b"/>
            <a:pathLst>
              <a:path w="9648074" h="502504">
                <a:moveTo>
                  <a:pt x="50250" y="0"/>
                </a:moveTo>
                <a:lnTo>
                  <a:pt x="9597824" y="0"/>
                </a:lnTo>
                <a:cubicBezTo>
                  <a:pt x="9625576" y="0"/>
                  <a:pt x="9648074" y="22498"/>
                  <a:pt x="9648074" y="50250"/>
                </a:cubicBezTo>
                <a:lnTo>
                  <a:pt x="9648074" y="452253"/>
                </a:lnTo>
                <a:cubicBezTo>
                  <a:pt x="9648074" y="480006"/>
                  <a:pt x="9625576" y="502504"/>
                  <a:pt x="9597824" y="502504"/>
                </a:cubicBezTo>
                <a:lnTo>
                  <a:pt x="50250" y="502504"/>
                </a:lnTo>
                <a:cubicBezTo>
                  <a:pt x="22498" y="502504"/>
                  <a:pt x="0" y="480006"/>
                  <a:pt x="0" y="452253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67320" y="2474832"/>
            <a:ext cx="2298955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文件系统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66962" y="2474832"/>
            <a:ext cx="2298955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8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单文件最大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16855" y="2474832"/>
            <a:ext cx="2298955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8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分区最大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66747" y="2474832"/>
            <a:ext cx="2298955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8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1444" y="2977335"/>
            <a:ext cx="9622949" cy="502504"/>
          </a:xfrm>
          <a:custGeom>
            <a:avLst/>
            <a:gdLst/>
            <a:ahLst/>
            <a:cxnLst/>
            <a:rect l="l" t="t" r="r" b="b"/>
            <a:pathLst>
              <a:path w="9622949" h="502504">
                <a:moveTo>
                  <a:pt x="50250" y="0"/>
                </a:moveTo>
                <a:lnTo>
                  <a:pt x="9572699" y="0"/>
                </a:lnTo>
                <a:cubicBezTo>
                  <a:pt x="9600451" y="0"/>
                  <a:pt x="9622949" y="22498"/>
                  <a:pt x="9622949" y="50250"/>
                </a:cubicBezTo>
                <a:lnTo>
                  <a:pt x="9622949" y="452253"/>
                </a:lnTo>
                <a:cubicBezTo>
                  <a:pt x="9622949" y="480006"/>
                  <a:pt x="9600451" y="502504"/>
                  <a:pt x="9572699" y="502504"/>
                </a:cubicBezTo>
                <a:lnTo>
                  <a:pt x="50250" y="502504"/>
                </a:lnTo>
                <a:cubicBezTo>
                  <a:pt x="22498" y="502504"/>
                  <a:pt x="0" y="480006"/>
                  <a:pt x="0" y="452253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D4A237">
              <a:alpha val="5098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791444" y="2977335"/>
            <a:ext cx="50250" cy="502504"/>
          </a:xfrm>
          <a:custGeom>
            <a:avLst/>
            <a:gdLst/>
            <a:ahLst/>
            <a:cxnLst/>
            <a:rect l="l" t="t" r="r" b="b"/>
            <a:pathLst>
              <a:path w="50250" h="502504">
                <a:moveTo>
                  <a:pt x="50250" y="0"/>
                </a:moveTo>
                <a:lnTo>
                  <a:pt x="50250" y="0"/>
                </a:lnTo>
                <a:lnTo>
                  <a:pt x="50250" y="502504"/>
                </a:lnTo>
                <a:lnTo>
                  <a:pt x="50250" y="502504"/>
                </a:lnTo>
                <a:cubicBezTo>
                  <a:pt x="22498" y="502504"/>
                  <a:pt x="0" y="480006"/>
                  <a:pt x="0" y="452253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017570" y="3077836"/>
            <a:ext cx="228639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FAT32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04650" y="3077836"/>
            <a:ext cx="228639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8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 GB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41980" y="3077836"/>
            <a:ext cx="228639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8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 TB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79310" y="3077836"/>
            <a:ext cx="228639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83" dirty="0">
                <a:solidFill>
                  <a:srgbClr val="F8F9FA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U盘、嵌入式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91444" y="3580340"/>
            <a:ext cx="9622949" cy="502504"/>
          </a:xfrm>
          <a:custGeom>
            <a:avLst/>
            <a:gdLst/>
            <a:ahLst/>
            <a:cxnLst/>
            <a:rect l="l" t="t" r="r" b="b"/>
            <a:pathLst>
              <a:path w="9622949" h="502504">
                <a:moveTo>
                  <a:pt x="50250" y="0"/>
                </a:moveTo>
                <a:lnTo>
                  <a:pt x="9572699" y="0"/>
                </a:lnTo>
                <a:cubicBezTo>
                  <a:pt x="9600451" y="0"/>
                  <a:pt x="9622949" y="22498"/>
                  <a:pt x="9622949" y="50250"/>
                </a:cubicBezTo>
                <a:lnTo>
                  <a:pt x="9622949" y="452253"/>
                </a:lnTo>
                <a:cubicBezTo>
                  <a:pt x="9622949" y="480006"/>
                  <a:pt x="9600451" y="502504"/>
                  <a:pt x="9572699" y="502504"/>
                </a:cubicBezTo>
                <a:lnTo>
                  <a:pt x="50250" y="502504"/>
                </a:lnTo>
                <a:cubicBezTo>
                  <a:pt x="22498" y="502504"/>
                  <a:pt x="0" y="480006"/>
                  <a:pt x="0" y="452253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49505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791444" y="3580340"/>
            <a:ext cx="50250" cy="502504"/>
          </a:xfrm>
          <a:custGeom>
            <a:avLst/>
            <a:gdLst/>
            <a:ahLst/>
            <a:cxnLst/>
            <a:rect l="l" t="t" r="r" b="b"/>
            <a:pathLst>
              <a:path w="50250" h="502504">
                <a:moveTo>
                  <a:pt x="50250" y="0"/>
                </a:moveTo>
                <a:lnTo>
                  <a:pt x="50250" y="0"/>
                </a:lnTo>
                <a:lnTo>
                  <a:pt x="50250" y="502504"/>
                </a:lnTo>
                <a:lnTo>
                  <a:pt x="50250" y="502504"/>
                </a:lnTo>
                <a:cubicBezTo>
                  <a:pt x="22498" y="502504"/>
                  <a:pt x="0" y="480006"/>
                  <a:pt x="0" y="452253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17570" y="3680841"/>
            <a:ext cx="228639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NTFS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04650" y="3680841"/>
            <a:ext cx="228639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8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16 TB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41980" y="3680841"/>
            <a:ext cx="228639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8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256 TB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979310" y="3680841"/>
            <a:ext cx="228639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83" dirty="0">
                <a:solidFill>
                  <a:srgbClr val="F8F9FA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Windows 桌面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91444" y="4183345"/>
            <a:ext cx="9622949" cy="502504"/>
          </a:xfrm>
          <a:custGeom>
            <a:avLst/>
            <a:gdLst/>
            <a:ahLst/>
            <a:cxnLst/>
            <a:rect l="l" t="t" r="r" b="b"/>
            <a:pathLst>
              <a:path w="9622949" h="502504">
                <a:moveTo>
                  <a:pt x="50250" y="0"/>
                </a:moveTo>
                <a:lnTo>
                  <a:pt x="9572699" y="0"/>
                </a:lnTo>
                <a:cubicBezTo>
                  <a:pt x="9600451" y="0"/>
                  <a:pt x="9622949" y="22498"/>
                  <a:pt x="9622949" y="50250"/>
                </a:cubicBezTo>
                <a:lnTo>
                  <a:pt x="9622949" y="452253"/>
                </a:lnTo>
                <a:cubicBezTo>
                  <a:pt x="9622949" y="480006"/>
                  <a:pt x="9600451" y="502504"/>
                  <a:pt x="9572699" y="502504"/>
                </a:cubicBezTo>
                <a:lnTo>
                  <a:pt x="50250" y="502504"/>
                </a:lnTo>
                <a:cubicBezTo>
                  <a:pt x="22498" y="502504"/>
                  <a:pt x="0" y="480006"/>
                  <a:pt x="0" y="452253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49505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791444" y="4183345"/>
            <a:ext cx="50250" cy="502504"/>
          </a:xfrm>
          <a:custGeom>
            <a:avLst/>
            <a:gdLst/>
            <a:ahLst/>
            <a:cxnLst/>
            <a:rect l="l" t="t" r="r" b="b"/>
            <a:pathLst>
              <a:path w="50250" h="502504">
                <a:moveTo>
                  <a:pt x="50250" y="0"/>
                </a:moveTo>
                <a:lnTo>
                  <a:pt x="50250" y="0"/>
                </a:lnTo>
                <a:lnTo>
                  <a:pt x="50250" y="502504"/>
                </a:lnTo>
                <a:lnTo>
                  <a:pt x="50250" y="502504"/>
                </a:lnTo>
                <a:cubicBezTo>
                  <a:pt x="22498" y="502504"/>
                  <a:pt x="0" y="480006"/>
                  <a:pt x="0" y="452253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017570" y="4283845"/>
            <a:ext cx="228639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ext3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04650" y="4283845"/>
            <a:ext cx="228639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8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 TB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41980" y="4283845"/>
            <a:ext cx="228639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8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32 TB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979310" y="4283845"/>
            <a:ext cx="228639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83" dirty="0">
                <a:solidFill>
                  <a:srgbClr val="F8F9FA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Linux 早期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91444" y="4786349"/>
            <a:ext cx="9622949" cy="502504"/>
          </a:xfrm>
          <a:custGeom>
            <a:avLst/>
            <a:gdLst/>
            <a:ahLst/>
            <a:cxnLst/>
            <a:rect l="l" t="t" r="r" b="b"/>
            <a:pathLst>
              <a:path w="9622949" h="502504">
                <a:moveTo>
                  <a:pt x="50250" y="0"/>
                </a:moveTo>
                <a:lnTo>
                  <a:pt x="9572699" y="0"/>
                </a:lnTo>
                <a:cubicBezTo>
                  <a:pt x="9600451" y="0"/>
                  <a:pt x="9622949" y="22498"/>
                  <a:pt x="9622949" y="50250"/>
                </a:cubicBezTo>
                <a:lnTo>
                  <a:pt x="9622949" y="452253"/>
                </a:lnTo>
                <a:cubicBezTo>
                  <a:pt x="9622949" y="480006"/>
                  <a:pt x="9600451" y="502504"/>
                  <a:pt x="9572699" y="502504"/>
                </a:cubicBezTo>
                <a:lnTo>
                  <a:pt x="50250" y="502504"/>
                </a:lnTo>
                <a:cubicBezTo>
                  <a:pt x="22498" y="502504"/>
                  <a:pt x="0" y="480006"/>
                  <a:pt x="0" y="452253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49505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791444" y="4786349"/>
            <a:ext cx="50250" cy="502504"/>
          </a:xfrm>
          <a:custGeom>
            <a:avLst/>
            <a:gdLst/>
            <a:ahLst/>
            <a:cxnLst/>
            <a:rect l="l" t="t" r="r" b="b"/>
            <a:pathLst>
              <a:path w="50250" h="502504">
                <a:moveTo>
                  <a:pt x="50250" y="0"/>
                </a:moveTo>
                <a:lnTo>
                  <a:pt x="50250" y="0"/>
                </a:lnTo>
                <a:lnTo>
                  <a:pt x="50250" y="502504"/>
                </a:lnTo>
                <a:lnTo>
                  <a:pt x="50250" y="502504"/>
                </a:lnTo>
                <a:cubicBezTo>
                  <a:pt x="22498" y="502504"/>
                  <a:pt x="0" y="480006"/>
                  <a:pt x="0" y="452253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017570" y="4886850"/>
            <a:ext cx="228639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ext4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304650" y="4886850"/>
            <a:ext cx="228639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8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16 TB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641980" y="4886850"/>
            <a:ext cx="228639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8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 EB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979310" y="4886850"/>
            <a:ext cx="228639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83" dirty="0">
                <a:solidFill>
                  <a:srgbClr val="F8F9FA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现代 Linux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91444" y="5389354"/>
            <a:ext cx="9622949" cy="502504"/>
          </a:xfrm>
          <a:custGeom>
            <a:avLst/>
            <a:gdLst/>
            <a:ahLst/>
            <a:cxnLst/>
            <a:rect l="l" t="t" r="r" b="b"/>
            <a:pathLst>
              <a:path w="9622949" h="502504">
                <a:moveTo>
                  <a:pt x="50250" y="0"/>
                </a:moveTo>
                <a:lnTo>
                  <a:pt x="9572699" y="0"/>
                </a:lnTo>
                <a:cubicBezTo>
                  <a:pt x="9600451" y="0"/>
                  <a:pt x="9622949" y="22498"/>
                  <a:pt x="9622949" y="50250"/>
                </a:cubicBezTo>
                <a:lnTo>
                  <a:pt x="9622949" y="452253"/>
                </a:lnTo>
                <a:cubicBezTo>
                  <a:pt x="9622949" y="480006"/>
                  <a:pt x="9600451" y="502504"/>
                  <a:pt x="9572699" y="502504"/>
                </a:cubicBezTo>
                <a:lnTo>
                  <a:pt x="50250" y="502504"/>
                </a:lnTo>
                <a:cubicBezTo>
                  <a:pt x="22498" y="502504"/>
                  <a:pt x="0" y="480006"/>
                  <a:pt x="0" y="452253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D4A237">
              <a:alpha val="5098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791444" y="5389354"/>
            <a:ext cx="50250" cy="502504"/>
          </a:xfrm>
          <a:custGeom>
            <a:avLst/>
            <a:gdLst/>
            <a:ahLst/>
            <a:cxnLst/>
            <a:rect l="l" t="t" r="r" b="b"/>
            <a:pathLst>
              <a:path w="50250" h="502504">
                <a:moveTo>
                  <a:pt x="50250" y="0"/>
                </a:moveTo>
                <a:lnTo>
                  <a:pt x="50250" y="0"/>
                </a:lnTo>
                <a:lnTo>
                  <a:pt x="50250" y="502504"/>
                </a:lnTo>
                <a:lnTo>
                  <a:pt x="50250" y="502504"/>
                </a:lnTo>
                <a:cubicBezTo>
                  <a:pt x="22498" y="502504"/>
                  <a:pt x="0" y="480006"/>
                  <a:pt x="0" y="452253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017570" y="5489855"/>
            <a:ext cx="228639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XFS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304650" y="5489855"/>
            <a:ext cx="228639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8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 EB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641980" y="5489855"/>
            <a:ext cx="228639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8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 EB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979310" y="5489855"/>
            <a:ext cx="228639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83" dirty="0">
                <a:solidFill>
                  <a:srgbClr val="F8F9FA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企业级存储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938488" y="1614294"/>
            <a:ext cx="4811474" cy="3278838"/>
          </a:xfrm>
          <a:custGeom>
            <a:avLst/>
            <a:gdLst/>
            <a:ahLst/>
            <a:cxnLst/>
            <a:rect l="l" t="t" r="r" b="b"/>
            <a:pathLst>
              <a:path w="4811474" h="3278838">
                <a:moveTo>
                  <a:pt x="100496" y="0"/>
                </a:moveTo>
                <a:lnTo>
                  <a:pt x="4710978" y="0"/>
                </a:lnTo>
                <a:cubicBezTo>
                  <a:pt x="4766481" y="0"/>
                  <a:pt x="4811474" y="44994"/>
                  <a:pt x="4811474" y="100496"/>
                </a:cubicBezTo>
                <a:lnTo>
                  <a:pt x="4811474" y="3178341"/>
                </a:lnTo>
                <a:cubicBezTo>
                  <a:pt x="4811474" y="3233844"/>
                  <a:pt x="4766481" y="3278838"/>
                  <a:pt x="4710978" y="3278838"/>
                </a:cubicBezTo>
                <a:lnTo>
                  <a:pt x="100496" y="3278838"/>
                </a:lnTo>
                <a:cubicBezTo>
                  <a:pt x="44994" y="3278838"/>
                  <a:pt x="0" y="3233844"/>
                  <a:pt x="0" y="3178341"/>
                </a:cubicBezTo>
                <a:lnTo>
                  <a:pt x="0" y="100496"/>
                </a:lnTo>
                <a:cubicBezTo>
                  <a:pt x="0" y="45031"/>
                  <a:pt x="45031" y="0"/>
                  <a:pt x="100496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11241561" y="1934640"/>
            <a:ext cx="197861" cy="226127"/>
          </a:xfrm>
          <a:custGeom>
            <a:avLst/>
            <a:gdLst/>
            <a:ahLst/>
            <a:cxnLst/>
            <a:rect l="l" t="t" r="r" b="b"/>
            <a:pathLst>
              <a:path w="197861" h="226127">
                <a:moveTo>
                  <a:pt x="28266" y="14133"/>
                </a:moveTo>
                <a:cubicBezTo>
                  <a:pt x="12675" y="14133"/>
                  <a:pt x="0" y="26808"/>
                  <a:pt x="0" y="42399"/>
                </a:cubicBezTo>
                <a:lnTo>
                  <a:pt x="0" y="70665"/>
                </a:lnTo>
                <a:cubicBezTo>
                  <a:pt x="0" y="86255"/>
                  <a:pt x="12675" y="98930"/>
                  <a:pt x="28266" y="98930"/>
                </a:cubicBezTo>
                <a:lnTo>
                  <a:pt x="169595" y="98930"/>
                </a:lnTo>
                <a:cubicBezTo>
                  <a:pt x="185185" y="98930"/>
                  <a:pt x="197861" y="86255"/>
                  <a:pt x="197861" y="70665"/>
                </a:cubicBezTo>
                <a:lnTo>
                  <a:pt x="197861" y="42399"/>
                </a:lnTo>
                <a:cubicBezTo>
                  <a:pt x="197861" y="26808"/>
                  <a:pt x="185185" y="14133"/>
                  <a:pt x="169595" y="14133"/>
                </a:cubicBezTo>
                <a:lnTo>
                  <a:pt x="28266" y="14133"/>
                </a:lnTo>
                <a:close/>
                <a:moveTo>
                  <a:pt x="123663" y="45932"/>
                </a:moveTo>
                <a:cubicBezTo>
                  <a:pt x="129513" y="45932"/>
                  <a:pt x="134263" y="50682"/>
                  <a:pt x="134263" y="56532"/>
                </a:cubicBezTo>
                <a:cubicBezTo>
                  <a:pt x="134263" y="62382"/>
                  <a:pt x="129513" y="67131"/>
                  <a:pt x="123663" y="67131"/>
                </a:cubicBezTo>
                <a:cubicBezTo>
                  <a:pt x="117813" y="67131"/>
                  <a:pt x="113063" y="62382"/>
                  <a:pt x="113063" y="56532"/>
                </a:cubicBezTo>
                <a:cubicBezTo>
                  <a:pt x="113063" y="50682"/>
                  <a:pt x="117813" y="45932"/>
                  <a:pt x="123663" y="45932"/>
                </a:cubicBezTo>
                <a:close/>
                <a:moveTo>
                  <a:pt x="148396" y="56532"/>
                </a:moveTo>
                <a:cubicBezTo>
                  <a:pt x="148396" y="50682"/>
                  <a:pt x="153145" y="45932"/>
                  <a:pt x="158995" y="45932"/>
                </a:cubicBezTo>
                <a:cubicBezTo>
                  <a:pt x="164845" y="45932"/>
                  <a:pt x="169595" y="50682"/>
                  <a:pt x="169595" y="56532"/>
                </a:cubicBezTo>
                <a:cubicBezTo>
                  <a:pt x="169595" y="62382"/>
                  <a:pt x="164845" y="67131"/>
                  <a:pt x="158995" y="67131"/>
                </a:cubicBezTo>
                <a:cubicBezTo>
                  <a:pt x="153145" y="67131"/>
                  <a:pt x="148396" y="62382"/>
                  <a:pt x="148396" y="56532"/>
                </a:cubicBezTo>
                <a:close/>
                <a:moveTo>
                  <a:pt x="28266" y="127196"/>
                </a:moveTo>
                <a:cubicBezTo>
                  <a:pt x="12675" y="127196"/>
                  <a:pt x="0" y="139872"/>
                  <a:pt x="0" y="155462"/>
                </a:cubicBezTo>
                <a:lnTo>
                  <a:pt x="0" y="183728"/>
                </a:lnTo>
                <a:cubicBezTo>
                  <a:pt x="0" y="199318"/>
                  <a:pt x="12675" y="211994"/>
                  <a:pt x="28266" y="211994"/>
                </a:cubicBezTo>
                <a:lnTo>
                  <a:pt x="169595" y="211994"/>
                </a:lnTo>
                <a:cubicBezTo>
                  <a:pt x="185185" y="211994"/>
                  <a:pt x="197861" y="199318"/>
                  <a:pt x="197861" y="183728"/>
                </a:cubicBezTo>
                <a:lnTo>
                  <a:pt x="197861" y="155462"/>
                </a:lnTo>
                <a:cubicBezTo>
                  <a:pt x="197861" y="139872"/>
                  <a:pt x="185185" y="127196"/>
                  <a:pt x="169595" y="127196"/>
                </a:cubicBezTo>
                <a:lnTo>
                  <a:pt x="28266" y="127196"/>
                </a:lnTo>
                <a:close/>
                <a:moveTo>
                  <a:pt x="123663" y="158995"/>
                </a:moveTo>
                <a:cubicBezTo>
                  <a:pt x="129513" y="158995"/>
                  <a:pt x="134263" y="163745"/>
                  <a:pt x="134263" y="169595"/>
                </a:cubicBezTo>
                <a:cubicBezTo>
                  <a:pt x="134263" y="175445"/>
                  <a:pt x="129513" y="180195"/>
                  <a:pt x="123663" y="180195"/>
                </a:cubicBezTo>
                <a:cubicBezTo>
                  <a:pt x="117813" y="180195"/>
                  <a:pt x="113063" y="175445"/>
                  <a:pt x="113063" y="169595"/>
                </a:cubicBezTo>
                <a:cubicBezTo>
                  <a:pt x="113063" y="163745"/>
                  <a:pt x="117813" y="158995"/>
                  <a:pt x="123663" y="158995"/>
                </a:cubicBezTo>
                <a:close/>
                <a:moveTo>
                  <a:pt x="148396" y="169595"/>
                </a:moveTo>
                <a:cubicBezTo>
                  <a:pt x="148396" y="163745"/>
                  <a:pt x="153145" y="158995"/>
                  <a:pt x="158995" y="158995"/>
                </a:cubicBezTo>
                <a:cubicBezTo>
                  <a:pt x="164845" y="158995"/>
                  <a:pt x="169595" y="163745"/>
                  <a:pt x="169595" y="169595"/>
                </a:cubicBezTo>
                <a:cubicBezTo>
                  <a:pt x="169595" y="175445"/>
                  <a:pt x="164845" y="180195"/>
                  <a:pt x="158995" y="180195"/>
                </a:cubicBezTo>
                <a:cubicBezTo>
                  <a:pt x="153145" y="180195"/>
                  <a:pt x="148396" y="175445"/>
                  <a:pt x="148396" y="169595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1484961" y="1871827"/>
            <a:ext cx="4120532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1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2003 年硬件限制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1196022" y="2374331"/>
            <a:ext cx="4296408" cy="653255"/>
          </a:xfrm>
          <a:custGeom>
            <a:avLst/>
            <a:gdLst/>
            <a:ahLst/>
            <a:cxnLst/>
            <a:rect l="l" t="t" r="r" b="b"/>
            <a:pathLst>
              <a:path w="4296408" h="653255">
                <a:moveTo>
                  <a:pt x="50248" y="0"/>
                </a:moveTo>
                <a:lnTo>
                  <a:pt x="4246160" y="0"/>
                </a:lnTo>
                <a:cubicBezTo>
                  <a:pt x="4273911" y="0"/>
                  <a:pt x="4296408" y="22497"/>
                  <a:pt x="4296408" y="50248"/>
                </a:cubicBezTo>
                <a:lnTo>
                  <a:pt x="4296408" y="603007"/>
                </a:lnTo>
                <a:cubicBezTo>
                  <a:pt x="4296408" y="630758"/>
                  <a:pt x="4273911" y="653255"/>
                  <a:pt x="4246160" y="653255"/>
                </a:cubicBezTo>
                <a:lnTo>
                  <a:pt x="50248" y="653255"/>
                </a:lnTo>
                <a:cubicBezTo>
                  <a:pt x="22497" y="653255"/>
                  <a:pt x="0" y="630758"/>
                  <a:pt x="0" y="603007"/>
                </a:cubicBezTo>
                <a:lnTo>
                  <a:pt x="0" y="50248"/>
                </a:lnTo>
                <a:cubicBezTo>
                  <a:pt x="0" y="22497"/>
                  <a:pt x="22497" y="0"/>
                  <a:pt x="50248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1346773" y="2550207"/>
            <a:ext cx="1306510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单块硬盘容量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4165996" y="2525082"/>
            <a:ext cx="1293947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1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80-200 GB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1196022" y="3178337"/>
            <a:ext cx="4296408" cy="653255"/>
          </a:xfrm>
          <a:custGeom>
            <a:avLst/>
            <a:gdLst/>
            <a:ahLst/>
            <a:cxnLst/>
            <a:rect l="l" t="t" r="r" b="b"/>
            <a:pathLst>
              <a:path w="4296408" h="653255">
                <a:moveTo>
                  <a:pt x="50248" y="0"/>
                </a:moveTo>
                <a:lnTo>
                  <a:pt x="4246160" y="0"/>
                </a:lnTo>
                <a:cubicBezTo>
                  <a:pt x="4273911" y="0"/>
                  <a:pt x="4296408" y="22497"/>
                  <a:pt x="4296408" y="50248"/>
                </a:cubicBezTo>
                <a:lnTo>
                  <a:pt x="4296408" y="603007"/>
                </a:lnTo>
                <a:cubicBezTo>
                  <a:pt x="4296408" y="630758"/>
                  <a:pt x="4273911" y="653255"/>
                  <a:pt x="4246160" y="653255"/>
                </a:cubicBezTo>
                <a:lnTo>
                  <a:pt x="50248" y="653255"/>
                </a:lnTo>
                <a:cubicBezTo>
                  <a:pt x="22497" y="653255"/>
                  <a:pt x="0" y="630758"/>
                  <a:pt x="0" y="603007"/>
                </a:cubicBezTo>
                <a:lnTo>
                  <a:pt x="0" y="50248"/>
                </a:lnTo>
                <a:cubicBezTo>
                  <a:pt x="0" y="22497"/>
                  <a:pt x="22497" y="0"/>
                  <a:pt x="50248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1346773" y="3354213"/>
            <a:ext cx="1306510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服务器扩展性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4211045" y="3329088"/>
            <a:ext cx="1243697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1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数十块硬盘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1196022" y="3982343"/>
            <a:ext cx="4296408" cy="653255"/>
          </a:xfrm>
          <a:custGeom>
            <a:avLst/>
            <a:gdLst/>
            <a:ahLst/>
            <a:cxnLst/>
            <a:rect l="l" t="t" r="r" b="b"/>
            <a:pathLst>
              <a:path w="4296408" h="653255">
                <a:moveTo>
                  <a:pt x="50248" y="0"/>
                </a:moveTo>
                <a:lnTo>
                  <a:pt x="4246160" y="0"/>
                </a:lnTo>
                <a:cubicBezTo>
                  <a:pt x="4273911" y="0"/>
                  <a:pt x="4296408" y="22497"/>
                  <a:pt x="4296408" y="50248"/>
                </a:cubicBezTo>
                <a:lnTo>
                  <a:pt x="4296408" y="603007"/>
                </a:lnTo>
                <a:cubicBezTo>
                  <a:pt x="4296408" y="630758"/>
                  <a:pt x="4273911" y="653255"/>
                  <a:pt x="4246160" y="653255"/>
                </a:cubicBezTo>
                <a:lnTo>
                  <a:pt x="50248" y="653255"/>
                </a:lnTo>
                <a:cubicBezTo>
                  <a:pt x="22497" y="653255"/>
                  <a:pt x="0" y="630758"/>
                  <a:pt x="0" y="603007"/>
                </a:cubicBezTo>
                <a:lnTo>
                  <a:pt x="0" y="50248"/>
                </a:lnTo>
                <a:cubicBezTo>
                  <a:pt x="0" y="22497"/>
                  <a:pt x="22497" y="0"/>
                  <a:pt x="50248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11346773" y="4158219"/>
            <a:ext cx="1306510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单机存储上限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4765271" y="4133094"/>
            <a:ext cx="690943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1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 TB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0938488" y="5106696"/>
            <a:ext cx="4811474" cy="3908717"/>
          </a:xfrm>
          <a:custGeom>
            <a:avLst/>
            <a:gdLst/>
            <a:ahLst/>
            <a:cxnLst/>
            <a:rect l="l" t="t" r="r" b="b"/>
            <a:pathLst>
              <a:path w="4811474" h="4032594">
                <a:moveTo>
                  <a:pt x="100492" y="0"/>
                </a:moveTo>
                <a:lnTo>
                  <a:pt x="4710982" y="0"/>
                </a:lnTo>
                <a:cubicBezTo>
                  <a:pt x="4766483" y="0"/>
                  <a:pt x="4811474" y="44992"/>
                  <a:pt x="4811474" y="100492"/>
                </a:cubicBezTo>
                <a:lnTo>
                  <a:pt x="4811474" y="3932101"/>
                </a:lnTo>
                <a:cubicBezTo>
                  <a:pt x="4811474" y="3987602"/>
                  <a:pt x="4766483" y="4032594"/>
                  <a:pt x="4710982" y="4032594"/>
                </a:cubicBezTo>
                <a:lnTo>
                  <a:pt x="100492" y="4032594"/>
                </a:lnTo>
                <a:cubicBezTo>
                  <a:pt x="44992" y="4032594"/>
                  <a:pt x="0" y="3987602"/>
                  <a:pt x="0" y="3932101"/>
                </a:cubicBezTo>
                <a:lnTo>
                  <a:pt x="0" y="100492"/>
                </a:lnTo>
                <a:cubicBezTo>
                  <a:pt x="0" y="45029"/>
                  <a:pt x="45029" y="0"/>
                  <a:pt x="100492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11227428" y="5427042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113063" y="0"/>
                </a:moveTo>
                <a:cubicBezTo>
                  <a:pt x="119556" y="0"/>
                  <a:pt x="125518" y="3577"/>
                  <a:pt x="128610" y="9275"/>
                </a:cubicBezTo>
                <a:lnTo>
                  <a:pt x="224007" y="185936"/>
                </a:lnTo>
                <a:cubicBezTo>
                  <a:pt x="226966" y="191413"/>
                  <a:pt x="226833" y="198038"/>
                  <a:pt x="223653" y="203382"/>
                </a:cubicBezTo>
                <a:cubicBezTo>
                  <a:pt x="220474" y="208726"/>
                  <a:pt x="214688" y="211994"/>
                  <a:pt x="208461" y="211994"/>
                </a:cubicBezTo>
                <a:lnTo>
                  <a:pt x="17666" y="211994"/>
                </a:lnTo>
                <a:cubicBezTo>
                  <a:pt x="11439" y="211994"/>
                  <a:pt x="5697" y="208726"/>
                  <a:pt x="2473" y="203382"/>
                </a:cubicBezTo>
                <a:cubicBezTo>
                  <a:pt x="-751" y="198038"/>
                  <a:pt x="-839" y="191413"/>
                  <a:pt x="2120" y="185936"/>
                </a:cubicBezTo>
                <a:lnTo>
                  <a:pt x="97517" y="9275"/>
                </a:lnTo>
                <a:cubicBezTo>
                  <a:pt x="100609" y="3577"/>
                  <a:pt x="106571" y="0"/>
                  <a:pt x="113063" y="0"/>
                </a:cubicBezTo>
                <a:close/>
                <a:moveTo>
                  <a:pt x="113063" y="74198"/>
                </a:moveTo>
                <a:cubicBezTo>
                  <a:pt x="107189" y="74198"/>
                  <a:pt x="102464" y="78924"/>
                  <a:pt x="102464" y="84798"/>
                </a:cubicBezTo>
                <a:lnTo>
                  <a:pt x="102464" y="134263"/>
                </a:lnTo>
                <a:cubicBezTo>
                  <a:pt x="102464" y="140137"/>
                  <a:pt x="107189" y="144862"/>
                  <a:pt x="113063" y="144862"/>
                </a:cubicBezTo>
                <a:cubicBezTo>
                  <a:pt x="118937" y="144862"/>
                  <a:pt x="123663" y="140137"/>
                  <a:pt x="123663" y="134263"/>
                </a:cubicBezTo>
                <a:lnTo>
                  <a:pt x="123663" y="84798"/>
                </a:lnTo>
                <a:cubicBezTo>
                  <a:pt x="123663" y="78924"/>
                  <a:pt x="118937" y="74198"/>
                  <a:pt x="113063" y="74198"/>
                </a:cubicBezTo>
                <a:close/>
                <a:moveTo>
                  <a:pt x="124856" y="169595"/>
                </a:moveTo>
                <a:cubicBezTo>
                  <a:pt x="125124" y="165218"/>
                  <a:pt x="122941" y="161054"/>
                  <a:pt x="119189" y="158784"/>
                </a:cubicBezTo>
                <a:cubicBezTo>
                  <a:pt x="115436" y="156514"/>
                  <a:pt x="110735" y="156514"/>
                  <a:pt x="106982" y="158784"/>
                </a:cubicBezTo>
                <a:cubicBezTo>
                  <a:pt x="103230" y="161054"/>
                  <a:pt x="101047" y="165218"/>
                  <a:pt x="101315" y="169595"/>
                </a:cubicBezTo>
                <a:cubicBezTo>
                  <a:pt x="101047" y="173972"/>
                  <a:pt x="103230" y="178137"/>
                  <a:pt x="106982" y="180406"/>
                </a:cubicBezTo>
                <a:cubicBezTo>
                  <a:pt x="110735" y="182676"/>
                  <a:pt x="115436" y="182676"/>
                  <a:pt x="119189" y="180406"/>
                </a:cubicBezTo>
                <a:cubicBezTo>
                  <a:pt x="122941" y="178137"/>
                  <a:pt x="125124" y="173972"/>
                  <a:pt x="124856" y="169595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11484961" y="5364229"/>
            <a:ext cx="4120532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1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根本性限制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1221147" y="5866733"/>
            <a:ext cx="4271283" cy="904507"/>
          </a:xfrm>
          <a:custGeom>
            <a:avLst/>
            <a:gdLst/>
            <a:ahLst/>
            <a:cxnLst/>
            <a:rect l="l" t="t" r="r" b="b"/>
            <a:pathLst>
              <a:path w="4271283" h="904507">
                <a:moveTo>
                  <a:pt x="50250" y="0"/>
                </a:moveTo>
                <a:lnTo>
                  <a:pt x="4221028" y="0"/>
                </a:lnTo>
                <a:cubicBezTo>
                  <a:pt x="4248783" y="0"/>
                  <a:pt x="4271283" y="22500"/>
                  <a:pt x="4271283" y="50254"/>
                </a:cubicBezTo>
                <a:lnTo>
                  <a:pt x="4271283" y="854253"/>
                </a:lnTo>
                <a:cubicBezTo>
                  <a:pt x="4271283" y="882007"/>
                  <a:pt x="4248783" y="904507"/>
                  <a:pt x="4221028" y="904507"/>
                </a:cubicBezTo>
                <a:lnTo>
                  <a:pt x="50250" y="904507"/>
                </a:lnTo>
                <a:cubicBezTo>
                  <a:pt x="22498" y="904507"/>
                  <a:pt x="0" y="882009"/>
                  <a:pt x="0" y="854257"/>
                </a:cubicBezTo>
                <a:lnTo>
                  <a:pt x="0" y="50250"/>
                </a:lnTo>
                <a:cubicBezTo>
                  <a:pt x="0" y="22498"/>
                  <a:pt x="22498" y="0"/>
                  <a:pt x="50250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11221147" y="5866733"/>
            <a:ext cx="50250" cy="904507"/>
          </a:xfrm>
          <a:custGeom>
            <a:avLst/>
            <a:gdLst/>
            <a:ahLst/>
            <a:cxnLst/>
            <a:rect l="l" t="t" r="r" b="b"/>
            <a:pathLst>
              <a:path w="50250" h="904507">
                <a:moveTo>
                  <a:pt x="50250" y="0"/>
                </a:moveTo>
                <a:lnTo>
                  <a:pt x="50250" y="0"/>
                </a:lnTo>
                <a:lnTo>
                  <a:pt x="50250" y="904507"/>
                </a:lnTo>
                <a:lnTo>
                  <a:pt x="50250" y="904507"/>
                </a:lnTo>
                <a:cubicBezTo>
                  <a:pt x="22498" y="904507"/>
                  <a:pt x="0" y="882009"/>
                  <a:pt x="0" y="854257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11397023" y="6017484"/>
            <a:ext cx="4045156" cy="603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容量天花板</a:t>
            </a:r>
            <a:r>
              <a:rPr lang="en-US" sz="158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：即使理论上 XFS 支持 8EB，但单台服务器物理限制在数 TB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1221147" y="6921991"/>
            <a:ext cx="4271283" cy="904507"/>
          </a:xfrm>
          <a:custGeom>
            <a:avLst/>
            <a:gdLst/>
            <a:ahLst/>
            <a:cxnLst/>
            <a:rect l="l" t="t" r="r" b="b"/>
            <a:pathLst>
              <a:path w="4271283" h="904507">
                <a:moveTo>
                  <a:pt x="50250" y="0"/>
                </a:moveTo>
                <a:lnTo>
                  <a:pt x="4221028" y="0"/>
                </a:lnTo>
                <a:cubicBezTo>
                  <a:pt x="4248783" y="0"/>
                  <a:pt x="4271283" y="22500"/>
                  <a:pt x="4271283" y="50254"/>
                </a:cubicBezTo>
                <a:lnTo>
                  <a:pt x="4271283" y="854253"/>
                </a:lnTo>
                <a:cubicBezTo>
                  <a:pt x="4271283" y="882007"/>
                  <a:pt x="4248783" y="904507"/>
                  <a:pt x="4221028" y="904507"/>
                </a:cubicBezTo>
                <a:lnTo>
                  <a:pt x="50250" y="904507"/>
                </a:lnTo>
                <a:cubicBezTo>
                  <a:pt x="22498" y="904507"/>
                  <a:pt x="0" y="882009"/>
                  <a:pt x="0" y="854257"/>
                </a:cubicBezTo>
                <a:lnTo>
                  <a:pt x="0" y="50250"/>
                </a:lnTo>
                <a:cubicBezTo>
                  <a:pt x="0" y="22498"/>
                  <a:pt x="22498" y="0"/>
                  <a:pt x="50250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11221147" y="6921991"/>
            <a:ext cx="50250" cy="904507"/>
          </a:xfrm>
          <a:custGeom>
            <a:avLst/>
            <a:gdLst/>
            <a:ahLst/>
            <a:cxnLst/>
            <a:rect l="l" t="t" r="r" b="b"/>
            <a:pathLst>
              <a:path w="50250" h="904507">
                <a:moveTo>
                  <a:pt x="50250" y="0"/>
                </a:moveTo>
                <a:lnTo>
                  <a:pt x="50250" y="0"/>
                </a:lnTo>
                <a:lnTo>
                  <a:pt x="50250" y="904507"/>
                </a:lnTo>
                <a:lnTo>
                  <a:pt x="50250" y="904507"/>
                </a:lnTo>
                <a:cubicBezTo>
                  <a:pt x="22498" y="904507"/>
                  <a:pt x="0" y="882009"/>
                  <a:pt x="0" y="854257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11397023" y="7072742"/>
            <a:ext cx="4045156" cy="603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扩展瓶颈</a:t>
            </a:r>
            <a:r>
              <a:rPr lang="en-US" sz="158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：无法通过增加服务器来扩展存储容量和性能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1221147" y="7977249"/>
            <a:ext cx="4271283" cy="904507"/>
          </a:xfrm>
          <a:custGeom>
            <a:avLst/>
            <a:gdLst/>
            <a:ahLst/>
            <a:cxnLst/>
            <a:rect l="l" t="t" r="r" b="b"/>
            <a:pathLst>
              <a:path w="4271283" h="904507">
                <a:moveTo>
                  <a:pt x="50250" y="0"/>
                </a:moveTo>
                <a:lnTo>
                  <a:pt x="4221028" y="0"/>
                </a:lnTo>
                <a:cubicBezTo>
                  <a:pt x="4248783" y="0"/>
                  <a:pt x="4271283" y="22500"/>
                  <a:pt x="4271283" y="50254"/>
                </a:cubicBezTo>
                <a:lnTo>
                  <a:pt x="4271283" y="854253"/>
                </a:lnTo>
                <a:cubicBezTo>
                  <a:pt x="4271283" y="882007"/>
                  <a:pt x="4248783" y="904507"/>
                  <a:pt x="4221028" y="904507"/>
                </a:cubicBezTo>
                <a:lnTo>
                  <a:pt x="50250" y="904507"/>
                </a:lnTo>
                <a:cubicBezTo>
                  <a:pt x="22498" y="904507"/>
                  <a:pt x="0" y="882009"/>
                  <a:pt x="0" y="854257"/>
                </a:cubicBezTo>
                <a:lnTo>
                  <a:pt x="0" y="50250"/>
                </a:lnTo>
                <a:cubicBezTo>
                  <a:pt x="0" y="22498"/>
                  <a:pt x="22498" y="0"/>
                  <a:pt x="50250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11221147" y="7977249"/>
            <a:ext cx="50250" cy="904507"/>
          </a:xfrm>
          <a:custGeom>
            <a:avLst/>
            <a:gdLst/>
            <a:ahLst/>
            <a:cxnLst/>
            <a:rect l="l" t="t" r="r" b="b"/>
            <a:pathLst>
              <a:path w="50250" h="904507">
                <a:moveTo>
                  <a:pt x="50250" y="0"/>
                </a:moveTo>
                <a:lnTo>
                  <a:pt x="50250" y="0"/>
                </a:lnTo>
                <a:lnTo>
                  <a:pt x="50250" y="904507"/>
                </a:lnTo>
                <a:lnTo>
                  <a:pt x="50250" y="904507"/>
                </a:lnTo>
                <a:cubicBezTo>
                  <a:pt x="22498" y="904507"/>
                  <a:pt x="0" y="882009"/>
                  <a:pt x="0" y="854257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11397023" y="8128000"/>
            <a:ext cx="4045156" cy="603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成本问题</a:t>
            </a:r>
            <a:r>
              <a:rPr lang="en-US" sz="158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：高端存储设备价格昂贵，难以大规模部署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463" y="548078"/>
            <a:ext cx="438463" cy="43846"/>
          </a:xfrm>
          <a:custGeom>
            <a:avLst/>
            <a:gdLst/>
            <a:ahLst/>
            <a:cxnLst/>
            <a:rect l="l" t="t" r="r" b="b"/>
            <a:pathLst>
              <a:path w="438463" h="43846">
                <a:moveTo>
                  <a:pt x="0" y="0"/>
                </a:moveTo>
                <a:lnTo>
                  <a:pt x="438463" y="0"/>
                </a:lnTo>
                <a:lnTo>
                  <a:pt x="438463" y="43846"/>
                </a:lnTo>
                <a:lnTo>
                  <a:pt x="0" y="43846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08464" y="438463"/>
            <a:ext cx="1808658" cy="26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1" b="1" kern="0" spc="69" dirty="0">
                <a:solidFill>
                  <a:srgbClr val="D4A2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LIMITATIONS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38463" y="789233"/>
            <a:ext cx="15576383" cy="438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07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传统文件系统的核心局限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60386" y="1570633"/>
            <a:ext cx="7552518" cy="2959622"/>
          </a:xfrm>
          <a:custGeom>
            <a:avLst/>
            <a:gdLst/>
            <a:ahLst/>
            <a:cxnLst/>
            <a:rect l="l" t="t" r="r" b="b"/>
            <a:pathLst>
              <a:path w="7552518" h="2959622">
                <a:moveTo>
                  <a:pt x="43846" y="0"/>
                </a:moveTo>
                <a:lnTo>
                  <a:pt x="7464824" y="0"/>
                </a:lnTo>
                <a:cubicBezTo>
                  <a:pt x="7513256" y="0"/>
                  <a:pt x="7552518" y="39262"/>
                  <a:pt x="7552518" y="87694"/>
                </a:cubicBezTo>
                <a:lnTo>
                  <a:pt x="7552518" y="2871929"/>
                </a:lnTo>
                <a:cubicBezTo>
                  <a:pt x="7552518" y="2920361"/>
                  <a:pt x="7513256" y="2959622"/>
                  <a:pt x="7464824" y="2959622"/>
                </a:cubicBezTo>
                <a:lnTo>
                  <a:pt x="43846" y="2959622"/>
                </a:lnTo>
                <a:cubicBezTo>
                  <a:pt x="19631" y="2959622"/>
                  <a:pt x="0" y="2939992"/>
                  <a:pt x="0" y="2915776"/>
                </a:cubicBezTo>
                <a:lnTo>
                  <a:pt x="0" y="43846"/>
                </a:lnTo>
                <a:cubicBezTo>
                  <a:pt x="0" y="19631"/>
                  <a:pt x="19631" y="0"/>
                  <a:pt x="43846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60386" y="1570633"/>
            <a:ext cx="43846" cy="2959622"/>
          </a:xfrm>
          <a:custGeom>
            <a:avLst/>
            <a:gdLst/>
            <a:ahLst/>
            <a:cxnLst/>
            <a:rect l="l" t="t" r="r" b="b"/>
            <a:pathLst>
              <a:path w="43846" h="2959622">
                <a:moveTo>
                  <a:pt x="43846" y="0"/>
                </a:moveTo>
                <a:lnTo>
                  <a:pt x="43846" y="0"/>
                </a:lnTo>
                <a:lnTo>
                  <a:pt x="43846" y="2959622"/>
                </a:lnTo>
                <a:lnTo>
                  <a:pt x="43846" y="2959622"/>
                </a:lnTo>
                <a:cubicBezTo>
                  <a:pt x="19631" y="2959622"/>
                  <a:pt x="0" y="2939992"/>
                  <a:pt x="0" y="2915776"/>
                </a:cubicBezTo>
                <a:lnTo>
                  <a:pt x="0" y="43846"/>
                </a:lnTo>
                <a:cubicBezTo>
                  <a:pt x="0" y="19631"/>
                  <a:pt x="19631" y="0"/>
                  <a:pt x="43846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45386" y="1833710"/>
            <a:ext cx="701540" cy="701540"/>
          </a:xfrm>
          <a:custGeom>
            <a:avLst/>
            <a:gdLst/>
            <a:ahLst/>
            <a:cxnLst/>
            <a:rect l="l" t="t" r="r" b="b"/>
            <a:pathLst>
              <a:path w="701540" h="701540">
                <a:moveTo>
                  <a:pt x="350770" y="0"/>
                </a:moveTo>
                <a:lnTo>
                  <a:pt x="350770" y="0"/>
                </a:lnTo>
                <a:cubicBezTo>
                  <a:pt x="544495" y="0"/>
                  <a:pt x="701540" y="157045"/>
                  <a:pt x="701540" y="350770"/>
                </a:cubicBezTo>
                <a:lnTo>
                  <a:pt x="701540" y="350770"/>
                </a:lnTo>
                <a:cubicBezTo>
                  <a:pt x="701540" y="544495"/>
                  <a:pt x="544495" y="701540"/>
                  <a:pt x="350770" y="701540"/>
                </a:cubicBezTo>
                <a:lnTo>
                  <a:pt x="350770" y="701540"/>
                </a:lnTo>
                <a:cubicBezTo>
                  <a:pt x="157045" y="701540"/>
                  <a:pt x="0" y="544495"/>
                  <a:pt x="0" y="350770"/>
                </a:cubicBezTo>
                <a:lnTo>
                  <a:pt x="0" y="350770"/>
                </a:lnTo>
                <a:cubicBezTo>
                  <a:pt x="0" y="157045"/>
                  <a:pt x="157045" y="0"/>
                  <a:pt x="35077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81060" y="2052942"/>
            <a:ext cx="230193" cy="263078"/>
          </a:xfrm>
          <a:custGeom>
            <a:avLst/>
            <a:gdLst/>
            <a:ahLst/>
            <a:cxnLst/>
            <a:rect l="l" t="t" r="r" b="b"/>
            <a:pathLst>
              <a:path w="230193" h="263078">
                <a:moveTo>
                  <a:pt x="230193" y="105745"/>
                </a:moveTo>
                <a:cubicBezTo>
                  <a:pt x="222588" y="110780"/>
                  <a:pt x="213853" y="114840"/>
                  <a:pt x="204759" y="118077"/>
                </a:cubicBezTo>
                <a:cubicBezTo>
                  <a:pt x="180609" y="126709"/>
                  <a:pt x="148906" y="131539"/>
                  <a:pt x="115096" y="131539"/>
                </a:cubicBezTo>
                <a:cubicBezTo>
                  <a:pt x="81287" y="131539"/>
                  <a:pt x="49533" y="126657"/>
                  <a:pt x="25434" y="118077"/>
                </a:cubicBezTo>
                <a:cubicBezTo>
                  <a:pt x="16391" y="114840"/>
                  <a:pt x="7605" y="110780"/>
                  <a:pt x="0" y="105745"/>
                </a:cubicBezTo>
                <a:lnTo>
                  <a:pt x="0" y="147981"/>
                </a:lnTo>
                <a:cubicBezTo>
                  <a:pt x="0" y="170692"/>
                  <a:pt x="51536" y="189087"/>
                  <a:pt x="115096" y="189087"/>
                </a:cubicBezTo>
                <a:cubicBezTo>
                  <a:pt x="178656" y="189087"/>
                  <a:pt x="230193" y="170692"/>
                  <a:pt x="230193" y="147981"/>
                </a:cubicBezTo>
                <a:lnTo>
                  <a:pt x="230193" y="105745"/>
                </a:lnTo>
                <a:close/>
                <a:moveTo>
                  <a:pt x="230193" y="65769"/>
                </a:moveTo>
                <a:lnTo>
                  <a:pt x="230193" y="41106"/>
                </a:lnTo>
                <a:cubicBezTo>
                  <a:pt x="230193" y="18395"/>
                  <a:pt x="178656" y="0"/>
                  <a:pt x="115096" y="0"/>
                </a:cubicBezTo>
                <a:cubicBezTo>
                  <a:pt x="51536" y="0"/>
                  <a:pt x="0" y="18395"/>
                  <a:pt x="0" y="41106"/>
                </a:cubicBezTo>
                <a:lnTo>
                  <a:pt x="0" y="65769"/>
                </a:lnTo>
                <a:cubicBezTo>
                  <a:pt x="0" y="88480"/>
                  <a:pt x="51536" y="106875"/>
                  <a:pt x="115096" y="106875"/>
                </a:cubicBezTo>
                <a:cubicBezTo>
                  <a:pt x="178656" y="106875"/>
                  <a:pt x="230193" y="88480"/>
                  <a:pt x="230193" y="65769"/>
                </a:cubicBezTo>
                <a:close/>
                <a:moveTo>
                  <a:pt x="204759" y="200288"/>
                </a:moveTo>
                <a:cubicBezTo>
                  <a:pt x="180660" y="208869"/>
                  <a:pt x="148957" y="213751"/>
                  <a:pt x="115096" y="213751"/>
                </a:cubicBezTo>
                <a:cubicBezTo>
                  <a:pt x="81235" y="213751"/>
                  <a:pt x="49533" y="208869"/>
                  <a:pt x="25434" y="200288"/>
                </a:cubicBezTo>
                <a:cubicBezTo>
                  <a:pt x="16391" y="197051"/>
                  <a:pt x="7605" y="192992"/>
                  <a:pt x="0" y="187957"/>
                </a:cubicBezTo>
                <a:lnTo>
                  <a:pt x="0" y="221972"/>
                </a:lnTo>
                <a:cubicBezTo>
                  <a:pt x="0" y="244683"/>
                  <a:pt x="51536" y="263078"/>
                  <a:pt x="115096" y="263078"/>
                </a:cubicBezTo>
                <a:cubicBezTo>
                  <a:pt x="178656" y="263078"/>
                  <a:pt x="230193" y="244683"/>
                  <a:pt x="230193" y="221972"/>
                </a:cubicBezTo>
                <a:lnTo>
                  <a:pt x="230193" y="187957"/>
                </a:lnTo>
                <a:cubicBezTo>
                  <a:pt x="222588" y="192992"/>
                  <a:pt x="213853" y="197051"/>
                  <a:pt x="204759" y="200288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622312" y="2009095"/>
            <a:ext cx="1710004" cy="350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71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存储容量限制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5386" y="2710636"/>
            <a:ext cx="7092132" cy="2850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1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单机存储容量有限，无法满足 PB 级数据存储需求。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5386" y="3127175"/>
            <a:ext cx="7004440" cy="526155"/>
          </a:xfrm>
          <a:custGeom>
            <a:avLst/>
            <a:gdLst/>
            <a:ahLst/>
            <a:cxnLst/>
            <a:rect l="l" t="t" r="r" b="b"/>
            <a:pathLst>
              <a:path w="7004440" h="526155">
                <a:moveTo>
                  <a:pt x="43845" y="0"/>
                </a:moveTo>
                <a:lnTo>
                  <a:pt x="6960595" y="0"/>
                </a:lnTo>
                <a:cubicBezTo>
                  <a:pt x="6984810" y="0"/>
                  <a:pt x="7004440" y="19630"/>
                  <a:pt x="7004440" y="43845"/>
                </a:cubicBezTo>
                <a:lnTo>
                  <a:pt x="7004440" y="482311"/>
                </a:lnTo>
                <a:cubicBezTo>
                  <a:pt x="7004440" y="506525"/>
                  <a:pt x="6984810" y="526155"/>
                  <a:pt x="6960595" y="526155"/>
                </a:cubicBezTo>
                <a:lnTo>
                  <a:pt x="43845" y="526155"/>
                </a:lnTo>
                <a:cubicBezTo>
                  <a:pt x="19630" y="526155"/>
                  <a:pt x="0" y="506525"/>
                  <a:pt x="0" y="482311"/>
                </a:cubicBezTo>
                <a:lnTo>
                  <a:pt x="0" y="43845"/>
                </a:lnTo>
                <a:cubicBezTo>
                  <a:pt x="0" y="19646"/>
                  <a:pt x="19646" y="0"/>
                  <a:pt x="43845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76925" y="3258714"/>
            <a:ext cx="6829055" cy="26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1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文件系统限制：</a:t>
            </a:r>
            <a:r>
              <a:rPr lang="en-US" sz="1381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FAT32(4GB)、NTFS(16TB)、ext3(2TB)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5386" y="3741023"/>
            <a:ext cx="7004440" cy="526155"/>
          </a:xfrm>
          <a:custGeom>
            <a:avLst/>
            <a:gdLst/>
            <a:ahLst/>
            <a:cxnLst/>
            <a:rect l="l" t="t" r="r" b="b"/>
            <a:pathLst>
              <a:path w="7004440" h="526155">
                <a:moveTo>
                  <a:pt x="43845" y="0"/>
                </a:moveTo>
                <a:lnTo>
                  <a:pt x="6960595" y="0"/>
                </a:lnTo>
                <a:cubicBezTo>
                  <a:pt x="6984810" y="0"/>
                  <a:pt x="7004440" y="19630"/>
                  <a:pt x="7004440" y="43845"/>
                </a:cubicBezTo>
                <a:lnTo>
                  <a:pt x="7004440" y="482311"/>
                </a:lnTo>
                <a:cubicBezTo>
                  <a:pt x="7004440" y="506525"/>
                  <a:pt x="6984810" y="526155"/>
                  <a:pt x="6960595" y="526155"/>
                </a:cubicBezTo>
                <a:lnTo>
                  <a:pt x="43845" y="526155"/>
                </a:lnTo>
                <a:cubicBezTo>
                  <a:pt x="19630" y="526155"/>
                  <a:pt x="0" y="506525"/>
                  <a:pt x="0" y="482311"/>
                </a:cubicBezTo>
                <a:lnTo>
                  <a:pt x="0" y="43845"/>
                </a:lnTo>
                <a:cubicBezTo>
                  <a:pt x="0" y="19646"/>
                  <a:pt x="19646" y="0"/>
                  <a:pt x="43845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76925" y="3872561"/>
            <a:ext cx="6829055" cy="26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1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硬件限制：</a:t>
            </a:r>
            <a:r>
              <a:rPr lang="en-US" sz="1381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单硬盘 2003 年仅 80-200GB，单机不超过数 TB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57655" y="1570633"/>
            <a:ext cx="7552518" cy="2959622"/>
          </a:xfrm>
          <a:custGeom>
            <a:avLst/>
            <a:gdLst/>
            <a:ahLst/>
            <a:cxnLst/>
            <a:rect l="l" t="t" r="r" b="b"/>
            <a:pathLst>
              <a:path w="7552518" h="2959622">
                <a:moveTo>
                  <a:pt x="43846" y="0"/>
                </a:moveTo>
                <a:lnTo>
                  <a:pt x="7464824" y="0"/>
                </a:lnTo>
                <a:cubicBezTo>
                  <a:pt x="7513256" y="0"/>
                  <a:pt x="7552518" y="39262"/>
                  <a:pt x="7552518" y="87694"/>
                </a:cubicBezTo>
                <a:lnTo>
                  <a:pt x="7552518" y="2871929"/>
                </a:lnTo>
                <a:cubicBezTo>
                  <a:pt x="7552518" y="2920361"/>
                  <a:pt x="7513256" y="2959622"/>
                  <a:pt x="7464824" y="2959622"/>
                </a:cubicBezTo>
                <a:lnTo>
                  <a:pt x="43846" y="2959622"/>
                </a:lnTo>
                <a:cubicBezTo>
                  <a:pt x="19631" y="2959622"/>
                  <a:pt x="0" y="2939992"/>
                  <a:pt x="0" y="2915776"/>
                </a:cubicBezTo>
                <a:lnTo>
                  <a:pt x="0" y="43846"/>
                </a:lnTo>
                <a:cubicBezTo>
                  <a:pt x="0" y="19631"/>
                  <a:pt x="19631" y="0"/>
                  <a:pt x="43846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257655" y="1570633"/>
            <a:ext cx="43846" cy="2959622"/>
          </a:xfrm>
          <a:custGeom>
            <a:avLst/>
            <a:gdLst/>
            <a:ahLst/>
            <a:cxnLst/>
            <a:rect l="l" t="t" r="r" b="b"/>
            <a:pathLst>
              <a:path w="43846" h="2959622">
                <a:moveTo>
                  <a:pt x="43846" y="0"/>
                </a:moveTo>
                <a:lnTo>
                  <a:pt x="43846" y="0"/>
                </a:lnTo>
                <a:lnTo>
                  <a:pt x="43846" y="2959622"/>
                </a:lnTo>
                <a:lnTo>
                  <a:pt x="43846" y="2959622"/>
                </a:lnTo>
                <a:cubicBezTo>
                  <a:pt x="19631" y="2959622"/>
                  <a:pt x="0" y="2939992"/>
                  <a:pt x="0" y="2915776"/>
                </a:cubicBezTo>
                <a:lnTo>
                  <a:pt x="0" y="43846"/>
                </a:lnTo>
                <a:cubicBezTo>
                  <a:pt x="0" y="19631"/>
                  <a:pt x="19631" y="0"/>
                  <a:pt x="43846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542655" y="1833710"/>
            <a:ext cx="701540" cy="701540"/>
          </a:xfrm>
          <a:custGeom>
            <a:avLst/>
            <a:gdLst/>
            <a:ahLst/>
            <a:cxnLst/>
            <a:rect l="l" t="t" r="r" b="b"/>
            <a:pathLst>
              <a:path w="701540" h="701540">
                <a:moveTo>
                  <a:pt x="350770" y="0"/>
                </a:moveTo>
                <a:lnTo>
                  <a:pt x="350770" y="0"/>
                </a:lnTo>
                <a:cubicBezTo>
                  <a:pt x="544495" y="0"/>
                  <a:pt x="701540" y="157045"/>
                  <a:pt x="701540" y="350770"/>
                </a:cubicBezTo>
                <a:lnTo>
                  <a:pt x="701540" y="350770"/>
                </a:lnTo>
                <a:cubicBezTo>
                  <a:pt x="701540" y="544495"/>
                  <a:pt x="544495" y="701540"/>
                  <a:pt x="350770" y="701540"/>
                </a:cubicBezTo>
                <a:lnTo>
                  <a:pt x="350770" y="701540"/>
                </a:lnTo>
                <a:cubicBezTo>
                  <a:pt x="157045" y="701540"/>
                  <a:pt x="0" y="544495"/>
                  <a:pt x="0" y="350770"/>
                </a:cubicBezTo>
                <a:lnTo>
                  <a:pt x="0" y="350770"/>
                </a:lnTo>
                <a:cubicBezTo>
                  <a:pt x="0" y="157045"/>
                  <a:pt x="157045" y="0"/>
                  <a:pt x="35077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761887" y="2052942"/>
            <a:ext cx="263078" cy="263078"/>
          </a:xfrm>
          <a:custGeom>
            <a:avLst/>
            <a:gdLst/>
            <a:ahLst/>
            <a:cxnLst/>
            <a:rect l="l" t="t" r="r" b="b"/>
            <a:pathLst>
              <a:path w="263078" h="263078">
                <a:moveTo>
                  <a:pt x="131539" y="0"/>
                </a:moveTo>
                <a:cubicBezTo>
                  <a:pt x="133902" y="0"/>
                  <a:pt x="136266" y="514"/>
                  <a:pt x="138424" y="1490"/>
                </a:cubicBezTo>
                <a:lnTo>
                  <a:pt x="235228" y="42545"/>
                </a:lnTo>
                <a:cubicBezTo>
                  <a:pt x="246532" y="47323"/>
                  <a:pt x="254959" y="58473"/>
                  <a:pt x="254908" y="71935"/>
                </a:cubicBezTo>
                <a:cubicBezTo>
                  <a:pt x="254651" y="122907"/>
                  <a:pt x="233687" y="216165"/>
                  <a:pt x="145155" y="258556"/>
                </a:cubicBezTo>
                <a:cubicBezTo>
                  <a:pt x="136574" y="262666"/>
                  <a:pt x="126606" y="262666"/>
                  <a:pt x="118025" y="258556"/>
                </a:cubicBezTo>
                <a:cubicBezTo>
                  <a:pt x="29442" y="216165"/>
                  <a:pt x="8529" y="122907"/>
                  <a:pt x="8273" y="71935"/>
                </a:cubicBezTo>
                <a:cubicBezTo>
                  <a:pt x="8221" y="58473"/>
                  <a:pt x="16648" y="47323"/>
                  <a:pt x="27952" y="42545"/>
                </a:cubicBezTo>
                <a:lnTo>
                  <a:pt x="124705" y="1490"/>
                </a:lnTo>
                <a:cubicBezTo>
                  <a:pt x="126863" y="514"/>
                  <a:pt x="129175" y="0"/>
                  <a:pt x="131539" y="0"/>
                </a:cubicBezTo>
                <a:close/>
                <a:moveTo>
                  <a:pt x="131539" y="34323"/>
                </a:moveTo>
                <a:lnTo>
                  <a:pt x="131539" y="228600"/>
                </a:lnTo>
                <a:cubicBezTo>
                  <a:pt x="202446" y="194277"/>
                  <a:pt x="221509" y="118231"/>
                  <a:pt x="221972" y="72706"/>
                </a:cubicBezTo>
                <a:lnTo>
                  <a:pt x="131539" y="34375"/>
                </a:lnTo>
                <a:lnTo>
                  <a:pt x="131539" y="34375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419581" y="2009095"/>
            <a:ext cx="1446927" cy="350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71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可靠性问题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42655" y="2710636"/>
            <a:ext cx="7092132" cy="2850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1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单点故障会导致数据丢失，缺乏有效的冗余机制。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542655" y="3127175"/>
            <a:ext cx="7004440" cy="526155"/>
          </a:xfrm>
          <a:custGeom>
            <a:avLst/>
            <a:gdLst/>
            <a:ahLst/>
            <a:cxnLst/>
            <a:rect l="l" t="t" r="r" b="b"/>
            <a:pathLst>
              <a:path w="7004440" h="526155">
                <a:moveTo>
                  <a:pt x="43845" y="0"/>
                </a:moveTo>
                <a:lnTo>
                  <a:pt x="6960595" y="0"/>
                </a:lnTo>
                <a:cubicBezTo>
                  <a:pt x="6984810" y="0"/>
                  <a:pt x="7004440" y="19630"/>
                  <a:pt x="7004440" y="43845"/>
                </a:cubicBezTo>
                <a:lnTo>
                  <a:pt x="7004440" y="482311"/>
                </a:lnTo>
                <a:cubicBezTo>
                  <a:pt x="7004440" y="506525"/>
                  <a:pt x="6984810" y="526155"/>
                  <a:pt x="6960595" y="526155"/>
                </a:cubicBezTo>
                <a:lnTo>
                  <a:pt x="43845" y="526155"/>
                </a:lnTo>
                <a:cubicBezTo>
                  <a:pt x="19630" y="526155"/>
                  <a:pt x="0" y="506525"/>
                  <a:pt x="0" y="482311"/>
                </a:cubicBezTo>
                <a:lnTo>
                  <a:pt x="0" y="43845"/>
                </a:lnTo>
                <a:cubicBezTo>
                  <a:pt x="0" y="19646"/>
                  <a:pt x="19646" y="0"/>
                  <a:pt x="43845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674194" y="3258714"/>
            <a:ext cx="6829055" cy="26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1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单点故障：</a:t>
            </a:r>
            <a:r>
              <a:rPr lang="en-US" sz="1381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服务器宕机、磁盘损坏导致数据不可用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42655" y="3741023"/>
            <a:ext cx="7004440" cy="526155"/>
          </a:xfrm>
          <a:custGeom>
            <a:avLst/>
            <a:gdLst/>
            <a:ahLst/>
            <a:cxnLst/>
            <a:rect l="l" t="t" r="r" b="b"/>
            <a:pathLst>
              <a:path w="7004440" h="526155">
                <a:moveTo>
                  <a:pt x="43845" y="0"/>
                </a:moveTo>
                <a:lnTo>
                  <a:pt x="6960595" y="0"/>
                </a:lnTo>
                <a:cubicBezTo>
                  <a:pt x="6984810" y="0"/>
                  <a:pt x="7004440" y="19630"/>
                  <a:pt x="7004440" y="43845"/>
                </a:cubicBezTo>
                <a:lnTo>
                  <a:pt x="7004440" y="482311"/>
                </a:lnTo>
                <a:cubicBezTo>
                  <a:pt x="7004440" y="506525"/>
                  <a:pt x="6984810" y="526155"/>
                  <a:pt x="6960595" y="526155"/>
                </a:cubicBezTo>
                <a:lnTo>
                  <a:pt x="43845" y="526155"/>
                </a:lnTo>
                <a:cubicBezTo>
                  <a:pt x="19630" y="526155"/>
                  <a:pt x="0" y="506525"/>
                  <a:pt x="0" y="482311"/>
                </a:cubicBezTo>
                <a:lnTo>
                  <a:pt x="0" y="43845"/>
                </a:lnTo>
                <a:cubicBezTo>
                  <a:pt x="0" y="19646"/>
                  <a:pt x="19646" y="0"/>
                  <a:pt x="43845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674194" y="3872561"/>
            <a:ext cx="6829055" cy="26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1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数据恢复困难：</a:t>
            </a:r>
            <a:r>
              <a:rPr lang="en-US" sz="1381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备份机制不完善，恢复时间长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60386" y="4749487"/>
            <a:ext cx="7552518" cy="2959622"/>
          </a:xfrm>
          <a:custGeom>
            <a:avLst/>
            <a:gdLst/>
            <a:ahLst/>
            <a:cxnLst/>
            <a:rect l="l" t="t" r="r" b="b"/>
            <a:pathLst>
              <a:path w="7552518" h="2959622">
                <a:moveTo>
                  <a:pt x="43846" y="0"/>
                </a:moveTo>
                <a:lnTo>
                  <a:pt x="7464824" y="0"/>
                </a:lnTo>
                <a:cubicBezTo>
                  <a:pt x="7513256" y="0"/>
                  <a:pt x="7552518" y="39262"/>
                  <a:pt x="7552518" y="87694"/>
                </a:cubicBezTo>
                <a:lnTo>
                  <a:pt x="7552518" y="2871929"/>
                </a:lnTo>
                <a:cubicBezTo>
                  <a:pt x="7552518" y="2920361"/>
                  <a:pt x="7513256" y="2959622"/>
                  <a:pt x="7464824" y="2959622"/>
                </a:cubicBezTo>
                <a:lnTo>
                  <a:pt x="43846" y="2959622"/>
                </a:lnTo>
                <a:cubicBezTo>
                  <a:pt x="19631" y="2959622"/>
                  <a:pt x="0" y="2939992"/>
                  <a:pt x="0" y="2915776"/>
                </a:cubicBezTo>
                <a:lnTo>
                  <a:pt x="0" y="43846"/>
                </a:lnTo>
                <a:cubicBezTo>
                  <a:pt x="0" y="19631"/>
                  <a:pt x="19631" y="0"/>
                  <a:pt x="43846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460386" y="4749487"/>
            <a:ext cx="43846" cy="2959622"/>
          </a:xfrm>
          <a:custGeom>
            <a:avLst/>
            <a:gdLst/>
            <a:ahLst/>
            <a:cxnLst/>
            <a:rect l="l" t="t" r="r" b="b"/>
            <a:pathLst>
              <a:path w="43846" h="2959622">
                <a:moveTo>
                  <a:pt x="43846" y="0"/>
                </a:moveTo>
                <a:lnTo>
                  <a:pt x="43846" y="0"/>
                </a:lnTo>
                <a:lnTo>
                  <a:pt x="43846" y="2959622"/>
                </a:lnTo>
                <a:lnTo>
                  <a:pt x="43846" y="2959622"/>
                </a:lnTo>
                <a:cubicBezTo>
                  <a:pt x="19631" y="2959622"/>
                  <a:pt x="0" y="2939992"/>
                  <a:pt x="0" y="2915776"/>
                </a:cubicBezTo>
                <a:lnTo>
                  <a:pt x="0" y="43846"/>
                </a:lnTo>
                <a:cubicBezTo>
                  <a:pt x="0" y="19631"/>
                  <a:pt x="19631" y="0"/>
                  <a:pt x="43846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745386" y="5012564"/>
            <a:ext cx="701540" cy="701540"/>
          </a:xfrm>
          <a:custGeom>
            <a:avLst/>
            <a:gdLst/>
            <a:ahLst/>
            <a:cxnLst/>
            <a:rect l="l" t="t" r="r" b="b"/>
            <a:pathLst>
              <a:path w="701540" h="701540">
                <a:moveTo>
                  <a:pt x="350770" y="0"/>
                </a:moveTo>
                <a:lnTo>
                  <a:pt x="350770" y="0"/>
                </a:lnTo>
                <a:cubicBezTo>
                  <a:pt x="544495" y="0"/>
                  <a:pt x="701540" y="157045"/>
                  <a:pt x="701540" y="350770"/>
                </a:cubicBezTo>
                <a:lnTo>
                  <a:pt x="701540" y="350770"/>
                </a:lnTo>
                <a:cubicBezTo>
                  <a:pt x="701540" y="544495"/>
                  <a:pt x="544495" y="701540"/>
                  <a:pt x="350770" y="701540"/>
                </a:cubicBezTo>
                <a:lnTo>
                  <a:pt x="350770" y="701540"/>
                </a:lnTo>
                <a:cubicBezTo>
                  <a:pt x="157045" y="701540"/>
                  <a:pt x="0" y="544495"/>
                  <a:pt x="0" y="350770"/>
                </a:cubicBezTo>
                <a:lnTo>
                  <a:pt x="0" y="350770"/>
                </a:lnTo>
                <a:cubicBezTo>
                  <a:pt x="0" y="157045"/>
                  <a:pt x="157045" y="0"/>
                  <a:pt x="35077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964618" y="5231795"/>
            <a:ext cx="263078" cy="263078"/>
          </a:xfrm>
          <a:custGeom>
            <a:avLst/>
            <a:gdLst/>
            <a:ahLst/>
            <a:cxnLst/>
            <a:rect l="l" t="t" r="r" b="b"/>
            <a:pathLst>
              <a:path w="263078" h="263078">
                <a:moveTo>
                  <a:pt x="0" y="131539"/>
                </a:moveTo>
                <a:cubicBezTo>
                  <a:pt x="0" y="58941"/>
                  <a:pt x="58941" y="0"/>
                  <a:pt x="131539" y="0"/>
                </a:cubicBezTo>
                <a:cubicBezTo>
                  <a:pt x="204137" y="0"/>
                  <a:pt x="263078" y="58941"/>
                  <a:pt x="263078" y="131539"/>
                </a:cubicBezTo>
                <a:cubicBezTo>
                  <a:pt x="263078" y="204137"/>
                  <a:pt x="204137" y="263078"/>
                  <a:pt x="131539" y="263078"/>
                </a:cubicBezTo>
                <a:cubicBezTo>
                  <a:pt x="58941" y="263078"/>
                  <a:pt x="0" y="204137"/>
                  <a:pt x="0" y="131539"/>
                </a:cubicBezTo>
                <a:close/>
                <a:moveTo>
                  <a:pt x="147981" y="49327"/>
                </a:moveTo>
                <a:cubicBezTo>
                  <a:pt x="147981" y="40252"/>
                  <a:pt x="140614" y="32885"/>
                  <a:pt x="131539" y="32885"/>
                </a:cubicBezTo>
                <a:cubicBezTo>
                  <a:pt x="122464" y="32885"/>
                  <a:pt x="115096" y="40252"/>
                  <a:pt x="115096" y="49327"/>
                </a:cubicBezTo>
                <a:cubicBezTo>
                  <a:pt x="115096" y="58402"/>
                  <a:pt x="122464" y="65769"/>
                  <a:pt x="131539" y="65769"/>
                </a:cubicBezTo>
                <a:cubicBezTo>
                  <a:pt x="140614" y="65769"/>
                  <a:pt x="147981" y="58402"/>
                  <a:pt x="147981" y="49327"/>
                </a:cubicBezTo>
                <a:close/>
                <a:moveTo>
                  <a:pt x="131539" y="213751"/>
                </a:moveTo>
                <a:cubicBezTo>
                  <a:pt x="149677" y="213751"/>
                  <a:pt x="164423" y="199004"/>
                  <a:pt x="164423" y="180866"/>
                </a:cubicBezTo>
                <a:cubicBezTo>
                  <a:pt x="164423" y="172542"/>
                  <a:pt x="161341" y="164886"/>
                  <a:pt x="156202" y="159131"/>
                </a:cubicBezTo>
                <a:lnTo>
                  <a:pt x="191913" y="87761"/>
                </a:lnTo>
                <a:cubicBezTo>
                  <a:pt x="194945" y="81647"/>
                  <a:pt x="192478" y="74247"/>
                  <a:pt x="186415" y="71216"/>
                </a:cubicBezTo>
                <a:cubicBezTo>
                  <a:pt x="180352" y="68184"/>
                  <a:pt x="172902" y="70651"/>
                  <a:pt x="169870" y="76714"/>
                </a:cubicBezTo>
                <a:lnTo>
                  <a:pt x="134159" y="148084"/>
                </a:lnTo>
                <a:cubicBezTo>
                  <a:pt x="133286" y="148033"/>
                  <a:pt x="132412" y="147981"/>
                  <a:pt x="131539" y="147981"/>
                </a:cubicBezTo>
                <a:cubicBezTo>
                  <a:pt x="113401" y="147981"/>
                  <a:pt x="98654" y="162728"/>
                  <a:pt x="98654" y="180866"/>
                </a:cubicBezTo>
                <a:cubicBezTo>
                  <a:pt x="98654" y="199004"/>
                  <a:pt x="113401" y="213751"/>
                  <a:pt x="131539" y="213751"/>
                </a:cubicBezTo>
                <a:close/>
                <a:moveTo>
                  <a:pt x="90433" y="73991"/>
                </a:moveTo>
                <a:cubicBezTo>
                  <a:pt x="90433" y="64916"/>
                  <a:pt x="83065" y="57548"/>
                  <a:pt x="73991" y="57548"/>
                </a:cubicBezTo>
                <a:cubicBezTo>
                  <a:pt x="64916" y="57548"/>
                  <a:pt x="57548" y="64916"/>
                  <a:pt x="57548" y="73991"/>
                </a:cubicBezTo>
                <a:cubicBezTo>
                  <a:pt x="57548" y="83065"/>
                  <a:pt x="64916" y="90433"/>
                  <a:pt x="73991" y="90433"/>
                </a:cubicBezTo>
                <a:cubicBezTo>
                  <a:pt x="83065" y="90433"/>
                  <a:pt x="90433" y="83065"/>
                  <a:pt x="90433" y="73991"/>
                </a:cubicBezTo>
                <a:close/>
                <a:moveTo>
                  <a:pt x="49327" y="147981"/>
                </a:moveTo>
                <a:cubicBezTo>
                  <a:pt x="58402" y="147981"/>
                  <a:pt x="65769" y="140614"/>
                  <a:pt x="65769" y="131539"/>
                </a:cubicBezTo>
                <a:cubicBezTo>
                  <a:pt x="65769" y="122464"/>
                  <a:pt x="58402" y="115096"/>
                  <a:pt x="49327" y="115096"/>
                </a:cubicBezTo>
                <a:cubicBezTo>
                  <a:pt x="40252" y="115096"/>
                  <a:pt x="32885" y="122464"/>
                  <a:pt x="32885" y="131539"/>
                </a:cubicBezTo>
                <a:cubicBezTo>
                  <a:pt x="32885" y="140614"/>
                  <a:pt x="40252" y="147981"/>
                  <a:pt x="49327" y="147981"/>
                </a:cubicBezTo>
                <a:close/>
                <a:moveTo>
                  <a:pt x="230193" y="131539"/>
                </a:moveTo>
                <a:cubicBezTo>
                  <a:pt x="230193" y="122464"/>
                  <a:pt x="222825" y="115096"/>
                  <a:pt x="213751" y="115096"/>
                </a:cubicBezTo>
                <a:cubicBezTo>
                  <a:pt x="204676" y="115096"/>
                  <a:pt x="197308" y="122464"/>
                  <a:pt x="197308" y="131539"/>
                </a:cubicBezTo>
                <a:cubicBezTo>
                  <a:pt x="197308" y="140614"/>
                  <a:pt x="204676" y="147981"/>
                  <a:pt x="213751" y="147981"/>
                </a:cubicBezTo>
                <a:cubicBezTo>
                  <a:pt x="222825" y="147981"/>
                  <a:pt x="230193" y="140614"/>
                  <a:pt x="230193" y="131539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622312" y="5187949"/>
            <a:ext cx="1183849" cy="350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71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性能瓶颈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5386" y="5889489"/>
            <a:ext cx="7092132" cy="2850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1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单机 I/O 性能有限，无法支持高并发访问。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45386" y="6306029"/>
            <a:ext cx="7004440" cy="526155"/>
          </a:xfrm>
          <a:custGeom>
            <a:avLst/>
            <a:gdLst/>
            <a:ahLst/>
            <a:cxnLst/>
            <a:rect l="l" t="t" r="r" b="b"/>
            <a:pathLst>
              <a:path w="7004440" h="526155">
                <a:moveTo>
                  <a:pt x="43845" y="0"/>
                </a:moveTo>
                <a:lnTo>
                  <a:pt x="6960595" y="0"/>
                </a:lnTo>
                <a:cubicBezTo>
                  <a:pt x="6984810" y="0"/>
                  <a:pt x="7004440" y="19630"/>
                  <a:pt x="7004440" y="43845"/>
                </a:cubicBezTo>
                <a:lnTo>
                  <a:pt x="7004440" y="482311"/>
                </a:lnTo>
                <a:cubicBezTo>
                  <a:pt x="7004440" y="506525"/>
                  <a:pt x="6984810" y="526155"/>
                  <a:pt x="6960595" y="526155"/>
                </a:cubicBezTo>
                <a:lnTo>
                  <a:pt x="43845" y="526155"/>
                </a:lnTo>
                <a:cubicBezTo>
                  <a:pt x="19630" y="526155"/>
                  <a:pt x="0" y="506525"/>
                  <a:pt x="0" y="482311"/>
                </a:cubicBezTo>
                <a:lnTo>
                  <a:pt x="0" y="43845"/>
                </a:lnTo>
                <a:cubicBezTo>
                  <a:pt x="0" y="19646"/>
                  <a:pt x="19646" y="0"/>
                  <a:pt x="43845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76925" y="6437567"/>
            <a:ext cx="6829055" cy="26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1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I/O 限制：</a:t>
            </a:r>
            <a:r>
              <a:rPr lang="en-US" sz="1381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单硬盘吞吐量为 50-100 MB/s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5386" y="6919876"/>
            <a:ext cx="7004440" cy="526155"/>
          </a:xfrm>
          <a:custGeom>
            <a:avLst/>
            <a:gdLst/>
            <a:ahLst/>
            <a:cxnLst/>
            <a:rect l="l" t="t" r="r" b="b"/>
            <a:pathLst>
              <a:path w="7004440" h="526155">
                <a:moveTo>
                  <a:pt x="43845" y="0"/>
                </a:moveTo>
                <a:lnTo>
                  <a:pt x="6960595" y="0"/>
                </a:lnTo>
                <a:cubicBezTo>
                  <a:pt x="6984810" y="0"/>
                  <a:pt x="7004440" y="19630"/>
                  <a:pt x="7004440" y="43845"/>
                </a:cubicBezTo>
                <a:lnTo>
                  <a:pt x="7004440" y="482311"/>
                </a:lnTo>
                <a:cubicBezTo>
                  <a:pt x="7004440" y="506525"/>
                  <a:pt x="6984810" y="526155"/>
                  <a:pt x="6960595" y="526155"/>
                </a:cubicBezTo>
                <a:lnTo>
                  <a:pt x="43845" y="526155"/>
                </a:lnTo>
                <a:cubicBezTo>
                  <a:pt x="19630" y="526155"/>
                  <a:pt x="0" y="506525"/>
                  <a:pt x="0" y="482311"/>
                </a:cubicBezTo>
                <a:lnTo>
                  <a:pt x="0" y="43845"/>
                </a:lnTo>
                <a:cubicBezTo>
                  <a:pt x="0" y="19646"/>
                  <a:pt x="19646" y="0"/>
                  <a:pt x="43845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76925" y="7051415"/>
            <a:ext cx="6829055" cy="26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1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并发能力：</a:t>
            </a:r>
            <a:r>
              <a:rPr lang="en-US" sz="1381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难以支持数千客户端同时访问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57655" y="4749487"/>
            <a:ext cx="7552518" cy="2959622"/>
          </a:xfrm>
          <a:custGeom>
            <a:avLst/>
            <a:gdLst/>
            <a:ahLst/>
            <a:cxnLst/>
            <a:rect l="l" t="t" r="r" b="b"/>
            <a:pathLst>
              <a:path w="7552518" h="2959622">
                <a:moveTo>
                  <a:pt x="43846" y="0"/>
                </a:moveTo>
                <a:lnTo>
                  <a:pt x="7464824" y="0"/>
                </a:lnTo>
                <a:cubicBezTo>
                  <a:pt x="7513256" y="0"/>
                  <a:pt x="7552518" y="39262"/>
                  <a:pt x="7552518" y="87694"/>
                </a:cubicBezTo>
                <a:lnTo>
                  <a:pt x="7552518" y="2871929"/>
                </a:lnTo>
                <a:cubicBezTo>
                  <a:pt x="7552518" y="2920361"/>
                  <a:pt x="7513256" y="2959622"/>
                  <a:pt x="7464824" y="2959622"/>
                </a:cubicBezTo>
                <a:lnTo>
                  <a:pt x="43846" y="2959622"/>
                </a:lnTo>
                <a:cubicBezTo>
                  <a:pt x="19631" y="2959622"/>
                  <a:pt x="0" y="2939992"/>
                  <a:pt x="0" y="2915776"/>
                </a:cubicBezTo>
                <a:lnTo>
                  <a:pt x="0" y="43846"/>
                </a:lnTo>
                <a:cubicBezTo>
                  <a:pt x="0" y="19631"/>
                  <a:pt x="19631" y="0"/>
                  <a:pt x="43846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257655" y="4749487"/>
            <a:ext cx="43846" cy="2959622"/>
          </a:xfrm>
          <a:custGeom>
            <a:avLst/>
            <a:gdLst/>
            <a:ahLst/>
            <a:cxnLst/>
            <a:rect l="l" t="t" r="r" b="b"/>
            <a:pathLst>
              <a:path w="43846" h="2959622">
                <a:moveTo>
                  <a:pt x="43846" y="0"/>
                </a:moveTo>
                <a:lnTo>
                  <a:pt x="43846" y="0"/>
                </a:lnTo>
                <a:lnTo>
                  <a:pt x="43846" y="2959622"/>
                </a:lnTo>
                <a:lnTo>
                  <a:pt x="43846" y="2959622"/>
                </a:lnTo>
                <a:cubicBezTo>
                  <a:pt x="19631" y="2959622"/>
                  <a:pt x="0" y="2939992"/>
                  <a:pt x="0" y="2915776"/>
                </a:cubicBezTo>
                <a:lnTo>
                  <a:pt x="0" y="43846"/>
                </a:lnTo>
                <a:cubicBezTo>
                  <a:pt x="0" y="19631"/>
                  <a:pt x="19631" y="0"/>
                  <a:pt x="43846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542655" y="5012564"/>
            <a:ext cx="701540" cy="701540"/>
          </a:xfrm>
          <a:custGeom>
            <a:avLst/>
            <a:gdLst/>
            <a:ahLst/>
            <a:cxnLst/>
            <a:rect l="l" t="t" r="r" b="b"/>
            <a:pathLst>
              <a:path w="701540" h="701540">
                <a:moveTo>
                  <a:pt x="350770" y="0"/>
                </a:moveTo>
                <a:lnTo>
                  <a:pt x="350770" y="0"/>
                </a:lnTo>
                <a:cubicBezTo>
                  <a:pt x="544495" y="0"/>
                  <a:pt x="701540" y="157045"/>
                  <a:pt x="701540" y="350770"/>
                </a:cubicBezTo>
                <a:lnTo>
                  <a:pt x="701540" y="350770"/>
                </a:lnTo>
                <a:cubicBezTo>
                  <a:pt x="701540" y="544495"/>
                  <a:pt x="544495" y="701540"/>
                  <a:pt x="350770" y="701540"/>
                </a:cubicBezTo>
                <a:lnTo>
                  <a:pt x="350770" y="701540"/>
                </a:lnTo>
                <a:cubicBezTo>
                  <a:pt x="157045" y="701540"/>
                  <a:pt x="0" y="544495"/>
                  <a:pt x="0" y="350770"/>
                </a:cubicBezTo>
                <a:lnTo>
                  <a:pt x="0" y="350770"/>
                </a:lnTo>
                <a:cubicBezTo>
                  <a:pt x="0" y="157045"/>
                  <a:pt x="157045" y="0"/>
                  <a:pt x="35077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778329" y="5231795"/>
            <a:ext cx="230193" cy="263078"/>
          </a:xfrm>
          <a:custGeom>
            <a:avLst/>
            <a:gdLst/>
            <a:ahLst/>
            <a:cxnLst/>
            <a:rect l="l" t="t" r="r" b="b"/>
            <a:pathLst>
              <a:path w="230193" h="263078">
                <a:moveTo>
                  <a:pt x="86322" y="16442"/>
                </a:moveTo>
                <a:lnTo>
                  <a:pt x="12332" y="16442"/>
                </a:lnTo>
                <a:cubicBezTo>
                  <a:pt x="5498" y="16442"/>
                  <a:pt x="0" y="21940"/>
                  <a:pt x="0" y="28774"/>
                </a:cubicBezTo>
                <a:lnTo>
                  <a:pt x="0" y="102765"/>
                </a:lnTo>
                <a:cubicBezTo>
                  <a:pt x="0" y="107749"/>
                  <a:pt x="2980" y="112270"/>
                  <a:pt x="7605" y="114172"/>
                </a:cubicBezTo>
                <a:cubicBezTo>
                  <a:pt x="12229" y="116073"/>
                  <a:pt x="17521" y="114994"/>
                  <a:pt x="21067" y="111500"/>
                </a:cubicBezTo>
                <a:lnTo>
                  <a:pt x="41620" y="90947"/>
                </a:lnTo>
                <a:lnTo>
                  <a:pt x="82212" y="131539"/>
                </a:lnTo>
                <a:lnTo>
                  <a:pt x="41620" y="172131"/>
                </a:lnTo>
                <a:lnTo>
                  <a:pt x="21067" y="151578"/>
                </a:lnTo>
                <a:cubicBezTo>
                  <a:pt x="17521" y="148033"/>
                  <a:pt x="12229" y="147005"/>
                  <a:pt x="7605" y="148906"/>
                </a:cubicBezTo>
                <a:cubicBezTo>
                  <a:pt x="2980" y="150807"/>
                  <a:pt x="0" y="155329"/>
                  <a:pt x="0" y="160313"/>
                </a:cubicBezTo>
                <a:lnTo>
                  <a:pt x="0" y="234303"/>
                </a:lnTo>
                <a:cubicBezTo>
                  <a:pt x="0" y="241137"/>
                  <a:pt x="5498" y="246635"/>
                  <a:pt x="12332" y="246635"/>
                </a:cubicBezTo>
                <a:lnTo>
                  <a:pt x="86322" y="246635"/>
                </a:lnTo>
                <a:cubicBezTo>
                  <a:pt x="91306" y="246635"/>
                  <a:pt x="95828" y="243655"/>
                  <a:pt x="97729" y="239031"/>
                </a:cubicBezTo>
                <a:cubicBezTo>
                  <a:pt x="99630" y="234406"/>
                  <a:pt x="98603" y="229114"/>
                  <a:pt x="95057" y="225568"/>
                </a:cubicBezTo>
                <a:lnTo>
                  <a:pt x="74504" y="205016"/>
                </a:lnTo>
                <a:lnTo>
                  <a:pt x="115096" y="164423"/>
                </a:lnTo>
                <a:lnTo>
                  <a:pt x="155688" y="205016"/>
                </a:lnTo>
                <a:lnTo>
                  <a:pt x="135136" y="225568"/>
                </a:lnTo>
                <a:cubicBezTo>
                  <a:pt x="131590" y="229114"/>
                  <a:pt x="130563" y="234406"/>
                  <a:pt x="132464" y="239031"/>
                </a:cubicBezTo>
                <a:cubicBezTo>
                  <a:pt x="134365" y="243655"/>
                  <a:pt x="138886" y="246635"/>
                  <a:pt x="143871" y="246635"/>
                </a:cubicBezTo>
                <a:lnTo>
                  <a:pt x="217861" y="246635"/>
                </a:lnTo>
                <a:cubicBezTo>
                  <a:pt x="224695" y="246635"/>
                  <a:pt x="230193" y="241137"/>
                  <a:pt x="230193" y="234303"/>
                </a:cubicBezTo>
                <a:lnTo>
                  <a:pt x="230193" y="160313"/>
                </a:lnTo>
                <a:cubicBezTo>
                  <a:pt x="230193" y="155329"/>
                  <a:pt x="227213" y="150807"/>
                  <a:pt x="222588" y="148906"/>
                </a:cubicBezTo>
                <a:cubicBezTo>
                  <a:pt x="217964" y="147005"/>
                  <a:pt x="212671" y="148033"/>
                  <a:pt x="209126" y="151578"/>
                </a:cubicBezTo>
                <a:lnTo>
                  <a:pt x="188573" y="172131"/>
                </a:lnTo>
                <a:lnTo>
                  <a:pt x="147981" y="131539"/>
                </a:lnTo>
                <a:lnTo>
                  <a:pt x="188573" y="90947"/>
                </a:lnTo>
                <a:lnTo>
                  <a:pt x="209126" y="111500"/>
                </a:lnTo>
                <a:cubicBezTo>
                  <a:pt x="212671" y="115045"/>
                  <a:pt x="217964" y="116073"/>
                  <a:pt x="222588" y="114172"/>
                </a:cubicBezTo>
                <a:cubicBezTo>
                  <a:pt x="227213" y="112270"/>
                  <a:pt x="230193" y="107749"/>
                  <a:pt x="230193" y="102765"/>
                </a:cubicBezTo>
                <a:lnTo>
                  <a:pt x="230193" y="28774"/>
                </a:lnTo>
                <a:cubicBezTo>
                  <a:pt x="230193" y="21940"/>
                  <a:pt x="224695" y="16442"/>
                  <a:pt x="217861" y="16442"/>
                </a:cubicBezTo>
                <a:lnTo>
                  <a:pt x="143871" y="16442"/>
                </a:lnTo>
                <a:cubicBezTo>
                  <a:pt x="138886" y="16442"/>
                  <a:pt x="134365" y="19423"/>
                  <a:pt x="132464" y="24047"/>
                </a:cubicBezTo>
                <a:cubicBezTo>
                  <a:pt x="130563" y="28671"/>
                  <a:pt x="131642" y="33964"/>
                  <a:pt x="135136" y="37509"/>
                </a:cubicBezTo>
                <a:lnTo>
                  <a:pt x="155688" y="58062"/>
                </a:lnTo>
                <a:lnTo>
                  <a:pt x="115096" y="98654"/>
                </a:lnTo>
                <a:lnTo>
                  <a:pt x="74504" y="58062"/>
                </a:lnTo>
                <a:lnTo>
                  <a:pt x="95057" y="37509"/>
                </a:lnTo>
                <a:cubicBezTo>
                  <a:pt x="98603" y="33964"/>
                  <a:pt x="99630" y="28671"/>
                  <a:pt x="97729" y="24047"/>
                </a:cubicBezTo>
                <a:cubicBezTo>
                  <a:pt x="95828" y="19423"/>
                  <a:pt x="91306" y="16442"/>
                  <a:pt x="86322" y="16442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9419581" y="5187949"/>
            <a:ext cx="1183849" cy="350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71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扩展性差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542655" y="5889489"/>
            <a:ext cx="7092132" cy="2850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1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难以动态扩展存储容量和计算能力。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542655" y="6306029"/>
            <a:ext cx="7004440" cy="526155"/>
          </a:xfrm>
          <a:custGeom>
            <a:avLst/>
            <a:gdLst/>
            <a:ahLst/>
            <a:cxnLst/>
            <a:rect l="l" t="t" r="r" b="b"/>
            <a:pathLst>
              <a:path w="7004440" h="526155">
                <a:moveTo>
                  <a:pt x="43845" y="0"/>
                </a:moveTo>
                <a:lnTo>
                  <a:pt x="6960595" y="0"/>
                </a:lnTo>
                <a:cubicBezTo>
                  <a:pt x="6984810" y="0"/>
                  <a:pt x="7004440" y="19630"/>
                  <a:pt x="7004440" y="43845"/>
                </a:cubicBezTo>
                <a:lnTo>
                  <a:pt x="7004440" y="482311"/>
                </a:lnTo>
                <a:cubicBezTo>
                  <a:pt x="7004440" y="506525"/>
                  <a:pt x="6984810" y="526155"/>
                  <a:pt x="6960595" y="526155"/>
                </a:cubicBezTo>
                <a:lnTo>
                  <a:pt x="43845" y="526155"/>
                </a:lnTo>
                <a:cubicBezTo>
                  <a:pt x="19630" y="526155"/>
                  <a:pt x="0" y="506525"/>
                  <a:pt x="0" y="482311"/>
                </a:cubicBezTo>
                <a:lnTo>
                  <a:pt x="0" y="43845"/>
                </a:lnTo>
                <a:cubicBezTo>
                  <a:pt x="0" y="19646"/>
                  <a:pt x="19646" y="0"/>
                  <a:pt x="43845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674194" y="6437567"/>
            <a:ext cx="6829055" cy="26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1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垂直扩展：</a:t>
            </a:r>
            <a:r>
              <a:rPr lang="en-US" sz="1381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只能通过升级硬件，成本高且有限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542655" y="6919876"/>
            <a:ext cx="7004440" cy="526155"/>
          </a:xfrm>
          <a:custGeom>
            <a:avLst/>
            <a:gdLst/>
            <a:ahLst/>
            <a:cxnLst/>
            <a:rect l="l" t="t" r="r" b="b"/>
            <a:pathLst>
              <a:path w="7004440" h="526155">
                <a:moveTo>
                  <a:pt x="43845" y="0"/>
                </a:moveTo>
                <a:lnTo>
                  <a:pt x="6960595" y="0"/>
                </a:lnTo>
                <a:cubicBezTo>
                  <a:pt x="6984810" y="0"/>
                  <a:pt x="7004440" y="19630"/>
                  <a:pt x="7004440" y="43845"/>
                </a:cubicBezTo>
                <a:lnTo>
                  <a:pt x="7004440" y="482311"/>
                </a:lnTo>
                <a:cubicBezTo>
                  <a:pt x="7004440" y="506525"/>
                  <a:pt x="6984810" y="526155"/>
                  <a:pt x="6960595" y="526155"/>
                </a:cubicBezTo>
                <a:lnTo>
                  <a:pt x="43845" y="526155"/>
                </a:lnTo>
                <a:cubicBezTo>
                  <a:pt x="19630" y="526155"/>
                  <a:pt x="0" y="506525"/>
                  <a:pt x="0" y="482311"/>
                </a:cubicBezTo>
                <a:lnTo>
                  <a:pt x="0" y="43845"/>
                </a:lnTo>
                <a:cubicBezTo>
                  <a:pt x="0" y="19646"/>
                  <a:pt x="19646" y="0"/>
                  <a:pt x="43845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674194" y="7051415"/>
            <a:ext cx="6829055" cy="263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1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水平扩展：</a:t>
            </a:r>
            <a:r>
              <a:rPr lang="en-US" sz="1381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无法通过增加服务器节点扩展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43943" y="7829009"/>
            <a:ext cx="15368113" cy="1129041"/>
          </a:xfrm>
          <a:custGeom>
            <a:avLst/>
            <a:gdLst/>
            <a:ahLst/>
            <a:cxnLst/>
            <a:rect l="l" t="t" r="r" b="b"/>
            <a:pathLst>
              <a:path w="15368113" h="1129041">
                <a:moveTo>
                  <a:pt x="87693" y="0"/>
                </a:moveTo>
                <a:lnTo>
                  <a:pt x="15280421" y="0"/>
                </a:lnTo>
                <a:cubicBezTo>
                  <a:pt x="15328852" y="0"/>
                  <a:pt x="15368113" y="39261"/>
                  <a:pt x="15368113" y="87693"/>
                </a:cubicBezTo>
                <a:lnTo>
                  <a:pt x="15368113" y="1041349"/>
                </a:lnTo>
                <a:cubicBezTo>
                  <a:pt x="15368113" y="1089780"/>
                  <a:pt x="15328852" y="1129041"/>
                  <a:pt x="15280421" y="1129041"/>
                </a:cubicBezTo>
                <a:lnTo>
                  <a:pt x="87693" y="1129041"/>
                </a:lnTo>
                <a:cubicBezTo>
                  <a:pt x="39261" y="1129041"/>
                  <a:pt x="0" y="1089780"/>
                  <a:pt x="0" y="1041349"/>
                </a:cubicBezTo>
                <a:lnTo>
                  <a:pt x="0" y="87693"/>
                </a:lnTo>
                <a:cubicBezTo>
                  <a:pt x="0" y="39294"/>
                  <a:pt x="39294" y="0"/>
                  <a:pt x="87693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767310" y="8196221"/>
            <a:ext cx="295962" cy="394616"/>
          </a:xfrm>
          <a:custGeom>
            <a:avLst/>
            <a:gdLst/>
            <a:ahLst/>
            <a:cxnLst/>
            <a:rect l="l" t="t" r="r" b="b"/>
            <a:pathLst>
              <a:path w="295962" h="394616">
                <a:moveTo>
                  <a:pt x="225748" y="295962"/>
                </a:moveTo>
                <a:cubicBezTo>
                  <a:pt x="231375" y="278775"/>
                  <a:pt x="242627" y="263206"/>
                  <a:pt x="255345" y="249795"/>
                </a:cubicBezTo>
                <a:cubicBezTo>
                  <a:pt x="280548" y="223282"/>
                  <a:pt x="295962" y="187443"/>
                  <a:pt x="295962" y="147981"/>
                </a:cubicBezTo>
                <a:cubicBezTo>
                  <a:pt x="295962" y="66283"/>
                  <a:pt x="229679" y="0"/>
                  <a:pt x="147981" y="0"/>
                </a:cubicBezTo>
                <a:cubicBezTo>
                  <a:pt x="66283" y="0"/>
                  <a:pt x="0" y="66283"/>
                  <a:pt x="0" y="147981"/>
                </a:cubicBezTo>
                <a:cubicBezTo>
                  <a:pt x="0" y="187443"/>
                  <a:pt x="15415" y="223282"/>
                  <a:pt x="40618" y="249795"/>
                </a:cubicBezTo>
                <a:cubicBezTo>
                  <a:pt x="53335" y="263206"/>
                  <a:pt x="64665" y="278775"/>
                  <a:pt x="70214" y="295962"/>
                </a:cubicBezTo>
                <a:lnTo>
                  <a:pt x="225671" y="295962"/>
                </a:lnTo>
                <a:close/>
                <a:moveTo>
                  <a:pt x="221972" y="332958"/>
                </a:moveTo>
                <a:lnTo>
                  <a:pt x="73991" y="332958"/>
                </a:lnTo>
                <a:lnTo>
                  <a:pt x="73991" y="345289"/>
                </a:lnTo>
                <a:cubicBezTo>
                  <a:pt x="73991" y="379356"/>
                  <a:pt x="101583" y="406948"/>
                  <a:pt x="135649" y="406948"/>
                </a:cubicBezTo>
                <a:lnTo>
                  <a:pt x="160313" y="406948"/>
                </a:lnTo>
                <a:cubicBezTo>
                  <a:pt x="194379" y="406948"/>
                  <a:pt x="221972" y="379356"/>
                  <a:pt x="221972" y="345289"/>
                </a:cubicBezTo>
                <a:lnTo>
                  <a:pt x="221972" y="332958"/>
                </a:lnTo>
                <a:close/>
                <a:moveTo>
                  <a:pt x="141815" y="86322"/>
                </a:moveTo>
                <a:cubicBezTo>
                  <a:pt x="111140" y="86322"/>
                  <a:pt x="86322" y="111140"/>
                  <a:pt x="86322" y="141815"/>
                </a:cubicBezTo>
                <a:cubicBezTo>
                  <a:pt x="86322" y="152066"/>
                  <a:pt x="78075" y="160313"/>
                  <a:pt x="67825" y="160313"/>
                </a:cubicBezTo>
                <a:cubicBezTo>
                  <a:pt x="57574" y="160313"/>
                  <a:pt x="49327" y="152066"/>
                  <a:pt x="49327" y="141815"/>
                </a:cubicBezTo>
                <a:cubicBezTo>
                  <a:pt x="49327" y="90716"/>
                  <a:pt x="90716" y="49327"/>
                  <a:pt x="141815" y="49327"/>
                </a:cubicBezTo>
                <a:cubicBezTo>
                  <a:pt x="152066" y="49327"/>
                  <a:pt x="160313" y="57574"/>
                  <a:pt x="160313" y="67825"/>
                </a:cubicBezTo>
                <a:cubicBezTo>
                  <a:pt x="160313" y="78075"/>
                  <a:pt x="152066" y="86322"/>
                  <a:pt x="141815" y="86322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337311" y="8053721"/>
            <a:ext cx="12134452" cy="306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26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核心洞察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337311" y="8448337"/>
            <a:ext cx="12112529" cy="2850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1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传统文件系统为</a:t>
            </a:r>
            <a:r>
              <a:rPr lang="en-US" sz="1381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单机环境</a:t>
            </a:r>
            <a:r>
              <a:rPr lang="en-US" sz="1381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设计，无法应对</a:t>
            </a:r>
            <a:r>
              <a:rPr lang="en-US" sz="1381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互联网规模</a:t>
            </a:r>
            <a:r>
              <a:rPr lang="en-US" sz="1381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的数据挑战。Google 需要全新的</a:t>
            </a:r>
            <a:r>
              <a:rPr lang="en-US" sz="1381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分布式文件系统</a:t>
            </a:r>
            <a:r>
              <a:rPr lang="en-US" sz="1381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，通过软件层面实现容量、性能、可靠性的横向扩展。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08000" y="11811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152400" y="0"/>
                </a:moveTo>
                <a:lnTo>
                  <a:pt x="1066800" y="0"/>
                </a:lnTo>
                <a:cubicBezTo>
                  <a:pt x="1150912" y="0"/>
                  <a:pt x="1219200" y="68288"/>
                  <a:pt x="1219200" y="152400"/>
                </a:cubicBezTo>
                <a:lnTo>
                  <a:pt x="1219200" y="1066800"/>
                </a:lnTo>
                <a:cubicBezTo>
                  <a:pt x="1219200" y="1150912"/>
                  <a:pt x="1150912" y="1219200"/>
                  <a:pt x="1066800" y="1219200"/>
                </a:cubicBezTo>
                <a:lnTo>
                  <a:pt x="152400" y="1219200"/>
                </a:lnTo>
                <a:cubicBezTo>
                  <a:pt x="68288" y="1219200"/>
                  <a:pt x="0" y="1150912"/>
                  <a:pt x="0" y="10668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46026" y="1485900"/>
            <a:ext cx="1054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32000" y="1282700"/>
            <a:ext cx="101600" cy="1016000"/>
          </a:xfrm>
          <a:custGeom>
            <a:avLst/>
            <a:gdLst/>
            <a:ahLst/>
            <a:cxnLst/>
            <a:rect l="l" t="t" r="r" b="b"/>
            <a:pathLst>
              <a:path w="101600" h="1016000">
                <a:moveTo>
                  <a:pt x="0" y="0"/>
                </a:moveTo>
                <a:lnTo>
                  <a:pt x="101600" y="0"/>
                </a:lnTo>
                <a:lnTo>
                  <a:pt x="1016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08000" y="2806700"/>
            <a:ext cx="1061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GFS 要解决的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问题与设计目标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397500"/>
            <a:ext cx="2438400" cy="76200"/>
          </a:xfrm>
          <a:custGeom>
            <a:avLst/>
            <a:gdLst/>
            <a:ahLst/>
            <a:cxnLst/>
            <a:rect l="l" t="t" r="r" b="b"/>
            <a:pathLst>
              <a:path w="2438400" h="76200">
                <a:moveTo>
                  <a:pt x="0" y="0"/>
                </a:moveTo>
                <a:lnTo>
                  <a:pt x="2438400" y="0"/>
                </a:lnTo>
                <a:lnTo>
                  <a:pt x="2438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08000" y="5880100"/>
            <a:ext cx="8686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深入分析 Google 面临的技术挑战，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 GFS 的设计假设和核心目标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14350" y="7283450"/>
            <a:ext cx="2070100" cy="673100"/>
          </a:xfrm>
          <a:custGeom>
            <a:avLst/>
            <a:gdLst/>
            <a:ahLst/>
            <a:cxnLst/>
            <a:rect l="l" t="t" r="r" b="b"/>
            <a:pathLst>
              <a:path w="2070100" h="673100">
                <a:moveTo>
                  <a:pt x="101598" y="0"/>
                </a:moveTo>
                <a:lnTo>
                  <a:pt x="1968502" y="0"/>
                </a:lnTo>
                <a:cubicBezTo>
                  <a:pt x="2024613" y="0"/>
                  <a:pt x="2070100" y="45487"/>
                  <a:pt x="2070100" y="101598"/>
                </a:cubicBezTo>
                <a:lnTo>
                  <a:pt x="2070100" y="571502"/>
                </a:lnTo>
                <a:cubicBezTo>
                  <a:pt x="2070100" y="627613"/>
                  <a:pt x="2024613" y="673100"/>
                  <a:pt x="1968502" y="673100"/>
                </a:cubicBezTo>
                <a:lnTo>
                  <a:pt x="101598" y="673100"/>
                </a:lnTo>
                <a:cubicBezTo>
                  <a:pt x="45487" y="673100"/>
                  <a:pt x="0" y="627613"/>
                  <a:pt x="0" y="5715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857250" y="7493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1354138" y="74676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业务挑战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795588" y="7283450"/>
            <a:ext cx="2070100" cy="673100"/>
          </a:xfrm>
          <a:custGeom>
            <a:avLst/>
            <a:gdLst/>
            <a:ahLst/>
            <a:cxnLst/>
            <a:rect l="l" t="t" r="r" b="b"/>
            <a:pathLst>
              <a:path w="2070100" h="673100">
                <a:moveTo>
                  <a:pt x="101598" y="0"/>
                </a:moveTo>
                <a:lnTo>
                  <a:pt x="1968502" y="0"/>
                </a:lnTo>
                <a:cubicBezTo>
                  <a:pt x="2024613" y="0"/>
                  <a:pt x="2070100" y="45487"/>
                  <a:pt x="2070100" y="101598"/>
                </a:cubicBezTo>
                <a:lnTo>
                  <a:pt x="2070100" y="571502"/>
                </a:lnTo>
                <a:cubicBezTo>
                  <a:pt x="2070100" y="627613"/>
                  <a:pt x="2024613" y="673100"/>
                  <a:pt x="1968502" y="673100"/>
                </a:cubicBezTo>
                <a:lnTo>
                  <a:pt x="101598" y="673100"/>
                </a:lnTo>
                <a:cubicBezTo>
                  <a:pt x="45487" y="673100"/>
                  <a:pt x="0" y="627613"/>
                  <a:pt x="0" y="5715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3106738" y="74930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06325" y="104428"/>
                </a:moveTo>
                <a:cubicBezTo>
                  <a:pt x="212378" y="102791"/>
                  <a:pt x="218728" y="105668"/>
                  <a:pt x="221456" y="111274"/>
                </a:cubicBezTo>
                <a:lnTo>
                  <a:pt x="230684" y="129927"/>
                </a:lnTo>
                <a:cubicBezTo>
                  <a:pt x="235793" y="130621"/>
                  <a:pt x="240804" y="132011"/>
                  <a:pt x="245517" y="133945"/>
                </a:cubicBezTo>
                <a:lnTo>
                  <a:pt x="262880" y="122386"/>
                </a:lnTo>
                <a:cubicBezTo>
                  <a:pt x="268089" y="118914"/>
                  <a:pt x="274985" y="119608"/>
                  <a:pt x="279400" y="124023"/>
                </a:cubicBezTo>
                <a:lnTo>
                  <a:pt x="288925" y="133548"/>
                </a:lnTo>
                <a:cubicBezTo>
                  <a:pt x="293340" y="137964"/>
                  <a:pt x="294035" y="144909"/>
                  <a:pt x="290562" y="150068"/>
                </a:cubicBezTo>
                <a:lnTo>
                  <a:pt x="279003" y="167382"/>
                </a:lnTo>
                <a:cubicBezTo>
                  <a:pt x="279946" y="169714"/>
                  <a:pt x="280789" y="172145"/>
                  <a:pt x="281484" y="174675"/>
                </a:cubicBezTo>
                <a:cubicBezTo>
                  <a:pt x="282178" y="177205"/>
                  <a:pt x="282625" y="179685"/>
                  <a:pt x="282972" y="182215"/>
                </a:cubicBezTo>
                <a:lnTo>
                  <a:pt x="301675" y="191443"/>
                </a:lnTo>
                <a:cubicBezTo>
                  <a:pt x="307280" y="194221"/>
                  <a:pt x="310158" y="200571"/>
                  <a:pt x="308521" y="206573"/>
                </a:cubicBezTo>
                <a:lnTo>
                  <a:pt x="305048" y="219571"/>
                </a:lnTo>
                <a:cubicBezTo>
                  <a:pt x="303411" y="225574"/>
                  <a:pt x="297805" y="229642"/>
                  <a:pt x="291554" y="229245"/>
                </a:cubicBezTo>
                <a:lnTo>
                  <a:pt x="270718" y="227905"/>
                </a:lnTo>
                <a:cubicBezTo>
                  <a:pt x="267593" y="231924"/>
                  <a:pt x="263971" y="235645"/>
                  <a:pt x="259854" y="238820"/>
                </a:cubicBezTo>
                <a:lnTo>
                  <a:pt x="261193" y="259606"/>
                </a:lnTo>
                <a:cubicBezTo>
                  <a:pt x="261590" y="265857"/>
                  <a:pt x="257522" y="271512"/>
                  <a:pt x="251520" y="273100"/>
                </a:cubicBezTo>
                <a:lnTo>
                  <a:pt x="238522" y="276572"/>
                </a:lnTo>
                <a:cubicBezTo>
                  <a:pt x="232470" y="278209"/>
                  <a:pt x="226169" y="275332"/>
                  <a:pt x="223391" y="269726"/>
                </a:cubicBezTo>
                <a:lnTo>
                  <a:pt x="214164" y="251073"/>
                </a:lnTo>
                <a:cubicBezTo>
                  <a:pt x="209054" y="250379"/>
                  <a:pt x="204043" y="248989"/>
                  <a:pt x="199330" y="247055"/>
                </a:cubicBezTo>
                <a:lnTo>
                  <a:pt x="181967" y="258614"/>
                </a:lnTo>
                <a:cubicBezTo>
                  <a:pt x="176758" y="262086"/>
                  <a:pt x="169863" y="261392"/>
                  <a:pt x="165447" y="256977"/>
                </a:cubicBezTo>
                <a:lnTo>
                  <a:pt x="155922" y="247452"/>
                </a:lnTo>
                <a:cubicBezTo>
                  <a:pt x="151507" y="243036"/>
                  <a:pt x="150813" y="236141"/>
                  <a:pt x="154285" y="230932"/>
                </a:cubicBezTo>
                <a:lnTo>
                  <a:pt x="165844" y="213568"/>
                </a:lnTo>
                <a:cubicBezTo>
                  <a:pt x="164902" y="211237"/>
                  <a:pt x="164058" y="208806"/>
                  <a:pt x="163364" y="206276"/>
                </a:cubicBezTo>
                <a:cubicBezTo>
                  <a:pt x="162669" y="203746"/>
                  <a:pt x="162223" y="201216"/>
                  <a:pt x="161875" y="198735"/>
                </a:cubicBezTo>
                <a:lnTo>
                  <a:pt x="143173" y="189508"/>
                </a:lnTo>
                <a:cubicBezTo>
                  <a:pt x="137567" y="186730"/>
                  <a:pt x="134739" y="180380"/>
                  <a:pt x="136327" y="174377"/>
                </a:cubicBezTo>
                <a:lnTo>
                  <a:pt x="139799" y="161379"/>
                </a:lnTo>
                <a:cubicBezTo>
                  <a:pt x="141436" y="155377"/>
                  <a:pt x="147042" y="151309"/>
                  <a:pt x="153293" y="151705"/>
                </a:cubicBezTo>
                <a:lnTo>
                  <a:pt x="174079" y="153045"/>
                </a:lnTo>
                <a:cubicBezTo>
                  <a:pt x="177205" y="149027"/>
                  <a:pt x="180826" y="145306"/>
                  <a:pt x="184944" y="142131"/>
                </a:cubicBezTo>
                <a:lnTo>
                  <a:pt x="183604" y="121394"/>
                </a:lnTo>
                <a:cubicBezTo>
                  <a:pt x="183207" y="115143"/>
                  <a:pt x="187275" y="109488"/>
                  <a:pt x="193278" y="107900"/>
                </a:cubicBezTo>
                <a:lnTo>
                  <a:pt x="206276" y="104428"/>
                </a:lnTo>
                <a:close/>
                <a:moveTo>
                  <a:pt x="222448" y="168672"/>
                </a:moveTo>
                <a:cubicBezTo>
                  <a:pt x="210401" y="168686"/>
                  <a:pt x="200631" y="178478"/>
                  <a:pt x="200645" y="190525"/>
                </a:cubicBezTo>
                <a:cubicBezTo>
                  <a:pt x="200659" y="202572"/>
                  <a:pt x="210451" y="212342"/>
                  <a:pt x="222498" y="212328"/>
                </a:cubicBezTo>
                <a:cubicBezTo>
                  <a:pt x="234545" y="212314"/>
                  <a:pt x="244315" y="202522"/>
                  <a:pt x="244301" y="190475"/>
                </a:cubicBezTo>
                <a:cubicBezTo>
                  <a:pt x="244288" y="178428"/>
                  <a:pt x="234496" y="168658"/>
                  <a:pt x="222448" y="168672"/>
                </a:cubicBezTo>
                <a:close/>
                <a:moveTo>
                  <a:pt x="111571" y="-22572"/>
                </a:moveTo>
                <a:lnTo>
                  <a:pt x="124569" y="-19100"/>
                </a:lnTo>
                <a:cubicBezTo>
                  <a:pt x="130572" y="-17462"/>
                  <a:pt x="134640" y="-11807"/>
                  <a:pt x="134243" y="-5606"/>
                </a:cubicBezTo>
                <a:lnTo>
                  <a:pt x="132904" y="15131"/>
                </a:lnTo>
                <a:cubicBezTo>
                  <a:pt x="137021" y="18306"/>
                  <a:pt x="140643" y="21977"/>
                  <a:pt x="143768" y="26045"/>
                </a:cubicBezTo>
                <a:lnTo>
                  <a:pt x="164604" y="24705"/>
                </a:lnTo>
                <a:cubicBezTo>
                  <a:pt x="170805" y="24309"/>
                  <a:pt x="176461" y="28377"/>
                  <a:pt x="178098" y="34379"/>
                </a:cubicBezTo>
                <a:lnTo>
                  <a:pt x="181570" y="47377"/>
                </a:lnTo>
                <a:cubicBezTo>
                  <a:pt x="183158" y="53380"/>
                  <a:pt x="180330" y="59730"/>
                  <a:pt x="174724" y="62508"/>
                </a:cubicBezTo>
                <a:lnTo>
                  <a:pt x="156021" y="71735"/>
                </a:lnTo>
                <a:cubicBezTo>
                  <a:pt x="155674" y="74265"/>
                  <a:pt x="155178" y="76795"/>
                  <a:pt x="154533" y="79276"/>
                </a:cubicBezTo>
                <a:cubicBezTo>
                  <a:pt x="153888" y="81756"/>
                  <a:pt x="152995" y="84237"/>
                  <a:pt x="152053" y="86568"/>
                </a:cubicBezTo>
                <a:lnTo>
                  <a:pt x="163612" y="103932"/>
                </a:lnTo>
                <a:cubicBezTo>
                  <a:pt x="167084" y="109141"/>
                  <a:pt x="166390" y="116036"/>
                  <a:pt x="161975" y="120452"/>
                </a:cubicBezTo>
                <a:lnTo>
                  <a:pt x="152450" y="129977"/>
                </a:lnTo>
                <a:cubicBezTo>
                  <a:pt x="148034" y="134392"/>
                  <a:pt x="141139" y="135086"/>
                  <a:pt x="135930" y="131614"/>
                </a:cubicBezTo>
                <a:lnTo>
                  <a:pt x="118566" y="120055"/>
                </a:lnTo>
                <a:cubicBezTo>
                  <a:pt x="113854" y="121989"/>
                  <a:pt x="108843" y="123379"/>
                  <a:pt x="103733" y="124073"/>
                </a:cubicBezTo>
                <a:lnTo>
                  <a:pt x="94506" y="142726"/>
                </a:lnTo>
                <a:cubicBezTo>
                  <a:pt x="91728" y="148332"/>
                  <a:pt x="85378" y="151160"/>
                  <a:pt x="79375" y="149572"/>
                </a:cubicBezTo>
                <a:lnTo>
                  <a:pt x="66377" y="146100"/>
                </a:lnTo>
                <a:cubicBezTo>
                  <a:pt x="60325" y="144463"/>
                  <a:pt x="56307" y="138807"/>
                  <a:pt x="56704" y="132606"/>
                </a:cubicBezTo>
                <a:lnTo>
                  <a:pt x="58043" y="111820"/>
                </a:lnTo>
                <a:cubicBezTo>
                  <a:pt x="53925" y="108645"/>
                  <a:pt x="50304" y="104973"/>
                  <a:pt x="47179" y="100905"/>
                </a:cubicBezTo>
                <a:lnTo>
                  <a:pt x="26343" y="102245"/>
                </a:lnTo>
                <a:cubicBezTo>
                  <a:pt x="20141" y="102642"/>
                  <a:pt x="14486" y="98574"/>
                  <a:pt x="12849" y="92571"/>
                </a:cubicBezTo>
                <a:lnTo>
                  <a:pt x="9376" y="79573"/>
                </a:lnTo>
                <a:cubicBezTo>
                  <a:pt x="7789" y="73571"/>
                  <a:pt x="10616" y="67221"/>
                  <a:pt x="16222" y="64443"/>
                </a:cubicBezTo>
                <a:lnTo>
                  <a:pt x="34925" y="55215"/>
                </a:lnTo>
                <a:cubicBezTo>
                  <a:pt x="35272" y="52685"/>
                  <a:pt x="35768" y="50205"/>
                  <a:pt x="36413" y="47675"/>
                </a:cubicBezTo>
                <a:cubicBezTo>
                  <a:pt x="37108" y="45145"/>
                  <a:pt x="37902" y="42714"/>
                  <a:pt x="38894" y="40382"/>
                </a:cubicBezTo>
                <a:lnTo>
                  <a:pt x="27335" y="23068"/>
                </a:lnTo>
                <a:cubicBezTo>
                  <a:pt x="23862" y="17859"/>
                  <a:pt x="24557" y="10964"/>
                  <a:pt x="28972" y="6548"/>
                </a:cubicBezTo>
                <a:lnTo>
                  <a:pt x="38497" y="-2977"/>
                </a:lnTo>
                <a:cubicBezTo>
                  <a:pt x="42912" y="-7392"/>
                  <a:pt x="49808" y="-8086"/>
                  <a:pt x="55017" y="-4614"/>
                </a:cubicBezTo>
                <a:lnTo>
                  <a:pt x="72380" y="6945"/>
                </a:lnTo>
                <a:cubicBezTo>
                  <a:pt x="77093" y="5011"/>
                  <a:pt x="82104" y="3621"/>
                  <a:pt x="87213" y="2927"/>
                </a:cubicBezTo>
                <a:lnTo>
                  <a:pt x="96441" y="-15726"/>
                </a:lnTo>
                <a:cubicBezTo>
                  <a:pt x="99219" y="-21332"/>
                  <a:pt x="105519" y="-24160"/>
                  <a:pt x="111571" y="-22572"/>
                </a:cubicBezTo>
                <a:close/>
                <a:moveTo>
                  <a:pt x="95448" y="41672"/>
                </a:moveTo>
                <a:cubicBezTo>
                  <a:pt x="83401" y="41672"/>
                  <a:pt x="73620" y="51453"/>
                  <a:pt x="73620" y="63500"/>
                </a:cubicBezTo>
                <a:cubicBezTo>
                  <a:pt x="73620" y="75547"/>
                  <a:pt x="83401" y="85328"/>
                  <a:pt x="95448" y="85328"/>
                </a:cubicBezTo>
                <a:cubicBezTo>
                  <a:pt x="107496" y="85328"/>
                  <a:pt x="117277" y="75547"/>
                  <a:pt x="117277" y="63500"/>
                </a:cubicBezTo>
                <a:cubicBezTo>
                  <a:pt x="117277" y="51453"/>
                  <a:pt x="107496" y="41672"/>
                  <a:pt x="95448" y="41672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3635375" y="74676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设计假设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076825" y="7283450"/>
            <a:ext cx="2070100" cy="673100"/>
          </a:xfrm>
          <a:custGeom>
            <a:avLst/>
            <a:gdLst/>
            <a:ahLst/>
            <a:cxnLst/>
            <a:rect l="l" t="t" r="r" b="b"/>
            <a:pathLst>
              <a:path w="2070100" h="673100">
                <a:moveTo>
                  <a:pt x="101598" y="0"/>
                </a:moveTo>
                <a:lnTo>
                  <a:pt x="1968502" y="0"/>
                </a:lnTo>
                <a:cubicBezTo>
                  <a:pt x="2024613" y="0"/>
                  <a:pt x="2070100" y="45487"/>
                  <a:pt x="2070100" y="101598"/>
                </a:cubicBezTo>
                <a:lnTo>
                  <a:pt x="2070100" y="571502"/>
                </a:lnTo>
                <a:cubicBezTo>
                  <a:pt x="2070100" y="627613"/>
                  <a:pt x="2024613" y="673100"/>
                  <a:pt x="1968502" y="673100"/>
                </a:cubicBezTo>
                <a:lnTo>
                  <a:pt x="101598" y="673100"/>
                </a:lnTo>
                <a:cubicBezTo>
                  <a:pt x="45487" y="673100"/>
                  <a:pt x="0" y="627613"/>
                  <a:pt x="0" y="5715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5419725" y="7493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22250" y="127000"/>
                </a:moveTo>
                <a:cubicBezTo>
                  <a:pt x="222250" y="74430"/>
                  <a:pt x="179570" y="31750"/>
                  <a:pt x="127000" y="31750"/>
                </a:cubicBezTo>
                <a:cubicBezTo>
                  <a:pt x="74430" y="31750"/>
                  <a:pt x="31750" y="74430"/>
                  <a:pt x="31750" y="127000"/>
                </a:cubicBezTo>
                <a:cubicBezTo>
                  <a:pt x="31750" y="179570"/>
                  <a:pt x="74430" y="222250"/>
                  <a:pt x="127000" y="222250"/>
                </a:cubicBezTo>
                <a:cubicBezTo>
                  <a:pt x="179570" y="222250"/>
                  <a:pt x="222250" y="179570"/>
                  <a:pt x="222250" y="127000"/>
                </a:cubicBezTo>
                <a:close/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  <a:moveTo>
                  <a:pt x="127000" y="166688"/>
                </a:moveTo>
                <a:cubicBezTo>
                  <a:pt x="148904" y="166688"/>
                  <a:pt x="166688" y="148904"/>
                  <a:pt x="166688" y="127000"/>
                </a:cubicBezTo>
                <a:cubicBezTo>
                  <a:pt x="166688" y="105096"/>
                  <a:pt x="148904" y="87313"/>
                  <a:pt x="127000" y="87313"/>
                </a:cubicBezTo>
                <a:cubicBezTo>
                  <a:pt x="105096" y="87313"/>
                  <a:pt x="87313" y="105096"/>
                  <a:pt x="87313" y="127000"/>
                </a:cubicBezTo>
                <a:cubicBezTo>
                  <a:pt x="87313" y="148904"/>
                  <a:pt x="105096" y="166688"/>
                  <a:pt x="127000" y="166688"/>
                </a:cubicBezTo>
                <a:close/>
                <a:moveTo>
                  <a:pt x="127000" y="55563"/>
                </a:moveTo>
                <a:cubicBezTo>
                  <a:pt x="166427" y="55563"/>
                  <a:pt x="198438" y="87573"/>
                  <a:pt x="198438" y="127000"/>
                </a:cubicBezTo>
                <a:cubicBezTo>
                  <a:pt x="198438" y="166427"/>
                  <a:pt x="166427" y="198438"/>
                  <a:pt x="127000" y="198438"/>
                </a:cubicBezTo>
                <a:cubicBezTo>
                  <a:pt x="87573" y="198438"/>
                  <a:pt x="55563" y="166427"/>
                  <a:pt x="55563" y="127000"/>
                </a:cubicBezTo>
                <a:cubicBezTo>
                  <a:pt x="55563" y="87573"/>
                  <a:pt x="87573" y="55563"/>
                  <a:pt x="127000" y="55563"/>
                </a:cubicBezTo>
                <a:close/>
                <a:moveTo>
                  <a:pt x="111125" y="127000"/>
                </a:moveTo>
                <a:cubicBezTo>
                  <a:pt x="111125" y="118238"/>
                  <a:pt x="118238" y="111125"/>
                  <a:pt x="127000" y="111125"/>
                </a:cubicBezTo>
                <a:cubicBezTo>
                  <a:pt x="135762" y="111125"/>
                  <a:pt x="142875" y="118238"/>
                  <a:pt x="142875" y="127000"/>
                </a:cubicBezTo>
                <a:cubicBezTo>
                  <a:pt x="142875" y="135762"/>
                  <a:pt x="135762" y="142875"/>
                  <a:pt x="127000" y="142875"/>
                </a:cubicBezTo>
                <a:cubicBezTo>
                  <a:pt x="118238" y="142875"/>
                  <a:pt x="111125" y="135762"/>
                  <a:pt x="111125" y="12700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5916613" y="74676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核心目标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6403" y="545503"/>
            <a:ext cx="436403" cy="43640"/>
          </a:xfrm>
          <a:custGeom>
            <a:avLst/>
            <a:gdLst/>
            <a:ahLst/>
            <a:cxnLst/>
            <a:rect l="l" t="t" r="r" b="b"/>
            <a:pathLst>
              <a:path w="436403" h="43640">
                <a:moveTo>
                  <a:pt x="0" y="0"/>
                </a:moveTo>
                <a:lnTo>
                  <a:pt x="436403" y="0"/>
                </a:lnTo>
                <a:lnTo>
                  <a:pt x="436403" y="43640"/>
                </a:lnTo>
                <a:lnTo>
                  <a:pt x="0" y="4364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03726" y="436403"/>
            <a:ext cx="2378395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5" b="1" kern="0" spc="69" dirty="0">
                <a:solidFill>
                  <a:srgbClr val="D4A2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AT GOOGLE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36403" y="785525"/>
            <a:ext cx="15579576" cy="436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93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Google 面临的核心挑战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41858" y="1401944"/>
            <a:ext cx="7571587" cy="4636779"/>
          </a:xfrm>
          <a:custGeom>
            <a:avLst/>
            <a:gdLst/>
            <a:ahLst/>
            <a:cxnLst/>
            <a:rect l="l" t="t" r="r" b="b"/>
            <a:pathLst>
              <a:path w="7571587" h="4636779">
                <a:moveTo>
                  <a:pt x="87264" y="0"/>
                </a:moveTo>
                <a:lnTo>
                  <a:pt x="7484322" y="0"/>
                </a:lnTo>
                <a:cubicBezTo>
                  <a:pt x="7532517" y="0"/>
                  <a:pt x="7571587" y="39070"/>
                  <a:pt x="7571587" y="87264"/>
                </a:cubicBezTo>
                <a:lnTo>
                  <a:pt x="7571587" y="4549514"/>
                </a:lnTo>
                <a:cubicBezTo>
                  <a:pt x="7571587" y="4597709"/>
                  <a:pt x="7532517" y="4636779"/>
                  <a:pt x="7484322" y="4636779"/>
                </a:cubicBezTo>
                <a:lnTo>
                  <a:pt x="87264" y="4636779"/>
                </a:lnTo>
                <a:cubicBezTo>
                  <a:pt x="39070" y="4636779"/>
                  <a:pt x="0" y="4597709"/>
                  <a:pt x="0" y="4549514"/>
                </a:cubicBezTo>
                <a:lnTo>
                  <a:pt x="0" y="87264"/>
                </a:lnTo>
                <a:cubicBezTo>
                  <a:pt x="0" y="39102"/>
                  <a:pt x="39102" y="0"/>
                  <a:pt x="87264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92789" y="1680150"/>
            <a:ext cx="196381" cy="196381"/>
          </a:xfrm>
          <a:custGeom>
            <a:avLst/>
            <a:gdLst/>
            <a:ahLst/>
            <a:cxnLst/>
            <a:rect l="l" t="t" r="r" b="b"/>
            <a:pathLst>
              <a:path w="196381" h="196381">
                <a:moveTo>
                  <a:pt x="134974" y="107396"/>
                </a:moveTo>
                <a:lnTo>
                  <a:pt x="61753" y="107396"/>
                </a:lnTo>
                <a:cubicBezTo>
                  <a:pt x="62865" y="132135"/>
                  <a:pt x="68350" y="154919"/>
                  <a:pt x="76136" y="171603"/>
                </a:cubicBezTo>
                <a:cubicBezTo>
                  <a:pt x="80509" y="181001"/>
                  <a:pt x="85226" y="187636"/>
                  <a:pt x="89599" y="191702"/>
                </a:cubicBezTo>
                <a:cubicBezTo>
                  <a:pt x="93895" y="195729"/>
                  <a:pt x="96848" y="196381"/>
                  <a:pt x="98382" y="196381"/>
                </a:cubicBezTo>
                <a:cubicBezTo>
                  <a:pt x="99917" y="196381"/>
                  <a:pt x="102870" y="195729"/>
                  <a:pt x="107166" y="191702"/>
                </a:cubicBezTo>
                <a:cubicBezTo>
                  <a:pt x="111538" y="187636"/>
                  <a:pt x="116256" y="180962"/>
                  <a:pt x="120629" y="171603"/>
                </a:cubicBezTo>
                <a:cubicBezTo>
                  <a:pt x="128415" y="154919"/>
                  <a:pt x="133900" y="132135"/>
                  <a:pt x="135012" y="107396"/>
                </a:cubicBezTo>
                <a:close/>
                <a:moveTo>
                  <a:pt x="61714" y="88985"/>
                </a:moveTo>
                <a:lnTo>
                  <a:pt x="134935" y="88985"/>
                </a:lnTo>
                <a:cubicBezTo>
                  <a:pt x="133861" y="64246"/>
                  <a:pt x="128377" y="41463"/>
                  <a:pt x="120590" y="24778"/>
                </a:cubicBezTo>
                <a:cubicBezTo>
                  <a:pt x="116218" y="15419"/>
                  <a:pt x="111500" y="8745"/>
                  <a:pt x="107127" y="4679"/>
                </a:cubicBezTo>
                <a:cubicBezTo>
                  <a:pt x="102832" y="652"/>
                  <a:pt x="99878" y="0"/>
                  <a:pt x="98344" y="0"/>
                </a:cubicBezTo>
                <a:cubicBezTo>
                  <a:pt x="96810" y="0"/>
                  <a:pt x="93856" y="652"/>
                  <a:pt x="89561" y="4679"/>
                </a:cubicBezTo>
                <a:cubicBezTo>
                  <a:pt x="85188" y="8745"/>
                  <a:pt x="80470" y="15419"/>
                  <a:pt x="76098" y="24778"/>
                </a:cubicBezTo>
                <a:cubicBezTo>
                  <a:pt x="68312" y="41463"/>
                  <a:pt x="62827" y="64246"/>
                  <a:pt x="61714" y="88985"/>
                </a:cubicBezTo>
                <a:close/>
                <a:moveTo>
                  <a:pt x="43304" y="88985"/>
                </a:moveTo>
                <a:cubicBezTo>
                  <a:pt x="44646" y="56153"/>
                  <a:pt x="53123" y="25660"/>
                  <a:pt x="65512" y="5638"/>
                </a:cubicBezTo>
                <a:cubicBezTo>
                  <a:pt x="30186" y="18142"/>
                  <a:pt x="4181" y="50323"/>
                  <a:pt x="575" y="88985"/>
                </a:cubicBezTo>
                <a:lnTo>
                  <a:pt x="43304" y="88985"/>
                </a:lnTo>
                <a:close/>
                <a:moveTo>
                  <a:pt x="575" y="107396"/>
                </a:moveTo>
                <a:cubicBezTo>
                  <a:pt x="4181" y="146059"/>
                  <a:pt x="30186" y="178239"/>
                  <a:pt x="65512" y="190743"/>
                </a:cubicBezTo>
                <a:cubicBezTo>
                  <a:pt x="53123" y="170721"/>
                  <a:pt x="44646" y="140228"/>
                  <a:pt x="43304" y="107396"/>
                </a:cubicBezTo>
                <a:lnTo>
                  <a:pt x="575" y="107396"/>
                </a:lnTo>
                <a:close/>
                <a:moveTo>
                  <a:pt x="153384" y="107396"/>
                </a:moveTo>
                <a:cubicBezTo>
                  <a:pt x="152042" y="140228"/>
                  <a:pt x="143565" y="170721"/>
                  <a:pt x="131177" y="190743"/>
                </a:cubicBezTo>
                <a:cubicBezTo>
                  <a:pt x="166502" y="178201"/>
                  <a:pt x="192507" y="146059"/>
                  <a:pt x="196113" y="107396"/>
                </a:cubicBezTo>
                <a:lnTo>
                  <a:pt x="153384" y="107396"/>
                </a:lnTo>
                <a:close/>
                <a:moveTo>
                  <a:pt x="196113" y="88985"/>
                </a:moveTo>
                <a:cubicBezTo>
                  <a:pt x="192507" y="50323"/>
                  <a:pt x="166502" y="18142"/>
                  <a:pt x="131177" y="5638"/>
                </a:cubicBezTo>
                <a:cubicBezTo>
                  <a:pt x="143565" y="25660"/>
                  <a:pt x="152042" y="56153"/>
                  <a:pt x="153384" y="88985"/>
                </a:cubicBezTo>
                <a:lnTo>
                  <a:pt x="196113" y="88985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16446" y="1625600"/>
            <a:ext cx="6971533" cy="305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6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业务场景 (2003 年)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7334" y="2105643"/>
            <a:ext cx="7102454" cy="829165"/>
          </a:xfrm>
          <a:custGeom>
            <a:avLst/>
            <a:gdLst/>
            <a:ahLst/>
            <a:cxnLst/>
            <a:rect l="l" t="t" r="r" b="b"/>
            <a:pathLst>
              <a:path w="7102454" h="829165">
                <a:moveTo>
                  <a:pt x="43639" y="0"/>
                </a:moveTo>
                <a:lnTo>
                  <a:pt x="7058815" y="0"/>
                </a:lnTo>
                <a:cubicBezTo>
                  <a:pt x="7082916" y="0"/>
                  <a:pt x="7102454" y="19538"/>
                  <a:pt x="7102454" y="43639"/>
                </a:cubicBezTo>
                <a:lnTo>
                  <a:pt x="7102454" y="785526"/>
                </a:lnTo>
                <a:cubicBezTo>
                  <a:pt x="7102454" y="809627"/>
                  <a:pt x="7082916" y="829165"/>
                  <a:pt x="7058815" y="829165"/>
                </a:cubicBezTo>
                <a:lnTo>
                  <a:pt x="43639" y="829165"/>
                </a:lnTo>
                <a:cubicBezTo>
                  <a:pt x="19538" y="829165"/>
                  <a:pt x="0" y="809627"/>
                  <a:pt x="0" y="785526"/>
                </a:cubicBezTo>
                <a:lnTo>
                  <a:pt x="0" y="43639"/>
                </a:lnTo>
                <a:cubicBezTo>
                  <a:pt x="0" y="19554"/>
                  <a:pt x="19554" y="0"/>
                  <a:pt x="43639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87334" y="2105643"/>
            <a:ext cx="43640" cy="829165"/>
          </a:xfrm>
          <a:custGeom>
            <a:avLst/>
            <a:gdLst/>
            <a:ahLst/>
            <a:cxnLst/>
            <a:rect l="l" t="t" r="r" b="b"/>
            <a:pathLst>
              <a:path w="43640" h="829165">
                <a:moveTo>
                  <a:pt x="43640" y="0"/>
                </a:moveTo>
                <a:lnTo>
                  <a:pt x="43640" y="0"/>
                </a:lnTo>
                <a:lnTo>
                  <a:pt x="43640" y="829165"/>
                </a:lnTo>
                <a:lnTo>
                  <a:pt x="43640" y="829165"/>
                </a:lnTo>
                <a:cubicBezTo>
                  <a:pt x="19538" y="829165"/>
                  <a:pt x="0" y="809627"/>
                  <a:pt x="0" y="785525"/>
                </a:cubicBezTo>
                <a:lnTo>
                  <a:pt x="0" y="43640"/>
                </a:lnTo>
                <a:cubicBezTo>
                  <a:pt x="0" y="19555"/>
                  <a:pt x="19555" y="0"/>
                  <a:pt x="4364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40075" y="2236564"/>
            <a:ext cx="6906072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网页搜索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0075" y="2542046"/>
            <a:ext cx="6906072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5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存储和索引整个互联网的网页内容、网页快照、链接关系图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7334" y="3065729"/>
            <a:ext cx="7102454" cy="829165"/>
          </a:xfrm>
          <a:custGeom>
            <a:avLst/>
            <a:gdLst/>
            <a:ahLst/>
            <a:cxnLst/>
            <a:rect l="l" t="t" r="r" b="b"/>
            <a:pathLst>
              <a:path w="7102454" h="829165">
                <a:moveTo>
                  <a:pt x="43639" y="0"/>
                </a:moveTo>
                <a:lnTo>
                  <a:pt x="7058815" y="0"/>
                </a:lnTo>
                <a:cubicBezTo>
                  <a:pt x="7082916" y="0"/>
                  <a:pt x="7102454" y="19538"/>
                  <a:pt x="7102454" y="43639"/>
                </a:cubicBezTo>
                <a:lnTo>
                  <a:pt x="7102454" y="785526"/>
                </a:lnTo>
                <a:cubicBezTo>
                  <a:pt x="7102454" y="809627"/>
                  <a:pt x="7082916" y="829165"/>
                  <a:pt x="7058815" y="829165"/>
                </a:cubicBezTo>
                <a:lnTo>
                  <a:pt x="43639" y="829165"/>
                </a:lnTo>
                <a:cubicBezTo>
                  <a:pt x="19538" y="829165"/>
                  <a:pt x="0" y="809627"/>
                  <a:pt x="0" y="785526"/>
                </a:cubicBezTo>
                <a:lnTo>
                  <a:pt x="0" y="43639"/>
                </a:lnTo>
                <a:cubicBezTo>
                  <a:pt x="0" y="19554"/>
                  <a:pt x="19554" y="0"/>
                  <a:pt x="43639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687334" y="3065729"/>
            <a:ext cx="43640" cy="829165"/>
          </a:xfrm>
          <a:custGeom>
            <a:avLst/>
            <a:gdLst/>
            <a:ahLst/>
            <a:cxnLst/>
            <a:rect l="l" t="t" r="r" b="b"/>
            <a:pathLst>
              <a:path w="43640" h="829165">
                <a:moveTo>
                  <a:pt x="43640" y="0"/>
                </a:moveTo>
                <a:lnTo>
                  <a:pt x="43640" y="0"/>
                </a:lnTo>
                <a:lnTo>
                  <a:pt x="43640" y="829165"/>
                </a:lnTo>
                <a:lnTo>
                  <a:pt x="43640" y="829165"/>
                </a:lnTo>
                <a:cubicBezTo>
                  <a:pt x="19538" y="829165"/>
                  <a:pt x="0" y="809627"/>
                  <a:pt x="0" y="785525"/>
                </a:cubicBezTo>
                <a:lnTo>
                  <a:pt x="0" y="43640"/>
                </a:lnTo>
                <a:cubicBezTo>
                  <a:pt x="0" y="19555"/>
                  <a:pt x="19555" y="0"/>
                  <a:pt x="4364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40075" y="3196650"/>
            <a:ext cx="6906072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广告系统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0075" y="3502132"/>
            <a:ext cx="6906072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5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存储广告投放数据、用户行为日志、点击流数据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7334" y="4025815"/>
            <a:ext cx="7102454" cy="829165"/>
          </a:xfrm>
          <a:custGeom>
            <a:avLst/>
            <a:gdLst/>
            <a:ahLst/>
            <a:cxnLst/>
            <a:rect l="l" t="t" r="r" b="b"/>
            <a:pathLst>
              <a:path w="7102454" h="829165">
                <a:moveTo>
                  <a:pt x="43639" y="0"/>
                </a:moveTo>
                <a:lnTo>
                  <a:pt x="7058815" y="0"/>
                </a:lnTo>
                <a:cubicBezTo>
                  <a:pt x="7082916" y="0"/>
                  <a:pt x="7102454" y="19538"/>
                  <a:pt x="7102454" y="43639"/>
                </a:cubicBezTo>
                <a:lnTo>
                  <a:pt x="7102454" y="785526"/>
                </a:lnTo>
                <a:cubicBezTo>
                  <a:pt x="7102454" y="809627"/>
                  <a:pt x="7082916" y="829165"/>
                  <a:pt x="7058815" y="829165"/>
                </a:cubicBezTo>
                <a:lnTo>
                  <a:pt x="43639" y="829165"/>
                </a:lnTo>
                <a:cubicBezTo>
                  <a:pt x="19538" y="829165"/>
                  <a:pt x="0" y="809627"/>
                  <a:pt x="0" y="785526"/>
                </a:cubicBezTo>
                <a:lnTo>
                  <a:pt x="0" y="43639"/>
                </a:lnTo>
                <a:cubicBezTo>
                  <a:pt x="0" y="19554"/>
                  <a:pt x="19554" y="0"/>
                  <a:pt x="43639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87334" y="4025815"/>
            <a:ext cx="43640" cy="829165"/>
          </a:xfrm>
          <a:custGeom>
            <a:avLst/>
            <a:gdLst/>
            <a:ahLst/>
            <a:cxnLst/>
            <a:rect l="l" t="t" r="r" b="b"/>
            <a:pathLst>
              <a:path w="43640" h="829165">
                <a:moveTo>
                  <a:pt x="43640" y="0"/>
                </a:moveTo>
                <a:lnTo>
                  <a:pt x="43640" y="0"/>
                </a:lnTo>
                <a:lnTo>
                  <a:pt x="43640" y="829165"/>
                </a:lnTo>
                <a:lnTo>
                  <a:pt x="43640" y="829165"/>
                </a:lnTo>
                <a:cubicBezTo>
                  <a:pt x="19538" y="829165"/>
                  <a:pt x="0" y="809627"/>
                  <a:pt x="0" y="785525"/>
                </a:cubicBezTo>
                <a:lnTo>
                  <a:pt x="0" y="43640"/>
                </a:lnTo>
                <a:cubicBezTo>
                  <a:pt x="0" y="19555"/>
                  <a:pt x="19555" y="0"/>
                  <a:pt x="4364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40075" y="4156736"/>
            <a:ext cx="6906072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Gmail 服务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0075" y="4462217"/>
            <a:ext cx="6906072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5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为数百万用户提供邮件存储，需要高可靠性和可扩展性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7334" y="4985901"/>
            <a:ext cx="7102454" cy="829165"/>
          </a:xfrm>
          <a:custGeom>
            <a:avLst/>
            <a:gdLst/>
            <a:ahLst/>
            <a:cxnLst/>
            <a:rect l="l" t="t" r="r" b="b"/>
            <a:pathLst>
              <a:path w="7102454" h="829165">
                <a:moveTo>
                  <a:pt x="43639" y="0"/>
                </a:moveTo>
                <a:lnTo>
                  <a:pt x="7058815" y="0"/>
                </a:lnTo>
                <a:cubicBezTo>
                  <a:pt x="7082916" y="0"/>
                  <a:pt x="7102454" y="19538"/>
                  <a:pt x="7102454" y="43639"/>
                </a:cubicBezTo>
                <a:lnTo>
                  <a:pt x="7102454" y="785526"/>
                </a:lnTo>
                <a:cubicBezTo>
                  <a:pt x="7102454" y="809627"/>
                  <a:pt x="7082916" y="829165"/>
                  <a:pt x="7058815" y="829165"/>
                </a:cubicBezTo>
                <a:lnTo>
                  <a:pt x="43639" y="829165"/>
                </a:lnTo>
                <a:cubicBezTo>
                  <a:pt x="19538" y="829165"/>
                  <a:pt x="0" y="809627"/>
                  <a:pt x="0" y="785526"/>
                </a:cubicBezTo>
                <a:lnTo>
                  <a:pt x="0" y="43639"/>
                </a:lnTo>
                <a:cubicBezTo>
                  <a:pt x="0" y="19554"/>
                  <a:pt x="19554" y="0"/>
                  <a:pt x="43639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87334" y="4985901"/>
            <a:ext cx="43640" cy="829165"/>
          </a:xfrm>
          <a:custGeom>
            <a:avLst/>
            <a:gdLst/>
            <a:ahLst/>
            <a:cxnLst/>
            <a:rect l="l" t="t" r="r" b="b"/>
            <a:pathLst>
              <a:path w="43640" h="829165">
                <a:moveTo>
                  <a:pt x="43640" y="0"/>
                </a:moveTo>
                <a:lnTo>
                  <a:pt x="43640" y="0"/>
                </a:lnTo>
                <a:lnTo>
                  <a:pt x="43640" y="829165"/>
                </a:lnTo>
                <a:lnTo>
                  <a:pt x="43640" y="829165"/>
                </a:lnTo>
                <a:cubicBezTo>
                  <a:pt x="19538" y="829165"/>
                  <a:pt x="0" y="809627"/>
                  <a:pt x="0" y="785525"/>
                </a:cubicBezTo>
                <a:lnTo>
                  <a:pt x="0" y="43640"/>
                </a:lnTo>
                <a:cubicBezTo>
                  <a:pt x="0" y="19555"/>
                  <a:pt x="19555" y="0"/>
                  <a:pt x="4364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40075" y="5116821"/>
            <a:ext cx="6906072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地图服务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0075" y="5422303"/>
            <a:ext cx="6906072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5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存储全球地理信息、卫星图像、街景数据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41277" y="1401944"/>
            <a:ext cx="7571587" cy="2760247"/>
          </a:xfrm>
          <a:custGeom>
            <a:avLst/>
            <a:gdLst/>
            <a:ahLst/>
            <a:cxnLst/>
            <a:rect l="l" t="t" r="r" b="b"/>
            <a:pathLst>
              <a:path w="7571587" h="2760247">
                <a:moveTo>
                  <a:pt x="87279" y="0"/>
                </a:moveTo>
                <a:lnTo>
                  <a:pt x="7484308" y="0"/>
                </a:lnTo>
                <a:cubicBezTo>
                  <a:pt x="7532510" y="0"/>
                  <a:pt x="7571587" y="39076"/>
                  <a:pt x="7571587" y="87279"/>
                </a:cubicBezTo>
                <a:lnTo>
                  <a:pt x="7571587" y="2672968"/>
                </a:lnTo>
                <a:cubicBezTo>
                  <a:pt x="7571587" y="2721171"/>
                  <a:pt x="7532510" y="2760247"/>
                  <a:pt x="7484308" y="2760247"/>
                </a:cubicBezTo>
                <a:lnTo>
                  <a:pt x="87279" y="2760247"/>
                </a:lnTo>
                <a:cubicBezTo>
                  <a:pt x="39076" y="2760247"/>
                  <a:pt x="0" y="2721171"/>
                  <a:pt x="0" y="2672968"/>
                </a:cubicBezTo>
                <a:lnTo>
                  <a:pt x="0" y="87279"/>
                </a:lnTo>
                <a:cubicBezTo>
                  <a:pt x="0" y="39108"/>
                  <a:pt x="39108" y="0"/>
                  <a:pt x="87279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504483" y="1680150"/>
            <a:ext cx="171834" cy="196381"/>
          </a:xfrm>
          <a:custGeom>
            <a:avLst/>
            <a:gdLst/>
            <a:ahLst/>
            <a:cxnLst/>
            <a:rect l="l" t="t" r="r" b="b"/>
            <a:pathLst>
              <a:path w="171834" h="196381">
                <a:moveTo>
                  <a:pt x="171834" y="78936"/>
                </a:moveTo>
                <a:cubicBezTo>
                  <a:pt x="166157" y="82695"/>
                  <a:pt x="159636" y="85725"/>
                  <a:pt x="152847" y="88141"/>
                </a:cubicBezTo>
                <a:cubicBezTo>
                  <a:pt x="134820" y="94585"/>
                  <a:pt x="111155" y="98191"/>
                  <a:pt x="85917" y="98191"/>
                </a:cubicBezTo>
                <a:cubicBezTo>
                  <a:pt x="60679" y="98191"/>
                  <a:pt x="36975" y="94547"/>
                  <a:pt x="18986" y="88141"/>
                </a:cubicBezTo>
                <a:cubicBezTo>
                  <a:pt x="12235" y="85725"/>
                  <a:pt x="5677" y="82695"/>
                  <a:pt x="0" y="78936"/>
                </a:cubicBezTo>
                <a:lnTo>
                  <a:pt x="0" y="110464"/>
                </a:lnTo>
                <a:cubicBezTo>
                  <a:pt x="0" y="127418"/>
                  <a:pt x="38471" y="141149"/>
                  <a:pt x="85917" y="141149"/>
                </a:cubicBezTo>
                <a:cubicBezTo>
                  <a:pt x="133363" y="141149"/>
                  <a:pt x="171834" y="127418"/>
                  <a:pt x="171834" y="110464"/>
                </a:cubicBezTo>
                <a:lnTo>
                  <a:pt x="171834" y="78936"/>
                </a:lnTo>
                <a:close/>
                <a:moveTo>
                  <a:pt x="171834" y="49095"/>
                </a:moveTo>
                <a:lnTo>
                  <a:pt x="171834" y="30685"/>
                </a:lnTo>
                <a:cubicBezTo>
                  <a:pt x="171834" y="13731"/>
                  <a:pt x="133363" y="0"/>
                  <a:pt x="85917" y="0"/>
                </a:cubicBezTo>
                <a:cubicBezTo>
                  <a:pt x="38471" y="0"/>
                  <a:pt x="0" y="13731"/>
                  <a:pt x="0" y="30685"/>
                </a:cubicBezTo>
                <a:lnTo>
                  <a:pt x="0" y="49095"/>
                </a:lnTo>
                <a:cubicBezTo>
                  <a:pt x="0" y="66049"/>
                  <a:pt x="38471" y="79780"/>
                  <a:pt x="85917" y="79780"/>
                </a:cubicBezTo>
                <a:cubicBezTo>
                  <a:pt x="133363" y="79780"/>
                  <a:pt x="171834" y="66049"/>
                  <a:pt x="171834" y="49095"/>
                </a:cubicBezTo>
                <a:close/>
                <a:moveTo>
                  <a:pt x="152847" y="149511"/>
                </a:moveTo>
                <a:cubicBezTo>
                  <a:pt x="134859" y="155916"/>
                  <a:pt x="111193" y="159560"/>
                  <a:pt x="85917" y="159560"/>
                </a:cubicBezTo>
                <a:cubicBezTo>
                  <a:pt x="60640" y="159560"/>
                  <a:pt x="36975" y="155916"/>
                  <a:pt x="18986" y="149511"/>
                </a:cubicBezTo>
                <a:cubicBezTo>
                  <a:pt x="12235" y="147094"/>
                  <a:pt x="5677" y="144064"/>
                  <a:pt x="0" y="140305"/>
                </a:cubicBezTo>
                <a:lnTo>
                  <a:pt x="0" y="165697"/>
                </a:lnTo>
                <a:cubicBezTo>
                  <a:pt x="0" y="182650"/>
                  <a:pt x="38471" y="196381"/>
                  <a:pt x="85917" y="196381"/>
                </a:cubicBezTo>
                <a:cubicBezTo>
                  <a:pt x="133363" y="196381"/>
                  <a:pt x="171834" y="182650"/>
                  <a:pt x="171834" y="165697"/>
                </a:cubicBezTo>
                <a:lnTo>
                  <a:pt x="171834" y="140305"/>
                </a:lnTo>
                <a:cubicBezTo>
                  <a:pt x="166157" y="144064"/>
                  <a:pt x="159636" y="147094"/>
                  <a:pt x="152847" y="149511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715865" y="1625600"/>
            <a:ext cx="6971533" cy="305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6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海量数据存储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486754" y="2105643"/>
            <a:ext cx="7102454" cy="523683"/>
          </a:xfrm>
          <a:custGeom>
            <a:avLst/>
            <a:gdLst/>
            <a:ahLst/>
            <a:cxnLst/>
            <a:rect l="l" t="t" r="r" b="b"/>
            <a:pathLst>
              <a:path w="7102454" h="523683">
                <a:moveTo>
                  <a:pt x="43639" y="0"/>
                </a:moveTo>
                <a:lnTo>
                  <a:pt x="7058815" y="0"/>
                </a:lnTo>
                <a:cubicBezTo>
                  <a:pt x="7082916" y="0"/>
                  <a:pt x="7102454" y="19538"/>
                  <a:pt x="7102454" y="43639"/>
                </a:cubicBezTo>
                <a:lnTo>
                  <a:pt x="7102454" y="480045"/>
                </a:lnTo>
                <a:cubicBezTo>
                  <a:pt x="7102454" y="504146"/>
                  <a:pt x="7082916" y="523683"/>
                  <a:pt x="7058815" y="523683"/>
                </a:cubicBezTo>
                <a:lnTo>
                  <a:pt x="43639" y="523683"/>
                </a:lnTo>
                <a:cubicBezTo>
                  <a:pt x="19538" y="523683"/>
                  <a:pt x="0" y="504146"/>
                  <a:pt x="0" y="480045"/>
                </a:cubicBezTo>
                <a:lnTo>
                  <a:pt x="0" y="43639"/>
                </a:lnTo>
                <a:cubicBezTo>
                  <a:pt x="0" y="19554"/>
                  <a:pt x="19554" y="0"/>
                  <a:pt x="43639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486754" y="2105643"/>
            <a:ext cx="43640" cy="523683"/>
          </a:xfrm>
          <a:custGeom>
            <a:avLst/>
            <a:gdLst/>
            <a:ahLst/>
            <a:cxnLst/>
            <a:rect l="l" t="t" r="r" b="b"/>
            <a:pathLst>
              <a:path w="43640" h="523683">
                <a:moveTo>
                  <a:pt x="43640" y="0"/>
                </a:moveTo>
                <a:lnTo>
                  <a:pt x="43640" y="0"/>
                </a:lnTo>
                <a:lnTo>
                  <a:pt x="43640" y="523683"/>
                </a:lnTo>
                <a:lnTo>
                  <a:pt x="43640" y="523683"/>
                </a:lnTo>
                <a:cubicBezTo>
                  <a:pt x="19538" y="523683"/>
                  <a:pt x="0" y="504145"/>
                  <a:pt x="0" y="480043"/>
                </a:cubicBezTo>
                <a:lnTo>
                  <a:pt x="0" y="43640"/>
                </a:lnTo>
                <a:cubicBezTo>
                  <a:pt x="0" y="19555"/>
                  <a:pt x="19555" y="0"/>
                  <a:pt x="4364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639495" y="2236564"/>
            <a:ext cx="6906072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网页索引数据：</a:t>
            </a:r>
            <a:r>
              <a:rPr lang="en-US" sz="1375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数十亿网页的内容和元数据，TB 到 PB 级别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486754" y="2760247"/>
            <a:ext cx="7102454" cy="523683"/>
          </a:xfrm>
          <a:custGeom>
            <a:avLst/>
            <a:gdLst/>
            <a:ahLst/>
            <a:cxnLst/>
            <a:rect l="l" t="t" r="r" b="b"/>
            <a:pathLst>
              <a:path w="7102454" h="523683">
                <a:moveTo>
                  <a:pt x="43639" y="0"/>
                </a:moveTo>
                <a:lnTo>
                  <a:pt x="7058815" y="0"/>
                </a:lnTo>
                <a:cubicBezTo>
                  <a:pt x="7082916" y="0"/>
                  <a:pt x="7102454" y="19538"/>
                  <a:pt x="7102454" y="43639"/>
                </a:cubicBezTo>
                <a:lnTo>
                  <a:pt x="7102454" y="480045"/>
                </a:lnTo>
                <a:cubicBezTo>
                  <a:pt x="7102454" y="504146"/>
                  <a:pt x="7082916" y="523683"/>
                  <a:pt x="7058815" y="523683"/>
                </a:cubicBezTo>
                <a:lnTo>
                  <a:pt x="43639" y="523683"/>
                </a:lnTo>
                <a:cubicBezTo>
                  <a:pt x="19538" y="523683"/>
                  <a:pt x="0" y="504146"/>
                  <a:pt x="0" y="480045"/>
                </a:cubicBezTo>
                <a:lnTo>
                  <a:pt x="0" y="43639"/>
                </a:lnTo>
                <a:cubicBezTo>
                  <a:pt x="0" y="19554"/>
                  <a:pt x="19554" y="0"/>
                  <a:pt x="43639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486754" y="2760247"/>
            <a:ext cx="43640" cy="523683"/>
          </a:xfrm>
          <a:custGeom>
            <a:avLst/>
            <a:gdLst/>
            <a:ahLst/>
            <a:cxnLst/>
            <a:rect l="l" t="t" r="r" b="b"/>
            <a:pathLst>
              <a:path w="43640" h="523683">
                <a:moveTo>
                  <a:pt x="43640" y="0"/>
                </a:moveTo>
                <a:lnTo>
                  <a:pt x="43640" y="0"/>
                </a:lnTo>
                <a:lnTo>
                  <a:pt x="43640" y="523683"/>
                </a:lnTo>
                <a:lnTo>
                  <a:pt x="43640" y="523683"/>
                </a:lnTo>
                <a:cubicBezTo>
                  <a:pt x="19538" y="523683"/>
                  <a:pt x="0" y="504145"/>
                  <a:pt x="0" y="480043"/>
                </a:cubicBezTo>
                <a:lnTo>
                  <a:pt x="0" y="43640"/>
                </a:lnTo>
                <a:cubicBezTo>
                  <a:pt x="0" y="19555"/>
                  <a:pt x="19555" y="0"/>
                  <a:pt x="4364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639495" y="2891168"/>
            <a:ext cx="6906072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用户行为日志：</a:t>
            </a:r>
            <a:r>
              <a:rPr lang="en-US" sz="1375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每天产生数 TB 的访问日志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486754" y="3414851"/>
            <a:ext cx="7102454" cy="523683"/>
          </a:xfrm>
          <a:custGeom>
            <a:avLst/>
            <a:gdLst/>
            <a:ahLst/>
            <a:cxnLst/>
            <a:rect l="l" t="t" r="r" b="b"/>
            <a:pathLst>
              <a:path w="7102454" h="523683">
                <a:moveTo>
                  <a:pt x="43639" y="0"/>
                </a:moveTo>
                <a:lnTo>
                  <a:pt x="7058815" y="0"/>
                </a:lnTo>
                <a:cubicBezTo>
                  <a:pt x="7082916" y="0"/>
                  <a:pt x="7102454" y="19538"/>
                  <a:pt x="7102454" y="43639"/>
                </a:cubicBezTo>
                <a:lnTo>
                  <a:pt x="7102454" y="480045"/>
                </a:lnTo>
                <a:cubicBezTo>
                  <a:pt x="7102454" y="504146"/>
                  <a:pt x="7082916" y="523683"/>
                  <a:pt x="7058815" y="523683"/>
                </a:cubicBezTo>
                <a:lnTo>
                  <a:pt x="43639" y="523683"/>
                </a:lnTo>
                <a:cubicBezTo>
                  <a:pt x="19538" y="523683"/>
                  <a:pt x="0" y="504146"/>
                  <a:pt x="0" y="480045"/>
                </a:cubicBezTo>
                <a:lnTo>
                  <a:pt x="0" y="43639"/>
                </a:lnTo>
                <a:cubicBezTo>
                  <a:pt x="0" y="19554"/>
                  <a:pt x="19554" y="0"/>
                  <a:pt x="43639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486754" y="3414851"/>
            <a:ext cx="43640" cy="523683"/>
          </a:xfrm>
          <a:custGeom>
            <a:avLst/>
            <a:gdLst/>
            <a:ahLst/>
            <a:cxnLst/>
            <a:rect l="l" t="t" r="r" b="b"/>
            <a:pathLst>
              <a:path w="43640" h="523683">
                <a:moveTo>
                  <a:pt x="43640" y="0"/>
                </a:moveTo>
                <a:lnTo>
                  <a:pt x="43640" y="0"/>
                </a:lnTo>
                <a:lnTo>
                  <a:pt x="43640" y="523683"/>
                </a:lnTo>
                <a:lnTo>
                  <a:pt x="43640" y="523683"/>
                </a:lnTo>
                <a:cubicBezTo>
                  <a:pt x="19538" y="523683"/>
                  <a:pt x="0" y="504145"/>
                  <a:pt x="0" y="480043"/>
                </a:cubicBezTo>
                <a:lnTo>
                  <a:pt x="0" y="43640"/>
                </a:lnTo>
                <a:cubicBezTo>
                  <a:pt x="0" y="19555"/>
                  <a:pt x="19555" y="0"/>
                  <a:pt x="4364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639495" y="3545772"/>
            <a:ext cx="6906072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搜索结果缓存：</a:t>
            </a:r>
            <a:r>
              <a:rPr lang="en-US" sz="1375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预计算的搜索结果需要大量存储空间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41277" y="4347662"/>
            <a:ext cx="7571587" cy="2760247"/>
          </a:xfrm>
          <a:custGeom>
            <a:avLst/>
            <a:gdLst/>
            <a:ahLst/>
            <a:cxnLst/>
            <a:rect l="l" t="t" r="r" b="b"/>
            <a:pathLst>
              <a:path w="7571587" h="2760247">
                <a:moveTo>
                  <a:pt x="87279" y="0"/>
                </a:moveTo>
                <a:lnTo>
                  <a:pt x="7484308" y="0"/>
                </a:lnTo>
                <a:cubicBezTo>
                  <a:pt x="7532510" y="0"/>
                  <a:pt x="7571587" y="39076"/>
                  <a:pt x="7571587" y="87279"/>
                </a:cubicBezTo>
                <a:lnTo>
                  <a:pt x="7571587" y="2672968"/>
                </a:lnTo>
                <a:cubicBezTo>
                  <a:pt x="7571587" y="2721171"/>
                  <a:pt x="7532510" y="2760247"/>
                  <a:pt x="7484308" y="2760247"/>
                </a:cubicBezTo>
                <a:lnTo>
                  <a:pt x="87279" y="2760247"/>
                </a:lnTo>
                <a:cubicBezTo>
                  <a:pt x="39076" y="2760247"/>
                  <a:pt x="0" y="2721171"/>
                  <a:pt x="0" y="2672968"/>
                </a:cubicBezTo>
                <a:lnTo>
                  <a:pt x="0" y="87279"/>
                </a:lnTo>
                <a:cubicBezTo>
                  <a:pt x="0" y="39108"/>
                  <a:pt x="39108" y="0"/>
                  <a:pt x="87279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467661" y="4625868"/>
            <a:ext cx="245477" cy="196381"/>
          </a:xfrm>
          <a:custGeom>
            <a:avLst/>
            <a:gdLst/>
            <a:ahLst/>
            <a:cxnLst/>
            <a:rect l="l" t="t" r="r" b="b"/>
            <a:pathLst>
              <a:path w="245477" h="196381">
                <a:moveTo>
                  <a:pt x="122738" y="6137"/>
                </a:moveTo>
                <a:cubicBezTo>
                  <a:pt x="144754" y="6137"/>
                  <a:pt x="162628" y="24011"/>
                  <a:pt x="162628" y="46027"/>
                </a:cubicBezTo>
                <a:cubicBezTo>
                  <a:pt x="162628" y="68043"/>
                  <a:pt x="144754" y="85917"/>
                  <a:pt x="122738" y="85917"/>
                </a:cubicBezTo>
                <a:cubicBezTo>
                  <a:pt x="100722" y="85917"/>
                  <a:pt x="82848" y="68043"/>
                  <a:pt x="82848" y="46027"/>
                </a:cubicBezTo>
                <a:cubicBezTo>
                  <a:pt x="82848" y="24011"/>
                  <a:pt x="100722" y="6137"/>
                  <a:pt x="122738" y="6137"/>
                </a:cubicBezTo>
                <a:close/>
                <a:moveTo>
                  <a:pt x="36821" y="33753"/>
                </a:moveTo>
                <a:cubicBezTo>
                  <a:pt x="52063" y="33753"/>
                  <a:pt x="64438" y="46127"/>
                  <a:pt x="64438" y="61369"/>
                </a:cubicBezTo>
                <a:cubicBezTo>
                  <a:pt x="64438" y="76611"/>
                  <a:pt x="52063" y="88985"/>
                  <a:pt x="36821" y="88985"/>
                </a:cubicBezTo>
                <a:cubicBezTo>
                  <a:pt x="21580" y="88985"/>
                  <a:pt x="9205" y="76611"/>
                  <a:pt x="9205" y="61369"/>
                </a:cubicBezTo>
                <a:cubicBezTo>
                  <a:pt x="9205" y="46127"/>
                  <a:pt x="21580" y="33753"/>
                  <a:pt x="36821" y="33753"/>
                </a:cubicBezTo>
                <a:close/>
                <a:moveTo>
                  <a:pt x="0" y="159560"/>
                </a:moveTo>
                <a:cubicBezTo>
                  <a:pt x="0" y="132442"/>
                  <a:pt x="21978" y="110464"/>
                  <a:pt x="49095" y="110464"/>
                </a:cubicBezTo>
                <a:cubicBezTo>
                  <a:pt x="54005" y="110464"/>
                  <a:pt x="58761" y="111193"/>
                  <a:pt x="63249" y="112536"/>
                </a:cubicBezTo>
                <a:cubicBezTo>
                  <a:pt x="50630" y="126651"/>
                  <a:pt x="42958" y="145291"/>
                  <a:pt x="42958" y="165697"/>
                </a:cubicBezTo>
                <a:lnTo>
                  <a:pt x="42958" y="171834"/>
                </a:lnTo>
                <a:cubicBezTo>
                  <a:pt x="42958" y="176206"/>
                  <a:pt x="43879" y="180349"/>
                  <a:pt x="45528" y="184107"/>
                </a:cubicBezTo>
                <a:lnTo>
                  <a:pt x="12274" y="184107"/>
                </a:lnTo>
                <a:cubicBezTo>
                  <a:pt x="5485" y="184107"/>
                  <a:pt x="0" y="178623"/>
                  <a:pt x="0" y="171834"/>
                </a:cubicBezTo>
                <a:lnTo>
                  <a:pt x="0" y="159560"/>
                </a:lnTo>
                <a:close/>
                <a:moveTo>
                  <a:pt x="199948" y="184107"/>
                </a:moveTo>
                <a:cubicBezTo>
                  <a:pt x="201598" y="180349"/>
                  <a:pt x="202518" y="176206"/>
                  <a:pt x="202518" y="171834"/>
                </a:cubicBezTo>
                <a:lnTo>
                  <a:pt x="202518" y="165697"/>
                </a:lnTo>
                <a:cubicBezTo>
                  <a:pt x="202518" y="145291"/>
                  <a:pt x="194847" y="126651"/>
                  <a:pt x="182228" y="112536"/>
                </a:cubicBezTo>
                <a:cubicBezTo>
                  <a:pt x="186716" y="111193"/>
                  <a:pt x="191472" y="110464"/>
                  <a:pt x="196381" y="110464"/>
                </a:cubicBezTo>
                <a:cubicBezTo>
                  <a:pt x="223499" y="110464"/>
                  <a:pt x="245477" y="132442"/>
                  <a:pt x="245477" y="159560"/>
                </a:cubicBezTo>
                <a:lnTo>
                  <a:pt x="245477" y="171834"/>
                </a:lnTo>
                <a:cubicBezTo>
                  <a:pt x="245477" y="178623"/>
                  <a:pt x="239992" y="184107"/>
                  <a:pt x="233203" y="184107"/>
                </a:cubicBezTo>
                <a:lnTo>
                  <a:pt x="199948" y="184107"/>
                </a:lnTo>
                <a:close/>
                <a:moveTo>
                  <a:pt x="181039" y="61369"/>
                </a:moveTo>
                <a:cubicBezTo>
                  <a:pt x="181039" y="46127"/>
                  <a:pt x="193413" y="33753"/>
                  <a:pt x="208655" y="33753"/>
                </a:cubicBezTo>
                <a:cubicBezTo>
                  <a:pt x="223897" y="33753"/>
                  <a:pt x="236271" y="46127"/>
                  <a:pt x="236271" y="61369"/>
                </a:cubicBezTo>
                <a:cubicBezTo>
                  <a:pt x="236271" y="76611"/>
                  <a:pt x="223897" y="88985"/>
                  <a:pt x="208655" y="88985"/>
                </a:cubicBezTo>
                <a:cubicBezTo>
                  <a:pt x="193413" y="88985"/>
                  <a:pt x="181039" y="76611"/>
                  <a:pt x="181039" y="61369"/>
                </a:cubicBezTo>
                <a:close/>
                <a:moveTo>
                  <a:pt x="61369" y="165697"/>
                </a:moveTo>
                <a:cubicBezTo>
                  <a:pt x="61369" y="131790"/>
                  <a:pt x="88832" y="104328"/>
                  <a:pt x="122738" y="104328"/>
                </a:cubicBezTo>
                <a:cubicBezTo>
                  <a:pt x="156645" y="104328"/>
                  <a:pt x="184107" y="131790"/>
                  <a:pt x="184107" y="165697"/>
                </a:cubicBezTo>
                <a:lnTo>
                  <a:pt x="184107" y="171834"/>
                </a:lnTo>
                <a:cubicBezTo>
                  <a:pt x="184107" y="178623"/>
                  <a:pt x="178623" y="184107"/>
                  <a:pt x="171834" y="184107"/>
                </a:cubicBezTo>
                <a:lnTo>
                  <a:pt x="73643" y="184107"/>
                </a:lnTo>
                <a:cubicBezTo>
                  <a:pt x="66854" y="184107"/>
                  <a:pt x="61369" y="178623"/>
                  <a:pt x="61369" y="171834"/>
                </a:cubicBezTo>
                <a:lnTo>
                  <a:pt x="61369" y="165697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715865" y="4571318"/>
            <a:ext cx="6971533" cy="305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6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高并发访问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486754" y="5051361"/>
            <a:ext cx="7102454" cy="523683"/>
          </a:xfrm>
          <a:custGeom>
            <a:avLst/>
            <a:gdLst/>
            <a:ahLst/>
            <a:cxnLst/>
            <a:rect l="l" t="t" r="r" b="b"/>
            <a:pathLst>
              <a:path w="7102454" h="523683">
                <a:moveTo>
                  <a:pt x="43639" y="0"/>
                </a:moveTo>
                <a:lnTo>
                  <a:pt x="7058815" y="0"/>
                </a:lnTo>
                <a:cubicBezTo>
                  <a:pt x="7082916" y="0"/>
                  <a:pt x="7102454" y="19538"/>
                  <a:pt x="7102454" y="43639"/>
                </a:cubicBezTo>
                <a:lnTo>
                  <a:pt x="7102454" y="480045"/>
                </a:lnTo>
                <a:cubicBezTo>
                  <a:pt x="7102454" y="504146"/>
                  <a:pt x="7082916" y="523683"/>
                  <a:pt x="7058815" y="523683"/>
                </a:cubicBezTo>
                <a:lnTo>
                  <a:pt x="43639" y="523683"/>
                </a:lnTo>
                <a:cubicBezTo>
                  <a:pt x="19538" y="523683"/>
                  <a:pt x="0" y="504146"/>
                  <a:pt x="0" y="480045"/>
                </a:cubicBezTo>
                <a:lnTo>
                  <a:pt x="0" y="43639"/>
                </a:lnTo>
                <a:cubicBezTo>
                  <a:pt x="0" y="19554"/>
                  <a:pt x="19554" y="0"/>
                  <a:pt x="43639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8486754" y="5051361"/>
            <a:ext cx="43640" cy="523683"/>
          </a:xfrm>
          <a:custGeom>
            <a:avLst/>
            <a:gdLst/>
            <a:ahLst/>
            <a:cxnLst/>
            <a:rect l="l" t="t" r="r" b="b"/>
            <a:pathLst>
              <a:path w="43640" h="523683">
                <a:moveTo>
                  <a:pt x="43640" y="0"/>
                </a:moveTo>
                <a:lnTo>
                  <a:pt x="43640" y="0"/>
                </a:lnTo>
                <a:lnTo>
                  <a:pt x="43640" y="523683"/>
                </a:lnTo>
                <a:lnTo>
                  <a:pt x="43640" y="523683"/>
                </a:lnTo>
                <a:cubicBezTo>
                  <a:pt x="19538" y="523683"/>
                  <a:pt x="0" y="504145"/>
                  <a:pt x="0" y="480043"/>
                </a:cubicBezTo>
                <a:lnTo>
                  <a:pt x="0" y="43640"/>
                </a:lnTo>
                <a:cubicBezTo>
                  <a:pt x="0" y="19555"/>
                  <a:pt x="19555" y="0"/>
                  <a:pt x="4364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639495" y="5182282"/>
            <a:ext cx="6906072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搜索查询处理：</a:t>
            </a:r>
            <a:r>
              <a:rPr lang="en-US" sz="1375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同时处理数万个搜索请求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486754" y="5705965"/>
            <a:ext cx="7102454" cy="523683"/>
          </a:xfrm>
          <a:custGeom>
            <a:avLst/>
            <a:gdLst/>
            <a:ahLst/>
            <a:cxnLst/>
            <a:rect l="l" t="t" r="r" b="b"/>
            <a:pathLst>
              <a:path w="7102454" h="523683">
                <a:moveTo>
                  <a:pt x="43639" y="0"/>
                </a:moveTo>
                <a:lnTo>
                  <a:pt x="7058815" y="0"/>
                </a:lnTo>
                <a:cubicBezTo>
                  <a:pt x="7082916" y="0"/>
                  <a:pt x="7102454" y="19538"/>
                  <a:pt x="7102454" y="43639"/>
                </a:cubicBezTo>
                <a:lnTo>
                  <a:pt x="7102454" y="480045"/>
                </a:lnTo>
                <a:cubicBezTo>
                  <a:pt x="7102454" y="504146"/>
                  <a:pt x="7082916" y="523683"/>
                  <a:pt x="7058815" y="523683"/>
                </a:cubicBezTo>
                <a:lnTo>
                  <a:pt x="43639" y="523683"/>
                </a:lnTo>
                <a:cubicBezTo>
                  <a:pt x="19538" y="523683"/>
                  <a:pt x="0" y="504146"/>
                  <a:pt x="0" y="480045"/>
                </a:cubicBezTo>
                <a:lnTo>
                  <a:pt x="0" y="43639"/>
                </a:lnTo>
                <a:cubicBezTo>
                  <a:pt x="0" y="19554"/>
                  <a:pt x="19554" y="0"/>
                  <a:pt x="43639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8486754" y="5705965"/>
            <a:ext cx="43640" cy="523683"/>
          </a:xfrm>
          <a:custGeom>
            <a:avLst/>
            <a:gdLst/>
            <a:ahLst/>
            <a:cxnLst/>
            <a:rect l="l" t="t" r="r" b="b"/>
            <a:pathLst>
              <a:path w="43640" h="523683">
                <a:moveTo>
                  <a:pt x="43640" y="0"/>
                </a:moveTo>
                <a:lnTo>
                  <a:pt x="43640" y="0"/>
                </a:lnTo>
                <a:lnTo>
                  <a:pt x="43640" y="523683"/>
                </a:lnTo>
                <a:lnTo>
                  <a:pt x="43640" y="523683"/>
                </a:lnTo>
                <a:cubicBezTo>
                  <a:pt x="19538" y="523683"/>
                  <a:pt x="0" y="504145"/>
                  <a:pt x="0" y="480043"/>
                </a:cubicBezTo>
                <a:lnTo>
                  <a:pt x="0" y="43640"/>
                </a:lnTo>
                <a:cubicBezTo>
                  <a:pt x="0" y="19555"/>
                  <a:pt x="19555" y="0"/>
                  <a:pt x="4364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639495" y="5836886"/>
            <a:ext cx="6906072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广告投放：</a:t>
            </a:r>
            <a:r>
              <a:rPr lang="en-US" sz="1375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实时响应广告请求和计费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486754" y="6360569"/>
            <a:ext cx="7102454" cy="523683"/>
          </a:xfrm>
          <a:custGeom>
            <a:avLst/>
            <a:gdLst/>
            <a:ahLst/>
            <a:cxnLst/>
            <a:rect l="l" t="t" r="r" b="b"/>
            <a:pathLst>
              <a:path w="7102454" h="523683">
                <a:moveTo>
                  <a:pt x="43639" y="0"/>
                </a:moveTo>
                <a:lnTo>
                  <a:pt x="7058815" y="0"/>
                </a:lnTo>
                <a:cubicBezTo>
                  <a:pt x="7082916" y="0"/>
                  <a:pt x="7102454" y="19538"/>
                  <a:pt x="7102454" y="43639"/>
                </a:cubicBezTo>
                <a:lnTo>
                  <a:pt x="7102454" y="480045"/>
                </a:lnTo>
                <a:cubicBezTo>
                  <a:pt x="7102454" y="504146"/>
                  <a:pt x="7082916" y="523683"/>
                  <a:pt x="7058815" y="523683"/>
                </a:cubicBezTo>
                <a:lnTo>
                  <a:pt x="43639" y="523683"/>
                </a:lnTo>
                <a:cubicBezTo>
                  <a:pt x="19538" y="523683"/>
                  <a:pt x="0" y="504146"/>
                  <a:pt x="0" y="480045"/>
                </a:cubicBezTo>
                <a:lnTo>
                  <a:pt x="0" y="43639"/>
                </a:lnTo>
                <a:cubicBezTo>
                  <a:pt x="0" y="19554"/>
                  <a:pt x="19554" y="0"/>
                  <a:pt x="43639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8486754" y="6360569"/>
            <a:ext cx="43640" cy="523683"/>
          </a:xfrm>
          <a:custGeom>
            <a:avLst/>
            <a:gdLst/>
            <a:ahLst/>
            <a:cxnLst/>
            <a:rect l="l" t="t" r="r" b="b"/>
            <a:pathLst>
              <a:path w="43640" h="523683">
                <a:moveTo>
                  <a:pt x="43640" y="0"/>
                </a:moveTo>
                <a:lnTo>
                  <a:pt x="43640" y="0"/>
                </a:lnTo>
                <a:lnTo>
                  <a:pt x="43640" y="523683"/>
                </a:lnTo>
                <a:lnTo>
                  <a:pt x="43640" y="523683"/>
                </a:lnTo>
                <a:cubicBezTo>
                  <a:pt x="19538" y="523683"/>
                  <a:pt x="0" y="504145"/>
                  <a:pt x="0" y="480043"/>
                </a:cubicBezTo>
                <a:lnTo>
                  <a:pt x="0" y="43640"/>
                </a:lnTo>
                <a:cubicBezTo>
                  <a:pt x="0" y="19555"/>
                  <a:pt x="19555" y="0"/>
                  <a:pt x="4364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639495" y="6491490"/>
            <a:ext cx="6906072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批处理任务：</a:t>
            </a:r>
            <a:r>
              <a:rPr lang="en-US" sz="1375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 作业并行访问大量数据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41858" y="7183738"/>
            <a:ext cx="7571587" cy="1843801"/>
          </a:xfrm>
          <a:custGeom>
            <a:avLst/>
            <a:gdLst/>
            <a:ahLst/>
            <a:cxnLst/>
            <a:rect l="l" t="t" r="r" b="b"/>
            <a:pathLst>
              <a:path w="7571587" h="1843801">
                <a:moveTo>
                  <a:pt x="87286" y="0"/>
                </a:moveTo>
                <a:lnTo>
                  <a:pt x="7484301" y="0"/>
                </a:lnTo>
                <a:cubicBezTo>
                  <a:pt x="7532508" y="0"/>
                  <a:pt x="7571587" y="39079"/>
                  <a:pt x="7571587" y="87286"/>
                </a:cubicBezTo>
                <a:lnTo>
                  <a:pt x="7571587" y="1756516"/>
                </a:lnTo>
                <a:cubicBezTo>
                  <a:pt x="7571587" y="1804722"/>
                  <a:pt x="7532508" y="1843801"/>
                  <a:pt x="7484301" y="1843801"/>
                </a:cubicBezTo>
                <a:lnTo>
                  <a:pt x="87286" y="1843801"/>
                </a:lnTo>
                <a:cubicBezTo>
                  <a:pt x="39079" y="1843801"/>
                  <a:pt x="0" y="1804722"/>
                  <a:pt x="0" y="1756516"/>
                </a:cubicBezTo>
                <a:lnTo>
                  <a:pt x="0" y="87286"/>
                </a:lnTo>
                <a:cubicBezTo>
                  <a:pt x="0" y="39111"/>
                  <a:pt x="39111" y="0"/>
                  <a:pt x="87286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649149" y="7418305"/>
            <a:ext cx="196381" cy="196381"/>
          </a:xfrm>
          <a:custGeom>
            <a:avLst/>
            <a:gdLst/>
            <a:ahLst/>
            <a:cxnLst/>
            <a:rect l="l" t="t" r="r" b="b"/>
            <a:pathLst>
              <a:path w="196381" h="196381">
                <a:moveTo>
                  <a:pt x="98191" y="196381"/>
                </a:moveTo>
                <a:cubicBezTo>
                  <a:pt x="152383" y="196381"/>
                  <a:pt x="196381" y="152383"/>
                  <a:pt x="196381" y="98191"/>
                </a:cubicBezTo>
                <a:cubicBezTo>
                  <a:pt x="196381" y="43998"/>
                  <a:pt x="152383" y="0"/>
                  <a:pt x="98191" y="0"/>
                </a:cubicBezTo>
                <a:cubicBezTo>
                  <a:pt x="43998" y="0"/>
                  <a:pt x="0" y="43998"/>
                  <a:pt x="0" y="98191"/>
                </a:cubicBezTo>
                <a:cubicBezTo>
                  <a:pt x="0" y="152383"/>
                  <a:pt x="43998" y="196381"/>
                  <a:pt x="98191" y="196381"/>
                </a:cubicBezTo>
                <a:close/>
                <a:moveTo>
                  <a:pt x="98191" y="52164"/>
                </a:moveTo>
                <a:cubicBezTo>
                  <a:pt x="103292" y="52164"/>
                  <a:pt x="107396" y="56268"/>
                  <a:pt x="107396" y="61369"/>
                </a:cubicBezTo>
                <a:lnTo>
                  <a:pt x="107396" y="104328"/>
                </a:lnTo>
                <a:cubicBezTo>
                  <a:pt x="107396" y="109429"/>
                  <a:pt x="103292" y="113533"/>
                  <a:pt x="98191" y="113533"/>
                </a:cubicBezTo>
                <a:cubicBezTo>
                  <a:pt x="93089" y="113533"/>
                  <a:pt x="88985" y="109429"/>
                  <a:pt x="88985" y="104328"/>
                </a:cubicBezTo>
                <a:lnTo>
                  <a:pt x="88985" y="61369"/>
                </a:lnTo>
                <a:cubicBezTo>
                  <a:pt x="88985" y="56268"/>
                  <a:pt x="93089" y="52164"/>
                  <a:pt x="98191" y="52164"/>
                </a:cubicBezTo>
                <a:close/>
                <a:moveTo>
                  <a:pt x="87950" y="135012"/>
                </a:moveTo>
                <a:cubicBezTo>
                  <a:pt x="87717" y="131211"/>
                  <a:pt x="89612" y="127594"/>
                  <a:pt x="92871" y="125623"/>
                </a:cubicBezTo>
                <a:cubicBezTo>
                  <a:pt x="96130" y="123652"/>
                  <a:pt x="100213" y="123652"/>
                  <a:pt x="103472" y="125623"/>
                </a:cubicBezTo>
                <a:cubicBezTo>
                  <a:pt x="106730" y="127594"/>
                  <a:pt x="108626" y="131211"/>
                  <a:pt x="108393" y="135012"/>
                </a:cubicBezTo>
                <a:cubicBezTo>
                  <a:pt x="108626" y="138813"/>
                  <a:pt x="106730" y="142430"/>
                  <a:pt x="103472" y="144401"/>
                </a:cubicBezTo>
                <a:cubicBezTo>
                  <a:pt x="100213" y="146372"/>
                  <a:pt x="96130" y="146372"/>
                  <a:pt x="92871" y="144401"/>
                </a:cubicBezTo>
                <a:cubicBezTo>
                  <a:pt x="89612" y="142430"/>
                  <a:pt x="87717" y="138813"/>
                  <a:pt x="87950" y="135012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872805" y="7363755"/>
            <a:ext cx="7058813" cy="305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6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硬件故障常态化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21874" y="7800157"/>
            <a:ext cx="2312934" cy="1047366"/>
          </a:xfrm>
          <a:custGeom>
            <a:avLst/>
            <a:gdLst/>
            <a:ahLst/>
            <a:cxnLst/>
            <a:rect l="l" t="t" r="r" b="b"/>
            <a:pathLst>
              <a:path w="2312934" h="1047366">
                <a:moveTo>
                  <a:pt x="43644" y="0"/>
                </a:moveTo>
                <a:lnTo>
                  <a:pt x="2269290" y="0"/>
                </a:lnTo>
                <a:cubicBezTo>
                  <a:pt x="2293394" y="0"/>
                  <a:pt x="2312934" y="19540"/>
                  <a:pt x="2312934" y="43644"/>
                </a:cubicBezTo>
                <a:lnTo>
                  <a:pt x="2312934" y="1003723"/>
                </a:lnTo>
                <a:cubicBezTo>
                  <a:pt x="2312934" y="1027826"/>
                  <a:pt x="2293394" y="1047366"/>
                  <a:pt x="2269290" y="1047366"/>
                </a:cubicBezTo>
                <a:lnTo>
                  <a:pt x="43644" y="1047366"/>
                </a:lnTo>
                <a:cubicBezTo>
                  <a:pt x="19540" y="1047366"/>
                  <a:pt x="0" y="1027826"/>
                  <a:pt x="0" y="1003723"/>
                </a:cubicBezTo>
                <a:lnTo>
                  <a:pt x="0" y="43644"/>
                </a:lnTo>
                <a:cubicBezTo>
                  <a:pt x="0" y="19540"/>
                  <a:pt x="19540" y="0"/>
                  <a:pt x="43644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698244" y="7931078"/>
            <a:ext cx="2160193" cy="305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18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商用硬件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14609" y="8280200"/>
            <a:ext cx="2127463" cy="436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3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使用成本较低但故障率较高的普通服务器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068883" y="7800157"/>
            <a:ext cx="2312934" cy="1047366"/>
          </a:xfrm>
          <a:custGeom>
            <a:avLst/>
            <a:gdLst/>
            <a:ahLst/>
            <a:cxnLst/>
            <a:rect l="l" t="t" r="r" b="b"/>
            <a:pathLst>
              <a:path w="2312934" h="1047366">
                <a:moveTo>
                  <a:pt x="43644" y="0"/>
                </a:moveTo>
                <a:lnTo>
                  <a:pt x="2269290" y="0"/>
                </a:lnTo>
                <a:cubicBezTo>
                  <a:pt x="2293394" y="0"/>
                  <a:pt x="2312934" y="19540"/>
                  <a:pt x="2312934" y="43644"/>
                </a:cubicBezTo>
                <a:lnTo>
                  <a:pt x="2312934" y="1003723"/>
                </a:lnTo>
                <a:cubicBezTo>
                  <a:pt x="2312934" y="1027826"/>
                  <a:pt x="2293394" y="1047366"/>
                  <a:pt x="2269290" y="1047366"/>
                </a:cubicBezTo>
                <a:lnTo>
                  <a:pt x="43644" y="1047366"/>
                </a:lnTo>
                <a:cubicBezTo>
                  <a:pt x="19540" y="1047366"/>
                  <a:pt x="0" y="1027826"/>
                  <a:pt x="0" y="1003723"/>
                </a:cubicBezTo>
                <a:lnTo>
                  <a:pt x="0" y="43644"/>
                </a:lnTo>
                <a:cubicBezTo>
                  <a:pt x="0" y="19540"/>
                  <a:pt x="19540" y="0"/>
                  <a:pt x="43644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3145253" y="7931078"/>
            <a:ext cx="2160193" cy="305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18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集群规模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3161618" y="8280200"/>
            <a:ext cx="2127463" cy="436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3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数千台服务器的集群中每天都有硬件故障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515977" y="7800157"/>
            <a:ext cx="2312934" cy="1047366"/>
          </a:xfrm>
          <a:custGeom>
            <a:avLst/>
            <a:gdLst/>
            <a:ahLst/>
            <a:cxnLst/>
            <a:rect l="l" t="t" r="r" b="b"/>
            <a:pathLst>
              <a:path w="2312934" h="1047366">
                <a:moveTo>
                  <a:pt x="43644" y="0"/>
                </a:moveTo>
                <a:lnTo>
                  <a:pt x="2269290" y="0"/>
                </a:lnTo>
                <a:cubicBezTo>
                  <a:pt x="2293394" y="0"/>
                  <a:pt x="2312934" y="19540"/>
                  <a:pt x="2312934" y="43644"/>
                </a:cubicBezTo>
                <a:lnTo>
                  <a:pt x="2312934" y="1003723"/>
                </a:lnTo>
                <a:cubicBezTo>
                  <a:pt x="2312934" y="1027826"/>
                  <a:pt x="2293394" y="1047366"/>
                  <a:pt x="2269290" y="1047366"/>
                </a:cubicBezTo>
                <a:lnTo>
                  <a:pt x="43644" y="1047366"/>
                </a:lnTo>
                <a:cubicBezTo>
                  <a:pt x="19540" y="1047366"/>
                  <a:pt x="0" y="1027826"/>
                  <a:pt x="0" y="1003723"/>
                </a:cubicBezTo>
                <a:lnTo>
                  <a:pt x="0" y="43644"/>
                </a:lnTo>
                <a:cubicBezTo>
                  <a:pt x="0" y="19540"/>
                  <a:pt x="19540" y="0"/>
                  <a:pt x="43644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5592347" y="7931078"/>
            <a:ext cx="2160193" cy="305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18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数据可靠性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608712" y="8280200"/>
            <a:ext cx="2127463" cy="218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3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必须保证关键业务数据不丢失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241277" y="7183738"/>
            <a:ext cx="7571587" cy="1843801"/>
          </a:xfrm>
          <a:custGeom>
            <a:avLst/>
            <a:gdLst/>
            <a:ahLst/>
            <a:cxnLst/>
            <a:rect l="l" t="t" r="r" b="b"/>
            <a:pathLst>
              <a:path w="7571587" h="1843801">
                <a:moveTo>
                  <a:pt x="87286" y="0"/>
                </a:moveTo>
                <a:lnTo>
                  <a:pt x="7484301" y="0"/>
                </a:lnTo>
                <a:cubicBezTo>
                  <a:pt x="7532508" y="0"/>
                  <a:pt x="7571587" y="39079"/>
                  <a:pt x="7571587" y="87286"/>
                </a:cubicBezTo>
                <a:lnTo>
                  <a:pt x="7571587" y="1756516"/>
                </a:lnTo>
                <a:cubicBezTo>
                  <a:pt x="7571587" y="1804722"/>
                  <a:pt x="7532508" y="1843801"/>
                  <a:pt x="7484301" y="1843801"/>
                </a:cubicBezTo>
                <a:lnTo>
                  <a:pt x="87286" y="1843801"/>
                </a:lnTo>
                <a:cubicBezTo>
                  <a:pt x="39079" y="1843801"/>
                  <a:pt x="0" y="1804722"/>
                  <a:pt x="0" y="1756516"/>
                </a:cubicBezTo>
                <a:lnTo>
                  <a:pt x="0" y="87286"/>
                </a:lnTo>
                <a:cubicBezTo>
                  <a:pt x="0" y="39111"/>
                  <a:pt x="39111" y="0"/>
                  <a:pt x="87286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8448568" y="7418305"/>
            <a:ext cx="196381" cy="196381"/>
          </a:xfrm>
          <a:custGeom>
            <a:avLst/>
            <a:gdLst/>
            <a:ahLst/>
            <a:cxnLst/>
            <a:rect l="l" t="t" r="r" b="b"/>
            <a:pathLst>
              <a:path w="196381" h="196381">
                <a:moveTo>
                  <a:pt x="0" y="36821"/>
                </a:moveTo>
                <a:cubicBezTo>
                  <a:pt x="0" y="30033"/>
                  <a:pt x="5485" y="24548"/>
                  <a:pt x="12274" y="24548"/>
                </a:cubicBezTo>
                <a:lnTo>
                  <a:pt x="159560" y="24548"/>
                </a:lnTo>
                <a:cubicBezTo>
                  <a:pt x="166349" y="24548"/>
                  <a:pt x="171834" y="30033"/>
                  <a:pt x="171834" y="36821"/>
                </a:cubicBezTo>
                <a:cubicBezTo>
                  <a:pt x="171834" y="43610"/>
                  <a:pt x="166349" y="49095"/>
                  <a:pt x="159560" y="49095"/>
                </a:cubicBezTo>
                <a:lnTo>
                  <a:pt x="12274" y="49095"/>
                </a:lnTo>
                <a:cubicBezTo>
                  <a:pt x="5485" y="49095"/>
                  <a:pt x="0" y="43610"/>
                  <a:pt x="0" y="36821"/>
                </a:cubicBezTo>
                <a:close/>
                <a:moveTo>
                  <a:pt x="24548" y="98191"/>
                </a:moveTo>
                <a:cubicBezTo>
                  <a:pt x="24548" y="91402"/>
                  <a:pt x="30033" y="85917"/>
                  <a:pt x="36821" y="85917"/>
                </a:cubicBezTo>
                <a:lnTo>
                  <a:pt x="184107" y="85917"/>
                </a:lnTo>
                <a:cubicBezTo>
                  <a:pt x="190896" y="85917"/>
                  <a:pt x="196381" y="91402"/>
                  <a:pt x="196381" y="98191"/>
                </a:cubicBezTo>
                <a:cubicBezTo>
                  <a:pt x="196381" y="104980"/>
                  <a:pt x="190896" y="110464"/>
                  <a:pt x="184107" y="110464"/>
                </a:cubicBezTo>
                <a:lnTo>
                  <a:pt x="36821" y="110464"/>
                </a:lnTo>
                <a:cubicBezTo>
                  <a:pt x="30033" y="110464"/>
                  <a:pt x="24548" y="104980"/>
                  <a:pt x="24548" y="98191"/>
                </a:cubicBezTo>
                <a:close/>
                <a:moveTo>
                  <a:pt x="171834" y="159560"/>
                </a:moveTo>
                <a:cubicBezTo>
                  <a:pt x="171834" y="166349"/>
                  <a:pt x="166349" y="171834"/>
                  <a:pt x="159560" y="171834"/>
                </a:cubicBezTo>
                <a:lnTo>
                  <a:pt x="12274" y="171834"/>
                </a:lnTo>
                <a:cubicBezTo>
                  <a:pt x="5485" y="171834"/>
                  <a:pt x="0" y="166349"/>
                  <a:pt x="0" y="159560"/>
                </a:cubicBezTo>
                <a:cubicBezTo>
                  <a:pt x="0" y="152771"/>
                  <a:pt x="5485" y="147286"/>
                  <a:pt x="12274" y="147286"/>
                </a:cubicBezTo>
                <a:lnTo>
                  <a:pt x="159560" y="147286"/>
                </a:lnTo>
                <a:cubicBezTo>
                  <a:pt x="166349" y="147286"/>
                  <a:pt x="171834" y="152771"/>
                  <a:pt x="171834" y="15956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8672225" y="7363755"/>
            <a:ext cx="7058813" cy="305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6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特殊的访问模式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432203" y="7800157"/>
            <a:ext cx="2302024" cy="785525"/>
          </a:xfrm>
          <a:custGeom>
            <a:avLst/>
            <a:gdLst/>
            <a:ahLst/>
            <a:cxnLst/>
            <a:rect l="l" t="t" r="r" b="b"/>
            <a:pathLst>
              <a:path w="2302024" h="785525">
                <a:moveTo>
                  <a:pt x="21820" y="0"/>
                </a:moveTo>
                <a:lnTo>
                  <a:pt x="2258380" y="0"/>
                </a:lnTo>
                <a:cubicBezTo>
                  <a:pt x="2282484" y="0"/>
                  <a:pt x="2302024" y="19540"/>
                  <a:pt x="2302024" y="43644"/>
                </a:cubicBezTo>
                <a:lnTo>
                  <a:pt x="2302024" y="741881"/>
                </a:lnTo>
                <a:cubicBezTo>
                  <a:pt x="2302024" y="765985"/>
                  <a:pt x="2282484" y="785525"/>
                  <a:pt x="2258380" y="785525"/>
                </a:cubicBezTo>
                <a:lnTo>
                  <a:pt x="21820" y="785525"/>
                </a:lnTo>
                <a:cubicBezTo>
                  <a:pt x="9769" y="785525"/>
                  <a:pt x="0" y="775756"/>
                  <a:pt x="0" y="763705"/>
                </a:cubicBezTo>
                <a:lnTo>
                  <a:pt x="0" y="21820"/>
                </a:lnTo>
                <a:cubicBezTo>
                  <a:pt x="0" y="9769"/>
                  <a:pt x="9769" y="0"/>
                  <a:pt x="21820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8432203" y="7800157"/>
            <a:ext cx="21820" cy="785525"/>
          </a:xfrm>
          <a:custGeom>
            <a:avLst/>
            <a:gdLst/>
            <a:ahLst/>
            <a:cxnLst/>
            <a:rect l="l" t="t" r="r" b="b"/>
            <a:pathLst>
              <a:path w="21820" h="785525">
                <a:moveTo>
                  <a:pt x="21820" y="0"/>
                </a:moveTo>
                <a:lnTo>
                  <a:pt x="21820" y="0"/>
                </a:lnTo>
                <a:lnTo>
                  <a:pt x="21820" y="785525"/>
                </a:lnTo>
                <a:lnTo>
                  <a:pt x="21820" y="785525"/>
                </a:lnTo>
                <a:cubicBezTo>
                  <a:pt x="9769" y="785525"/>
                  <a:pt x="0" y="775756"/>
                  <a:pt x="0" y="763705"/>
                </a:cubicBezTo>
                <a:lnTo>
                  <a:pt x="0" y="21820"/>
                </a:lnTo>
                <a:cubicBezTo>
                  <a:pt x="0" y="9777"/>
                  <a:pt x="9777" y="0"/>
                  <a:pt x="2182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8574034" y="7931078"/>
            <a:ext cx="2116553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顺序读取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574034" y="8236560"/>
            <a:ext cx="2105643" cy="218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3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 扫描、批量分析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0879297" y="7800157"/>
            <a:ext cx="2302024" cy="785525"/>
          </a:xfrm>
          <a:custGeom>
            <a:avLst/>
            <a:gdLst/>
            <a:ahLst/>
            <a:cxnLst/>
            <a:rect l="l" t="t" r="r" b="b"/>
            <a:pathLst>
              <a:path w="2302024" h="785525">
                <a:moveTo>
                  <a:pt x="21820" y="0"/>
                </a:moveTo>
                <a:lnTo>
                  <a:pt x="2258380" y="0"/>
                </a:lnTo>
                <a:cubicBezTo>
                  <a:pt x="2282484" y="0"/>
                  <a:pt x="2302024" y="19540"/>
                  <a:pt x="2302024" y="43644"/>
                </a:cubicBezTo>
                <a:lnTo>
                  <a:pt x="2302024" y="741881"/>
                </a:lnTo>
                <a:cubicBezTo>
                  <a:pt x="2302024" y="765985"/>
                  <a:pt x="2282484" y="785525"/>
                  <a:pt x="2258380" y="785525"/>
                </a:cubicBezTo>
                <a:lnTo>
                  <a:pt x="21820" y="785525"/>
                </a:lnTo>
                <a:cubicBezTo>
                  <a:pt x="9769" y="785525"/>
                  <a:pt x="0" y="775756"/>
                  <a:pt x="0" y="763705"/>
                </a:cubicBezTo>
                <a:lnTo>
                  <a:pt x="0" y="21820"/>
                </a:lnTo>
                <a:cubicBezTo>
                  <a:pt x="0" y="9769"/>
                  <a:pt x="9769" y="0"/>
                  <a:pt x="21820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66"/>
          <p:cNvSpPr/>
          <p:nvPr/>
        </p:nvSpPr>
        <p:spPr>
          <a:xfrm>
            <a:off x="10879297" y="7800157"/>
            <a:ext cx="21820" cy="785525"/>
          </a:xfrm>
          <a:custGeom>
            <a:avLst/>
            <a:gdLst/>
            <a:ahLst/>
            <a:cxnLst/>
            <a:rect l="l" t="t" r="r" b="b"/>
            <a:pathLst>
              <a:path w="21820" h="785525">
                <a:moveTo>
                  <a:pt x="21820" y="0"/>
                </a:moveTo>
                <a:lnTo>
                  <a:pt x="21820" y="0"/>
                </a:lnTo>
                <a:lnTo>
                  <a:pt x="21820" y="785525"/>
                </a:lnTo>
                <a:lnTo>
                  <a:pt x="21820" y="785525"/>
                </a:lnTo>
                <a:cubicBezTo>
                  <a:pt x="9769" y="785525"/>
                  <a:pt x="0" y="775756"/>
                  <a:pt x="0" y="763705"/>
                </a:cubicBezTo>
                <a:lnTo>
                  <a:pt x="0" y="21820"/>
                </a:lnTo>
                <a:cubicBezTo>
                  <a:pt x="0" y="9777"/>
                  <a:pt x="9777" y="0"/>
                  <a:pt x="2182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11021128" y="7931078"/>
            <a:ext cx="2116553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追加写入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1021128" y="8236560"/>
            <a:ext cx="2105643" cy="218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3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日志文件、数据持续追加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13326391" y="7800157"/>
            <a:ext cx="2302024" cy="785525"/>
          </a:xfrm>
          <a:custGeom>
            <a:avLst/>
            <a:gdLst/>
            <a:ahLst/>
            <a:cxnLst/>
            <a:rect l="l" t="t" r="r" b="b"/>
            <a:pathLst>
              <a:path w="2302024" h="785525">
                <a:moveTo>
                  <a:pt x="21820" y="0"/>
                </a:moveTo>
                <a:lnTo>
                  <a:pt x="2258380" y="0"/>
                </a:lnTo>
                <a:cubicBezTo>
                  <a:pt x="2282484" y="0"/>
                  <a:pt x="2302024" y="19540"/>
                  <a:pt x="2302024" y="43644"/>
                </a:cubicBezTo>
                <a:lnTo>
                  <a:pt x="2302024" y="741881"/>
                </a:lnTo>
                <a:cubicBezTo>
                  <a:pt x="2302024" y="765985"/>
                  <a:pt x="2282484" y="785525"/>
                  <a:pt x="2258380" y="785525"/>
                </a:cubicBezTo>
                <a:lnTo>
                  <a:pt x="21820" y="785525"/>
                </a:lnTo>
                <a:cubicBezTo>
                  <a:pt x="9769" y="785525"/>
                  <a:pt x="0" y="775756"/>
                  <a:pt x="0" y="763705"/>
                </a:cubicBezTo>
                <a:lnTo>
                  <a:pt x="0" y="21820"/>
                </a:lnTo>
                <a:cubicBezTo>
                  <a:pt x="0" y="9769"/>
                  <a:pt x="9769" y="0"/>
                  <a:pt x="21820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2" name="Shape 70"/>
          <p:cNvSpPr/>
          <p:nvPr/>
        </p:nvSpPr>
        <p:spPr>
          <a:xfrm>
            <a:off x="13326391" y="7800157"/>
            <a:ext cx="21820" cy="785525"/>
          </a:xfrm>
          <a:custGeom>
            <a:avLst/>
            <a:gdLst/>
            <a:ahLst/>
            <a:cxnLst/>
            <a:rect l="l" t="t" r="r" b="b"/>
            <a:pathLst>
              <a:path w="21820" h="785525">
                <a:moveTo>
                  <a:pt x="21820" y="0"/>
                </a:moveTo>
                <a:lnTo>
                  <a:pt x="21820" y="0"/>
                </a:lnTo>
                <a:lnTo>
                  <a:pt x="21820" y="785525"/>
                </a:lnTo>
                <a:lnTo>
                  <a:pt x="21820" y="785525"/>
                </a:lnTo>
                <a:cubicBezTo>
                  <a:pt x="9769" y="785525"/>
                  <a:pt x="0" y="775756"/>
                  <a:pt x="0" y="763705"/>
                </a:cubicBezTo>
                <a:lnTo>
                  <a:pt x="0" y="21820"/>
                </a:lnTo>
                <a:cubicBezTo>
                  <a:pt x="0" y="9777"/>
                  <a:pt x="9777" y="0"/>
                  <a:pt x="2182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Text 71"/>
          <p:cNvSpPr/>
          <p:nvPr/>
        </p:nvSpPr>
        <p:spPr>
          <a:xfrm>
            <a:off x="13468222" y="7931078"/>
            <a:ext cx="2116553" cy="261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随机写入少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3468222" y="8236560"/>
            <a:ext cx="2105643" cy="218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3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偶尔更新索引权重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36" y="592420"/>
            <a:ext cx="473936" cy="47394"/>
          </a:xfrm>
          <a:custGeom>
            <a:avLst/>
            <a:gdLst/>
            <a:ahLst/>
            <a:cxnLst/>
            <a:rect l="l" t="t" r="r" b="b"/>
            <a:pathLst>
              <a:path w="473936" h="47394">
                <a:moveTo>
                  <a:pt x="0" y="0"/>
                </a:moveTo>
                <a:lnTo>
                  <a:pt x="473936" y="0"/>
                </a:lnTo>
                <a:lnTo>
                  <a:pt x="473936" y="47394"/>
                </a:lnTo>
                <a:lnTo>
                  <a:pt x="0" y="47394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90052" y="473936"/>
            <a:ext cx="2322286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3" b="1" kern="0" spc="75" dirty="0">
                <a:solidFill>
                  <a:srgbClr val="D4A2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ASSUMPTIONS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3936" y="853085"/>
            <a:ext cx="15521399" cy="4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59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GFS 的设计假设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97633" y="1516595"/>
            <a:ext cx="5082962" cy="2488163"/>
          </a:xfrm>
          <a:custGeom>
            <a:avLst/>
            <a:gdLst/>
            <a:ahLst/>
            <a:cxnLst/>
            <a:rect l="l" t="t" r="r" b="b"/>
            <a:pathLst>
              <a:path w="5082962" h="2488163">
                <a:moveTo>
                  <a:pt x="47394" y="0"/>
                </a:moveTo>
                <a:lnTo>
                  <a:pt x="4988163" y="0"/>
                </a:lnTo>
                <a:cubicBezTo>
                  <a:pt x="5040519" y="0"/>
                  <a:pt x="5082962" y="42443"/>
                  <a:pt x="5082962" y="94799"/>
                </a:cubicBezTo>
                <a:lnTo>
                  <a:pt x="5082962" y="2393364"/>
                </a:lnTo>
                <a:cubicBezTo>
                  <a:pt x="5082962" y="2445720"/>
                  <a:pt x="5040519" y="2488163"/>
                  <a:pt x="4988163" y="2488163"/>
                </a:cubicBezTo>
                <a:lnTo>
                  <a:pt x="47394" y="2488163"/>
                </a:lnTo>
                <a:cubicBezTo>
                  <a:pt x="21219" y="2488163"/>
                  <a:pt x="0" y="2466944"/>
                  <a:pt x="0" y="2440770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97633" y="1516595"/>
            <a:ext cx="47394" cy="2488163"/>
          </a:xfrm>
          <a:custGeom>
            <a:avLst/>
            <a:gdLst/>
            <a:ahLst/>
            <a:cxnLst/>
            <a:rect l="l" t="t" r="r" b="b"/>
            <a:pathLst>
              <a:path w="47394" h="2488163">
                <a:moveTo>
                  <a:pt x="47394" y="0"/>
                </a:moveTo>
                <a:lnTo>
                  <a:pt x="47394" y="0"/>
                </a:lnTo>
                <a:lnTo>
                  <a:pt x="47394" y="2488163"/>
                </a:lnTo>
                <a:lnTo>
                  <a:pt x="47394" y="2488163"/>
                </a:lnTo>
                <a:cubicBezTo>
                  <a:pt x="21219" y="2488163"/>
                  <a:pt x="0" y="2466944"/>
                  <a:pt x="0" y="2440770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58297" y="1753563"/>
            <a:ext cx="568723" cy="568723"/>
          </a:xfrm>
          <a:custGeom>
            <a:avLst/>
            <a:gdLst/>
            <a:ahLst/>
            <a:cxnLst/>
            <a:rect l="l" t="t" r="r" b="b"/>
            <a:pathLst>
              <a:path w="568723" h="568723">
                <a:moveTo>
                  <a:pt x="284362" y="0"/>
                </a:moveTo>
                <a:lnTo>
                  <a:pt x="284362" y="0"/>
                </a:lnTo>
                <a:cubicBezTo>
                  <a:pt x="441305" y="0"/>
                  <a:pt x="568723" y="127418"/>
                  <a:pt x="568723" y="284362"/>
                </a:cubicBezTo>
                <a:lnTo>
                  <a:pt x="568723" y="284362"/>
                </a:lnTo>
                <a:cubicBezTo>
                  <a:pt x="568723" y="441305"/>
                  <a:pt x="441305" y="568723"/>
                  <a:pt x="284362" y="568723"/>
                </a:cubicBezTo>
                <a:lnTo>
                  <a:pt x="284362" y="568723"/>
                </a:lnTo>
                <a:cubicBezTo>
                  <a:pt x="127418" y="568723"/>
                  <a:pt x="0" y="441305"/>
                  <a:pt x="0" y="284362"/>
                </a:cubicBezTo>
                <a:lnTo>
                  <a:pt x="0" y="284362"/>
                </a:lnTo>
                <a:cubicBezTo>
                  <a:pt x="0" y="127418"/>
                  <a:pt x="127418" y="0"/>
                  <a:pt x="284362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85731" y="1848350"/>
            <a:ext cx="260665" cy="379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39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9201" y="1872047"/>
            <a:ext cx="1777259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66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组件故障是常态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8297" y="2464466"/>
            <a:ext cx="4680117" cy="308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9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系统由大量廉价的商用硬件组成，故障不可避免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58297" y="2914706"/>
            <a:ext cx="4585329" cy="853085"/>
          </a:xfrm>
          <a:custGeom>
            <a:avLst/>
            <a:gdLst/>
            <a:ahLst/>
            <a:cxnLst/>
            <a:rect l="l" t="t" r="r" b="b"/>
            <a:pathLst>
              <a:path w="4585329" h="853085">
                <a:moveTo>
                  <a:pt x="47397" y="0"/>
                </a:moveTo>
                <a:lnTo>
                  <a:pt x="4537932" y="0"/>
                </a:lnTo>
                <a:cubicBezTo>
                  <a:pt x="4564109" y="0"/>
                  <a:pt x="4585329" y="21221"/>
                  <a:pt x="4585329" y="47397"/>
                </a:cubicBezTo>
                <a:lnTo>
                  <a:pt x="4585329" y="805687"/>
                </a:lnTo>
                <a:cubicBezTo>
                  <a:pt x="4585329" y="831864"/>
                  <a:pt x="4564109" y="853085"/>
                  <a:pt x="4537932" y="853085"/>
                </a:cubicBezTo>
                <a:lnTo>
                  <a:pt x="47397" y="853085"/>
                </a:lnTo>
                <a:cubicBezTo>
                  <a:pt x="21221" y="853085"/>
                  <a:pt x="0" y="831864"/>
                  <a:pt x="0" y="805687"/>
                </a:cubicBezTo>
                <a:lnTo>
                  <a:pt x="0" y="47397"/>
                </a:lnTo>
                <a:cubicBezTo>
                  <a:pt x="0" y="21238"/>
                  <a:pt x="21238" y="0"/>
                  <a:pt x="47397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00478" y="3056886"/>
            <a:ext cx="4395755" cy="5687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3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数千台服务器每天都有硬件故障，必须设计容错机制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7633" y="4194332"/>
            <a:ext cx="5082962" cy="2488163"/>
          </a:xfrm>
          <a:custGeom>
            <a:avLst/>
            <a:gdLst/>
            <a:ahLst/>
            <a:cxnLst/>
            <a:rect l="l" t="t" r="r" b="b"/>
            <a:pathLst>
              <a:path w="5082962" h="2488163">
                <a:moveTo>
                  <a:pt x="47394" y="0"/>
                </a:moveTo>
                <a:lnTo>
                  <a:pt x="4988163" y="0"/>
                </a:lnTo>
                <a:cubicBezTo>
                  <a:pt x="5040519" y="0"/>
                  <a:pt x="5082962" y="42443"/>
                  <a:pt x="5082962" y="94799"/>
                </a:cubicBezTo>
                <a:lnTo>
                  <a:pt x="5082962" y="2393364"/>
                </a:lnTo>
                <a:cubicBezTo>
                  <a:pt x="5082962" y="2445720"/>
                  <a:pt x="5040519" y="2488163"/>
                  <a:pt x="4988163" y="2488163"/>
                </a:cubicBezTo>
                <a:lnTo>
                  <a:pt x="47394" y="2488163"/>
                </a:lnTo>
                <a:cubicBezTo>
                  <a:pt x="21219" y="2488163"/>
                  <a:pt x="0" y="2466944"/>
                  <a:pt x="0" y="2440770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97633" y="4194332"/>
            <a:ext cx="47394" cy="2488163"/>
          </a:xfrm>
          <a:custGeom>
            <a:avLst/>
            <a:gdLst/>
            <a:ahLst/>
            <a:cxnLst/>
            <a:rect l="l" t="t" r="r" b="b"/>
            <a:pathLst>
              <a:path w="47394" h="2488163">
                <a:moveTo>
                  <a:pt x="47394" y="0"/>
                </a:moveTo>
                <a:lnTo>
                  <a:pt x="47394" y="0"/>
                </a:lnTo>
                <a:lnTo>
                  <a:pt x="47394" y="2488163"/>
                </a:lnTo>
                <a:lnTo>
                  <a:pt x="47394" y="2488163"/>
                </a:lnTo>
                <a:cubicBezTo>
                  <a:pt x="21219" y="2488163"/>
                  <a:pt x="0" y="2466944"/>
                  <a:pt x="0" y="2440770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58297" y="4431300"/>
            <a:ext cx="568723" cy="568723"/>
          </a:xfrm>
          <a:custGeom>
            <a:avLst/>
            <a:gdLst/>
            <a:ahLst/>
            <a:cxnLst/>
            <a:rect l="l" t="t" r="r" b="b"/>
            <a:pathLst>
              <a:path w="568723" h="568723">
                <a:moveTo>
                  <a:pt x="284362" y="0"/>
                </a:moveTo>
                <a:lnTo>
                  <a:pt x="284362" y="0"/>
                </a:lnTo>
                <a:cubicBezTo>
                  <a:pt x="441305" y="0"/>
                  <a:pt x="568723" y="127418"/>
                  <a:pt x="568723" y="284362"/>
                </a:cubicBezTo>
                <a:lnTo>
                  <a:pt x="568723" y="284362"/>
                </a:lnTo>
                <a:cubicBezTo>
                  <a:pt x="568723" y="441305"/>
                  <a:pt x="441305" y="568723"/>
                  <a:pt x="284362" y="568723"/>
                </a:cubicBezTo>
                <a:lnTo>
                  <a:pt x="284362" y="568723"/>
                </a:lnTo>
                <a:cubicBezTo>
                  <a:pt x="127418" y="568723"/>
                  <a:pt x="0" y="441305"/>
                  <a:pt x="0" y="284362"/>
                </a:cubicBezTo>
                <a:lnTo>
                  <a:pt x="0" y="284362"/>
                </a:lnTo>
                <a:cubicBezTo>
                  <a:pt x="0" y="127418"/>
                  <a:pt x="127418" y="0"/>
                  <a:pt x="284362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59998" y="4526087"/>
            <a:ext cx="308058" cy="379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39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9201" y="4549784"/>
            <a:ext cx="1540292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66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文件通常很大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8297" y="5142204"/>
            <a:ext cx="4680117" cy="308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9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典型文件大小为几个 GB，需要高效处理大文件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8297" y="5592443"/>
            <a:ext cx="4585329" cy="853085"/>
          </a:xfrm>
          <a:custGeom>
            <a:avLst/>
            <a:gdLst/>
            <a:ahLst/>
            <a:cxnLst/>
            <a:rect l="l" t="t" r="r" b="b"/>
            <a:pathLst>
              <a:path w="4585329" h="853085">
                <a:moveTo>
                  <a:pt x="47397" y="0"/>
                </a:moveTo>
                <a:lnTo>
                  <a:pt x="4537932" y="0"/>
                </a:lnTo>
                <a:cubicBezTo>
                  <a:pt x="4564109" y="0"/>
                  <a:pt x="4585329" y="21221"/>
                  <a:pt x="4585329" y="47397"/>
                </a:cubicBezTo>
                <a:lnTo>
                  <a:pt x="4585329" y="805687"/>
                </a:lnTo>
                <a:cubicBezTo>
                  <a:pt x="4585329" y="831864"/>
                  <a:pt x="4564109" y="853085"/>
                  <a:pt x="4537932" y="853085"/>
                </a:cubicBezTo>
                <a:lnTo>
                  <a:pt x="47397" y="853085"/>
                </a:lnTo>
                <a:cubicBezTo>
                  <a:pt x="21221" y="853085"/>
                  <a:pt x="0" y="831864"/>
                  <a:pt x="0" y="805687"/>
                </a:cubicBezTo>
                <a:lnTo>
                  <a:pt x="0" y="47397"/>
                </a:lnTo>
                <a:cubicBezTo>
                  <a:pt x="0" y="21238"/>
                  <a:pt x="21238" y="0"/>
                  <a:pt x="47397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00478" y="5734624"/>
            <a:ext cx="4395755" cy="5687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3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数亿个文件，每个文件 100MB 到数 GB，总容量 PB 级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86431" y="1230841"/>
            <a:ext cx="9905259" cy="7819942"/>
          </a:xfrm>
          <a:custGeom>
            <a:avLst/>
            <a:gdLst/>
            <a:ahLst/>
            <a:cxnLst/>
            <a:rect l="l" t="t" r="r" b="b"/>
            <a:pathLst>
              <a:path w="9905259" h="7819942">
                <a:moveTo>
                  <a:pt x="47394" y="0"/>
                </a:moveTo>
                <a:lnTo>
                  <a:pt x="9810482" y="0"/>
                </a:lnTo>
                <a:cubicBezTo>
                  <a:pt x="9862826" y="0"/>
                  <a:pt x="9905259" y="42433"/>
                  <a:pt x="9905259" y="94778"/>
                </a:cubicBezTo>
                <a:lnTo>
                  <a:pt x="9905259" y="7725164"/>
                </a:lnTo>
                <a:cubicBezTo>
                  <a:pt x="9905259" y="7777508"/>
                  <a:pt x="9862826" y="7819942"/>
                  <a:pt x="9810482" y="7819942"/>
                </a:cubicBezTo>
                <a:lnTo>
                  <a:pt x="47394" y="7819942"/>
                </a:lnTo>
                <a:cubicBezTo>
                  <a:pt x="21219" y="7819942"/>
                  <a:pt x="0" y="7798723"/>
                  <a:pt x="0" y="7772548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5886431" y="1230841"/>
            <a:ext cx="47394" cy="7819942"/>
          </a:xfrm>
          <a:custGeom>
            <a:avLst/>
            <a:gdLst/>
            <a:ahLst/>
            <a:cxnLst/>
            <a:rect l="l" t="t" r="r" b="b"/>
            <a:pathLst>
              <a:path w="47394" h="7819942">
                <a:moveTo>
                  <a:pt x="47394" y="0"/>
                </a:moveTo>
                <a:lnTo>
                  <a:pt x="47394" y="0"/>
                </a:lnTo>
                <a:lnTo>
                  <a:pt x="47394" y="7819942"/>
                </a:lnTo>
                <a:lnTo>
                  <a:pt x="47394" y="7819942"/>
                </a:lnTo>
                <a:cubicBezTo>
                  <a:pt x="21219" y="7819942"/>
                  <a:pt x="0" y="7798723"/>
                  <a:pt x="0" y="7772548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6147096" y="1467809"/>
            <a:ext cx="568723" cy="568723"/>
          </a:xfrm>
          <a:custGeom>
            <a:avLst/>
            <a:gdLst/>
            <a:ahLst/>
            <a:cxnLst/>
            <a:rect l="l" t="t" r="r" b="b"/>
            <a:pathLst>
              <a:path w="568723" h="568723">
                <a:moveTo>
                  <a:pt x="284362" y="0"/>
                </a:moveTo>
                <a:lnTo>
                  <a:pt x="284362" y="0"/>
                </a:lnTo>
                <a:cubicBezTo>
                  <a:pt x="441305" y="0"/>
                  <a:pt x="568723" y="127418"/>
                  <a:pt x="568723" y="284362"/>
                </a:cubicBezTo>
                <a:lnTo>
                  <a:pt x="568723" y="284362"/>
                </a:lnTo>
                <a:cubicBezTo>
                  <a:pt x="568723" y="441305"/>
                  <a:pt x="441305" y="568723"/>
                  <a:pt x="284362" y="568723"/>
                </a:cubicBezTo>
                <a:lnTo>
                  <a:pt x="284362" y="568723"/>
                </a:lnTo>
                <a:cubicBezTo>
                  <a:pt x="127418" y="568723"/>
                  <a:pt x="0" y="441305"/>
                  <a:pt x="0" y="284362"/>
                </a:cubicBezTo>
                <a:lnTo>
                  <a:pt x="0" y="284362"/>
                </a:lnTo>
                <a:cubicBezTo>
                  <a:pt x="0" y="127418"/>
                  <a:pt x="127418" y="0"/>
                  <a:pt x="284362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347501" y="1562596"/>
            <a:ext cx="308058" cy="379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39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0" y="1586293"/>
            <a:ext cx="1540292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66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工作负载特点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70793" y="2226106"/>
            <a:ext cx="9383930" cy="1753563"/>
          </a:xfrm>
          <a:custGeom>
            <a:avLst/>
            <a:gdLst/>
            <a:ahLst/>
            <a:cxnLst/>
            <a:rect l="l" t="t" r="r" b="b"/>
            <a:pathLst>
              <a:path w="9383930" h="1753563">
                <a:moveTo>
                  <a:pt x="47394" y="0"/>
                </a:moveTo>
                <a:lnTo>
                  <a:pt x="9336531" y="0"/>
                </a:lnTo>
                <a:cubicBezTo>
                  <a:pt x="9362709" y="0"/>
                  <a:pt x="9383930" y="21221"/>
                  <a:pt x="9383930" y="47399"/>
                </a:cubicBezTo>
                <a:lnTo>
                  <a:pt x="9383930" y="1706164"/>
                </a:lnTo>
                <a:cubicBezTo>
                  <a:pt x="9383930" y="1732342"/>
                  <a:pt x="9362709" y="1753563"/>
                  <a:pt x="9336531" y="1753563"/>
                </a:cubicBezTo>
                <a:lnTo>
                  <a:pt x="47394" y="1753563"/>
                </a:lnTo>
                <a:cubicBezTo>
                  <a:pt x="21219" y="1753563"/>
                  <a:pt x="0" y="1732344"/>
                  <a:pt x="0" y="1706169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170793" y="2226106"/>
            <a:ext cx="47394" cy="1753563"/>
          </a:xfrm>
          <a:custGeom>
            <a:avLst/>
            <a:gdLst/>
            <a:ahLst/>
            <a:cxnLst/>
            <a:rect l="l" t="t" r="r" b="b"/>
            <a:pathLst>
              <a:path w="47394" h="1753563">
                <a:moveTo>
                  <a:pt x="47394" y="0"/>
                </a:moveTo>
                <a:lnTo>
                  <a:pt x="47394" y="0"/>
                </a:lnTo>
                <a:lnTo>
                  <a:pt x="47394" y="1753563"/>
                </a:lnTo>
                <a:lnTo>
                  <a:pt x="47394" y="1753563"/>
                </a:lnTo>
                <a:cubicBezTo>
                  <a:pt x="21219" y="1753563"/>
                  <a:pt x="0" y="1732344"/>
                  <a:pt x="0" y="1706169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407761" y="2486771"/>
            <a:ext cx="189574" cy="189574"/>
          </a:xfrm>
          <a:custGeom>
            <a:avLst/>
            <a:gdLst/>
            <a:ahLst/>
            <a:cxnLst/>
            <a:rect l="l" t="t" r="r" b="b"/>
            <a:pathLst>
              <a:path w="189574" h="189574">
                <a:moveTo>
                  <a:pt x="186094" y="103155"/>
                </a:moveTo>
                <a:cubicBezTo>
                  <a:pt x="190722" y="98527"/>
                  <a:pt x="190722" y="91010"/>
                  <a:pt x="186094" y="86382"/>
                </a:cubicBezTo>
                <a:lnTo>
                  <a:pt x="126852" y="27140"/>
                </a:lnTo>
                <a:cubicBezTo>
                  <a:pt x="122224" y="22512"/>
                  <a:pt x="114707" y="22512"/>
                  <a:pt x="110079" y="27140"/>
                </a:cubicBezTo>
                <a:cubicBezTo>
                  <a:pt x="105451" y="31769"/>
                  <a:pt x="105451" y="39285"/>
                  <a:pt x="110079" y="43913"/>
                </a:cubicBezTo>
                <a:lnTo>
                  <a:pt x="149105" y="82939"/>
                </a:lnTo>
                <a:lnTo>
                  <a:pt x="11848" y="82939"/>
                </a:lnTo>
                <a:cubicBezTo>
                  <a:pt x="5295" y="82939"/>
                  <a:pt x="0" y="88234"/>
                  <a:pt x="0" y="94787"/>
                </a:cubicBezTo>
                <a:cubicBezTo>
                  <a:pt x="0" y="101341"/>
                  <a:pt x="5295" y="106636"/>
                  <a:pt x="11848" y="106636"/>
                </a:cubicBezTo>
                <a:lnTo>
                  <a:pt x="149105" y="106636"/>
                </a:lnTo>
                <a:lnTo>
                  <a:pt x="110079" y="145661"/>
                </a:lnTo>
                <a:cubicBezTo>
                  <a:pt x="105451" y="150290"/>
                  <a:pt x="105451" y="157806"/>
                  <a:pt x="110079" y="162434"/>
                </a:cubicBezTo>
                <a:cubicBezTo>
                  <a:pt x="114707" y="167062"/>
                  <a:pt x="122224" y="167062"/>
                  <a:pt x="126852" y="162434"/>
                </a:cubicBezTo>
                <a:lnTo>
                  <a:pt x="186094" y="103192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715819" y="2415680"/>
            <a:ext cx="3483429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大量的流式读取 (Sequential Reads)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84064" y="2842223"/>
            <a:ext cx="4443149" cy="426542"/>
          </a:xfrm>
          <a:custGeom>
            <a:avLst/>
            <a:gdLst/>
            <a:ahLst/>
            <a:cxnLst/>
            <a:rect l="l" t="t" r="r" b="b"/>
            <a:pathLst>
              <a:path w="4443149" h="426542">
                <a:moveTo>
                  <a:pt x="47393" y="0"/>
                </a:moveTo>
                <a:lnTo>
                  <a:pt x="4395756" y="0"/>
                </a:lnTo>
                <a:cubicBezTo>
                  <a:pt x="4421930" y="0"/>
                  <a:pt x="4443149" y="21219"/>
                  <a:pt x="4443149" y="47393"/>
                </a:cubicBezTo>
                <a:lnTo>
                  <a:pt x="4443149" y="379149"/>
                </a:lnTo>
                <a:cubicBezTo>
                  <a:pt x="4443149" y="405324"/>
                  <a:pt x="4421930" y="426542"/>
                  <a:pt x="4395756" y="426542"/>
                </a:cubicBezTo>
                <a:lnTo>
                  <a:pt x="47393" y="426542"/>
                </a:lnTo>
                <a:cubicBezTo>
                  <a:pt x="21236" y="426542"/>
                  <a:pt x="0" y="405306"/>
                  <a:pt x="0" y="379149"/>
                </a:cubicBezTo>
                <a:lnTo>
                  <a:pt x="0" y="47393"/>
                </a:lnTo>
                <a:cubicBezTo>
                  <a:pt x="0" y="21236"/>
                  <a:pt x="21236" y="0"/>
                  <a:pt x="4739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478851" y="2937010"/>
            <a:ext cx="4336513" cy="23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 作业扫描整个网页索引文件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919778" y="2842223"/>
            <a:ext cx="4443149" cy="426542"/>
          </a:xfrm>
          <a:custGeom>
            <a:avLst/>
            <a:gdLst/>
            <a:ahLst/>
            <a:cxnLst/>
            <a:rect l="l" t="t" r="r" b="b"/>
            <a:pathLst>
              <a:path w="4443149" h="426542">
                <a:moveTo>
                  <a:pt x="47393" y="0"/>
                </a:moveTo>
                <a:lnTo>
                  <a:pt x="4395756" y="0"/>
                </a:lnTo>
                <a:cubicBezTo>
                  <a:pt x="4421930" y="0"/>
                  <a:pt x="4443149" y="21219"/>
                  <a:pt x="4443149" y="47393"/>
                </a:cubicBezTo>
                <a:lnTo>
                  <a:pt x="4443149" y="379149"/>
                </a:lnTo>
                <a:cubicBezTo>
                  <a:pt x="4443149" y="405324"/>
                  <a:pt x="4421930" y="426542"/>
                  <a:pt x="4395756" y="426542"/>
                </a:cubicBezTo>
                <a:lnTo>
                  <a:pt x="47393" y="426542"/>
                </a:lnTo>
                <a:cubicBezTo>
                  <a:pt x="21236" y="426542"/>
                  <a:pt x="0" y="405306"/>
                  <a:pt x="0" y="379149"/>
                </a:cubicBezTo>
                <a:lnTo>
                  <a:pt x="0" y="47393"/>
                </a:lnTo>
                <a:cubicBezTo>
                  <a:pt x="0" y="21236"/>
                  <a:pt x="21236" y="0"/>
                  <a:pt x="4739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1014566" y="2937010"/>
            <a:ext cx="4336513" cy="23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批量分析用户行为日志文件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84064" y="3363552"/>
            <a:ext cx="4443149" cy="426542"/>
          </a:xfrm>
          <a:custGeom>
            <a:avLst/>
            <a:gdLst/>
            <a:ahLst/>
            <a:cxnLst/>
            <a:rect l="l" t="t" r="r" b="b"/>
            <a:pathLst>
              <a:path w="4443149" h="426542">
                <a:moveTo>
                  <a:pt x="47393" y="0"/>
                </a:moveTo>
                <a:lnTo>
                  <a:pt x="4395756" y="0"/>
                </a:lnTo>
                <a:cubicBezTo>
                  <a:pt x="4421930" y="0"/>
                  <a:pt x="4443149" y="21219"/>
                  <a:pt x="4443149" y="47393"/>
                </a:cubicBezTo>
                <a:lnTo>
                  <a:pt x="4443149" y="379149"/>
                </a:lnTo>
                <a:cubicBezTo>
                  <a:pt x="4443149" y="405324"/>
                  <a:pt x="4421930" y="426542"/>
                  <a:pt x="4395756" y="426542"/>
                </a:cubicBezTo>
                <a:lnTo>
                  <a:pt x="47393" y="426542"/>
                </a:lnTo>
                <a:cubicBezTo>
                  <a:pt x="21236" y="426542"/>
                  <a:pt x="0" y="405306"/>
                  <a:pt x="0" y="379149"/>
                </a:cubicBezTo>
                <a:lnTo>
                  <a:pt x="0" y="47393"/>
                </a:lnTo>
                <a:cubicBezTo>
                  <a:pt x="0" y="21236"/>
                  <a:pt x="21236" y="0"/>
                  <a:pt x="4739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478851" y="3458339"/>
            <a:ext cx="4336513" cy="23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搜索引擎处理爬取的网页数据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919778" y="3363552"/>
            <a:ext cx="4443149" cy="426542"/>
          </a:xfrm>
          <a:custGeom>
            <a:avLst/>
            <a:gdLst/>
            <a:ahLst/>
            <a:cxnLst/>
            <a:rect l="l" t="t" r="r" b="b"/>
            <a:pathLst>
              <a:path w="4443149" h="426542">
                <a:moveTo>
                  <a:pt x="47393" y="0"/>
                </a:moveTo>
                <a:lnTo>
                  <a:pt x="4395756" y="0"/>
                </a:lnTo>
                <a:cubicBezTo>
                  <a:pt x="4421930" y="0"/>
                  <a:pt x="4443149" y="21219"/>
                  <a:pt x="4443149" y="47393"/>
                </a:cubicBezTo>
                <a:lnTo>
                  <a:pt x="4443149" y="379149"/>
                </a:lnTo>
                <a:cubicBezTo>
                  <a:pt x="4443149" y="405324"/>
                  <a:pt x="4421930" y="426542"/>
                  <a:pt x="4395756" y="426542"/>
                </a:cubicBezTo>
                <a:lnTo>
                  <a:pt x="47393" y="426542"/>
                </a:lnTo>
                <a:cubicBezTo>
                  <a:pt x="21236" y="426542"/>
                  <a:pt x="0" y="405306"/>
                  <a:pt x="0" y="379149"/>
                </a:cubicBezTo>
                <a:lnTo>
                  <a:pt x="0" y="47393"/>
                </a:lnTo>
                <a:cubicBezTo>
                  <a:pt x="0" y="21236"/>
                  <a:pt x="21236" y="0"/>
                  <a:pt x="4739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1014566" y="3458339"/>
            <a:ext cx="4336513" cy="23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数据挖掘任务读取历史数据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70793" y="4121849"/>
            <a:ext cx="9383930" cy="1232233"/>
          </a:xfrm>
          <a:custGeom>
            <a:avLst/>
            <a:gdLst/>
            <a:ahLst/>
            <a:cxnLst/>
            <a:rect l="l" t="t" r="r" b="b"/>
            <a:pathLst>
              <a:path w="9383930" h="1232233">
                <a:moveTo>
                  <a:pt x="47392" y="0"/>
                </a:moveTo>
                <a:lnTo>
                  <a:pt x="9336538" y="0"/>
                </a:lnTo>
                <a:cubicBezTo>
                  <a:pt x="9362712" y="0"/>
                  <a:pt x="9383930" y="21218"/>
                  <a:pt x="9383930" y="47392"/>
                </a:cubicBezTo>
                <a:lnTo>
                  <a:pt x="9383930" y="1184842"/>
                </a:lnTo>
                <a:cubicBezTo>
                  <a:pt x="9383930" y="1211015"/>
                  <a:pt x="9362712" y="1232233"/>
                  <a:pt x="9336538" y="1232233"/>
                </a:cubicBezTo>
                <a:lnTo>
                  <a:pt x="47392" y="1232233"/>
                </a:lnTo>
                <a:cubicBezTo>
                  <a:pt x="21218" y="1232233"/>
                  <a:pt x="0" y="1211015"/>
                  <a:pt x="0" y="1184842"/>
                </a:cubicBezTo>
                <a:lnTo>
                  <a:pt x="0" y="47392"/>
                </a:lnTo>
                <a:cubicBezTo>
                  <a:pt x="0" y="21236"/>
                  <a:pt x="21236" y="0"/>
                  <a:pt x="47392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6170793" y="4121849"/>
            <a:ext cx="47394" cy="1232233"/>
          </a:xfrm>
          <a:custGeom>
            <a:avLst/>
            <a:gdLst/>
            <a:ahLst/>
            <a:cxnLst/>
            <a:rect l="l" t="t" r="r" b="b"/>
            <a:pathLst>
              <a:path w="47394" h="1232233">
                <a:moveTo>
                  <a:pt x="47394" y="0"/>
                </a:moveTo>
                <a:lnTo>
                  <a:pt x="47394" y="0"/>
                </a:lnTo>
                <a:lnTo>
                  <a:pt x="47394" y="1232233"/>
                </a:lnTo>
                <a:lnTo>
                  <a:pt x="47394" y="1232233"/>
                </a:lnTo>
                <a:cubicBezTo>
                  <a:pt x="21219" y="1232233"/>
                  <a:pt x="0" y="1211014"/>
                  <a:pt x="0" y="1184840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6407761" y="4382514"/>
            <a:ext cx="189574" cy="189574"/>
          </a:xfrm>
          <a:custGeom>
            <a:avLst/>
            <a:gdLst/>
            <a:ahLst/>
            <a:cxnLst/>
            <a:rect l="l" t="t" r="r" b="b"/>
            <a:pathLst>
              <a:path w="189574" h="189574">
                <a:moveTo>
                  <a:pt x="149512" y="12737"/>
                </a:moveTo>
                <a:cubicBezTo>
                  <a:pt x="153955" y="10886"/>
                  <a:pt x="159028" y="11922"/>
                  <a:pt x="162434" y="15292"/>
                </a:cubicBezTo>
                <a:lnTo>
                  <a:pt x="186131" y="38989"/>
                </a:lnTo>
                <a:cubicBezTo>
                  <a:pt x="188352" y="41210"/>
                  <a:pt x="189611" y="44209"/>
                  <a:pt x="189611" y="47357"/>
                </a:cubicBezTo>
                <a:cubicBezTo>
                  <a:pt x="189611" y="50504"/>
                  <a:pt x="188352" y="53503"/>
                  <a:pt x="186131" y="55724"/>
                </a:cubicBezTo>
                <a:lnTo>
                  <a:pt x="162434" y="79421"/>
                </a:lnTo>
                <a:cubicBezTo>
                  <a:pt x="159028" y="82828"/>
                  <a:pt x="153955" y="83827"/>
                  <a:pt x="149512" y="81976"/>
                </a:cubicBezTo>
                <a:cubicBezTo>
                  <a:pt x="145069" y="80125"/>
                  <a:pt x="142181" y="75867"/>
                  <a:pt x="142181" y="71090"/>
                </a:cubicBezTo>
                <a:lnTo>
                  <a:pt x="142181" y="59242"/>
                </a:lnTo>
                <a:lnTo>
                  <a:pt x="130332" y="59242"/>
                </a:lnTo>
                <a:cubicBezTo>
                  <a:pt x="126593" y="59242"/>
                  <a:pt x="123075" y="60982"/>
                  <a:pt x="120854" y="63981"/>
                </a:cubicBezTo>
                <a:lnTo>
                  <a:pt x="108857" y="79977"/>
                </a:lnTo>
                <a:lnTo>
                  <a:pt x="94047" y="60242"/>
                </a:lnTo>
                <a:lnTo>
                  <a:pt x="101896" y="49763"/>
                </a:lnTo>
                <a:cubicBezTo>
                  <a:pt x="108598" y="40803"/>
                  <a:pt x="119150" y="35545"/>
                  <a:pt x="130332" y="35545"/>
                </a:cubicBezTo>
                <a:lnTo>
                  <a:pt x="142181" y="35545"/>
                </a:lnTo>
                <a:lnTo>
                  <a:pt x="142181" y="23697"/>
                </a:lnTo>
                <a:cubicBezTo>
                  <a:pt x="142181" y="18920"/>
                  <a:pt x="145069" y="14588"/>
                  <a:pt x="149512" y="12737"/>
                </a:cubicBezTo>
                <a:close/>
                <a:moveTo>
                  <a:pt x="57020" y="109598"/>
                </a:moveTo>
                <a:lnTo>
                  <a:pt x="71831" y="129333"/>
                </a:lnTo>
                <a:lnTo>
                  <a:pt x="63981" y="139811"/>
                </a:lnTo>
                <a:cubicBezTo>
                  <a:pt x="57280" y="148771"/>
                  <a:pt x="46727" y="154029"/>
                  <a:pt x="35545" y="154029"/>
                </a:cubicBezTo>
                <a:lnTo>
                  <a:pt x="11848" y="154029"/>
                </a:lnTo>
                <a:cubicBezTo>
                  <a:pt x="5295" y="154029"/>
                  <a:pt x="0" y="148734"/>
                  <a:pt x="0" y="142181"/>
                </a:cubicBezTo>
                <a:cubicBezTo>
                  <a:pt x="0" y="135627"/>
                  <a:pt x="5295" y="130332"/>
                  <a:pt x="11848" y="130332"/>
                </a:cubicBezTo>
                <a:lnTo>
                  <a:pt x="35545" y="130332"/>
                </a:lnTo>
                <a:cubicBezTo>
                  <a:pt x="39285" y="130332"/>
                  <a:pt x="42802" y="128592"/>
                  <a:pt x="45024" y="125593"/>
                </a:cubicBezTo>
                <a:lnTo>
                  <a:pt x="57020" y="109598"/>
                </a:lnTo>
                <a:close/>
                <a:moveTo>
                  <a:pt x="162397" y="174245"/>
                </a:moveTo>
                <a:cubicBezTo>
                  <a:pt x="158991" y="177652"/>
                  <a:pt x="153918" y="178652"/>
                  <a:pt x="149475" y="176800"/>
                </a:cubicBezTo>
                <a:cubicBezTo>
                  <a:pt x="145032" y="174949"/>
                  <a:pt x="142181" y="170654"/>
                  <a:pt x="142181" y="165878"/>
                </a:cubicBezTo>
                <a:lnTo>
                  <a:pt x="142181" y="154029"/>
                </a:lnTo>
                <a:lnTo>
                  <a:pt x="130332" y="154029"/>
                </a:lnTo>
                <a:cubicBezTo>
                  <a:pt x="119150" y="154029"/>
                  <a:pt x="108598" y="148771"/>
                  <a:pt x="101896" y="139811"/>
                </a:cubicBezTo>
                <a:lnTo>
                  <a:pt x="45024" y="63981"/>
                </a:lnTo>
                <a:cubicBezTo>
                  <a:pt x="42802" y="60982"/>
                  <a:pt x="39285" y="59242"/>
                  <a:pt x="35545" y="59242"/>
                </a:cubicBezTo>
                <a:lnTo>
                  <a:pt x="11848" y="59242"/>
                </a:lnTo>
                <a:cubicBezTo>
                  <a:pt x="5295" y="59242"/>
                  <a:pt x="0" y="53947"/>
                  <a:pt x="0" y="47394"/>
                </a:cubicBezTo>
                <a:cubicBezTo>
                  <a:pt x="0" y="40840"/>
                  <a:pt x="5295" y="35545"/>
                  <a:pt x="11848" y="35545"/>
                </a:cubicBezTo>
                <a:lnTo>
                  <a:pt x="35545" y="35545"/>
                </a:lnTo>
                <a:cubicBezTo>
                  <a:pt x="46727" y="35545"/>
                  <a:pt x="57280" y="40803"/>
                  <a:pt x="63981" y="49763"/>
                </a:cubicBezTo>
                <a:lnTo>
                  <a:pt x="120854" y="125593"/>
                </a:lnTo>
                <a:cubicBezTo>
                  <a:pt x="123075" y="128592"/>
                  <a:pt x="126593" y="130332"/>
                  <a:pt x="130332" y="130332"/>
                </a:cubicBezTo>
                <a:lnTo>
                  <a:pt x="142181" y="130332"/>
                </a:lnTo>
                <a:lnTo>
                  <a:pt x="142181" y="118484"/>
                </a:lnTo>
                <a:cubicBezTo>
                  <a:pt x="142181" y="113708"/>
                  <a:pt x="145069" y="109376"/>
                  <a:pt x="149512" y="107524"/>
                </a:cubicBezTo>
                <a:cubicBezTo>
                  <a:pt x="153955" y="105673"/>
                  <a:pt x="159028" y="106710"/>
                  <a:pt x="162434" y="110079"/>
                </a:cubicBezTo>
                <a:lnTo>
                  <a:pt x="186131" y="133776"/>
                </a:lnTo>
                <a:cubicBezTo>
                  <a:pt x="188352" y="135997"/>
                  <a:pt x="189611" y="138997"/>
                  <a:pt x="189611" y="142144"/>
                </a:cubicBezTo>
                <a:cubicBezTo>
                  <a:pt x="189611" y="145291"/>
                  <a:pt x="188352" y="148290"/>
                  <a:pt x="186131" y="150512"/>
                </a:cubicBezTo>
                <a:lnTo>
                  <a:pt x="162434" y="174208"/>
                </a:ln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715819" y="4311424"/>
            <a:ext cx="3258309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小量的随机读取 (Random Reads)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84064" y="4737966"/>
            <a:ext cx="2926554" cy="426542"/>
          </a:xfrm>
          <a:custGeom>
            <a:avLst/>
            <a:gdLst/>
            <a:ahLst/>
            <a:cxnLst/>
            <a:rect l="l" t="t" r="r" b="b"/>
            <a:pathLst>
              <a:path w="2926554" h="426542">
                <a:moveTo>
                  <a:pt x="47393" y="0"/>
                </a:moveTo>
                <a:lnTo>
                  <a:pt x="2879161" y="0"/>
                </a:lnTo>
                <a:cubicBezTo>
                  <a:pt x="2905335" y="0"/>
                  <a:pt x="2926554" y="21219"/>
                  <a:pt x="2926554" y="47393"/>
                </a:cubicBezTo>
                <a:lnTo>
                  <a:pt x="2926554" y="379149"/>
                </a:lnTo>
                <a:cubicBezTo>
                  <a:pt x="2926554" y="405324"/>
                  <a:pt x="2905335" y="426542"/>
                  <a:pt x="2879161" y="426542"/>
                </a:cubicBezTo>
                <a:lnTo>
                  <a:pt x="47393" y="426542"/>
                </a:lnTo>
                <a:cubicBezTo>
                  <a:pt x="21236" y="426542"/>
                  <a:pt x="0" y="405306"/>
                  <a:pt x="0" y="379149"/>
                </a:cubicBezTo>
                <a:lnTo>
                  <a:pt x="0" y="47393"/>
                </a:lnTo>
                <a:cubicBezTo>
                  <a:pt x="0" y="21236"/>
                  <a:pt x="21236" y="0"/>
                  <a:pt x="4739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478851" y="4832753"/>
            <a:ext cx="2819918" cy="23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查询特定网页的快照内容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407812" y="4737966"/>
            <a:ext cx="2926554" cy="426542"/>
          </a:xfrm>
          <a:custGeom>
            <a:avLst/>
            <a:gdLst/>
            <a:ahLst/>
            <a:cxnLst/>
            <a:rect l="l" t="t" r="r" b="b"/>
            <a:pathLst>
              <a:path w="2926554" h="426542">
                <a:moveTo>
                  <a:pt x="47393" y="0"/>
                </a:moveTo>
                <a:lnTo>
                  <a:pt x="2879161" y="0"/>
                </a:lnTo>
                <a:cubicBezTo>
                  <a:pt x="2905335" y="0"/>
                  <a:pt x="2926554" y="21219"/>
                  <a:pt x="2926554" y="47393"/>
                </a:cubicBezTo>
                <a:lnTo>
                  <a:pt x="2926554" y="379149"/>
                </a:lnTo>
                <a:cubicBezTo>
                  <a:pt x="2926554" y="405324"/>
                  <a:pt x="2905335" y="426542"/>
                  <a:pt x="2879161" y="426542"/>
                </a:cubicBezTo>
                <a:lnTo>
                  <a:pt x="47393" y="426542"/>
                </a:lnTo>
                <a:cubicBezTo>
                  <a:pt x="21236" y="426542"/>
                  <a:pt x="0" y="405306"/>
                  <a:pt x="0" y="379149"/>
                </a:cubicBezTo>
                <a:lnTo>
                  <a:pt x="0" y="47393"/>
                </a:lnTo>
                <a:cubicBezTo>
                  <a:pt x="0" y="21236"/>
                  <a:pt x="21236" y="0"/>
                  <a:pt x="4739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9502599" y="4832753"/>
            <a:ext cx="2819918" cy="23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读取用户配置文件或元数据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2431652" y="4737966"/>
            <a:ext cx="2926554" cy="426542"/>
          </a:xfrm>
          <a:custGeom>
            <a:avLst/>
            <a:gdLst/>
            <a:ahLst/>
            <a:cxnLst/>
            <a:rect l="l" t="t" r="r" b="b"/>
            <a:pathLst>
              <a:path w="2926554" h="426542">
                <a:moveTo>
                  <a:pt x="47393" y="0"/>
                </a:moveTo>
                <a:lnTo>
                  <a:pt x="2879161" y="0"/>
                </a:lnTo>
                <a:cubicBezTo>
                  <a:pt x="2905335" y="0"/>
                  <a:pt x="2926554" y="21219"/>
                  <a:pt x="2926554" y="47393"/>
                </a:cubicBezTo>
                <a:lnTo>
                  <a:pt x="2926554" y="379149"/>
                </a:lnTo>
                <a:cubicBezTo>
                  <a:pt x="2926554" y="405324"/>
                  <a:pt x="2905335" y="426542"/>
                  <a:pt x="2879161" y="426542"/>
                </a:cubicBezTo>
                <a:lnTo>
                  <a:pt x="47393" y="426542"/>
                </a:lnTo>
                <a:cubicBezTo>
                  <a:pt x="21236" y="426542"/>
                  <a:pt x="0" y="405306"/>
                  <a:pt x="0" y="379149"/>
                </a:cubicBezTo>
                <a:lnTo>
                  <a:pt x="0" y="47393"/>
                </a:lnTo>
                <a:cubicBezTo>
                  <a:pt x="0" y="21236"/>
                  <a:pt x="21236" y="0"/>
                  <a:pt x="4739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2526440" y="4832753"/>
            <a:ext cx="2819918" cy="23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获取特定广告的投放信息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70793" y="5496263"/>
            <a:ext cx="9383930" cy="1753563"/>
          </a:xfrm>
          <a:custGeom>
            <a:avLst/>
            <a:gdLst/>
            <a:ahLst/>
            <a:cxnLst/>
            <a:rect l="l" t="t" r="r" b="b"/>
            <a:pathLst>
              <a:path w="9383930" h="1753563">
                <a:moveTo>
                  <a:pt x="47394" y="0"/>
                </a:moveTo>
                <a:lnTo>
                  <a:pt x="9336531" y="0"/>
                </a:lnTo>
                <a:cubicBezTo>
                  <a:pt x="9362709" y="0"/>
                  <a:pt x="9383930" y="21221"/>
                  <a:pt x="9383930" y="47399"/>
                </a:cubicBezTo>
                <a:lnTo>
                  <a:pt x="9383930" y="1706164"/>
                </a:lnTo>
                <a:cubicBezTo>
                  <a:pt x="9383930" y="1732342"/>
                  <a:pt x="9362709" y="1753563"/>
                  <a:pt x="9336531" y="1753563"/>
                </a:cubicBezTo>
                <a:lnTo>
                  <a:pt x="47394" y="1753563"/>
                </a:lnTo>
                <a:cubicBezTo>
                  <a:pt x="21219" y="1753563"/>
                  <a:pt x="0" y="1732344"/>
                  <a:pt x="0" y="1706169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6170793" y="5496263"/>
            <a:ext cx="47394" cy="1753563"/>
          </a:xfrm>
          <a:custGeom>
            <a:avLst/>
            <a:gdLst/>
            <a:ahLst/>
            <a:cxnLst/>
            <a:rect l="l" t="t" r="r" b="b"/>
            <a:pathLst>
              <a:path w="47394" h="1753563">
                <a:moveTo>
                  <a:pt x="47394" y="0"/>
                </a:moveTo>
                <a:lnTo>
                  <a:pt x="47394" y="0"/>
                </a:lnTo>
                <a:lnTo>
                  <a:pt x="47394" y="1753563"/>
                </a:lnTo>
                <a:lnTo>
                  <a:pt x="47394" y="1753563"/>
                </a:lnTo>
                <a:cubicBezTo>
                  <a:pt x="21219" y="1753563"/>
                  <a:pt x="0" y="1732344"/>
                  <a:pt x="0" y="1706169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6419609" y="5756928"/>
            <a:ext cx="165878" cy="189574"/>
          </a:xfrm>
          <a:custGeom>
            <a:avLst/>
            <a:gdLst/>
            <a:ahLst/>
            <a:cxnLst/>
            <a:rect l="l" t="t" r="r" b="b"/>
            <a:pathLst>
              <a:path w="165878" h="189574">
                <a:moveTo>
                  <a:pt x="94787" y="23697"/>
                </a:moveTo>
                <a:cubicBezTo>
                  <a:pt x="94787" y="17143"/>
                  <a:pt x="89492" y="11848"/>
                  <a:pt x="82939" y="11848"/>
                </a:cubicBezTo>
                <a:cubicBezTo>
                  <a:pt x="76385" y="11848"/>
                  <a:pt x="71090" y="17143"/>
                  <a:pt x="71090" y="23697"/>
                </a:cubicBezTo>
                <a:lnTo>
                  <a:pt x="71090" y="82939"/>
                </a:lnTo>
                <a:lnTo>
                  <a:pt x="11848" y="82939"/>
                </a:lnTo>
                <a:cubicBezTo>
                  <a:pt x="5295" y="82939"/>
                  <a:pt x="0" y="88234"/>
                  <a:pt x="0" y="94787"/>
                </a:cubicBezTo>
                <a:cubicBezTo>
                  <a:pt x="0" y="101341"/>
                  <a:pt x="5295" y="106636"/>
                  <a:pt x="11848" y="106636"/>
                </a:cubicBezTo>
                <a:lnTo>
                  <a:pt x="71090" y="106636"/>
                </a:lnTo>
                <a:lnTo>
                  <a:pt x="71090" y="165878"/>
                </a:lnTo>
                <a:cubicBezTo>
                  <a:pt x="71090" y="172431"/>
                  <a:pt x="76385" y="177726"/>
                  <a:pt x="82939" y="177726"/>
                </a:cubicBezTo>
                <a:cubicBezTo>
                  <a:pt x="89492" y="177726"/>
                  <a:pt x="94787" y="172431"/>
                  <a:pt x="94787" y="165878"/>
                </a:cubicBezTo>
                <a:lnTo>
                  <a:pt x="94787" y="106636"/>
                </a:lnTo>
                <a:lnTo>
                  <a:pt x="154029" y="106636"/>
                </a:lnTo>
                <a:cubicBezTo>
                  <a:pt x="160583" y="106636"/>
                  <a:pt x="165878" y="101341"/>
                  <a:pt x="165878" y="94787"/>
                </a:cubicBezTo>
                <a:cubicBezTo>
                  <a:pt x="165878" y="88234"/>
                  <a:pt x="160583" y="82939"/>
                  <a:pt x="154029" y="82939"/>
                </a:cubicBezTo>
                <a:lnTo>
                  <a:pt x="94787" y="82939"/>
                </a:lnTo>
                <a:lnTo>
                  <a:pt x="94787" y="23697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6715819" y="5685838"/>
            <a:ext cx="3305703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大量的顺序写入，通常是追加操作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84064" y="6112380"/>
            <a:ext cx="4443149" cy="426542"/>
          </a:xfrm>
          <a:custGeom>
            <a:avLst/>
            <a:gdLst/>
            <a:ahLst/>
            <a:cxnLst/>
            <a:rect l="l" t="t" r="r" b="b"/>
            <a:pathLst>
              <a:path w="4443149" h="426542">
                <a:moveTo>
                  <a:pt x="47393" y="0"/>
                </a:moveTo>
                <a:lnTo>
                  <a:pt x="4395756" y="0"/>
                </a:lnTo>
                <a:cubicBezTo>
                  <a:pt x="4421930" y="0"/>
                  <a:pt x="4443149" y="21219"/>
                  <a:pt x="4443149" y="47393"/>
                </a:cubicBezTo>
                <a:lnTo>
                  <a:pt x="4443149" y="379149"/>
                </a:lnTo>
                <a:cubicBezTo>
                  <a:pt x="4443149" y="405324"/>
                  <a:pt x="4421930" y="426542"/>
                  <a:pt x="4395756" y="426542"/>
                </a:cubicBezTo>
                <a:lnTo>
                  <a:pt x="47393" y="426542"/>
                </a:lnTo>
                <a:cubicBezTo>
                  <a:pt x="21236" y="426542"/>
                  <a:pt x="0" y="405306"/>
                  <a:pt x="0" y="379149"/>
                </a:cubicBezTo>
                <a:lnTo>
                  <a:pt x="0" y="47393"/>
                </a:lnTo>
                <a:cubicBezTo>
                  <a:pt x="0" y="21236"/>
                  <a:pt x="21236" y="0"/>
                  <a:pt x="4739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6478851" y="6207167"/>
            <a:ext cx="4336513" cy="23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持续追加网页爬虫的新发现页面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0919778" y="6112380"/>
            <a:ext cx="4443149" cy="426542"/>
          </a:xfrm>
          <a:custGeom>
            <a:avLst/>
            <a:gdLst/>
            <a:ahLst/>
            <a:cxnLst/>
            <a:rect l="l" t="t" r="r" b="b"/>
            <a:pathLst>
              <a:path w="4443149" h="426542">
                <a:moveTo>
                  <a:pt x="47393" y="0"/>
                </a:moveTo>
                <a:lnTo>
                  <a:pt x="4395756" y="0"/>
                </a:lnTo>
                <a:cubicBezTo>
                  <a:pt x="4421930" y="0"/>
                  <a:pt x="4443149" y="21219"/>
                  <a:pt x="4443149" y="47393"/>
                </a:cubicBezTo>
                <a:lnTo>
                  <a:pt x="4443149" y="379149"/>
                </a:lnTo>
                <a:cubicBezTo>
                  <a:pt x="4443149" y="405324"/>
                  <a:pt x="4421930" y="426542"/>
                  <a:pt x="4395756" y="426542"/>
                </a:cubicBezTo>
                <a:lnTo>
                  <a:pt x="47393" y="426542"/>
                </a:lnTo>
                <a:cubicBezTo>
                  <a:pt x="21236" y="426542"/>
                  <a:pt x="0" y="405306"/>
                  <a:pt x="0" y="379149"/>
                </a:cubicBezTo>
                <a:lnTo>
                  <a:pt x="0" y="47393"/>
                </a:lnTo>
                <a:cubicBezTo>
                  <a:pt x="0" y="21236"/>
                  <a:pt x="21236" y="0"/>
                  <a:pt x="4739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11014566" y="6207167"/>
            <a:ext cx="4336513" cy="23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实时写入用户搜索和点击日志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84064" y="6633710"/>
            <a:ext cx="4443149" cy="426542"/>
          </a:xfrm>
          <a:custGeom>
            <a:avLst/>
            <a:gdLst/>
            <a:ahLst/>
            <a:cxnLst/>
            <a:rect l="l" t="t" r="r" b="b"/>
            <a:pathLst>
              <a:path w="4443149" h="426542">
                <a:moveTo>
                  <a:pt x="47393" y="0"/>
                </a:moveTo>
                <a:lnTo>
                  <a:pt x="4395756" y="0"/>
                </a:lnTo>
                <a:cubicBezTo>
                  <a:pt x="4421930" y="0"/>
                  <a:pt x="4443149" y="21219"/>
                  <a:pt x="4443149" y="47393"/>
                </a:cubicBezTo>
                <a:lnTo>
                  <a:pt x="4443149" y="379149"/>
                </a:lnTo>
                <a:cubicBezTo>
                  <a:pt x="4443149" y="405324"/>
                  <a:pt x="4421930" y="426542"/>
                  <a:pt x="4395756" y="426542"/>
                </a:cubicBezTo>
                <a:lnTo>
                  <a:pt x="47393" y="426542"/>
                </a:lnTo>
                <a:cubicBezTo>
                  <a:pt x="21236" y="426542"/>
                  <a:pt x="0" y="405306"/>
                  <a:pt x="0" y="379149"/>
                </a:cubicBezTo>
                <a:lnTo>
                  <a:pt x="0" y="47393"/>
                </a:lnTo>
                <a:cubicBezTo>
                  <a:pt x="0" y="21236"/>
                  <a:pt x="21236" y="0"/>
                  <a:pt x="4739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6478851" y="6728497"/>
            <a:ext cx="4336513" cy="23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追加广告展示和点击事件记录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0919778" y="6633710"/>
            <a:ext cx="4443149" cy="426542"/>
          </a:xfrm>
          <a:custGeom>
            <a:avLst/>
            <a:gdLst/>
            <a:ahLst/>
            <a:cxnLst/>
            <a:rect l="l" t="t" r="r" b="b"/>
            <a:pathLst>
              <a:path w="4443149" h="426542">
                <a:moveTo>
                  <a:pt x="47393" y="0"/>
                </a:moveTo>
                <a:lnTo>
                  <a:pt x="4395756" y="0"/>
                </a:lnTo>
                <a:cubicBezTo>
                  <a:pt x="4421930" y="0"/>
                  <a:pt x="4443149" y="21219"/>
                  <a:pt x="4443149" y="47393"/>
                </a:cubicBezTo>
                <a:lnTo>
                  <a:pt x="4443149" y="379149"/>
                </a:lnTo>
                <a:cubicBezTo>
                  <a:pt x="4443149" y="405324"/>
                  <a:pt x="4421930" y="426542"/>
                  <a:pt x="4395756" y="426542"/>
                </a:cubicBezTo>
                <a:lnTo>
                  <a:pt x="47393" y="426542"/>
                </a:lnTo>
                <a:cubicBezTo>
                  <a:pt x="21236" y="426542"/>
                  <a:pt x="0" y="405306"/>
                  <a:pt x="0" y="379149"/>
                </a:cubicBezTo>
                <a:lnTo>
                  <a:pt x="0" y="47393"/>
                </a:lnTo>
                <a:cubicBezTo>
                  <a:pt x="0" y="21236"/>
                  <a:pt x="21236" y="0"/>
                  <a:pt x="4739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11014566" y="6728497"/>
            <a:ext cx="4336513" cy="23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系统监控数据的持续记录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170793" y="7392007"/>
            <a:ext cx="9383930" cy="1232233"/>
          </a:xfrm>
          <a:custGeom>
            <a:avLst/>
            <a:gdLst/>
            <a:ahLst/>
            <a:cxnLst/>
            <a:rect l="l" t="t" r="r" b="b"/>
            <a:pathLst>
              <a:path w="9383930" h="1232233">
                <a:moveTo>
                  <a:pt x="47392" y="0"/>
                </a:moveTo>
                <a:lnTo>
                  <a:pt x="9336538" y="0"/>
                </a:lnTo>
                <a:cubicBezTo>
                  <a:pt x="9362712" y="0"/>
                  <a:pt x="9383930" y="21218"/>
                  <a:pt x="9383930" y="47392"/>
                </a:cubicBezTo>
                <a:lnTo>
                  <a:pt x="9383930" y="1184842"/>
                </a:lnTo>
                <a:cubicBezTo>
                  <a:pt x="9383930" y="1211015"/>
                  <a:pt x="9362712" y="1232233"/>
                  <a:pt x="9336538" y="1232233"/>
                </a:cubicBezTo>
                <a:lnTo>
                  <a:pt x="47392" y="1232233"/>
                </a:lnTo>
                <a:cubicBezTo>
                  <a:pt x="21218" y="1232233"/>
                  <a:pt x="0" y="1211015"/>
                  <a:pt x="0" y="1184842"/>
                </a:cubicBezTo>
                <a:lnTo>
                  <a:pt x="0" y="47392"/>
                </a:lnTo>
                <a:cubicBezTo>
                  <a:pt x="0" y="21236"/>
                  <a:pt x="21236" y="0"/>
                  <a:pt x="47392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6170793" y="7392007"/>
            <a:ext cx="47394" cy="1232233"/>
          </a:xfrm>
          <a:custGeom>
            <a:avLst/>
            <a:gdLst/>
            <a:ahLst/>
            <a:cxnLst/>
            <a:rect l="l" t="t" r="r" b="b"/>
            <a:pathLst>
              <a:path w="47394" h="1232233">
                <a:moveTo>
                  <a:pt x="47394" y="0"/>
                </a:moveTo>
                <a:lnTo>
                  <a:pt x="47394" y="0"/>
                </a:lnTo>
                <a:lnTo>
                  <a:pt x="47394" y="1232233"/>
                </a:lnTo>
                <a:lnTo>
                  <a:pt x="47394" y="1232233"/>
                </a:lnTo>
                <a:cubicBezTo>
                  <a:pt x="21219" y="1232233"/>
                  <a:pt x="0" y="1211014"/>
                  <a:pt x="0" y="1184840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6431458" y="7652672"/>
            <a:ext cx="142181" cy="189574"/>
          </a:xfrm>
          <a:custGeom>
            <a:avLst/>
            <a:gdLst/>
            <a:ahLst/>
            <a:cxnLst/>
            <a:rect l="l" t="t" r="r" b="b"/>
            <a:pathLst>
              <a:path w="142181" h="189574">
                <a:moveTo>
                  <a:pt x="20401" y="27177"/>
                </a:moveTo>
                <a:cubicBezTo>
                  <a:pt x="15773" y="22549"/>
                  <a:pt x="8257" y="22549"/>
                  <a:pt x="3629" y="27177"/>
                </a:cubicBezTo>
                <a:cubicBezTo>
                  <a:pt x="-1000" y="31806"/>
                  <a:pt x="-1000" y="39322"/>
                  <a:pt x="3629" y="43950"/>
                </a:cubicBezTo>
                <a:lnTo>
                  <a:pt x="54503" y="94787"/>
                </a:lnTo>
                <a:lnTo>
                  <a:pt x="3666" y="145661"/>
                </a:lnTo>
                <a:cubicBezTo>
                  <a:pt x="-963" y="150290"/>
                  <a:pt x="-963" y="157806"/>
                  <a:pt x="3666" y="162434"/>
                </a:cubicBezTo>
                <a:cubicBezTo>
                  <a:pt x="8294" y="167062"/>
                  <a:pt x="15810" y="167062"/>
                  <a:pt x="20438" y="162434"/>
                </a:cubicBezTo>
                <a:lnTo>
                  <a:pt x="71276" y="111560"/>
                </a:lnTo>
                <a:lnTo>
                  <a:pt x="122150" y="162397"/>
                </a:lnTo>
                <a:cubicBezTo>
                  <a:pt x="126778" y="167025"/>
                  <a:pt x="134294" y="167025"/>
                  <a:pt x="138922" y="162397"/>
                </a:cubicBezTo>
                <a:cubicBezTo>
                  <a:pt x="143551" y="157769"/>
                  <a:pt x="143551" y="150252"/>
                  <a:pt x="138922" y="145624"/>
                </a:cubicBezTo>
                <a:lnTo>
                  <a:pt x="88048" y="94787"/>
                </a:lnTo>
                <a:lnTo>
                  <a:pt x="138885" y="43913"/>
                </a:lnTo>
                <a:cubicBezTo>
                  <a:pt x="143514" y="39285"/>
                  <a:pt x="143514" y="31769"/>
                  <a:pt x="138885" y="27140"/>
                </a:cubicBezTo>
                <a:cubicBezTo>
                  <a:pt x="134257" y="22512"/>
                  <a:pt x="126741" y="22512"/>
                  <a:pt x="122113" y="27140"/>
                </a:cubicBezTo>
                <a:lnTo>
                  <a:pt x="71276" y="78014"/>
                </a:lnTo>
                <a:lnTo>
                  <a:pt x="20401" y="27177"/>
                </a:ln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6715819" y="7581581"/>
            <a:ext cx="2026076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很少有随机写入操作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84064" y="8008124"/>
            <a:ext cx="2926554" cy="426542"/>
          </a:xfrm>
          <a:custGeom>
            <a:avLst/>
            <a:gdLst/>
            <a:ahLst/>
            <a:cxnLst/>
            <a:rect l="l" t="t" r="r" b="b"/>
            <a:pathLst>
              <a:path w="2926554" h="426542">
                <a:moveTo>
                  <a:pt x="47393" y="0"/>
                </a:moveTo>
                <a:lnTo>
                  <a:pt x="2879161" y="0"/>
                </a:lnTo>
                <a:cubicBezTo>
                  <a:pt x="2905335" y="0"/>
                  <a:pt x="2926554" y="21219"/>
                  <a:pt x="2926554" y="47393"/>
                </a:cubicBezTo>
                <a:lnTo>
                  <a:pt x="2926554" y="379149"/>
                </a:lnTo>
                <a:cubicBezTo>
                  <a:pt x="2926554" y="405324"/>
                  <a:pt x="2905335" y="426542"/>
                  <a:pt x="2879161" y="426542"/>
                </a:cubicBezTo>
                <a:lnTo>
                  <a:pt x="47393" y="426542"/>
                </a:lnTo>
                <a:cubicBezTo>
                  <a:pt x="21236" y="426542"/>
                  <a:pt x="0" y="405306"/>
                  <a:pt x="0" y="379149"/>
                </a:cubicBezTo>
                <a:lnTo>
                  <a:pt x="0" y="47393"/>
                </a:lnTo>
                <a:cubicBezTo>
                  <a:pt x="0" y="21236"/>
                  <a:pt x="21236" y="0"/>
                  <a:pt x="4739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6478851" y="8102911"/>
            <a:ext cx="2819918" cy="23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偶尔更新网页的索引权重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407812" y="8008124"/>
            <a:ext cx="2926554" cy="426542"/>
          </a:xfrm>
          <a:custGeom>
            <a:avLst/>
            <a:gdLst/>
            <a:ahLst/>
            <a:cxnLst/>
            <a:rect l="l" t="t" r="r" b="b"/>
            <a:pathLst>
              <a:path w="2926554" h="426542">
                <a:moveTo>
                  <a:pt x="47393" y="0"/>
                </a:moveTo>
                <a:lnTo>
                  <a:pt x="2879161" y="0"/>
                </a:lnTo>
                <a:cubicBezTo>
                  <a:pt x="2905335" y="0"/>
                  <a:pt x="2926554" y="21219"/>
                  <a:pt x="2926554" y="47393"/>
                </a:cubicBezTo>
                <a:lnTo>
                  <a:pt x="2926554" y="379149"/>
                </a:lnTo>
                <a:cubicBezTo>
                  <a:pt x="2926554" y="405324"/>
                  <a:pt x="2905335" y="426542"/>
                  <a:pt x="2879161" y="426542"/>
                </a:cubicBezTo>
                <a:lnTo>
                  <a:pt x="47393" y="426542"/>
                </a:lnTo>
                <a:cubicBezTo>
                  <a:pt x="21236" y="426542"/>
                  <a:pt x="0" y="405306"/>
                  <a:pt x="0" y="379149"/>
                </a:cubicBezTo>
                <a:lnTo>
                  <a:pt x="0" y="47393"/>
                </a:lnTo>
                <a:cubicBezTo>
                  <a:pt x="0" y="21236"/>
                  <a:pt x="21236" y="0"/>
                  <a:pt x="4739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9502599" y="8102911"/>
            <a:ext cx="2819918" cy="23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修改用户账户信息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2431652" y="8008124"/>
            <a:ext cx="2926554" cy="426542"/>
          </a:xfrm>
          <a:custGeom>
            <a:avLst/>
            <a:gdLst/>
            <a:ahLst/>
            <a:cxnLst/>
            <a:rect l="l" t="t" r="r" b="b"/>
            <a:pathLst>
              <a:path w="2926554" h="426542">
                <a:moveTo>
                  <a:pt x="47393" y="0"/>
                </a:moveTo>
                <a:lnTo>
                  <a:pt x="2879161" y="0"/>
                </a:lnTo>
                <a:cubicBezTo>
                  <a:pt x="2905335" y="0"/>
                  <a:pt x="2926554" y="21219"/>
                  <a:pt x="2926554" y="47393"/>
                </a:cubicBezTo>
                <a:lnTo>
                  <a:pt x="2926554" y="379149"/>
                </a:lnTo>
                <a:cubicBezTo>
                  <a:pt x="2926554" y="405324"/>
                  <a:pt x="2905335" y="426542"/>
                  <a:pt x="2879161" y="426542"/>
                </a:cubicBezTo>
                <a:lnTo>
                  <a:pt x="47393" y="426542"/>
                </a:lnTo>
                <a:cubicBezTo>
                  <a:pt x="21236" y="426542"/>
                  <a:pt x="0" y="405306"/>
                  <a:pt x="0" y="379149"/>
                </a:cubicBezTo>
                <a:lnTo>
                  <a:pt x="0" y="47393"/>
                </a:lnTo>
                <a:cubicBezTo>
                  <a:pt x="0" y="21236"/>
                  <a:pt x="21236" y="0"/>
                  <a:pt x="4739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12526440" y="8102911"/>
            <a:ext cx="2819918" cy="23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6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更新广告投放策略配置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4126" y="580157"/>
            <a:ext cx="464126" cy="46413"/>
          </a:xfrm>
          <a:custGeom>
            <a:avLst/>
            <a:gdLst/>
            <a:ahLst/>
            <a:cxnLst/>
            <a:rect l="l" t="t" r="r" b="b"/>
            <a:pathLst>
              <a:path w="464126" h="46413">
                <a:moveTo>
                  <a:pt x="0" y="0"/>
                </a:moveTo>
                <a:lnTo>
                  <a:pt x="464126" y="0"/>
                </a:lnTo>
                <a:lnTo>
                  <a:pt x="464126" y="46413"/>
                </a:lnTo>
                <a:lnTo>
                  <a:pt x="0" y="46413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67489" y="464126"/>
            <a:ext cx="1508408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kern="0" spc="73" dirty="0">
                <a:solidFill>
                  <a:srgbClr val="D4A2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GOALS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4126" y="835426"/>
            <a:ext cx="15536605" cy="464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89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GFS 的核心设计目标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87332" y="1428050"/>
            <a:ext cx="7518835" cy="3736211"/>
          </a:xfrm>
          <a:custGeom>
            <a:avLst/>
            <a:gdLst/>
            <a:ahLst/>
            <a:cxnLst/>
            <a:rect l="l" t="t" r="r" b="b"/>
            <a:pathLst>
              <a:path w="7518835" h="3736211">
                <a:moveTo>
                  <a:pt x="46413" y="0"/>
                </a:moveTo>
                <a:lnTo>
                  <a:pt x="7426028" y="0"/>
                </a:lnTo>
                <a:cubicBezTo>
                  <a:pt x="7477284" y="0"/>
                  <a:pt x="7518835" y="41551"/>
                  <a:pt x="7518835" y="92807"/>
                </a:cubicBezTo>
                <a:lnTo>
                  <a:pt x="7518835" y="3643404"/>
                </a:lnTo>
                <a:cubicBezTo>
                  <a:pt x="7518835" y="3694660"/>
                  <a:pt x="7477284" y="3736211"/>
                  <a:pt x="7426028" y="3736211"/>
                </a:cubicBezTo>
                <a:lnTo>
                  <a:pt x="46413" y="3736211"/>
                </a:lnTo>
                <a:cubicBezTo>
                  <a:pt x="20780" y="3736211"/>
                  <a:pt x="0" y="3715432"/>
                  <a:pt x="0" y="3689799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87332" y="1428050"/>
            <a:ext cx="46413" cy="3736211"/>
          </a:xfrm>
          <a:custGeom>
            <a:avLst/>
            <a:gdLst/>
            <a:ahLst/>
            <a:cxnLst/>
            <a:rect l="l" t="t" r="r" b="b"/>
            <a:pathLst>
              <a:path w="46413" h="3736211">
                <a:moveTo>
                  <a:pt x="46413" y="0"/>
                </a:moveTo>
                <a:lnTo>
                  <a:pt x="46413" y="0"/>
                </a:lnTo>
                <a:lnTo>
                  <a:pt x="46413" y="3736211"/>
                </a:lnTo>
                <a:lnTo>
                  <a:pt x="46413" y="3736211"/>
                </a:lnTo>
                <a:cubicBezTo>
                  <a:pt x="20780" y="3736211"/>
                  <a:pt x="0" y="3715432"/>
                  <a:pt x="0" y="3689799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42601" y="1660113"/>
            <a:ext cx="556951" cy="556951"/>
          </a:xfrm>
          <a:custGeom>
            <a:avLst/>
            <a:gdLst/>
            <a:ahLst/>
            <a:cxnLst/>
            <a:rect l="l" t="t" r="r" b="b"/>
            <a:pathLst>
              <a:path w="556951" h="556951">
                <a:moveTo>
                  <a:pt x="278475" y="0"/>
                </a:moveTo>
                <a:lnTo>
                  <a:pt x="278475" y="0"/>
                </a:lnTo>
                <a:cubicBezTo>
                  <a:pt x="432170" y="0"/>
                  <a:pt x="556951" y="124781"/>
                  <a:pt x="556951" y="278475"/>
                </a:cubicBezTo>
                <a:lnTo>
                  <a:pt x="556951" y="278475"/>
                </a:lnTo>
                <a:cubicBezTo>
                  <a:pt x="556951" y="432170"/>
                  <a:pt x="432170" y="556951"/>
                  <a:pt x="278475" y="556951"/>
                </a:cubicBezTo>
                <a:lnTo>
                  <a:pt x="278475" y="556951"/>
                </a:lnTo>
                <a:cubicBezTo>
                  <a:pt x="124781" y="556951"/>
                  <a:pt x="0" y="432170"/>
                  <a:pt x="0" y="278475"/>
                </a:cubicBezTo>
                <a:lnTo>
                  <a:pt x="0" y="278475"/>
                </a:lnTo>
                <a:cubicBezTo>
                  <a:pt x="0" y="124781"/>
                  <a:pt x="124781" y="0"/>
                  <a:pt x="278475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05045" y="1822557"/>
            <a:ext cx="232063" cy="232063"/>
          </a:xfrm>
          <a:custGeom>
            <a:avLst/>
            <a:gdLst/>
            <a:ahLst/>
            <a:cxnLst/>
            <a:rect l="l" t="t" r="r" b="b"/>
            <a:pathLst>
              <a:path w="232063" h="232063">
                <a:moveTo>
                  <a:pt x="116031" y="0"/>
                </a:moveTo>
                <a:cubicBezTo>
                  <a:pt x="118116" y="0"/>
                  <a:pt x="120201" y="453"/>
                  <a:pt x="122105" y="1314"/>
                </a:cubicBezTo>
                <a:lnTo>
                  <a:pt x="207497" y="37529"/>
                </a:lnTo>
                <a:cubicBezTo>
                  <a:pt x="217468" y="41744"/>
                  <a:pt x="224901" y="51580"/>
                  <a:pt x="224856" y="63455"/>
                </a:cubicBezTo>
                <a:cubicBezTo>
                  <a:pt x="224630" y="108417"/>
                  <a:pt x="206137" y="190681"/>
                  <a:pt x="128042" y="228074"/>
                </a:cubicBezTo>
                <a:cubicBezTo>
                  <a:pt x="120473" y="231700"/>
                  <a:pt x="111680" y="231700"/>
                  <a:pt x="104111" y="228074"/>
                </a:cubicBezTo>
                <a:cubicBezTo>
                  <a:pt x="25971" y="190681"/>
                  <a:pt x="7524" y="108417"/>
                  <a:pt x="7297" y="63455"/>
                </a:cubicBezTo>
                <a:cubicBezTo>
                  <a:pt x="7252" y="51580"/>
                  <a:pt x="14685" y="41744"/>
                  <a:pt x="24657" y="37529"/>
                </a:cubicBezTo>
                <a:lnTo>
                  <a:pt x="110003" y="1314"/>
                </a:lnTo>
                <a:cubicBezTo>
                  <a:pt x="111907" y="453"/>
                  <a:pt x="113946" y="0"/>
                  <a:pt x="116031" y="0"/>
                </a:cubicBezTo>
                <a:close/>
                <a:moveTo>
                  <a:pt x="116031" y="30277"/>
                </a:moveTo>
                <a:lnTo>
                  <a:pt x="116031" y="201650"/>
                </a:lnTo>
                <a:cubicBezTo>
                  <a:pt x="178580" y="171373"/>
                  <a:pt x="195395" y="104292"/>
                  <a:pt x="195803" y="64135"/>
                </a:cubicBezTo>
                <a:lnTo>
                  <a:pt x="116031" y="30322"/>
                </a:lnTo>
                <a:lnTo>
                  <a:pt x="116031" y="30322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438789" y="1776144"/>
            <a:ext cx="1044283" cy="32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2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高可用性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2601" y="2356301"/>
            <a:ext cx="7124328" cy="301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系统必须能够容忍单点故障，保证数据持久性和服务连续性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2601" y="2797221"/>
            <a:ext cx="7031503" cy="464126"/>
          </a:xfrm>
          <a:custGeom>
            <a:avLst/>
            <a:gdLst/>
            <a:ahLst/>
            <a:cxnLst/>
            <a:rect l="l" t="t" r="r" b="b"/>
            <a:pathLst>
              <a:path w="7031503" h="464126">
                <a:moveTo>
                  <a:pt x="46413" y="0"/>
                </a:moveTo>
                <a:lnTo>
                  <a:pt x="6985091" y="0"/>
                </a:lnTo>
                <a:cubicBezTo>
                  <a:pt x="7010724" y="0"/>
                  <a:pt x="7031503" y="20780"/>
                  <a:pt x="7031503" y="46413"/>
                </a:cubicBezTo>
                <a:lnTo>
                  <a:pt x="7031503" y="417713"/>
                </a:lnTo>
                <a:cubicBezTo>
                  <a:pt x="7031503" y="443346"/>
                  <a:pt x="7010724" y="464126"/>
                  <a:pt x="6985091" y="464126"/>
                </a:cubicBezTo>
                <a:lnTo>
                  <a:pt x="46413" y="464126"/>
                </a:lnTo>
                <a:cubicBezTo>
                  <a:pt x="20780" y="464126"/>
                  <a:pt x="0" y="443346"/>
                  <a:pt x="0" y="417713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35426" y="2890046"/>
            <a:ext cx="6938678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容错能力</a:t>
            </a:r>
            <a:r>
              <a:rPr lang="en-US" sz="146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容忍服务器宕机、磁盘损坏、网络分区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2601" y="3354171"/>
            <a:ext cx="7031503" cy="464126"/>
          </a:xfrm>
          <a:custGeom>
            <a:avLst/>
            <a:gdLst/>
            <a:ahLst/>
            <a:cxnLst/>
            <a:rect l="l" t="t" r="r" b="b"/>
            <a:pathLst>
              <a:path w="7031503" h="464126">
                <a:moveTo>
                  <a:pt x="46413" y="0"/>
                </a:moveTo>
                <a:lnTo>
                  <a:pt x="6985091" y="0"/>
                </a:lnTo>
                <a:cubicBezTo>
                  <a:pt x="7010724" y="0"/>
                  <a:pt x="7031503" y="20780"/>
                  <a:pt x="7031503" y="46413"/>
                </a:cubicBezTo>
                <a:lnTo>
                  <a:pt x="7031503" y="417713"/>
                </a:lnTo>
                <a:cubicBezTo>
                  <a:pt x="7031503" y="443346"/>
                  <a:pt x="7010724" y="464126"/>
                  <a:pt x="6985091" y="464126"/>
                </a:cubicBezTo>
                <a:lnTo>
                  <a:pt x="46413" y="464126"/>
                </a:lnTo>
                <a:cubicBezTo>
                  <a:pt x="20780" y="464126"/>
                  <a:pt x="0" y="443346"/>
                  <a:pt x="0" y="417713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35426" y="3446996"/>
            <a:ext cx="6938678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数据持久性</a:t>
            </a:r>
            <a:r>
              <a:rPr lang="en-US" sz="146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通过多副本确保数据不丢失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2601" y="3911122"/>
            <a:ext cx="7031503" cy="464126"/>
          </a:xfrm>
          <a:custGeom>
            <a:avLst/>
            <a:gdLst/>
            <a:ahLst/>
            <a:cxnLst/>
            <a:rect l="l" t="t" r="r" b="b"/>
            <a:pathLst>
              <a:path w="7031503" h="464126">
                <a:moveTo>
                  <a:pt x="46413" y="0"/>
                </a:moveTo>
                <a:lnTo>
                  <a:pt x="6985091" y="0"/>
                </a:lnTo>
                <a:cubicBezTo>
                  <a:pt x="7010724" y="0"/>
                  <a:pt x="7031503" y="20780"/>
                  <a:pt x="7031503" y="46413"/>
                </a:cubicBezTo>
                <a:lnTo>
                  <a:pt x="7031503" y="417713"/>
                </a:lnTo>
                <a:cubicBezTo>
                  <a:pt x="7031503" y="443346"/>
                  <a:pt x="7010724" y="464126"/>
                  <a:pt x="6985091" y="464126"/>
                </a:cubicBezTo>
                <a:lnTo>
                  <a:pt x="46413" y="464126"/>
                </a:lnTo>
                <a:cubicBezTo>
                  <a:pt x="20780" y="464126"/>
                  <a:pt x="0" y="443346"/>
                  <a:pt x="0" y="417713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35426" y="4003947"/>
            <a:ext cx="6938678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服务连续性</a:t>
            </a:r>
            <a:r>
              <a:rPr lang="en-US" sz="146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快速恢复，最小化服务中断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2601" y="4468073"/>
            <a:ext cx="7031503" cy="464126"/>
          </a:xfrm>
          <a:custGeom>
            <a:avLst/>
            <a:gdLst/>
            <a:ahLst/>
            <a:cxnLst/>
            <a:rect l="l" t="t" r="r" b="b"/>
            <a:pathLst>
              <a:path w="7031503" h="464126">
                <a:moveTo>
                  <a:pt x="46413" y="0"/>
                </a:moveTo>
                <a:lnTo>
                  <a:pt x="6985091" y="0"/>
                </a:lnTo>
                <a:cubicBezTo>
                  <a:pt x="7010724" y="0"/>
                  <a:pt x="7031503" y="20780"/>
                  <a:pt x="7031503" y="46413"/>
                </a:cubicBezTo>
                <a:lnTo>
                  <a:pt x="7031503" y="417713"/>
                </a:lnTo>
                <a:cubicBezTo>
                  <a:pt x="7031503" y="443346"/>
                  <a:pt x="7010724" y="464126"/>
                  <a:pt x="6985091" y="464126"/>
                </a:cubicBezTo>
                <a:lnTo>
                  <a:pt x="46413" y="464126"/>
                </a:lnTo>
                <a:cubicBezTo>
                  <a:pt x="20780" y="464126"/>
                  <a:pt x="0" y="443346"/>
                  <a:pt x="0" y="417713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35426" y="4560898"/>
            <a:ext cx="6938678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自动故障检测</a:t>
            </a:r>
            <a:r>
              <a:rPr lang="en-US" sz="146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系统自动检测并启动恢复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7332" y="5349912"/>
            <a:ext cx="7518835" cy="3736211"/>
          </a:xfrm>
          <a:custGeom>
            <a:avLst/>
            <a:gdLst/>
            <a:ahLst/>
            <a:cxnLst/>
            <a:rect l="l" t="t" r="r" b="b"/>
            <a:pathLst>
              <a:path w="7518835" h="3736211">
                <a:moveTo>
                  <a:pt x="46413" y="0"/>
                </a:moveTo>
                <a:lnTo>
                  <a:pt x="7426028" y="0"/>
                </a:lnTo>
                <a:cubicBezTo>
                  <a:pt x="7477284" y="0"/>
                  <a:pt x="7518835" y="41551"/>
                  <a:pt x="7518835" y="92807"/>
                </a:cubicBezTo>
                <a:lnTo>
                  <a:pt x="7518835" y="3643404"/>
                </a:lnTo>
                <a:cubicBezTo>
                  <a:pt x="7518835" y="3694660"/>
                  <a:pt x="7477284" y="3736211"/>
                  <a:pt x="7426028" y="3736211"/>
                </a:cubicBezTo>
                <a:lnTo>
                  <a:pt x="46413" y="3736211"/>
                </a:lnTo>
                <a:cubicBezTo>
                  <a:pt x="20780" y="3736211"/>
                  <a:pt x="0" y="3715432"/>
                  <a:pt x="0" y="3689799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87332" y="5349912"/>
            <a:ext cx="46413" cy="3736211"/>
          </a:xfrm>
          <a:custGeom>
            <a:avLst/>
            <a:gdLst/>
            <a:ahLst/>
            <a:cxnLst/>
            <a:rect l="l" t="t" r="r" b="b"/>
            <a:pathLst>
              <a:path w="46413" h="3736211">
                <a:moveTo>
                  <a:pt x="46413" y="0"/>
                </a:moveTo>
                <a:lnTo>
                  <a:pt x="46413" y="0"/>
                </a:lnTo>
                <a:lnTo>
                  <a:pt x="46413" y="3736211"/>
                </a:lnTo>
                <a:lnTo>
                  <a:pt x="46413" y="3736211"/>
                </a:lnTo>
                <a:cubicBezTo>
                  <a:pt x="20780" y="3736211"/>
                  <a:pt x="0" y="3715432"/>
                  <a:pt x="0" y="3689799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742601" y="5581974"/>
            <a:ext cx="556951" cy="556951"/>
          </a:xfrm>
          <a:custGeom>
            <a:avLst/>
            <a:gdLst/>
            <a:ahLst/>
            <a:cxnLst/>
            <a:rect l="l" t="t" r="r" b="b"/>
            <a:pathLst>
              <a:path w="556951" h="556951">
                <a:moveTo>
                  <a:pt x="278475" y="0"/>
                </a:moveTo>
                <a:lnTo>
                  <a:pt x="278475" y="0"/>
                </a:lnTo>
                <a:cubicBezTo>
                  <a:pt x="432170" y="0"/>
                  <a:pt x="556951" y="124781"/>
                  <a:pt x="556951" y="278475"/>
                </a:cubicBezTo>
                <a:lnTo>
                  <a:pt x="556951" y="278475"/>
                </a:lnTo>
                <a:cubicBezTo>
                  <a:pt x="556951" y="432170"/>
                  <a:pt x="432170" y="556951"/>
                  <a:pt x="278475" y="556951"/>
                </a:cubicBezTo>
                <a:lnTo>
                  <a:pt x="278475" y="556951"/>
                </a:lnTo>
                <a:cubicBezTo>
                  <a:pt x="124781" y="556951"/>
                  <a:pt x="0" y="432170"/>
                  <a:pt x="0" y="278475"/>
                </a:cubicBezTo>
                <a:lnTo>
                  <a:pt x="0" y="278475"/>
                </a:lnTo>
                <a:cubicBezTo>
                  <a:pt x="0" y="124781"/>
                  <a:pt x="124781" y="0"/>
                  <a:pt x="278475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905045" y="5744418"/>
            <a:ext cx="232063" cy="232063"/>
          </a:xfrm>
          <a:custGeom>
            <a:avLst/>
            <a:gdLst/>
            <a:ahLst/>
            <a:cxnLst/>
            <a:rect l="l" t="t" r="r" b="b"/>
            <a:pathLst>
              <a:path w="232063" h="232063">
                <a:moveTo>
                  <a:pt x="58016" y="145039"/>
                </a:moveTo>
                <a:lnTo>
                  <a:pt x="11105" y="145039"/>
                </a:lnTo>
                <a:cubicBezTo>
                  <a:pt x="-181" y="145039"/>
                  <a:pt x="-7116" y="132756"/>
                  <a:pt x="-1314" y="123057"/>
                </a:cubicBezTo>
                <a:lnTo>
                  <a:pt x="22662" y="83080"/>
                </a:lnTo>
                <a:cubicBezTo>
                  <a:pt x="26606" y="76508"/>
                  <a:pt x="33676" y="72520"/>
                  <a:pt x="41336" y="72520"/>
                </a:cubicBezTo>
                <a:lnTo>
                  <a:pt x="84395" y="72520"/>
                </a:lnTo>
                <a:cubicBezTo>
                  <a:pt x="118887" y="14096"/>
                  <a:pt x="170330" y="11150"/>
                  <a:pt x="204732" y="16181"/>
                </a:cubicBezTo>
                <a:cubicBezTo>
                  <a:pt x="210534" y="17042"/>
                  <a:pt x="215066" y="21575"/>
                  <a:pt x="215882" y="27331"/>
                </a:cubicBezTo>
                <a:cubicBezTo>
                  <a:pt x="220913" y="61732"/>
                  <a:pt x="217967" y="113176"/>
                  <a:pt x="159543" y="147668"/>
                </a:cubicBezTo>
                <a:lnTo>
                  <a:pt x="159543" y="190727"/>
                </a:lnTo>
                <a:cubicBezTo>
                  <a:pt x="159543" y="198387"/>
                  <a:pt x="155555" y="205457"/>
                  <a:pt x="148983" y="209400"/>
                </a:cubicBezTo>
                <a:lnTo>
                  <a:pt x="109006" y="233377"/>
                </a:lnTo>
                <a:cubicBezTo>
                  <a:pt x="99352" y="239179"/>
                  <a:pt x="87024" y="232199"/>
                  <a:pt x="87024" y="220958"/>
                </a:cubicBezTo>
                <a:lnTo>
                  <a:pt x="87024" y="174047"/>
                </a:lnTo>
                <a:cubicBezTo>
                  <a:pt x="87024" y="158047"/>
                  <a:pt x="74015" y="145039"/>
                  <a:pt x="58016" y="145039"/>
                </a:cubicBezTo>
                <a:lnTo>
                  <a:pt x="57970" y="145039"/>
                </a:lnTo>
                <a:close/>
                <a:moveTo>
                  <a:pt x="181299" y="72520"/>
                </a:moveTo>
                <a:cubicBezTo>
                  <a:pt x="181299" y="60512"/>
                  <a:pt x="171551" y="50764"/>
                  <a:pt x="159543" y="50764"/>
                </a:cubicBezTo>
                <a:cubicBezTo>
                  <a:pt x="147536" y="50764"/>
                  <a:pt x="137787" y="60512"/>
                  <a:pt x="137787" y="72520"/>
                </a:cubicBezTo>
                <a:cubicBezTo>
                  <a:pt x="137787" y="84527"/>
                  <a:pt x="147536" y="94276"/>
                  <a:pt x="159543" y="94276"/>
                </a:cubicBezTo>
                <a:cubicBezTo>
                  <a:pt x="171551" y="94276"/>
                  <a:pt x="181299" y="84527"/>
                  <a:pt x="181299" y="7252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438789" y="5698006"/>
            <a:ext cx="812220" cy="32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2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高性能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2601" y="6278163"/>
            <a:ext cx="7124328" cy="301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支持高吞吐量和并发访问，针对大文件优化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2601" y="6719082"/>
            <a:ext cx="7031503" cy="464126"/>
          </a:xfrm>
          <a:custGeom>
            <a:avLst/>
            <a:gdLst/>
            <a:ahLst/>
            <a:cxnLst/>
            <a:rect l="l" t="t" r="r" b="b"/>
            <a:pathLst>
              <a:path w="7031503" h="464126">
                <a:moveTo>
                  <a:pt x="46413" y="0"/>
                </a:moveTo>
                <a:lnTo>
                  <a:pt x="6985091" y="0"/>
                </a:lnTo>
                <a:cubicBezTo>
                  <a:pt x="7010724" y="0"/>
                  <a:pt x="7031503" y="20780"/>
                  <a:pt x="7031503" y="46413"/>
                </a:cubicBezTo>
                <a:lnTo>
                  <a:pt x="7031503" y="417713"/>
                </a:lnTo>
                <a:cubicBezTo>
                  <a:pt x="7031503" y="443346"/>
                  <a:pt x="7010724" y="464126"/>
                  <a:pt x="6985091" y="464126"/>
                </a:cubicBezTo>
                <a:lnTo>
                  <a:pt x="46413" y="464126"/>
                </a:lnTo>
                <a:cubicBezTo>
                  <a:pt x="20780" y="464126"/>
                  <a:pt x="0" y="443346"/>
                  <a:pt x="0" y="417713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35426" y="6811907"/>
            <a:ext cx="6938678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高吞吐量</a:t>
            </a:r>
            <a:r>
              <a:rPr lang="en-US" sz="146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数百 MB/s 聚合带宽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42601" y="7276033"/>
            <a:ext cx="7031503" cy="464126"/>
          </a:xfrm>
          <a:custGeom>
            <a:avLst/>
            <a:gdLst/>
            <a:ahLst/>
            <a:cxnLst/>
            <a:rect l="l" t="t" r="r" b="b"/>
            <a:pathLst>
              <a:path w="7031503" h="464126">
                <a:moveTo>
                  <a:pt x="46413" y="0"/>
                </a:moveTo>
                <a:lnTo>
                  <a:pt x="6985091" y="0"/>
                </a:lnTo>
                <a:cubicBezTo>
                  <a:pt x="7010724" y="0"/>
                  <a:pt x="7031503" y="20780"/>
                  <a:pt x="7031503" y="46413"/>
                </a:cubicBezTo>
                <a:lnTo>
                  <a:pt x="7031503" y="417713"/>
                </a:lnTo>
                <a:cubicBezTo>
                  <a:pt x="7031503" y="443346"/>
                  <a:pt x="7010724" y="464126"/>
                  <a:pt x="6985091" y="464126"/>
                </a:cubicBezTo>
                <a:lnTo>
                  <a:pt x="46413" y="464126"/>
                </a:lnTo>
                <a:cubicBezTo>
                  <a:pt x="20780" y="464126"/>
                  <a:pt x="0" y="443346"/>
                  <a:pt x="0" y="417713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35426" y="7368858"/>
            <a:ext cx="6938678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并发访问</a:t>
            </a:r>
            <a:r>
              <a:rPr lang="en-US" sz="146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支持数千客户端同时访问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42601" y="7832984"/>
            <a:ext cx="7031503" cy="464126"/>
          </a:xfrm>
          <a:custGeom>
            <a:avLst/>
            <a:gdLst/>
            <a:ahLst/>
            <a:cxnLst/>
            <a:rect l="l" t="t" r="r" b="b"/>
            <a:pathLst>
              <a:path w="7031503" h="464126">
                <a:moveTo>
                  <a:pt x="46413" y="0"/>
                </a:moveTo>
                <a:lnTo>
                  <a:pt x="6985091" y="0"/>
                </a:lnTo>
                <a:cubicBezTo>
                  <a:pt x="7010724" y="0"/>
                  <a:pt x="7031503" y="20780"/>
                  <a:pt x="7031503" y="46413"/>
                </a:cubicBezTo>
                <a:lnTo>
                  <a:pt x="7031503" y="417713"/>
                </a:lnTo>
                <a:cubicBezTo>
                  <a:pt x="7031503" y="443346"/>
                  <a:pt x="7010724" y="464126"/>
                  <a:pt x="6985091" y="464126"/>
                </a:cubicBezTo>
                <a:lnTo>
                  <a:pt x="46413" y="464126"/>
                </a:lnTo>
                <a:cubicBezTo>
                  <a:pt x="20780" y="464126"/>
                  <a:pt x="0" y="443346"/>
                  <a:pt x="0" y="417713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35426" y="7925809"/>
            <a:ext cx="6938678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大文件优化</a:t>
            </a:r>
            <a:r>
              <a:rPr lang="en-US" sz="146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GB 级文件高效顺序读写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42601" y="8389934"/>
            <a:ext cx="7031503" cy="464126"/>
          </a:xfrm>
          <a:custGeom>
            <a:avLst/>
            <a:gdLst/>
            <a:ahLst/>
            <a:cxnLst/>
            <a:rect l="l" t="t" r="r" b="b"/>
            <a:pathLst>
              <a:path w="7031503" h="464126">
                <a:moveTo>
                  <a:pt x="46413" y="0"/>
                </a:moveTo>
                <a:lnTo>
                  <a:pt x="6985091" y="0"/>
                </a:lnTo>
                <a:cubicBezTo>
                  <a:pt x="7010724" y="0"/>
                  <a:pt x="7031503" y="20780"/>
                  <a:pt x="7031503" y="46413"/>
                </a:cubicBezTo>
                <a:lnTo>
                  <a:pt x="7031503" y="417713"/>
                </a:lnTo>
                <a:cubicBezTo>
                  <a:pt x="7031503" y="443346"/>
                  <a:pt x="7010724" y="464126"/>
                  <a:pt x="6985091" y="464126"/>
                </a:cubicBezTo>
                <a:lnTo>
                  <a:pt x="46413" y="464126"/>
                </a:lnTo>
                <a:cubicBezTo>
                  <a:pt x="20780" y="464126"/>
                  <a:pt x="0" y="443346"/>
                  <a:pt x="0" y="417713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35426" y="8482759"/>
            <a:ext cx="6938678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网络带宽利用</a:t>
            </a:r>
            <a:r>
              <a:rPr lang="en-US" sz="146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最大化利用网络带宽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66512" y="1428050"/>
            <a:ext cx="7518835" cy="3736211"/>
          </a:xfrm>
          <a:custGeom>
            <a:avLst/>
            <a:gdLst/>
            <a:ahLst/>
            <a:cxnLst/>
            <a:rect l="l" t="t" r="r" b="b"/>
            <a:pathLst>
              <a:path w="7518835" h="3736211">
                <a:moveTo>
                  <a:pt x="46413" y="0"/>
                </a:moveTo>
                <a:lnTo>
                  <a:pt x="7426028" y="0"/>
                </a:lnTo>
                <a:cubicBezTo>
                  <a:pt x="7477284" y="0"/>
                  <a:pt x="7518835" y="41551"/>
                  <a:pt x="7518835" y="92807"/>
                </a:cubicBezTo>
                <a:lnTo>
                  <a:pt x="7518835" y="3643404"/>
                </a:lnTo>
                <a:cubicBezTo>
                  <a:pt x="7518835" y="3694660"/>
                  <a:pt x="7477284" y="3736211"/>
                  <a:pt x="7426028" y="3736211"/>
                </a:cubicBezTo>
                <a:lnTo>
                  <a:pt x="46413" y="3736211"/>
                </a:lnTo>
                <a:cubicBezTo>
                  <a:pt x="20780" y="3736211"/>
                  <a:pt x="0" y="3715432"/>
                  <a:pt x="0" y="3689799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266512" y="1428050"/>
            <a:ext cx="46413" cy="3736211"/>
          </a:xfrm>
          <a:custGeom>
            <a:avLst/>
            <a:gdLst/>
            <a:ahLst/>
            <a:cxnLst/>
            <a:rect l="l" t="t" r="r" b="b"/>
            <a:pathLst>
              <a:path w="46413" h="3736211">
                <a:moveTo>
                  <a:pt x="46413" y="0"/>
                </a:moveTo>
                <a:lnTo>
                  <a:pt x="46413" y="0"/>
                </a:lnTo>
                <a:lnTo>
                  <a:pt x="46413" y="3736211"/>
                </a:lnTo>
                <a:lnTo>
                  <a:pt x="46413" y="3736211"/>
                </a:lnTo>
                <a:cubicBezTo>
                  <a:pt x="20780" y="3736211"/>
                  <a:pt x="0" y="3715432"/>
                  <a:pt x="0" y="3689799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521782" y="1660113"/>
            <a:ext cx="556951" cy="556951"/>
          </a:xfrm>
          <a:custGeom>
            <a:avLst/>
            <a:gdLst/>
            <a:ahLst/>
            <a:cxnLst/>
            <a:rect l="l" t="t" r="r" b="b"/>
            <a:pathLst>
              <a:path w="556951" h="556951">
                <a:moveTo>
                  <a:pt x="278475" y="0"/>
                </a:moveTo>
                <a:lnTo>
                  <a:pt x="278475" y="0"/>
                </a:lnTo>
                <a:cubicBezTo>
                  <a:pt x="432170" y="0"/>
                  <a:pt x="556951" y="124781"/>
                  <a:pt x="556951" y="278475"/>
                </a:cubicBezTo>
                <a:lnTo>
                  <a:pt x="556951" y="278475"/>
                </a:lnTo>
                <a:cubicBezTo>
                  <a:pt x="556951" y="432170"/>
                  <a:pt x="432170" y="556951"/>
                  <a:pt x="278475" y="556951"/>
                </a:cubicBezTo>
                <a:lnTo>
                  <a:pt x="278475" y="556951"/>
                </a:lnTo>
                <a:cubicBezTo>
                  <a:pt x="124781" y="556951"/>
                  <a:pt x="0" y="432170"/>
                  <a:pt x="0" y="278475"/>
                </a:cubicBezTo>
                <a:lnTo>
                  <a:pt x="0" y="278475"/>
                </a:lnTo>
                <a:cubicBezTo>
                  <a:pt x="0" y="124781"/>
                  <a:pt x="124781" y="0"/>
                  <a:pt x="278475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698729" y="1822557"/>
            <a:ext cx="203055" cy="232063"/>
          </a:xfrm>
          <a:custGeom>
            <a:avLst/>
            <a:gdLst/>
            <a:ahLst/>
            <a:cxnLst/>
            <a:rect l="l" t="t" r="r" b="b"/>
            <a:pathLst>
              <a:path w="203055" h="232063">
                <a:moveTo>
                  <a:pt x="76146" y="14504"/>
                </a:moveTo>
                <a:lnTo>
                  <a:pt x="10878" y="14504"/>
                </a:lnTo>
                <a:cubicBezTo>
                  <a:pt x="4850" y="14504"/>
                  <a:pt x="0" y="19354"/>
                  <a:pt x="0" y="25382"/>
                </a:cubicBezTo>
                <a:lnTo>
                  <a:pt x="0" y="90650"/>
                </a:lnTo>
                <a:cubicBezTo>
                  <a:pt x="0" y="95046"/>
                  <a:pt x="2629" y="99035"/>
                  <a:pt x="6708" y="100712"/>
                </a:cubicBezTo>
                <a:cubicBezTo>
                  <a:pt x="10787" y="102389"/>
                  <a:pt x="15456" y="101437"/>
                  <a:pt x="18583" y="98355"/>
                </a:cubicBezTo>
                <a:lnTo>
                  <a:pt x="36713" y="80225"/>
                </a:lnTo>
                <a:lnTo>
                  <a:pt x="72520" y="116031"/>
                </a:lnTo>
                <a:lnTo>
                  <a:pt x="36713" y="151838"/>
                </a:lnTo>
                <a:lnTo>
                  <a:pt x="18583" y="133708"/>
                </a:lnTo>
                <a:cubicBezTo>
                  <a:pt x="15456" y="130581"/>
                  <a:pt x="10787" y="129674"/>
                  <a:pt x="6708" y="131351"/>
                </a:cubicBezTo>
                <a:cubicBezTo>
                  <a:pt x="2629" y="133028"/>
                  <a:pt x="0" y="137017"/>
                  <a:pt x="0" y="141413"/>
                </a:cubicBezTo>
                <a:lnTo>
                  <a:pt x="0" y="206681"/>
                </a:lnTo>
                <a:cubicBezTo>
                  <a:pt x="0" y="212709"/>
                  <a:pt x="4850" y="217559"/>
                  <a:pt x="10878" y="217559"/>
                </a:cubicBezTo>
                <a:lnTo>
                  <a:pt x="76146" y="217559"/>
                </a:lnTo>
                <a:cubicBezTo>
                  <a:pt x="80542" y="217559"/>
                  <a:pt x="84531" y="214930"/>
                  <a:pt x="86208" y="210851"/>
                </a:cubicBezTo>
                <a:cubicBezTo>
                  <a:pt x="87885" y="206772"/>
                  <a:pt x="86978" y="202103"/>
                  <a:pt x="83851" y="198976"/>
                </a:cubicBezTo>
                <a:lnTo>
                  <a:pt x="65721" y="180846"/>
                </a:lnTo>
                <a:lnTo>
                  <a:pt x="101527" y="145039"/>
                </a:lnTo>
                <a:lnTo>
                  <a:pt x="137334" y="180846"/>
                </a:lnTo>
                <a:lnTo>
                  <a:pt x="119204" y="198976"/>
                </a:lnTo>
                <a:cubicBezTo>
                  <a:pt x="116077" y="202103"/>
                  <a:pt x="115170" y="206772"/>
                  <a:pt x="116847" y="210851"/>
                </a:cubicBezTo>
                <a:cubicBezTo>
                  <a:pt x="118524" y="214930"/>
                  <a:pt x="122513" y="217559"/>
                  <a:pt x="126909" y="217559"/>
                </a:cubicBezTo>
                <a:lnTo>
                  <a:pt x="192177" y="217559"/>
                </a:lnTo>
                <a:cubicBezTo>
                  <a:pt x="198205" y="217559"/>
                  <a:pt x="203055" y="212709"/>
                  <a:pt x="203055" y="206681"/>
                </a:cubicBezTo>
                <a:lnTo>
                  <a:pt x="203055" y="141413"/>
                </a:lnTo>
                <a:cubicBezTo>
                  <a:pt x="203055" y="137017"/>
                  <a:pt x="200426" y="133028"/>
                  <a:pt x="196347" y="131351"/>
                </a:cubicBezTo>
                <a:cubicBezTo>
                  <a:pt x="192268" y="129674"/>
                  <a:pt x="187599" y="130581"/>
                  <a:pt x="184472" y="133708"/>
                </a:cubicBezTo>
                <a:lnTo>
                  <a:pt x="166342" y="151838"/>
                </a:lnTo>
                <a:lnTo>
                  <a:pt x="130535" y="116031"/>
                </a:lnTo>
                <a:lnTo>
                  <a:pt x="166342" y="80225"/>
                </a:lnTo>
                <a:lnTo>
                  <a:pt x="184472" y="98355"/>
                </a:lnTo>
                <a:cubicBezTo>
                  <a:pt x="187599" y="101482"/>
                  <a:pt x="192268" y="102389"/>
                  <a:pt x="196347" y="100712"/>
                </a:cubicBezTo>
                <a:cubicBezTo>
                  <a:pt x="200426" y="99035"/>
                  <a:pt x="203055" y="95046"/>
                  <a:pt x="203055" y="90650"/>
                </a:cubicBezTo>
                <a:lnTo>
                  <a:pt x="203055" y="25382"/>
                </a:lnTo>
                <a:cubicBezTo>
                  <a:pt x="203055" y="19354"/>
                  <a:pt x="198205" y="14504"/>
                  <a:pt x="192177" y="14504"/>
                </a:cubicBezTo>
                <a:lnTo>
                  <a:pt x="126909" y="14504"/>
                </a:lnTo>
                <a:cubicBezTo>
                  <a:pt x="122513" y="14504"/>
                  <a:pt x="118524" y="17133"/>
                  <a:pt x="116847" y="21212"/>
                </a:cubicBezTo>
                <a:cubicBezTo>
                  <a:pt x="115170" y="25291"/>
                  <a:pt x="116122" y="29960"/>
                  <a:pt x="119204" y="33087"/>
                </a:cubicBezTo>
                <a:lnTo>
                  <a:pt x="137334" y="51217"/>
                </a:lnTo>
                <a:lnTo>
                  <a:pt x="101527" y="87024"/>
                </a:lnTo>
                <a:lnTo>
                  <a:pt x="65721" y="51217"/>
                </a:lnTo>
                <a:lnTo>
                  <a:pt x="83851" y="33087"/>
                </a:lnTo>
                <a:cubicBezTo>
                  <a:pt x="86978" y="29960"/>
                  <a:pt x="87885" y="25291"/>
                  <a:pt x="86208" y="21212"/>
                </a:cubicBezTo>
                <a:cubicBezTo>
                  <a:pt x="84531" y="17133"/>
                  <a:pt x="80542" y="14504"/>
                  <a:pt x="76146" y="14504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9217970" y="1776144"/>
            <a:ext cx="1044283" cy="32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2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可扩展性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521782" y="2356301"/>
            <a:ext cx="7124328" cy="301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通过增加服务器节点线性扩展存储容量和性能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521782" y="2797221"/>
            <a:ext cx="7031503" cy="464126"/>
          </a:xfrm>
          <a:custGeom>
            <a:avLst/>
            <a:gdLst/>
            <a:ahLst/>
            <a:cxnLst/>
            <a:rect l="l" t="t" r="r" b="b"/>
            <a:pathLst>
              <a:path w="7031503" h="464126">
                <a:moveTo>
                  <a:pt x="46413" y="0"/>
                </a:moveTo>
                <a:lnTo>
                  <a:pt x="6985091" y="0"/>
                </a:lnTo>
                <a:cubicBezTo>
                  <a:pt x="7010724" y="0"/>
                  <a:pt x="7031503" y="20780"/>
                  <a:pt x="7031503" y="46413"/>
                </a:cubicBezTo>
                <a:lnTo>
                  <a:pt x="7031503" y="417713"/>
                </a:lnTo>
                <a:cubicBezTo>
                  <a:pt x="7031503" y="443346"/>
                  <a:pt x="7010724" y="464126"/>
                  <a:pt x="6985091" y="464126"/>
                </a:cubicBezTo>
                <a:lnTo>
                  <a:pt x="46413" y="464126"/>
                </a:lnTo>
                <a:cubicBezTo>
                  <a:pt x="20780" y="464126"/>
                  <a:pt x="0" y="443346"/>
                  <a:pt x="0" y="417713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614607" y="2890046"/>
            <a:ext cx="6938678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水平扩展</a:t>
            </a:r>
            <a:r>
              <a:rPr lang="en-US" sz="146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增加服务器节点扩展容量和性能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521782" y="3354171"/>
            <a:ext cx="7031503" cy="464126"/>
          </a:xfrm>
          <a:custGeom>
            <a:avLst/>
            <a:gdLst/>
            <a:ahLst/>
            <a:cxnLst/>
            <a:rect l="l" t="t" r="r" b="b"/>
            <a:pathLst>
              <a:path w="7031503" h="464126">
                <a:moveTo>
                  <a:pt x="46413" y="0"/>
                </a:moveTo>
                <a:lnTo>
                  <a:pt x="6985091" y="0"/>
                </a:lnTo>
                <a:cubicBezTo>
                  <a:pt x="7010724" y="0"/>
                  <a:pt x="7031503" y="20780"/>
                  <a:pt x="7031503" y="46413"/>
                </a:cubicBezTo>
                <a:lnTo>
                  <a:pt x="7031503" y="417713"/>
                </a:lnTo>
                <a:cubicBezTo>
                  <a:pt x="7031503" y="443346"/>
                  <a:pt x="7010724" y="464126"/>
                  <a:pt x="6985091" y="464126"/>
                </a:cubicBezTo>
                <a:lnTo>
                  <a:pt x="46413" y="464126"/>
                </a:lnTo>
                <a:cubicBezTo>
                  <a:pt x="20780" y="464126"/>
                  <a:pt x="0" y="443346"/>
                  <a:pt x="0" y="417713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614607" y="3446996"/>
            <a:ext cx="6938678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PB 级存储</a:t>
            </a:r>
            <a:r>
              <a:rPr lang="en-US" sz="146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支持 PB 级别数据存储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521782" y="3911122"/>
            <a:ext cx="7031503" cy="464126"/>
          </a:xfrm>
          <a:custGeom>
            <a:avLst/>
            <a:gdLst/>
            <a:ahLst/>
            <a:cxnLst/>
            <a:rect l="l" t="t" r="r" b="b"/>
            <a:pathLst>
              <a:path w="7031503" h="464126">
                <a:moveTo>
                  <a:pt x="46413" y="0"/>
                </a:moveTo>
                <a:lnTo>
                  <a:pt x="6985091" y="0"/>
                </a:lnTo>
                <a:cubicBezTo>
                  <a:pt x="7010724" y="0"/>
                  <a:pt x="7031503" y="20780"/>
                  <a:pt x="7031503" y="46413"/>
                </a:cubicBezTo>
                <a:lnTo>
                  <a:pt x="7031503" y="417713"/>
                </a:lnTo>
                <a:cubicBezTo>
                  <a:pt x="7031503" y="443346"/>
                  <a:pt x="7010724" y="464126"/>
                  <a:pt x="6985091" y="464126"/>
                </a:cubicBezTo>
                <a:lnTo>
                  <a:pt x="46413" y="464126"/>
                </a:lnTo>
                <a:cubicBezTo>
                  <a:pt x="20780" y="464126"/>
                  <a:pt x="0" y="443346"/>
                  <a:pt x="0" y="417713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614607" y="4003947"/>
            <a:ext cx="6938678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集群规模</a:t>
            </a:r>
            <a:r>
              <a:rPr lang="en-US" sz="146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支持数千台服务器大规模集群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521782" y="4468073"/>
            <a:ext cx="7031503" cy="464126"/>
          </a:xfrm>
          <a:custGeom>
            <a:avLst/>
            <a:gdLst/>
            <a:ahLst/>
            <a:cxnLst/>
            <a:rect l="l" t="t" r="r" b="b"/>
            <a:pathLst>
              <a:path w="7031503" h="464126">
                <a:moveTo>
                  <a:pt x="46413" y="0"/>
                </a:moveTo>
                <a:lnTo>
                  <a:pt x="6985091" y="0"/>
                </a:lnTo>
                <a:cubicBezTo>
                  <a:pt x="7010724" y="0"/>
                  <a:pt x="7031503" y="20780"/>
                  <a:pt x="7031503" y="46413"/>
                </a:cubicBezTo>
                <a:lnTo>
                  <a:pt x="7031503" y="417713"/>
                </a:lnTo>
                <a:cubicBezTo>
                  <a:pt x="7031503" y="443346"/>
                  <a:pt x="7010724" y="464126"/>
                  <a:pt x="6985091" y="464126"/>
                </a:cubicBezTo>
                <a:lnTo>
                  <a:pt x="46413" y="464126"/>
                </a:lnTo>
                <a:cubicBezTo>
                  <a:pt x="20780" y="464126"/>
                  <a:pt x="0" y="443346"/>
                  <a:pt x="0" y="417713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614607" y="4560898"/>
            <a:ext cx="6938678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管理简化</a:t>
            </a:r>
            <a:r>
              <a:rPr lang="en-US" sz="146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随着规模增长，管理复杂度不显著增加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66512" y="5349912"/>
            <a:ext cx="7518835" cy="3179261"/>
          </a:xfrm>
          <a:custGeom>
            <a:avLst/>
            <a:gdLst/>
            <a:ahLst/>
            <a:cxnLst/>
            <a:rect l="l" t="t" r="r" b="b"/>
            <a:pathLst>
              <a:path w="7518835" h="3179261">
                <a:moveTo>
                  <a:pt x="46413" y="0"/>
                </a:moveTo>
                <a:lnTo>
                  <a:pt x="7426001" y="0"/>
                </a:lnTo>
                <a:cubicBezTo>
                  <a:pt x="7477272" y="0"/>
                  <a:pt x="7518835" y="41563"/>
                  <a:pt x="7518835" y="92834"/>
                </a:cubicBezTo>
                <a:lnTo>
                  <a:pt x="7518835" y="3086426"/>
                </a:lnTo>
                <a:cubicBezTo>
                  <a:pt x="7518835" y="3137697"/>
                  <a:pt x="7477272" y="3179261"/>
                  <a:pt x="7426001" y="3179261"/>
                </a:cubicBezTo>
                <a:lnTo>
                  <a:pt x="46413" y="3179261"/>
                </a:lnTo>
                <a:cubicBezTo>
                  <a:pt x="20780" y="3179261"/>
                  <a:pt x="0" y="3158481"/>
                  <a:pt x="0" y="3132848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8266512" y="5349912"/>
            <a:ext cx="46413" cy="3179261"/>
          </a:xfrm>
          <a:custGeom>
            <a:avLst/>
            <a:gdLst/>
            <a:ahLst/>
            <a:cxnLst/>
            <a:rect l="l" t="t" r="r" b="b"/>
            <a:pathLst>
              <a:path w="46413" h="3179261">
                <a:moveTo>
                  <a:pt x="46413" y="0"/>
                </a:moveTo>
                <a:lnTo>
                  <a:pt x="46413" y="0"/>
                </a:lnTo>
                <a:lnTo>
                  <a:pt x="46413" y="3179261"/>
                </a:lnTo>
                <a:lnTo>
                  <a:pt x="46413" y="3179261"/>
                </a:lnTo>
                <a:cubicBezTo>
                  <a:pt x="20780" y="3179261"/>
                  <a:pt x="0" y="3158481"/>
                  <a:pt x="0" y="3132848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521782" y="5581974"/>
            <a:ext cx="556951" cy="556951"/>
          </a:xfrm>
          <a:custGeom>
            <a:avLst/>
            <a:gdLst/>
            <a:ahLst/>
            <a:cxnLst/>
            <a:rect l="l" t="t" r="r" b="b"/>
            <a:pathLst>
              <a:path w="556951" h="556951">
                <a:moveTo>
                  <a:pt x="278475" y="0"/>
                </a:moveTo>
                <a:lnTo>
                  <a:pt x="278475" y="0"/>
                </a:lnTo>
                <a:cubicBezTo>
                  <a:pt x="432170" y="0"/>
                  <a:pt x="556951" y="124781"/>
                  <a:pt x="556951" y="278475"/>
                </a:cubicBezTo>
                <a:lnTo>
                  <a:pt x="556951" y="278475"/>
                </a:lnTo>
                <a:cubicBezTo>
                  <a:pt x="556951" y="432170"/>
                  <a:pt x="432170" y="556951"/>
                  <a:pt x="278475" y="556951"/>
                </a:cubicBezTo>
                <a:lnTo>
                  <a:pt x="278475" y="556951"/>
                </a:lnTo>
                <a:cubicBezTo>
                  <a:pt x="124781" y="556951"/>
                  <a:pt x="0" y="432170"/>
                  <a:pt x="0" y="278475"/>
                </a:cubicBezTo>
                <a:lnTo>
                  <a:pt x="0" y="278475"/>
                </a:lnTo>
                <a:cubicBezTo>
                  <a:pt x="0" y="124781"/>
                  <a:pt x="124781" y="0"/>
                  <a:pt x="278475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8655218" y="5744418"/>
            <a:ext cx="290079" cy="232063"/>
          </a:xfrm>
          <a:custGeom>
            <a:avLst/>
            <a:gdLst/>
            <a:ahLst/>
            <a:cxnLst/>
            <a:rect l="l" t="t" r="r" b="b"/>
            <a:pathLst>
              <a:path w="290079" h="232063">
                <a:moveTo>
                  <a:pt x="174047" y="14504"/>
                </a:moveTo>
                <a:lnTo>
                  <a:pt x="232063" y="14504"/>
                </a:lnTo>
                <a:cubicBezTo>
                  <a:pt x="240085" y="14504"/>
                  <a:pt x="246567" y="20985"/>
                  <a:pt x="246567" y="29008"/>
                </a:cubicBezTo>
                <a:cubicBezTo>
                  <a:pt x="246567" y="37030"/>
                  <a:pt x="240085" y="43512"/>
                  <a:pt x="232063" y="43512"/>
                </a:cubicBezTo>
                <a:lnTo>
                  <a:pt x="180574" y="43512"/>
                </a:lnTo>
                <a:cubicBezTo>
                  <a:pt x="178217" y="55206"/>
                  <a:pt x="170195" y="64860"/>
                  <a:pt x="159543" y="69483"/>
                </a:cubicBezTo>
                <a:lnTo>
                  <a:pt x="159543" y="203055"/>
                </a:lnTo>
                <a:lnTo>
                  <a:pt x="232063" y="203055"/>
                </a:lnTo>
                <a:cubicBezTo>
                  <a:pt x="240085" y="203055"/>
                  <a:pt x="246567" y="209536"/>
                  <a:pt x="246567" y="217559"/>
                </a:cubicBezTo>
                <a:cubicBezTo>
                  <a:pt x="246567" y="225581"/>
                  <a:pt x="240085" y="232063"/>
                  <a:pt x="232063" y="232063"/>
                </a:cubicBezTo>
                <a:lnTo>
                  <a:pt x="58016" y="232063"/>
                </a:lnTo>
                <a:cubicBezTo>
                  <a:pt x="49993" y="232063"/>
                  <a:pt x="43512" y="225581"/>
                  <a:pt x="43512" y="217559"/>
                </a:cubicBezTo>
                <a:cubicBezTo>
                  <a:pt x="43512" y="209536"/>
                  <a:pt x="49993" y="203055"/>
                  <a:pt x="58016" y="203055"/>
                </a:cubicBezTo>
                <a:lnTo>
                  <a:pt x="130535" y="203055"/>
                </a:lnTo>
                <a:lnTo>
                  <a:pt x="130535" y="69483"/>
                </a:lnTo>
                <a:cubicBezTo>
                  <a:pt x="119884" y="64814"/>
                  <a:pt x="111862" y="55160"/>
                  <a:pt x="109505" y="43512"/>
                </a:cubicBezTo>
                <a:lnTo>
                  <a:pt x="58016" y="43512"/>
                </a:lnTo>
                <a:cubicBezTo>
                  <a:pt x="49993" y="43512"/>
                  <a:pt x="43512" y="37030"/>
                  <a:pt x="43512" y="29008"/>
                </a:cubicBezTo>
                <a:cubicBezTo>
                  <a:pt x="43512" y="20985"/>
                  <a:pt x="49993" y="14504"/>
                  <a:pt x="58016" y="14504"/>
                </a:cubicBezTo>
                <a:lnTo>
                  <a:pt x="116031" y="14504"/>
                </a:lnTo>
                <a:cubicBezTo>
                  <a:pt x="122649" y="5711"/>
                  <a:pt x="133164" y="0"/>
                  <a:pt x="145039" y="0"/>
                </a:cubicBezTo>
                <a:cubicBezTo>
                  <a:pt x="156914" y="0"/>
                  <a:pt x="167430" y="5711"/>
                  <a:pt x="174047" y="14504"/>
                </a:cubicBezTo>
                <a:close/>
                <a:moveTo>
                  <a:pt x="199248" y="145039"/>
                </a:moveTo>
                <a:lnTo>
                  <a:pt x="264878" y="145039"/>
                </a:lnTo>
                <a:lnTo>
                  <a:pt x="232063" y="88746"/>
                </a:lnTo>
                <a:lnTo>
                  <a:pt x="199248" y="145039"/>
                </a:lnTo>
                <a:close/>
                <a:moveTo>
                  <a:pt x="232063" y="188551"/>
                </a:moveTo>
                <a:cubicBezTo>
                  <a:pt x="203554" y="188551"/>
                  <a:pt x="179849" y="173141"/>
                  <a:pt x="174954" y="152790"/>
                </a:cubicBezTo>
                <a:cubicBezTo>
                  <a:pt x="173775" y="147804"/>
                  <a:pt x="175407" y="142682"/>
                  <a:pt x="177990" y="138241"/>
                </a:cubicBezTo>
                <a:lnTo>
                  <a:pt x="221140" y="64271"/>
                </a:lnTo>
                <a:cubicBezTo>
                  <a:pt x="223406" y="60373"/>
                  <a:pt x="227576" y="58016"/>
                  <a:pt x="232063" y="58016"/>
                </a:cubicBezTo>
                <a:cubicBezTo>
                  <a:pt x="236550" y="58016"/>
                  <a:pt x="240720" y="60418"/>
                  <a:pt x="242986" y="64271"/>
                </a:cubicBezTo>
                <a:lnTo>
                  <a:pt x="286135" y="138241"/>
                </a:lnTo>
                <a:cubicBezTo>
                  <a:pt x="288719" y="142682"/>
                  <a:pt x="290350" y="147804"/>
                  <a:pt x="289172" y="152790"/>
                </a:cubicBezTo>
                <a:cubicBezTo>
                  <a:pt x="284277" y="173095"/>
                  <a:pt x="260572" y="188551"/>
                  <a:pt x="232063" y="188551"/>
                </a:cubicBezTo>
                <a:close/>
                <a:moveTo>
                  <a:pt x="57472" y="88746"/>
                </a:moveTo>
                <a:lnTo>
                  <a:pt x="24657" y="145039"/>
                </a:lnTo>
                <a:lnTo>
                  <a:pt x="90332" y="145039"/>
                </a:lnTo>
                <a:lnTo>
                  <a:pt x="57472" y="88746"/>
                </a:lnTo>
                <a:close/>
                <a:moveTo>
                  <a:pt x="408" y="152790"/>
                </a:moveTo>
                <a:cubicBezTo>
                  <a:pt x="-771" y="147804"/>
                  <a:pt x="861" y="142682"/>
                  <a:pt x="3445" y="138241"/>
                </a:cubicBezTo>
                <a:lnTo>
                  <a:pt x="46594" y="64271"/>
                </a:lnTo>
                <a:cubicBezTo>
                  <a:pt x="48860" y="60373"/>
                  <a:pt x="53030" y="58016"/>
                  <a:pt x="57517" y="58016"/>
                </a:cubicBezTo>
                <a:cubicBezTo>
                  <a:pt x="62004" y="58016"/>
                  <a:pt x="66174" y="60418"/>
                  <a:pt x="68440" y="64271"/>
                </a:cubicBezTo>
                <a:lnTo>
                  <a:pt x="111590" y="138241"/>
                </a:lnTo>
                <a:cubicBezTo>
                  <a:pt x="114173" y="142682"/>
                  <a:pt x="115805" y="147804"/>
                  <a:pt x="114626" y="152790"/>
                </a:cubicBezTo>
                <a:cubicBezTo>
                  <a:pt x="109731" y="173095"/>
                  <a:pt x="86026" y="188551"/>
                  <a:pt x="57517" y="188551"/>
                </a:cubicBezTo>
                <a:cubicBezTo>
                  <a:pt x="29008" y="188551"/>
                  <a:pt x="5303" y="173141"/>
                  <a:pt x="408" y="15279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9217970" y="5698006"/>
            <a:ext cx="1972534" cy="32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2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简化的一致性模型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521782" y="6278163"/>
            <a:ext cx="7124328" cy="301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6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采用宽松的一致性模型，优先保证性能和可用性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521782" y="6719082"/>
            <a:ext cx="7031503" cy="464126"/>
          </a:xfrm>
          <a:custGeom>
            <a:avLst/>
            <a:gdLst/>
            <a:ahLst/>
            <a:cxnLst/>
            <a:rect l="l" t="t" r="r" b="b"/>
            <a:pathLst>
              <a:path w="7031503" h="464126">
                <a:moveTo>
                  <a:pt x="46413" y="0"/>
                </a:moveTo>
                <a:lnTo>
                  <a:pt x="6985091" y="0"/>
                </a:lnTo>
                <a:cubicBezTo>
                  <a:pt x="7010724" y="0"/>
                  <a:pt x="7031503" y="20780"/>
                  <a:pt x="7031503" y="46413"/>
                </a:cubicBezTo>
                <a:lnTo>
                  <a:pt x="7031503" y="417713"/>
                </a:lnTo>
                <a:cubicBezTo>
                  <a:pt x="7031503" y="443346"/>
                  <a:pt x="7010724" y="464126"/>
                  <a:pt x="6985091" y="464126"/>
                </a:cubicBezTo>
                <a:lnTo>
                  <a:pt x="46413" y="464126"/>
                </a:lnTo>
                <a:cubicBezTo>
                  <a:pt x="20780" y="464126"/>
                  <a:pt x="0" y="443346"/>
                  <a:pt x="0" y="417713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8614607" y="6811907"/>
            <a:ext cx="6938678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宽松一致性</a:t>
            </a:r>
            <a:r>
              <a:rPr lang="en-US" sz="146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避免复杂的分布式一致性协议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521782" y="7276033"/>
            <a:ext cx="7031503" cy="464126"/>
          </a:xfrm>
          <a:custGeom>
            <a:avLst/>
            <a:gdLst/>
            <a:ahLst/>
            <a:cxnLst/>
            <a:rect l="l" t="t" r="r" b="b"/>
            <a:pathLst>
              <a:path w="7031503" h="464126">
                <a:moveTo>
                  <a:pt x="46413" y="0"/>
                </a:moveTo>
                <a:lnTo>
                  <a:pt x="6985091" y="0"/>
                </a:lnTo>
                <a:cubicBezTo>
                  <a:pt x="7010724" y="0"/>
                  <a:pt x="7031503" y="20780"/>
                  <a:pt x="7031503" y="46413"/>
                </a:cubicBezTo>
                <a:lnTo>
                  <a:pt x="7031503" y="417713"/>
                </a:lnTo>
                <a:cubicBezTo>
                  <a:pt x="7031503" y="443346"/>
                  <a:pt x="7010724" y="464126"/>
                  <a:pt x="6985091" y="464126"/>
                </a:cubicBezTo>
                <a:lnTo>
                  <a:pt x="46413" y="464126"/>
                </a:lnTo>
                <a:cubicBezTo>
                  <a:pt x="20780" y="464126"/>
                  <a:pt x="0" y="443346"/>
                  <a:pt x="0" y="417713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8614607" y="7368858"/>
            <a:ext cx="6938678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性能优先</a:t>
            </a:r>
            <a:r>
              <a:rPr lang="en-US" sz="146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在高并发场景下提升性能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521782" y="7832984"/>
            <a:ext cx="7031503" cy="464126"/>
          </a:xfrm>
          <a:custGeom>
            <a:avLst/>
            <a:gdLst/>
            <a:ahLst/>
            <a:cxnLst/>
            <a:rect l="l" t="t" r="r" b="b"/>
            <a:pathLst>
              <a:path w="7031503" h="464126">
                <a:moveTo>
                  <a:pt x="46413" y="0"/>
                </a:moveTo>
                <a:lnTo>
                  <a:pt x="6985091" y="0"/>
                </a:lnTo>
                <a:cubicBezTo>
                  <a:pt x="7010724" y="0"/>
                  <a:pt x="7031503" y="20780"/>
                  <a:pt x="7031503" y="46413"/>
                </a:cubicBezTo>
                <a:lnTo>
                  <a:pt x="7031503" y="417713"/>
                </a:lnTo>
                <a:cubicBezTo>
                  <a:pt x="7031503" y="443346"/>
                  <a:pt x="7010724" y="464126"/>
                  <a:pt x="6985091" y="464126"/>
                </a:cubicBezTo>
                <a:lnTo>
                  <a:pt x="46413" y="464126"/>
                </a:lnTo>
                <a:cubicBezTo>
                  <a:pt x="20780" y="464126"/>
                  <a:pt x="0" y="443346"/>
                  <a:pt x="0" y="417713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8614607" y="7925809"/>
            <a:ext cx="6938678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应用适配</a:t>
            </a:r>
            <a:r>
              <a:rPr lang="en-US" sz="146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Google 应用能容忍短暂不一致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35000"/>
            <a:ext cx="508000" cy="50800"/>
          </a:xfrm>
          <a:custGeom>
            <a:avLst/>
            <a:gdLst/>
            <a:ahLst/>
            <a:cxnLst/>
            <a:rect l="l" t="t" r="r" b="b"/>
            <a:pathLst>
              <a:path w="508000" h="50800">
                <a:moveTo>
                  <a:pt x="0" y="0"/>
                </a:moveTo>
                <a:lnTo>
                  <a:pt x="508000" y="0"/>
                </a:lnTo>
                <a:lnTo>
                  <a:pt x="508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168400" y="508000"/>
            <a:ext cx="273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D4A2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COMPARATIVE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GFS 与传统文件系统的对比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631950"/>
            <a:ext cx="15227300" cy="5626100"/>
          </a:xfrm>
          <a:custGeom>
            <a:avLst/>
            <a:gdLst/>
            <a:ahLst/>
            <a:cxnLst/>
            <a:rect l="l" t="t" r="r" b="b"/>
            <a:pathLst>
              <a:path w="15227300" h="5626100">
                <a:moveTo>
                  <a:pt x="101607" y="0"/>
                </a:moveTo>
                <a:lnTo>
                  <a:pt x="15125693" y="0"/>
                </a:lnTo>
                <a:cubicBezTo>
                  <a:pt x="15181809" y="0"/>
                  <a:pt x="15227300" y="45491"/>
                  <a:pt x="15227300" y="101607"/>
                </a:cubicBezTo>
                <a:lnTo>
                  <a:pt x="15227300" y="5524493"/>
                </a:lnTo>
                <a:cubicBezTo>
                  <a:pt x="15227300" y="5580609"/>
                  <a:pt x="15181809" y="5626100"/>
                  <a:pt x="15125693" y="5626100"/>
                </a:cubicBezTo>
                <a:lnTo>
                  <a:pt x="101607" y="5626100"/>
                </a:lnTo>
                <a:cubicBezTo>
                  <a:pt x="45491" y="5626100"/>
                  <a:pt x="0" y="5580609"/>
                  <a:pt x="0" y="5524493"/>
                </a:cubicBezTo>
                <a:lnTo>
                  <a:pt x="0" y="101607"/>
                </a:lnTo>
                <a:cubicBezTo>
                  <a:pt x="0" y="45491"/>
                  <a:pt x="45491" y="0"/>
                  <a:pt x="101607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4700" y="1892300"/>
          <a:ext cx="14706600" cy="4406899"/>
        </p:xfrm>
        <a:graphic>
          <a:graphicData uri="http://schemas.openxmlformats.org/drawingml/2006/table">
            <a:tbl>
              <a:tblPr/>
              <a:tblGrid>
                <a:gridCol w="339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9557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特性维度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传统文件系统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GFS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557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文件大小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以 KB、MB 为主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以 GB 为主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557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访问模式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随机读写为主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顺序读写和追加为主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9557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故障处理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故障是异常情况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故障是常态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557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一致性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强一致性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宽松一致性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9557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扩展性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单机或小规模集群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大规模分布式集群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9557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优化目标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延迟优化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吞吐量优化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33400" y="7467600"/>
            <a:ext cx="4914900" cy="1168400"/>
          </a:xfrm>
          <a:custGeom>
            <a:avLst/>
            <a:gdLst/>
            <a:ahLst/>
            <a:cxnLst/>
            <a:rect l="l" t="t" r="r" b="b"/>
            <a:pathLst>
              <a:path w="4914900" h="1168400">
                <a:moveTo>
                  <a:pt x="50800" y="0"/>
                </a:moveTo>
                <a:lnTo>
                  <a:pt x="4813296" y="0"/>
                </a:lnTo>
                <a:cubicBezTo>
                  <a:pt x="4869410" y="0"/>
                  <a:pt x="4914900" y="45490"/>
                  <a:pt x="4914900" y="101604"/>
                </a:cubicBezTo>
                <a:lnTo>
                  <a:pt x="4914900" y="1066796"/>
                </a:lnTo>
                <a:cubicBezTo>
                  <a:pt x="4914900" y="1122910"/>
                  <a:pt x="4869410" y="1168400"/>
                  <a:pt x="4813296" y="1168400"/>
                </a:cubicBezTo>
                <a:lnTo>
                  <a:pt x="50800" y="1168400"/>
                </a:lnTo>
                <a:cubicBezTo>
                  <a:pt x="22763" y="1168400"/>
                  <a:pt x="0" y="1145637"/>
                  <a:pt x="0" y="111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533400" y="7467600"/>
            <a:ext cx="50800" cy="1168400"/>
          </a:xfrm>
          <a:custGeom>
            <a:avLst/>
            <a:gdLst/>
            <a:ahLst/>
            <a:cxnLst/>
            <a:rect l="l" t="t" r="r" b="b"/>
            <a:pathLst>
              <a:path w="50800" h="1168400">
                <a:moveTo>
                  <a:pt x="50800" y="0"/>
                </a:moveTo>
                <a:lnTo>
                  <a:pt x="50800" y="0"/>
                </a:lnTo>
                <a:lnTo>
                  <a:pt x="50800" y="1168400"/>
                </a:lnTo>
                <a:lnTo>
                  <a:pt x="50800" y="1168400"/>
                </a:lnTo>
                <a:cubicBezTo>
                  <a:pt x="22763" y="1168400"/>
                  <a:pt x="0" y="1145637"/>
                  <a:pt x="0" y="111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822325" y="77343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054100" y="7670800"/>
            <a:ext cx="430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设计哲学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2000" y="8128000"/>
            <a:ext cx="458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特定场景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深度优化，而非追求通用性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681067" y="7467600"/>
            <a:ext cx="4914900" cy="1168400"/>
          </a:xfrm>
          <a:custGeom>
            <a:avLst/>
            <a:gdLst/>
            <a:ahLst/>
            <a:cxnLst/>
            <a:rect l="l" t="t" r="r" b="b"/>
            <a:pathLst>
              <a:path w="4914900" h="1168400">
                <a:moveTo>
                  <a:pt x="50800" y="0"/>
                </a:moveTo>
                <a:lnTo>
                  <a:pt x="4813296" y="0"/>
                </a:lnTo>
                <a:cubicBezTo>
                  <a:pt x="4869410" y="0"/>
                  <a:pt x="4914900" y="45490"/>
                  <a:pt x="4914900" y="101604"/>
                </a:cubicBezTo>
                <a:lnTo>
                  <a:pt x="4914900" y="1066796"/>
                </a:lnTo>
                <a:cubicBezTo>
                  <a:pt x="4914900" y="1122910"/>
                  <a:pt x="4869410" y="1168400"/>
                  <a:pt x="4813296" y="1168400"/>
                </a:cubicBezTo>
                <a:lnTo>
                  <a:pt x="50800" y="1168400"/>
                </a:lnTo>
                <a:cubicBezTo>
                  <a:pt x="22763" y="1168400"/>
                  <a:pt x="0" y="1145637"/>
                  <a:pt x="0" y="111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10"/>
          <p:cNvSpPr/>
          <p:nvPr/>
        </p:nvSpPr>
        <p:spPr>
          <a:xfrm>
            <a:off x="5681067" y="7467600"/>
            <a:ext cx="50800" cy="1168400"/>
          </a:xfrm>
          <a:custGeom>
            <a:avLst/>
            <a:gdLst/>
            <a:ahLst/>
            <a:cxnLst/>
            <a:rect l="l" t="t" r="r" b="b"/>
            <a:pathLst>
              <a:path w="50800" h="1168400">
                <a:moveTo>
                  <a:pt x="50800" y="0"/>
                </a:moveTo>
                <a:lnTo>
                  <a:pt x="50800" y="0"/>
                </a:lnTo>
                <a:lnTo>
                  <a:pt x="50800" y="1168400"/>
                </a:lnTo>
                <a:lnTo>
                  <a:pt x="50800" y="1168400"/>
                </a:lnTo>
                <a:cubicBezTo>
                  <a:pt x="22763" y="1168400"/>
                  <a:pt x="0" y="1145637"/>
                  <a:pt x="0" y="111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5912842" y="77343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71450" y="14288"/>
                </a:moveTo>
                <a:lnTo>
                  <a:pt x="228600" y="14288"/>
                </a:lnTo>
                <a:cubicBezTo>
                  <a:pt x="236503" y="14288"/>
                  <a:pt x="242888" y="20672"/>
                  <a:pt x="242888" y="28575"/>
                </a:cubicBezTo>
                <a:cubicBezTo>
                  <a:pt x="242888" y="36478"/>
                  <a:pt x="236503" y="42863"/>
                  <a:pt x="228600" y="42863"/>
                </a:cubicBezTo>
                <a:lnTo>
                  <a:pt x="177879" y="42863"/>
                </a:lnTo>
                <a:cubicBezTo>
                  <a:pt x="175558" y="54382"/>
                  <a:pt x="167655" y="63892"/>
                  <a:pt x="157163" y="68446"/>
                </a:cubicBezTo>
                <a:lnTo>
                  <a:pt x="157163" y="200025"/>
                </a:lnTo>
                <a:lnTo>
                  <a:pt x="228600" y="200025"/>
                </a:lnTo>
                <a:cubicBezTo>
                  <a:pt x="236503" y="200025"/>
                  <a:pt x="242888" y="206410"/>
                  <a:pt x="242888" y="214313"/>
                </a:cubicBezTo>
                <a:cubicBezTo>
                  <a:pt x="242888" y="222215"/>
                  <a:pt x="236503" y="228600"/>
                  <a:pt x="228600" y="228600"/>
                </a:cubicBezTo>
                <a:lnTo>
                  <a:pt x="57150" y="228600"/>
                </a:lnTo>
                <a:cubicBezTo>
                  <a:pt x="49247" y="228600"/>
                  <a:pt x="42863" y="222215"/>
                  <a:pt x="42863" y="214313"/>
                </a:cubicBezTo>
                <a:cubicBezTo>
                  <a:pt x="42863" y="206410"/>
                  <a:pt x="49247" y="200025"/>
                  <a:pt x="57150" y="200025"/>
                </a:cubicBezTo>
                <a:lnTo>
                  <a:pt x="128588" y="200025"/>
                </a:lnTo>
                <a:lnTo>
                  <a:pt x="128588" y="68446"/>
                </a:lnTo>
                <a:cubicBezTo>
                  <a:pt x="118095" y="63847"/>
                  <a:pt x="110192" y="54337"/>
                  <a:pt x="107871" y="42863"/>
                </a:cubicBezTo>
                <a:lnTo>
                  <a:pt x="57150" y="42863"/>
                </a:lnTo>
                <a:cubicBezTo>
                  <a:pt x="49247" y="42863"/>
                  <a:pt x="42863" y="36478"/>
                  <a:pt x="42863" y="28575"/>
                </a:cubicBezTo>
                <a:cubicBezTo>
                  <a:pt x="42863" y="20672"/>
                  <a:pt x="49247" y="14288"/>
                  <a:pt x="57150" y="14288"/>
                </a:cubicBezTo>
                <a:lnTo>
                  <a:pt x="114300" y="14288"/>
                </a:lnTo>
                <a:cubicBezTo>
                  <a:pt x="120819" y="5626"/>
                  <a:pt x="131177" y="0"/>
                  <a:pt x="142875" y="0"/>
                </a:cubicBezTo>
                <a:cubicBezTo>
                  <a:pt x="154573" y="0"/>
                  <a:pt x="164931" y="5626"/>
                  <a:pt x="171450" y="14288"/>
                </a:cubicBezTo>
                <a:close/>
                <a:moveTo>
                  <a:pt x="196275" y="142875"/>
                </a:moveTo>
                <a:lnTo>
                  <a:pt x="260925" y="142875"/>
                </a:lnTo>
                <a:lnTo>
                  <a:pt x="228600" y="87422"/>
                </a:lnTo>
                <a:lnTo>
                  <a:pt x="196275" y="142875"/>
                </a:lnTo>
                <a:close/>
                <a:moveTo>
                  <a:pt x="228600" y="185738"/>
                </a:moveTo>
                <a:cubicBezTo>
                  <a:pt x="200516" y="185738"/>
                  <a:pt x="177165" y="170557"/>
                  <a:pt x="172343" y="150510"/>
                </a:cubicBezTo>
                <a:cubicBezTo>
                  <a:pt x="171182" y="145599"/>
                  <a:pt x="172789" y="140553"/>
                  <a:pt x="175334" y="136178"/>
                </a:cubicBezTo>
                <a:lnTo>
                  <a:pt x="217840" y="63311"/>
                </a:lnTo>
                <a:cubicBezTo>
                  <a:pt x="220072" y="59472"/>
                  <a:pt x="224180" y="57150"/>
                  <a:pt x="228600" y="57150"/>
                </a:cubicBezTo>
                <a:cubicBezTo>
                  <a:pt x="233020" y="57150"/>
                  <a:pt x="237128" y="59516"/>
                  <a:pt x="239360" y="63311"/>
                </a:cubicBezTo>
                <a:lnTo>
                  <a:pt x="281866" y="136178"/>
                </a:lnTo>
                <a:cubicBezTo>
                  <a:pt x="284411" y="140553"/>
                  <a:pt x="286018" y="145599"/>
                  <a:pt x="284857" y="150510"/>
                </a:cubicBezTo>
                <a:cubicBezTo>
                  <a:pt x="280035" y="170512"/>
                  <a:pt x="256684" y="185738"/>
                  <a:pt x="228600" y="185738"/>
                </a:cubicBezTo>
                <a:close/>
                <a:moveTo>
                  <a:pt x="56614" y="87422"/>
                </a:moveTo>
                <a:lnTo>
                  <a:pt x="24289" y="142875"/>
                </a:lnTo>
                <a:lnTo>
                  <a:pt x="88984" y="142875"/>
                </a:lnTo>
                <a:lnTo>
                  <a:pt x="56614" y="87422"/>
                </a:lnTo>
                <a:close/>
                <a:moveTo>
                  <a:pt x="402" y="150510"/>
                </a:moveTo>
                <a:cubicBezTo>
                  <a:pt x="-759" y="145599"/>
                  <a:pt x="848" y="140553"/>
                  <a:pt x="3393" y="136178"/>
                </a:cubicBezTo>
                <a:lnTo>
                  <a:pt x="45899" y="63311"/>
                </a:lnTo>
                <a:cubicBezTo>
                  <a:pt x="48131" y="59472"/>
                  <a:pt x="52239" y="57150"/>
                  <a:pt x="56659" y="57150"/>
                </a:cubicBezTo>
                <a:cubicBezTo>
                  <a:pt x="61079" y="57150"/>
                  <a:pt x="65187" y="59516"/>
                  <a:pt x="67419" y="63311"/>
                </a:cubicBezTo>
                <a:lnTo>
                  <a:pt x="109924" y="136178"/>
                </a:lnTo>
                <a:cubicBezTo>
                  <a:pt x="112469" y="140553"/>
                  <a:pt x="114077" y="145599"/>
                  <a:pt x="112916" y="150510"/>
                </a:cubicBezTo>
                <a:cubicBezTo>
                  <a:pt x="108094" y="170512"/>
                  <a:pt x="84743" y="185738"/>
                  <a:pt x="56659" y="185738"/>
                </a:cubicBezTo>
                <a:cubicBezTo>
                  <a:pt x="28575" y="185738"/>
                  <a:pt x="5224" y="170557"/>
                  <a:pt x="402" y="15051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6201767" y="7670800"/>
            <a:ext cx="430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权衡艺术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909667" y="8128000"/>
            <a:ext cx="458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宽松一致性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换取高性能和高可用性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828834" y="7467600"/>
            <a:ext cx="4914900" cy="1168400"/>
          </a:xfrm>
          <a:custGeom>
            <a:avLst/>
            <a:gdLst/>
            <a:ahLst/>
            <a:cxnLst/>
            <a:rect l="l" t="t" r="r" b="b"/>
            <a:pathLst>
              <a:path w="4914900" h="1168400">
                <a:moveTo>
                  <a:pt x="50800" y="0"/>
                </a:moveTo>
                <a:lnTo>
                  <a:pt x="4813296" y="0"/>
                </a:lnTo>
                <a:cubicBezTo>
                  <a:pt x="4869410" y="0"/>
                  <a:pt x="4914900" y="45490"/>
                  <a:pt x="4914900" y="101604"/>
                </a:cubicBezTo>
                <a:lnTo>
                  <a:pt x="4914900" y="1066796"/>
                </a:lnTo>
                <a:cubicBezTo>
                  <a:pt x="4914900" y="1122910"/>
                  <a:pt x="4869410" y="1168400"/>
                  <a:pt x="4813296" y="1168400"/>
                </a:cubicBezTo>
                <a:lnTo>
                  <a:pt x="50800" y="1168400"/>
                </a:lnTo>
                <a:cubicBezTo>
                  <a:pt x="22763" y="1168400"/>
                  <a:pt x="0" y="1145637"/>
                  <a:pt x="0" y="111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10828834" y="7467600"/>
            <a:ext cx="50800" cy="1168400"/>
          </a:xfrm>
          <a:custGeom>
            <a:avLst/>
            <a:gdLst/>
            <a:ahLst/>
            <a:cxnLst/>
            <a:rect l="l" t="t" r="r" b="b"/>
            <a:pathLst>
              <a:path w="50800" h="1168400">
                <a:moveTo>
                  <a:pt x="50800" y="0"/>
                </a:moveTo>
                <a:lnTo>
                  <a:pt x="50800" y="0"/>
                </a:lnTo>
                <a:lnTo>
                  <a:pt x="50800" y="1168400"/>
                </a:lnTo>
                <a:lnTo>
                  <a:pt x="50800" y="1168400"/>
                </a:lnTo>
                <a:cubicBezTo>
                  <a:pt x="22763" y="1168400"/>
                  <a:pt x="0" y="1145637"/>
                  <a:pt x="0" y="111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11103471" y="77343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5009" y="14288"/>
                </a:moveTo>
                <a:lnTo>
                  <a:pt x="10716" y="14288"/>
                </a:lnTo>
                <a:cubicBezTo>
                  <a:pt x="4777" y="14288"/>
                  <a:pt x="0" y="19065"/>
                  <a:pt x="0" y="25003"/>
                </a:cubicBezTo>
                <a:lnTo>
                  <a:pt x="0" y="89297"/>
                </a:lnTo>
                <a:cubicBezTo>
                  <a:pt x="0" y="93628"/>
                  <a:pt x="2590" y="97557"/>
                  <a:pt x="6608" y="99209"/>
                </a:cubicBezTo>
                <a:cubicBezTo>
                  <a:pt x="10626" y="100861"/>
                  <a:pt x="15225" y="99923"/>
                  <a:pt x="18306" y="96887"/>
                </a:cubicBezTo>
                <a:lnTo>
                  <a:pt x="36165" y="79028"/>
                </a:lnTo>
                <a:lnTo>
                  <a:pt x="71438" y="114300"/>
                </a:lnTo>
                <a:lnTo>
                  <a:pt x="36165" y="149572"/>
                </a:lnTo>
                <a:lnTo>
                  <a:pt x="18306" y="131713"/>
                </a:lnTo>
                <a:cubicBezTo>
                  <a:pt x="15225" y="128632"/>
                  <a:pt x="10626" y="127739"/>
                  <a:pt x="6608" y="129391"/>
                </a:cubicBezTo>
                <a:cubicBezTo>
                  <a:pt x="2590" y="131043"/>
                  <a:pt x="0" y="134972"/>
                  <a:pt x="0" y="139303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lnTo>
                  <a:pt x="75009" y="214313"/>
                </a:lnTo>
                <a:cubicBezTo>
                  <a:pt x="79340" y="214313"/>
                  <a:pt x="83269" y="211723"/>
                  <a:pt x="84921" y="207705"/>
                </a:cubicBezTo>
                <a:cubicBezTo>
                  <a:pt x="86573" y="203686"/>
                  <a:pt x="85680" y="199087"/>
                  <a:pt x="82600" y="196007"/>
                </a:cubicBezTo>
                <a:lnTo>
                  <a:pt x="64740" y="178147"/>
                </a:lnTo>
                <a:lnTo>
                  <a:pt x="100013" y="142875"/>
                </a:lnTo>
                <a:lnTo>
                  <a:pt x="135285" y="178147"/>
                </a:lnTo>
                <a:lnTo>
                  <a:pt x="117425" y="196007"/>
                </a:lnTo>
                <a:cubicBezTo>
                  <a:pt x="114345" y="199087"/>
                  <a:pt x="113452" y="203686"/>
                  <a:pt x="115104" y="207705"/>
                </a:cubicBezTo>
                <a:cubicBezTo>
                  <a:pt x="116756" y="211723"/>
                  <a:pt x="120685" y="214313"/>
                  <a:pt x="125016" y="214313"/>
                </a:cubicBezTo>
                <a:lnTo>
                  <a:pt x="189309" y="214313"/>
                </a:lnTo>
                <a:cubicBezTo>
                  <a:pt x="195248" y="214313"/>
                  <a:pt x="200025" y="209535"/>
                  <a:pt x="200025" y="203597"/>
                </a:cubicBezTo>
                <a:lnTo>
                  <a:pt x="200025" y="139303"/>
                </a:lnTo>
                <a:cubicBezTo>
                  <a:pt x="200025" y="134972"/>
                  <a:pt x="197435" y="131043"/>
                  <a:pt x="193417" y="129391"/>
                </a:cubicBezTo>
                <a:cubicBezTo>
                  <a:pt x="189399" y="127739"/>
                  <a:pt x="184800" y="128632"/>
                  <a:pt x="181719" y="131713"/>
                </a:cubicBezTo>
                <a:lnTo>
                  <a:pt x="163860" y="149572"/>
                </a:lnTo>
                <a:lnTo>
                  <a:pt x="128588" y="114300"/>
                </a:lnTo>
                <a:lnTo>
                  <a:pt x="163860" y="79028"/>
                </a:lnTo>
                <a:lnTo>
                  <a:pt x="181719" y="96887"/>
                </a:lnTo>
                <a:cubicBezTo>
                  <a:pt x="184800" y="99968"/>
                  <a:pt x="189399" y="100861"/>
                  <a:pt x="193417" y="99209"/>
                </a:cubicBezTo>
                <a:cubicBezTo>
                  <a:pt x="197435" y="97557"/>
                  <a:pt x="200025" y="93628"/>
                  <a:pt x="200025" y="89297"/>
                </a:cubicBezTo>
                <a:lnTo>
                  <a:pt x="200025" y="25003"/>
                </a:lnTo>
                <a:cubicBezTo>
                  <a:pt x="200025" y="19065"/>
                  <a:pt x="195248" y="14288"/>
                  <a:pt x="189309" y="14288"/>
                </a:cubicBezTo>
                <a:lnTo>
                  <a:pt x="125016" y="14288"/>
                </a:lnTo>
                <a:cubicBezTo>
                  <a:pt x="120685" y="14288"/>
                  <a:pt x="116756" y="16877"/>
                  <a:pt x="115104" y="20895"/>
                </a:cubicBezTo>
                <a:cubicBezTo>
                  <a:pt x="113452" y="24914"/>
                  <a:pt x="114389" y="29513"/>
                  <a:pt x="117425" y="32593"/>
                </a:cubicBezTo>
                <a:lnTo>
                  <a:pt x="135285" y="50453"/>
                </a:lnTo>
                <a:lnTo>
                  <a:pt x="100013" y="85725"/>
                </a:lnTo>
                <a:lnTo>
                  <a:pt x="64740" y="50453"/>
                </a:lnTo>
                <a:lnTo>
                  <a:pt x="82600" y="32593"/>
                </a:lnTo>
                <a:cubicBezTo>
                  <a:pt x="85680" y="29513"/>
                  <a:pt x="86573" y="24914"/>
                  <a:pt x="84921" y="20895"/>
                </a:cubicBezTo>
                <a:cubicBezTo>
                  <a:pt x="83269" y="16877"/>
                  <a:pt x="79340" y="14288"/>
                  <a:pt x="75009" y="14288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11349534" y="7670800"/>
            <a:ext cx="430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扩展思维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057434" y="8128000"/>
            <a:ext cx="458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单机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到</a:t>
            </a: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数千节点集群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的跨越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08000" y="17526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152400" y="0"/>
                </a:moveTo>
                <a:lnTo>
                  <a:pt x="1066800" y="0"/>
                </a:lnTo>
                <a:cubicBezTo>
                  <a:pt x="1150912" y="0"/>
                  <a:pt x="1219200" y="68288"/>
                  <a:pt x="1219200" y="152400"/>
                </a:cubicBezTo>
                <a:lnTo>
                  <a:pt x="1219200" y="1066800"/>
                </a:lnTo>
                <a:cubicBezTo>
                  <a:pt x="1219200" y="1150912"/>
                  <a:pt x="1150912" y="1219200"/>
                  <a:pt x="1066800" y="1219200"/>
                </a:cubicBezTo>
                <a:lnTo>
                  <a:pt x="152400" y="1219200"/>
                </a:lnTo>
                <a:cubicBezTo>
                  <a:pt x="68288" y="1219200"/>
                  <a:pt x="0" y="1150912"/>
                  <a:pt x="0" y="10668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43248" y="2057400"/>
            <a:ext cx="1054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32000" y="1854200"/>
            <a:ext cx="101600" cy="1016000"/>
          </a:xfrm>
          <a:custGeom>
            <a:avLst/>
            <a:gdLst/>
            <a:ahLst/>
            <a:cxnLst/>
            <a:rect l="l" t="t" r="r" b="b"/>
            <a:pathLst>
              <a:path w="101600" h="1016000">
                <a:moveTo>
                  <a:pt x="0" y="0"/>
                </a:moveTo>
                <a:lnTo>
                  <a:pt x="101600" y="0"/>
                </a:lnTo>
                <a:lnTo>
                  <a:pt x="1016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08000" y="3378200"/>
            <a:ext cx="1061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GFS 架构设计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4826000"/>
            <a:ext cx="2438400" cy="76200"/>
          </a:xfrm>
          <a:custGeom>
            <a:avLst/>
            <a:gdLst/>
            <a:ahLst/>
            <a:cxnLst/>
            <a:rect l="l" t="t" r="r" b="b"/>
            <a:pathLst>
              <a:path w="2438400" h="76200">
                <a:moveTo>
                  <a:pt x="0" y="0"/>
                </a:moveTo>
                <a:lnTo>
                  <a:pt x="2438400" y="0"/>
                </a:lnTo>
                <a:lnTo>
                  <a:pt x="2438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08000" y="5308600"/>
            <a:ext cx="8686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深入剖析 GFS 的 Master-ChunkServer 架构、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核心组件职责和关键设计决策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14350" y="6711950"/>
            <a:ext cx="2070100" cy="673100"/>
          </a:xfrm>
          <a:custGeom>
            <a:avLst/>
            <a:gdLst/>
            <a:ahLst/>
            <a:cxnLst/>
            <a:rect l="l" t="t" r="r" b="b"/>
            <a:pathLst>
              <a:path w="2070100" h="673100">
                <a:moveTo>
                  <a:pt x="101598" y="0"/>
                </a:moveTo>
                <a:lnTo>
                  <a:pt x="1968502" y="0"/>
                </a:lnTo>
                <a:cubicBezTo>
                  <a:pt x="2024613" y="0"/>
                  <a:pt x="2070100" y="45487"/>
                  <a:pt x="2070100" y="101598"/>
                </a:cubicBezTo>
                <a:lnTo>
                  <a:pt x="2070100" y="571502"/>
                </a:lnTo>
                <a:cubicBezTo>
                  <a:pt x="2070100" y="627613"/>
                  <a:pt x="2024613" y="673100"/>
                  <a:pt x="1968502" y="673100"/>
                </a:cubicBezTo>
                <a:lnTo>
                  <a:pt x="101598" y="673100"/>
                </a:lnTo>
                <a:cubicBezTo>
                  <a:pt x="45487" y="673100"/>
                  <a:pt x="0" y="627613"/>
                  <a:pt x="0" y="5715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857250" y="6921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95250" y="31750"/>
                </a:moveTo>
                <a:cubicBezTo>
                  <a:pt x="95250" y="22969"/>
                  <a:pt x="102344" y="15875"/>
                  <a:pt x="111125" y="15875"/>
                </a:cubicBezTo>
                <a:lnTo>
                  <a:pt x="142875" y="15875"/>
                </a:lnTo>
                <a:cubicBezTo>
                  <a:pt x="151656" y="15875"/>
                  <a:pt x="158750" y="22969"/>
                  <a:pt x="158750" y="31750"/>
                </a:cubicBezTo>
                <a:lnTo>
                  <a:pt x="158750" y="63500"/>
                </a:lnTo>
                <a:cubicBezTo>
                  <a:pt x="158750" y="72281"/>
                  <a:pt x="151656" y="79375"/>
                  <a:pt x="142875" y="79375"/>
                </a:cubicBezTo>
                <a:lnTo>
                  <a:pt x="138906" y="79375"/>
                </a:lnTo>
                <a:lnTo>
                  <a:pt x="138906" y="111125"/>
                </a:lnTo>
                <a:lnTo>
                  <a:pt x="198438" y="111125"/>
                </a:lnTo>
                <a:cubicBezTo>
                  <a:pt x="218182" y="111125"/>
                  <a:pt x="234156" y="127099"/>
                  <a:pt x="234156" y="146844"/>
                </a:cubicBezTo>
                <a:lnTo>
                  <a:pt x="234156" y="174625"/>
                </a:lnTo>
                <a:lnTo>
                  <a:pt x="238125" y="174625"/>
                </a:lnTo>
                <a:cubicBezTo>
                  <a:pt x="246906" y="174625"/>
                  <a:pt x="254000" y="181719"/>
                  <a:pt x="254000" y="190500"/>
                </a:cubicBezTo>
                <a:lnTo>
                  <a:pt x="254000" y="222250"/>
                </a:lnTo>
                <a:cubicBezTo>
                  <a:pt x="254000" y="231031"/>
                  <a:pt x="246906" y="238125"/>
                  <a:pt x="238125" y="238125"/>
                </a:cubicBezTo>
                <a:lnTo>
                  <a:pt x="206375" y="238125"/>
                </a:lnTo>
                <a:cubicBezTo>
                  <a:pt x="197594" y="238125"/>
                  <a:pt x="190500" y="231031"/>
                  <a:pt x="190500" y="222250"/>
                </a:cubicBezTo>
                <a:lnTo>
                  <a:pt x="190500" y="190500"/>
                </a:lnTo>
                <a:cubicBezTo>
                  <a:pt x="190500" y="181719"/>
                  <a:pt x="197594" y="174625"/>
                  <a:pt x="206375" y="174625"/>
                </a:cubicBezTo>
                <a:lnTo>
                  <a:pt x="210344" y="174625"/>
                </a:lnTo>
                <a:lnTo>
                  <a:pt x="210344" y="146844"/>
                </a:lnTo>
                <a:cubicBezTo>
                  <a:pt x="210344" y="140246"/>
                  <a:pt x="205036" y="134938"/>
                  <a:pt x="198438" y="134938"/>
                </a:cubicBezTo>
                <a:lnTo>
                  <a:pt x="138906" y="134938"/>
                </a:lnTo>
                <a:lnTo>
                  <a:pt x="138906" y="174625"/>
                </a:lnTo>
                <a:lnTo>
                  <a:pt x="142875" y="174625"/>
                </a:lnTo>
                <a:cubicBezTo>
                  <a:pt x="151656" y="174625"/>
                  <a:pt x="158750" y="181719"/>
                  <a:pt x="158750" y="190500"/>
                </a:cubicBezTo>
                <a:lnTo>
                  <a:pt x="158750" y="222250"/>
                </a:lnTo>
                <a:cubicBezTo>
                  <a:pt x="158750" y="231031"/>
                  <a:pt x="151656" y="238125"/>
                  <a:pt x="142875" y="238125"/>
                </a:cubicBezTo>
                <a:lnTo>
                  <a:pt x="111125" y="238125"/>
                </a:lnTo>
                <a:cubicBezTo>
                  <a:pt x="102344" y="238125"/>
                  <a:pt x="95250" y="231031"/>
                  <a:pt x="95250" y="222250"/>
                </a:cubicBezTo>
                <a:lnTo>
                  <a:pt x="95250" y="190500"/>
                </a:lnTo>
                <a:cubicBezTo>
                  <a:pt x="95250" y="181719"/>
                  <a:pt x="102344" y="174625"/>
                  <a:pt x="111125" y="174625"/>
                </a:cubicBezTo>
                <a:lnTo>
                  <a:pt x="115094" y="174625"/>
                </a:lnTo>
                <a:lnTo>
                  <a:pt x="115094" y="134938"/>
                </a:lnTo>
                <a:lnTo>
                  <a:pt x="55563" y="134938"/>
                </a:lnTo>
                <a:cubicBezTo>
                  <a:pt x="48964" y="134938"/>
                  <a:pt x="43656" y="140246"/>
                  <a:pt x="43656" y="146844"/>
                </a:cubicBezTo>
                <a:lnTo>
                  <a:pt x="43656" y="174625"/>
                </a:lnTo>
                <a:lnTo>
                  <a:pt x="47625" y="174625"/>
                </a:lnTo>
                <a:cubicBezTo>
                  <a:pt x="56406" y="174625"/>
                  <a:pt x="63500" y="181719"/>
                  <a:pt x="63500" y="190500"/>
                </a:cubicBezTo>
                <a:lnTo>
                  <a:pt x="63500" y="222250"/>
                </a:lnTo>
                <a:cubicBezTo>
                  <a:pt x="63500" y="231031"/>
                  <a:pt x="56406" y="238125"/>
                  <a:pt x="47625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190500"/>
                </a:lnTo>
                <a:cubicBezTo>
                  <a:pt x="0" y="181719"/>
                  <a:pt x="7094" y="174625"/>
                  <a:pt x="15875" y="174625"/>
                </a:cubicBezTo>
                <a:lnTo>
                  <a:pt x="19844" y="174625"/>
                </a:lnTo>
                <a:lnTo>
                  <a:pt x="19844" y="146844"/>
                </a:lnTo>
                <a:cubicBezTo>
                  <a:pt x="19844" y="127099"/>
                  <a:pt x="35818" y="111125"/>
                  <a:pt x="55563" y="111125"/>
                </a:cubicBezTo>
                <a:lnTo>
                  <a:pt x="115094" y="111125"/>
                </a:lnTo>
                <a:lnTo>
                  <a:pt x="115094" y="79375"/>
                </a:lnTo>
                <a:lnTo>
                  <a:pt x="111125" y="79375"/>
                </a:lnTo>
                <a:cubicBezTo>
                  <a:pt x="102344" y="79375"/>
                  <a:pt x="95250" y="72281"/>
                  <a:pt x="95250" y="63500"/>
                </a:cubicBezTo>
                <a:lnTo>
                  <a:pt x="95250" y="3175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1354138" y="68961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架构选择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795588" y="6711950"/>
            <a:ext cx="2070100" cy="673100"/>
          </a:xfrm>
          <a:custGeom>
            <a:avLst/>
            <a:gdLst/>
            <a:ahLst/>
            <a:cxnLst/>
            <a:rect l="l" t="t" r="r" b="b"/>
            <a:pathLst>
              <a:path w="2070100" h="673100">
                <a:moveTo>
                  <a:pt x="101598" y="0"/>
                </a:moveTo>
                <a:lnTo>
                  <a:pt x="1968502" y="0"/>
                </a:lnTo>
                <a:cubicBezTo>
                  <a:pt x="2024613" y="0"/>
                  <a:pt x="2070100" y="45487"/>
                  <a:pt x="2070100" y="101598"/>
                </a:cubicBezTo>
                <a:lnTo>
                  <a:pt x="2070100" y="571502"/>
                </a:lnTo>
                <a:cubicBezTo>
                  <a:pt x="2070100" y="627613"/>
                  <a:pt x="2024613" y="673100"/>
                  <a:pt x="1968502" y="673100"/>
                </a:cubicBezTo>
                <a:lnTo>
                  <a:pt x="101598" y="673100"/>
                </a:lnTo>
                <a:cubicBezTo>
                  <a:pt x="45487" y="673100"/>
                  <a:pt x="0" y="627613"/>
                  <a:pt x="0" y="5715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3138488" y="6921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40891" y="-645"/>
                </a:moveTo>
                <a:cubicBezTo>
                  <a:pt x="132308" y="-5606"/>
                  <a:pt x="121692" y="-5606"/>
                  <a:pt x="113109" y="-645"/>
                </a:cubicBezTo>
                <a:lnTo>
                  <a:pt x="71338" y="23465"/>
                </a:lnTo>
                <a:cubicBezTo>
                  <a:pt x="62756" y="28426"/>
                  <a:pt x="57448" y="37604"/>
                  <a:pt x="57448" y="47526"/>
                </a:cubicBezTo>
                <a:lnTo>
                  <a:pt x="57448" y="98078"/>
                </a:lnTo>
                <a:lnTo>
                  <a:pt x="13643" y="123379"/>
                </a:lnTo>
                <a:cubicBezTo>
                  <a:pt x="5060" y="128339"/>
                  <a:pt x="-248" y="137517"/>
                  <a:pt x="-248" y="147439"/>
                </a:cubicBezTo>
                <a:lnTo>
                  <a:pt x="-248" y="195709"/>
                </a:lnTo>
                <a:cubicBezTo>
                  <a:pt x="-248" y="205631"/>
                  <a:pt x="5060" y="214809"/>
                  <a:pt x="13643" y="219770"/>
                </a:cubicBezTo>
                <a:lnTo>
                  <a:pt x="55463" y="243880"/>
                </a:lnTo>
                <a:cubicBezTo>
                  <a:pt x="64046" y="248841"/>
                  <a:pt x="74662" y="248841"/>
                  <a:pt x="83245" y="243880"/>
                </a:cubicBezTo>
                <a:lnTo>
                  <a:pt x="127050" y="218579"/>
                </a:lnTo>
                <a:lnTo>
                  <a:pt x="170855" y="243880"/>
                </a:lnTo>
                <a:cubicBezTo>
                  <a:pt x="179437" y="248841"/>
                  <a:pt x="190054" y="248841"/>
                  <a:pt x="198636" y="243880"/>
                </a:cubicBezTo>
                <a:lnTo>
                  <a:pt x="240357" y="219770"/>
                </a:lnTo>
                <a:cubicBezTo>
                  <a:pt x="248940" y="214809"/>
                  <a:pt x="254248" y="205631"/>
                  <a:pt x="254248" y="195709"/>
                </a:cubicBezTo>
                <a:lnTo>
                  <a:pt x="254248" y="147439"/>
                </a:lnTo>
                <a:cubicBezTo>
                  <a:pt x="254248" y="137517"/>
                  <a:pt x="248940" y="128339"/>
                  <a:pt x="240357" y="123379"/>
                </a:cubicBezTo>
                <a:lnTo>
                  <a:pt x="196552" y="98078"/>
                </a:lnTo>
                <a:lnTo>
                  <a:pt x="196552" y="47526"/>
                </a:lnTo>
                <a:cubicBezTo>
                  <a:pt x="196552" y="37604"/>
                  <a:pt x="191244" y="28426"/>
                  <a:pt x="182662" y="23465"/>
                </a:cubicBezTo>
                <a:lnTo>
                  <a:pt x="140891" y="-645"/>
                </a:lnTo>
                <a:close/>
                <a:moveTo>
                  <a:pt x="115094" y="145157"/>
                </a:moveTo>
                <a:lnTo>
                  <a:pt x="115094" y="197991"/>
                </a:lnTo>
                <a:lnTo>
                  <a:pt x="71289" y="223292"/>
                </a:lnTo>
                <a:cubicBezTo>
                  <a:pt x="70693" y="223639"/>
                  <a:pt x="69999" y="223838"/>
                  <a:pt x="69304" y="223838"/>
                </a:cubicBezTo>
                <a:lnTo>
                  <a:pt x="69304" y="171599"/>
                </a:lnTo>
                <a:lnTo>
                  <a:pt x="115094" y="145157"/>
                </a:lnTo>
                <a:close/>
                <a:moveTo>
                  <a:pt x="229890" y="145455"/>
                </a:moveTo>
                <a:cubicBezTo>
                  <a:pt x="230237" y="146050"/>
                  <a:pt x="230436" y="146745"/>
                  <a:pt x="230436" y="147439"/>
                </a:cubicBezTo>
                <a:lnTo>
                  <a:pt x="230436" y="195709"/>
                </a:lnTo>
                <a:cubicBezTo>
                  <a:pt x="230436" y="197148"/>
                  <a:pt x="229691" y="198438"/>
                  <a:pt x="228451" y="199132"/>
                </a:cubicBezTo>
                <a:lnTo>
                  <a:pt x="186630" y="223242"/>
                </a:lnTo>
                <a:cubicBezTo>
                  <a:pt x="186035" y="223589"/>
                  <a:pt x="185341" y="223788"/>
                  <a:pt x="184646" y="223788"/>
                </a:cubicBezTo>
                <a:lnTo>
                  <a:pt x="184646" y="171549"/>
                </a:lnTo>
                <a:lnTo>
                  <a:pt x="229890" y="145455"/>
                </a:lnTo>
                <a:close/>
                <a:moveTo>
                  <a:pt x="172789" y="47526"/>
                </a:moveTo>
                <a:lnTo>
                  <a:pt x="172789" y="98078"/>
                </a:lnTo>
                <a:lnTo>
                  <a:pt x="127000" y="124520"/>
                </a:lnTo>
                <a:lnTo>
                  <a:pt x="127000" y="71686"/>
                </a:lnTo>
                <a:lnTo>
                  <a:pt x="172244" y="45591"/>
                </a:lnTo>
                <a:cubicBezTo>
                  <a:pt x="172591" y="46186"/>
                  <a:pt x="172789" y="46881"/>
                  <a:pt x="172789" y="47575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3635375" y="68961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核心组件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076825" y="6711950"/>
            <a:ext cx="2070100" cy="673100"/>
          </a:xfrm>
          <a:custGeom>
            <a:avLst/>
            <a:gdLst/>
            <a:ahLst/>
            <a:cxnLst/>
            <a:rect l="l" t="t" r="r" b="b"/>
            <a:pathLst>
              <a:path w="2070100" h="673100">
                <a:moveTo>
                  <a:pt x="101598" y="0"/>
                </a:moveTo>
                <a:lnTo>
                  <a:pt x="1968502" y="0"/>
                </a:lnTo>
                <a:cubicBezTo>
                  <a:pt x="2024613" y="0"/>
                  <a:pt x="2070100" y="45487"/>
                  <a:pt x="2070100" y="101598"/>
                </a:cubicBezTo>
                <a:lnTo>
                  <a:pt x="2070100" y="571502"/>
                </a:lnTo>
                <a:cubicBezTo>
                  <a:pt x="2070100" y="627613"/>
                  <a:pt x="2024613" y="673100"/>
                  <a:pt x="1968502" y="673100"/>
                </a:cubicBezTo>
                <a:lnTo>
                  <a:pt x="101598" y="673100"/>
                </a:lnTo>
                <a:cubicBezTo>
                  <a:pt x="45487" y="673100"/>
                  <a:pt x="0" y="627613"/>
                  <a:pt x="0" y="5715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5419725" y="6921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66688" y="174625"/>
                </a:moveTo>
                <a:cubicBezTo>
                  <a:pt x="214908" y="174625"/>
                  <a:pt x="254000" y="135533"/>
                  <a:pt x="254000" y="87313"/>
                </a:cubicBezTo>
                <a:cubicBezTo>
                  <a:pt x="254000" y="39092"/>
                  <a:pt x="214908" y="0"/>
                  <a:pt x="166688" y="0"/>
                </a:cubicBezTo>
                <a:cubicBezTo>
                  <a:pt x="118467" y="0"/>
                  <a:pt x="79375" y="39092"/>
                  <a:pt x="79375" y="87313"/>
                </a:cubicBezTo>
                <a:cubicBezTo>
                  <a:pt x="79375" y="96589"/>
                  <a:pt x="80814" y="105569"/>
                  <a:pt x="83493" y="113953"/>
                </a:cubicBezTo>
                <a:lnTo>
                  <a:pt x="3473" y="193973"/>
                </a:lnTo>
                <a:cubicBezTo>
                  <a:pt x="1240" y="196205"/>
                  <a:pt x="0" y="199231"/>
                  <a:pt x="0" y="202406"/>
                </a:cubicBezTo>
                <a:lnTo>
                  <a:pt x="0" y="242094"/>
                </a:lnTo>
                <a:cubicBezTo>
                  <a:pt x="0" y="248692"/>
                  <a:pt x="5308" y="254000"/>
                  <a:pt x="11906" y="254000"/>
                </a:cubicBezTo>
                <a:lnTo>
                  <a:pt x="51594" y="254000"/>
                </a:lnTo>
                <a:cubicBezTo>
                  <a:pt x="58192" y="254000"/>
                  <a:pt x="63500" y="248692"/>
                  <a:pt x="63500" y="242094"/>
                </a:cubicBezTo>
                <a:lnTo>
                  <a:pt x="63500" y="222250"/>
                </a:lnTo>
                <a:lnTo>
                  <a:pt x="83344" y="222250"/>
                </a:lnTo>
                <a:cubicBezTo>
                  <a:pt x="89942" y="222250"/>
                  <a:pt x="95250" y="216942"/>
                  <a:pt x="95250" y="210344"/>
                </a:cubicBezTo>
                <a:lnTo>
                  <a:pt x="95250" y="190500"/>
                </a:lnTo>
                <a:lnTo>
                  <a:pt x="115094" y="190500"/>
                </a:lnTo>
                <a:cubicBezTo>
                  <a:pt x="118269" y="190500"/>
                  <a:pt x="121295" y="189260"/>
                  <a:pt x="123527" y="187027"/>
                </a:cubicBezTo>
                <a:lnTo>
                  <a:pt x="140047" y="170507"/>
                </a:lnTo>
                <a:cubicBezTo>
                  <a:pt x="148431" y="173186"/>
                  <a:pt x="157411" y="174625"/>
                  <a:pt x="166688" y="174625"/>
                </a:cubicBezTo>
                <a:close/>
                <a:moveTo>
                  <a:pt x="186531" y="47625"/>
                </a:moveTo>
                <a:cubicBezTo>
                  <a:pt x="197483" y="47625"/>
                  <a:pt x="206375" y="56517"/>
                  <a:pt x="206375" y="67469"/>
                </a:cubicBezTo>
                <a:cubicBezTo>
                  <a:pt x="206375" y="78421"/>
                  <a:pt x="197483" y="87313"/>
                  <a:pt x="186531" y="87313"/>
                </a:cubicBezTo>
                <a:cubicBezTo>
                  <a:pt x="175579" y="87313"/>
                  <a:pt x="166688" y="78421"/>
                  <a:pt x="166688" y="67469"/>
                </a:cubicBezTo>
                <a:cubicBezTo>
                  <a:pt x="166688" y="56517"/>
                  <a:pt x="175579" y="47625"/>
                  <a:pt x="186531" y="47625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5916613" y="68961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关键决策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4126" y="580157"/>
            <a:ext cx="464126" cy="46413"/>
          </a:xfrm>
          <a:custGeom>
            <a:avLst/>
            <a:gdLst/>
            <a:ahLst/>
            <a:cxnLst/>
            <a:rect l="l" t="t" r="r" b="b"/>
            <a:pathLst>
              <a:path w="464126" h="46413">
                <a:moveTo>
                  <a:pt x="0" y="0"/>
                </a:moveTo>
                <a:lnTo>
                  <a:pt x="464126" y="0"/>
                </a:lnTo>
                <a:lnTo>
                  <a:pt x="464126" y="46413"/>
                </a:lnTo>
                <a:lnTo>
                  <a:pt x="0" y="46413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67489" y="464126"/>
            <a:ext cx="2343834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kern="0" spc="73" dirty="0">
                <a:solidFill>
                  <a:srgbClr val="D4A2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DESIGN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4126" y="835426"/>
            <a:ext cx="15536605" cy="464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89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架构选择的设计思考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87332" y="1485202"/>
            <a:ext cx="10036717" cy="3527355"/>
          </a:xfrm>
          <a:custGeom>
            <a:avLst/>
            <a:gdLst/>
            <a:ahLst/>
            <a:cxnLst/>
            <a:rect l="l" t="t" r="r" b="b"/>
            <a:pathLst>
              <a:path w="10036717" h="3527355">
                <a:moveTo>
                  <a:pt x="46413" y="0"/>
                </a:moveTo>
                <a:lnTo>
                  <a:pt x="9943877" y="0"/>
                </a:lnTo>
                <a:cubicBezTo>
                  <a:pt x="9995151" y="0"/>
                  <a:pt x="10036717" y="41566"/>
                  <a:pt x="10036717" y="92840"/>
                </a:cubicBezTo>
                <a:lnTo>
                  <a:pt x="10036717" y="3434515"/>
                </a:lnTo>
                <a:cubicBezTo>
                  <a:pt x="10036717" y="3485789"/>
                  <a:pt x="9995151" y="3527355"/>
                  <a:pt x="9943877" y="3527355"/>
                </a:cubicBezTo>
                <a:lnTo>
                  <a:pt x="46413" y="3527355"/>
                </a:lnTo>
                <a:cubicBezTo>
                  <a:pt x="20780" y="3527355"/>
                  <a:pt x="0" y="3506575"/>
                  <a:pt x="0" y="3480942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87332" y="1485202"/>
            <a:ext cx="46413" cy="3527355"/>
          </a:xfrm>
          <a:custGeom>
            <a:avLst/>
            <a:gdLst/>
            <a:ahLst/>
            <a:cxnLst/>
            <a:rect l="l" t="t" r="r" b="b"/>
            <a:pathLst>
              <a:path w="46413" h="3527355">
                <a:moveTo>
                  <a:pt x="46413" y="0"/>
                </a:moveTo>
                <a:lnTo>
                  <a:pt x="46413" y="0"/>
                </a:lnTo>
                <a:lnTo>
                  <a:pt x="46413" y="3527355"/>
                </a:lnTo>
                <a:lnTo>
                  <a:pt x="46413" y="3527355"/>
                </a:lnTo>
                <a:cubicBezTo>
                  <a:pt x="20780" y="3527355"/>
                  <a:pt x="0" y="3506575"/>
                  <a:pt x="0" y="3480942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71609" y="1775281"/>
            <a:ext cx="208857" cy="208857"/>
          </a:xfrm>
          <a:custGeom>
            <a:avLst/>
            <a:gdLst/>
            <a:ahLst/>
            <a:cxnLst/>
            <a:rect l="l" t="t" r="r" b="b"/>
            <a:pathLst>
              <a:path w="208857" h="208857">
                <a:moveTo>
                  <a:pt x="104428" y="208857"/>
                </a:moveTo>
                <a:cubicBezTo>
                  <a:pt x="162064" y="208857"/>
                  <a:pt x="208857" y="162064"/>
                  <a:pt x="208857" y="104428"/>
                </a:cubicBezTo>
                <a:cubicBezTo>
                  <a:pt x="208857" y="46793"/>
                  <a:pt x="162064" y="0"/>
                  <a:pt x="104428" y="0"/>
                </a:cubicBezTo>
                <a:cubicBezTo>
                  <a:pt x="46793" y="0"/>
                  <a:pt x="0" y="46793"/>
                  <a:pt x="0" y="104428"/>
                </a:cubicBezTo>
                <a:cubicBezTo>
                  <a:pt x="0" y="162064"/>
                  <a:pt x="46793" y="208857"/>
                  <a:pt x="104428" y="208857"/>
                </a:cubicBezTo>
                <a:close/>
                <a:moveTo>
                  <a:pt x="104428" y="71794"/>
                </a:moveTo>
                <a:cubicBezTo>
                  <a:pt x="97208" y="71794"/>
                  <a:pt x="91375" y="77628"/>
                  <a:pt x="91375" y="84848"/>
                </a:cubicBezTo>
                <a:cubicBezTo>
                  <a:pt x="91375" y="90273"/>
                  <a:pt x="87010" y="94638"/>
                  <a:pt x="81585" y="94638"/>
                </a:cubicBezTo>
                <a:cubicBezTo>
                  <a:pt x="76159" y="94638"/>
                  <a:pt x="71794" y="90273"/>
                  <a:pt x="71794" y="84848"/>
                </a:cubicBezTo>
                <a:cubicBezTo>
                  <a:pt x="71794" y="66818"/>
                  <a:pt x="86398" y="52214"/>
                  <a:pt x="104428" y="52214"/>
                </a:cubicBezTo>
                <a:cubicBezTo>
                  <a:pt x="122458" y="52214"/>
                  <a:pt x="137062" y="66818"/>
                  <a:pt x="137062" y="84848"/>
                </a:cubicBezTo>
                <a:cubicBezTo>
                  <a:pt x="137062" y="104102"/>
                  <a:pt x="122377" y="112260"/>
                  <a:pt x="114218" y="115238"/>
                </a:cubicBezTo>
                <a:lnTo>
                  <a:pt x="114218" y="116788"/>
                </a:lnTo>
                <a:cubicBezTo>
                  <a:pt x="114218" y="122214"/>
                  <a:pt x="109854" y="126578"/>
                  <a:pt x="104428" y="126578"/>
                </a:cubicBezTo>
                <a:cubicBezTo>
                  <a:pt x="99003" y="126578"/>
                  <a:pt x="94638" y="122214"/>
                  <a:pt x="94638" y="116788"/>
                </a:cubicBezTo>
                <a:lnTo>
                  <a:pt x="94638" y="113484"/>
                </a:lnTo>
                <a:cubicBezTo>
                  <a:pt x="94638" y="105122"/>
                  <a:pt x="100675" y="99125"/>
                  <a:pt x="106917" y="97086"/>
                </a:cubicBezTo>
                <a:cubicBezTo>
                  <a:pt x="109527" y="96229"/>
                  <a:pt x="112301" y="94842"/>
                  <a:pt x="114341" y="92884"/>
                </a:cubicBezTo>
                <a:cubicBezTo>
                  <a:pt x="116095" y="91171"/>
                  <a:pt x="117482" y="88805"/>
                  <a:pt x="117482" y="84889"/>
                </a:cubicBezTo>
                <a:cubicBezTo>
                  <a:pt x="117482" y="77669"/>
                  <a:pt x="111649" y="71835"/>
                  <a:pt x="104428" y="71835"/>
                </a:cubicBezTo>
                <a:close/>
                <a:moveTo>
                  <a:pt x="91375" y="150116"/>
                </a:moveTo>
                <a:cubicBezTo>
                  <a:pt x="91375" y="142911"/>
                  <a:pt x="97224" y="137062"/>
                  <a:pt x="104428" y="137062"/>
                </a:cubicBezTo>
                <a:cubicBezTo>
                  <a:pt x="111633" y="137062"/>
                  <a:pt x="117482" y="142911"/>
                  <a:pt x="117482" y="150116"/>
                </a:cubicBezTo>
                <a:cubicBezTo>
                  <a:pt x="117482" y="157320"/>
                  <a:pt x="111633" y="163169"/>
                  <a:pt x="104428" y="163169"/>
                </a:cubicBezTo>
                <a:cubicBezTo>
                  <a:pt x="97224" y="163169"/>
                  <a:pt x="91375" y="157320"/>
                  <a:pt x="91375" y="150116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09473" y="1717265"/>
            <a:ext cx="9386941" cy="32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4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为什么选择主从架构？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4204" y="2227803"/>
            <a:ext cx="4699272" cy="1206727"/>
          </a:xfrm>
          <a:custGeom>
            <a:avLst/>
            <a:gdLst/>
            <a:ahLst/>
            <a:cxnLst/>
            <a:rect l="l" t="t" r="r" b="b"/>
            <a:pathLst>
              <a:path w="4699272" h="1206727">
                <a:moveTo>
                  <a:pt x="23206" y="0"/>
                </a:moveTo>
                <a:lnTo>
                  <a:pt x="4652861" y="0"/>
                </a:lnTo>
                <a:cubicBezTo>
                  <a:pt x="4678493" y="0"/>
                  <a:pt x="4699272" y="20779"/>
                  <a:pt x="4699272" y="46411"/>
                </a:cubicBezTo>
                <a:lnTo>
                  <a:pt x="4699272" y="1160316"/>
                </a:lnTo>
                <a:cubicBezTo>
                  <a:pt x="4699272" y="1185948"/>
                  <a:pt x="4678493" y="1206727"/>
                  <a:pt x="4652861" y="1206727"/>
                </a:cubicBezTo>
                <a:lnTo>
                  <a:pt x="23206" y="1206727"/>
                </a:lnTo>
                <a:cubicBezTo>
                  <a:pt x="10390" y="1206727"/>
                  <a:pt x="0" y="1196337"/>
                  <a:pt x="0" y="1183520"/>
                </a:cubicBezTo>
                <a:lnTo>
                  <a:pt x="0" y="23206"/>
                </a:lnTo>
                <a:cubicBezTo>
                  <a:pt x="0" y="10398"/>
                  <a:pt x="10398" y="0"/>
                  <a:pt x="23206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754204" y="2227803"/>
            <a:ext cx="23206" cy="1206727"/>
          </a:xfrm>
          <a:custGeom>
            <a:avLst/>
            <a:gdLst/>
            <a:ahLst/>
            <a:cxnLst/>
            <a:rect l="l" t="t" r="r" b="b"/>
            <a:pathLst>
              <a:path w="23206" h="1206727">
                <a:moveTo>
                  <a:pt x="23206" y="0"/>
                </a:moveTo>
                <a:lnTo>
                  <a:pt x="23206" y="0"/>
                </a:lnTo>
                <a:lnTo>
                  <a:pt x="23206" y="1206727"/>
                </a:lnTo>
                <a:lnTo>
                  <a:pt x="23206" y="1206727"/>
                </a:lnTo>
                <a:cubicBezTo>
                  <a:pt x="10390" y="1206727"/>
                  <a:pt x="0" y="1196337"/>
                  <a:pt x="0" y="1183520"/>
                </a:cubicBezTo>
                <a:lnTo>
                  <a:pt x="0" y="23206"/>
                </a:lnTo>
                <a:cubicBezTo>
                  <a:pt x="0" y="10398"/>
                  <a:pt x="10398" y="0"/>
                  <a:pt x="23206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928251" y="2413453"/>
            <a:ext cx="185650" cy="185650"/>
          </a:xfrm>
          <a:custGeom>
            <a:avLst/>
            <a:gdLst/>
            <a:ahLst/>
            <a:cxnLst/>
            <a:rect l="l" t="t" r="r" b="b"/>
            <a:pathLst>
              <a:path w="185650" h="185650">
                <a:moveTo>
                  <a:pt x="92825" y="185650"/>
                </a:moveTo>
                <a:cubicBezTo>
                  <a:pt x="144057" y="185650"/>
                  <a:pt x="185650" y="144057"/>
                  <a:pt x="185650" y="92825"/>
                </a:cubicBezTo>
                <a:cubicBezTo>
                  <a:pt x="185650" y="41594"/>
                  <a:pt x="144057" y="0"/>
                  <a:pt x="92825" y="0"/>
                </a:cubicBezTo>
                <a:cubicBezTo>
                  <a:pt x="41594" y="0"/>
                  <a:pt x="0" y="41594"/>
                  <a:pt x="0" y="92825"/>
                </a:cubicBezTo>
                <a:cubicBezTo>
                  <a:pt x="0" y="144057"/>
                  <a:pt x="41594" y="185650"/>
                  <a:pt x="92825" y="185650"/>
                </a:cubicBezTo>
                <a:close/>
                <a:moveTo>
                  <a:pt x="123428" y="77125"/>
                </a:moveTo>
                <a:lnTo>
                  <a:pt x="94421" y="123537"/>
                </a:lnTo>
                <a:cubicBezTo>
                  <a:pt x="92898" y="125967"/>
                  <a:pt x="90287" y="127490"/>
                  <a:pt x="87422" y="127635"/>
                </a:cubicBezTo>
                <a:cubicBezTo>
                  <a:pt x="84558" y="127780"/>
                  <a:pt x="81802" y="126474"/>
                  <a:pt x="80098" y="124154"/>
                </a:cubicBezTo>
                <a:lnTo>
                  <a:pt x="62693" y="100947"/>
                </a:lnTo>
                <a:cubicBezTo>
                  <a:pt x="59792" y="97104"/>
                  <a:pt x="60590" y="91665"/>
                  <a:pt x="64434" y="88764"/>
                </a:cubicBezTo>
                <a:cubicBezTo>
                  <a:pt x="68277" y="85863"/>
                  <a:pt x="73716" y="86661"/>
                  <a:pt x="76617" y="90504"/>
                </a:cubicBezTo>
                <a:lnTo>
                  <a:pt x="86407" y="103558"/>
                </a:lnTo>
                <a:lnTo>
                  <a:pt x="108671" y="67915"/>
                </a:lnTo>
                <a:cubicBezTo>
                  <a:pt x="111209" y="63854"/>
                  <a:pt x="116575" y="62584"/>
                  <a:pt x="120673" y="65159"/>
                </a:cubicBezTo>
                <a:cubicBezTo>
                  <a:pt x="124770" y="67733"/>
                  <a:pt x="126003" y="73064"/>
                  <a:pt x="123428" y="77161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229933" y="2367041"/>
            <a:ext cx="1392377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简化一致性管理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05045" y="2738341"/>
            <a:ext cx="4502019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单一的元数据管理节点避免了分布式一致性的复杂性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99966" y="2227803"/>
            <a:ext cx="4699272" cy="1206727"/>
          </a:xfrm>
          <a:custGeom>
            <a:avLst/>
            <a:gdLst/>
            <a:ahLst/>
            <a:cxnLst/>
            <a:rect l="l" t="t" r="r" b="b"/>
            <a:pathLst>
              <a:path w="4699272" h="1206727">
                <a:moveTo>
                  <a:pt x="23206" y="0"/>
                </a:moveTo>
                <a:lnTo>
                  <a:pt x="4652861" y="0"/>
                </a:lnTo>
                <a:cubicBezTo>
                  <a:pt x="4678493" y="0"/>
                  <a:pt x="4699272" y="20779"/>
                  <a:pt x="4699272" y="46411"/>
                </a:cubicBezTo>
                <a:lnTo>
                  <a:pt x="4699272" y="1160316"/>
                </a:lnTo>
                <a:cubicBezTo>
                  <a:pt x="4699272" y="1185948"/>
                  <a:pt x="4678493" y="1206727"/>
                  <a:pt x="4652861" y="1206727"/>
                </a:cubicBezTo>
                <a:lnTo>
                  <a:pt x="23206" y="1206727"/>
                </a:lnTo>
                <a:cubicBezTo>
                  <a:pt x="10390" y="1206727"/>
                  <a:pt x="0" y="1196337"/>
                  <a:pt x="0" y="1183520"/>
                </a:cubicBezTo>
                <a:lnTo>
                  <a:pt x="0" y="23206"/>
                </a:lnTo>
                <a:cubicBezTo>
                  <a:pt x="0" y="10398"/>
                  <a:pt x="10398" y="0"/>
                  <a:pt x="23206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599966" y="2227803"/>
            <a:ext cx="23206" cy="1206727"/>
          </a:xfrm>
          <a:custGeom>
            <a:avLst/>
            <a:gdLst/>
            <a:ahLst/>
            <a:cxnLst/>
            <a:rect l="l" t="t" r="r" b="b"/>
            <a:pathLst>
              <a:path w="23206" h="1206727">
                <a:moveTo>
                  <a:pt x="23206" y="0"/>
                </a:moveTo>
                <a:lnTo>
                  <a:pt x="23206" y="0"/>
                </a:lnTo>
                <a:lnTo>
                  <a:pt x="23206" y="1206727"/>
                </a:lnTo>
                <a:lnTo>
                  <a:pt x="23206" y="1206727"/>
                </a:lnTo>
                <a:cubicBezTo>
                  <a:pt x="10390" y="1206727"/>
                  <a:pt x="0" y="1196337"/>
                  <a:pt x="0" y="1183520"/>
                </a:cubicBezTo>
                <a:lnTo>
                  <a:pt x="0" y="23206"/>
                </a:lnTo>
                <a:cubicBezTo>
                  <a:pt x="0" y="10398"/>
                  <a:pt x="10398" y="0"/>
                  <a:pt x="23206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5774013" y="2413453"/>
            <a:ext cx="185650" cy="185650"/>
          </a:xfrm>
          <a:custGeom>
            <a:avLst/>
            <a:gdLst/>
            <a:ahLst/>
            <a:cxnLst/>
            <a:rect l="l" t="t" r="r" b="b"/>
            <a:pathLst>
              <a:path w="185650" h="185650">
                <a:moveTo>
                  <a:pt x="92825" y="185650"/>
                </a:moveTo>
                <a:cubicBezTo>
                  <a:pt x="144057" y="185650"/>
                  <a:pt x="185650" y="144057"/>
                  <a:pt x="185650" y="92825"/>
                </a:cubicBezTo>
                <a:cubicBezTo>
                  <a:pt x="185650" y="41594"/>
                  <a:pt x="144057" y="0"/>
                  <a:pt x="92825" y="0"/>
                </a:cubicBezTo>
                <a:cubicBezTo>
                  <a:pt x="41594" y="0"/>
                  <a:pt x="0" y="41594"/>
                  <a:pt x="0" y="92825"/>
                </a:cubicBezTo>
                <a:cubicBezTo>
                  <a:pt x="0" y="144057"/>
                  <a:pt x="41594" y="185650"/>
                  <a:pt x="92825" y="185650"/>
                </a:cubicBezTo>
                <a:close/>
                <a:moveTo>
                  <a:pt x="123428" y="77125"/>
                </a:moveTo>
                <a:lnTo>
                  <a:pt x="94421" y="123537"/>
                </a:lnTo>
                <a:cubicBezTo>
                  <a:pt x="92898" y="125967"/>
                  <a:pt x="90287" y="127490"/>
                  <a:pt x="87422" y="127635"/>
                </a:cubicBezTo>
                <a:cubicBezTo>
                  <a:pt x="84558" y="127780"/>
                  <a:pt x="81802" y="126474"/>
                  <a:pt x="80098" y="124154"/>
                </a:cubicBezTo>
                <a:lnTo>
                  <a:pt x="62693" y="100947"/>
                </a:lnTo>
                <a:cubicBezTo>
                  <a:pt x="59792" y="97104"/>
                  <a:pt x="60590" y="91665"/>
                  <a:pt x="64434" y="88764"/>
                </a:cubicBezTo>
                <a:cubicBezTo>
                  <a:pt x="68277" y="85863"/>
                  <a:pt x="73716" y="86661"/>
                  <a:pt x="76617" y="90504"/>
                </a:cubicBezTo>
                <a:lnTo>
                  <a:pt x="86407" y="103558"/>
                </a:lnTo>
                <a:lnTo>
                  <a:pt x="108671" y="67915"/>
                </a:lnTo>
                <a:cubicBezTo>
                  <a:pt x="111209" y="63854"/>
                  <a:pt x="116575" y="62584"/>
                  <a:pt x="120673" y="65159"/>
                </a:cubicBezTo>
                <a:cubicBezTo>
                  <a:pt x="124770" y="67733"/>
                  <a:pt x="126003" y="73064"/>
                  <a:pt x="123428" y="77161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075695" y="2367041"/>
            <a:ext cx="1206727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全局优化决策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50807" y="2738341"/>
            <a:ext cx="4502019" cy="556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Master 拥有全局视图，能够做出最优的数据放置和负载均衡决策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4204" y="3573767"/>
            <a:ext cx="4699272" cy="1206727"/>
          </a:xfrm>
          <a:custGeom>
            <a:avLst/>
            <a:gdLst/>
            <a:ahLst/>
            <a:cxnLst/>
            <a:rect l="l" t="t" r="r" b="b"/>
            <a:pathLst>
              <a:path w="4699272" h="1206727">
                <a:moveTo>
                  <a:pt x="23206" y="0"/>
                </a:moveTo>
                <a:lnTo>
                  <a:pt x="4652861" y="0"/>
                </a:lnTo>
                <a:cubicBezTo>
                  <a:pt x="4678493" y="0"/>
                  <a:pt x="4699272" y="20779"/>
                  <a:pt x="4699272" y="46411"/>
                </a:cubicBezTo>
                <a:lnTo>
                  <a:pt x="4699272" y="1160316"/>
                </a:lnTo>
                <a:cubicBezTo>
                  <a:pt x="4699272" y="1185948"/>
                  <a:pt x="4678493" y="1206727"/>
                  <a:pt x="4652861" y="1206727"/>
                </a:cubicBezTo>
                <a:lnTo>
                  <a:pt x="23206" y="1206727"/>
                </a:lnTo>
                <a:cubicBezTo>
                  <a:pt x="10390" y="1206727"/>
                  <a:pt x="0" y="1196337"/>
                  <a:pt x="0" y="1183520"/>
                </a:cubicBezTo>
                <a:lnTo>
                  <a:pt x="0" y="23206"/>
                </a:lnTo>
                <a:cubicBezTo>
                  <a:pt x="0" y="10398"/>
                  <a:pt x="10398" y="0"/>
                  <a:pt x="23206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754204" y="3573767"/>
            <a:ext cx="23206" cy="1206727"/>
          </a:xfrm>
          <a:custGeom>
            <a:avLst/>
            <a:gdLst/>
            <a:ahLst/>
            <a:cxnLst/>
            <a:rect l="l" t="t" r="r" b="b"/>
            <a:pathLst>
              <a:path w="23206" h="1206727">
                <a:moveTo>
                  <a:pt x="23206" y="0"/>
                </a:moveTo>
                <a:lnTo>
                  <a:pt x="23206" y="0"/>
                </a:lnTo>
                <a:lnTo>
                  <a:pt x="23206" y="1206727"/>
                </a:lnTo>
                <a:lnTo>
                  <a:pt x="23206" y="1206727"/>
                </a:lnTo>
                <a:cubicBezTo>
                  <a:pt x="10390" y="1206727"/>
                  <a:pt x="0" y="1196337"/>
                  <a:pt x="0" y="1183520"/>
                </a:cubicBezTo>
                <a:lnTo>
                  <a:pt x="0" y="23206"/>
                </a:lnTo>
                <a:cubicBezTo>
                  <a:pt x="0" y="10398"/>
                  <a:pt x="10398" y="0"/>
                  <a:pt x="23206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928251" y="3759418"/>
            <a:ext cx="185650" cy="185650"/>
          </a:xfrm>
          <a:custGeom>
            <a:avLst/>
            <a:gdLst/>
            <a:ahLst/>
            <a:cxnLst/>
            <a:rect l="l" t="t" r="r" b="b"/>
            <a:pathLst>
              <a:path w="185650" h="185650">
                <a:moveTo>
                  <a:pt x="92825" y="185650"/>
                </a:moveTo>
                <a:cubicBezTo>
                  <a:pt x="144057" y="185650"/>
                  <a:pt x="185650" y="144057"/>
                  <a:pt x="185650" y="92825"/>
                </a:cubicBezTo>
                <a:cubicBezTo>
                  <a:pt x="185650" y="41594"/>
                  <a:pt x="144057" y="0"/>
                  <a:pt x="92825" y="0"/>
                </a:cubicBezTo>
                <a:cubicBezTo>
                  <a:pt x="41594" y="0"/>
                  <a:pt x="0" y="41594"/>
                  <a:pt x="0" y="92825"/>
                </a:cubicBezTo>
                <a:cubicBezTo>
                  <a:pt x="0" y="144057"/>
                  <a:pt x="41594" y="185650"/>
                  <a:pt x="92825" y="185650"/>
                </a:cubicBezTo>
                <a:close/>
                <a:moveTo>
                  <a:pt x="123428" y="77125"/>
                </a:moveTo>
                <a:lnTo>
                  <a:pt x="94421" y="123537"/>
                </a:lnTo>
                <a:cubicBezTo>
                  <a:pt x="92898" y="125967"/>
                  <a:pt x="90287" y="127490"/>
                  <a:pt x="87422" y="127635"/>
                </a:cubicBezTo>
                <a:cubicBezTo>
                  <a:pt x="84558" y="127780"/>
                  <a:pt x="81802" y="126474"/>
                  <a:pt x="80098" y="124154"/>
                </a:cubicBezTo>
                <a:lnTo>
                  <a:pt x="62693" y="100947"/>
                </a:lnTo>
                <a:cubicBezTo>
                  <a:pt x="59792" y="97104"/>
                  <a:pt x="60590" y="91665"/>
                  <a:pt x="64434" y="88764"/>
                </a:cubicBezTo>
                <a:cubicBezTo>
                  <a:pt x="68277" y="85863"/>
                  <a:pt x="73716" y="86661"/>
                  <a:pt x="76617" y="90504"/>
                </a:cubicBezTo>
                <a:lnTo>
                  <a:pt x="86407" y="103558"/>
                </a:lnTo>
                <a:lnTo>
                  <a:pt x="108671" y="67915"/>
                </a:lnTo>
                <a:cubicBezTo>
                  <a:pt x="111209" y="63854"/>
                  <a:pt x="116575" y="62584"/>
                  <a:pt x="120673" y="65159"/>
                </a:cubicBezTo>
                <a:cubicBezTo>
                  <a:pt x="124770" y="67733"/>
                  <a:pt x="126003" y="73064"/>
                  <a:pt x="123428" y="77161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229933" y="3713005"/>
            <a:ext cx="1392377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降低设计复杂度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5045" y="4084305"/>
            <a:ext cx="4502019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相比分布式元数据管理，主从架构更容易实现和维护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599966" y="3573767"/>
            <a:ext cx="4699272" cy="1206727"/>
          </a:xfrm>
          <a:custGeom>
            <a:avLst/>
            <a:gdLst/>
            <a:ahLst/>
            <a:cxnLst/>
            <a:rect l="l" t="t" r="r" b="b"/>
            <a:pathLst>
              <a:path w="4699272" h="1206727">
                <a:moveTo>
                  <a:pt x="23206" y="0"/>
                </a:moveTo>
                <a:lnTo>
                  <a:pt x="4652861" y="0"/>
                </a:lnTo>
                <a:cubicBezTo>
                  <a:pt x="4678493" y="0"/>
                  <a:pt x="4699272" y="20779"/>
                  <a:pt x="4699272" y="46411"/>
                </a:cubicBezTo>
                <a:lnTo>
                  <a:pt x="4699272" y="1160316"/>
                </a:lnTo>
                <a:cubicBezTo>
                  <a:pt x="4699272" y="1185948"/>
                  <a:pt x="4678493" y="1206727"/>
                  <a:pt x="4652861" y="1206727"/>
                </a:cubicBezTo>
                <a:lnTo>
                  <a:pt x="23206" y="1206727"/>
                </a:lnTo>
                <a:cubicBezTo>
                  <a:pt x="10390" y="1206727"/>
                  <a:pt x="0" y="1196337"/>
                  <a:pt x="0" y="1183520"/>
                </a:cubicBezTo>
                <a:lnTo>
                  <a:pt x="0" y="23206"/>
                </a:lnTo>
                <a:cubicBezTo>
                  <a:pt x="0" y="10398"/>
                  <a:pt x="10398" y="0"/>
                  <a:pt x="23206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5599966" y="3573767"/>
            <a:ext cx="23206" cy="1206727"/>
          </a:xfrm>
          <a:custGeom>
            <a:avLst/>
            <a:gdLst/>
            <a:ahLst/>
            <a:cxnLst/>
            <a:rect l="l" t="t" r="r" b="b"/>
            <a:pathLst>
              <a:path w="23206" h="1206727">
                <a:moveTo>
                  <a:pt x="23206" y="0"/>
                </a:moveTo>
                <a:lnTo>
                  <a:pt x="23206" y="0"/>
                </a:lnTo>
                <a:lnTo>
                  <a:pt x="23206" y="1206727"/>
                </a:lnTo>
                <a:lnTo>
                  <a:pt x="23206" y="1206727"/>
                </a:lnTo>
                <a:cubicBezTo>
                  <a:pt x="10390" y="1206727"/>
                  <a:pt x="0" y="1196337"/>
                  <a:pt x="0" y="1183520"/>
                </a:cubicBezTo>
                <a:lnTo>
                  <a:pt x="0" y="23206"/>
                </a:lnTo>
                <a:cubicBezTo>
                  <a:pt x="0" y="10398"/>
                  <a:pt x="10398" y="0"/>
                  <a:pt x="23206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5774013" y="3759418"/>
            <a:ext cx="185650" cy="185650"/>
          </a:xfrm>
          <a:custGeom>
            <a:avLst/>
            <a:gdLst/>
            <a:ahLst/>
            <a:cxnLst/>
            <a:rect l="l" t="t" r="r" b="b"/>
            <a:pathLst>
              <a:path w="185650" h="185650">
                <a:moveTo>
                  <a:pt x="92825" y="185650"/>
                </a:moveTo>
                <a:cubicBezTo>
                  <a:pt x="144057" y="185650"/>
                  <a:pt x="185650" y="144057"/>
                  <a:pt x="185650" y="92825"/>
                </a:cubicBezTo>
                <a:cubicBezTo>
                  <a:pt x="185650" y="41594"/>
                  <a:pt x="144057" y="0"/>
                  <a:pt x="92825" y="0"/>
                </a:cubicBezTo>
                <a:cubicBezTo>
                  <a:pt x="41594" y="0"/>
                  <a:pt x="0" y="41594"/>
                  <a:pt x="0" y="92825"/>
                </a:cubicBezTo>
                <a:cubicBezTo>
                  <a:pt x="0" y="144057"/>
                  <a:pt x="41594" y="185650"/>
                  <a:pt x="92825" y="185650"/>
                </a:cubicBezTo>
                <a:close/>
                <a:moveTo>
                  <a:pt x="123428" y="77125"/>
                </a:moveTo>
                <a:lnTo>
                  <a:pt x="94421" y="123537"/>
                </a:lnTo>
                <a:cubicBezTo>
                  <a:pt x="92898" y="125967"/>
                  <a:pt x="90287" y="127490"/>
                  <a:pt x="87422" y="127635"/>
                </a:cubicBezTo>
                <a:cubicBezTo>
                  <a:pt x="84558" y="127780"/>
                  <a:pt x="81802" y="126474"/>
                  <a:pt x="80098" y="124154"/>
                </a:cubicBezTo>
                <a:lnTo>
                  <a:pt x="62693" y="100947"/>
                </a:lnTo>
                <a:cubicBezTo>
                  <a:pt x="59792" y="97104"/>
                  <a:pt x="60590" y="91665"/>
                  <a:pt x="64434" y="88764"/>
                </a:cubicBezTo>
                <a:cubicBezTo>
                  <a:pt x="68277" y="85863"/>
                  <a:pt x="73716" y="86661"/>
                  <a:pt x="76617" y="90504"/>
                </a:cubicBezTo>
                <a:lnTo>
                  <a:pt x="86407" y="103558"/>
                </a:lnTo>
                <a:lnTo>
                  <a:pt x="108671" y="67915"/>
                </a:lnTo>
                <a:cubicBezTo>
                  <a:pt x="111209" y="63854"/>
                  <a:pt x="116575" y="62584"/>
                  <a:pt x="120673" y="65159"/>
                </a:cubicBezTo>
                <a:cubicBezTo>
                  <a:pt x="124770" y="67733"/>
                  <a:pt x="126003" y="73064"/>
                  <a:pt x="123428" y="77161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075695" y="3713005"/>
            <a:ext cx="1206727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符合应用特点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50807" y="4084305"/>
            <a:ext cx="4502019" cy="556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大多数操作是大文件的顺序读写，元数据访问相对较少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69927" y="5204009"/>
            <a:ext cx="10048320" cy="2842769"/>
          </a:xfrm>
          <a:custGeom>
            <a:avLst/>
            <a:gdLst/>
            <a:ahLst/>
            <a:cxnLst/>
            <a:rect l="l" t="t" r="r" b="b"/>
            <a:pathLst>
              <a:path w="10048320" h="2842769">
                <a:moveTo>
                  <a:pt x="92816" y="0"/>
                </a:moveTo>
                <a:lnTo>
                  <a:pt x="9955503" y="0"/>
                </a:lnTo>
                <a:cubicBezTo>
                  <a:pt x="10006764" y="0"/>
                  <a:pt x="10048320" y="41555"/>
                  <a:pt x="10048320" y="92816"/>
                </a:cubicBezTo>
                <a:lnTo>
                  <a:pt x="10048320" y="2749953"/>
                </a:lnTo>
                <a:cubicBezTo>
                  <a:pt x="10048320" y="2801214"/>
                  <a:pt x="10006764" y="2842769"/>
                  <a:pt x="9955503" y="2842769"/>
                </a:cubicBezTo>
                <a:lnTo>
                  <a:pt x="92816" y="2842769"/>
                </a:lnTo>
                <a:cubicBezTo>
                  <a:pt x="41555" y="2842769"/>
                  <a:pt x="0" y="2801214"/>
                  <a:pt x="0" y="2749953"/>
                </a:cubicBezTo>
                <a:lnTo>
                  <a:pt x="0" y="92816"/>
                </a:lnTo>
                <a:cubicBezTo>
                  <a:pt x="0" y="41590"/>
                  <a:pt x="41590" y="0"/>
                  <a:pt x="92816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710692" y="5499889"/>
            <a:ext cx="261071" cy="208857"/>
          </a:xfrm>
          <a:custGeom>
            <a:avLst/>
            <a:gdLst/>
            <a:ahLst/>
            <a:cxnLst/>
            <a:rect l="l" t="t" r="r" b="b"/>
            <a:pathLst>
              <a:path w="261071" h="208857">
                <a:moveTo>
                  <a:pt x="156642" y="13054"/>
                </a:moveTo>
                <a:lnTo>
                  <a:pt x="208857" y="13054"/>
                </a:lnTo>
                <a:cubicBezTo>
                  <a:pt x="216077" y="13054"/>
                  <a:pt x="221910" y="18887"/>
                  <a:pt x="221910" y="26107"/>
                </a:cubicBezTo>
                <a:cubicBezTo>
                  <a:pt x="221910" y="33327"/>
                  <a:pt x="216077" y="39161"/>
                  <a:pt x="208857" y="39161"/>
                </a:cubicBezTo>
                <a:lnTo>
                  <a:pt x="162516" y="39161"/>
                </a:lnTo>
                <a:cubicBezTo>
                  <a:pt x="160395" y="49685"/>
                  <a:pt x="153175" y="58374"/>
                  <a:pt x="143589" y="62535"/>
                </a:cubicBezTo>
                <a:lnTo>
                  <a:pt x="143589" y="182749"/>
                </a:lnTo>
                <a:lnTo>
                  <a:pt x="208857" y="182749"/>
                </a:lnTo>
                <a:cubicBezTo>
                  <a:pt x="216077" y="182749"/>
                  <a:pt x="221910" y="188583"/>
                  <a:pt x="221910" y="195803"/>
                </a:cubicBezTo>
                <a:cubicBezTo>
                  <a:pt x="221910" y="203023"/>
                  <a:pt x="216077" y="208857"/>
                  <a:pt x="208857" y="208857"/>
                </a:cubicBezTo>
                <a:lnTo>
                  <a:pt x="52214" y="208857"/>
                </a:lnTo>
                <a:cubicBezTo>
                  <a:pt x="44994" y="208857"/>
                  <a:pt x="39161" y="203023"/>
                  <a:pt x="39161" y="195803"/>
                </a:cubicBezTo>
                <a:cubicBezTo>
                  <a:pt x="39161" y="188583"/>
                  <a:pt x="44994" y="182749"/>
                  <a:pt x="52214" y="182749"/>
                </a:cubicBezTo>
                <a:lnTo>
                  <a:pt x="117482" y="182749"/>
                </a:lnTo>
                <a:lnTo>
                  <a:pt x="117482" y="62535"/>
                </a:lnTo>
                <a:cubicBezTo>
                  <a:pt x="107896" y="58333"/>
                  <a:pt x="100675" y="49644"/>
                  <a:pt x="98554" y="39161"/>
                </a:cubicBezTo>
                <a:lnTo>
                  <a:pt x="52214" y="39161"/>
                </a:lnTo>
                <a:cubicBezTo>
                  <a:pt x="44994" y="39161"/>
                  <a:pt x="39161" y="33327"/>
                  <a:pt x="39161" y="26107"/>
                </a:cubicBezTo>
                <a:cubicBezTo>
                  <a:pt x="39161" y="18887"/>
                  <a:pt x="44994" y="13054"/>
                  <a:pt x="52214" y="13054"/>
                </a:cubicBezTo>
                <a:lnTo>
                  <a:pt x="104428" y="13054"/>
                </a:lnTo>
                <a:cubicBezTo>
                  <a:pt x="110384" y="5140"/>
                  <a:pt x="119848" y="0"/>
                  <a:pt x="130535" y="0"/>
                </a:cubicBezTo>
                <a:cubicBezTo>
                  <a:pt x="141223" y="0"/>
                  <a:pt x="150687" y="5140"/>
                  <a:pt x="156642" y="13054"/>
                </a:cubicBezTo>
                <a:close/>
                <a:moveTo>
                  <a:pt x="179323" y="130535"/>
                </a:moveTo>
                <a:lnTo>
                  <a:pt x="238390" y="130535"/>
                </a:lnTo>
                <a:lnTo>
                  <a:pt x="208857" y="79871"/>
                </a:lnTo>
                <a:lnTo>
                  <a:pt x="179323" y="130535"/>
                </a:lnTo>
                <a:close/>
                <a:moveTo>
                  <a:pt x="208857" y="169696"/>
                </a:moveTo>
                <a:cubicBezTo>
                  <a:pt x="183198" y="169696"/>
                  <a:pt x="161864" y="155827"/>
                  <a:pt x="157458" y="137511"/>
                </a:cubicBezTo>
                <a:cubicBezTo>
                  <a:pt x="156398" y="133024"/>
                  <a:pt x="157866" y="128414"/>
                  <a:pt x="160191" y="124416"/>
                </a:cubicBezTo>
                <a:lnTo>
                  <a:pt x="199026" y="57843"/>
                </a:lnTo>
                <a:cubicBezTo>
                  <a:pt x="201065" y="54335"/>
                  <a:pt x="204818" y="52214"/>
                  <a:pt x="208857" y="52214"/>
                </a:cubicBezTo>
                <a:cubicBezTo>
                  <a:pt x="212895" y="52214"/>
                  <a:pt x="216648" y="54376"/>
                  <a:pt x="218687" y="57843"/>
                </a:cubicBezTo>
                <a:lnTo>
                  <a:pt x="257522" y="124416"/>
                </a:lnTo>
                <a:cubicBezTo>
                  <a:pt x="259847" y="128414"/>
                  <a:pt x="261315" y="133024"/>
                  <a:pt x="260255" y="137511"/>
                </a:cubicBezTo>
                <a:cubicBezTo>
                  <a:pt x="255849" y="155786"/>
                  <a:pt x="234515" y="169696"/>
                  <a:pt x="208857" y="169696"/>
                </a:cubicBezTo>
                <a:close/>
                <a:moveTo>
                  <a:pt x="51725" y="79871"/>
                </a:moveTo>
                <a:lnTo>
                  <a:pt x="22191" y="130535"/>
                </a:lnTo>
                <a:lnTo>
                  <a:pt x="81299" y="130535"/>
                </a:lnTo>
                <a:lnTo>
                  <a:pt x="51725" y="79871"/>
                </a:lnTo>
                <a:close/>
                <a:moveTo>
                  <a:pt x="367" y="137511"/>
                </a:moveTo>
                <a:cubicBezTo>
                  <a:pt x="-693" y="133024"/>
                  <a:pt x="775" y="128414"/>
                  <a:pt x="3100" y="124416"/>
                </a:cubicBezTo>
                <a:lnTo>
                  <a:pt x="41934" y="57843"/>
                </a:lnTo>
                <a:cubicBezTo>
                  <a:pt x="43974" y="54335"/>
                  <a:pt x="47727" y="52214"/>
                  <a:pt x="51765" y="52214"/>
                </a:cubicBezTo>
                <a:cubicBezTo>
                  <a:pt x="55804" y="52214"/>
                  <a:pt x="59557" y="54376"/>
                  <a:pt x="61596" y="57843"/>
                </a:cubicBezTo>
                <a:lnTo>
                  <a:pt x="100431" y="124416"/>
                </a:lnTo>
                <a:cubicBezTo>
                  <a:pt x="102756" y="128414"/>
                  <a:pt x="104224" y="133024"/>
                  <a:pt x="103164" y="137511"/>
                </a:cubicBezTo>
                <a:cubicBezTo>
                  <a:pt x="98758" y="155786"/>
                  <a:pt x="77424" y="169696"/>
                  <a:pt x="51765" y="169696"/>
                </a:cubicBezTo>
                <a:cubicBezTo>
                  <a:pt x="26107" y="169696"/>
                  <a:pt x="4773" y="155827"/>
                  <a:pt x="367" y="137511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974664" y="5441873"/>
            <a:ext cx="9410147" cy="32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4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架构权衡分析</a:t>
            </a:r>
            <a:endParaRPr lang="en-US" sz="16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7792" y="5905999"/>
          <a:ext cx="9572591" cy="1902916"/>
        </p:xfrm>
        <a:graphic>
          <a:graphicData uri="http://schemas.openxmlformats.org/drawingml/2006/table">
            <a:tbl>
              <a:tblPr/>
              <a:tblGrid>
                <a:gridCol w="1900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4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7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729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优势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劣势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解决方案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729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设计简单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Master 可能成为瓶颈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最小化 Master 参与数据传输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729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全局优化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单点故障风险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操作日志 + 影子 Master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729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一致性保证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扩展性限制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元数据缓存 + 批量操作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Shape 30"/>
          <p:cNvSpPr/>
          <p:nvPr/>
        </p:nvSpPr>
        <p:spPr>
          <a:xfrm>
            <a:off x="10764904" y="619460"/>
            <a:ext cx="5024160" cy="3724608"/>
          </a:xfrm>
          <a:custGeom>
            <a:avLst/>
            <a:gdLst/>
            <a:ahLst/>
            <a:cxnLst/>
            <a:rect l="l" t="t" r="r" b="b"/>
            <a:pathLst>
              <a:path w="5024160" h="3724608">
                <a:moveTo>
                  <a:pt x="92817" y="0"/>
                </a:moveTo>
                <a:lnTo>
                  <a:pt x="4931343" y="0"/>
                </a:lnTo>
                <a:cubicBezTo>
                  <a:pt x="4982570" y="0"/>
                  <a:pt x="5024160" y="41590"/>
                  <a:pt x="5024160" y="92817"/>
                </a:cubicBezTo>
                <a:lnTo>
                  <a:pt x="5024160" y="3631791"/>
                </a:lnTo>
                <a:cubicBezTo>
                  <a:pt x="5024160" y="3683052"/>
                  <a:pt x="4982604" y="3724608"/>
                  <a:pt x="4931343" y="3724608"/>
                </a:cubicBezTo>
                <a:lnTo>
                  <a:pt x="92817" y="3724608"/>
                </a:lnTo>
                <a:cubicBezTo>
                  <a:pt x="41590" y="3724608"/>
                  <a:pt x="0" y="3683018"/>
                  <a:pt x="0" y="3631791"/>
                </a:cubicBezTo>
                <a:lnTo>
                  <a:pt x="0" y="92817"/>
                </a:lnTo>
                <a:cubicBezTo>
                  <a:pt x="0" y="41590"/>
                  <a:pt x="41590" y="0"/>
                  <a:pt x="92817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1"/>
          <p:cNvSpPr/>
          <p:nvPr/>
        </p:nvSpPr>
        <p:spPr>
          <a:xfrm>
            <a:off x="11057884" y="915340"/>
            <a:ext cx="156642" cy="208857"/>
          </a:xfrm>
          <a:custGeom>
            <a:avLst/>
            <a:gdLst/>
            <a:ahLst/>
            <a:cxnLst/>
            <a:rect l="l" t="t" r="r" b="b"/>
            <a:pathLst>
              <a:path w="156642" h="208857">
                <a:moveTo>
                  <a:pt x="119481" y="156642"/>
                </a:moveTo>
                <a:cubicBezTo>
                  <a:pt x="122458" y="147546"/>
                  <a:pt x="128414" y="139306"/>
                  <a:pt x="135145" y="132208"/>
                </a:cubicBezTo>
                <a:cubicBezTo>
                  <a:pt x="148484" y="118175"/>
                  <a:pt x="156642" y="99207"/>
                  <a:pt x="156642" y="78321"/>
                </a:cubicBezTo>
                <a:cubicBezTo>
                  <a:pt x="156642" y="35081"/>
                  <a:pt x="121561" y="0"/>
                  <a:pt x="78321" y="0"/>
                </a:cubicBezTo>
                <a:cubicBezTo>
                  <a:pt x="35081" y="0"/>
                  <a:pt x="0" y="35081"/>
                  <a:pt x="0" y="78321"/>
                </a:cubicBezTo>
                <a:cubicBezTo>
                  <a:pt x="0" y="99207"/>
                  <a:pt x="8158" y="118175"/>
                  <a:pt x="21498" y="132208"/>
                </a:cubicBezTo>
                <a:cubicBezTo>
                  <a:pt x="28228" y="139306"/>
                  <a:pt x="34225" y="147546"/>
                  <a:pt x="37162" y="156642"/>
                </a:cubicBezTo>
                <a:lnTo>
                  <a:pt x="119440" y="156642"/>
                </a:lnTo>
                <a:close/>
                <a:moveTo>
                  <a:pt x="117482" y="176223"/>
                </a:moveTo>
                <a:lnTo>
                  <a:pt x="39161" y="176223"/>
                </a:lnTo>
                <a:lnTo>
                  <a:pt x="39161" y="182749"/>
                </a:lnTo>
                <a:cubicBezTo>
                  <a:pt x="39161" y="200780"/>
                  <a:pt x="53764" y="215383"/>
                  <a:pt x="71794" y="215383"/>
                </a:cubicBezTo>
                <a:lnTo>
                  <a:pt x="84848" y="215383"/>
                </a:lnTo>
                <a:cubicBezTo>
                  <a:pt x="102878" y="215383"/>
                  <a:pt x="117482" y="200780"/>
                  <a:pt x="117482" y="182749"/>
                </a:cubicBezTo>
                <a:lnTo>
                  <a:pt x="117482" y="176223"/>
                </a:lnTo>
                <a:close/>
                <a:moveTo>
                  <a:pt x="75058" y="45687"/>
                </a:moveTo>
                <a:cubicBezTo>
                  <a:pt x="58822" y="45687"/>
                  <a:pt x="45687" y="58822"/>
                  <a:pt x="45687" y="75058"/>
                </a:cubicBezTo>
                <a:cubicBezTo>
                  <a:pt x="45687" y="80483"/>
                  <a:pt x="41323" y="84848"/>
                  <a:pt x="35897" y="84848"/>
                </a:cubicBezTo>
                <a:cubicBezTo>
                  <a:pt x="30472" y="84848"/>
                  <a:pt x="26107" y="80483"/>
                  <a:pt x="26107" y="75058"/>
                </a:cubicBezTo>
                <a:cubicBezTo>
                  <a:pt x="26107" y="48013"/>
                  <a:pt x="48013" y="26107"/>
                  <a:pt x="75058" y="26107"/>
                </a:cubicBezTo>
                <a:cubicBezTo>
                  <a:pt x="80483" y="26107"/>
                  <a:pt x="84848" y="30472"/>
                  <a:pt x="84848" y="35897"/>
                </a:cubicBezTo>
                <a:cubicBezTo>
                  <a:pt x="84848" y="41323"/>
                  <a:pt x="80483" y="45687"/>
                  <a:pt x="75058" y="45687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2"/>
          <p:cNvSpPr/>
          <p:nvPr/>
        </p:nvSpPr>
        <p:spPr>
          <a:xfrm>
            <a:off x="11269641" y="857324"/>
            <a:ext cx="4385987" cy="32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4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核心设计哲学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11025975" y="1321450"/>
            <a:ext cx="4525225" cy="835426"/>
          </a:xfrm>
          <a:custGeom>
            <a:avLst/>
            <a:gdLst/>
            <a:ahLst/>
            <a:cxnLst/>
            <a:rect l="l" t="t" r="r" b="b"/>
            <a:pathLst>
              <a:path w="4525225" h="835426">
                <a:moveTo>
                  <a:pt x="46413" y="0"/>
                </a:moveTo>
                <a:lnTo>
                  <a:pt x="4478809" y="0"/>
                </a:lnTo>
                <a:cubicBezTo>
                  <a:pt x="4504444" y="0"/>
                  <a:pt x="4525225" y="20781"/>
                  <a:pt x="4525225" y="46416"/>
                </a:cubicBezTo>
                <a:lnTo>
                  <a:pt x="4525225" y="789010"/>
                </a:lnTo>
                <a:cubicBezTo>
                  <a:pt x="4525225" y="814645"/>
                  <a:pt x="4504444" y="835426"/>
                  <a:pt x="4478809" y="835426"/>
                </a:cubicBezTo>
                <a:lnTo>
                  <a:pt x="46413" y="835426"/>
                </a:lnTo>
                <a:cubicBezTo>
                  <a:pt x="20780" y="835426"/>
                  <a:pt x="0" y="814647"/>
                  <a:pt x="0" y="789014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4"/>
          <p:cNvSpPr/>
          <p:nvPr/>
        </p:nvSpPr>
        <p:spPr>
          <a:xfrm>
            <a:off x="11025975" y="1321450"/>
            <a:ext cx="46413" cy="835426"/>
          </a:xfrm>
          <a:custGeom>
            <a:avLst/>
            <a:gdLst/>
            <a:ahLst/>
            <a:cxnLst/>
            <a:rect l="l" t="t" r="r" b="b"/>
            <a:pathLst>
              <a:path w="46413" h="835426">
                <a:moveTo>
                  <a:pt x="46413" y="0"/>
                </a:moveTo>
                <a:lnTo>
                  <a:pt x="46413" y="0"/>
                </a:lnTo>
                <a:lnTo>
                  <a:pt x="46413" y="835426"/>
                </a:lnTo>
                <a:lnTo>
                  <a:pt x="46413" y="835426"/>
                </a:lnTo>
                <a:cubicBezTo>
                  <a:pt x="20780" y="835426"/>
                  <a:pt x="0" y="814647"/>
                  <a:pt x="0" y="789014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5"/>
          <p:cNvSpPr/>
          <p:nvPr/>
        </p:nvSpPr>
        <p:spPr>
          <a:xfrm>
            <a:off x="11188419" y="1460687"/>
            <a:ext cx="4316368" cy="556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简单性优先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6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简单的设计比复杂的完美设计更有价值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11025975" y="2296113"/>
            <a:ext cx="4525225" cy="835426"/>
          </a:xfrm>
          <a:custGeom>
            <a:avLst/>
            <a:gdLst/>
            <a:ahLst/>
            <a:cxnLst/>
            <a:rect l="l" t="t" r="r" b="b"/>
            <a:pathLst>
              <a:path w="4525225" h="835426">
                <a:moveTo>
                  <a:pt x="46413" y="0"/>
                </a:moveTo>
                <a:lnTo>
                  <a:pt x="4478809" y="0"/>
                </a:lnTo>
                <a:cubicBezTo>
                  <a:pt x="4504444" y="0"/>
                  <a:pt x="4525225" y="20781"/>
                  <a:pt x="4525225" y="46416"/>
                </a:cubicBezTo>
                <a:lnTo>
                  <a:pt x="4525225" y="789010"/>
                </a:lnTo>
                <a:cubicBezTo>
                  <a:pt x="4525225" y="814645"/>
                  <a:pt x="4504444" y="835426"/>
                  <a:pt x="4478809" y="835426"/>
                </a:cubicBezTo>
                <a:lnTo>
                  <a:pt x="46413" y="835426"/>
                </a:lnTo>
                <a:cubicBezTo>
                  <a:pt x="20780" y="835426"/>
                  <a:pt x="0" y="814647"/>
                  <a:pt x="0" y="789014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7"/>
          <p:cNvSpPr/>
          <p:nvPr/>
        </p:nvSpPr>
        <p:spPr>
          <a:xfrm>
            <a:off x="11025975" y="2296113"/>
            <a:ext cx="46413" cy="835426"/>
          </a:xfrm>
          <a:custGeom>
            <a:avLst/>
            <a:gdLst/>
            <a:ahLst/>
            <a:cxnLst/>
            <a:rect l="l" t="t" r="r" b="b"/>
            <a:pathLst>
              <a:path w="46413" h="835426">
                <a:moveTo>
                  <a:pt x="46413" y="0"/>
                </a:moveTo>
                <a:lnTo>
                  <a:pt x="46413" y="0"/>
                </a:lnTo>
                <a:lnTo>
                  <a:pt x="46413" y="835426"/>
                </a:lnTo>
                <a:lnTo>
                  <a:pt x="46413" y="835426"/>
                </a:lnTo>
                <a:cubicBezTo>
                  <a:pt x="20780" y="835426"/>
                  <a:pt x="0" y="814647"/>
                  <a:pt x="0" y="789014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8"/>
          <p:cNvSpPr/>
          <p:nvPr/>
        </p:nvSpPr>
        <p:spPr>
          <a:xfrm>
            <a:off x="11188419" y="2435351"/>
            <a:ext cx="4316368" cy="556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应用导向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6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针对特定工作负载进行深度优化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11025975" y="3270777"/>
            <a:ext cx="4525225" cy="835426"/>
          </a:xfrm>
          <a:custGeom>
            <a:avLst/>
            <a:gdLst/>
            <a:ahLst/>
            <a:cxnLst/>
            <a:rect l="l" t="t" r="r" b="b"/>
            <a:pathLst>
              <a:path w="4525225" h="835426">
                <a:moveTo>
                  <a:pt x="46413" y="0"/>
                </a:moveTo>
                <a:lnTo>
                  <a:pt x="4478809" y="0"/>
                </a:lnTo>
                <a:cubicBezTo>
                  <a:pt x="4504444" y="0"/>
                  <a:pt x="4525225" y="20781"/>
                  <a:pt x="4525225" y="46416"/>
                </a:cubicBezTo>
                <a:lnTo>
                  <a:pt x="4525225" y="789010"/>
                </a:lnTo>
                <a:cubicBezTo>
                  <a:pt x="4525225" y="814645"/>
                  <a:pt x="4504444" y="835426"/>
                  <a:pt x="4478809" y="835426"/>
                </a:cubicBezTo>
                <a:lnTo>
                  <a:pt x="46413" y="835426"/>
                </a:lnTo>
                <a:cubicBezTo>
                  <a:pt x="20780" y="835426"/>
                  <a:pt x="0" y="814647"/>
                  <a:pt x="0" y="789014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0"/>
          <p:cNvSpPr/>
          <p:nvPr/>
        </p:nvSpPr>
        <p:spPr>
          <a:xfrm>
            <a:off x="11025975" y="3270777"/>
            <a:ext cx="46413" cy="835426"/>
          </a:xfrm>
          <a:custGeom>
            <a:avLst/>
            <a:gdLst/>
            <a:ahLst/>
            <a:cxnLst/>
            <a:rect l="l" t="t" r="r" b="b"/>
            <a:pathLst>
              <a:path w="46413" h="835426">
                <a:moveTo>
                  <a:pt x="46413" y="0"/>
                </a:moveTo>
                <a:lnTo>
                  <a:pt x="46413" y="0"/>
                </a:lnTo>
                <a:lnTo>
                  <a:pt x="46413" y="835426"/>
                </a:lnTo>
                <a:lnTo>
                  <a:pt x="46413" y="835426"/>
                </a:lnTo>
                <a:cubicBezTo>
                  <a:pt x="20780" y="835426"/>
                  <a:pt x="0" y="814647"/>
                  <a:pt x="0" y="789014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1"/>
          <p:cNvSpPr/>
          <p:nvPr/>
        </p:nvSpPr>
        <p:spPr>
          <a:xfrm>
            <a:off x="11188419" y="3410015"/>
            <a:ext cx="4316368" cy="556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权衡艺术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6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用宽松一致性换取高性能和高可用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10764904" y="4541321"/>
            <a:ext cx="5024160" cy="4119115"/>
          </a:xfrm>
          <a:custGeom>
            <a:avLst/>
            <a:gdLst/>
            <a:ahLst/>
            <a:cxnLst/>
            <a:rect l="l" t="t" r="r" b="b"/>
            <a:pathLst>
              <a:path w="5024160" h="4119115">
                <a:moveTo>
                  <a:pt x="92845" y="0"/>
                </a:moveTo>
                <a:lnTo>
                  <a:pt x="4931315" y="0"/>
                </a:lnTo>
                <a:cubicBezTo>
                  <a:pt x="4982592" y="0"/>
                  <a:pt x="5024160" y="41568"/>
                  <a:pt x="5024160" y="92845"/>
                </a:cubicBezTo>
                <a:lnTo>
                  <a:pt x="5024160" y="4026270"/>
                </a:lnTo>
                <a:cubicBezTo>
                  <a:pt x="5024160" y="4077547"/>
                  <a:pt x="4982592" y="4119115"/>
                  <a:pt x="4931315" y="4119115"/>
                </a:cubicBezTo>
                <a:lnTo>
                  <a:pt x="92845" y="4119115"/>
                </a:lnTo>
                <a:cubicBezTo>
                  <a:pt x="41568" y="4119115"/>
                  <a:pt x="0" y="4077547"/>
                  <a:pt x="0" y="4026270"/>
                </a:cubicBezTo>
                <a:lnTo>
                  <a:pt x="0" y="92845"/>
                </a:lnTo>
                <a:cubicBezTo>
                  <a:pt x="0" y="41568"/>
                  <a:pt x="41568" y="0"/>
                  <a:pt x="92845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3"/>
          <p:cNvSpPr/>
          <p:nvPr/>
        </p:nvSpPr>
        <p:spPr>
          <a:xfrm>
            <a:off x="11031777" y="4837201"/>
            <a:ext cx="208857" cy="208857"/>
          </a:xfrm>
          <a:custGeom>
            <a:avLst/>
            <a:gdLst/>
            <a:ahLst/>
            <a:cxnLst/>
            <a:rect l="l" t="t" r="r" b="b"/>
            <a:pathLst>
              <a:path w="208857" h="208857">
                <a:moveTo>
                  <a:pt x="13054" y="13054"/>
                </a:moveTo>
                <a:cubicBezTo>
                  <a:pt x="20274" y="13054"/>
                  <a:pt x="26107" y="18887"/>
                  <a:pt x="26107" y="26107"/>
                </a:cubicBezTo>
                <a:lnTo>
                  <a:pt x="26107" y="163169"/>
                </a:lnTo>
                <a:cubicBezTo>
                  <a:pt x="26107" y="166759"/>
                  <a:pt x="29044" y="169696"/>
                  <a:pt x="32634" y="169696"/>
                </a:cubicBezTo>
                <a:lnTo>
                  <a:pt x="195803" y="169696"/>
                </a:lnTo>
                <a:cubicBezTo>
                  <a:pt x="203023" y="169696"/>
                  <a:pt x="208857" y="175529"/>
                  <a:pt x="208857" y="182749"/>
                </a:cubicBezTo>
                <a:cubicBezTo>
                  <a:pt x="208857" y="189970"/>
                  <a:pt x="203023" y="195803"/>
                  <a:pt x="195803" y="195803"/>
                </a:cubicBezTo>
                <a:lnTo>
                  <a:pt x="32634" y="195803"/>
                </a:lnTo>
                <a:cubicBezTo>
                  <a:pt x="14604" y="195803"/>
                  <a:pt x="0" y="181199"/>
                  <a:pt x="0" y="163169"/>
                </a:cubicBezTo>
                <a:lnTo>
                  <a:pt x="0" y="26107"/>
                </a:lnTo>
                <a:cubicBezTo>
                  <a:pt x="0" y="18887"/>
                  <a:pt x="5833" y="13054"/>
                  <a:pt x="13054" y="13054"/>
                </a:cubicBezTo>
                <a:close/>
                <a:moveTo>
                  <a:pt x="52214" y="39161"/>
                </a:moveTo>
                <a:cubicBezTo>
                  <a:pt x="52214" y="31940"/>
                  <a:pt x="58047" y="26107"/>
                  <a:pt x="65268" y="26107"/>
                </a:cubicBezTo>
                <a:lnTo>
                  <a:pt x="143589" y="26107"/>
                </a:lnTo>
                <a:cubicBezTo>
                  <a:pt x="150809" y="26107"/>
                  <a:pt x="156642" y="31940"/>
                  <a:pt x="156642" y="39161"/>
                </a:cubicBezTo>
                <a:cubicBezTo>
                  <a:pt x="156642" y="46381"/>
                  <a:pt x="150809" y="52214"/>
                  <a:pt x="143589" y="52214"/>
                </a:cubicBezTo>
                <a:lnTo>
                  <a:pt x="65268" y="52214"/>
                </a:lnTo>
                <a:cubicBezTo>
                  <a:pt x="58047" y="52214"/>
                  <a:pt x="52214" y="46381"/>
                  <a:pt x="52214" y="39161"/>
                </a:cubicBezTo>
                <a:close/>
                <a:moveTo>
                  <a:pt x="65268" y="71794"/>
                </a:moveTo>
                <a:lnTo>
                  <a:pt x="117482" y="71794"/>
                </a:lnTo>
                <a:cubicBezTo>
                  <a:pt x="124702" y="71794"/>
                  <a:pt x="130535" y="77628"/>
                  <a:pt x="130535" y="84848"/>
                </a:cubicBezTo>
                <a:cubicBezTo>
                  <a:pt x="130535" y="92068"/>
                  <a:pt x="124702" y="97901"/>
                  <a:pt x="117482" y="97901"/>
                </a:cubicBezTo>
                <a:lnTo>
                  <a:pt x="65268" y="97901"/>
                </a:lnTo>
                <a:cubicBezTo>
                  <a:pt x="58047" y="97901"/>
                  <a:pt x="52214" y="92068"/>
                  <a:pt x="52214" y="84848"/>
                </a:cubicBezTo>
                <a:cubicBezTo>
                  <a:pt x="52214" y="77628"/>
                  <a:pt x="58047" y="71794"/>
                  <a:pt x="65268" y="71794"/>
                </a:cubicBezTo>
                <a:close/>
                <a:moveTo>
                  <a:pt x="65268" y="117482"/>
                </a:moveTo>
                <a:lnTo>
                  <a:pt x="169696" y="117482"/>
                </a:lnTo>
                <a:cubicBezTo>
                  <a:pt x="176916" y="117482"/>
                  <a:pt x="182749" y="123315"/>
                  <a:pt x="182749" y="130535"/>
                </a:cubicBezTo>
                <a:cubicBezTo>
                  <a:pt x="182749" y="137756"/>
                  <a:pt x="176916" y="143589"/>
                  <a:pt x="169696" y="143589"/>
                </a:cubicBezTo>
                <a:lnTo>
                  <a:pt x="65268" y="143589"/>
                </a:lnTo>
                <a:cubicBezTo>
                  <a:pt x="58047" y="143589"/>
                  <a:pt x="52214" y="137756"/>
                  <a:pt x="52214" y="130535"/>
                </a:cubicBezTo>
                <a:cubicBezTo>
                  <a:pt x="52214" y="123315"/>
                  <a:pt x="58047" y="117482"/>
                  <a:pt x="65268" y="117482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4"/>
          <p:cNvSpPr/>
          <p:nvPr/>
        </p:nvSpPr>
        <p:spPr>
          <a:xfrm>
            <a:off x="11269641" y="4779185"/>
            <a:ext cx="4385987" cy="32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4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适用场景分析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11002769" y="5243311"/>
            <a:ext cx="4548431" cy="835426"/>
          </a:xfrm>
          <a:custGeom>
            <a:avLst/>
            <a:gdLst/>
            <a:ahLst/>
            <a:cxnLst/>
            <a:rect l="l" t="t" r="r" b="b"/>
            <a:pathLst>
              <a:path w="4548431" h="835426">
                <a:moveTo>
                  <a:pt x="46416" y="0"/>
                </a:moveTo>
                <a:lnTo>
                  <a:pt x="4502015" y="0"/>
                </a:lnTo>
                <a:cubicBezTo>
                  <a:pt x="4527650" y="0"/>
                  <a:pt x="4548431" y="20781"/>
                  <a:pt x="4548431" y="46416"/>
                </a:cubicBezTo>
                <a:lnTo>
                  <a:pt x="4548431" y="789010"/>
                </a:lnTo>
                <a:cubicBezTo>
                  <a:pt x="4548431" y="814645"/>
                  <a:pt x="4527650" y="835426"/>
                  <a:pt x="4502015" y="835426"/>
                </a:cubicBezTo>
                <a:lnTo>
                  <a:pt x="46416" y="835426"/>
                </a:lnTo>
                <a:cubicBezTo>
                  <a:pt x="20781" y="835426"/>
                  <a:pt x="0" y="814645"/>
                  <a:pt x="0" y="789010"/>
                </a:cubicBezTo>
                <a:lnTo>
                  <a:pt x="0" y="46416"/>
                </a:lnTo>
                <a:cubicBezTo>
                  <a:pt x="0" y="20798"/>
                  <a:pt x="20798" y="0"/>
                  <a:pt x="46416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6"/>
          <p:cNvSpPr/>
          <p:nvPr/>
        </p:nvSpPr>
        <p:spPr>
          <a:xfrm>
            <a:off x="11142006" y="5382549"/>
            <a:ext cx="835426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顺序读写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14873323" y="5405755"/>
            <a:ext cx="614966" cy="232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优化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11142006" y="5707437"/>
            <a:ext cx="4351178" cy="232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9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大文件顺序访问性能最优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11002769" y="6217975"/>
            <a:ext cx="4548431" cy="835426"/>
          </a:xfrm>
          <a:custGeom>
            <a:avLst/>
            <a:gdLst/>
            <a:ahLst/>
            <a:cxnLst/>
            <a:rect l="l" t="t" r="r" b="b"/>
            <a:pathLst>
              <a:path w="4548431" h="835426">
                <a:moveTo>
                  <a:pt x="46416" y="0"/>
                </a:moveTo>
                <a:lnTo>
                  <a:pt x="4502015" y="0"/>
                </a:lnTo>
                <a:cubicBezTo>
                  <a:pt x="4527650" y="0"/>
                  <a:pt x="4548431" y="20781"/>
                  <a:pt x="4548431" y="46416"/>
                </a:cubicBezTo>
                <a:lnTo>
                  <a:pt x="4548431" y="789010"/>
                </a:lnTo>
                <a:cubicBezTo>
                  <a:pt x="4548431" y="814645"/>
                  <a:pt x="4527650" y="835426"/>
                  <a:pt x="4502015" y="835426"/>
                </a:cubicBezTo>
                <a:lnTo>
                  <a:pt x="46416" y="835426"/>
                </a:lnTo>
                <a:cubicBezTo>
                  <a:pt x="20781" y="835426"/>
                  <a:pt x="0" y="814645"/>
                  <a:pt x="0" y="789010"/>
                </a:cubicBezTo>
                <a:lnTo>
                  <a:pt x="0" y="46416"/>
                </a:lnTo>
                <a:cubicBezTo>
                  <a:pt x="0" y="20798"/>
                  <a:pt x="20798" y="0"/>
                  <a:pt x="46416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0"/>
          <p:cNvSpPr/>
          <p:nvPr/>
        </p:nvSpPr>
        <p:spPr>
          <a:xfrm>
            <a:off x="11142006" y="6357213"/>
            <a:ext cx="1021076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元数据操作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14873323" y="6380419"/>
            <a:ext cx="614966" cy="232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9" b="1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△ 中等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11142006" y="6682101"/>
            <a:ext cx="4351178" cy="232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9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Master 可能成瓶颈，需优化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11002769" y="7192639"/>
            <a:ext cx="4548431" cy="835426"/>
          </a:xfrm>
          <a:custGeom>
            <a:avLst/>
            <a:gdLst/>
            <a:ahLst/>
            <a:cxnLst/>
            <a:rect l="l" t="t" r="r" b="b"/>
            <a:pathLst>
              <a:path w="4548431" h="835426">
                <a:moveTo>
                  <a:pt x="46416" y="0"/>
                </a:moveTo>
                <a:lnTo>
                  <a:pt x="4502015" y="0"/>
                </a:lnTo>
                <a:cubicBezTo>
                  <a:pt x="4527650" y="0"/>
                  <a:pt x="4548431" y="20781"/>
                  <a:pt x="4548431" y="46416"/>
                </a:cubicBezTo>
                <a:lnTo>
                  <a:pt x="4548431" y="789010"/>
                </a:lnTo>
                <a:cubicBezTo>
                  <a:pt x="4548431" y="814645"/>
                  <a:pt x="4527650" y="835426"/>
                  <a:pt x="4502015" y="835426"/>
                </a:cubicBezTo>
                <a:lnTo>
                  <a:pt x="46416" y="835426"/>
                </a:lnTo>
                <a:cubicBezTo>
                  <a:pt x="20781" y="835426"/>
                  <a:pt x="0" y="814645"/>
                  <a:pt x="0" y="789010"/>
                </a:cubicBezTo>
                <a:lnTo>
                  <a:pt x="0" y="46416"/>
                </a:lnTo>
                <a:cubicBezTo>
                  <a:pt x="0" y="20798"/>
                  <a:pt x="20798" y="0"/>
                  <a:pt x="46416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4"/>
          <p:cNvSpPr/>
          <p:nvPr/>
        </p:nvSpPr>
        <p:spPr>
          <a:xfrm>
            <a:off x="11142006" y="7331876"/>
            <a:ext cx="835426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随机写入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14780588" y="7355083"/>
            <a:ext cx="707792" cy="232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9" b="1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✗ 不支持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11142006" y="7656764"/>
            <a:ext cx="4351178" cy="232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9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应用场景中很少需要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35000"/>
            <a:ext cx="508000" cy="50800"/>
          </a:xfrm>
          <a:custGeom>
            <a:avLst/>
            <a:gdLst/>
            <a:ahLst/>
            <a:cxnLst/>
            <a:rect l="l" t="t" r="r" b="b"/>
            <a:pathLst>
              <a:path w="508000" h="50800">
                <a:moveTo>
                  <a:pt x="0" y="0"/>
                </a:moveTo>
                <a:lnTo>
                  <a:pt x="508000" y="0"/>
                </a:lnTo>
                <a:lnTo>
                  <a:pt x="508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168400" y="508000"/>
            <a:ext cx="2628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D4A2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GFS 三层架构组件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631950"/>
            <a:ext cx="10909300" cy="6997700"/>
          </a:xfrm>
          <a:custGeom>
            <a:avLst/>
            <a:gdLst/>
            <a:ahLst/>
            <a:cxnLst/>
            <a:rect l="l" t="t" r="r" b="b"/>
            <a:pathLst>
              <a:path w="10909300" h="6997700">
                <a:moveTo>
                  <a:pt x="101607" y="0"/>
                </a:moveTo>
                <a:lnTo>
                  <a:pt x="10807693" y="0"/>
                </a:lnTo>
                <a:cubicBezTo>
                  <a:pt x="10863809" y="0"/>
                  <a:pt x="10909300" y="45491"/>
                  <a:pt x="10909300" y="101607"/>
                </a:cubicBezTo>
                <a:lnTo>
                  <a:pt x="10909300" y="6896093"/>
                </a:lnTo>
                <a:cubicBezTo>
                  <a:pt x="10909300" y="6952209"/>
                  <a:pt x="10863809" y="6997700"/>
                  <a:pt x="10807693" y="6997700"/>
                </a:cubicBezTo>
                <a:lnTo>
                  <a:pt x="101607" y="6997700"/>
                </a:lnTo>
                <a:cubicBezTo>
                  <a:pt x="45491" y="6997700"/>
                  <a:pt x="0" y="6952209"/>
                  <a:pt x="0" y="68960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00100" y="2565400"/>
            <a:ext cx="10363200" cy="1422400"/>
          </a:xfrm>
          <a:custGeom>
            <a:avLst/>
            <a:gdLst/>
            <a:ahLst/>
            <a:cxnLst/>
            <a:rect l="l" t="t" r="r" b="b"/>
            <a:pathLst>
              <a:path w="10363200" h="1422400">
                <a:moveTo>
                  <a:pt x="50800" y="0"/>
                </a:moveTo>
                <a:lnTo>
                  <a:pt x="10261598" y="0"/>
                </a:lnTo>
                <a:cubicBezTo>
                  <a:pt x="10317711" y="0"/>
                  <a:pt x="10363200" y="45489"/>
                  <a:pt x="10363200" y="101602"/>
                </a:cubicBezTo>
                <a:lnTo>
                  <a:pt x="10363200" y="1320798"/>
                </a:lnTo>
                <a:cubicBezTo>
                  <a:pt x="10363200" y="1376911"/>
                  <a:pt x="10317711" y="1422400"/>
                  <a:pt x="10261598" y="1422400"/>
                </a:cubicBezTo>
                <a:lnTo>
                  <a:pt x="50800" y="1422400"/>
                </a:lnTo>
                <a:cubicBezTo>
                  <a:pt x="22744" y="1422400"/>
                  <a:pt x="0" y="1399656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00100" y="256540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5080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028700" y="2768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222375" y="29464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31750" y="15875"/>
                </a:moveTo>
                <a:cubicBezTo>
                  <a:pt x="14238" y="15875"/>
                  <a:pt x="0" y="30113"/>
                  <a:pt x="0" y="47625"/>
                </a:cubicBezTo>
                <a:lnTo>
                  <a:pt x="0" y="79375"/>
                </a:lnTo>
                <a:cubicBezTo>
                  <a:pt x="0" y="96887"/>
                  <a:pt x="14238" y="111125"/>
                  <a:pt x="31750" y="111125"/>
                </a:cubicBezTo>
                <a:lnTo>
                  <a:pt x="190500" y="111125"/>
                </a:lnTo>
                <a:cubicBezTo>
                  <a:pt x="208012" y="111125"/>
                  <a:pt x="222250" y="96887"/>
                  <a:pt x="222250" y="79375"/>
                </a:cubicBezTo>
                <a:lnTo>
                  <a:pt x="222250" y="47625"/>
                </a:lnTo>
                <a:cubicBezTo>
                  <a:pt x="222250" y="30113"/>
                  <a:pt x="208012" y="15875"/>
                  <a:pt x="190500" y="15875"/>
                </a:cubicBezTo>
                <a:lnTo>
                  <a:pt x="31750" y="15875"/>
                </a:lnTo>
                <a:close/>
                <a:moveTo>
                  <a:pt x="138906" y="51594"/>
                </a:moveTo>
                <a:cubicBezTo>
                  <a:pt x="145477" y="51594"/>
                  <a:pt x="150813" y="56929"/>
                  <a:pt x="150813" y="63500"/>
                </a:cubicBezTo>
                <a:cubicBezTo>
                  <a:pt x="150813" y="70071"/>
                  <a:pt x="145477" y="75406"/>
                  <a:pt x="138906" y="75406"/>
                </a:cubicBezTo>
                <a:cubicBezTo>
                  <a:pt x="132335" y="75406"/>
                  <a:pt x="127000" y="70071"/>
                  <a:pt x="127000" y="63500"/>
                </a:cubicBezTo>
                <a:cubicBezTo>
                  <a:pt x="127000" y="56929"/>
                  <a:pt x="132335" y="51594"/>
                  <a:pt x="138906" y="51594"/>
                </a:cubicBezTo>
                <a:close/>
                <a:moveTo>
                  <a:pt x="166688" y="63500"/>
                </a:moveTo>
                <a:cubicBezTo>
                  <a:pt x="166688" y="56929"/>
                  <a:pt x="172023" y="51594"/>
                  <a:pt x="178594" y="51594"/>
                </a:cubicBezTo>
                <a:cubicBezTo>
                  <a:pt x="185165" y="51594"/>
                  <a:pt x="190500" y="56929"/>
                  <a:pt x="190500" y="63500"/>
                </a:cubicBezTo>
                <a:cubicBezTo>
                  <a:pt x="190500" y="70071"/>
                  <a:pt x="185165" y="75406"/>
                  <a:pt x="178594" y="75406"/>
                </a:cubicBezTo>
                <a:cubicBezTo>
                  <a:pt x="172023" y="75406"/>
                  <a:pt x="166688" y="70071"/>
                  <a:pt x="166688" y="63500"/>
                </a:cubicBezTo>
                <a:close/>
                <a:moveTo>
                  <a:pt x="31750" y="142875"/>
                </a:moveTo>
                <a:cubicBezTo>
                  <a:pt x="14238" y="142875"/>
                  <a:pt x="0" y="157113"/>
                  <a:pt x="0" y="174625"/>
                </a:cubicBezTo>
                <a:lnTo>
                  <a:pt x="0" y="206375"/>
                </a:lnTo>
                <a:cubicBezTo>
                  <a:pt x="0" y="223887"/>
                  <a:pt x="14238" y="238125"/>
                  <a:pt x="31750" y="238125"/>
                </a:cubicBezTo>
                <a:lnTo>
                  <a:pt x="190500" y="238125"/>
                </a:lnTo>
                <a:cubicBezTo>
                  <a:pt x="208012" y="238125"/>
                  <a:pt x="222250" y="223887"/>
                  <a:pt x="222250" y="206375"/>
                </a:cubicBezTo>
                <a:lnTo>
                  <a:pt x="222250" y="174625"/>
                </a:lnTo>
                <a:cubicBezTo>
                  <a:pt x="222250" y="157113"/>
                  <a:pt x="208012" y="142875"/>
                  <a:pt x="190500" y="142875"/>
                </a:cubicBezTo>
                <a:lnTo>
                  <a:pt x="31750" y="142875"/>
                </a:lnTo>
                <a:close/>
                <a:moveTo>
                  <a:pt x="138906" y="178594"/>
                </a:moveTo>
                <a:cubicBezTo>
                  <a:pt x="145477" y="178594"/>
                  <a:pt x="150813" y="183929"/>
                  <a:pt x="150813" y="190500"/>
                </a:cubicBezTo>
                <a:cubicBezTo>
                  <a:pt x="150813" y="197071"/>
                  <a:pt x="145477" y="202406"/>
                  <a:pt x="138906" y="202406"/>
                </a:cubicBezTo>
                <a:cubicBezTo>
                  <a:pt x="132335" y="202406"/>
                  <a:pt x="127000" y="197071"/>
                  <a:pt x="127000" y="190500"/>
                </a:cubicBezTo>
                <a:cubicBezTo>
                  <a:pt x="127000" y="183929"/>
                  <a:pt x="132335" y="178594"/>
                  <a:pt x="138906" y="178594"/>
                </a:cubicBezTo>
                <a:close/>
                <a:moveTo>
                  <a:pt x="166688" y="190500"/>
                </a:moveTo>
                <a:cubicBezTo>
                  <a:pt x="166688" y="183929"/>
                  <a:pt x="172023" y="178594"/>
                  <a:pt x="178594" y="178594"/>
                </a:cubicBezTo>
                <a:cubicBezTo>
                  <a:pt x="185165" y="178594"/>
                  <a:pt x="190500" y="183929"/>
                  <a:pt x="190500" y="190500"/>
                </a:cubicBezTo>
                <a:cubicBezTo>
                  <a:pt x="190500" y="197071"/>
                  <a:pt x="185165" y="202406"/>
                  <a:pt x="178594" y="202406"/>
                </a:cubicBezTo>
                <a:cubicBezTo>
                  <a:pt x="172023" y="202406"/>
                  <a:pt x="166688" y="197071"/>
                  <a:pt x="166688" y="19050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790700" y="2768600"/>
            <a:ext cx="1485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GFS Master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90700" y="3124200"/>
            <a:ext cx="1447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单个主节点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8700" y="3479800"/>
            <a:ext cx="1003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负责元数据管理：维护文件系统命名空间、文件到 chunk 的映射、chunk 副本位置信息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54700" y="40894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00846" y="299204"/>
                </a:moveTo>
                <a:cubicBezTo>
                  <a:pt x="108287" y="306645"/>
                  <a:pt x="120372" y="306645"/>
                  <a:pt x="127814" y="299204"/>
                </a:cubicBezTo>
                <a:lnTo>
                  <a:pt x="223064" y="203954"/>
                </a:lnTo>
                <a:cubicBezTo>
                  <a:pt x="230505" y="196513"/>
                  <a:pt x="230505" y="184428"/>
                  <a:pt x="223064" y="176986"/>
                </a:cubicBezTo>
                <a:cubicBezTo>
                  <a:pt x="215622" y="169545"/>
                  <a:pt x="203537" y="169545"/>
                  <a:pt x="196096" y="176986"/>
                </a:cubicBezTo>
                <a:lnTo>
                  <a:pt x="133350" y="239732"/>
                </a:lnTo>
                <a:lnTo>
                  <a:pt x="133350" y="19050"/>
                </a:lnTo>
                <a:cubicBezTo>
                  <a:pt x="133350" y="8513"/>
                  <a:pt x="124837" y="0"/>
                  <a:pt x="114300" y="0"/>
                </a:cubicBezTo>
                <a:cubicBezTo>
                  <a:pt x="103763" y="0"/>
                  <a:pt x="95250" y="8513"/>
                  <a:pt x="95250" y="19050"/>
                </a:cubicBezTo>
                <a:lnTo>
                  <a:pt x="95250" y="239732"/>
                </a:lnTo>
                <a:lnTo>
                  <a:pt x="32504" y="176986"/>
                </a:lnTo>
                <a:cubicBezTo>
                  <a:pt x="25063" y="169545"/>
                  <a:pt x="12978" y="169545"/>
                  <a:pt x="5536" y="176986"/>
                </a:cubicBezTo>
                <a:cubicBezTo>
                  <a:pt x="-1905" y="184428"/>
                  <a:pt x="-1905" y="196513"/>
                  <a:pt x="5536" y="203954"/>
                </a:cubicBezTo>
                <a:lnTo>
                  <a:pt x="100786" y="299204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00100" y="4495800"/>
            <a:ext cx="3340100" cy="1270000"/>
          </a:xfrm>
          <a:custGeom>
            <a:avLst/>
            <a:gdLst/>
            <a:ahLst/>
            <a:cxnLst/>
            <a:rect l="l" t="t" r="r" b="b"/>
            <a:pathLst>
              <a:path w="3340100" h="1270000">
                <a:moveTo>
                  <a:pt x="50800" y="0"/>
                </a:moveTo>
                <a:lnTo>
                  <a:pt x="3238500" y="0"/>
                </a:lnTo>
                <a:cubicBezTo>
                  <a:pt x="3294575" y="0"/>
                  <a:pt x="3340100" y="45525"/>
                  <a:pt x="3340100" y="101600"/>
                </a:cubicBezTo>
                <a:lnTo>
                  <a:pt x="3340100" y="1168400"/>
                </a:lnTo>
                <a:cubicBezTo>
                  <a:pt x="3340100" y="1224475"/>
                  <a:pt x="3294575" y="1270000"/>
                  <a:pt x="3238500" y="1270000"/>
                </a:cubicBezTo>
                <a:lnTo>
                  <a:pt x="50800" y="1270000"/>
                </a:lnTo>
                <a:cubicBezTo>
                  <a:pt x="22763" y="1270000"/>
                  <a:pt x="0" y="1247237"/>
                  <a:pt x="0" y="1219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00100" y="4495800"/>
            <a:ext cx="50800" cy="1270000"/>
          </a:xfrm>
          <a:custGeom>
            <a:avLst/>
            <a:gdLst/>
            <a:ahLst/>
            <a:cxnLst/>
            <a:rect l="l" t="t" r="r" b="b"/>
            <a:pathLst>
              <a:path w="50800" h="1270000">
                <a:moveTo>
                  <a:pt x="50800" y="0"/>
                </a:moveTo>
                <a:lnTo>
                  <a:pt x="50800" y="0"/>
                </a:lnTo>
                <a:lnTo>
                  <a:pt x="50800" y="1270000"/>
                </a:lnTo>
                <a:lnTo>
                  <a:pt x="50800" y="1270000"/>
                </a:lnTo>
                <a:cubicBezTo>
                  <a:pt x="22763" y="1270000"/>
                  <a:pt x="0" y="1247237"/>
                  <a:pt x="0" y="1219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028700" y="469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1185863" y="48387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16131"/>
                </a:lnTo>
                <a:cubicBezTo>
                  <a:pt x="8081" y="110460"/>
                  <a:pt x="17949" y="107156"/>
                  <a:pt x="28575" y="107156"/>
                </a:cubicBezTo>
                <a:lnTo>
                  <a:pt x="171450" y="107156"/>
                </a:lnTo>
                <a:cubicBezTo>
                  <a:pt x="182076" y="107156"/>
                  <a:pt x="191944" y="110460"/>
                  <a:pt x="200025" y="116131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200025" y="157163"/>
                </a:move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lose/>
                <a:moveTo>
                  <a:pt x="100013" y="171450"/>
                </a:moveTo>
                <a:cubicBezTo>
                  <a:pt x="100013" y="163565"/>
                  <a:pt x="106415" y="157163"/>
                  <a:pt x="114300" y="157163"/>
                </a:cubicBezTo>
                <a:cubicBezTo>
                  <a:pt x="122185" y="157163"/>
                  <a:pt x="128588" y="163565"/>
                  <a:pt x="128588" y="171450"/>
                </a:cubicBezTo>
                <a:cubicBezTo>
                  <a:pt x="128588" y="179335"/>
                  <a:pt x="122185" y="185738"/>
                  <a:pt x="114300" y="185738"/>
                </a:cubicBezTo>
                <a:cubicBezTo>
                  <a:pt x="106415" y="185738"/>
                  <a:pt x="100013" y="179335"/>
                  <a:pt x="100013" y="171450"/>
                </a:cubicBezTo>
                <a:close/>
                <a:moveTo>
                  <a:pt x="157163" y="157163"/>
                </a:moveTo>
                <a:cubicBezTo>
                  <a:pt x="165048" y="157163"/>
                  <a:pt x="171450" y="163565"/>
                  <a:pt x="171450" y="171450"/>
                </a:cubicBezTo>
                <a:cubicBezTo>
                  <a:pt x="171450" y="179335"/>
                  <a:pt x="165048" y="185738"/>
                  <a:pt x="157163" y="185738"/>
                </a:cubicBezTo>
                <a:cubicBezTo>
                  <a:pt x="149277" y="185738"/>
                  <a:pt x="142875" y="179335"/>
                  <a:pt x="142875" y="171450"/>
                </a:cubicBezTo>
                <a:cubicBezTo>
                  <a:pt x="142875" y="163565"/>
                  <a:pt x="149277" y="157163"/>
                  <a:pt x="157163" y="157163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638300" y="4775200"/>
            <a:ext cx="1612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ChunkServer 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28700" y="5308600"/>
            <a:ext cx="299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存储实际数据块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13734" y="4495800"/>
            <a:ext cx="3340100" cy="1270000"/>
          </a:xfrm>
          <a:custGeom>
            <a:avLst/>
            <a:gdLst/>
            <a:ahLst/>
            <a:cxnLst/>
            <a:rect l="l" t="t" r="r" b="b"/>
            <a:pathLst>
              <a:path w="3340100" h="1270000">
                <a:moveTo>
                  <a:pt x="50800" y="0"/>
                </a:moveTo>
                <a:lnTo>
                  <a:pt x="3238500" y="0"/>
                </a:lnTo>
                <a:cubicBezTo>
                  <a:pt x="3294575" y="0"/>
                  <a:pt x="3340100" y="45525"/>
                  <a:pt x="3340100" y="101600"/>
                </a:cubicBezTo>
                <a:lnTo>
                  <a:pt x="3340100" y="1168400"/>
                </a:lnTo>
                <a:cubicBezTo>
                  <a:pt x="3340100" y="1224475"/>
                  <a:pt x="3294575" y="1270000"/>
                  <a:pt x="3238500" y="1270000"/>
                </a:cubicBezTo>
                <a:lnTo>
                  <a:pt x="50800" y="1270000"/>
                </a:lnTo>
                <a:cubicBezTo>
                  <a:pt x="22763" y="1270000"/>
                  <a:pt x="0" y="1247237"/>
                  <a:pt x="0" y="1219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313734" y="4495800"/>
            <a:ext cx="50800" cy="1270000"/>
          </a:xfrm>
          <a:custGeom>
            <a:avLst/>
            <a:gdLst/>
            <a:ahLst/>
            <a:cxnLst/>
            <a:rect l="l" t="t" r="r" b="b"/>
            <a:pathLst>
              <a:path w="50800" h="1270000">
                <a:moveTo>
                  <a:pt x="50800" y="0"/>
                </a:moveTo>
                <a:lnTo>
                  <a:pt x="50800" y="0"/>
                </a:lnTo>
                <a:lnTo>
                  <a:pt x="50800" y="1270000"/>
                </a:lnTo>
                <a:lnTo>
                  <a:pt x="50800" y="1270000"/>
                </a:lnTo>
                <a:cubicBezTo>
                  <a:pt x="22763" y="1270000"/>
                  <a:pt x="0" y="1247237"/>
                  <a:pt x="0" y="1219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4542334" y="469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699496" y="48387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16131"/>
                </a:lnTo>
                <a:cubicBezTo>
                  <a:pt x="8081" y="110460"/>
                  <a:pt x="17949" y="107156"/>
                  <a:pt x="28575" y="107156"/>
                </a:cubicBezTo>
                <a:lnTo>
                  <a:pt x="171450" y="107156"/>
                </a:lnTo>
                <a:cubicBezTo>
                  <a:pt x="182076" y="107156"/>
                  <a:pt x="191944" y="110460"/>
                  <a:pt x="200025" y="116131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200025" y="157163"/>
                </a:move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lose/>
                <a:moveTo>
                  <a:pt x="100013" y="171450"/>
                </a:moveTo>
                <a:cubicBezTo>
                  <a:pt x="100013" y="163565"/>
                  <a:pt x="106415" y="157163"/>
                  <a:pt x="114300" y="157163"/>
                </a:cubicBezTo>
                <a:cubicBezTo>
                  <a:pt x="122185" y="157163"/>
                  <a:pt x="128588" y="163565"/>
                  <a:pt x="128588" y="171450"/>
                </a:cubicBezTo>
                <a:cubicBezTo>
                  <a:pt x="128588" y="179335"/>
                  <a:pt x="122185" y="185738"/>
                  <a:pt x="114300" y="185738"/>
                </a:cubicBezTo>
                <a:cubicBezTo>
                  <a:pt x="106415" y="185738"/>
                  <a:pt x="100013" y="179335"/>
                  <a:pt x="100013" y="171450"/>
                </a:cubicBezTo>
                <a:close/>
                <a:moveTo>
                  <a:pt x="157163" y="157163"/>
                </a:moveTo>
                <a:cubicBezTo>
                  <a:pt x="165048" y="157163"/>
                  <a:pt x="171450" y="163565"/>
                  <a:pt x="171450" y="171450"/>
                </a:cubicBezTo>
                <a:cubicBezTo>
                  <a:pt x="171450" y="179335"/>
                  <a:pt x="165048" y="185738"/>
                  <a:pt x="157163" y="185738"/>
                </a:cubicBezTo>
                <a:cubicBezTo>
                  <a:pt x="149277" y="185738"/>
                  <a:pt x="142875" y="179335"/>
                  <a:pt x="142875" y="171450"/>
                </a:cubicBezTo>
                <a:cubicBezTo>
                  <a:pt x="142875" y="163565"/>
                  <a:pt x="149277" y="157163"/>
                  <a:pt x="157163" y="157163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151934" y="47752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ChunkServer 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42334" y="5308600"/>
            <a:ext cx="299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存储实际数据块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827367" y="4495800"/>
            <a:ext cx="3340100" cy="1270000"/>
          </a:xfrm>
          <a:custGeom>
            <a:avLst/>
            <a:gdLst/>
            <a:ahLst/>
            <a:cxnLst/>
            <a:rect l="l" t="t" r="r" b="b"/>
            <a:pathLst>
              <a:path w="3340100" h="1270000">
                <a:moveTo>
                  <a:pt x="50800" y="0"/>
                </a:moveTo>
                <a:lnTo>
                  <a:pt x="3238500" y="0"/>
                </a:lnTo>
                <a:cubicBezTo>
                  <a:pt x="3294575" y="0"/>
                  <a:pt x="3340100" y="45525"/>
                  <a:pt x="3340100" y="101600"/>
                </a:cubicBezTo>
                <a:lnTo>
                  <a:pt x="3340100" y="1168400"/>
                </a:lnTo>
                <a:cubicBezTo>
                  <a:pt x="3340100" y="1224475"/>
                  <a:pt x="3294575" y="1270000"/>
                  <a:pt x="3238500" y="1270000"/>
                </a:cubicBezTo>
                <a:lnTo>
                  <a:pt x="50800" y="1270000"/>
                </a:lnTo>
                <a:cubicBezTo>
                  <a:pt x="22763" y="1270000"/>
                  <a:pt x="0" y="1247237"/>
                  <a:pt x="0" y="1219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7827367" y="4495800"/>
            <a:ext cx="50800" cy="1270000"/>
          </a:xfrm>
          <a:custGeom>
            <a:avLst/>
            <a:gdLst/>
            <a:ahLst/>
            <a:cxnLst/>
            <a:rect l="l" t="t" r="r" b="b"/>
            <a:pathLst>
              <a:path w="50800" h="1270000">
                <a:moveTo>
                  <a:pt x="50800" y="0"/>
                </a:moveTo>
                <a:lnTo>
                  <a:pt x="50800" y="0"/>
                </a:lnTo>
                <a:lnTo>
                  <a:pt x="50800" y="1270000"/>
                </a:lnTo>
                <a:lnTo>
                  <a:pt x="50800" y="1270000"/>
                </a:lnTo>
                <a:cubicBezTo>
                  <a:pt x="22763" y="1270000"/>
                  <a:pt x="0" y="1247237"/>
                  <a:pt x="0" y="1219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055967" y="469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213130" y="48387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16131"/>
                </a:lnTo>
                <a:cubicBezTo>
                  <a:pt x="8081" y="110460"/>
                  <a:pt x="17949" y="107156"/>
                  <a:pt x="28575" y="107156"/>
                </a:cubicBezTo>
                <a:lnTo>
                  <a:pt x="171450" y="107156"/>
                </a:lnTo>
                <a:cubicBezTo>
                  <a:pt x="182076" y="107156"/>
                  <a:pt x="191944" y="110460"/>
                  <a:pt x="200025" y="116131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200025" y="157163"/>
                </a:move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lose/>
                <a:moveTo>
                  <a:pt x="100013" y="171450"/>
                </a:moveTo>
                <a:cubicBezTo>
                  <a:pt x="100013" y="163565"/>
                  <a:pt x="106415" y="157163"/>
                  <a:pt x="114300" y="157163"/>
                </a:cubicBezTo>
                <a:cubicBezTo>
                  <a:pt x="122185" y="157163"/>
                  <a:pt x="128588" y="163565"/>
                  <a:pt x="128588" y="171450"/>
                </a:cubicBezTo>
                <a:cubicBezTo>
                  <a:pt x="128588" y="179335"/>
                  <a:pt x="122185" y="185738"/>
                  <a:pt x="114300" y="185738"/>
                </a:cubicBezTo>
                <a:cubicBezTo>
                  <a:pt x="106415" y="185738"/>
                  <a:pt x="100013" y="179335"/>
                  <a:pt x="100013" y="171450"/>
                </a:cubicBezTo>
                <a:close/>
                <a:moveTo>
                  <a:pt x="157163" y="157163"/>
                </a:moveTo>
                <a:cubicBezTo>
                  <a:pt x="165048" y="157163"/>
                  <a:pt x="171450" y="163565"/>
                  <a:pt x="171450" y="171450"/>
                </a:cubicBezTo>
                <a:cubicBezTo>
                  <a:pt x="171450" y="179335"/>
                  <a:pt x="165048" y="185738"/>
                  <a:pt x="157163" y="185738"/>
                </a:cubicBezTo>
                <a:cubicBezTo>
                  <a:pt x="149277" y="185738"/>
                  <a:pt x="142875" y="179335"/>
                  <a:pt x="142875" y="171450"/>
                </a:cubicBezTo>
                <a:cubicBezTo>
                  <a:pt x="142875" y="163565"/>
                  <a:pt x="149277" y="157163"/>
                  <a:pt x="157163" y="157163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665567" y="4775200"/>
            <a:ext cx="1689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ChunkServer 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055967" y="5308600"/>
            <a:ext cx="299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存储实际数据块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854700" y="58674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27754" y="10358"/>
                </a:moveTo>
                <a:cubicBezTo>
                  <a:pt x="120313" y="2917"/>
                  <a:pt x="108228" y="2917"/>
                  <a:pt x="100786" y="10358"/>
                </a:cubicBezTo>
                <a:lnTo>
                  <a:pt x="5536" y="105608"/>
                </a:lnTo>
                <a:cubicBezTo>
                  <a:pt x="-1905" y="113050"/>
                  <a:pt x="-1905" y="125135"/>
                  <a:pt x="5536" y="132576"/>
                </a:cubicBezTo>
                <a:cubicBezTo>
                  <a:pt x="12978" y="140018"/>
                  <a:pt x="25063" y="140018"/>
                  <a:pt x="32504" y="132576"/>
                </a:cubicBezTo>
                <a:lnTo>
                  <a:pt x="95250" y="69830"/>
                </a:lnTo>
                <a:lnTo>
                  <a:pt x="95250" y="290513"/>
                </a:lnTo>
                <a:cubicBezTo>
                  <a:pt x="95250" y="301050"/>
                  <a:pt x="103763" y="309563"/>
                  <a:pt x="114300" y="309563"/>
                </a:cubicBezTo>
                <a:cubicBezTo>
                  <a:pt x="124837" y="309563"/>
                  <a:pt x="133350" y="301050"/>
                  <a:pt x="133350" y="290513"/>
                </a:cubicBezTo>
                <a:lnTo>
                  <a:pt x="133350" y="69830"/>
                </a:lnTo>
                <a:lnTo>
                  <a:pt x="196096" y="132576"/>
                </a:lnTo>
                <a:cubicBezTo>
                  <a:pt x="203537" y="140018"/>
                  <a:pt x="215622" y="140018"/>
                  <a:pt x="223064" y="132576"/>
                </a:cubicBezTo>
                <a:cubicBezTo>
                  <a:pt x="230505" y="125135"/>
                  <a:pt x="230505" y="113050"/>
                  <a:pt x="223064" y="105608"/>
                </a:cubicBezTo>
                <a:lnTo>
                  <a:pt x="127814" y="10358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00100" y="6273800"/>
            <a:ext cx="10363200" cy="1422400"/>
          </a:xfrm>
          <a:custGeom>
            <a:avLst/>
            <a:gdLst/>
            <a:ahLst/>
            <a:cxnLst/>
            <a:rect l="l" t="t" r="r" b="b"/>
            <a:pathLst>
              <a:path w="10363200" h="1422400">
                <a:moveTo>
                  <a:pt x="50800" y="0"/>
                </a:moveTo>
                <a:lnTo>
                  <a:pt x="10261598" y="0"/>
                </a:lnTo>
                <a:cubicBezTo>
                  <a:pt x="10317711" y="0"/>
                  <a:pt x="10363200" y="45489"/>
                  <a:pt x="10363200" y="101602"/>
                </a:cubicBezTo>
                <a:lnTo>
                  <a:pt x="10363200" y="1320798"/>
                </a:lnTo>
                <a:cubicBezTo>
                  <a:pt x="10363200" y="1376911"/>
                  <a:pt x="10317711" y="1422400"/>
                  <a:pt x="10261598" y="1422400"/>
                </a:cubicBezTo>
                <a:lnTo>
                  <a:pt x="50800" y="1422400"/>
                </a:lnTo>
                <a:cubicBezTo>
                  <a:pt x="22744" y="1422400"/>
                  <a:pt x="0" y="1399656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00100" y="627380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5080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1028700" y="6477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206500" y="6654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15875"/>
                </a:moveTo>
                <a:cubicBezTo>
                  <a:pt x="14238" y="15875"/>
                  <a:pt x="0" y="30113"/>
                  <a:pt x="0" y="47625"/>
                </a:cubicBezTo>
                <a:lnTo>
                  <a:pt x="0" y="174625"/>
                </a:lnTo>
                <a:cubicBezTo>
                  <a:pt x="0" y="192137"/>
                  <a:pt x="14238" y="206375"/>
                  <a:pt x="31750" y="206375"/>
                </a:cubicBezTo>
                <a:lnTo>
                  <a:pt x="103188" y="206375"/>
                </a:lnTo>
                <a:lnTo>
                  <a:pt x="95250" y="230188"/>
                </a:lnTo>
                <a:lnTo>
                  <a:pt x="59531" y="230188"/>
                </a:lnTo>
                <a:cubicBezTo>
                  <a:pt x="52933" y="230188"/>
                  <a:pt x="47625" y="235496"/>
                  <a:pt x="47625" y="242094"/>
                </a:cubicBezTo>
                <a:cubicBezTo>
                  <a:pt x="47625" y="248692"/>
                  <a:pt x="52933" y="254000"/>
                  <a:pt x="59531" y="254000"/>
                </a:cubicBezTo>
                <a:lnTo>
                  <a:pt x="194469" y="254000"/>
                </a:lnTo>
                <a:cubicBezTo>
                  <a:pt x="201067" y="254000"/>
                  <a:pt x="206375" y="248692"/>
                  <a:pt x="206375" y="242094"/>
                </a:cubicBezTo>
                <a:cubicBezTo>
                  <a:pt x="206375" y="235496"/>
                  <a:pt x="201067" y="230188"/>
                  <a:pt x="194469" y="230188"/>
                </a:cubicBezTo>
                <a:lnTo>
                  <a:pt x="158750" y="230188"/>
                </a:lnTo>
                <a:lnTo>
                  <a:pt x="150813" y="206375"/>
                </a:lnTo>
                <a:lnTo>
                  <a:pt x="222250" y="206375"/>
                </a:lnTo>
                <a:cubicBezTo>
                  <a:pt x="239762" y="206375"/>
                  <a:pt x="254000" y="192137"/>
                  <a:pt x="254000" y="174625"/>
                </a:cubicBezTo>
                <a:lnTo>
                  <a:pt x="254000" y="47625"/>
                </a:lnTo>
                <a:cubicBezTo>
                  <a:pt x="254000" y="30113"/>
                  <a:pt x="239762" y="15875"/>
                  <a:pt x="222250" y="15875"/>
                </a:cubicBezTo>
                <a:lnTo>
                  <a:pt x="31750" y="15875"/>
                </a:lnTo>
                <a:close/>
                <a:moveTo>
                  <a:pt x="47625" y="47625"/>
                </a:moveTo>
                <a:lnTo>
                  <a:pt x="206375" y="47625"/>
                </a:lnTo>
                <a:cubicBezTo>
                  <a:pt x="215156" y="47625"/>
                  <a:pt x="222250" y="54719"/>
                  <a:pt x="222250" y="63500"/>
                </a:cubicBezTo>
                <a:lnTo>
                  <a:pt x="222250" y="142875"/>
                </a:lnTo>
                <a:cubicBezTo>
                  <a:pt x="222250" y="151656"/>
                  <a:pt x="215156" y="158750"/>
                  <a:pt x="206375" y="158750"/>
                </a:cubicBezTo>
                <a:lnTo>
                  <a:pt x="47625" y="158750"/>
                </a:lnTo>
                <a:cubicBezTo>
                  <a:pt x="38844" y="158750"/>
                  <a:pt x="31750" y="151656"/>
                  <a:pt x="31750" y="142875"/>
                </a:cubicBezTo>
                <a:lnTo>
                  <a:pt x="31750" y="63500"/>
                </a:lnTo>
                <a:cubicBezTo>
                  <a:pt x="31750" y="54719"/>
                  <a:pt x="38844" y="47625"/>
                  <a:pt x="47625" y="47625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790700" y="6477000"/>
            <a:ext cx="1358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GFS Client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790700" y="6832600"/>
            <a:ext cx="132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9505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客户端库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28700" y="7188200"/>
            <a:ext cx="1003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为应用程序提供文件系统接口，以库形式链接到应用程序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1690350" y="1631950"/>
            <a:ext cx="4051300" cy="3009900"/>
          </a:xfrm>
          <a:custGeom>
            <a:avLst/>
            <a:gdLst/>
            <a:ahLst/>
            <a:cxnLst/>
            <a:rect l="l" t="t" r="r" b="b"/>
            <a:pathLst>
              <a:path w="4051300" h="3009900">
                <a:moveTo>
                  <a:pt x="101614" y="0"/>
                </a:moveTo>
                <a:lnTo>
                  <a:pt x="3949686" y="0"/>
                </a:lnTo>
                <a:cubicBezTo>
                  <a:pt x="4005806" y="0"/>
                  <a:pt x="4051300" y="45494"/>
                  <a:pt x="4051300" y="101614"/>
                </a:cubicBezTo>
                <a:lnTo>
                  <a:pt x="4051300" y="2908286"/>
                </a:lnTo>
                <a:cubicBezTo>
                  <a:pt x="4051300" y="2964406"/>
                  <a:pt x="4005806" y="3009900"/>
                  <a:pt x="3949686" y="3009900"/>
                </a:cubicBezTo>
                <a:lnTo>
                  <a:pt x="101614" y="3009900"/>
                </a:lnTo>
                <a:cubicBezTo>
                  <a:pt x="45494" y="3009900"/>
                  <a:pt x="0" y="2964406"/>
                  <a:pt x="0" y="2908286"/>
                </a:cubicBezTo>
                <a:lnTo>
                  <a:pt x="0" y="101614"/>
                </a:lnTo>
                <a:cubicBezTo>
                  <a:pt x="0" y="45532"/>
                  <a:pt x="45532" y="0"/>
                  <a:pt x="101614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1931650" y="1905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67241"/>
                </a:moveTo>
                <a:lnTo>
                  <a:pt x="181541" y="110103"/>
                </a:lnTo>
                <a:cubicBezTo>
                  <a:pt x="177433" y="114211"/>
                  <a:pt x="171316" y="115416"/>
                  <a:pt x="165958" y="113184"/>
                </a:cubicBezTo>
                <a:cubicBezTo>
                  <a:pt x="160600" y="110951"/>
                  <a:pt x="157163" y="105772"/>
                  <a:pt x="157163" y="100013"/>
                </a:cubicBezTo>
                <a:lnTo>
                  <a:pt x="157163" y="71438"/>
                </a:ln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157163" y="42863"/>
                </a:lnTo>
                <a:lnTo>
                  <a:pt x="157163" y="14288"/>
                </a:lnTo>
                <a:cubicBezTo>
                  <a:pt x="157163" y="8528"/>
                  <a:pt x="160645" y="3304"/>
                  <a:pt x="166003" y="1072"/>
                </a:cubicBezTo>
                <a:cubicBezTo>
                  <a:pt x="171361" y="-1161"/>
                  <a:pt x="177478" y="89"/>
                  <a:pt x="181585" y="4152"/>
                </a:cubicBezTo>
                <a:lnTo>
                  <a:pt x="224448" y="47015"/>
                </a:lnTo>
                <a:cubicBezTo>
                  <a:pt x="230029" y="52596"/>
                  <a:pt x="230029" y="61659"/>
                  <a:pt x="224448" y="67241"/>
                </a:cubicBezTo>
                <a:close/>
                <a:moveTo>
                  <a:pt x="47015" y="224403"/>
                </a:moveTo>
                <a:lnTo>
                  <a:pt x="4152" y="181541"/>
                </a:lnTo>
                <a:cubicBezTo>
                  <a:pt x="-1429" y="175959"/>
                  <a:pt x="-1429" y="166896"/>
                  <a:pt x="4152" y="161315"/>
                </a:cubicBezTo>
                <a:lnTo>
                  <a:pt x="47015" y="118452"/>
                </a:lnTo>
                <a:cubicBezTo>
                  <a:pt x="51122" y="114345"/>
                  <a:pt x="57239" y="113139"/>
                  <a:pt x="62597" y="115372"/>
                </a:cubicBezTo>
                <a:cubicBezTo>
                  <a:pt x="67955" y="117604"/>
                  <a:pt x="71438" y="122828"/>
                  <a:pt x="71438" y="128588"/>
                </a:cubicBezTo>
                <a:lnTo>
                  <a:pt x="71438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cubicBezTo>
                  <a:pt x="228600" y="179353"/>
                  <a:pt x="222215" y="185738"/>
                  <a:pt x="214313" y="185738"/>
                </a:cubicBezTo>
                <a:lnTo>
                  <a:pt x="71438" y="185738"/>
                </a:lnTo>
                <a:lnTo>
                  <a:pt x="71438" y="214313"/>
                </a:lnTo>
                <a:cubicBezTo>
                  <a:pt x="71438" y="220072"/>
                  <a:pt x="67955" y="225296"/>
                  <a:pt x="62597" y="227528"/>
                </a:cubicBezTo>
                <a:cubicBezTo>
                  <a:pt x="57239" y="229761"/>
                  <a:pt x="51122" y="228511"/>
                  <a:pt x="47015" y="224448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2192000" y="1841500"/>
            <a:ext cx="3454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数据流与控制流分离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925300" y="2349500"/>
            <a:ext cx="3606800" cy="965200"/>
          </a:xfrm>
          <a:custGeom>
            <a:avLst/>
            <a:gdLst/>
            <a:ahLst/>
            <a:cxnLst/>
            <a:rect l="l" t="t" r="r" b="b"/>
            <a:pathLst>
              <a:path w="3606800" h="965200">
                <a:moveTo>
                  <a:pt x="50798" y="0"/>
                </a:moveTo>
                <a:lnTo>
                  <a:pt x="3556002" y="0"/>
                </a:lnTo>
                <a:cubicBezTo>
                  <a:pt x="3584057" y="0"/>
                  <a:pt x="3606800" y="22743"/>
                  <a:pt x="3606800" y="50798"/>
                </a:cubicBezTo>
                <a:lnTo>
                  <a:pt x="3606800" y="914402"/>
                </a:lnTo>
                <a:cubicBezTo>
                  <a:pt x="3606800" y="942457"/>
                  <a:pt x="3584057" y="965200"/>
                  <a:pt x="3556002" y="965200"/>
                </a:cubicBezTo>
                <a:lnTo>
                  <a:pt x="50798" y="965200"/>
                </a:lnTo>
                <a:cubicBezTo>
                  <a:pt x="22743" y="965200"/>
                  <a:pt x="0" y="942457"/>
                  <a:pt x="0" y="9144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11925300" y="2349500"/>
            <a:ext cx="50800" cy="965200"/>
          </a:xfrm>
          <a:custGeom>
            <a:avLst/>
            <a:gdLst/>
            <a:ahLst/>
            <a:cxnLst/>
            <a:rect l="l" t="t" r="r" b="b"/>
            <a:pathLst>
              <a:path w="50800" h="965200">
                <a:moveTo>
                  <a:pt x="50800" y="0"/>
                </a:moveTo>
                <a:lnTo>
                  <a:pt x="50800" y="0"/>
                </a:lnTo>
                <a:lnTo>
                  <a:pt x="50800" y="965200"/>
                </a:lnTo>
                <a:lnTo>
                  <a:pt x="50800" y="965200"/>
                </a:lnTo>
                <a:cubicBezTo>
                  <a:pt x="22763" y="965200"/>
                  <a:pt x="0" y="942437"/>
                  <a:pt x="0" y="91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12128500" y="25527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2458700" y="2501900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控制流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2103100" y="2908300"/>
            <a:ext cx="336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 ↔ Master（元数据操作）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925300" y="3467100"/>
            <a:ext cx="3606800" cy="965200"/>
          </a:xfrm>
          <a:custGeom>
            <a:avLst/>
            <a:gdLst/>
            <a:ahLst/>
            <a:cxnLst/>
            <a:rect l="l" t="t" r="r" b="b"/>
            <a:pathLst>
              <a:path w="3606800" h="965200">
                <a:moveTo>
                  <a:pt x="50798" y="0"/>
                </a:moveTo>
                <a:lnTo>
                  <a:pt x="3556002" y="0"/>
                </a:lnTo>
                <a:cubicBezTo>
                  <a:pt x="3584057" y="0"/>
                  <a:pt x="3606800" y="22743"/>
                  <a:pt x="3606800" y="50798"/>
                </a:cubicBezTo>
                <a:lnTo>
                  <a:pt x="3606800" y="914402"/>
                </a:lnTo>
                <a:cubicBezTo>
                  <a:pt x="3606800" y="942457"/>
                  <a:pt x="3584057" y="965200"/>
                  <a:pt x="3556002" y="965200"/>
                </a:cubicBezTo>
                <a:lnTo>
                  <a:pt x="50798" y="965200"/>
                </a:lnTo>
                <a:cubicBezTo>
                  <a:pt x="22743" y="965200"/>
                  <a:pt x="0" y="942457"/>
                  <a:pt x="0" y="9144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11925300" y="3467100"/>
            <a:ext cx="50800" cy="965200"/>
          </a:xfrm>
          <a:custGeom>
            <a:avLst/>
            <a:gdLst/>
            <a:ahLst/>
            <a:cxnLst/>
            <a:rect l="l" t="t" r="r" b="b"/>
            <a:pathLst>
              <a:path w="50800" h="965200">
                <a:moveTo>
                  <a:pt x="50800" y="0"/>
                </a:moveTo>
                <a:lnTo>
                  <a:pt x="50800" y="0"/>
                </a:lnTo>
                <a:lnTo>
                  <a:pt x="50800" y="965200"/>
                </a:lnTo>
                <a:lnTo>
                  <a:pt x="50800" y="965200"/>
                </a:lnTo>
                <a:cubicBezTo>
                  <a:pt x="22763" y="965200"/>
                  <a:pt x="0" y="942437"/>
                  <a:pt x="0" y="91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12128500" y="36703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2458700" y="3619500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数据流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2103100" y="4025900"/>
            <a:ext cx="336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 ↔ ChunkServer（实际数据传输）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1690350" y="4857750"/>
            <a:ext cx="4051300" cy="3771900"/>
          </a:xfrm>
          <a:custGeom>
            <a:avLst/>
            <a:gdLst/>
            <a:ahLst/>
            <a:cxnLst/>
            <a:rect l="l" t="t" r="r" b="b"/>
            <a:pathLst>
              <a:path w="4051300" h="3771900">
                <a:moveTo>
                  <a:pt x="101615" y="0"/>
                </a:moveTo>
                <a:lnTo>
                  <a:pt x="3949685" y="0"/>
                </a:lnTo>
                <a:cubicBezTo>
                  <a:pt x="4005805" y="0"/>
                  <a:pt x="4051300" y="45495"/>
                  <a:pt x="4051300" y="101615"/>
                </a:cubicBezTo>
                <a:lnTo>
                  <a:pt x="4051300" y="3670285"/>
                </a:lnTo>
                <a:cubicBezTo>
                  <a:pt x="4051300" y="3726405"/>
                  <a:pt x="4005805" y="3771900"/>
                  <a:pt x="3949685" y="3771900"/>
                </a:cubicBezTo>
                <a:lnTo>
                  <a:pt x="101615" y="3771900"/>
                </a:lnTo>
                <a:cubicBezTo>
                  <a:pt x="45495" y="3771900"/>
                  <a:pt x="0" y="3726405"/>
                  <a:pt x="0" y="3670285"/>
                </a:cubicBezTo>
                <a:lnTo>
                  <a:pt x="0" y="101615"/>
                </a:lnTo>
                <a:cubicBezTo>
                  <a:pt x="0" y="45495"/>
                  <a:pt x="45495" y="0"/>
                  <a:pt x="101615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11931650" y="5130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12192000" y="5067300"/>
            <a:ext cx="3454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分离设计的好处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1899900" y="5575300"/>
            <a:ext cx="3632200" cy="609600"/>
          </a:xfrm>
          <a:custGeom>
            <a:avLst/>
            <a:gdLst/>
            <a:ahLst/>
            <a:cxnLst/>
            <a:rect l="l" t="t" r="r" b="b"/>
            <a:pathLst>
              <a:path w="3632200" h="609600">
                <a:moveTo>
                  <a:pt x="50798" y="0"/>
                </a:moveTo>
                <a:lnTo>
                  <a:pt x="3581402" y="0"/>
                </a:lnTo>
                <a:cubicBezTo>
                  <a:pt x="3609457" y="0"/>
                  <a:pt x="3632200" y="22743"/>
                  <a:pt x="3632200" y="50798"/>
                </a:cubicBezTo>
                <a:lnTo>
                  <a:pt x="3632200" y="558802"/>
                </a:lnTo>
                <a:cubicBezTo>
                  <a:pt x="3632200" y="586857"/>
                  <a:pt x="3609457" y="609600"/>
                  <a:pt x="35814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12052300" y="5727700"/>
            <a:ext cx="342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避免 Master 成为数据传输瓶颈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1899900" y="6337300"/>
            <a:ext cx="3632200" cy="609600"/>
          </a:xfrm>
          <a:custGeom>
            <a:avLst/>
            <a:gdLst/>
            <a:ahLst/>
            <a:cxnLst/>
            <a:rect l="l" t="t" r="r" b="b"/>
            <a:pathLst>
              <a:path w="3632200" h="609600">
                <a:moveTo>
                  <a:pt x="50798" y="0"/>
                </a:moveTo>
                <a:lnTo>
                  <a:pt x="3581402" y="0"/>
                </a:lnTo>
                <a:cubicBezTo>
                  <a:pt x="3609457" y="0"/>
                  <a:pt x="3632200" y="22743"/>
                  <a:pt x="3632200" y="50798"/>
                </a:cubicBezTo>
                <a:lnTo>
                  <a:pt x="3632200" y="558802"/>
                </a:lnTo>
                <a:cubicBezTo>
                  <a:pt x="3632200" y="586857"/>
                  <a:pt x="3609457" y="609600"/>
                  <a:pt x="35814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12052300" y="6489700"/>
            <a:ext cx="342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提高系统整体吞吐量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1899900" y="7099300"/>
            <a:ext cx="3632200" cy="609600"/>
          </a:xfrm>
          <a:custGeom>
            <a:avLst/>
            <a:gdLst/>
            <a:ahLst/>
            <a:cxnLst/>
            <a:rect l="l" t="t" r="r" b="b"/>
            <a:pathLst>
              <a:path w="3632200" h="609600">
                <a:moveTo>
                  <a:pt x="50798" y="0"/>
                </a:moveTo>
                <a:lnTo>
                  <a:pt x="3581402" y="0"/>
                </a:lnTo>
                <a:cubicBezTo>
                  <a:pt x="3609457" y="0"/>
                  <a:pt x="3632200" y="22743"/>
                  <a:pt x="3632200" y="50798"/>
                </a:cubicBezTo>
                <a:lnTo>
                  <a:pt x="3632200" y="558802"/>
                </a:lnTo>
                <a:cubicBezTo>
                  <a:pt x="3632200" y="586857"/>
                  <a:pt x="3609457" y="609600"/>
                  <a:pt x="35814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12052300" y="7251700"/>
            <a:ext cx="342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简化 Master 的设计和实现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35000"/>
            <a:ext cx="508000" cy="50800"/>
          </a:xfrm>
          <a:custGeom>
            <a:avLst/>
            <a:gdLst/>
            <a:ahLst/>
            <a:cxnLst/>
            <a:rect l="l" t="t" r="r" b="b"/>
            <a:pathLst>
              <a:path w="508000" h="50800">
                <a:moveTo>
                  <a:pt x="0" y="0"/>
                </a:moveTo>
                <a:lnTo>
                  <a:pt x="508000" y="0"/>
                </a:lnTo>
                <a:lnTo>
                  <a:pt x="508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168400" y="508000"/>
            <a:ext cx="240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D4A2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MASTER COMPONENT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GFS Master: 系统大脑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1625600"/>
            <a:ext cx="7467600" cy="1879600"/>
          </a:xfrm>
          <a:custGeom>
            <a:avLst/>
            <a:gdLst/>
            <a:ahLst/>
            <a:cxnLst/>
            <a:rect l="l" t="t" r="r" b="b"/>
            <a:pathLst>
              <a:path w="7467600" h="1879600">
                <a:moveTo>
                  <a:pt x="50800" y="0"/>
                </a:moveTo>
                <a:lnTo>
                  <a:pt x="7366008" y="0"/>
                </a:lnTo>
                <a:cubicBezTo>
                  <a:pt x="7422116" y="0"/>
                  <a:pt x="7467600" y="45484"/>
                  <a:pt x="7467600" y="101592"/>
                </a:cubicBezTo>
                <a:lnTo>
                  <a:pt x="7467600" y="1778008"/>
                </a:lnTo>
                <a:cubicBezTo>
                  <a:pt x="7467600" y="1834116"/>
                  <a:pt x="7422116" y="1879600"/>
                  <a:pt x="7366008" y="1879600"/>
                </a:cubicBezTo>
                <a:lnTo>
                  <a:pt x="50800" y="1879600"/>
                </a:lnTo>
                <a:cubicBezTo>
                  <a:pt x="22744" y="1879600"/>
                  <a:pt x="0" y="1856856"/>
                  <a:pt x="0" y="1828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3400" y="1625600"/>
            <a:ext cx="50800" cy="1879600"/>
          </a:xfrm>
          <a:custGeom>
            <a:avLst/>
            <a:gdLst/>
            <a:ahLst/>
            <a:cxnLst/>
            <a:rect l="l" t="t" r="r" b="b"/>
            <a:pathLst>
              <a:path w="50800" h="1879600">
                <a:moveTo>
                  <a:pt x="50800" y="0"/>
                </a:moveTo>
                <a:lnTo>
                  <a:pt x="50800" y="0"/>
                </a:lnTo>
                <a:lnTo>
                  <a:pt x="50800" y="1879600"/>
                </a:lnTo>
                <a:lnTo>
                  <a:pt x="50800" y="1879600"/>
                </a:lnTo>
                <a:cubicBezTo>
                  <a:pt x="22763" y="1879600"/>
                  <a:pt x="0" y="1856837"/>
                  <a:pt x="0" y="1828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12800" y="1879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21060" y="1955800"/>
            <a:ext cx="203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73200" y="1955800"/>
            <a:ext cx="2171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维护文件系统元数据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2540000"/>
            <a:ext cx="703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原因：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集中管理避免数据不一致，简化系统设计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2946400"/>
            <a:ext cx="703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文件名、目录结构、文件属性、访问权限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3400" y="3708400"/>
            <a:ext cx="7467600" cy="2235200"/>
          </a:xfrm>
          <a:custGeom>
            <a:avLst/>
            <a:gdLst/>
            <a:ahLst/>
            <a:cxnLst/>
            <a:rect l="l" t="t" r="r" b="b"/>
            <a:pathLst>
              <a:path w="7467600" h="2235200">
                <a:moveTo>
                  <a:pt x="50800" y="0"/>
                </a:moveTo>
                <a:lnTo>
                  <a:pt x="7366010" y="0"/>
                </a:lnTo>
                <a:cubicBezTo>
                  <a:pt x="7422117" y="0"/>
                  <a:pt x="7467600" y="45483"/>
                  <a:pt x="7467600" y="101590"/>
                </a:cubicBezTo>
                <a:lnTo>
                  <a:pt x="7467600" y="2133610"/>
                </a:lnTo>
                <a:cubicBezTo>
                  <a:pt x="7467600" y="2189717"/>
                  <a:pt x="7422117" y="2235200"/>
                  <a:pt x="7366010" y="2235200"/>
                </a:cubicBezTo>
                <a:lnTo>
                  <a:pt x="50800" y="2235200"/>
                </a:lnTo>
                <a:cubicBezTo>
                  <a:pt x="22744" y="2235200"/>
                  <a:pt x="0" y="2212456"/>
                  <a:pt x="0" y="218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33400" y="3708400"/>
            <a:ext cx="50800" cy="2235200"/>
          </a:xfrm>
          <a:custGeom>
            <a:avLst/>
            <a:gdLst/>
            <a:ahLst/>
            <a:cxnLst/>
            <a:rect l="l" t="t" r="r" b="b"/>
            <a:pathLst>
              <a:path w="50800" h="2235200">
                <a:moveTo>
                  <a:pt x="50800" y="0"/>
                </a:moveTo>
                <a:lnTo>
                  <a:pt x="50800" y="0"/>
                </a:lnTo>
                <a:lnTo>
                  <a:pt x="50800" y="2235200"/>
                </a:lnTo>
                <a:lnTo>
                  <a:pt x="50800" y="2235200"/>
                </a:lnTo>
                <a:cubicBezTo>
                  <a:pt x="22763" y="2235200"/>
                  <a:pt x="0" y="2212437"/>
                  <a:pt x="0" y="218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12800" y="3962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000323" y="4038600"/>
            <a:ext cx="241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73200" y="4038600"/>
            <a:ext cx="254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 chunk 租约 (lease)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800" y="4622800"/>
            <a:ext cx="703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原因：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确保写操作的一致性，避免并发写冲突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2800" y="5029200"/>
            <a:ext cx="703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为每个 chunk 指定一个主副本（Primary）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2800" y="5384800"/>
            <a:ext cx="703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授予写租约，协调写入操作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3400" y="6146800"/>
            <a:ext cx="7467600" cy="2235200"/>
          </a:xfrm>
          <a:custGeom>
            <a:avLst/>
            <a:gdLst/>
            <a:ahLst/>
            <a:cxnLst/>
            <a:rect l="l" t="t" r="r" b="b"/>
            <a:pathLst>
              <a:path w="7467600" h="2235200">
                <a:moveTo>
                  <a:pt x="50800" y="0"/>
                </a:moveTo>
                <a:lnTo>
                  <a:pt x="7366010" y="0"/>
                </a:lnTo>
                <a:cubicBezTo>
                  <a:pt x="7422117" y="0"/>
                  <a:pt x="7467600" y="45483"/>
                  <a:pt x="7467600" y="101590"/>
                </a:cubicBezTo>
                <a:lnTo>
                  <a:pt x="7467600" y="2133610"/>
                </a:lnTo>
                <a:cubicBezTo>
                  <a:pt x="7467600" y="2189717"/>
                  <a:pt x="7422117" y="2235200"/>
                  <a:pt x="7366010" y="2235200"/>
                </a:cubicBezTo>
                <a:lnTo>
                  <a:pt x="50800" y="2235200"/>
                </a:lnTo>
                <a:cubicBezTo>
                  <a:pt x="22744" y="2235200"/>
                  <a:pt x="0" y="2212456"/>
                  <a:pt x="0" y="218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533400" y="6146800"/>
            <a:ext cx="50800" cy="2235200"/>
          </a:xfrm>
          <a:custGeom>
            <a:avLst/>
            <a:gdLst/>
            <a:ahLst/>
            <a:cxnLst/>
            <a:rect l="l" t="t" r="r" b="b"/>
            <a:pathLst>
              <a:path w="50800" h="2235200">
                <a:moveTo>
                  <a:pt x="50800" y="0"/>
                </a:moveTo>
                <a:lnTo>
                  <a:pt x="50800" y="0"/>
                </a:lnTo>
                <a:lnTo>
                  <a:pt x="50800" y="2235200"/>
                </a:lnTo>
                <a:lnTo>
                  <a:pt x="50800" y="2235200"/>
                </a:lnTo>
                <a:cubicBezTo>
                  <a:pt x="22763" y="2235200"/>
                  <a:pt x="0" y="2212437"/>
                  <a:pt x="0" y="218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12800" y="64008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99331" y="6477000"/>
            <a:ext cx="25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73200" y="64770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垃圾回收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2800" y="7061200"/>
            <a:ext cx="703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原因：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简化删除操作，提高系统可靠性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2800" y="7467600"/>
            <a:ext cx="703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延迟删除策略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2800" y="7823200"/>
            <a:ext cx="703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先标记后回收，避免误删除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80400" y="1625600"/>
            <a:ext cx="7467600" cy="2235200"/>
          </a:xfrm>
          <a:custGeom>
            <a:avLst/>
            <a:gdLst/>
            <a:ahLst/>
            <a:cxnLst/>
            <a:rect l="l" t="t" r="r" b="b"/>
            <a:pathLst>
              <a:path w="7467600" h="2235200">
                <a:moveTo>
                  <a:pt x="50800" y="0"/>
                </a:moveTo>
                <a:lnTo>
                  <a:pt x="7366010" y="0"/>
                </a:lnTo>
                <a:cubicBezTo>
                  <a:pt x="7422117" y="0"/>
                  <a:pt x="7467600" y="45483"/>
                  <a:pt x="7467600" y="101590"/>
                </a:cubicBezTo>
                <a:lnTo>
                  <a:pt x="7467600" y="2133610"/>
                </a:lnTo>
                <a:cubicBezTo>
                  <a:pt x="7467600" y="2189717"/>
                  <a:pt x="7422117" y="2235200"/>
                  <a:pt x="7366010" y="2235200"/>
                </a:cubicBezTo>
                <a:lnTo>
                  <a:pt x="50800" y="2235200"/>
                </a:lnTo>
                <a:cubicBezTo>
                  <a:pt x="22744" y="2235200"/>
                  <a:pt x="0" y="2212456"/>
                  <a:pt x="0" y="218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280400" y="1625600"/>
            <a:ext cx="50800" cy="2235200"/>
          </a:xfrm>
          <a:custGeom>
            <a:avLst/>
            <a:gdLst/>
            <a:ahLst/>
            <a:cxnLst/>
            <a:rect l="l" t="t" r="r" b="b"/>
            <a:pathLst>
              <a:path w="50800" h="2235200">
                <a:moveTo>
                  <a:pt x="50800" y="0"/>
                </a:moveTo>
                <a:lnTo>
                  <a:pt x="50800" y="0"/>
                </a:lnTo>
                <a:lnTo>
                  <a:pt x="50800" y="2235200"/>
                </a:lnTo>
                <a:lnTo>
                  <a:pt x="50800" y="2235200"/>
                </a:lnTo>
                <a:cubicBezTo>
                  <a:pt x="22763" y="2235200"/>
                  <a:pt x="0" y="2212437"/>
                  <a:pt x="0" y="218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559800" y="1879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746430" y="1955800"/>
            <a:ext cx="25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220200" y="1955800"/>
            <a:ext cx="241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chunk 迁移和负载均衡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59800" y="2540000"/>
            <a:ext cx="703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原因：</a:t>
            </a:r>
            <a:r>
              <a:rPr lang="en-US" sz="16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优化存储利用率和访问性能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59800" y="2946400"/>
            <a:ext cx="703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基于磁盘使用率进行 chunk 迁移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59800" y="3302000"/>
            <a:ext cx="703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基于网络流量进行负载均衡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61350" y="4070350"/>
            <a:ext cx="7480300" cy="3975100"/>
          </a:xfrm>
          <a:custGeom>
            <a:avLst/>
            <a:gdLst/>
            <a:ahLst/>
            <a:cxnLst/>
            <a:rect l="l" t="t" r="r" b="b"/>
            <a:pathLst>
              <a:path w="7480300" h="3975100">
                <a:moveTo>
                  <a:pt x="101604" y="0"/>
                </a:moveTo>
                <a:lnTo>
                  <a:pt x="7378696" y="0"/>
                </a:lnTo>
                <a:cubicBezTo>
                  <a:pt x="7434811" y="0"/>
                  <a:pt x="7480300" y="45489"/>
                  <a:pt x="7480300" y="101604"/>
                </a:cubicBezTo>
                <a:lnTo>
                  <a:pt x="7480300" y="3873496"/>
                </a:lnTo>
                <a:cubicBezTo>
                  <a:pt x="7480300" y="3929611"/>
                  <a:pt x="7434811" y="3975100"/>
                  <a:pt x="7378696" y="3975100"/>
                </a:cubicBezTo>
                <a:lnTo>
                  <a:pt x="101604" y="3975100"/>
                </a:lnTo>
                <a:cubicBezTo>
                  <a:pt x="45489" y="3975100"/>
                  <a:pt x="0" y="3929611"/>
                  <a:pt x="0" y="3873496"/>
                </a:cubicBezTo>
                <a:lnTo>
                  <a:pt x="0" y="101604"/>
                </a:lnTo>
                <a:cubicBezTo>
                  <a:pt x="0" y="45489"/>
                  <a:pt x="45489" y="0"/>
                  <a:pt x="101604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567738" y="43942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813800" y="4330700"/>
            <a:ext cx="678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三类元数据的存储策略</a:t>
            </a:r>
            <a:endParaRPr lang="en-US" sz="16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21700" y="4838700"/>
          <a:ext cx="6959600" cy="1879600"/>
        </p:xfrm>
        <a:graphic>
          <a:graphicData uri="http://schemas.openxmlformats.org/drawingml/2006/table">
            <a:tbl>
              <a:tblPr/>
              <a:tblGrid>
                <a:gridCol w="255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元数据类型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存储位置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持久化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获取方式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文件和 chunk 命名空间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内存 + 磁盘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是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操作日志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文件到 chunk 映射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内存 + 磁盘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是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操作日志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chunk 副本位置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仅内存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49505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否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ChunkServer 心跳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0" name="Shape 37"/>
          <p:cNvSpPr/>
          <p:nvPr/>
        </p:nvSpPr>
        <p:spPr>
          <a:xfrm>
            <a:off x="8547100" y="6870700"/>
            <a:ext cx="6934200" cy="914400"/>
          </a:xfrm>
          <a:custGeom>
            <a:avLst/>
            <a:gdLst/>
            <a:ahLst/>
            <a:cxnLst/>
            <a:rect l="l" t="t" r="r" b="b"/>
            <a:pathLst>
              <a:path w="6934200" h="914400">
                <a:moveTo>
                  <a:pt x="50800" y="0"/>
                </a:moveTo>
                <a:lnTo>
                  <a:pt x="6883396" y="0"/>
                </a:lnTo>
                <a:cubicBezTo>
                  <a:pt x="6911454" y="0"/>
                  <a:pt x="6934200" y="22746"/>
                  <a:pt x="6934200" y="50804"/>
                </a:cubicBezTo>
                <a:lnTo>
                  <a:pt x="6934200" y="863596"/>
                </a:lnTo>
                <a:cubicBezTo>
                  <a:pt x="6934200" y="891654"/>
                  <a:pt x="6911454" y="914400"/>
                  <a:pt x="6883396" y="914400"/>
                </a:cubicBez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8"/>
          <p:cNvSpPr/>
          <p:nvPr/>
        </p:nvSpPr>
        <p:spPr>
          <a:xfrm>
            <a:off x="8547100" y="6870700"/>
            <a:ext cx="50800" cy="914400"/>
          </a:xfrm>
          <a:custGeom>
            <a:avLst/>
            <a:gdLst/>
            <a:ahLst/>
            <a:cxnLst/>
            <a:rect l="l" t="t" r="r" b="b"/>
            <a:pathLst>
              <a:path w="50800" h="914400">
                <a:moveTo>
                  <a:pt x="50800" y="0"/>
                </a:moveTo>
                <a:lnTo>
                  <a:pt x="50800" y="0"/>
                </a:lnTo>
                <a:lnTo>
                  <a:pt x="50800" y="914400"/>
                </a:lnTo>
                <a:lnTo>
                  <a:pt x="50800" y="914400"/>
                </a:lnTo>
                <a:cubicBezTo>
                  <a:pt x="22763" y="914400"/>
                  <a:pt x="0" y="891637"/>
                  <a:pt x="0" y="86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9"/>
          <p:cNvSpPr/>
          <p:nvPr/>
        </p:nvSpPr>
        <p:spPr>
          <a:xfrm>
            <a:off x="8724900" y="7042150"/>
            <a:ext cx="32183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为什么 chunk 位置信息不持久化？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8724900" y="7378700"/>
            <a:ext cx="669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简化一致性维护、提高系统灵活性、减少存储开销、快速故障恢复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8268" y="622835"/>
            <a:ext cx="498268" cy="49827"/>
          </a:xfrm>
          <a:custGeom>
            <a:avLst/>
            <a:gdLst/>
            <a:ahLst/>
            <a:cxnLst/>
            <a:rect l="l" t="t" r="r" b="b"/>
            <a:pathLst>
              <a:path w="498268" h="49827">
                <a:moveTo>
                  <a:pt x="0" y="0"/>
                </a:moveTo>
                <a:lnTo>
                  <a:pt x="498268" y="0"/>
                </a:lnTo>
                <a:lnTo>
                  <a:pt x="498268" y="49827"/>
                </a:lnTo>
                <a:lnTo>
                  <a:pt x="0" y="49827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146017" y="498268"/>
            <a:ext cx="2067813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9" b="1" kern="0" spc="78" dirty="0">
                <a:solidFill>
                  <a:srgbClr val="D4A2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AVAILABILITY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98268" y="896883"/>
            <a:ext cx="15483684" cy="498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31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Master 的高可用性设计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23182" y="1594458"/>
            <a:ext cx="7474023" cy="2840129"/>
          </a:xfrm>
          <a:custGeom>
            <a:avLst/>
            <a:gdLst/>
            <a:ahLst/>
            <a:cxnLst/>
            <a:rect l="l" t="t" r="r" b="b"/>
            <a:pathLst>
              <a:path w="7474023" h="2840129">
                <a:moveTo>
                  <a:pt x="49827" y="0"/>
                </a:moveTo>
                <a:lnTo>
                  <a:pt x="7374363" y="0"/>
                </a:lnTo>
                <a:cubicBezTo>
                  <a:pt x="7429404" y="0"/>
                  <a:pt x="7474023" y="44619"/>
                  <a:pt x="7474023" y="99660"/>
                </a:cubicBezTo>
                <a:lnTo>
                  <a:pt x="7474023" y="2740469"/>
                </a:lnTo>
                <a:cubicBezTo>
                  <a:pt x="7474023" y="2795509"/>
                  <a:pt x="7429404" y="2840129"/>
                  <a:pt x="7374363" y="2840129"/>
                </a:cubicBezTo>
                <a:lnTo>
                  <a:pt x="49827" y="2840129"/>
                </a:lnTo>
                <a:cubicBezTo>
                  <a:pt x="22308" y="2840129"/>
                  <a:pt x="0" y="2817821"/>
                  <a:pt x="0" y="2790302"/>
                </a:cubicBezTo>
                <a:lnTo>
                  <a:pt x="0" y="49827"/>
                </a:lnTo>
                <a:cubicBezTo>
                  <a:pt x="0" y="22308"/>
                  <a:pt x="22308" y="0"/>
                  <a:pt x="49827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23182" y="1594458"/>
            <a:ext cx="49827" cy="2840129"/>
          </a:xfrm>
          <a:custGeom>
            <a:avLst/>
            <a:gdLst/>
            <a:ahLst/>
            <a:cxnLst/>
            <a:rect l="l" t="t" r="r" b="b"/>
            <a:pathLst>
              <a:path w="49827" h="2840129">
                <a:moveTo>
                  <a:pt x="49827" y="0"/>
                </a:moveTo>
                <a:lnTo>
                  <a:pt x="49827" y="0"/>
                </a:lnTo>
                <a:lnTo>
                  <a:pt x="49827" y="2840129"/>
                </a:lnTo>
                <a:lnTo>
                  <a:pt x="49827" y="2840129"/>
                </a:lnTo>
                <a:cubicBezTo>
                  <a:pt x="22308" y="2840129"/>
                  <a:pt x="0" y="2817821"/>
                  <a:pt x="0" y="2790302"/>
                </a:cubicBezTo>
                <a:lnTo>
                  <a:pt x="0" y="49827"/>
                </a:lnTo>
                <a:cubicBezTo>
                  <a:pt x="0" y="22308"/>
                  <a:pt x="22308" y="0"/>
                  <a:pt x="49827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97229" y="1843592"/>
            <a:ext cx="498268" cy="498268"/>
          </a:xfrm>
          <a:custGeom>
            <a:avLst/>
            <a:gdLst/>
            <a:ahLst/>
            <a:cxnLst/>
            <a:rect l="l" t="t" r="r" b="b"/>
            <a:pathLst>
              <a:path w="498268" h="498268">
                <a:moveTo>
                  <a:pt x="249134" y="0"/>
                </a:moveTo>
                <a:lnTo>
                  <a:pt x="249134" y="0"/>
                </a:lnTo>
                <a:cubicBezTo>
                  <a:pt x="386635" y="0"/>
                  <a:pt x="498268" y="111633"/>
                  <a:pt x="498268" y="249134"/>
                </a:cubicBezTo>
                <a:lnTo>
                  <a:pt x="498268" y="249134"/>
                </a:lnTo>
                <a:cubicBezTo>
                  <a:pt x="498268" y="386635"/>
                  <a:pt x="386635" y="498268"/>
                  <a:pt x="249134" y="498268"/>
                </a:cubicBezTo>
                <a:lnTo>
                  <a:pt x="249134" y="498268"/>
                </a:lnTo>
                <a:cubicBezTo>
                  <a:pt x="111633" y="498268"/>
                  <a:pt x="0" y="386635"/>
                  <a:pt x="0" y="249134"/>
                </a:cubicBezTo>
                <a:lnTo>
                  <a:pt x="0" y="249134"/>
                </a:lnTo>
                <a:cubicBezTo>
                  <a:pt x="0" y="111633"/>
                  <a:pt x="111633" y="0"/>
                  <a:pt x="249134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65395" y="1980616"/>
            <a:ext cx="168166" cy="224221"/>
          </a:xfrm>
          <a:custGeom>
            <a:avLst/>
            <a:gdLst/>
            <a:ahLst/>
            <a:cxnLst/>
            <a:rect l="l" t="t" r="r" b="b"/>
            <a:pathLst>
              <a:path w="168166" h="224221">
                <a:moveTo>
                  <a:pt x="0" y="28028"/>
                </a:moveTo>
                <a:cubicBezTo>
                  <a:pt x="0" y="12569"/>
                  <a:pt x="12569" y="0"/>
                  <a:pt x="28028" y="0"/>
                </a:cubicBezTo>
                <a:lnTo>
                  <a:pt x="93498" y="0"/>
                </a:lnTo>
                <a:cubicBezTo>
                  <a:pt x="100943" y="0"/>
                  <a:pt x="108081" y="2934"/>
                  <a:pt x="113337" y="8189"/>
                </a:cubicBezTo>
                <a:lnTo>
                  <a:pt x="159976" y="54873"/>
                </a:lnTo>
                <a:cubicBezTo>
                  <a:pt x="165231" y="60128"/>
                  <a:pt x="168166" y="67266"/>
                  <a:pt x="168166" y="74711"/>
                </a:cubicBezTo>
                <a:lnTo>
                  <a:pt x="168166" y="196193"/>
                </a:lnTo>
                <a:cubicBezTo>
                  <a:pt x="168166" y="211652"/>
                  <a:pt x="155597" y="224221"/>
                  <a:pt x="140138" y="224221"/>
                </a:cubicBezTo>
                <a:lnTo>
                  <a:pt x="28028" y="224221"/>
                </a:lnTo>
                <a:cubicBezTo>
                  <a:pt x="12569" y="224221"/>
                  <a:pt x="0" y="211652"/>
                  <a:pt x="0" y="196193"/>
                </a:cubicBezTo>
                <a:lnTo>
                  <a:pt x="0" y="28028"/>
                </a:lnTo>
                <a:close/>
                <a:moveTo>
                  <a:pt x="91090" y="25619"/>
                </a:moveTo>
                <a:lnTo>
                  <a:pt x="91090" y="66566"/>
                </a:lnTo>
                <a:cubicBezTo>
                  <a:pt x="91090" y="72390"/>
                  <a:pt x="95776" y="77076"/>
                  <a:pt x="101600" y="77076"/>
                </a:cubicBezTo>
                <a:lnTo>
                  <a:pt x="142547" y="77076"/>
                </a:lnTo>
                <a:lnTo>
                  <a:pt x="91090" y="25619"/>
                </a:lnTo>
                <a:close/>
                <a:moveTo>
                  <a:pt x="52552" y="112110"/>
                </a:moveTo>
                <a:cubicBezTo>
                  <a:pt x="46727" y="112110"/>
                  <a:pt x="42041" y="116796"/>
                  <a:pt x="42041" y="122621"/>
                </a:cubicBezTo>
                <a:cubicBezTo>
                  <a:pt x="42041" y="128445"/>
                  <a:pt x="46727" y="133131"/>
                  <a:pt x="52552" y="133131"/>
                </a:cubicBezTo>
                <a:lnTo>
                  <a:pt x="115614" y="133131"/>
                </a:lnTo>
                <a:cubicBezTo>
                  <a:pt x="121438" y="133131"/>
                  <a:pt x="126124" y="128445"/>
                  <a:pt x="126124" y="122621"/>
                </a:cubicBezTo>
                <a:cubicBezTo>
                  <a:pt x="126124" y="116796"/>
                  <a:pt x="121438" y="112110"/>
                  <a:pt x="115614" y="112110"/>
                </a:cubicBezTo>
                <a:lnTo>
                  <a:pt x="52552" y="112110"/>
                </a:lnTo>
                <a:close/>
                <a:moveTo>
                  <a:pt x="52552" y="154152"/>
                </a:moveTo>
                <a:cubicBezTo>
                  <a:pt x="46727" y="154152"/>
                  <a:pt x="42041" y="158838"/>
                  <a:pt x="42041" y="164662"/>
                </a:cubicBezTo>
                <a:cubicBezTo>
                  <a:pt x="42041" y="170487"/>
                  <a:pt x="46727" y="175172"/>
                  <a:pt x="52552" y="175172"/>
                </a:cubicBezTo>
                <a:lnTo>
                  <a:pt x="115614" y="175172"/>
                </a:lnTo>
                <a:cubicBezTo>
                  <a:pt x="121438" y="175172"/>
                  <a:pt x="126124" y="170487"/>
                  <a:pt x="126124" y="164662"/>
                </a:cubicBezTo>
                <a:cubicBezTo>
                  <a:pt x="126124" y="158838"/>
                  <a:pt x="121438" y="154152"/>
                  <a:pt x="115614" y="154152"/>
                </a:cubicBezTo>
                <a:lnTo>
                  <a:pt x="52552" y="154152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444978" y="1918333"/>
            <a:ext cx="2690648" cy="34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66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操作日志 (Operation Log)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7229" y="2491341"/>
            <a:ext cx="6950841" cy="498268"/>
          </a:xfrm>
          <a:custGeom>
            <a:avLst/>
            <a:gdLst/>
            <a:ahLst/>
            <a:cxnLst/>
            <a:rect l="l" t="t" r="r" b="b"/>
            <a:pathLst>
              <a:path w="6950841" h="498268">
                <a:moveTo>
                  <a:pt x="49827" y="0"/>
                </a:moveTo>
                <a:lnTo>
                  <a:pt x="6901015" y="0"/>
                </a:lnTo>
                <a:cubicBezTo>
                  <a:pt x="6928533" y="0"/>
                  <a:pt x="6950841" y="22308"/>
                  <a:pt x="6950841" y="49827"/>
                </a:cubicBezTo>
                <a:lnTo>
                  <a:pt x="6950841" y="448441"/>
                </a:lnTo>
                <a:cubicBezTo>
                  <a:pt x="6950841" y="475960"/>
                  <a:pt x="6928533" y="498268"/>
                  <a:pt x="6901015" y="498268"/>
                </a:cubicBezTo>
                <a:lnTo>
                  <a:pt x="49827" y="498268"/>
                </a:lnTo>
                <a:cubicBezTo>
                  <a:pt x="22308" y="498268"/>
                  <a:pt x="0" y="475960"/>
                  <a:pt x="0" y="448441"/>
                </a:cubicBezTo>
                <a:lnTo>
                  <a:pt x="0" y="49827"/>
                </a:lnTo>
                <a:cubicBezTo>
                  <a:pt x="0" y="22308"/>
                  <a:pt x="22308" y="0"/>
                  <a:pt x="49827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96883" y="2590995"/>
            <a:ext cx="6851188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作用</a:t>
            </a:r>
            <a:r>
              <a:rPr lang="en-US" sz="156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记录所有元数据变更操作，支持故障恢复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7229" y="3089263"/>
            <a:ext cx="6950841" cy="498268"/>
          </a:xfrm>
          <a:custGeom>
            <a:avLst/>
            <a:gdLst/>
            <a:ahLst/>
            <a:cxnLst/>
            <a:rect l="l" t="t" r="r" b="b"/>
            <a:pathLst>
              <a:path w="6950841" h="498268">
                <a:moveTo>
                  <a:pt x="49827" y="0"/>
                </a:moveTo>
                <a:lnTo>
                  <a:pt x="6901015" y="0"/>
                </a:lnTo>
                <a:cubicBezTo>
                  <a:pt x="6928533" y="0"/>
                  <a:pt x="6950841" y="22308"/>
                  <a:pt x="6950841" y="49827"/>
                </a:cubicBezTo>
                <a:lnTo>
                  <a:pt x="6950841" y="448441"/>
                </a:lnTo>
                <a:cubicBezTo>
                  <a:pt x="6950841" y="475960"/>
                  <a:pt x="6928533" y="498268"/>
                  <a:pt x="6901015" y="498268"/>
                </a:cubicBezTo>
                <a:lnTo>
                  <a:pt x="49827" y="498268"/>
                </a:lnTo>
                <a:cubicBezTo>
                  <a:pt x="22308" y="498268"/>
                  <a:pt x="0" y="475960"/>
                  <a:pt x="0" y="448441"/>
                </a:cubicBezTo>
                <a:lnTo>
                  <a:pt x="0" y="49827"/>
                </a:lnTo>
                <a:cubicBezTo>
                  <a:pt x="0" y="22308"/>
                  <a:pt x="22308" y="0"/>
                  <a:pt x="49827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96883" y="3188916"/>
            <a:ext cx="6851188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内容</a:t>
            </a:r>
            <a:r>
              <a:rPr lang="en-US" sz="156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操作类型、文件路径、chunk 标识等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7229" y="3687185"/>
            <a:ext cx="6950841" cy="498268"/>
          </a:xfrm>
          <a:custGeom>
            <a:avLst/>
            <a:gdLst/>
            <a:ahLst/>
            <a:cxnLst/>
            <a:rect l="l" t="t" r="r" b="b"/>
            <a:pathLst>
              <a:path w="6950841" h="498268">
                <a:moveTo>
                  <a:pt x="49827" y="0"/>
                </a:moveTo>
                <a:lnTo>
                  <a:pt x="6901015" y="0"/>
                </a:lnTo>
                <a:cubicBezTo>
                  <a:pt x="6928533" y="0"/>
                  <a:pt x="6950841" y="22308"/>
                  <a:pt x="6950841" y="49827"/>
                </a:cubicBezTo>
                <a:lnTo>
                  <a:pt x="6950841" y="448441"/>
                </a:lnTo>
                <a:cubicBezTo>
                  <a:pt x="6950841" y="475960"/>
                  <a:pt x="6928533" y="498268"/>
                  <a:pt x="6901015" y="498268"/>
                </a:cubicBezTo>
                <a:lnTo>
                  <a:pt x="49827" y="498268"/>
                </a:lnTo>
                <a:cubicBezTo>
                  <a:pt x="22308" y="498268"/>
                  <a:pt x="0" y="475960"/>
                  <a:pt x="0" y="448441"/>
                </a:cubicBezTo>
                <a:lnTo>
                  <a:pt x="0" y="49827"/>
                </a:lnTo>
                <a:cubicBezTo>
                  <a:pt x="0" y="22308"/>
                  <a:pt x="22308" y="0"/>
                  <a:pt x="49827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96883" y="3786838"/>
            <a:ext cx="6851188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持久化</a:t>
            </a:r>
            <a:r>
              <a:rPr lang="en-US" sz="156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写入本地磁盘和远程副本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3182" y="4633894"/>
            <a:ext cx="7474023" cy="2840129"/>
          </a:xfrm>
          <a:custGeom>
            <a:avLst/>
            <a:gdLst/>
            <a:ahLst/>
            <a:cxnLst/>
            <a:rect l="l" t="t" r="r" b="b"/>
            <a:pathLst>
              <a:path w="7474023" h="2840129">
                <a:moveTo>
                  <a:pt x="49827" y="0"/>
                </a:moveTo>
                <a:lnTo>
                  <a:pt x="7374363" y="0"/>
                </a:lnTo>
                <a:cubicBezTo>
                  <a:pt x="7429404" y="0"/>
                  <a:pt x="7474023" y="44619"/>
                  <a:pt x="7474023" y="99660"/>
                </a:cubicBezTo>
                <a:lnTo>
                  <a:pt x="7474023" y="2740469"/>
                </a:lnTo>
                <a:cubicBezTo>
                  <a:pt x="7474023" y="2795509"/>
                  <a:pt x="7429404" y="2840129"/>
                  <a:pt x="7374363" y="2840129"/>
                </a:cubicBezTo>
                <a:lnTo>
                  <a:pt x="49827" y="2840129"/>
                </a:lnTo>
                <a:cubicBezTo>
                  <a:pt x="22308" y="2840129"/>
                  <a:pt x="0" y="2817821"/>
                  <a:pt x="0" y="2790302"/>
                </a:cubicBezTo>
                <a:lnTo>
                  <a:pt x="0" y="49827"/>
                </a:lnTo>
                <a:cubicBezTo>
                  <a:pt x="0" y="22308"/>
                  <a:pt x="22308" y="0"/>
                  <a:pt x="49827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23182" y="4633894"/>
            <a:ext cx="49827" cy="2840129"/>
          </a:xfrm>
          <a:custGeom>
            <a:avLst/>
            <a:gdLst/>
            <a:ahLst/>
            <a:cxnLst/>
            <a:rect l="l" t="t" r="r" b="b"/>
            <a:pathLst>
              <a:path w="49827" h="2840129">
                <a:moveTo>
                  <a:pt x="49827" y="0"/>
                </a:moveTo>
                <a:lnTo>
                  <a:pt x="49827" y="0"/>
                </a:lnTo>
                <a:lnTo>
                  <a:pt x="49827" y="2840129"/>
                </a:lnTo>
                <a:lnTo>
                  <a:pt x="49827" y="2840129"/>
                </a:lnTo>
                <a:cubicBezTo>
                  <a:pt x="22308" y="2840129"/>
                  <a:pt x="0" y="2817821"/>
                  <a:pt x="0" y="2790302"/>
                </a:cubicBezTo>
                <a:lnTo>
                  <a:pt x="0" y="49827"/>
                </a:lnTo>
                <a:cubicBezTo>
                  <a:pt x="0" y="22308"/>
                  <a:pt x="22308" y="0"/>
                  <a:pt x="49827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797229" y="4883028"/>
            <a:ext cx="498268" cy="498268"/>
          </a:xfrm>
          <a:custGeom>
            <a:avLst/>
            <a:gdLst/>
            <a:ahLst/>
            <a:cxnLst/>
            <a:rect l="l" t="t" r="r" b="b"/>
            <a:pathLst>
              <a:path w="498268" h="498268">
                <a:moveTo>
                  <a:pt x="249134" y="0"/>
                </a:moveTo>
                <a:lnTo>
                  <a:pt x="249134" y="0"/>
                </a:lnTo>
                <a:cubicBezTo>
                  <a:pt x="386635" y="0"/>
                  <a:pt x="498268" y="111633"/>
                  <a:pt x="498268" y="249134"/>
                </a:cubicBezTo>
                <a:lnTo>
                  <a:pt x="498268" y="249134"/>
                </a:lnTo>
                <a:cubicBezTo>
                  <a:pt x="498268" y="386635"/>
                  <a:pt x="386635" y="498268"/>
                  <a:pt x="249134" y="498268"/>
                </a:cubicBezTo>
                <a:lnTo>
                  <a:pt x="249134" y="498268"/>
                </a:lnTo>
                <a:cubicBezTo>
                  <a:pt x="111633" y="498268"/>
                  <a:pt x="0" y="386635"/>
                  <a:pt x="0" y="249134"/>
                </a:cubicBezTo>
                <a:lnTo>
                  <a:pt x="0" y="249134"/>
                </a:lnTo>
                <a:cubicBezTo>
                  <a:pt x="0" y="111633"/>
                  <a:pt x="111633" y="0"/>
                  <a:pt x="249134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937367" y="5020052"/>
            <a:ext cx="224221" cy="224221"/>
          </a:xfrm>
          <a:custGeom>
            <a:avLst/>
            <a:gdLst/>
            <a:ahLst/>
            <a:cxnLst/>
            <a:rect l="l" t="t" r="r" b="b"/>
            <a:pathLst>
              <a:path w="224221" h="224221">
                <a:moveTo>
                  <a:pt x="28860" y="100067"/>
                </a:moveTo>
                <a:cubicBezTo>
                  <a:pt x="34684" y="59340"/>
                  <a:pt x="69762" y="28028"/>
                  <a:pt x="112110" y="28028"/>
                </a:cubicBezTo>
                <a:cubicBezTo>
                  <a:pt x="135321" y="28028"/>
                  <a:pt x="156341" y="37443"/>
                  <a:pt x="171581" y="52639"/>
                </a:cubicBezTo>
                <a:cubicBezTo>
                  <a:pt x="171669" y="52727"/>
                  <a:pt x="171757" y="52814"/>
                  <a:pt x="171844" y="52902"/>
                </a:cubicBezTo>
                <a:lnTo>
                  <a:pt x="175172" y="56055"/>
                </a:lnTo>
                <a:lnTo>
                  <a:pt x="154196" y="56055"/>
                </a:lnTo>
                <a:cubicBezTo>
                  <a:pt x="146444" y="56055"/>
                  <a:pt x="140182" y="62318"/>
                  <a:pt x="140182" y="70069"/>
                </a:cubicBezTo>
                <a:cubicBezTo>
                  <a:pt x="140182" y="77820"/>
                  <a:pt x="146444" y="84083"/>
                  <a:pt x="154196" y="84083"/>
                </a:cubicBezTo>
                <a:lnTo>
                  <a:pt x="210251" y="84083"/>
                </a:lnTo>
                <a:cubicBezTo>
                  <a:pt x="218002" y="84083"/>
                  <a:pt x="224264" y="77820"/>
                  <a:pt x="224264" y="70069"/>
                </a:cubicBezTo>
                <a:lnTo>
                  <a:pt x="224264" y="14014"/>
                </a:lnTo>
                <a:cubicBezTo>
                  <a:pt x="224264" y="6262"/>
                  <a:pt x="218002" y="0"/>
                  <a:pt x="210251" y="0"/>
                </a:cubicBezTo>
                <a:cubicBezTo>
                  <a:pt x="202499" y="0"/>
                  <a:pt x="196237" y="6262"/>
                  <a:pt x="196237" y="14014"/>
                </a:cubicBezTo>
                <a:lnTo>
                  <a:pt x="196237" y="37399"/>
                </a:lnTo>
                <a:lnTo>
                  <a:pt x="191288" y="32713"/>
                </a:lnTo>
                <a:cubicBezTo>
                  <a:pt x="171012" y="12525"/>
                  <a:pt x="142984" y="0"/>
                  <a:pt x="112110" y="0"/>
                </a:cubicBezTo>
                <a:cubicBezTo>
                  <a:pt x="55617" y="0"/>
                  <a:pt x="8890" y="41779"/>
                  <a:pt x="1139" y="96126"/>
                </a:cubicBezTo>
                <a:cubicBezTo>
                  <a:pt x="44" y="103790"/>
                  <a:pt x="5343" y="110884"/>
                  <a:pt x="13007" y="111979"/>
                </a:cubicBezTo>
                <a:cubicBezTo>
                  <a:pt x="20670" y="113074"/>
                  <a:pt x="27765" y="107731"/>
                  <a:pt x="28860" y="100111"/>
                </a:cubicBezTo>
                <a:close/>
                <a:moveTo>
                  <a:pt x="223082" y="128095"/>
                </a:moveTo>
                <a:cubicBezTo>
                  <a:pt x="224177" y="120431"/>
                  <a:pt x="218834" y="113337"/>
                  <a:pt x="211214" y="112242"/>
                </a:cubicBezTo>
                <a:cubicBezTo>
                  <a:pt x="203594" y="111147"/>
                  <a:pt x="196456" y="116490"/>
                  <a:pt x="195361" y="124110"/>
                </a:cubicBezTo>
                <a:cubicBezTo>
                  <a:pt x="189537" y="164837"/>
                  <a:pt x="154458" y="196149"/>
                  <a:pt x="112110" y="196149"/>
                </a:cubicBezTo>
                <a:cubicBezTo>
                  <a:pt x="88900" y="196149"/>
                  <a:pt x="67879" y="186734"/>
                  <a:pt x="52639" y="171538"/>
                </a:cubicBezTo>
                <a:cubicBezTo>
                  <a:pt x="52552" y="171450"/>
                  <a:pt x="52464" y="171362"/>
                  <a:pt x="52377" y="171275"/>
                </a:cubicBezTo>
                <a:lnTo>
                  <a:pt x="49048" y="168122"/>
                </a:lnTo>
                <a:lnTo>
                  <a:pt x="70025" y="168122"/>
                </a:lnTo>
                <a:cubicBezTo>
                  <a:pt x="77777" y="168122"/>
                  <a:pt x="84039" y="161859"/>
                  <a:pt x="84039" y="154108"/>
                </a:cubicBezTo>
                <a:cubicBezTo>
                  <a:pt x="84039" y="146357"/>
                  <a:pt x="77777" y="140094"/>
                  <a:pt x="70025" y="140094"/>
                </a:cubicBezTo>
                <a:lnTo>
                  <a:pt x="14014" y="140138"/>
                </a:lnTo>
                <a:cubicBezTo>
                  <a:pt x="10291" y="140138"/>
                  <a:pt x="6700" y="141627"/>
                  <a:pt x="4073" y="144298"/>
                </a:cubicBezTo>
                <a:cubicBezTo>
                  <a:pt x="1445" y="146970"/>
                  <a:pt x="-44" y="150517"/>
                  <a:pt x="0" y="154283"/>
                </a:cubicBezTo>
                <a:lnTo>
                  <a:pt x="438" y="209900"/>
                </a:lnTo>
                <a:cubicBezTo>
                  <a:pt x="482" y="217652"/>
                  <a:pt x="6832" y="223870"/>
                  <a:pt x="14583" y="223783"/>
                </a:cubicBezTo>
                <a:cubicBezTo>
                  <a:pt x="22334" y="223695"/>
                  <a:pt x="28553" y="217389"/>
                  <a:pt x="28466" y="209638"/>
                </a:cubicBezTo>
                <a:lnTo>
                  <a:pt x="28290" y="187084"/>
                </a:lnTo>
                <a:lnTo>
                  <a:pt x="32976" y="191507"/>
                </a:lnTo>
                <a:cubicBezTo>
                  <a:pt x="53252" y="211696"/>
                  <a:pt x="81236" y="224221"/>
                  <a:pt x="112110" y="224221"/>
                </a:cubicBezTo>
                <a:cubicBezTo>
                  <a:pt x="168603" y="224221"/>
                  <a:pt x="215331" y="182442"/>
                  <a:pt x="223082" y="128095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444978" y="4957769"/>
            <a:ext cx="2665735" cy="34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66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检查点 (Checkpoint) 机制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97229" y="5530777"/>
            <a:ext cx="6950841" cy="498268"/>
          </a:xfrm>
          <a:custGeom>
            <a:avLst/>
            <a:gdLst/>
            <a:ahLst/>
            <a:cxnLst/>
            <a:rect l="l" t="t" r="r" b="b"/>
            <a:pathLst>
              <a:path w="6950841" h="498268">
                <a:moveTo>
                  <a:pt x="49827" y="0"/>
                </a:moveTo>
                <a:lnTo>
                  <a:pt x="6901015" y="0"/>
                </a:lnTo>
                <a:cubicBezTo>
                  <a:pt x="6928533" y="0"/>
                  <a:pt x="6950841" y="22308"/>
                  <a:pt x="6950841" y="49827"/>
                </a:cubicBezTo>
                <a:lnTo>
                  <a:pt x="6950841" y="448441"/>
                </a:lnTo>
                <a:cubicBezTo>
                  <a:pt x="6950841" y="475960"/>
                  <a:pt x="6928533" y="498268"/>
                  <a:pt x="6901015" y="498268"/>
                </a:cubicBezTo>
                <a:lnTo>
                  <a:pt x="49827" y="498268"/>
                </a:lnTo>
                <a:cubicBezTo>
                  <a:pt x="22308" y="498268"/>
                  <a:pt x="0" y="475960"/>
                  <a:pt x="0" y="448441"/>
                </a:cubicBezTo>
                <a:lnTo>
                  <a:pt x="0" y="49827"/>
                </a:lnTo>
                <a:cubicBezTo>
                  <a:pt x="0" y="22308"/>
                  <a:pt x="22308" y="0"/>
                  <a:pt x="49827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96883" y="5630431"/>
            <a:ext cx="6851188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目的</a:t>
            </a:r>
            <a:r>
              <a:rPr lang="en-US" sz="156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加速恢复过程，避免重放过长日志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97229" y="6128699"/>
            <a:ext cx="6950841" cy="498268"/>
          </a:xfrm>
          <a:custGeom>
            <a:avLst/>
            <a:gdLst/>
            <a:ahLst/>
            <a:cxnLst/>
            <a:rect l="l" t="t" r="r" b="b"/>
            <a:pathLst>
              <a:path w="6950841" h="498268">
                <a:moveTo>
                  <a:pt x="49827" y="0"/>
                </a:moveTo>
                <a:lnTo>
                  <a:pt x="6901015" y="0"/>
                </a:lnTo>
                <a:cubicBezTo>
                  <a:pt x="6928533" y="0"/>
                  <a:pt x="6950841" y="22308"/>
                  <a:pt x="6950841" y="49827"/>
                </a:cubicBezTo>
                <a:lnTo>
                  <a:pt x="6950841" y="448441"/>
                </a:lnTo>
                <a:cubicBezTo>
                  <a:pt x="6950841" y="475960"/>
                  <a:pt x="6928533" y="498268"/>
                  <a:pt x="6901015" y="498268"/>
                </a:cubicBezTo>
                <a:lnTo>
                  <a:pt x="49827" y="498268"/>
                </a:lnTo>
                <a:cubicBezTo>
                  <a:pt x="22308" y="498268"/>
                  <a:pt x="0" y="475960"/>
                  <a:pt x="0" y="448441"/>
                </a:cubicBezTo>
                <a:lnTo>
                  <a:pt x="0" y="49827"/>
                </a:lnTo>
                <a:cubicBezTo>
                  <a:pt x="0" y="22308"/>
                  <a:pt x="22308" y="0"/>
                  <a:pt x="49827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96883" y="6228352"/>
            <a:ext cx="6851188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策略</a:t>
            </a:r>
            <a:r>
              <a:rPr lang="en-US" sz="156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定期创建内存状态快照，压缩存储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97229" y="6726621"/>
            <a:ext cx="6950841" cy="498268"/>
          </a:xfrm>
          <a:custGeom>
            <a:avLst/>
            <a:gdLst/>
            <a:ahLst/>
            <a:cxnLst/>
            <a:rect l="l" t="t" r="r" b="b"/>
            <a:pathLst>
              <a:path w="6950841" h="498268">
                <a:moveTo>
                  <a:pt x="49827" y="0"/>
                </a:moveTo>
                <a:lnTo>
                  <a:pt x="6901015" y="0"/>
                </a:lnTo>
                <a:cubicBezTo>
                  <a:pt x="6928533" y="0"/>
                  <a:pt x="6950841" y="22308"/>
                  <a:pt x="6950841" y="49827"/>
                </a:cubicBezTo>
                <a:lnTo>
                  <a:pt x="6950841" y="448441"/>
                </a:lnTo>
                <a:cubicBezTo>
                  <a:pt x="6950841" y="475960"/>
                  <a:pt x="6928533" y="498268"/>
                  <a:pt x="6901015" y="498268"/>
                </a:cubicBezTo>
                <a:lnTo>
                  <a:pt x="49827" y="498268"/>
                </a:lnTo>
                <a:cubicBezTo>
                  <a:pt x="22308" y="498268"/>
                  <a:pt x="0" y="475960"/>
                  <a:pt x="0" y="448441"/>
                </a:cubicBezTo>
                <a:lnTo>
                  <a:pt x="0" y="49827"/>
                </a:lnTo>
                <a:cubicBezTo>
                  <a:pt x="0" y="22308"/>
                  <a:pt x="22308" y="0"/>
                  <a:pt x="49827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96883" y="6826274"/>
            <a:ext cx="6851188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恢复</a:t>
            </a:r>
            <a:r>
              <a:rPr lang="en-US" sz="156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加载最新检查点 + 重放后续日志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76702" y="1423005"/>
            <a:ext cx="7474023" cy="2840129"/>
          </a:xfrm>
          <a:custGeom>
            <a:avLst/>
            <a:gdLst/>
            <a:ahLst/>
            <a:cxnLst/>
            <a:rect l="l" t="t" r="r" b="b"/>
            <a:pathLst>
              <a:path w="7474023" h="2840129">
                <a:moveTo>
                  <a:pt x="49827" y="0"/>
                </a:moveTo>
                <a:lnTo>
                  <a:pt x="7374363" y="0"/>
                </a:lnTo>
                <a:cubicBezTo>
                  <a:pt x="7429404" y="0"/>
                  <a:pt x="7474023" y="44619"/>
                  <a:pt x="7474023" y="99660"/>
                </a:cubicBezTo>
                <a:lnTo>
                  <a:pt x="7474023" y="2740469"/>
                </a:lnTo>
                <a:cubicBezTo>
                  <a:pt x="7474023" y="2795509"/>
                  <a:pt x="7429404" y="2840129"/>
                  <a:pt x="7374363" y="2840129"/>
                </a:cubicBezTo>
                <a:lnTo>
                  <a:pt x="49827" y="2840129"/>
                </a:lnTo>
                <a:cubicBezTo>
                  <a:pt x="22308" y="2840129"/>
                  <a:pt x="0" y="2817821"/>
                  <a:pt x="0" y="2790302"/>
                </a:cubicBezTo>
                <a:lnTo>
                  <a:pt x="0" y="49827"/>
                </a:lnTo>
                <a:cubicBezTo>
                  <a:pt x="0" y="22308"/>
                  <a:pt x="22308" y="0"/>
                  <a:pt x="49827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276702" y="1423005"/>
            <a:ext cx="49827" cy="2840129"/>
          </a:xfrm>
          <a:custGeom>
            <a:avLst/>
            <a:gdLst/>
            <a:ahLst/>
            <a:cxnLst/>
            <a:rect l="l" t="t" r="r" b="b"/>
            <a:pathLst>
              <a:path w="49827" h="2840129">
                <a:moveTo>
                  <a:pt x="49827" y="0"/>
                </a:moveTo>
                <a:lnTo>
                  <a:pt x="49827" y="0"/>
                </a:lnTo>
                <a:lnTo>
                  <a:pt x="49827" y="2840129"/>
                </a:lnTo>
                <a:lnTo>
                  <a:pt x="49827" y="2840129"/>
                </a:lnTo>
                <a:cubicBezTo>
                  <a:pt x="22308" y="2840129"/>
                  <a:pt x="0" y="2817821"/>
                  <a:pt x="0" y="2790302"/>
                </a:cubicBezTo>
                <a:lnTo>
                  <a:pt x="0" y="49827"/>
                </a:lnTo>
                <a:cubicBezTo>
                  <a:pt x="0" y="22308"/>
                  <a:pt x="22308" y="0"/>
                  <a:pt x="49827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550749" y="1672139"/>
            <a:ext cx="498268" cy="498268"/>
          </a:xfrm>
          <a:custGeom>
            <a:avLst/>
            <a:gdLst/>
            <a:ahLst/>
            <a:cxnLst/>
            <a:rect l="l" t="t" r="r" b="b"/>
            <a:pathLst>
              <a:path w="498268" h="498268">
                <a:moveTo>
                  <a:pt x="249134" y="0"/>
                </a:moveTo>
                <a:lnTo>
                  <a:pt x="249134" y="0"/>
                </a:lnTo>
                <a:cubicBezTo>
                  <a:pt x="386635" y="0"/>
                  <a:pt x="498268" y="111633"/>
                  <a:pt x="498268" y="249134"/>
                </a:cubicBezTo>
                <a:lnTo>
                  <a:pt x="498268" y="249134"/>
                </a:lnTo>
                <a:cubicBezTo>
                  <a:pt x="498268" y="386635"/>
                  <a:pt x="386635" y="498268"/>
                  <a:pt x="249134" y="498268"/>
                </a:cubicBezTo>
                <a:lnTo>
                  <a:pt x="249134" y="498268"/>
                </a:lnTo>
                <a:cubicBezTo>
                  <a:pt x="111633" y="498268"/>
                  <a:pt x="0" y="386635"/>
                  <a:pt x="0" y="249134"/>
                </a:cubicBezTo>
                <a:lnTo>
                  <a:pt x="0" y="249134"/>
                </a:lnTo>
                <a:cubicBezTo>
                  <a:pt x="0" y="111633"/>
                  <a:pt x="111633" y="0"/>
                  <a:pt x="249134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676874" y="1809163"/>
            <a:ext cx="252248" cy="224221"/>
          </a:xfrm>
          <a:custGeom>
            <a:avLst/>
            <a:gdLst/>
            <a:ahLst/>
            <a:cxnLst/>
            <a:rect l="l" t="t" r="r" b="b"/>
            <a:pathLst>
              <a:path w="252248" h="224221">
                <a:moveTo>
                  <a:pt x="98097" y="108607"/>
                </a:moveTo>
                <a:cubicBezTo>
                  <a:pt x="127101" y="108607"/>
                  <a:pt x="150648" y="85059"/>
                  <a:pt x="150648" y="56055"/>
                </a:cubicBezTo>
                <a:cubicBezTo>
                  <a:pt x="150648" y="27051"/>
                  <a:pt x="127101" y="3503"/>
                  <a:pt x="98097" y="3503"/>
                </a:cubicBezTo>
                <a:cubicBezTo>
                  <a:pt x="69092" y="3503"/>
                  <a:pt x="45545" y="27051"/>
                  <a:pt x="45545" y="56055"/>
                </a:cubicBezTo>
                <a:cubicBezTo>
                  <a:pt x="45545" y="85059"/>
                  <a:pt x="69092" y="108607"/>
                  <a:pt x="98097" y="108607"/>
                </a:cubicBezTo>
                <a:close/>
                <a:moveTo>
                  <a:pt x="85090" y="133131"/>
                </a:moveTo>
                <a:cubicBezTo>
                  <a:pt x="41954" y="133131"/>
                  <a:pt x="7007" y="168078"/>
                  <a:pt x="7007" y="211214"/>
                </a:cubicBezTo>
                <a:cubicBezTo>
                  <a:pt x="7007" y="218396"/>
                  <a:pt x="12831" y="224221"/>
                  <a:pt x="20013" y="224221"/>
                </a:cubicBezTo>
                <a:lnTo>
                  <a:pt x="130153" y="224221"/>
                </a:lnTo>
                <a:cubicBezTo>
                  <a:pt x="114300" y="205565"/>
                  <a:pt x="105103" y="181522"/>
                  <a:pt x="105103" y="156079"/>
                </a:cubicBezTo>
                <a:lnTo>
                  <a:pt x="105103" y="142459"/>
                </a:lnTo>
                <a:cubicBezTo>
                  <a:pt x="105103" y="139262"/>
                  <a:pt x="105541" y="136109"/>
                  <a:pt x="106373" y="133131"/>
                </a:cubicBezTo>
                <a:lnTo>
                  <a:pt x="85090" y="133131"/>
                </a:lnTo>
                <a:close/>
                <a:moveTo>
                  <a:pt x="195011" y="213929"/>
                </a:moveTo>
                <a:lnTo>
                  <a:pt x="189186" y="216688"/>
                </a:lnTo>
                <a:lnTo>
                  <a:pt x="189186" y="134313"/>
                </a:lnTo>
                <a:lnTo>
                  <a:pt x="231228" y="148327"/>
                </a:lnTo>
                <a:lnTo>
                  <a:pt x="231228" y="156911"/>
                </a:lnTo>
                <a:cubicBezTo>
                  <a:pt x="231228" y="181347"/>
                  <a:pt x="217126" y="203550"/>
                  <a:pt x="195011" y="213973"/>
                </a:cubicBezTo>
                <a:close/>
                <a:moveTo>
                  <a:pt x="184763" y="113643"/>
                </a:moveTo>
                <a:lnTo>
                  <a:pt x="135715" y="129978"/>
                </a:lnTo>
                <a:cubicBezTo>
                  <a:pt x="129978" y="131905"/>
                  <a:pt x="126124" y="137248"/>
                  <a:pt x="126124" y="143291"/>
                </a:cubicBezTo>
                <a:lnTo>
                  <a:pt x="126124" y="156911"/>
                </a:lnTo>
                <a:cubicBezTo>
                  <a:pt x="126124" y="189493"/>
                  <a:pt x="144955" y="219141"/>
                  <a:pt x="174384" y="232979"/>
                </a:cubicBezTo>
                <a:lnTo>
                  <a:pt x="182486" y="236789"/>
                </a:lnTo>
                <a:cubicBezTo>
                  <a:pt x="184588" y="237753"/>
                  <a:pt x="186865" y="238278"/>
                  <a:pt x="189142" y="238278"/>
                </a:cubicBezTo>
                <a:cubicBezTo>
                  <a:pt x="191420" y="238278"/>
                  <a:pt x="193741" y="237753"/>
                  <a:pt x="195799" y="236789"/>
                </a:cubicBezTo>
                <a:lnTo>
                  <a:pt x="203901" y="232979"/>
                </a:lnTo>
                <a:cubicBezTo>
                  <a:pt x="233417" y="219097"/>
                  <a:pt x="252248" y="189449"/>
                  <a:pt x="252248" y="156867"/>
                </a:cubicBezTo>
                <a:lnTo>
                  <a:pt x="252248" y="143247"/>
                </a:lnTo>
                <a:cubicBezTo>
                  <a:pt x="252248" y="137204"/>
                  <a:pt x="248394" y="131861"/>
                  <a:pt x="242658" y="129934"/>
                </a:cubicBezTo>
                <a:lnTo>
                  <a:pt x="193609" y="113599"/>
                </a:lnTo>
                <a:cubicBezTo>
                  <a:pt x="190719" y="112636"/>
                  <a:pt x="187610" y="112636"/>
                  <a:pt x="184763" y="113599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9198498" y="1746880"/>
            <a:ext cx="3026979" cy="34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66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影子主节点 (Shadow Master)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550749" y="2319888"/>
            <a:ext cx="6950841" cy="498268"/>
          </a:xfrm>
          <a:custGeom>
            <a:avLst/>
            <a:gdLst/>
            <a:ahLst/>
            <a:cxnLst/>
            <a:rect l="l" t="t" r="r" b="b"/>
            <a:pathLst>
              <a:path w="6950841" h="498268">
                <a:moveTo>
                  <a:pt x="49827" y="0"/>
                </a:moveTo>
                <a:lnTo>
                  <a:pt x="6901015" y="0"/>
                </a:lnTo>
                <a:cubicBezTo>
                  <a:pt x="6928533" y="0"/>
                  <a:pt x="6950841" y="22308"/>
                  <a:pt x="6950841" y="49827"/>
                </a:cubicBezTo>
                <a:lnTo>
                  <a:pt x="6950841" y="448441"/>
                </a:lnTo>
                <a:cubicBezTo>
                  <a:pt x="6950841" y="475960"/>
                  <a:pt x="6928533" y="498268"/>
                  <a:pt x="6901015" y="498268"/>
                </a:cubicBezTo>
                <a:lnTo>
                  <a:pt x="49827" y="498268"/>
                </a:lnTo>
                <a:cubicBezTo>
                  <a:pt x="22308" y="498268"/>
                  <a:pt x="0" y="475960"/>
                  <a:pt x="0" y="448441"/>
                </a:cubicBezTo>
                <a:lnTo>
                  <a:pt x="0" y="49827"/>
                </a:lnTo>
                <a:cubicBezTo>
                  <a:pt x="0" y="22308"/>
                  <a:pt x="22308" y="0"/>
                  <a:pt x="49827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650403" y="2419542"/>
            <a:ext cx="6851188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</a:t>
            </a:r>
            <a:r>
              <a:rPr lang="en-US" sz="156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提供只读访问，分担 Master 负载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550749" y="2917810"/>
            <a:ext cx="6950841" cy="498268"/>
          </a:xfrm>
          <a:custGeom>
            <a:avLst/>
            <a:gdLst/>
            <a:ahLst/>
            <a:cxnLst/>
            <a:rect l="l" t="t" r="r" b="b"/>
            <a:pathLst>
              <a:path w="6950841" h="498268">
                <a:moveTo>
                  <a:pt x="49827" y="0"/>
                </a:moveTo>
                <a:lnTo>
                  <a:pt x="6901015" y="0"/>
                </a:lnTo>
                <a:cubicBezTo>
                  <a:pt x="6928533" y="0"/>
                  <a:pt x="6950841" y="22308"/>
                  <a:pt x="6950841" y="49827"/>
                </a:cubicBezTo>
                <a:lnTo>
                  <a:pt x="6950841" y="448441"/>
                </a:lnTo>
                <a:cubicBezTo>
                  <a:pt x="6950841" y="475960"/>
                  <a:pt x="6928533" y="498268"/>
                  <a:pt x="6901015" y="498268"/>
                </a:cubicBezTo>
                <a:lnTo>
                  <a:pt x="49827" y="498268"/>
                </a:lnTo>
                <a:cubicBezTo>
                  <a:pt x="22308" y="498268"/>
                  <a:pt x="0" y="475960"/>
                  <a:pt x="0" y="448441"/>
                </a:cubicBezTo>
                <a:lnTo>
                  <a:pt x="0" y="49827"/>
                </a:lnTo>
                <a:cubicBezTo>
                  <a:pt x="0" y="22308"/>
                  <a:pt x="22308" y="0"/>
                  <a:pt x="49827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650403" y="3017463"/>
            <a:ext cx="6851188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同步</a:t>
            </a:r>
            <a:r>
              <a:rPr lang="en-US" sz="156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实时同步操作日志，略有延迟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50749" y="3515732"/>
            <a:ext cx="6950841" cy="498268"/>
          </a:xfrm>
          <a:custGeom>
            <a:avLst/>
            <a:gdLst/>
            <a:ahLst/>
            <a:cxnLst/>
            <a:rect l="l" t="t" r="r" b="b"/>
            <a:pathLst>
              <a:path w="6950841" h="498268">
                <a:moveTo>
                  <a:pt x="49827" y="0"/>
                </a:moveTo>
                <a:lnTo>
                  <a:pt x="6901015" y="0"/>
                </a:lnTo>
                <a:cubicBezTo>
                  <a:pt x="6928533" y="0"/>
                  <a:pt x="6950841" y="22308"/>
                  <a:pt x="6950841" y="49827"/>
                </a:cubicBezTo>
                <a:lnTo>
                  <a:pt x="6950841" y="448441"/>
                </a:lnTo>
                <a:cubicBezTo>
                  <a:pt x="6950841" y="475960"/>
                  <a:pt x="6928533" y="498268"/>
                  <a:pt x="6901015" y="498268"/>
                </a:cubicBezTo>
                <a:lnTo>
                  <a:pt x="49827" y="498268"/>
                </a:lnTo>
                <a:cubicBezTo>
                  <a:pt x="22308" y="498268"/>
                  <a:pt x="0" y="475960"/>
                  <a:pt x="0" y="448441"/>
                </a:cubicBezTo>
                <a:lnTo>
                  <a:pt x="0" y="49827"/>
                </a:lnTo>
                <a:cubicBezTo>
                  <a:pt x="0" y="22308"/>
                  <a:pt x="22308" y="0"/>
                  <a:pt x="49827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650403" y="3615385"/>
            <a:ext cx="6851188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切换</a:t>
            </a:r>
            <a:r>
              <a:rPr lang="en-US" sz="156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Master 故障时秒级切换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58017" y="4468670"/>
            <a:ext cx="7486480" cy="4496870"/>
          </a:xfrm>
          <a:custGeom>
            <a:avLst/>
            <a:gdLst/>
            <a:ahLst/>
            <a:cxnLst/>
            <a:rect l="l" t="t" r="r" b="b"/>
            <a:pathLst>
              <a:path w="7486480" h="4496870">
                <a:moveTo>
                  <a:pt x="99651" y="0"/>
                </a:moveTo>
                <a:lnTo>
                  <a:pt x="7386829" y="0"/>
                </a:lnTo>
                <a:cubicBezTo>
                  <a:pt x="7441865" y="0"/>
                  <a:pt x="7486480" y="44615"/>
                  <a:pt x="7486480" y="99651"/>
                </a:cubicBezTo>
                <a:lnTo>
                  <a:pt x="7486480" y="4397220"/>
                </a:lnTo>
                <a:cubicBezTo>
                  <a:pt x="7486480" y="4452255"/>
                  <a:pt x="7441865" y="4496870"/>
                  <a:pt x="7386829" y="4496870"/>
                </a:cubicBezTo>
                <a:lnTo>
                  <a:pt x="99651" y="4496870"/>
                </a:lnTo>
                <a:cubicBezTo>
                  <a:pt x="44615" y="4496870"/>
                  <a:pt x="0" y="4452255"/>
                  <a:pt x="0" y="4397220"/>
                </a:cubicBezTo>
                <a:lnTo>
                  <a:pt x="0" y="99651"/>
                </a:lnTo>
                <a:cubicBezTo>
                  <a:pt x="0" y="44615"/>
                  <a:pt x="44615" y="0"/>
                  <a:pt x="99651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8544521" y="4786316"/>
            <a:ext cx="224221" cy="224221"/>
          </a:xfrm>
          <a:custGeom>
            <a:avLst/>
            <a:gdLst/>
            <a:ahLst/>
            <a:cxnLst/>
            <a:rect l="l" t="t" r="r" b="b"/>
            <a:pathLst>
              <a:path w="224221" h="224221">
                <a:moveTo>
                  <a:pt x="191244" y="32713"/>
                </a:moveTo>
                <a:lnTo>
                  <a:pt x="196193" y="37399"/>
                </a:lnTo>
                <a:lnTo>
                  <a:pt x="196193" y="14014"/>
                </a:lnTo>
                <a:cubicBezTo>
                  <a:pt x="196193" y="6262"/>
                  <a:pt x="202456" y="0"/>
                  <a:pt x="210207" y="0"/>
                </a:cubicBezTo>
                <a:cubicBezTo>
                  <a:pt x="217958" y="0"/>
                  <a:pt x="224221" y="6262"/>
                  <a:pt x="224221" y="14014"/>
                </a:cubicBezTo>
                <a:lnTo>
                  <a:pt x="224221" y="70069"/>
                </a:lnTo>
                <a:cubicBezTo>
                  <a:pt x="224221" y="77820"/>
                  <a:pt x="217958" y="84083"/>
                  <a:pt x="210207" y="84083"/>
                </a:cubicBezTo>
                <a:lnTo>
                  <a:pt x="154152" y="84083"/>
                </a:lnTo>
                <a:cubicBezTo>
                  <a:pt x="146400" y="84083"/>
                  <a:pt x="140138" y="77820"/>
                  <a:pt x="140138" y="70069"/>
                </a:cubicBezTo>
                <a:cubicBezTo>
                  <a:pt x="140138" y="62318"/>
                  <a:pt x="146400" y="56055"/>
                  <a:pt x="154152" y="56055"/>
                </a:cubicBezTo>
                <a:lnTo>
                  <a:pt x="175129" y="56055"/>
                </a:lnTo>
                <a:lnTo>
                  <a:pt x="171800" y="52902"/>
                </a:lnTo>
                <a:cubicBezTo>
                  <a:pt x="171713" y="52814"/>
                  <a:pt x="171625" y="52727"/>
                  <a:pt x="171538" y="52639"/>
                </a:cubicBezTo>
                <a:cubicBezTo>
                  <a:pt x="138693" y="19794"/>
                  <a:pt x="85484" y="19794"/>
                  <a:pt x="52639" y="52639"/>
                </a:cubicBezTo>
                <a:cubicBezTo>
                  <a:pt x="19794" y="85484"/>
                  <a:pt x="19794" y="138693"/>
                  <a:pt x="52639" y="171538"/>
                </a:cubicBezTo>
                <a:cubicBezTo>
                  <a:pt x="85484" y="204382"/>
                  <a:pt x="138693" y="204382"/>
                  <a:pt x="171538" y="171538"/>
                </a:cubicBezTo>
                <a:cubicBezTo>
                  <a:pt x="175129" y="167947"/>
                  <a:pt x="178326" y="164137"/>
                  <a:pt x="181128" y="160108"/>
                </a:cubicBezTo>
                <a:cubicBezTo>
                  <a:pt x="185551" y="153758"/>
                  <a:pt x="194310" y="152225"/>
                  <a:pt x="200660" y="156648"/>
                </a:cubicBezTo>
                <a:cubicBezTo>
                  <a:pt x="207010" y="161071"/>
                  <a:pt x="208543" y="169830"/>
                  <a:pt x="204120" y="176180"/>
                </a:cubicBezTo>
                <a:cubicBezTo>
                  <a:pt x="200397" y="181522"/>
                  <a:pt x="196149" y="186602"/>
                  <a:pt x="191376" y="191376"/>
                </a:cubicBezTo>
                <a:cubicBezTo>
                  <a:pt x="147583" y="235169"/>
                  <a:pt x="76594" y="235169"/>
                  <a:pt x="32845" y="191376"/>
                </a:cubicBezTo>
                <a:cubicBezTo>
                  <a:pt x="-10904" y="147583"/>
                  <a:pt x="-10948" y="76638"/>
                  <a:pt x="32845" y="32845"/>
                </a:cubicBezTo>
                <a:cubicBezTo>
                  <a:pt x="76594" y="-10904"/>
                  <a:pt x="147451" y="-10948"/>
                  <a:pt x="191244" y="32713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799884" y="4724032"/>
            <a:ext cx="6801361" cy="348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66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Master 故障恢复流程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513379" y="5222300"/>
            <a:ext cx="6975755" cy="498268"/>
          </a:xfrm>
          <a:custGeom>
            <a:avLst/>
            <a:gdLst/>
            <a:ahLst/>
            <a:cxnLst/>
            <a:rect l="l" t="t" r="r" b="b"/>
            <a:pathLst>
              <a:path w="6975755" h="498268">
                <a:moveTo>
                  <a:pt x="49827" y="0"/>
                </a:moveTo>
                <a:lnTo>
                  <a:pt x="6925928" y="0"/>
                </a:lnTo>
                <a:cubicBezTo>
                  <a:pt x="6953447" y="0"/>
                  <a:pt x="6975755" y="22308"/>
                  <a:pt x="6975755" y="49827"/>
                </a:cubicBezTo>
                <a:lnTo>
                  <a:pt x="6975755" y="448441"/>
                </a:lnTo>
                <a:cubicBezTo>
                  <a:pt x="6975755" y="475960"/>
                  <a:pt x="6953447" y="498268"/>
                  <a:pt x="6925928" y="498268"/>
                </a:cubicBezTo>
                <a:lnTo>
                  <a:pt x="49827" y="498268"/>
                </a:lnTo>
                <a:cubicBezTo>
                  <a:pt x="22308" y="498268"/>
                  <a:pt x="0" y="475960"/>
                  <a:pt x="0" y="448441"/>
                </a:cubicBezTo>
                <a:lnTo>
                  <a:pt x="0" y="49827"/>
                </a:lnTo>
                <a:cubicBezTo>
                  <a:pt x="0" y="22308"/>
                  <a:pt x="22308" y="0"/>
                  <a:pt x="49827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8613033" y="5321954"/>
            <a:ext cx="298961" cy="298961"/>
          </a:xfrm>
          <a:custGeom>
            <a:avLst/>
            <a:gdLst/>
            <a:ahLst/>
            <a:cxnLst/>
            <a:rect l="l" t="t" r="r" b="b"/>
            <a:pathLst>
              <a:path w="298961" h="298961">
                <a:moveTo>
                  <a:pt x="149480" y="0"/>
                </a:moveTo>
                <a:lnTo>
                  <a:pt x="149480" y="0"/>
                </a:lnTo>
                <a:cubicBezTo>
                  <a:pt x="231981" y="0"/>
                  <a:pt x="298961" y="66980"/>
                  <a:pt x="298961" y="149480"/>
                </a:cubicBezTo>
                <a:lnTo>
                  <a:pt x="298961" y="149480"/>
                </a:lnTo>
                <a:cubicBezTo>
                  <a:pt x="298961" y="231981"/>
                  <a:pt x="231981" y="298961"/>
                  <a:pt x="149480" y="298961"/>
                </a:cubicBezTo>
                <a:lnTo>
                  <a:pt x="149480" y="298961"/>
                </a:lnTo>
                <a:cubicBezTo>
                  <a:pt x="66980" y="298961"/>
                  <a:pt x="0" y="231981"/>
                  <a:pt x="0" y="149480"/>
                </a:cubicBezTo>
                <a:lnTo>
                  <a:pt x="0" y="149480"/>
                </a:lnTo>
                <a:cubicBezTo>
                  <a:pt x="0" y="66980"/>
                  <a:pt x="66980" y="0"/>
                  <a:pt x="14948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569434" y="5321954"/>
            <a:ext cx="386158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3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011648" y="5321954"/>
            <a:ext cx="2092726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故障检测（心跳超时）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513379" y="5820222"/>
            <a:ext cx="6975755" cy="498268"/>
          </a:xfrm>
          <a:custGeom>
            <a:avLst/>
            <a:gdLst/>
            <a:ahLst/>
            <a:cxnLst/>
            <a:rect l="l" t="t" r="r" b="b"/>
            <a:pathLst>
              <a:path w="6975755" h="498268">
                <a:moveTo>
                  <a:pt x="49827" y="0"/>
                </a:moveTo>
                <a:lnTo>
                  <a:pt x="6925928" y="0"/>
                </a:lnTo>
                <a:cubicBezTo>
                  <a:pt x="6953447" y="0"/>
                  <a:pt x="6975755" y="22308"/>
                  <a:pt x="6975755" y="49827"/>
                </a:cubicBezTo>
                <a:lnTo>
                  <a:pt x="6975755" y="448441"/>
                </a:lnTo>
                <a:cubicBezTo>
                  <a:pt x="6975755" y="475960"/>
                  <a:pt x="6953447" y="498268"/>
                  <a:pt x="6925928" y="498268"/>
                </a:cubicBezTo>
                <a:lnTo>
                  <a:pt x="49827" y="498268"/>
                </a:lnTo>
                <a:cubicBezTo>
                  <a:pt x="22308" y="498268"/>
                  <a:pt x="0" y="475960"/>
                  <a:pt x="0" y="448441"/>
                </a:cubicBezTo>
                <a:lnTo>
                  <a:pt x="0" y="49827"/>
                </a:lnTo>
                <a:cubicBezTo>
                  <a:pt x="0" y="22308"/>
                  <a:pt x="22308" y="0"/>
                  <a:pt x="49827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8613033" y="5919876"/>
            <a:ext cx="298961" cy="298961"/>
          </a:xfrm>
          <a:custGeom>
            <a:avLst/>
            <a:gdLst/>
            <a:ahLst/>
            <a:cxnLst/>
            <a:rect l="l" t="t" r="r" b="b"/>
            <a:pathLst>
              <a:path w="298961" h="298961">
                <a:moveTo>
                  <a:pt x="149480" y="0"/>
                </a:moveTo>
                <a:lnTo>
                  <a:pt x="149480" y="0"/>
                </a:lnTo>
                <a:cubicBezTo>
                  <a:pt x="231981" y="0"/>
                  <a:pt x="298961" y="66980"/>
                  <a:pt x="298961" y="149480"/>
                </a:cubicBezTo>
                <a:lnTo>
                  <a:pt x="298961" y="149480"/>
                </a:lnTo>
                <a:cubicBezTo>
                  <a:pt x="298961" y="231981"/>
                  <a:pt x="231981" y="298961"/>
                  <a:pt x="149480" y="298961"/>
                </a:cubicBezTo>
                <a:lnTo>
                  <a:pt x="149480" y="298961"/>
                </a:lnTo>
                <a:cubicBezTo>
                  <a:pt x="66980" y="298961"/>
                  <a:pt x="0" y="231981"/>
                  <a:pt x="0" y="149480"/>
                </a:cubicBezTo>
                <a:lnTo>
                  <a:pt x="0" y="149480"/>
                </a:lnTo>
                <a:cubicBezTo>
                  <a:pt x="0" y="66980"/>
                  <a:pt x="66980" y="0"/>
                  <a:pt x="14948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569434" y="5919876"/>
            <a:ext cx="386158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3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011648" y="5919876"/>
            <a:ext cx="2042900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启动新的 Master 实例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513379" y="6418144"/>
            <a:ext cx="6975755" cy="498268"/>
          </a:xfrm>
          <a:custGeom>
            <a:avLst/>
            <a:gdLst/>
            <a:ahLst/>
            <a:cxnLst/>
            <a:rect l="l" t="t" r="r" b="b"/>
            <a:pathLst>
              <a:path w="6975755" h="498268">
                <a:moveTo>
                  <a:pt x="49827" y="0"/>
                </a:moveTo>
                <a:lnTo>
                  <a:pt x="6925928" y="0"/>
                </a:lnTo>
                <a:cubicBezTo>
                  <a:pt x="6953447" y="0"/>
                  <a:pt x="6975755" y="22308"/>
                  <a:pt x="6975755" y="49827"/>
                </a:cubicBezTo>
                <a:lnTo>
                  <a:pt x="6975755" y="448441"/>
                </a:lnTo>
                <a:cubicBezTo>
                  <a:pt x="6975755" y="475960"/>
                  <a:pt x="6953447" y="498268"/>
                  <a:pt x="6925928" y="498268"/>
                </a:cubicBezTo>
                <a:lnTo>
                  <a:pt x="49827" y="498268"/>
                </a:lnTo>
                <a:cubicBezTo>
                  <a:pt x="22308" y="498268"/>
                  <a:pt x="0" y="475960"/>
                  <a:pt x="0" y="448441"/>
                </a:cubicBezTo>
                <a:lnTo>
                  <a:pt x="0" y="49827"/>
                </a:lnTo>
                <a:cubicBezTo>
                  <a:pt x="0" y="22308"/>
                  <a:pt x="22308" y="0"/>
                  <a:pt x="49827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8613033" y="6517798"/>
            <a:ext cx="298961" cy="298961"/>
          </a:xfrm>
          <a:custGeom>
            <a:avLst/>
            <a:gdLst/>
            <a:ahLst/>
            <a:cxnLst/>
            <a:rect l="l" t="t" r="r" b="b"/>
            <a:pathLst>
              <a:path w="298961" h="298961">
                <a:moveTo>
                  <a:pt x="149480" y="0"/>
                </a:moveTo>
                <a:lnTo>
                  <a:pt x="149480" y="0"/>
                </a:lnTo>
                <a:cubicBezTo>
                  <a:pt x="231981" y="0"/>
                  <a:pt x="298961" y="66980"/>
                  <a:pt x="298961" y="149480"/>
                </a:cubicBezTo>
                <a:lnTo>
                  <a:pt x="298961" y="149480"/>
                </a:lnTo>
                <a:cubicBezTo>
                  <a:pt x="298961" y="231981"/>
                  <a:pt x="231981" y="298961"/>
                  <a:pt x="149480" y="298961"/>
                </a:cubicBezTo>
                <a:lnTo>
                  <a:pt x="149480" y="298961"/>
                </a:lnTo>
                <a:cubicBezTo>
                  <a:pt x="66980" y="298961"/>
                  <a:pt x="0" y="231981"/>
                  <a:pt x="0" y="149480"/>
                </a:cubicBezTo>
                <a:lnTo>
                  <a:pt x="0" y="149480"/>
                </a:lnTo>
                <a:cubicBezTo>
                  <a:pt x="0" y="66980"/>
                  <a:pt x="66980" y="0"/>
                  <a:pt x="14948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8569434" y="6517798"/>
            <a:ext cx="386158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3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011648" y="6517798"/>
            <a:ext cx="2092726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加载最新的检查点文件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513379" y="7016066"/>
            <a:ext cx="6975755" cy="498268"/>
          </a:xfrm>
          <a:custGeom>
            <a:avLst/>
            <a:gdLst/>
            <a:ahLst/>
            <a:cxnLst/>
            <a:rect l="l" t="t" r="r" b="b"/>
            <a:pathLst>
              <a:path w="6975755" h="498268">
                <a:moveTo>
                  <a:pt x="49827" y="0"/>
                </a:moveTo>
                <a:lnTo>
                  <a:pt x="6925928" y="0"/>
                </a:lnTo>
                <a:cubicBezTo>
                  <a:pt x="6953447" y="0"/>
                  <a:pt x="6975755" y="22308"/>
                  <a:pt x="6975755" y="49827"/>
                </a:cubicBezTo>
                <a:lnTo>
                  <a:pt x="6975755" y="448441"/>
                </a:lnTo>
                <a:cubicBezTo>
                  <a:pt x="6975755" y="475960"/>
                  <a:pt x="6953447" y="498268"/>
                  <a:pt x="6925928" y="498268"/>
                </a:cubicBezTo>
                <a:lnTo>
                  <a:pt x="49827" y="498268"/>
                </a:lnTo>
                <a:cubicBezTo>
                  <a:pt x="22308" y="498268"/>
                  <a:pt x="0" y="475960"/>
                  <a:pt x="0" y="448441"/>
                </a:cubicBezTo>
                <a:lnTo>
                  <a:pt x="0" y="49827"/>
                </a:lnTo>
                <a:cubicBezTo>
                  <a:pt x="0" y="22308"/>
                  <a:pt x="22308" y="0"/>
                  <a:pt x="49827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8613033" y="7115719"/>
            <a:ext cx="298961" cy="298961"/>
          </a:xfrm>
          <a:custGeom>
            <a:avLst/>
            <a:gdLst/>
            <a:ahLst/>
            <a:cxnLst/>
            <a:rect l="l" t="t" r="r" b="b"/>
            <a:pathLst>
              <a:path w="298961" h="298961">
                <a:moveTo>
                  <a:pt x="149480" y="0"/>
                </a:moveTo>
                <a:lnTo>
                  <a:pt x="149480" y="0"/>
                </a:lnTo>
                <a:cubicBezTo>
                  <a:pt x="231981" y="0"/>
                  <a:pt x="298961" y="66980"/>
                  <a:pt x="298961" y="149480"/>
                </a:cubicBezTo>
                <a:lnTo>
                  <a:pt x="298961" y="149480"/>
                </a:lnTo>
                <a:cubicBezTo>
                  <a:pt x="298961" y="231981"/>
                  <a:pt x="231981" y="298961"/>
                  <a:pt x="149480" y="298961"/>
                </a:cubicBezTo>
                <a:lnTo>
                  <a:pt x="149480" y="298961"/>
                </a:lnTo>
                <a:cubicBezTo>
                  <a:pt x="66980" y="298961"/>
                  <a:pt x="0" y="231981"/>
                  <a:pt x="0" y="149480"/>
                </a:cubicBezTo>
                <a:lnTo>
                  <a:pt x="0" y="149480"/>
                </a:lnTo>
                <a:cubicBezTo>
                  <a:pt x="0" y="66980"/>
                  <a:pt x="66980" y="0"/>
                  <a:pt x="14948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8569434" y="7115719"/>
            <a:ext cx="386158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3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011648" y="7115719"/>
            <a:ext cx="2491341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重放检查点之后的操作日志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513379" y="7613988"/>
            <a:ext cx="6975755" cy="498268"/>
          </a:xfrm>
          <a:custGeom>
            <a:avLst/>
            <a:gdLst/>
            <a:ahLst/>
            <a:cxnLst/>
            <a:rect l="l" t="t" r="r" b="b"/>
            <a:pathLst>
              <a:path w="6975755" h="498268">
                <a:moveTo>
                  <a:pt x="49827" y="0"/>
                </a:moveTo>
                <a:lnTo>
                  <a:pt x="6925928" y="0"/>
                </a:lnTo>
                <a:cubicBezTo>
                  <a:pt x="6953447" y="0"/>
                  <a:pt x="6975755" y="22308"/>
                  <a:pt x="6975755" y="49827"/>
                </a:cubicBezTo>
                <a:lnTo>
                  <a:pt x="6975755" y="448441"/>
                </a:lnTo>
                <a:cubicBezTo>
                  <a:pt x="6975755" y="475960"/>
                  <a:pt x="6953447" y="498268"/>
                  <a:pt x="6925928" y="498268"/>
                </a:cubicBezTo>
                <a:lnTo>
                  <a:pt x="49827" y="498268"/>
                </a:lnTo>
                <a:cubicBezTo>
                  <a:pt x="22308" y="498268"/>
                  <a:pt x="0" y="475960"/>
                  <a:pt x="0" y="448441"/>
                </a:cubicBezTo>
                <a:lnTo>
                  <a:pt x="0" y="49827"/>
                </a:lnTo>
                <a:cubicBezTo>
                  <a:pt x="0" y="22308"/>
                  <a:pt x="22308" y="0"/>
                  <a:pt x="49827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8613033" y="7713641"/>
            <a:ext cx="298961" cy="298961"/>
          </a:xfrm>
          <a:custGeom>
            <a:avLst/>
            <a:gdLst/>
            <a:ahLst/>
            <a:cxnLst/>
            <a:rect l="l" t="t" r="r" b="b"/>
            <a:pathLst>
              <a:path w="298961" h="298961">
                <a:moveTo>
                  <a:pt x="149480" y="0"/>
                </a:moveTo>
                <a:lnTo>
                  <a:pt x="149480" y="0"/>
                </a:lnTo>
                <a:cubicBezTo>
                  <a:pt x="231981" y="0"/>
                  <a:pt x="298961" y="66980"/>
                  <a:pt x="298961" y="149480"/>
                </a:cubicBezTo>
                <a:lnTo>
                  <a:pt x="298961" y="149480"/>
                </a:lnTo>
                <a:cubicBezTo>
                  <a:pt x="298961" y="231981"/>
                  <a:pt x="231981" y="298961"/>
                  <a:pt x="149480" y="298961"/>
                </a:cubicBezTo>
                <a:lnTo>
                  <a:pt x="149480" y="298961"/>
                </a:lnTo>
                <a:cubicBezTo>
                  <a:pt x="66980" y="298961"/>
                  <a:pt x="0" y="231981"/>
                  <a:pt x="0" y="149480"/>
                </a:cubicBezTo>
                <a:lnTo>
                  <a:pt x="0" y="149480"/>
                </a:lnTo>
                <a:cubicBezTo>
                  <a:pt x="0" y="66980"/>
                  <a:pt x="66980" y="0"/>
                  <a:pt x="14948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8569434" y="7713641"/>
            <a:ext cx="386158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3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011648" y="7713641"/>
            <a:ext cx="3587531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接收 ChunkServer 心跳，重建位置信息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513379" y="8211909"/>
            <a:ext cx="6975755" cy="498268"/>
          </a:xfrm>
          <a:custGeom>
            <a:avLst/>
            <a:gdLst/>
            <a:ahLst/>
            <a:cxnLst/>
            <a:rect l="l" t="t" r="r" b="b"/>
            <a:pathLst>
              <a:path w="6975755" h="498268">
                <a:moveTo>
                  <a:pt x="49827" y="0"/>
                </a:moveTo>
                <a:lnTo>
                  <a:pt x="6925928" y="0"/>
                </a:lnTo>
                <a:cubicBezTo>
                  <a:pt x="6953447" y="0"/>
                  <a:pt x="6975755" y="22308"/>
                  <a:pt x="6975755" y="49827"/>
                </a:cubicBezTo>
                <a:lnTo>
                  <a:pt x="6975755" y="448441"/>
                </a:lnTo>
                <a:cubicBezTo>
                  <a:pt x="6975755" y="475960"/>
                  <a:pt x="6953447" y="498268"/>
                  <a:pt x="6925928" y="498268"/>
                </a:cubicBezTo>
                <a:lnTo>
                  <a:pt x="49827" y="498268"/>
                </a:lnTo>
                <a:cubicBezTo>
                  <a:pt x="22308" y="498268"/>
                  <a:pt x="0" y="475960"/>
                  <a:pt x="0" y="448441"/>
                </a:cubicBezTo>
                <a:lnTo>
                  <a:pt x="0" y="49827"/>
                </a:lnTo>
                <a:cubicBezTo>
                  <a:pt x="0" y="22308"/>
                  <a:pt x="22308" y="0"/>
                  <a:pt x="49827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8613033" y="8311563"/>
            <a:ext cx="298961" cy="298961"/>
          </a:xfrm>
          <a:custGeom>
            <a:avLst/>
            <a:gdLst/>
            <a:ahLst/>
            <a:cxnLst/>
            <a:rect l="l" t="t" r="r" b="b"/>
            <a:pathLst>
              <a:path w="298961" h="298961">
                <a:moveTo>
                  <a:pt x="149480" y="0"/>
                </a:moveTo>
                <a:lnTo>
                  <a:pt x="149480" y="0"/>
                </a:lnTo>
                <a:cubicBezTo>
                  <a:pt x="231981" y="0"/>
                  <a:pt x="298961" y="66980"/>
                  <a:pt x="298961" y="149480"/>
                </a:cubicBezTo>
                <a:lnTo>
                  <a:pt x="298961" y="149480"/>
                </a:lnTo>
                <a:cubicBezTo>
                  <a:pt x="298961" y="231981"/>
                  <a:pt x="231981" y="298961"/>
                  <a:pt x="149480" y="298961"/>
                </a:cubicBezTo>
                <a:lnTo>
                  <a:pt x="149480" y="298961"/>
                </a:lnTo>
                <a:cubicBezTo>
                  <a:pt x="66980" y="298961"/>
                  <a:pt x="0" y="231981"/>
                  <a:pt x="0" y="149480"/>
                </a:cubicBezTo>
                <a:lnTo>
                  <a:pt x="0" y="149480"/>
                </a:lnTo>
                <a:cubicBezTo>
                  <a:pt x="0" y="66980"/>
                  <a:pt x="66980" y="0"/>
                  <a:pt x="14948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8569434" y="8311563"/>
            <a:ext cx="386158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3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011648" y="8311563"/>
            <a:ext cx="1295497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恢复正常服务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4126" y="580157"/>
            <a:ext cx="464126" cy="46413"/>
          </a:xfrm>
          <a:custGeom>
            <a:avLst/>
            <a:gdLst/>
            <a:ahLst/>
            <a:cxnLst/>
            <a:rect l="l" t="t" r="r" b="b"/>
            <a:pathLst>
              <a:path w="464126" h="46413">
                <a:moveTo>
                  <a:pt x="0" y="0"/>
                </a:moveTo>
                <a:lnTo>
                  <a:pt x="464126" y="0"/>
                </a:lnTo>
                <a:lnTo>
                  <a:pt x="464126" y="46413"/>
                </a:lnTo>
                <a:lnTo>
                  <a:pt x="0" y="46413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67489" y="464126"/>
            <a:ext cx="2831166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kern="0" spc="73" dirty="0">
                <a:solidFill>
                  <a:srgbClr val="D4A2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CHUNKSERVER COMPONENT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4126" y="835426"/>
            <a:ext cx="15536605" cy="464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89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GFS ChunkServer: 数据存储核心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87332" y="1485202"/>
            <a:ext cx="10036717" cy="2784754"/>
          </a:xfrm>
          <a:custGeom>
            <a:avLst/>
            <a:gdLst/>
            <a:ahLst/>
            <a:cxnLst/>
            <a:rect l="l" t="t" r="r" b="b"/>
            <a:pathLst>
              <a:path w="10036717" h="2784754">
                <a:moveTo>
                  <a:pt x="46413" y="0"/>
                </a:moveTo>
                <a:lnTo>
                  <a:pt x="9943901" y="0"/>
                </a:lnTo>
                <a:cubicBezTo>
                  <a:pt x="9995162" y="0"/>
                  <a:pt x="10036717" y="41555"/>
                  <a:pt x="10036717" y="92816"/>
                </a:cubicBezTo>
                <a:lnTo>
                  <a:pt x="10036717" y="2691938"/>
                </a:lnTo>
                <a:cubicBezTo>
                  <a:pt x="10036717" y="2743199"/>
                  <a:pt x="9995162" y="2784754"/>
                  <a:pt x="9943901" y="2784754"/>
                </a:cubicBezTo>
                <a:lnTo>
                  <a:pt x="46413" y="2784754"/>
                </a:lnTo>
                <a:cubicBezTo>
                  <a:pt x="20780" y="2784754"/>
                  <a:pt x="0" y="2763974"/>
                  <a:pt x="0" y="2738341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87332" y="1485202"/>
            <a:ext cx="46413" cy="2784754"/>
          </a:xfrm>
          <a:custGeom>
            <a:avLst/>
            <a:gdLst/>
            <a:ahLst/>
            <a:cxnLst/>
            <a:rect l="l" t="t" r="r" b="b"/>
            <a:pathLst>
              <a:path w="46413" h="2784754">
                <a:moveTo>
                  <a:pt x="46413" y="0"/>
                </a:moveTo>
                <a:lnTo>
                  <a:pt x="46413" y="0"/>
                </a:lnTo>
                <a:lnTo>
                  <a:pt x="46413" y="2784754"/>
                </a:lnTo>
                <a:lnTo>
                  <a:pt x="46413" y="2784754"/>
                </a:lnTo>
                <a:cubicBezTo>
                  <a:pt x="20780" y="2784754"/>
                  <a:pt x="0" y="2763974"/>
                  <a:pt x="0" y="2738341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71609" y="1775281"/>
            <a:ext cx="208857" cy="208857"/>
          </a:xfrm>
          <a:custGeom>
            <a:avLst/>
            <a:gdLst/>
            <a:ahLst/>
            <a:cxnLst/>
            <a:rect l="l" t="t" r="r" b="b"/>
            <a:pathLst>
              <a:path w="208857" h="208857">
                <a:moveTo>
                  <a:pt x="91497" y="-1020"/>
                </a:moveTo>
                <a:cubicBezTo>
                  <a:pt x="99574" y="-5670"/>
                  <a:pt x="109527" y="-5670"/>
                  <a:pt x="117604" y="-1020"/>
                </a:cubicBezTo>
                <a:lnTo>
                  <a:pt x="189358" y="40384"/>
                </a:lnTo>
                <a:cubicBezTo>
                  <a:pt x="197435" y="45035"/>
                  <a:pt x="202411" y="53683"/>
                  <a:pt x="202411" y="62983"/>
                </a:cubicBezTo>
                <a:lnTo>
                  <a:pt x="202411" y="145792"/>
                </a:lnTo>
                <a:cubicBezTo>
                  <a:pt x="202411" y="155133"/>
                  <a:pt x="197435" y="163740"/>
                  <a:pt x="189358" y="168391"/>
                </a:cubicBezTo>
                <a:lnTo>
                  <a:pt x="117604" y="209876"/>
                </a:lnTo>
                <a:cubicBezTo>
                  <a:pt x="109527" y="214527"/>
                  <a:pt x="99574" y="214527"/>
                  <a:pt x="91497" y="209876"/>
                </a:cubicBezTo>
                <a:lnTo>
                  <a:pt x="19784" y="168472"/>
                </a:lnTo>
                <a:cubicBezTo>
                  <a:pt x="11707" y="163822"/>
                  <a:pt x="6731" y="155174"/>
                  <a:pt x="6731" y="145873"/>
                </a:cubicBezTo>
                <a:lnTo>
                  <a:pt x="6731" y="63065"/>
                </a:lnTo>
                <a:cubicBezTo>
                  <a:pt x="6731" y="53723"/>
                  <a:pt x="11707" y="45116"/>
                  <a:pt x="19784" y="40466"/>
                </a:cubicBezTo>
                <a:lnTo>
                  <a:pt x="91497" y="-1020"/>
                </a:lnTo>
                <a:close/>
                <a:moveTo>
                  <a:pt x="176263" y="145832"/>
                </a:moveTo>
                <a:lnTo>
                  <a:pt x="176263" y="78076"/>
                </a:lnTo>
                <a:lnTo>
                  <a:pt x="117604" y="111934"/>
                </a:lnTo>
                <a:lnTo>
                  <a:pt x="117604" y="179690"/>
                </a:lnTo>
                <a:lnTo>
                  <a:pt x="176263" y="145832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09473" y="1717265"/>
            <a:ext cx="9386941" cy="32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4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核心概念 - Chunk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5807" y="2227803"/>
            <a:ext cx="4687669" cy="835426"/>
          </a:xfrm>
          <a:custGeom>
            <a:avLst/>
            <a:gdLst/>
            <a:ahLst/>
            <a:cxnLst/>
            <a:rect l="l" t="t" r="r" b="b"/>
            <a:pathLst>
              <a:path w="4687669" h="835426">
                <a:moveTo>
                  <a:pt x="46413" y="0"/>
                </a:moveTo>
                <a:lnTo>
                  <a:pt x="4641253" y="0"/>
                </a:lnTo>
                <a:cubicBezTo>
                  <a:pt x="4666888" y="0"/>
                  <a:pt x="4687669" y="20781"/>
                  <a:pt x="4687669" y="46416"/>
                </a:cubicBezTo>
                <a:lnTo>
                  <a:pt x="4687669" y="789010"/>
                </a:lnTo>
                <a:cubicBezTo>
                  <a:pt x="4687669" y="814645"/>
                  <a:pt x="4666888" y="835426"/>
                  <a:pt x="4641253" y="835426"/>
                </a:cubicBezTo>
                <a:lnTo>
                  <a:pt x="46413" y="835426"/>
                </a:lnTo>
                <a:cubicBezTo>
                  <a:pt x="20780" y="835426"/>
                  <a:pt x="0" y="814647"/>
                  <a:pt x="0" y="789014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765807" y="2227803"/>
            <a:ext cx="46413" cy="835426"/>
          </a:xfrm>
          <a:custGeom>
            <a:avLst/>
            <a:gdLst/>
            <a:ahLst/>
            <a:cxnLst/>
            <a:rect l="l" t="t" r="r" b="b"/>
            <a:pathLst>
              <a:path w="46413" h="835426">
                <a:moveTo>
                  <a:pt x="46413" y="0"/>
                </a:moveTo>
                <a:lnTo>
                  <a:pt x="46413" y="0"/>
                </a:lnTo>
                <a:lnTo>
                  <a:pt x="46413" y="835426"/>
                </a:lnTo>
                <a:lnTo>
                  <a:pt x="46413" y="835426"/>
                </a:lnTo>
                <a:cubicBezTo>
                  <a:pt x="20780" y="835426"/>
                  <a:pt x="0" y="814647"/>
                  <a:pt x="0" y="789014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28251" y="2367041"/>
            <a:ext cx="4478812" cy="556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文件分割</a:t>
            </a:r>
            <a:r>
              <a:rPr lang="en-US" sz="146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文件被分割成固定大小的 chunk（默认 64MB）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11569" y="2227803"/>
            <a:ext cx="4687669" cy="835426"/>
          </a:xfrm>
          <a:custGeom>
            <a:avLst/>
            <a:gdLst/>
            <a:ahLst/>
            <a:cxnLst/>
            <a:rect l="l" t="t" r="r" b="b"/>
            <a:pathLst>
              <a:path w="4687669" h="835426">
                <a:moveTo>
                  <a:pt x="46413" y="0"/>
                </a:moveTo>
                <a:lnTo>
                  <a:pt x="4641253" y="0"/>
                </a:lnTo>
                <a:cubicBezTo>
                  <a:pt x="4666888" y="0"/>
                  <a:pt x="4687669" y="20781"/>
                  <a:pt x="4687669" y="46416"/>
                </a:cubicBezTo>
                <a:lnTo>
                  <a:pt x="4687669" y="789010"/>
                </a:lnTo>
                <a:cubicBezTo>
                  <a:pt x="4687669" y="814645"/>
                  <a:pt x="4666888" y="835426"/>
                  <a:pt x="4641253" y="835426"/>
                </a:cubicBezTo>
                <a:lnTo>
                  <a:pt x="46413" y="835426"/>
                </a:lnTo>
                <a:cubicBezTo>
                  <a:pt x="20780" y="835426"/>
                  <a:pt x="0" y="814647"/>
                  <a:pt x="0" y="789014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611569" y="2227803"/>
            <a:ext cx="46413" cy="835426"/>
          </a:xfrm>
          <a:custGeom>
            <a:avLst/>
            <a:gdLst/>
            <a:ahLst/>
            <a:cxnLst/>
            <a:rect l="l" t="t" r="r" b="b"/>
            <a:pathLst>
              <a:path w="46413" h="835426">
                <a:moveTo>
                  <a:pt x="46413" y="0"/>
                </a:moveTo>
                <a:lnTo>
                  <a:pt x="46413" y="0"/>
                </a:lnTo>
                <a:lnTo>
                  <a:pt x="46413" y="835426"/>
                </a:lnTo>
                <a:lnTo>
                  <a:pt x="46413" y="835426"/>
                </a:lnTo>
                <a:cubicBezTo>
                  <a:pt x="20780" y="835426"/>
                  <a:pt x="0" y="814647"/>
                  <a:pt x="0" y="789014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774013" y="2367041"/>
            <a:ext cx="4478812" cy="556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全局标识</a:t>
            </a:r>
            <a:r>
              <a:rPr lang="en-US" sz="146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每个 chunk 有全局唯一的 64 位 chunk handle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5807" y="3202467"/>
            <a:ext cx="4687669" cy="835426"/>
          </a:xfrm>
          <a:custGeom>
            <a:avLst/>
            <a:gdLst/>
            <a:ahLst/>
            <a:cxnLst/>
            <a:rect l="l" t="t" r="r" b="b"/>
            <a:pathLst>
              <a:path w="4687669" h="835426">
                <a:moveTo>
                  <a:pt x="46413" y="0"/>
                </a:moveTo>
                <a:lnTo>
                  <a:pt x="4641253" y="0"/>
                </a:lnTo>
                <a:cubicBezTo>
                  <a:pt x="4666888" y="0"/>
                  <a:pt x="4687669" y="20781"/>
                  <a:pt x="4687669" y="46416"/>
                </a:cubicBezTo>
                <a:lnTo>
                  <a:pt x="4687669" y="789010"/>
                </a:lnTo>
                <a:cubicBezTo>
                  <a:pt x="4687669" y="814645"/>
                  <a:pt x="4666888" y="835426"/>
                  <a:pt x="4641253" y="835426"/>
                </a:cubicBezTo>
                <a:lnTo>
                  <a:pt x="46413" y="835426"/>
                </a:lnTo>
                <a:cubicBezTo>
                  <a:pt x="20780" y="835426"/>
                  <a:pt x="0" y="814647"/>
                  <a:pt x="0" y="789014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65807" y="3202467"/>
            <a:ext cx="46413" cy="835426"/>
          </a:xfrm>
          <a:custGeom>
            <a:avLst/>
            <a:gdLst/>
            <a:ahLst/>
            <a:cxnLst/>
            <a:rect l="l" t="t" r="r" b="b"/>
            <a:pathLst>
              <a:path w="46413" h="835426">
                <a:moveTo>
                  <a:pt x="46413" y="0"/>
                </a:moveTo>
                <a:lnTo>
                  <a:pt x="46413" y="0"/>
                </a:lnTo>
                <a:lnTo>
                  <a:pt x="46413" y="835426"/>
                </a:lnTo>
                <a:lnTo>
                  <a:pt x="46413" y="835426"/>
                </a:lnTo>
                <a:cubicBezTo>
                  <a:pt x="20780" y="835426"/>
                  <a:pt x="0" y="814647"/>
                  <a:pt x="0" y="789014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28251" y="3341704"/>
            <a:ext cx="4478812" cy="556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存储方式</a:t>
            </a:r>
            <a:r>
              <a:rPr lang="en-US" sz="146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chunk 以普通 Linux 文件形式存储在本地磁盘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11569" y="3202467"/>
            <a:ext cx="4687669" cy="835426"/>
          </a:xfrm>
          <a:custGeom>
            <a:avLst/>
            <a:gdLst/>
            <a:ahLst/>
            <a:cxnLst/>
            <a:rect l="l" t="t" r="r" b="b"/>
            <a:pathLst>
              <a:path w="4687669" h="835426">
                <a:moveTo>
                  <a:pt x="46413" y="0"/>
                </a:moveTo>
                <a:lnTo>
                  <a:pt x="4641253" y="0"/>
                </a:lnTo>
                <a:cubicBezTo>
                  <a:pt x="4666888" y="0"/>
                  <a:pt x="4687669" y="20781"/>
                  <a:pt x="4687669" y="46416"/>
                </a:cubicBezTo>
                <a:lnTo>
                  <a:pt x="4687669" y="789010"/>
                </a:lnTo>
                <a:cubicBezTo>
                  <a:pt x="4687669" y="814645"/>
                  <a:pt x="4666888" y="835426"/>
                  <a:pt x="4641253" y="835426"/>
                </a:cubicBezTo>
                <a:lnTo>
                  <a:pt x="46413" y="835426"/>
                </a:lnTo>
                <a:cubicBezTo>
                  <a:pt x="20780" y="835426"/>
                  <a:pt x="0" y="814647"/>
                  <a:pt x="0" y="789014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611569" y="3202467"/>
            <a:ext cx="46413" cy="835426"/>
          </a:xfrm>
          <a:custGeom>
            <a:avLst/>
            <a:gdLst/>
            <a:ahLst/>
            <a:cxnLst/>
            <a:rect l="l" t="t" r="r" b="b"/>
            <a:pathLst>
              <a:path w="46413" h="835426">
                <a:moveTo>
                  <a:pt x="46413" y="0"/>
                </a:moveTo>
                <a:lnTo>
                  <a:pt x="46413" y="0"/>
                </a:lnTo>
                <a:lnTo>
                  <a:pt x="46413" y="835426"/>
                </a:lnTo>
                <a:lnTo>
                  <a:pt x="46413" y="835426"/>
                </a:lnTo>
                <a:cubicBezTo>
                  <a:pt x="20780" y="835426"/>
                  <a:pt x="0" y="814647"/>
                  <a:pt x="0" y="789014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774013" y="3341704"/>
            <a:ext cx="4478812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冗余策略</a:t>
            </a:r>
            <a:r>
              <a:rPr lang="en-US" sz="146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默认每个 chunk 有 3 个副本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9927" y="4461408"/>
            <a:ext cx="10048320" cy="2703532"/>
          </a:xfrm>
          <a:custGeom>
            <a:avLst/>
            <a:gdLst/>
            <a:ahLst/>
            <a:cxnLst/>
            <a:rect l="l" t="t" r="r" b="b"/>
            <a:pathLst>
              <a:path w="10048320" h="2703532">
                <a:moveTo>
                  <a:pt x="92812" y="0"/>
                </a:moveTo>
                <a:lnTo>
                  <a:pt x="9955508" y="0"/>
                </a:lnTo>
                <a:cubicBezTo>
                  <a:pt x="10006732" y="0"/>
                  <a:pt x="10048320" y="41588"/>
                  <a:pt x="10048320" y="92812"/>
                </a:cubicBezTo>
                <a:lnTo>
                  <a:pt x="10048320" y="2610720"/>
                </a:lnTo>
                <a:cubicBezTo>
                  <a:pt x="10048320" y="2661944"/>
                  <a:pt x="10006732" y="2703532"/>
                  <a:pt x="9955508" y="2703532"/>
                </a:cubicBezTo>
                <a:lnTo>
                  <a:pt x="92812" y="2703532"/>
                </a:lnTo>
                <a:cubicBezTo>
                  <a:pt x="41588" y="2703532"/>
                  <a:pt x="0" y="2661944"/>
                  <a:pt x="0" y="2610720"/>
                </a:cubicBezTo>
                <a:lnTo>
                  <a:pt x="0" y="92812"/>
                </a:lnTo>
                <a:cubicBezTo>
                  <a:pt x="0" y="41588"/>
                  <a:pt x="41588" y="0"/>
                  <a:pt x="92812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23746" y="4757288"/>
            <a:ext cx="234964" cy="208857"/>
          </a:xfrm>
          <a:custGeom>
            <a:avLst/>
            <a:gdLst/>
            <a:ahLst/>
            <a:cxnLst/>
            <a:rect l="l" t="t" r="r" b="b"/>
            <a:pathLst>
              <a:path w="234964" h="208857">
                <a:moveTo>
                  <a:pt x="85297" y="210570"/>
                </a:moveTo>
                <a:cubicBezTo>
                  <a:pt x="77669" y="218198"/>
                  <a:pt x="65268" y="218198"/>
                  <a:pt x="57599" y="210570"/>
                </a:cubicBezTo>
                <a:lnTo>
                  <a:pt x="11463" y="164434"/>
                </a:lnTo>
                <a:cubicBezTo>
                  <a:pt x="3834" y="156806"/>
                  <a:pt x="3834" y="144405"/>
                  <a:pt x="11463" y="136736"/>
                </a:cubicBezTo>
                <a:lnTo>
                  <a:pt x="18397" y="129801"/>
                </a:lnTo>
                <a:lnTo>
                  <a:pt x="48380" y="159783"/>
                </a:lnTo>
                <a:cubicBezTo>
                  <a:pt x="52214" y="163618"/>
                  <a:pt x="58415" y="163618"/>
                  <a:pt x="62208" y="159783"/>
                </a:cubicBezTo>
                <a:cubicBezTo>
                  <a:pt x="66002" y="155949"/>
                  <a:pt x="66043" y="149749"/>
                  <a:pt x="62208" y="145955"/>
                </a:cubicBezTo>
                <a:lnTo>
                  <a:pt x="32226" y="115972"/>
                </a:lnTo>
                <a:lnTo>
                  <a:pt x="46054" y="102144"/>
                </a:lnTo>
                <a:lnTo>
                  <a:pt x="66818" y="122907"/>
                </a:lnTo>
                <a:cubicBezTo>
                  <a:pt x="70652" y="126742"/>
                  <a:pt x="76853" y="126742"/>
                  <a:pt x="80646" y="122907"/>
                </a:cubicBezTo>
                <a:cubicBezTo>
                  <a:pt x="84440" y="119073"/>
                  <a:pt x="84481" y="112872"/>
                  <a:pt x="80646" y="109079"/>
                </a:cubicBezTo>
                <a:lnTo>
                  <a:pt x="59883" y="88315"/>
                </a:lnTo>
                <a:lnTo>
                  <a:pt x="73712" y="74487"/>
                </a:lnTo>
                <a:lnTo>
                  <a:pt x="103694" y="104469"/>
                </a:lnTo>
                <a:cubicBezTo>
                  <a:pt x="107528" y="108304"/>
                  <a:pt x="113729" y="108304"/>
                  <a:pt x="117523" y="104469"/>
                </a:cubicBezTo>
                <a:cubicBezTo>
                  <a:pt x="121316" y="100635"/>
                  <a:pt x="121357" y="94434"/>
                  <a:pt x="117523" y="90640"/>
                </a:cubicBezTo>
                <a:lnTo>
                  <a:pt x="87540" y="60658"/>
                </a:lnTo>
                <a:lnTo>
                  <a:pt x="101369" y="46830"/>
                </a:lnTo>
                <a:lnTo>
                  <a:pt x="122132" y="67593"/>
                </a:lnTo>
                <a:cubicBezTo>
                  <a:pt x="125967" y="71427"/>
                  <a:pt x="132167" y="71427"/>
                  <a:pt x="135961" y="67593"/>
                </a:cubicBezTo>
                <a:cubicBezTo>
                  <a:pt x="139754" y="63758"/>
                  <a:pt x="139795" y="57558"/>
                  <a:pt x="135961" y="53764"/>
                </a:cubicBezTo>
                <a:lnTo>
                  <a:pt x="115197" y="33001"/>
                </a:lnTo>
                <a:lnTo>
                  <a:pt x="129026" y="19172"/>
                </a:lnTo>
                <a:lnTo>
                  <a:pt x="159008" y="49155"/>
                </a:lnTo>
                <a:cubicBezTo>
                  <a:pt x="162843" y="52989"/>
                  <a:pt x="169043" y="52989"/>
                  <a:pt x="172837" y="49155"/>
                </a:cubicBezTo>
                <a:cubicBezTo>
                  <a:pt x="176631" y="45320"/>
                  <a:pt x="176671" y="39120"/>
                  <a:pt x="172837" y="35326"/>
                </a:cubicBezTo>
                <a:lnTo>
                  <a:pt x="142855" y="5344"/>
                </a:lnTo>
                <a:lnTo>
                  <a:pt x="149789" y="-1591"/>
                </a:lnTo>
                <a:cubicBezTo>
                  <a:pt x="157417" y="-9219"/>
                  <a:pt x="169818" y="-9219"/>
                  <a:pt x="177487" y="-1591"/>
                </a:cubicBezTo>
                <a:lnTo>
                  <a:pt x="223746" y="44423"/>
                </a:lnTo>
                <a:cubicBezTo>
                  <a:pt x="231374" y="52051"/>
                  <a:pt x="231374" y="64452"/>
                  <a:pt x="223746" y="72121"/>
                </a:cubicBezTo>
                <a:lnTo>
                  <a:pt x="85297" y="21057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74664" y="4699272"/>
            <a:ext cx="9410147" cy="32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4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64MB Chunk 大小的设计考量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7792" y="5163398"/>
          <a:ext cx="9572591" cy="1763676"/>
        </p:xfrm>
        <a:graphic>
          <a:graphicData uri="http://schemas.openxmlformats.org/drawingml/2006/table">
            <a:tbl>
              <a:tblPr/>
              <a:tblGrid>
                <a:gridCol w="1810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0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0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20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0919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维度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优势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劣势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解决方案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919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元数据开销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减少元数据量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小文件浪费空间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针对小文件特殊处理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919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网络交互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减少网络请求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可能产生热点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动态增加副本数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919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缓存效率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提高缓存命中率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内存占用较大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按需加载和释放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10764904" y="905212"/>
            <a:ext cx="5024160" cy="3724608"/>
          </a:xfrm>
          <a:custGeom>
            <a:avLst/>
            <a:gdLst/>
            <a:ahLst/>
            <a:cxnLst/>
            <a:rect l="l" t="t" r="r" b="b"/>
            <a:pathLst>
              <a:path w="5024160" h="3724608">
                <a:moveTo>
                  <a:pt x="92817" y="0"/>
                </a:moveTo>
                <a:lnTo>
                  <a:pt x="4931343" y="0"/>
                </a:lnTo>
                <a:cubicBezTo>
                  <a:pt x="4982570" y="0"/>
                  <a:pt x="5024160" y="41590"/>
                  <a:pt x="5024160" y="92817"/>
                </a:cubicBezTo>
                <a:lnTo>
                  <a:pt x="5024160" y="3631791"/>
                </a:lnTo>
                <a:cubicBezTo>
                  <a:pt x="5024160" y="3683052"/>
                  <a:pt x="4982604" y="3724608"/>
                  <a:pt x="4931343" y="3724608"/>
                </a:cubicBezTo>
                <a:lnTo>
                  <a:pt x="92817" y="3724608"/>
                </a:lnTo>
                <a:cubicBezTo>
                  <a:pt x="41590" y="3724608"/>
                  <a:pt x="0" y="3683018"/>
                  <a:pt x="0" y="3631791"/>
                </a:cubicBezTo>
                <a:lnTo>
                  <a:pt x="0" y="92817"/>
                </a:lnTo>
                <a:cubicBezTo>
                  <a:pt x="0" y="41590"/>
                  <a:pt x="41590" y="0"/>
                  <a:pt x="92817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3"/>
          <p:cNvSpPr/>
          <p:nvPr/>
        </p:nvSpPr>
        <p:spPr>
          <a:xfrm>
            <a:off x="11057884" y="1201092"/>
            <a:ext cx="156642" cy="208857"/>
          </a:xfrm>
          <a:custGeom>
            <a:avLst/>
            <a:gdLst/>
            <a:ahLst/>
            <a:cxnLst/>
            <a:rect l="l" t="t" r="r" b="b"/>
            <a:pathLst>
              <a:path w="156642" h="208857">
                <a:moveTo>
                  <a:pt x="26107" y="0"/>
                </a:moveTo>
                <a:cubicBezTo>
                  <a:pt x="11707" y="0"/>
                  <a:pt x="0" y="11707"/>
                  <a:pt x="0" y="26107"/>
                </a:cubicBezTo>
                <a:lnTo>
                  <a:pt x="0" y="182749"/>
                </a:lnTo>
                <a:cubicBezTo>
                  <a:pt x="0" y="197149"/>
                  <a:pt x="11707" y="208857"/>
                  <a:pt x="26107" y="208857"/>
                </a:cubicBezTo>
                <a:lnTo>
                  <a:pt x="130535" y="208857"/>
                </a:lnTo>
                <a:cubicBezTo>
                  <a:pt x="144935" y="208857"/>
                  <a:pt x="156642" y="197149"/>
                  <a:pt x="156642" y="182749"/>
                </a:cubicBezTo>
                <a:lnTo>
                  <a:pt x="156642" y="26107"/>
                </a:lnTo>
                <a:cubicBezTo>
                  <a:pt x="156642" y="11707"/>
                  <a:pt x="144935" y="0"/>
                  <a:pt x="130535" y="0"/>
                </a:cubicBezTo>
                <a:lnTo>
                  <a:pt x="26107" y="0"/>
                </a:lnTo>
                <a:close/>
                <a:moveTo>
                  <a:pt x="39161" y="26107"/>
                </a:moveTo>
                <a:lnTo>
                  <a:pt x="117482" y="26107"/>
                </a:lnTo>
                <a:cubicBezTo>
                  <a:pt x="124702" y="26107"/>
                  <a:pt x="130535" y="31940"/>
                  <a:pt x="130535" y="39161"/>
                </a:cubicBezTo>
                <a:lnTo>
                  <a:pt x="130535" y="52214"/>
                </a:lnTo>
                <a:cubicBezTo>
                  <a:pt x="130535" y="59434"/>
                  <a:pt x="124702" y="65268"/>
                  <a:pt x="117482" y="65268"/>
                </a:cubicBezTo>
                <a:lnTo>
                  <a:pt x="39161" y="65268"/>
                </a:lnTo>
                <a:cubicBezTo>
                  <a:pt x="31940" y="65268"/>
                  <a:pt x="26107" y="59434"/>
                  <a:pt x="26107" y="52214"/>
                </a:cubicBezTo>
                <a:lnTo>
                  <a:pt x="26107" y="39161"/>
                </a:lnTo>
                <a:cubicBezTo>
                  <a:pt x="26107" y="31940"/>
                  <a:pt x="31940" y="26107"/>
                  <a:pt x="39161" y="26107"/>
                </a:cubicBezTo>
                <a:close/>
                <a:moveTo>
                  <a:pt x="45687" y="94638"/>
                </a:moveTo>
                <a:cubicBezTo>
                  <a:pt x="45687" y="100041"/>
                  <a:pt x="41301" y="104428"/>
                  <a:pt x="35897" y="104428"/>
                </a:cubicBezTo>
                <a:cubicBezTo>
                  <a:pt x="30494" y="104428"/>
                  <a:pt x="26107" y="100041"/>
                  <a:pt x="26107" y="94638"/>
                </a:cubicBezTo>
                <a:cubicBezTo>
                  <a:pt x="26107" y="89235"/>
                  <a:pt x="30494" y="84848"/>
                  <a:pt x="35897" y="84848"/>
                </a:cubicBezTo>
                <a:cubicBezTo>
                  <a:pt x="41301" y="84848"/>
                  <a:pt x="45687" y="89235"/>
                  <a:pt x="45687" y="94638"/>
                </a:cubicBezTo>
                <a:close/>
                <a:moveTo>
                  <a:pt x="78321" y="104428"/>
                </a:moveTo>
                <a:cubicBezTo>
                  <a:pt x="72918" y="104428"/>
                  <a:pt x="68531" y="100041"/>
                  <a:pt x="68531" y="94638"/>
                </a:cubicBezTo>
                <a:cubicBezTo>
                  <a:pt x="68531" y="89235"/>
                  <a:pt x="72918" y="84848"/>
                  <a:pt x="78321" y="84848"/>
                </a:cubicBezTo>
                <a:cubicBezTo>
                  <a:pt x="83725" y="84848"/>
                  <a:pt x="88111" y="89235"/>
                  <a:pt x="88111" y="94638"/>
                </a:cubicBezTo>
                <a:cubicBezTo>
                  <a:pt x="88111" y="100041"/>
                  <a:pt x="83725" y="104428"/>
                  <a:pt x="78321" y="104428"/>
                </a:cubicBezTo>
                <a:close/>
                <a:moveTo>
                  <a:pt x="130535" y="94638"/>
                </a:moveTo>
                <a:cubicBezTo>
                  <a:pt x="130535" y="100041"/>
                  <a:pt x="126149" y="104428"/>
                  <a:pt x="120745" y="104428"/>
                </a:cubicBezTo>
                <a:cubicBezTo>
                  <a:pt x="115342" y="104428"/>
                  <a:pt x="110955" y="100041"/>
                  <a:pt x="110955" y="94638"/>
                </a:cubicBezTo>
                <a:cubicBezTo>
                  <a:pt x="110955" y="89235"/>
                  <a:pt x="115342" y="84848"/>
                  <a:pt x="120745" y="84848"/>
                </a:cubicBezTo>
                <a:cubicBezTo>
                  <a:pt x="126149" y="84848"/>
                  <a:pt x="130535" y="89235"/>
                  <a:pt x="130535" y="94638"/>
                </a:cubicBezTo>
                <a:close/>
                <a:moveTo>
                  <a:pt x="35897" y="143589"/>
                </a:moveTo>
                <a:cubicBezTo>
                  <a:pt x="30494" y="143589"/>
                  <a:pt x="26107" y="139202"/>
                  <a:pt x="26107" y="133799"/>
                </a:cubicBezTo>
                <a:cubicBezTo>
                  <a:pt x="26107" y="128395"/>
                  <a:pt x="30494" y="124009"/>
                  <a:pt x="35897" y="124009"/>
                </a:cubicBezTo>
                <a:cubicBezTo>
                  <a:pt x="41301" y="124009"/>
                  <a:pt x="45687" y="128395"/>
                  <a:pt x="45687" y="133799"/>
                </a:cubicBezTo>
                <a:cubicBezTo>
                  <a:pt x="45687" y="139202"/>
                  <a:pt x="41301" y="143589"/>
                  <a:pt x="35897" y="143589"/>
                </a:cubicBezTo>
                <a:close/>
                <a:moveTo>
                  <a:pt x="88111" y="133799"/>
                </a:moveTo>
                <a:cubicBezTo>
                  <a:pt x="88111" y="139202"/>
                  <a:pt x="83725" y="143589"/>
                  <a:pt x="78321" y="143589"/>
                </a:cubicBezTo>
                <a:cubicBezTo>
                  <a:pt x="72918" y="143589"/>
                  <a:pt x="68531" y="139202"/>
                  <a:pt x="68531" y="133799"/>
                </a:cubicBezTo>
                <a:cubicBezTo>
                  <a:pt x="68531" y="128395"/>
                  <a:pt x="72918" y="124009"/>
                  <a:pt x="78321" y="124009"/>
                </a:cubicBezTo>
                <a:cubicBezTo>
                  <a:pt x="83725" y="124009"/>
                  <a:pt x="88111" y="128395"/>
                  <a:pt x="88111" y="133799"/>
                </a:cubicBezTo>
                <a:close/>
                <a:moveTo>
                  <a:pt x="120745" y="143589"/>
                </a:moveTo>
                <a:cubicBezTo>
                  <a:pt x="115342" y="143589"/>
                  <a:pt x="110955" y="139202"/>
                  <a:pt x="110955" y="133799"/>
                </a:cubicBezTo>
                <a:cubicBezTo>
                  <a:pt x="110955" y="128395"/>
                  <a:pt x="115342" y="124009"/>
                  <a:pt x="120745" y="124009"/>
                </a:cubicBezTo>
                <a:cubicBezTo>
                  <a:pt x="126149" y="124009"/>
                  <a:pt x="130535" y="128395"/>
                  <a:pt x="130535" y="133799"/>
                </a:cubicBezTo>
                <a:cubicBezTo>
                  <a:pt x="130535" y="139202"/>
                  <a:pt x="126149" y="143589"/>
                  <a:pt x="120745" y="143589"/>
                </a:cubicBezTo>
                <a:close/>
                <a:moveTo>
                  <a:pt x="26107" y="172959"/>
                </a:moveTo>
                <a:cubicBezTo>
                  <a:pt x="26107" y="167534"/>
                  <a:pt x="30472" y="163169"/>
                  <a:pt x="35897" y="163169"/>
                </a:cubicBezTo>
                <a:lnTo>
                  <a:pt x="81585" y="163169"/>
                </a:lnTo>
                <a:cubicBezTo>
                  <a:pt x="87010" y="163169"/>
                  <a:pt x="91375" y="167534"/>
                  <a:pt x="91375" y="172959"/>
                </a:cubicBezTo>
                <a:cubicBezTo>
                  <a:pt x="91375" y="178385"/>
                  <a:pt x="87010" y="182749"/>
                  <a:pt x="81585" y="182749"/>
                </a:cubicBezTo>
                <a:lnTo>
                  <a:pt x="35897" y="182749"/>
                </a:lnTo>
                <a:cubicBezTo>
                  <a:pt x="30472" y="182749"/>
                  <a:pt x="26107" y="178385"/>
                  <a:pt x="26107" y="172959"/>
                </a:cubicBezTo>
                <a:close/>
                <a:moveTo>
                  <a:pt x="120745" y="163169"/>
                </a:moveTo>
                <a:cubicBezTo>
                  <a:pt x="126171" y="163169"/>
                  <a:pt x="130535" y="167534"/>
                  <a:pt x="130535" y="172959"/>
                </a:cubicBezTo>
                <a:cubicBezTo>
                  <a:pt x="130535" y="178385"/>
                  <a:pt x="126171" y="182749"/>
                  <a:pt x="120745" y="182749"/>
                </a:cubicBezTo>
                <a:cubicBezTo>
                  <a:pt x="115320" y="182749"/>
                  <a:pt x="110955" y="178385"/>
                  <a:pt x="110955" y="172959"/>
                </a:cubicBezTo>
                <a:cubicBezTo>
                  <a:pt x="110955" y="167534"/>
                  <a:pt x="115320" y="163169"/>
                  <a:pt x="120745" y="163169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11269641" y="1143076"/>
            <a:ext cx="4385987" cy="32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4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设计计算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1025975" y="1607202"/>
            <a:ext cx="4525225" cy="835426"/>
          </a:xfrm>
          <a:custGeom>
            <a:avLst/>
            <a:gdLst/>
            <a:ahLst/>
            <a:cxnLst/>
            <a:rect l="l" t="t" r="r" b="b"/>
            <a:pathLst>
              <a:path w="4525225" h="835426">
                <a:moveTo>
                  <a:pt x="46413" y="0"/>
                </a:moveTo>
                <a:lnTo>
                  <a:pt x="4478809" y="0"/>
                </a:lnTo>
                <a:cubicBezTo>
                  <a:pt x="4504444" y="0"/>
                  <a:pt x="4525225" y="20781"/>
                  <a:pt x="4525225" y="46416"/>
                </a:cubicBezTo>
                <a:lnTo>
                  <a:pt x="4525225" y="789010"/>
                </a:lnTo>
                <a:cubicBezTo>
                  <a:pt x="4525225" y="814645"/>
                  <a:pt x="4504444" y="835426"/>
                  <a:pt x="4478809" y="835426"/>
                </a:cubicBezTo>
                <a:lnTo>
                  <a:pt x="46413" y="835426"/>
                </a:lnTo>
                <a:cubicBezTo>
                  <a:pt x="20780" y="835426"/>
                  <a:pt x="0" y="814647"/>
                  <a:pt x="0" y="789014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6"/>
          <p:cNvSpPr/>
          <p:nvPr/>
        </p:nvSpPr>
        <p:spPr>
          <a:xfrm>
            <a:off x="11025975" y="1607202"/>
            <a:ext cx="46413" cy="835426"/>
          </a:xfrm>
          <a:custGeom>
            <a:avLst/>
            <a:gdLst/>
            <a:ahLst/>
            <a:cxnLst/>
            <a:rect l="l" t="t" r="r" b="b"/>
            <a:pathLst>
              <a:path w="46413" h="835426">
                <a:moveTo>
                  <a:pt x="46413" y="0"/>
                </a:moveTo>
                <a:lnTo>
                  <a:pt x="46413" y="0"/>
                </a:lnTo>
                <a:lnTo>
                  <a:pt x="46413" y="835426"/>
                </a:lnTo>
                <a:lnTo>
                  <a:pt x="46413" y="835426"/>
                </a:lnTo>
                <a:cubicBezTo>
                  <a:pt x="20780" y="835426"/>
                  <a:pt x="0" y="814647"/>
                  <a:pt x="0" y="789014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11188419" y="1746439"/>
            <a:ext cx="4316368" cy="556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1TB 文件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6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 16,384 个 chunk（64MB/个）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1025975" y="2581865"/>
            <a:ext cx="4525225" cy="835426"/>
          </a:xfrm>
          <a:custGeom>
            <a:avLst/>
            <a:gdLst/>
            <a:ahLst/>
            <a:cxnLst/>
            <a:rect l="l" t="t" r="r" b="b"/>
            <a:pathLst>
              <a:path w="4525225" h="835426">
                <a:moveTo>
                  <a:pt x="46413" y="0"/>
                </a:moveTo>
                <a:lnTo>
                  <a:pt x="4478809" y="0"/>
                </a:lnTo>
                <a:cubicBezTo>
                  <a:pt x="4504444" y="0"/>
                  <a:pt x="4525225" y="20781"/>
                  <a:pt x="4525225" y="46416"/>
                </a:cubicBezTo>
                <a:lnTo>
                  <a:pt x="4525225" y="789010"/>
                </a:lnTo>
                <a:cubicBezTo>
                  <a:pt x="4525225" y="814645"/>
                  <a:pt x="4504444" y="835426"/>
                  <a:pt x="4478809" y="835426"/>
                </a:cubicBezTo>
                <a:lnTo>
                  <a:pt x="46413" y="835426"/>
                </a:lnTo>
                <a:cubicBezTo>
                  <a:pt x="20780" y="835426"/>
                  <a:pt x="0" y="814647"/>
                  <a:pt x="0" y="789014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9"/>
          <p:cNvSpPr/>
          <p:nvPr/>
        </p:nvSpPr>
        <p:spPr>
          <a:xfrm>
            <a:off x="11025975" y="2581865"/>
            <a:ext cx="46413" cy="835426"/>
          </a:xfrm>
          <a:custGeom>
            <a:avLst/>
            <a:gdLst/>
            <a:ahLst/>
            <a:cxnLst/>
            <a:rect l="l" t="t" r="r" b="b"/>
            <a:pathLst>
              <a:path w="46413" h="835426">
                <a:moveTo>
                  <a:pt x="46413" y="0"/>
                </a:moveTo>
                <a:lnTo>
                  <a:pt x="46413" y="0"/>
                </a:lnTo>
                <a:lnTo>
                  <a:pt x="46413" y="835426"/>
                </a:lnTo>
                <a:lnTo>
                  <a:pt x="46413" y="835426"/>
                </a:lnTo>
                <a:cubicBezTo>
                  <a:pt x="20780" y="835426"/>
                  <a:pt x="0" y="814647"/>
                  <a:pt x="0" y="789014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0"/>
          <p:cNvSpPr/>
          <p:nvPr/>
        </p:nvSpPr>
        <p:spPr>
          <a:xfrm>
            <a:off x="11188419" y="2721103"/>
            <a:ext cx="4316368" cy="556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1PB 数据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6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 16,777,216 个 chunk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11025975" y="3556529"/>
            <a:ext cx="4525225" cy="835426"/>
          </a:xfrm>
          <a:custGeom>
            <a:avLst/>
            <a:gdLst/>
            <a:ahLst/>
            <a:cxnLst/>
            <a:rect l="l" t="t" r="r" b="b"/>
            <a:pathLst>
              <a:path w="4525225" h="835426">
                <a:moveTo>
                  <a:pt x="46413" y="0"/>
                </a:moveTo>
                <a:lnTo>
                  <a:pt x="4478809" y="0"/>
                </a:lnTo>
                <a:cubicBezTo>
                  <a:pt x="4504444" y="0"/>
                  <a:pt x="4525225" y="20781"/>
                  <a:pt x="4525225" y="46416"/>
                </a:cubicBezTo>
                <a:lnTo>
                  <a:pt x="4525225" y="789010"/>
                </a:lnTo>
                <a:cubicBezTo>
                  <a:pt x="4525225" y="814645"/>
                  <a:pt x="4504444" y="835426"/>
                  <a:pt x="4478809" y="835426"/>
                </a:cubicBezTo>
                <a:lnTo>
                  <a:pt x="46413" y="835426"/>
                </a:lnTo>
                <a:cubicBezTo>
                  <a:pt x="20780" y="835426"/>
                  <a:pt x="0" y="814647"/>
                  <a:pt x="0" y="789014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2"/>
          <p:cNvSpPr/>
          <p:nvPr/>
        </p:nvSpPr>
        <p:spPr>
          <a:xfrm>
            <a:off x="11025975" y="3556529"/>
            <a:ext cx="46413" cy="835426"/>
          </a:xfrm>
          <a:custGeom>
            <a:avLst/>
            <a:gdLst/>
            <a:ahLst/>
            <a:cxnLst/>
            <a:rect l="l" t="t" r="r" b="b"/>
            <a:pathLst>
              <a:path w="46413" h="835426">
                <a:moveTo>
                  <a:pt x="46413" y="0"/>
                </a:moveTo>
                <a:lnTo>
                  <a:pt x="46413" y="0"/>
                </a:lnTo>
                <a:lnTo>
                  <a:pt x="46413" y="835426"/>
                </a:lnTo>
                <a:lnTo>
                  <a:pt x="46413" y="835426"/>
                </a:lnTo>
                <a:cubicBezTo>
                  <a:pt x="20780" y="835426"/>
                  <a:pt x="0" y="814647"/>
                  <a:pt x="0" y="789014"/>
                </a:cubicBezTo>
                <a:lnTo>
                  <a:pt x="0" y="46413"/>
                </a:lnTo>
                <a:cubicBezTo>
                  <a:pt x="0" y="20797"/>
                  <a:pt x="20797" y="0"/>
                  <a:pt x="46413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3"/>
          <p:cNvSpPr/>
          <p:nvPr/>
        </p:nvSpPr>
        <p:spPr>
          <a:xfrm>
            <a:off x="11188419" y="3695767"/>
            <a:ext cx="4316368" cy="556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元数据量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6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 chunk 元数据约 64 字节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10764904" y="4827073"/>
            <a:ext cx="5024160" cy="4119115"/>
          </a:xfrm>
          <a:custGeom>
            <a:avLst/>
            <a:gdLst/>
            <a:ahLst/>
            <a:cxnLst/>
            <a:rect l="l" t="t" r="r" b="b"/>
            <a:pathLst>
              <a:path w="5024160" h="4119115">
                <a:moveTo>
                  <a:pt x="92845" y="0"/>
                </a:moveTo>
                <a:lnTo>
                  <a:pt x="4931315" y="0"/>
                </a:lnTo>
                <a:cubicBezTo>
                  <a:pt x="4982592" y="0"/>
                  <a:pt x="5024160" y="41568"/>
                  <a:pt x="5024160" y="92845"/>
                </a:cubicBezTo>
                <a:lnTo>
                  <a:pt x="5024160" y="4026270"/>
                </a:lnTo>
                <a:cubicBezTo>
                  <a:pt x="5024160" y="4077547"/>
                  <a:pt x="4982592" y="4119115"/>
                  <a:pt x="4931315" y="4119115"/>
                </a:cubicBezTo>
                <a:lnTo>
                  <a:pt x="92845" y="4119115"/>
                </a:lnTo>
                <a:cubicBezTo>
                  <a:pt x="41568" y="4119115"/>
                  <a:pt x="0" y="4077547"/>
                  <a:pt x="0" y="4026270"/>
                </a:cubicBezTo>
                <a:lnTo>
                  <a:pt x="0" y="92845"/>
                </a:lnTo>
                <a:cubicBezTo>
                  <a:pt x="0" y="41568"/>
                  <a:pt x="41568" y="0"/>
                  <a:pt x="92845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5"/>
          <p:cNvSpPr/>
          <p:nvPr/>
        </p:nvSpPr>
        <p:spPr>
          <a:xfrm>
            <a:off x="11057884" y="5122953"/>
            <a:ext cx="156642" cy="208857"/>
          </a:xfrm>
          <a:custGeom>
            <a:avLst/>
            <a:gdLst/>
            <a:ahLst/>
            <a:cxnLst/>
            <a:rect l="l" t="t" r="r" b="b"/>
            <a:pathLst>
              <a:path w="156642" h="208857">
                <a:moveTo>
                  <a:pt x="119481" y="156642"/>
                </a:moveTo>
                <a:cubicBezTo>
                  <a:pt x="122458" y="147546"/>
                  <a:pt x="128414" y="139306"/>
                  <a:pt x="135145" y="132208"/>
                </a:cubicBezTo>
                <a:cubicBezTo>
                  <a:pt x="148484" y="118175"/>
                  <a:pt x="156642" y="99207"/>
                  <a:pt x="156642" y="78321"/>
                </a:cubicBezTo>
                <a:cubicBezTo>
                  <a:pt x="156642" y="35081"/>
                  <a:pt x="121561" y="0"/>
                  <a:pt x="78321" y="0"/>
                </a:cubicBezTo>
                <a:cubicBezTo>
                  <a:pt x="35081" y="0"/>
                  <a:pt x="0" y="35081"/>
                  <a:pt x="0" y="78321"/>
                </a:cubicBezTo>
                <a:cubicBezTo>
                  <a:pt x="0" y="99207"/>
                  <a:pt x="8158" y="118175"/>
                  <a:pt x="21498" y="132208"/>
                </a:cubicBezTo>
                <a:cubicBezTo>
                  <a:pt x="28228" y="139306"/>
                  <a:pt x="34225" y="147546"/>
                  <a:pt x="37162" y="156642"/>
                </a:cubicBezTo>
                <a:lnTo>
                  <a:pt x="119440" y="156642"/>
                </a:lnTo>
                <a:close/>
                <a:moveTo>
                  <a:pt x="117482" y="176223"/>
                </a:moveTo>
                <a:lnTo>
                  <a:pt x="39161" y="176223"/>
                </a:lnTo>
                <a:lnTo>
                  <a:pt x="39161" y="182749"/>
                </a:lnTo>
                <a:cubicBezTo>
                  <a:pt x="39161" y="200780"/>
                  <a:pt x="53764" y="215383"/>
                  <a:pt x="71794" y="215383"/>
                </a:cubicBezTo>
                <a:lnTo>
                  <a:pt x="84848" y="215383"/>
                </a:lnTo>
                <a:cubicBezTo>
                  <a:pt x="102878" y="215383"/>
                  <a:pt x="117482" y="200780"/>
                  <a:pt x="117482" y="182749"/>
                </a:cubicBezTo>
                <a:lnTo>
                  <a:pt x="117482" y="176223"/>
                </a:lnTo>
                <a:close/>
                <a:moveTo>
                  <a:pt x="75058" y="45687"/>
                </a:moveTo>
                <a:cubicBezTo>
                  <a:pt x="58822" y="45687"/>
                  <a:pt x="45687" y="58822"/>
                  <a:pt x="45687" y="75058"/>
                </a:cubicBezTo>
                <a:cubicBezTo>
                  <a:pt x="45687" y="80483"/>
                  <a:pt x="41323" y="84848"/>
                  <a:pt x="35897" y="84848"/>
                </a:cubicBezTo>
                <a:cubicBezTo>
                  <a:pt x="30472" y="84848"/>
                  <a:pt x="26107" y="80483"/>
                  <a:pt x="26107" y="75058"/>
                </a:cubicBezTo>
                <a:cubicBezTo>
                  <a:pt x="26107" y="48013"/>
                  <a:pt x="48013" y="26107"/>
                  <a:pt x="75058" y="26107"/>
                </a:cubicBezTo>
                <a:cubicBezTo>
                  <a:pt x="80483" y="26107"/>
                  <a:pt x="84848" y="30472"/>
                  <a:pt x="84848" y="35897"/>
                </a:cubicBezTo>
                <a:cubicBezTo>
                  <a:pt x="84848" y="41323"/>
                  <a:pt x="80483" y="45687"/>
                  <a:pt x="75058" y="45687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6"/>
          <p:cNvSpPr/>
          <p:nvPr/>
        </p:nvSpPr>
        <p:spPr>
          <a:xfrm>
            <a:off x="11269641" y="5064937"/>
            <a:ext cx="4385987" cy="324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45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设计洞察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11002769" y="5529063"/>
            <a:ext cx="4548431" cy="835426"/>
          </a:xfrm>
          <a:custGeom>
            <a:avLst/>
            <a:gdLst/>
            <a:ahLst/>
            <a:cxnLst/>
            <a:rect l="l" t="t" r="r" b="b"/>
            <a:pathLst>
              <a:path w="4548431" h="835426">
                <a:moveTo>
                  <a:pt x="46416" y="0"/>
                </a:moveTo>
                <a:lnTo>
                  <a:pt x="4502015" y="0"/>
                </a:lnTo>
                <a:cubicBezTo>
                  <a:pt x="4527650" y="0"/>
                  <a:pt x="4548431" y="20781"/>
                  <a:pt x="4548431" y="46416"/>
                </a:cubicBezTo>
                <a:lnTo>
                  <a:pt x="4548431" y="789010"/>
                </a:lnTo>
                <a:cubicBezTo>
                  <a:pt x="4548431" y="814645"/>
                  <a:pt x="4527650" y="835426"/>
                  <a:pt x="4502015" y="835426"/>
                </a:cubicBezTo>
                <a:lnTo>
                  <a:pt x="46416" y="835426"/>
                </a:lnTo>
                <a:cubicBezTo>
                  <a:pt x="20781" y="835426"/>
                  <a:pt x="0" y="814645"/>
                  <a:pt x="0" y="789010"/>
                </a:cubicBezTo>
                <a:lnTo>
                  <a:pt x="0" y="46416"/>
                </a:lnTo>
                <a:cubicBezTo>
                  <a:pt x="0" y="20798"/>
                  <a:pt x="20798" y="0"/>
                  <a:pt x="46416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8"/>
          <p:cNvSpPr/>
          <p:nvPr/>
        </p:nvSpPr>
        <p:spPr>
          <a:xfrm>
            <a:off x="11142006" y="5668301"/>
            <a:ext cx="4362781" cy="556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 chunk 减少元数据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6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1PB 仅需 1GB 元数据，可全内存存储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11002769" y="6503727"/>
            <a:ext cx="4548431" cy="835426"/>
          </a:xfrm>
          <a:custGeom>
            <a:avLst/>
            <a:gdLst/>
            <a:ahLst/>
            <a:cxnLst/>
            <a:rect l="l" t="t" r="r" b="b"/>
            <a:pathLst>
              <a:path w="4548431" h="835426">
                <a:moveTo>
                  <a:pt x="46416" y="0"/>
                </a:moveTo>
                <a:lnTo>
                  <a:pt x="4502015" y="0"/>
                </a:lnTo>
                <a:cubicBezTo>
                  <a:pt x="4527650" y="0"/>
                  <a:pt x="4548431" y="20781"/>
                  <a:pt x="4548431" y="46416"/>
                </a:cubicBezTo>
                <a:lnTo>
                  <a:pt x="4548431" y="789010"/>
                </a:lnTo>
                <a:cubicBezTo>
                  <a:pt x="4548431" y="814645"/>
                  <a:pt x="4527650" y="835426"/>
                  <a:pt x="4502015" y="835426"/>
                </a:cubicBezTo>
                <a:lnTo>
                  <a:pt x="46416" y="835426"/>
                </a:lnTo>
                <a:cubicBezTo>
                  <a:pt x="20781" y="835426"/>
                  <a:pt x="0" y="814645"/>
                  <a:pt x="0" y="789010"/>
                </a:cubicBezTo>
                <a:lnTo>
                  <a:pt x="0" y="46416"/>
                </a:lnTo>
                <a:cubicBezTo>
                  <a:pt x="0" y="20798"/>
                  <a:pt x="20798" y="0"/>
                  <a:pt x="46416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0"/>
          <p:cNvSpPr/>
          <p:nvPr/>
        </p:nvSpPr>
        <p:spPr>
          <a:xfrm>
            <a:off x="11142006" y="6642965"/>
            <a:ext cx="4362781" cy="556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减少 Master 负载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6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客户端可缓存 chunk 位置，降低查询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11002769" y="7478391"/>
            <a:ext cx="4548431" cy="835426"/>
          </a:xfrm>
          <a:custGeom>
            <a:avLst/>
            <a:gdLst/>
            <a:ahLst/>
            <a:cxnLst/>
            <a:rect l="l" t="t" r="r" b="b"/>
            <a:pathLst>
              <a:path w="4548431" h="835426">
                <a:moveTo>
                  <a:pt x="46416" y="0"/>
                </a:moveTo>
                <a:lnTo>
                  <a:pt x="4502015" y="0"/>
                </a:lnTo>
                <a:cubicBezTo>
                  <a:pt x="4527650" y="0"/>
                  <a:pt x="4548431" y="20781"/>
                  <a:pt x="4548431" y="46416"/>
                </a:cubicBezTo>
                <a:lnTo>
                  <a:pt x="4548431" y="789010"/>
                </a:lnTo>
                <a:cubicBezTo>
                  <a:pt x="4548431" y="814645"/>
                  <a:pt x="4527650" y="835426"/>
                  <a:pt x="4502015" y="835426"/>
                </a:cubicBezTo>
                <a:lnTo>
                  <a:pt x="46416" y="835426"/>
                </a:lnTo>
                <a:cubicBezTo>
                  <a:pt x="20781" y="835426"/>
                  <a:pt x="0" y="814645"/>
                  <a:pt x="0" y="789010"/>
                </a:cubicBezTo>
                <a:lnTo>
                  <a:pt x="0" y="46416"/>
                </a:lnTo>
                <a:cubicBezTo>
                  <a:pt x="0" y="20798"/>
                  <a:pt x="20798" y="0"/>
                  <a:pt x="46416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2"/>
          <p:cNvSpPr/>
          <p:nvPr/>
        </p:nvSpPr>
        <p:spPr>
          <a:xfrm>
            <a:off x="11142006" y="7617628"/>
            <a:ext cx="4362781" cy="556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2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提高吞吐量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6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单次 I/O 操作传输更多数据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9487" y="586859"/>
            <a:ext cx="469487" cy="46949"/>
          </a:xfrm>
          <a:custGeom>
            <a:avLst/>
            <a:gdLst/>
            <a:ahLst/>
            <a:cxnLst/>
            <a:rect l="l" t="t" r="r" b="b"/>
            <a:pathLst>
              <a:path w="469487" h="46949">
                <a:moveTo>
                  <a:pt x="0" y="0"/>
                </a:moveTo>
                <a:lnTo>
                  <a:pt x="469487" y="0"/>
                </a:lnTo>
                <a:lnTo>
                  <a:pt x="469487" y="46949"/>
                </a:lnTo>
                <a:lnTo>
                  <a:pt x="0" y="46949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79821" y="469487"/>
            <a:ext cx="3345097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b="1" kern="0" spc="74" dirty="0">
                <a:solidFill>
                  <a:srgbClr val="D4A2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CHUNKSERVER RESPONSIBILITIES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69487" y="845077"/>
            <a:ext cx="15528295" cy="469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27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ChunkServer 的核心职责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92962" y="1502360"/>
            <a:ext cx="7511798" cy="2112693"/>
          </a:xfrm>
          <a:custGeom>
            <a:avLst/>
            <a:gdLst/>
            <a:ahLst/>
            <a:cxnLst/>
            <a:rect l="l" t="t" r="r" b="b"/>
            <a:pathLst>
              <a:path w="7511798" h="2112693">
                <a:moveTo>
                  <a:pt x="46949" y="0"/>
                </a:moveTo>
                <a:lnTo>
                  <a:pt x="7417910" y="0"/>
                </a:lnTo>
                <a:cubicBezTo>
                  <a:pt x="7469763" y="0"/>
                  <a:pt x="7511798" y="42035"/>
                  <a:pt x="7511798" y="93888"/>
                </a:cubicBezTo>
                <a:lnTo>
                  <a:pt x="7511798" y="2018805"/>
                </a:lnTo>
                <a:cubicBezTo>
                  <a:pt x="7511798" y="2070658"/>
                  <a:pt x="7469763" y="2112693"/>
                  <a:pt x="7417910" y="2112693"/>
                </a:cubicBezTo>
                <a:lnTo>
                  <a:pt x="46949" y="2112693"/>
                </a:lnTo>
                <a:cubicBezTo>
                  <a:pt x="21020" y="2112693"/>
                  <a:pt x="0" y="2091673"/>
                  <a:pt x="0" y="2065744"/>
                </a:cubicBezTo>
                <a:lnTo>
                  <a:pt x="0" y="46949"/>
                </a:lnTo>
                <a:cubicBezTo>
                  <a:pt x="0" y="21020"/>
                  <a:pt x="21020" y="0"/>
                  <a:pt x="46949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92962" y="1502360"/>
            <a:ext cx="46949" cy="2112693"/>
          </a:xfrm>
          <a:custGeom>
            <a:avLst/>
            <a:gdLst/>
            <a:ahLst/>
            <a:cxnLst/>
            <a:rect l="l" t="t" r="r" b="b"/>
            <a:pathLst>
              <a:path w="46949" h="2112693">
                <a:moveTo>
                  <a:pt x="46949" y="0"/>
                </a:moveTo>
                <a:lnTo>
                  <a:pt x="46949" y="0"/>
                </a:lnTo>
                <a:lnTo>
                  <a:pt x="46949" y="2112693"/>
                </a:lnTo>
                <a:lnTo>
                  <a:pt x="46949" y="2112693"/>
                </a:lnTo>
                <a:cubicBezTo>
                  <a:pt x="21020" y="2112693"/>
                  <a:pt x="0" y="2091673"/>
                  <a:pt x="0" y="2065744"/>
                </a:cubicBezTo>
                <a:lnTo>
                  <a:pt x="0" y="46949"/>
                </a:lnTo>
                <a:cubicBezTo>
                  <a:pt x="0" y="21020"/>
                  <a:pt x="21020" y="0"/>
                  <a:pt x="46949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51180" y="1737103"/>
            <a:ext cx="469487" cy="469487"/>
          </a:xfrm>
          <a:custGeom>
            <a:avLst/>
            <a:gdLst/>
            <a:ahLst/>
            <a:cxnLst/>
            <a:rect l="l" t="t" r="r" b="b"/>
            <a:pathLst>
              <a:path w="469487" h="469487">
                <a:moveTo>
                  <a:pt x="234744" y="0"/>
                </a:moveTo>
                <a:lnTo>
                  <a:pt x="234744" y="0"/>
                </a:lnTo>
                <a:cubicBezTo>
                  <a:pt x="364302" y="0"/>
                  <a:pt x="469487" y="105185"/>
                  <a:pt x="469487" y="234744"/>
                </a:cubicBezTo>
                <a:lnTo>
                  <a:pt x="469487" y="234744"/>
                </a:lnTo>
                <a:cubicBezTo>
                  <a:pt x="469487" y="364302"/>
                  <a:pt x="364302" y="469487"/>
                  <a:pt x="234744" y="469487"/>
                </a:cubicBezTo>
                <a:lnTo>
                  <a:pt x="234744" y="469487"/>
                </a:lnTo>
                <a:cubicBezTo>
                  <a:pt x="105185" y="469487"/>
                  <a:pt x="0" y="364302"/>
                  <a:pt x="0" y="234744"/>
                </a:cubicBezTo>
                <a:lnTo>
                  <a:pt x="0" y="234744"/>
                </a:lnTo>
                <a:cubicBezTo>
                  <a:pt x="0" y="105185"/>
                  <a:pt x="105185" y="0"/>
                  <a:pt x="234744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43651" y="1807526"/>
            <a:ext cx="187795" cy="328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64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61513" y="1807526"/>
            <a:ext cx="2288751" cy="328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6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存储和管理 chunk 数据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1180" y="2347437"/>
            <a:ext cx="7112734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设计原理：</a:t>
            </a:r>
            <a:r>
              <a:rPr lang="en-US" sz="147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将大文件分割成固定大小的 chunk，简化管理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1180" y="2723027"/>
            <a:ext cx="7112734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实现方式：</a:t>
            </a:r>
            <a:r>
              <a:rPr lang="en-US" sz="147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 chunk 作为独立的 Linux 文件存储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1180" y="3098617"/>
            <a:ext cx="7112734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优势：</a:t>
            </a:r>
            <a:r>
              <a:rPr lang="en-US" sz="147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利用操作系统的文件系统特性，减少开发复杂度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2962" y="3802848"/>
            <a:ext cx="7511798" cy="2112693"/>
          </a:xfrm>
          <a:custGeom>
            <a:avLst/>
            <a:gdLst/>
            <a:ahLst/>
            <a:cxnLst/>
            <a:rect l="l" t="t" r="r" b="b"/>
            <a:pathLst>
              <a:path w="7511798" h="2112693">
                <a:moveTo>
                  <a:pt x="46949" y="0"/>
                </a:moveTo>
                <a:lnTo>
                  <a:pt x="7417910" y="0"/>
                </a:lnTo>
                <a:cubicBezTo>
                  <a:pt x="7469763" y="0"/>
                  <a:pt x="7511798" y="42035"/>
                  <a:pt x="7511798" y="93888"/>
                </a:cubicBezTo>
                <a:lnTo>
                  <a:pt x="7511798" y="2018805"/>
                </a:lnTo>
                <a:cubicBezTo>
                  <a:pt x="7511798" y="2070658"/>
                  <a:pt x="7469763" y="2112693"/>
                  <a:pt x="7417910" y="2112693"/>
                </a:cubicBezTo>
                <a:lnTo>
                  <a:pt x="46949" y="2112693"/>
                </a:lnTo>
                <a:cubicBezTo>
                  <a:pt x="21020" y="2112693"/>
                  <a:pt x="0" y="2091673"/>
                  <a:pt x="0" y="2065744"/>
                </a:cubicBezTo>
                <a:lnTo>
                  <a:pt x="0" y="46949"/>
                </a:lnTo>
                <a:cubicBezTo>
                  <a:pt x="0" y="21020"/>
                  <a:pt x="21020" y="0"/>
                  <a:pt x="46949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92962" y="3802848"/>
            <a:ext cx="46949" cy="2112693"/>
          </a:xfrm>
          <a:custGeom>
            <a:avLst/>
            <a:gdLst/>
            <a:ahLst/>
            <a:cxnLst/>
            <a:rect l="l" t="t" r="r" b="b"/>
            <a:pathLst>
              <a:path w="46949" h="2112693">
                <a:moveTo>
                  <a:pt x="46949" y="0"/>
                </a:moveTo>
                <a:lnTo>
                  <a:pt x="46949" y="0"/>
                </a:lnTo>
                <a:lnTo>
                  <a:pt x="46949" y="2112693"/>
                </a:lnTo>
                <a:lnTo>
                  <a:pt x="46949" y="2112693"/>
                </a:lnTo>
                <a:cubicBezTo>
                  <a:pt x="21020" y="2112693"/>
                  <a:pt x="0" y="2091673"/>
                  <a:pt x="0" y="2065744"/>
                </a:cubicBezTo>
                <a:lnTo>
                  <a:pt x="0" y="46949"/>
                </a:lnTo>
                <a:cubicBezTo>
                  <a:pt x="0" y="21020"/>
                  <a:pt x="21020" y="0"/>
                  <a:pt x="46949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51180" y="4037591"/>
            <a:ext cx="469487" cy="469487"/>
          </a:xfrm>
          <a:custGeom>
            <a:avLst/>
            <a:gdLst/>
            <a:ahLst/>
            <a:cxnLst/>
            <a:rect l="l" t="t" r="r" b="b"/>
            <a:pathLst>
              <a:path w="469487" h="469487">
                <a:moveTo>
                  <a:pt x="234744" y="0"/>
                </a:moveTo>
                <a:lnTo>
                  <a:pt x="234744" y="0"/>
                </a:lnTo>
                <a:cubicBezTo>
                  <a:pt x="364302" y="0"/>
                  <a:pt x="469487" y="105185"/>
                  <a:pt x="469487" y="234744"/>
                </a:cubicBezTo>
                <a:lnTo>
                  <a:pt x="469487" y="234744"/>
                </a:lnTo>
                <a:cubicBezTo>
                  <a:pt x="469487" y="364302"/>
                  <a:pt x="364302" y="469487"/>
                  <a:pt x="234744" y="469487"/>
                </a:cubicBezTo>
                <a:lnTo>
                  <a:pt x="234744" y="469487"/>
                </a:lnTo>
                <a:cubicBezTo>
                  <a:pt x="105185" y="469487"/>
                  <a:pt x="0" y="364302"/>
                  <a:pt x="0" y="234744"/>
                </a:cubicBezTo>
                <a:lnTo>
                  <a:pt x="0" y="234744"/>
                </a:lnTo>
                <a:cubicBezTo>
                  <a:pt x="0" y="105185"/>
                  <a:pt x="105185" y="0"/>
                  <a:pt x="234744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24487" y="4108014"/>
            <a:ext cx="223006" cy="328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64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61513" y="4108014"/>
            <a:ext cx="2218328" cy="328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6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处理客户端的读写请求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1180" y="4647925"/>
            <a:ext cx="7112734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设计原理：</a:t>
            </a:r>
            <a:r>
              <a:rPr lang="en-US" sz="147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数据流和控制流分离，减少 Master 负载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1180" y="5023515"/>
            <a:ext cx="7112734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流程：</a:t>
            </a:r>
            <a:r>
              <a:rPr lang="en-US" sz="147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客户端直接与 ChunkServer 通信进行数据传输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1180" y="5399105"/>
            <a:ext cx="7112734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优势：</a:t>
            </a:r>
            <a:r>
              <a:rPr lang="en-US" sz="147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提高并发性能，避免 Master 成为瓶颈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68113" y="1430920"/>
            <a:ext cx="7511798" cy="2065744"/>
          </a:xfrm>
          <a:custGeom>
            <a:avLst/>
            <a:gdLst/>
            <a:ahLst/>
            <a:cxnLst/>
            <a:rect l="l" t="t" r="r" b="b"/>
            <a:pathLst>
              <a:path w="7511798" h="2065744">
                <a:moveTo>
                  <a:pt x="46949" y="0"/>
                </a:moveTo>
                <a:lnTo>
                  <a:pt x="7417910" y="0"/>
                </a:lnTo>
                <a:cubicBezTo>
                  <a:pt x="7469763" y="0"/>
                  <a:pt x="7511798" y="42035"/>
                  <a:pt x="7511798" y="93888"/>
                </a:cubicBezTo>
                <a:lnTo>
                  <a:pt x="7511798" y="1971856"/>
                </a:lnTo>
                <a:cubicBezTo>
                  <a:pt x="7511798" y="2023709"/>
                  <a:pt x="7469763" y="2065744"/>
                  <a:pt x="7417910" y="2065744"/>
                </a:cubicBezTo>
                <a:lnTo>
                  <a:pt x="46949" y="2065744"/>
                </a:lnTo>
                <a:cubicBezTo>
                  <a:pt x="21020" y="2065744"/>
                  <a:pt x="0" y="2044725"/>
                  <a:pt x="0" y="2018796"/>
                </a:cubicBezTo>
                <a:lnTo>
                  <a:pt x="0" y="46949"/>
                </a:lnTo>
                <a:cubicBezTo>
                  <a:pt x="0" y="21037"/>
                  <a:pt x="21037" y="0"/>
                  <a:pt x="46949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268113" y="1430920"/>
            <a:ext cx="46949" cy="2065744"/>
          </a:xfrm>
          <a:custGeom>
            <a:avLst/>
            <a:gdLst/>
            <a:ahLst/>
            <a:cxnLst/>
            <a:rect l="l" t="t" r="r" b="b"/>
            <a:pathLst>
              <a:path w="46949" h="2065744">
                <a:moveTo>
                  <a:pt x="46949" y="0"/>
                </a:moveTo>
                <a:lnTo>
                  <a:pt x="46949" y="0"/>
                </a:lnTo>
                <a:lnTo>
                  <a:pt x="46949" y="2065744"/>
                </a:lnTo>
                <a:lnTo>
                  <a:pt x="46949" y="2065744"/>
                </a:lnTo>
                <a:cubicBezTo>
                  <a:pt x="21020" y="2065744"/>
                  <a:pt x="0" y="2044725"/>
                  <a:pt x="0" y="2018796"/>
                </a:cubicBezTo>
                <a:lnTo>
                  <a:pt x="0" y="46949"/>
                </a:lnTo>
                <a:cubicBezTo>
                  <a:pt x="0" y="21020"/>
                  <a:pt x="21020" y="0"/>
                  <a:pt x="46949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526331" y="1665663"/>
            <a:ext cx="469487" cy="469487"/>
          </a:xfrm>
          <a:custGeom>
            <a:avLst/>
            <a:gdLst/>
            <a:ahLst/>
            <a:cxnLst/>
            <a:rect l="l" t="t" r="r" b="b"/>
            <a:pathLst>
              <a:path w="469487" h="469487">
                <a:moveTo>
                  <a:pt x="234744" y="0"/>
                </a:moveTo>
                <a:lnTo>
                  <a:pt x="234744" y="0"/>
                </a:lnTo>
                <a:cubicBezTo>
                  <a:pt x="364302" y="0"/>
                  <a:pt x="469487" y="105185"/>
                  <a:pt x="469487" y="234744"/>
                </a:cubicBezTo>
                <a:lnTo>
                  <a:pt x="469487" y="234744"/>
                </a:lnTo>
                <a:cubicBezTo>
                  <a:pt x="469487" y="364302"/>
                  <a:pt x="364302" y="469487"/>
                  <a:pt x="234744" y="469487"/>
                </a:cubicBezTo>
                <a:lnTo>
                  <a:pt x="234744" y="469487"/>
                </a:lnTo>
                <a:cubicBezTo>
                  <a:pt x="105185" y="469487"/>
                  <a:pt x="0" y="364302"/>
                  <a:pt x="0" y="234744"/>
                </a:cubicBezTo>
                <a:lnTo>
                  <a:pt x="0" y="234744"/>
                </a:lnTo>
                <a:cubicBezTo>
                  <a:pt x="0" y="105185"/>
                  <a:pt x="105185" y="0"/>
                  <a:pt x="234744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698721" y="1736086"/>
            <a:ext cx="234744" cy="328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64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36664" y="1736086"/>
            <a:ext cx="3427258" cy="328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6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定期向 Master 发送心跳和状态报告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26331" y="2275997"/>
            <a:ext cx="7112734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设计原理：</a:t>
            </a:r>
            <a:r>
              <a:rPr lang="en-US" sz="147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心跳机制维护集群状态一致性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26331" y="2651587"/>
            <a:ext cx="7112734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报告内容：存活状态、存储的 chunk 列表、磁盘使用情况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26331" y="2980228"/>
            <a:ext cx="7112734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频率：通常每几秒一次，平衡及时性和开销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68113" y="3684459"/>
            <a:ext cx="7511798" cy="2065744"/>
          </a:xfrm>
          <a:custGeom>
            <a:avLst/>
            <a:gdLst/>
            <a:ahLst/>
            <a:cxnLst/>
            <a:rect l="l" t="t" r="r" b="b"/>
            <a:pathLst>
              <a:path w="7511798" h="2065744">
                <a:moveTo>
                  <a:pt x="46949" y="0"/>
                </a:moveTo>
                <a:lnTo>
                  <a:pt x="7417910" y="0"/>
                </a:lnTo>
                <a:cubicBezTo>
                  <a:pt x="7469763" y="0"/>
                  <a:pt x="7511798" y="42035"/>
                  <a:pt x="7511798" y="93888"/>
                </a:cubicBezTo>
                <a:lnTo>
                  <a:pt x="7511798" y="1971856"/>
                </a:lnTo>
                <a:cubicBezTo>
                  <a:pt x="7511798" y="2023709"/>
                  <a:pt x="7469763" y="2065744"/>
                  <a:pt x="7417910" y="2065744"/>
                </a:cubicBezTo>
                <a:lnTo>
                  <a:pt x="46949" y="2065744"/>
                </a:lnTo>
                <a:cubicBezTo>
                  <a:pt x="21020" y="2065744"/>
                  <a:pt x="0" y="2044725"/>
                  <a:pt x="0" y="2018796"/>
                </a:cubicBezTo>
                <a:lnTo>
                  <a:pt x="0" y="46949"/>
                </a:lnTo>
                <a:cubicBezTo>
                  <a:pt x="0" y="21037"/>
                  <a:pt x="21037" y="0"/>
                  <a:pt x="46949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268113" y="3684459"/>
            <a:ext cx="46949" cy="2065744"/>
          </a:xfrm>
          <a:custGeom>
            <a:avLst/>
            <a:gdLst/>
            <a:ahLst/>
            <a:cxnLst/>
            <a:rect l="l" t="t" r="r" b="b"/>
            <a:pathLst>
              <a:path w="46949" h="2065744">
                <a:moveTo>
                  <a:pt x="46949" y="0"/>
                </a:moveTo>
                <a:lnTo>
                  <a:pt x="46949" y="0"/>
                </a:lnTo>
                <a:lnTo>
                  <a:pt x="46949" y="2065744"/>
                </a:lnTo>
                <a:lnTo>
                  <a:pt x="46949" y="2065744"/>
                </a:lnTo>
                <a:cubicBezTo>
                  <a:pt x="21020" y="2065744"/>
                  <a:pt x="0" y="2044725"/>
                  <a:pt x="0" y="2018796"/>
                </a:cubicBezTo>
                <a:lnTo>
                  <a:pt x="0" y="46949"/>
                </a:lnTo>
                <a:cubicBezTo>
                  <a:pt x="0" y="21020"/>
                  <a:pt x="21020" y="0"/>
                  <a:pt x="46949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526331" y="3919203"/>
            <a:ext cx="469487" cy="469487"/>
          </a:xfrm>
          <a:custGeom>
            <a:avLst/>
            <a:gdLst/>
            <a:ahLst/>
            <a:cxnLst/>
            <a:rect l="l" t="t" r="r" b="b"/>
            <a:pathLst>
              <a:path w="469487" h="469487">
                <a:moveTo>
                  <a:pt x="234744" y="0"/>
                </a:moveTo>
                <a:lnTo>
                  <a:pt x="234744" y="0"/>
                </a:lnTo>
                <a:cubicBezTo>
                  <a:pt x="364302" y="0"/>
                  <a:pt x="469487" y="105185"/>
                  <a:pt x="469487" y="234744"/>
                </a:cubicBezTo>
                <a:lnTo>
                  <a:pt x="469487" y="234744"/>
                </a:lnTo>
                <a:cubicBezTo>
                  <a:pt x="469487" y="364302"/>
                  <a:pt x="364302" y="469487"/>
                  <a:pt x="234744" y="469487"/>
                </a:cubicBezTo>
                <a:lnTo>
                  <a:pt x="234744" y="469487"/>
                </a:lnTo>
                <a:cubicBezTo>
                  <a:pt x="105185" y="469487"/>
                  <a:pt x="0" y="364302"/>
                  <a:pt x="0" y="234744"/>
                </a:cubicBezTo>
                <a:lnTo>
                  <a:pt x="0" y="234744"/>
                </a:lnTo>
                <a:cubicBezTo>
                  <a:pt x="0" y="105185"/>
                  <a:pt x="105185" y="0"/>
                  <a:pt x="234744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698812" y="3989626"/>
            <a:ext cx="234744" cy="328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64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36664" y="3989626"/>
            <a:ext cx="2711290" cy="328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6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参与 chunk 复制和恢复操作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26331" y="4529536"/>
            <a:ext cx="7112734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设计原理：</a:t>
            </a:r>
            <a:r>
              <a:rPr lang="en-US" sz="1479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分布式容错，确保数据可靠性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26331" y="4905126"/>
            <a:ext cx="7112734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触发条件：副本数量不足、数据损坏、负载均衡需求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26331" y="5233767"/>
            <a:ext cx="7112734" cy="281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79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实现：ChunkServer 间直接复制，减少网络开销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50507" y="5943867"/>
            <a:ext cx="7523535" cy="3122091"/>
          </a:xfrm>
          <a:custGeom>
            <a:avLst/>
            <a:gdLst/>
            <a:ahLst/>
            <a:cxnLst/>
            <a:rect l="l" t="t" r="r" b="b"/>
            <a:pathLst>
              <a:path w="7523535" h="3122091">
                <a:moveTo>
                  <a:pt x="93912" y="0"/>
                </a:moveTo>
                <a:lnTo>
                  <a:pt x="7429623" y="0"/>
                </a:lnTo>
                <a:cubicBezTo>
                  <a:pt x="7481489" y="0"/>
                  <a:pt x="7523535" y="42046"/>
                  <a:pt x="7523535" y="93912"/>
                </a:cubicBezTo>
                <a:lnTo>
                  <a:pt x="7523535" y="3028178"/>
                </a:lnTo>
                <a:cubicBezTo>
                  <a:pt x="7523535" y="3080045"/>
                  <a:pt x="7481489" y="3122091"/>
                  <a:pt x="7429623" y="3122091"/>
                </a:cubicBezTo>
                <a:lnTo>
                  <a:pt x="93912" y="3122091"/>
                </a:lnTo>
                <a:cubicBezTo>
                  <a:pt x="42046" y="3122091"/>
                  <a:pt x="0" y="3080045"/>
                  <a:pt x="0" y="3028178"/>
                </a:cubicBezTo>
                <a:lnTo>
                  <a:pt x="0" y="93912"/>
                </a:lnTo>
                <a:cubicBezTo>
                  <a:pt x="0" y="42081"/>
                  <a:pt x="42081" y="0"/>
                  <a:pt x="93912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520462" y="6243165"/>
            <a:ext cx="211269" cy="211269"/>
          </a:xfrm>
          <a:custGeom>
            <a:avLst/>
            <a:gdLst/>
            <a:ahLst/>
            <a:cxnLst/>
            <a:rect l="l" t="t" r="r" b="b"/>
            <a:pathLst>
              <a:path w="211269" h="211269">
                <a:moveTo>
                  <a:pt x="105635" y="0"/>
                </a:moveTo>
                <a:cubicBezTo>
                  <a:pt x="107533" y="0"/>
                  <a:pt x="109431" y="413"/>
                  <a:pt x="111164" y="1197"/>
                </a:cubicBezTo>
                <a:lnTo>
                  <a:pt x="188904" y="34166"/>
                </a:lnTo>
                <a:cubicBezTo>
                  <a:pt x="197982" y="38004"/>
                  <a:pt x="204750" y="46958"/>
                  <a:pt x="204708" y="57769"/>
                </a:cubicBezTo>
                <a:cubicBezTo>
                  <a:pt x="204502" y="98702"/>
                  <a:pt x="187667" y="173596"/>
                  <a:pt x="116569" y="207638"/>
                </a:cubicBezTo>
                <a:cubicBezTo>
                  <a:pt x="109678" y="210939"/>
                  <a:pt x="101673" y="210939"/>
                  <a:pt x="94782" y="207638"/>
                </a:cubicBezTo>
                <a:cubicBezTo>
                  <a:pt x="23644" y="173596"/>
                  <a:pt x="6850" y="98702"/>
                  <a:pt x="6643" y="57769"/>
                </a:cubicBezTo>
                <a:cubicBezTo>
                  <a:pt x="6602" y="46958"/>
                  <a:pt x="13369" y="38004"/>
                  <a:pt x="22447" y="34166"/>
                </a:cubicBezTo>
                <a:lnTo>
                  <a:pt x="100147" y="1197"/>
                </a:lnTo>
                <a:cubicBezTo>
                  <a:pt x="101880" y="413"/>
                  <a:pt x="103737" y="0"/>
                  <a:pt x="105635" y="0"/>
                </a:cubicBezTo>
                <a:close/>
                <a:moveTo>
                  <a:pt x="105635" y="27564"/>
                </a:moveTo>
                <a:lnTo>
                  <a:pt x="105635" y="183581"/>
                </a:lnTo>
                <a:cubicBezTo>
                  <a:pt x="162578" y="156017"/>
                  <a:pt x="177887" y="94947"/>
                  <a:pt x="178258" y="58388"/>
                </a:cubicBezTo>
                <a:lnTo>
                  <a:pt x="105635" y="27605"/>
                </a:lnTo>
                <a:lnTo>
                  <a:pt x="105635" y="27605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761074" y="6184479"/>
            <a:ext cx="6877990" cy="328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64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三副本策略的设计考量</a:t>
            </a:r>
            <a:endParaRPr lang="en-US" sz="16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911799"/>
              </p:ext>
            </p:extLst>
          </p:nvPr>
        </p:nvGraphicFramePr>
        <p:xfrm>
          <a:off x="8491119" y="6653966"/>
          <a:ext cx="7042310" cy="2171380"/>
        </p:xfrm>
        <a:graphic>
          <a:graphicData uri="http://schemas.openxmlformats.org/drawingml/2006/table">
            <a:tbl>
              <a:tblPr/>
              <a:tblGrid>
                <a:gridCol w="127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3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8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35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276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方面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设计选择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原因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效果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276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副本数量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默认 3 个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平衡可靠性和成本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容忍 2 个副本同时故障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276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分布策略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跨机架分布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容忍机架级故障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提高可用性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276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一致性模型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主副本模式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简化并发控制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写操作有序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276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故障检测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校验和 + 心跳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及时发现故障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快速触发恢复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5526" y="544407"/>
            <a:ext cx="435526" cy="43553"/>
          </a:xfrm>
          <a:custGeom>
            <a:avLst/>
            <a:gdLst/>
            <a:ahLst/>
            <a:cxnLst/>
            <a:rect l="l" t="t" r="r" b="b"/>
            <a:pathLst>
              <a:path w="435526" h="43553">
                <a:moveTo>
                  <a:pt x="0" y="0"/>
                </a:moveTo>
                <a:lnTo>
                  <a:pt x="435526" y="0"/>
                </a:lnTo>
                <a:lnTo>
                  <a:pt x="435526" y="43553"/>
                </a:lnTo>
                <a:lnTo>
                  <a:pt x="0" y="43553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01709" y="435526"/>
            <a:ext cx="1959866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kern="0" spc="69" dirty="0">
                <a:solidFill>
                  <a:srgbClr val="D4A2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COMPONENT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35526" y="783946"/>
            <a:ext cx="15580935" cy="43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86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GFS Client: 智能客户端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302" y="1393683"/>
            <a:ext cx="11661203" cy="3789074"/>
          </a:xfrm>
          <a:custGeom>
            <a:avLst/>
            <a:gdLst/>
            <a:ahLst/>
            <a:cxnLst/>
            <a:rect l="l" t="t" r="r" b="b"/>
            <a:pathLst>
              <a:path w="11661203" h="3789074">
                <a:moveTo>
                  <a:pt x="43553" y="0"/>
                </a:moveTo>
                <a:lnTo>
                  <a:pt x="11574092" y="0"/>
                </a:lnTo>
                <a:cubicBezTo>
                  <a:pt x="11622202" y="0"/>
                  <a:pt x="11661203" y="39001"/>
                  <a:pt x="11661203" y="87111"/>
                </a:cubicBezTo>
                <a:lnTo>
                  <a:pt x="11661203" y="3701964"/>
                </a:lnTo>
                <a:cubicBezTo>
                  <a:pt x="11661203" y="3750074"/>
                  <a:pt x="11622202" y="3789074"/>
                  <a:pt x="11574092" y="3789074"/>
                </a:cubicBezTo>
                <a:lnTo>
                  <a:pt x="43553" y="3789074"/>
                </a:lnTo>
                <a:cubicBezTo>
                  <a:pt x="19499" y="3789074"/>
                  <a:pt x="0" y="3769575"/>
                  <a:pt x="0" y="3745522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302" y="1393683"/>
            <a:ext cx="43553" cy="3789074"/>
          </a:xfrm>
          <a:custGeom>
            <a:avLst/>
            <a:gdLst/>
            <a:ahLst/>
            <a:cxnLst/>
            <a:rect l="l" t="t" r="r" b="b"/>
            <a:pathLst>
              <a:path w="43553" h="3789074">
                <a:moveTo>
                  <a:pt x="43553" y="0"/>
                </a:moveTo>
                <a:lnTo>
                  <a:pt x="43553" y="0"/>
                </a:lnTo>
                <a:lnTo>
                  <a:pt x="43553" y="3789074"/>
                </a:lnTo>
                <a:lnTo>
                  <a:pt x="43553" y="3789074"/>
                </a:lnTo>
                <a:cubicBezTo>
                  <a:pt x="19499" y="3789074"/>
                  <a:pt x="0" y="3769575"/>
                  <a:pt x="0" y="3745522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99563" y="1665886"/>
            <a:ext cx="244983" cy="195987"/>
          </a:xfrm>
          <a:custGeom>
            <a:avLst/>
            <a:gdLst/>
            <a:ahLst/>
            <a:cxnLst/>
            <a:rect l="l" t="t" r="r" b="b"/>
            <a:pathLst>
              <a:path w="244983" h="195987">
                <a:moveTo>
                  <a:pt x="159201" y="80577"/>
                </a:moveTo>
                <a:cubicBezTo>
                  <a:pt x="163871" y="79313"/>
                  <a:pt x="168770" y="81533"/>
                  <a:pt x="170876" y="85859"/>
                </a:cubicBezTo>
                <a:lnTo>
                  <a:pt x="177996" y="100252"/>
                </a:lnTo>
                <a:cubicBezTo>
                  <a:pt x="181938" y="100788"/>
                  <a:pt x="185804" y="101859"/>
                  <a:pt x="189441" y="103352"/>
                </a:cubicBezTo>
                <a:lnTo>
                  <a:pt x="202838" y="94433"/>
                </a:lnTo>
                <a:cubicBezTo>
                  <a:pt x="206858" y="91754"/>
                  <a:pt x="212178" y="92290"/>
                  <a:pt x="215585" y="95697"/>
                </a:cubicBezTo>
                <a:lnTo>
                  <a:pt x="222935" y="103046"/>
                </a:lnTo>
                <a:cubicBezTo>
                  <a:pt x="226342" y="106453"/>
                  <a:pt x="226877" y="111812"/>
                  <a:pt x="224198" y="115793"/>
                </a:cubicBezTo>
                <a:lnTo>
                  <a:pt x="215279" y="129152"/>
                </a:lnTo>
                <a:cubicBezTo>
                  <a:pt x="216006" y="130951"/>
                  <a:pt x="216657" y="132827"/>
                  <a:pt x="217193" y="134779"/>
                </a:cubicBezTo>
                <a:cubicBezTo>
                  <a:pt x="217729" y="136731"/>
                  <a:pt x="218073" y="138645"/>
                  <a:pt x="218341" y="140597"/>
                </a:cubicBezTo>
                <a:lnTo>
                  <a:pt x="232772" y="147717"/>
                </a:lnTo>
                <a:cubicBezTo>
                  <a:pt x="237098" y="149861"/>
                  <a:pt x="239318" y="154761"/>
                  <a:pt x="238055" y="159392"/>
                </a:cubicBezTo>
                <a:lnTo>
                  <a:pt x="235375" y="169421"/>
                </a:lnTo>
                <a:cubicBezTo>
                  <a:pt x="234112" y="174053"/>
                  <a:pt x="229787" y="177192"/>
                  <a:pt x="224964" y="176886"/>
                </a:cubicBezTo>
                <a:lnTo>
                  <a:pt x="208887" y="175852"/>
                </a:lnTo>
                <a:cubicBezTo>
                  <a:pt x="206475" y="178953"/>
                  <a:pt x="203681" y="181824"/>
                  <a:pt x="200503" y="184273"/>
                </a:cubicBezTo>
                <a:lnTo>
                  <a:pt x="201537" y="200312"/>
                </a:lnTo>
                <a:cubicBezTo>
                  <a:pt x="201843" y="205135"/>
                  <a:pt x="198704" y="209499"/>
                  <a:pt x="194073" y="210724"/>
                </a:cubicBezTo>
                <a:lnTo>
                  <a:pt x="184044" y="213403"/>
                </a:lnTo>
                <a:cubicBezTo>
                  <a:pt x="179374" y="214667"/>
                  <a:pt x="174512" y="212446"/>
                  <a:pt x="172369" y="208121"/>
                </a:cubicBezTo>
                <a:lnTo>
                  <a:pt x="165249" y="193728"/>
                </a:lnTo>
                <a:cubicBezTo>
                  <a:pt x="161306" y="193192"/>
                  <a:pt x="157440" y="192120"/>
                  <a:pt x="153804" y="190628"/>
                </a:cubicBezTo>
                <a:lnTo>
                  <a:pt x="140406" y="199547"/>
                </a:lnTo>
                <a:cubicBezTo>
                  <a:pt x="136387" y="202226"/>
                  <a:pt x="131066" y="201690"/>
                  <a:pt x="127659" y="198283"/>
                </a:cubicBezTo>
                <a:lnTo>
                  <a:pt x="120310" y="190934"/>
                </a:lnTo>
                <a:cubicBezTo>
                  <a:pt x="116903" y="187527"/>
                  <a:pt x="116367" y="182206"/>
                  <a:pt x="119047" y="178187"/>
                </a:cubicBezTo>
                <a:lnTo>
                  <a:pt x="127965" y="164790"/>
                </a:lnTo>
                <a:cubicBezTo>
                  <a:pt x="127238" y="162990"/>
                  <a:pt x="126587" y="161115"/>
                  <a:pt x="126052" y="159163"/>
                </a:cubicBezTo>
                <a:cubicBezTo>
                  <a:pt x="125516" y="157210"/>
                  <a:pt x="125171" y="155258"/>
                  <a:pt x="124903" y="153344"/>
                </a:cubicBezTo>
                <a:lnTo>
                  <a:pt x="110472" y="146224"/>
                </a:lnTo>
                <a:cubicBezTo>
                  <a:pt x="106147" y="144081"/>
                  <a:pt x="103965" y="139181"/>
                  <a:pt x="105190" y="134549"/>
                </a:cubicBezTo>
                <a:lnTo>
                  <a:pt x="107869" y="124520"/>
                </a:lnTo>
                <a:cubicBezTo>
                  <a:pt x="109132" y="119889"/>
                  <a:pt x="113458" y="116750"/>
                  <a:pt x="118281" y="117056"/>
                </a:cubicBezTo>
                <a:lnTo>
                  <a:pt x="134320" y="118090"/>
                </a:lnTo>
                <a:cubicBezTo>
                  <a:pt x="136731" y="114989"/>
                  <a:pt x="139526" y="112118"/>
                  <a:pt x="142703" y="109668"/>
                </a:cubicBezTo>
                <a:lnTo>
                  <a:pt x="141669" y="93668"/>
                </a:lnTo>
                <a:cubicBezTo>
                  <a:pt x="141363" y="88845"/>
                  <a:pt x="144502" y="84481"/>
                  <a:pt x="149134" y="83256"/>
                </a:cubicBezTo>
                <a:lnTo>
                  <a:pt x="159163" y="80577"/>
                </a:lnTo>
                <a:close/>
                <a:moveTo>
                  <a:pt x="171641" y="130147"/>
                </a:moveTo>
                <a:cubicBezTo>
                  <a:pt x="162346" y="130158"/>
                  <a:pt x="154807" y="137713"/>
                  <a:pt x="154818" y="147009"/>
                </a:cubicBezTo>
                <a:cubicBezTo>
                  <a:pt x="154828" y="156305"/>
                  <a:pt x="162384" y="163843"/>
                  <a:pt x="171680" y="163833"/>
                </a:cubicBezTo>
                <a:cubicBezTo>
                  <a:pt x="180975" y="163822"/>
                  <a:pt x="188514" y="156266"/>
                  <a:pt x="188503" y="146971"/>
                </a:cubicBezTo>
                <a:cubicBezTo>
                  <a:pt x="188493" y="137675"/>
                  <a:pt x="180937" y="130137"/>
                  <a:pt x="171641" y="130147"/>
                </a:cubicBezTo>
                <a:close/>
                <a:moveTo>
                  <a:pt x="86089" y="-17417"/>
                </a:moveTo>
                <a:lnTo>
                  <a:pt x="96118" y="-14737"/>
                </a:lnTo>
                <a:cubicBezTo>
                  <a:pt x="100749" y="-13474"/>
                  <a:pt x="103888" y="-9110"/>
                  <a:pt x="103582" y="-4325"/>
                </a:cubicBezTo>
                <a:lnTo>
                  <a:pt x="102548" y="11675"/>
                </a:lnTo>
                <a:cubicBezTo>
                  <a:pt x="105726" y="14125"/>
                  <a:pt x="108520" y="16957"/>
                  <a:pt x="110931" y="20096"/>
                </a:cubicBezTo>
                <a:lnTo>
                  <a:pt x="127009" y="19063"/>
                </a:lnTo>
                <a:cubicBezTo>
                  <a:pt x="131793" y="18757"/>
                  <a:pt x="136157" y="21895"/>
                  <a:pt x="137420" y="26527"/>
                </a:cubicBezTo>
                <a:lnTo>
                  <a:pt x="140100" y="36556"/>
                </a:lnTo>
                <a:cubicBezTo>
                  <a:pt x="141325" y="41188"/>
                  <a:pt x="139143" y="46087"/>
                  <a:pt x="134817" y="48231"/>
                </a:cubicBezTo>
                <a:lnTo>
                  <a:pt x="120386" y="55351"/>
                </a:lnTo>
                <a:cubicBezTo>
                  <a:pt x="120118" y="57303"/>
                  <a:pt x="119736" y="59255"/>
                  <a:pt x="119238" y="61169"/>
                </a:cubicBezTo>
                <a:cubicBezTo>
                  <a:pt x="118740" y="63083"/>
                  <a:pt x="118051" y="64997"/>
                  <a:pt x="117324" y="66796"/>
                </a:cubicBezTo>
                <a:lnTo>
                  <a:pt x="126243" y="80194"/>
                </a:lnTo>
                <a:cubicBezTo>
                  <a:pt x="128922" y="84213"/>
                  <a:pt x="128387" y="89534"/>
                  <a:pt x="124980" y="92941"/>
                </a:cubicBezTo>
                <a:lnTo>
                  <a:pt x="117630" y="100290"/>
                </a:lnTo>
                <a:cubicBezTo>
                  <a:pt x="114223" y="103697"/>
                  <a:pt x="108903" y="104233"/>
                  <a:pt x="104883" y="101553"/>
                </a:cubicBezTo>
                <a:lnTo>
                  <a:pt x="91486" y="92634"/>
                </a:lnTo>
                <a:cubicBezTo>
                  <a:pt x="87849" y="94127"/>
                  <a:pt x="83983" y="95199"/>
                  <a:pt x="80041" y="95735"/>
                </a:cubicBezTo>
                <a:lnTo>
                  <a:pt x="72921" y="110128"/>
                </a:lnTo>
                <a:cubicBezTo>
                  <a:pt x="70777" y="114453"/>
                  <a:pt x="65878" y="116635"/>
                  <a:pt x="61246" y="115410"/>
                </a:cubicBezTo>
                <a:lnTo>
                  <a:pt x="51217" y="112731"/>
                </a:lnTo>
                <a:cubicBezTo>
                  <a:pt x="46547" y="111467"/>
                  <a:pt x="43446" y="107104"/>
                  <a:pt x="43752" y="102319"/>
                </a:cubicBezTo>
                <a:lnTo>
                  <a:pt x="44786" y="86280"/>
                </a:lnTo>
                <a:cubicBezTo>
                  <a:pt x="41609" y="83830"/>
                  <a:pt x="38815" y="80998"/>
                  <a:pt x="36403" y="77859"/>
                </a:cubicBezTo>
                <a:lnTo>
                  <a:pt x="20326" y="78892"/>
                </a:lnTo>
                <a:cubicBezTo>
                  <a:pt x="15541" y="79198"/>
                  <a:pt x="11177" y="76060"/>
                  <a:pt x="9914" y="71428"/>
                </a:cubicBezTo>
                <a:lnTo>
                  <a:pt x="7235" y="61399"/>
                </a:lnTo>
                <a:cubicBezTo>
                  <a:pt x="6010" y="56767"/>
                  <a:pt x="8192" y="51868"/>
                  <a:pt x="12517" y="49724"/>
                </a:cubicBezTo>
                <a:lnTo>
                  <a:pt x="26948" y="42604"/>
                </a:lnTo>
                <a:cubicBezTo>
                  <a:pt x="27216" y="40652"/>
                  <a:pt x="27599" y="38738"/>
                  <a:pt x="28097" y="36786"/>
                </a:cubicBezTo>
                <a:cubicBezTo>
                  <a:pt x="28632" y="34834"/>
                  <a:pt x="29245" y="32958"/>
                  <a:pt x="30010" y="31159"/>
                </a:cubicBezTo>
                <a:lnTo>
                  <a:pt x="21092" y="17800"/>
                </a:lnTo>
                <a:cubicBezTo>
                  <a:pt x="18412" y="13780"/>
                  <a:pt x="18948" y="8460"/>
                  <a:pt x="22355" y="5053"/>
                </a:cubicBezTo>
                <a:lnTo>
                  <a:pt x="29704" y="-2297"/>
                </a:lnTo>
                <a:cubicBezTo>
                  <a:pt x="33111" y="-5704"/>
                  <a:pt x="38432" y="-6239"/>
                  <a:pt x="42451" y="-3560"/>
                </a:cubicBezTo>
                <a:lnTo>
                  <a:pt x="55849" y="5359"/>
                </a:lnTo>
                <a:cubicBezTo>
                  <a:pt x="59485" y="3866"/>
                  <a:pt x="63351" y="2794"/>
                  <a:pt x="67294" y="2258"/>
                </a:cubicBezTo>
                <a:lnTo>
                  <a:pt x="74414" y="-12134"/>
                </a:lnTo>
                <a:cubicBezTo>
                  <a:pt x="76557" y="-16460"/>
                  <a:pt x="81419" y="-18642"/>
                  <a:pt x="86089" y="-17417"/>
                </a:cubicBezTo>
                <a:close/>
                <a:moveTo>
                  <a:pt x="73648" y="32154"/>
                </a:moveTo>
                <a:cubicBezTo>
                  <a:pt x="64352" y="32154"/>
                  <a:pt x="56805" y="39701"/>
                  <a:pt x="56805" y="48997"/>
                </a:cubicBezTo>
                <a:cubicBezTo>
                  <a:pt x="56805" y="58292"/>
                  <a:pt x="64352" y="65839"/>
                  <a:pt x="73648" y="65839"/>
                </a:cubicBezTo>
                <a:cubicBezTo>
                  <a:pt x="82944" y="65839"/>
                  <a:pt x="90491" y="58292"/>
                  <a:pt x="90491" y="48997"/>
                </a:cubicBezTo>
                <a:cubicBezTo>
                  <a:pt x="90491" y="39701"/>
                  <a:pt x="82944" y="32154"/>
                  <a:pt x="73648" y="32154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47269" y="1611445"/>
            <a:ext cx="11051467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设计特点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8618" y="2090524"/>
            <a:ext cx="11182125" cy="871052"/>
          </a:xfrm>
          <a:custGeom>
            <a:avLst/>
            <a:gdLst/>
            <a:ahLst/>
            <a:cxnLst/>
            <a:rect l="l" t="t" r="r" b="b"/>
            <a:pathLst>
              <a:path w="11182125" h="871052">
                <a:moveTo>
                  <a:pt x="43553" y="0"/>
                </a:moveTo>
                <a:lnTo>
                  <a:pt x="11138572" y="0"/>
                </a:lnTo>
                <a:cubicBezTo>
                  <a:pt x="11162625" y="0"/>
                  <a:pt x="11182125" y="19499"/>
                  <a:pt x="11182125" y="43553"/>
                </a:cubicBezTo>
                <a:lnTo>
                  <a:pt x="11182125" y="827499"/>
                </a:lnTo>
                <a:cubicBezTo>
                  <a:pt x="11182125" y="851552"/>
                  <a:pt x="11162625" y="871052"/>
                  <a:pt x="11138572" y="871052"/>
                </a:cubicBezTo>
                <a:lnTo>
                  <a:pt x="43553" y="871052"/>
                </a:lnTo>
                <a:cubicBezTo>
                  <a:pt x="19499" y="871052"/>
                  <a:pt x="0" y="851552"/>
                  <a:pt x="0" y="827499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718618" y="2090524"/>
            <a:ext cx="43553" cy="871052"/>
          </a:xfrm>
          <a:custGeom>
            <a:avLst/>
            <a:gdLst/>
            <a:ahLst/>
            <a:cxnLst/>
            <a:rect l="l" t="t" r="r" b="b"/>
            <a:pathLst>
              <a:path w="43553" h="871052">
                <a:moveTo>
                  <a:pt x="43553" y="0"/>
                </a:moveTo>
                <a:lnTo>
                  <a:pt x="43553" y="0"/>
                </a:lnTo>
                <a:lnTo>
                  <a:pt x="43553" y="871052"/>
                </a:lnTo>
                <a:lnTo>
                  <a:pt x="43553" y="871052"/>
                </a:lnTo>
                <a:cubicBezTo>
                  <a:pt x="19499" y="871052"/>
                  <a:pt x="0" y="851552"/>
                  <a:pt x="0" y="827499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881940" y="2264734"/>
            <a:ext cx="195987" cy="174210"/>
          </a:xfrm>
          <a:custGeom>
            <a:avLst/>
            <a:gdLst/>
            <a:ahLst/>
            <a:cxnLst/>
            <a:rect l="l" t="t" r="r" b="b"/>
            <a:pathLst>
              <a:path w="195987" h="174210">
                <a:moveTo>
                  <a:pt x="142737" y="32664"/>
                </a:moveTo>
                <a:cubicBezTo>
                  <a:pt x="137089" y="32664"/>
                  <a:pt x="131610" y="34196"/>
                  <a:pt x="126813" y="36986"/>
                </a:cubicBezTo>
                <a:cubicBezTo>
                  <a:pt x="121437" y="31542"/>
                  <a:pt x="115176" y="26982"/>
                  <a:pt x="108269" y="23546"/>
                </a:cubicBezTo>
                <a:cubicBezTo>
                  <a:pt x="117864" y="15380"/>
                  <a:pt x="130079" y="10888"/>
                  <a:pt x="142737" y="10888"/>
                </a:cubicBezTo>
                <a:cubicBezTo>
                  <a:pt x="172135" y="10888"/>
                  <a:pt x="195987" y="34706"/>
                  <a:pt x="195987" y="64138"/>
                </a:cubicBezTo>
                <a:cubicBezTo>
                  <a:pt x="195987" y="78259"/>
                  <a:pt x="190372" y="91801"/>
                  <a:pt x="180403" y="101770"/>
                </a:cubicBezTo>
                <a:lnTo>
                  <a:pt x="156211" y="125962"/>
                </a:lnTo>
                <a:cubicBezTo>
                  <a:pt x="146241" y="135932"/>
                  <a:pt x="132699" y="141546"/>
                  <a:pt x="118579" y="141546"/>
                </a:cubicBezTo>
                <a:cubicBezTo>
                  <a:pt x="89181" y="141546"/>
                  <a:pt x="65329" y="117728"/>
                  <a:pt x="65329" y="88296"/>
                </a:cubicBezTo>
                <a:cubicBezTo>
                  <a:pt x="65329" y="87786"/>
                  <a:pt x="65329" y="87275"/>
                  <a:pt x="65363" y="86765"/>
                </a:cubicBezTo>
                <a:cubicBezTo>
                  <a:pt x="65533" y="80742"/>
                  <a:pt x="70535" y="76013"/>
                  <a:pt x="76557" y="76183"/>
                </a:cubicBezTo>
                <a:cubicBezTo>
                  <a:pt x="82580" y="76353"/>
                  <a:pt x="87309" y="81355"/>
                  <a:pt x="87139" y="87377"/>
                </a:cubicBezTo>
                <a:cubicBezTo>
                  <a:pt x="87139" y="87684"/>
                  <a:pt x="87139" y="87990"/>
                  <a:pt x="87139" y="88262"/>
                </a:cubicBezTo>
                <a:cubicBezTo>
                  <a:pt x="87139" y="105649"/>
                  <a:pt x="101226" y="119736"/>
                  <a:pt x="118613" y="119736"/>
                </a:cubicBezTo>
                <a:cubicBezTo>
                  <a:pt x="126949" y="119736"/>
                  <a:pt x="134945" y="116435"/>
                  <a:pt x="140865" y="110515"/>
                </a:cubicBezTo>
                <a:lnTo>
                  <a:pt x="165057" y="86323"/>
                </a:lnTo>
                <a:cubicBezTo>
                  <a:pt x="170944" y="80436"/>
                  <a:pt x="174278" y="72406"/>
                  <a:pt x="174278" y="64070"/>
                </a:cubicBezTo>
                <a:cubicBezTo>
                  <a:pt x="174278" y="46683"/>
                  <a:pt x="160192" y="32596"/>
                  <a:pt x="142805" y="32596"/>
                </a:cubicBezTo>
                <a:close/>
                <a:moveTo>
                  <a:pt x="93638" y="58966"/>
                </a:moveTo>
                <a:cubicBezTo>
                  <a:pt x="92992" y="58694"/>
                  <a:pt x="92345" y="58320"/>
                  <a:pt x="91767" y="57911"/>
                </a:cubicBezTo>
                <a:cubicBezTo>
                  <a:pt x="87479" y="55700"/>
                  <a:pt x="82580" y="54441"/>
                  <a:pt x="77442" y="54441"/>
                </a:cubicBezTo>
                <a:cubicBezTo>
                  <a:pt x="69106" y="54441"/>
                  <a:pt x="61110" y="57741"/>
                  <a:pt x="55189" y="63662"/>
                </a:cubicBezTo>
                <a:lnTo>
                  <a:pt x="30997" y="87854"/>
                </a:lnTo>
                <a:cubicBezTo>
                  <a:pt x="25111" y="93740"/>
                  <a:pt x="21776" y="101770"/>
                  <a:pt x="21776" y="110106"/>
                </a:cubicBezTo>
                <a:cubicBezTo>
                  <a:pt x="21776" y="127493"/>
                  <a:pt x="35863" y="141580"/>
                  <a:pt x="53250" y="141580"/>
                </a:cubicBezTo>
                <a:cubicBezTo>
                  <a:pt x="58864" y="141580"/>
                  <a:pt x="64342" y="140083"/>
                  <a:pt x="69140" y="137293"/>
                </a:cubicBezTo>
                <a:cubicBezTo>
                  <a:pt x="74516" y="142737"/>
                  <a:pt x="80776" y="147296"/>
                  <a:pt x="87718" y="150733"/>
                </a:cubicBezTo>
                <a:cubicBezTo>
                  <a:pt x="78122" y="158865"/>
                  <a:pt x="65941" y="163390"/>
                  <a:pt x="53250" y="163390"/>
                </a:cubicBezTo>
                <a:cubicBezTo>
                  <a:pt x="23852" y="163390"/>
                  <a:pt x="0" y="139572"/>
                  <a:pt x="0" y="110140"/>
                </a:cubicBezTo>
                <a:cubicBezTo>
                  <a:pt x="0" y="96020"/>
                  <a:pt x="5614" y="82478"/>
                  <a:pt x="15584" y="72508"/>
                </a:cubicBezTo>
                <a:lnTo>
                  <a:pt x="39776" y="48316"/>
                </a:lnTo>
                <a:cubicBezTo>
                  <a:pt x="49745" y="38347"/>
                  <a:pt x="63287" y="32732"/>
                  <a:pt x="77408" y="32732"/>
                </a:cubicBezTo>
                <a:cubicBezTo>
                  <a:pt x="106874" y="32732"/>
                  <a:pt x="130658" y="56754"/>
                  <a:pt x="130658" y="86118"/>
                </a:cubicBezTo>
                <a:cubicBezTo>
                  <a:pt x="130658" y="86561"/>
                  <a:pt x="130658" y="87003"/>
                  <a:pt x="130658" y="87445"/>
                </a:cubicBezTo>
                <a:cubicBezTo>
                  <a:pt x="130522" y="93468"/>
                  <a:pt x="125520" y="98197"/>
                  <a:pt x="119497" y="98061"/>
                </a:cubicBezTo>
                <a:cubicBezTo>
                  <a:pt x="113475" y="97925"/>
                  <a:pt x="108745" y="92924"/>
                  <a:pt x="108881" y="86901"/>
                </a:cubicBezTo>
                <a:cubicBezTo>
                  <a:pt x="108881" y="86629"/>
                  <a:pt x="108881" y="86391"/>
                  <a:pt x="108881" y="86118"/>
                </a:cubicBezTo>
                <a:cubicBezTo>
                  <a:pt x="108881" y="74652"/>
                  <a:pt x="102757" y="64580"/>
                  <a:pt x="93638" y="59034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175920" y="2221182"/>
            <a:ext cx="609736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库形式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1052" y="2569602"/>
            <a:ext cx="10986138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以库的形式链接到应用程序，避免用户态-内核态切换开销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8618" y="3092233"/>
            <a:ext cx="11182125" cy="871052"/>
          </a:xfrm>
          <a:custGeom>
            <a:avLst/>
            <a:gdLst/>
            <a:ahLst/>
            <a:cxnLst/>
            <a:rect l="l" t="t" r="r" b="b"/>
            <a:pathLst>
              <a:path w="11182125" h="871052">
                <a:moveTo>
                  <a:pt x="43553" y="0"/>
                </a:moveTo>
                <a:lnTo>
                  <a:pt x="11138572" y="0"/>
                </a:lnTo>
                <a:cubicBezTo>
                  <a:pt x="11162625" y="0"/>
                  <a:pt x="11182125" y="19499"/>
                  <a:pt x="11182125" y="43553"/>
                </a:cubicBezTo>
                <a:lnTo>
                  <a:pt x="11182125" y="827499"/>
                </a:lnTo>
                <a:cubicBezTo>
                  <a:pt x="11182125" y="851552"/>
                  <a:pt x="11162625" y="871052"/>
                  <a:pt x="11138572" y="871052"/>
                </a:cubicBezTo>
                <a:lnTo>
                  <a:pt x="43553" y="871052"/>
                </a:lnTo>
                <a:cubicBezTo>
                  <a:pt x="19499" y="871052"/>
                  <a:pt x="0" y="851552"/>
                  <a:pt x="0" y="827499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18618" y="3092233"/>
            <a:ext cx="43553" cy="871052"/>
          </a:xfrm>
          <a:custGeom>
            <a:avLst/>
            <a:gdLst/>
            <a:ahLst/>
            <a:cxnLst/>
            <a:rect l="l" t="t" r="r" b="b"/>
            <a:pathLst>
              <a:path w="43553" h="871052">
                <a:moveTo>
                  <a:pt x="43553" y="0"/>
                </a:moveTo>
                <a:lnTo>
                  <a:pt x="43553" y="0"/>
                </a:lnTo>
                <a:lnTo>
                  <a:pt x="43553" y="871052"/>
                </a:lnTo>
                <a:lnTo>
                  <a:pt x="43553" y="871052"/>
                </a:lnTo>
                <a:cubicBezTo>
                  <a:pt x="19499" y="871052"/>
                  <a:pt x="0" y="851552"/>
                  <a:pt x="0" y="827499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92828" y="3266443"/>
            <a:ext cx="174210" cy="174210"/>
          </a:xfrm>
          <a:custGeom>
            <a:avLst/>
            <a:gdLst/>
            <a:ahLst/>
            <a:cxnLst/>
            <a:rect l="l" t="t" r="r" b="b"/>
            <a:pathLst>
              <a:path w="174210" h="174210">
                <a:moveTo>
                  <a:pt x="21776" y="21776"/>
                </a:moveTo>
                <a:cubicBezTo>
                  <a:pt x="9765" y="21776"/>
                  <a:pt x="0" y="31542"/>
                  <a:pt x="0" y="43553"/>
                </a:cubicBezTo>
                <a:lnTo>
                  <a:pt x="0" y="46070"/>
                </a:lnTo>
                <a:cubicBezTo>
                  <a:pt x="0" y="48384"/>
                  <a:pt x="1497" y="50358"/>
                  <a:pt x="3437" y="51617"/>
                </a:cubicBezTo>
                <a:cubicBezTo>
                  <a:pt x="7928" y="54543"/>
                  <a:pt x="10888" y="59579"/>
                  <a:pt x="10888" y="65329"/>
                </a:cubicBezTo>
                <a:cubicBezTo>
                  <a:pt x="10888" y="71079"/>
                  <a:pt x="7928" y="76115"/>
                  <a:pt x="3437" y="79041"/>
                </a:cubicBezTo>
                <a:cubicBezTo>
                  <a:pt x="1497" y="80300"/>
                  <a:pt x="0" y="82274"/>
                  <a:pt x="0" y="84587"/>
                </a:cubicBezTo>
                <a:lnTo>
                  <a:pt x="0" y="103437"/>
                </a:lnTo>
                <a:lnTo>
                  <a:pt x="174210" y="103437"/>
                </a:lnTo>
                <a:lnTo>
                  <a:pt x="174210" y="84587"/>
                </a:lnTo>
                <a:cubicBezTo>
                  <a:pt x="174210" y="82274"/>
                  <a:pt x="172713" y="80300"/>
                  <a:pt x="170774" y="79041"/>
                </a:cubicBezTo>
                <a:cubicBezTo>
                  <a:pt x="166282" y="76115"/>
                  <a:pt x="163322" y="71079"/>
                  <a:pt x="163322" y="65329"/>
                </a:cubicBezTo>
                <a:cubicBezTo>
                  <a:pt x="163322" y="59579"/>
                  <a:pt x="166282" y="54543"/>
                  <a:pt x="170774" y="51617"/>
                </a:cubicBezTo>
                <a:cubicBezTo>
                  <a:pt x="172713" y="50358"/>
                  <a:pt x="174210" y="48384"/>
                  <a:pt x="174210" y="46070"/>
                </a:cubicBezTo>
                <a:lnTo>
                  <a:pt x="174210" y="43553"/>
                </a:lnTo>
                <a:cubicBezTo>
                  <a:pt x="174210" y="31542"/>
                  <a:pt x="164445" y="21776"/>
                  <a:pt x="152434" y="21776"/>
                </a:cubicBezTo>
                <a:lnTo>
                  <a:pt x="21776" y="21776"/>
                </a:lnTo>
                <a:close/>
                <a:moveTo>
                  <a:pt x="174210" y="141546"/>
                </a:moveTo>
                <a:lnTo>
                  <a:pt x="174210" y="119770"/>
                </a:lnTo>
                <a:lnTo>
                  <a:pt x="0" y="119770"/>
                </a:lnTo>
                <a:lnTo>
                  <a:pt x="0" y="141546"/>
                </a:lnTo>
                <a:cubicBezTo>
                  <a:pt x="0" y="147568"/>
                  <a:pt x="4866" y="152434"/>
                  <a:pt x="10888" y="152434"/>
                </a:cubicBezTo>
                <a:lnTo>
                  <a:pt x="32664" y="152434"/>
                </a:lnTo>
                <a:lnTo>
                  <a:pt x="32664" y="144268"/>
                </a:lnTo>
                <a:cubicBezTo>
                  <a:pt x="32664" y="139743"/>
                  <a:pt x="36305" y="136102"/>
                  <a:pt x="40831" y="136102"/>
                </a:cubicBezTo>
                <a:cubicBezTo>
                  <a:pt x="45356" y="136102"/>
                  <a:pt x="48997" y="139743"/>
                  <a:pt x="48997" y="144268"/>
                </a:cubicBezTo>
                <a:lnTo>
                  <a:pt x="48997" y="152434"/>
                </a:lnTo>
                <a:lnTo>
                  <a:pt x="78939" y="152434"/>
                </a:lnTo>
                <a:lnTo>
                  <a:pt x="78939" y="144268"/>
                </a:lnTo>
                <a:cubicBezTo>
                  <a:pt x="78939" y="139743"/>
                  <a:pt x="82580" y="136102"/>
                  <a:pt x="87105" y="136102"/>
                </a:cubicBezTo>
                <a:cubicBezTo>
                  <a:pt x="91631" y="136102"/>
                  <a:pt x="95271" y="139743"/>
                  <a:pt x="95271" y="144268"/>
                </a:cubicBezTo>
                <a:lnTo>
                  <a:pt x="95271" y="152434"/>
                </a:lnTo>
                <a:lnTo>
                  <a:pt x="125214" y="152434"/>
                </a:lnTo>
                <a:lnTo>
                  <a:pt x="125214" y="144268"/>
                </a:lnTo>
                <a:cubicBezTo>
                  <a:pt x="125214" y="139743"/>
                  <a:pt x="128854" y="136102"/>
                  <a:pt x="133380" y="136102"/>
                </a:cubicBezTo>
                <a:cubicBezTo>
                  <a:pt x="137905" y="136102"/>
                  <a:pt x="141546" y="139743"/>
                  <a:pt x="141546" y="144268"/>
                </a:cubicBezTo>
                <a:lnTo>
                  <a:pt x="141546" y="152434"/>
                </a:lnTo>
                <a:lnTo>
                  <a:pt x="163322" y="152434"/>
                </a:lnTo>
                <a:cubicBezTo>
                  <a:pt x="169345" y="152434"/>
                  <a:pt x="174210" y="147568"/>
                  <a:pt x="174210" y="141546"/>
                </a:cubicBezTo>
                <a:close/>
                <a:moveTo>
                  <a:pt x="54441" y="54441"/>
                </a:moveTo>
                <a:lnTo>
                  <a:pt x="54441" y="76217"/>
                </a:lnTo>
                <a:cubicBezTo>
                  <a:pt x="54441" y="82240"/>
                  <a:pt x="49575" y="87105"/>
                  <a:pt x="43553" y="87105"/>
                </a:cubicBezTo>
                <a:cubicBezTo>
                  <a:pt x="37530" y="87105"/>
                  <a:pt x="32664" y="82240"/>
                  <a:pt x="32664" y="76217"/>
                </a:cubicBezTo>
                <a:lnTo>
                  <a:pt x="32664" y="54441"/>
                </a:lnTo>
                <a:cubicBezTo>
                  <a:pt x="32664" y="48418"/>
                  <a:pt x="37530" y="43553"/>
                  <a:pt x="43553" y="43553"/>
                </a:cubicBezTo>
                <a:cubicBezTo>
                  <a:pt x="49575" y="43553"/>
                  <a:pt x="54441" y="48418"/>
                  <a:pt x="54441" y="54441"/>
                </a:cubicBezTo>
                <a:close/>
                <a:moveTo>
                  <a:pt x="97993" y="54441"/>
                </a:moveTo>
                <a:lnTo>
                  <a:pt x="97993" y="76217"/>
                </a:lnTo>
                <a:cubicBezTo>
                  <a:pt x="97993" y="82240"/>
                  <a:pt x="93128" y="87105"/>
                  <a:pt x="87105" y="87105"/>
                </a:cubicBezTo>
                <a:cubicBezTo>
                  <a:pt x="81083" y="87105"/>
                  <a:pt x="76217" y="82240"/>
                  <a:pt x="76217" y="76217"/>
                </a:cubicBezTo>
                <a:lnTo>
                  <a:pt x="76217" y="54441"/>
                </a:lnTo>
                <a:cubicBezTo>
                  <a:pt x="76217" y="48418"/>
                  <a:pt x="81083" y="43553"/>
                  <a:pt x="87105" y="43553"/>
                </a:cubicBezTo>
                <a:cubicBezTo>
                  <a:pt x="93128" y="43553"/>
                  <a:pt x="97993" y="48418"/>
                  <a:pt x="97993" y="54441"/>
                </a:cubicBezTo>
                <a:close/>
                <a:moveTo>
                  <a:pt x="141546" y="54441"/>
                </a:moveTo>
                <a:lnTo>
                  <a:pt x="141546" y="76217"/>
                </a:lnTo>
                <a:cubicBezTo>
                  <a:pt x="141546" y="82240"/>
                  <a:pt x="136680" y="87105"/>
                  <a:pt x="130658" y="87105"/>
                </a:cubicBezTo>
                <a:cubicBezTo>
                  <a:pt x="124635" y="87105"/>
                  <a:pt x="119770" y="82240"/>
                  <a:pt x="119770" y="76217"/>
                </a:cubicBezTo>
                <a:lnTo>
                  <a:pt x="119770" y="54441"/>
                </a:lnTo>
                <a:cubicBezTo>
                  <a:pt x="119770" y="48418"/>
                  <a:pt x="124635" y="43553"/>
                  <a:pt x="130658" y="43553"/>
                </a:cubicBezTo>
                <a:cubicBezTo>
                  <a:pt x="136680" y="43553"/>
                  <a:pt x="141546" y="48418"/>
                  <a:pt x="141546" y="54441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175920" y="3222891"/>
            <a:ext cx="958157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元数据缓存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1052" y="3571311"/>
            <a:ext cx="10986138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只缓存元数据，不缓存文件数据，避免一致性问题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18618" y="4093942"/>
            <a:ext cx="11182125" cy="871052"/>
          </a:xfrm>
          <a:custGeom>
            <a:avLst/>
            <a:gdLst/>
            <a:ahLst/>
            <a:cxnLst/>
            <a:rect l="l" t="t" r="r" b="b"/>
            <a:pathLst>
              <a:path w="11182125" h="871052">
                <a:moveTo>
                  <a:pt x="43553" y="0"/>
                </a:moveTo>
                <a:lnTo>
                  <a:pt x="11138572" y="0"/>
                </a:lnTo>
                <a:cubicBezTo>
                  <a:pt x="11162625" y="0"/>
                  <a:pt x="11182125" y="19499"/>
                  <a:pt x="11182125" y="43553"/>
                </a:cubicBezTo>
                <a:lnTo>
                  <a:pt x="11182125" y="827499"/>
                </a:lnTo>
                <a:cubicBezTo>
                  <a:pt x="11182125" y="851552"/>
                  <a:pt x="11162625" y="871052"/>
                  <a:pt x="11138572" y="871052"/>
                </a:cubicBezTo>
                <a:lnTo>
                  <a:pt x="43553" y="871052"/>
                </a:lnTo>
                <a:cubicBezTo>
                  <a:pt x="19499" y="871052"/>
                  <a:pt x="0" y="851552"/>
                  <a:pt x="0" y="827499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718618" y="4093942"/>
            <a:ext cx="43553" cy="871052"/>
          </a:xfrm>
          <a:custGeom>
            <a:avLst/>
            <a:gdLst/>
            <a:ahLst/>
            <a:cxnLst/>
            <a:rect l="l" t="t" r="r" b="b"/>
            <a:pathLst>
              <a:path w="43553" h="871052">
                <a:moveTo>
                  <a:pt x="43553" y="0"/>
                </a:moveTo>
                <a:lnTo>
                  <a:pt x="43553" y="0"/>
                </a:lnTo>
                <a:lnTo>
                  <a:pt x="43553" y="871052"/>
                </a:lnTo>
                <a:lnTo>
                  <a:pt x="43553" y="871052"/>
                </a:lnTo>
                <a:cubicBezTo>
                  <a:pt x="19499" y="871052"/>
                  <a:pt x="0" y="851552"/>
                  <a:pt x="0" y="827499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81940" y="4268153"/>
            <a:ext cx="195987" cy="174210"/>
          </a:xfrm>
          <a:custGeom>
            <a:avLst/>
            <a:gdLst/>
            <a:ahLst/>
            <a:cxnLst/>
            <a:rect l="l" t="t" r="r" b="b"/>
            <a:pathLst>
              <a:path w="195987" h="174210">
                <a:moveTo>
                  <a:pt x="122764" y="408"/>
                </a:moveTo>
                <a:cubicBezTo>
                  <a:pt x="116980" y="-1259"/>
                  <a:pt x="110957" y="2110"/>
                  <a:pt x="109290" y="7894"/>
                </a:cubicBezTo>
                <a:lnTo>
                  <a:pt x="65737" y="160328"/>
                </a:lnTo>
                <a:cubicBezTo>
                  <a:pt x="64070" y="166112"/>
                  <a:pt x="67438" y="172135"/>
                  <a:pt x="73223" y="173802"/>
                </a:cubicBezTo>
                <a:cubicBezTo>
                  <a:pt x="79007" y="175469"/>
                  <a:pt x="85030" y="172101"/>
                  <a:pt x="86697" y="166316"/>
                </a:cubicBezTo>
                <a:lnTo>
                  <a:pt x="130249" y="13882"/>
                </a:lnTo>
                <a:cubicBezTo>
                  <a:pt x="131917" y="8098"/>
                  <a:pt x="128548" y="2076"/>
                  <a:pt x="122764" y="408"/>
                </a:cubicBezTo>
                <a:close/>
                <a:moveTo>
                  <a:pt x="144744" y="46717"/>
                </a:moveTo>
                <a:cubicBezTo>
                  <a:pt x="140491" y="50970"/>
                  <a:pt x="140491" y="57877"/>
                  <a:pt x="144744" y="62130"/>
                </a:cubicBezTo>
                <a:lnTo>
                  <a:pt x="169719" y="87105"/>
                </a:lnTo>
                <a:lnTo>
                  <a:pt x="144744" y="112080"/>
                </a:lnTo>
                <a:cubicBezTo>
                  <a:pt x="140491" y="116333"/>
                  <a:pt x="140491" y="123240"/>
                  <a:pt x="144744" y="127493"/>
                </a:cubicBezTo>
                <a:cubicBezTo>
                  <a:pt x="148997" y="131747"/>
                  <a:pt x="155905" y="131747"/>
                  <a:pt x="160158" y="127493"/>
                </a:cubicBezTo>
                <a:lnTo>
                  <a:pt x="192822" y="94829"/>
                </a:lnTo>
                <a:cubicBezTo>
                  <a:pt x="197075" y="90576"/>
                  <a:pt x="197075" y="83669"/>
                  <a:pt x="192822" y="79415"/>
                </a:cubicBezTo>
                <a:lnTo>
                  <a:pt x="160158" y="46751"/>
                </a:lnTo>
                <a:cubicBezTo>
                  <a:pt x="155905" y="42498"/>
                  <a:pt x="148997" y="42498"/>
                  <a:pt x="144744" y="46751"/>
                </a:cubicBezTo>
                <a:close/>
                <a:moveTo>
                  <a:pt x="51276" y="46717"/>
                </a:moveTo>
                <a:cubicBezTo>
                  <a:pt x="47023" y="42464"/>
                  <a:pt x="40116" y="42464"/>
                  <a:pt x="35863" y="46717"/>
                </a:cubicBezTo>
                <a:lnTo>
                  <a:pt x="3198" y="79381"/>
                </a:lnTo>
                <a:cubicBezTo>
                  <a:pt x="-1055" y="83635"/>
                  <a:pt x="-1055" y="90542"/>
                  <a:pt x="3198" y="94795"/>
                </a:cubicBezTo>
                <a:lnTo>
                  <a:pt x="35863" y="127459"/>
                </a:lnTo>
                <a:cubicBezTo>
                  <a:pt x="40116" y="131713"/>
                  <a:pt x="47023" y="131713"/>
                  <a:pt x="51276" y="127459"/>
                </a:cubicBezTo>
                <a:cubicBezTo>
                  <a:pt x="55530" y="123206"/>
                  <a:pt x="55530" y="116299"/>
                  <a:pt x="51276" y="112046"/>
                </a:cubicBezTo>
                <a:lnTo>
                  <a:pt x="26302" y="87105"/>
                </a:lnTo>
                <a:lnTo>
                  <a:pt x="51242" y="62130"/>
                </a:lnTo>
                <a:cubicBezTo>
                  <a:pt x="55496" y="57877"/>
                  <a:pt x="55496" y="50970"/>
                  <a:pt x="51242" y="46717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175920" y="4224600"/>
            <a:ext cx="97993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POSIX 子集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1052" y="4573021"/>
            <a:ext cx="10986138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 POSIX 接口的子集，专注核心功能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0970" y="5362411"/>
            <a:ext cx="11672091" cy="2939799"/>
          </a:xfrm>
          <a:custGeom>
            <a:avLst/>
            <a:gdLst/>
            <a:ahLst/>
            <a:cxnLst/>
            <a:rect l="l" t="t" r="r" b="b"/>
            <a:pathLst>
              <a:path w="11672091" h="2939799">
                <a:moveTo>
                  <a:pt x="87106" y="0"/>
                </a:moveTo>
                <a:lnTo>
                  <a:pt x="11584985" y="0"/>
                </a:lnTo>
                <a:cubicBezTo>
                  <a:pt x="11633092" y="0"/>
                  <a:pt x="11672091" y="38999"/>
                  <a:pt x="11672091" y="87106"/>
                </a:cubicBezTo>
                <a:lnTo>
                  <a:pt x="11672091" y="2852693"/>
                </a:lnTo>
                <a:cubicBezTo>
                  <a:pt x="11672091" y="2900800"/>
                  <a:pt x="11633092" y="2939799"/>
                  <a:pt x="11584985" y="2939799"/>
                </a:cubicBezTo>
                <a:lnTo>
                  <a:pt x="87106" y="2939799"/>
                </a:lnTo>
                <a:cubicBezTo>
                  <a:pt x="38999" y="2939799"/>
                  <a:pt x="0" y="2900800"/>
                  <a:pt x="0" y="2852693"/>
                </a:cubicBezTo>
                <a:lnTo>
                  <a:pt x="0" y="87106"/>
                </a:lnTo>
                <a:cubicBezTo>
                  <a:pt x="0" y="39031"/>
                  <a:pt x="39031" y="0"/>
                  <a:pt x="87106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91397" y="5640059"/>
            <a:ext cx="195987" cy="195987"/>
          </a:xfrm>
          <a:custGeom>
            <a:avLst/>
            <a:gdLst/>
            <a:ahLst/>
            <a:cxnLst/>
            <a:rect l="l" t="t" r="r" b="b"/>
            <a:pathLst>
              <a:path w="195987" h="195987">
                <a:moveTo>
                  <a:pt x="24498" y="24498"/>
                </a:moveTo>
                <a:cubicBezTo>
                  <a:pt x="10986" y="24498"/>
                  <a:pt x="0" y="35484"/>
                  <a:pt x="0" y="48997"/>
                </a:cubicBezTo>
                <a:lnTo>
                  <a:pt x="0" y="146990"/>
                </a:lnTo>
                <a:cubicBezTo>
                  <a:pt x="0" y="160502"/>
                  <a:pt x="10986" y="171488"/>
                  <a:pt x="24498" y="171488"/>
                </a:cubicBezTo>
                <a:lnTo>
                  <a:pt x="171488" y="171488"/>
                </a:lnTo>
                <a:cubicBezTo>
                  <a:pt x="185001" y="171488"/>
                  <a:pt x="195987" y="160502"/>
                  <a:pt x="195987" y="146990"/>
                </a:cubicBezTo>
                <a:lnTo>
                  <a:pt x="195987" y="48997"/>
                </a:lnTo>
                <a:cubicBezTo>
                  <a:pt x="195987" y="35484"/>
                  <a:pt x="185001" y="24498"/>
                  <a:pt x="171488" y="24498"/>
                </a:cubicBezTo>
                <a:lnTo>
                  <a:pt x="24498" y="24498"/>
                </a:lnTo>
                <a:close/>
                <a:moveTo>
                  <a:pt x="61246" y="122492"/>
                </a:moveTo>
                <a:cubicBezTo>
                  <a:pt x="61246" y="129252"/>
                  <a:pt x="55757" y="134741"/>
                  <a:pt x="48997" y="134741"/>
                </a:cubicBezTo>
                <a:cubicBezTo>
                  <a:pt x="42236" y="134741"/>
                  <a:pt x="36747" y="129252"/>
                  <a:pt x="36747" y="122492"/>
                </a:cubicBezTo>
                <a:cubicBezTo>
                  <a:pt x="36747" y="115731"/>
                  <a:pt x="42236" y="110242"/>
                  <a:pt x="48997" y="110242"/>
                </a:cubicBezTo>
                <a:cubicBezTo>
                  <a:pt x="55757" y="110242"/>
                  <a:pt x="61246" y="115731"/>
                  <a:pt x="61246" y="122492"/>
                </a:cubicBezTo>
                <a:close/>
                <a:moveTo>
                  <a:pt x="48997" y="85744"/>
                </a:moveTo>
                <a:cubicBezTo>
                  <a:pt x="42236" y="85744"/>
                  <a:pt x="36747" y="80255"/>
                  <a:pt x="36747" y="73495"/>
                </a:cubicBezTo>
                <a:cubicBezTo>
                  <a:pt x="36747" y="66734"/>
                  <a:pt x="42236" y="61246"/>
                  <a:pt x="48997" y="61246"/>
                </a:cubicBezTo>
                <a:cubicBezTo>
                  <a:pt x="55757" y="61246"/>
                  <a:pt x="61246" y="66734"/>
                  <a:pt x="61246" y="73495"/>
                </a:cubicBezTo>
                <a:cubicBezTo>
                  <a:pt x="61246" y="80255"/>
                  <a:pt x="55757" y="85744"/>
                  <a:pt x="48997" y="85744"/>
                </a:cubicBezTo>
                <a:close/>
                <a:moveTo>
                  <a:pt x="94931" y="64308"/>
                </a:moveTo>
                <a:lnTo>
                  <a:pt x="150052" y="64308"/>
                </a:lnTo>
                <a:cubicBezTo>
                  <a:pt x="155143" y="64308"/>
                  <a:pt x="159239" y="68404"/>
                  <a:pt x="159239" y="73495"/>
                </a:cubicBezTo>
                <a:cubicBezTo>
                  <a:pt x="159239" y="78586"/>
                  <a:pt x="155143" y="82682"/>
                  <a:pt x="150052" y="82682"/>
                </a:cubicBezTo>
                <a:lnTo>
                  <a:pt x="94931" y="82682"/>
                </a:lnTo>
                <a:cubicBezTo>
                  <a:pt x="89840" y="82682"/>
                  <a:pt x="85744" y="78586"/>
                  <a:pt x="85744" y="73495"/>
                </a:cubicBezTo>
                <a:cubicBezTo>
                  <a:pt x="85744" y="68404"/>
                  <a:pt x="89840" y="64308"/>
                  <a:pt x="94931" y="64308"/>
                </a:cubicBezTo>
                <a:close/>
                <a:moveTo>
                  <a:pt x="94931" y="113305"/>
                </a:moveTo>
                <a:lnTo>
                  <a:pt x="150052" y="113305"/>
                </a:lnTo>
                <a:cubicBezTo>
                  <a:pt x="155143" y="113305"/>
                  <a:pt x="159239" y="117401"/>
                  <a:pt x="159239" y="122492"/>
                </a:cubicBezTo>
                <a:cubicBezTo>
                  <a:pt x="159239" y="127583"/>
                  <a:pt x="155143" y="131678"/>
                  <a:pt x="150052" y="131678"/>
                </a:cubicBezTo>
                <a:lnTo>
                  <a:pt x="94931" y="131678"/>
                </a:lnTo>
                <a:cubicBezTo>
                  <a:pt x="89840" y="131678"/>
                  <a:pt x="85744" y="127583"/>
                  <a:pt x="85744" y="122492"/>
                </a:cubicBezTo>
                <a:cubicBezTo>
                  <a:pt x="85744" y="117401"/>
                  <a:pt x="89840" y="113305"/>
                  <a:pt x="94931" y="113305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914604" y="5585618"/>
            <a:ext cx="11073243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文件系统接口对比</a:t>
            </a:r>
            <a:endParaRPr lang="en-US" sz="1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4177" y="6021144"/>
          <a:ext cx="11225678" cy="2057860"/>
        </p:xfrm>
        <a:graphic>
          <a:graphicData uri="http://schemas.openxmlformats.org/drawingml/2006/table">
            <a:tbl>
              <a:tblPr/>
              <a:tblGrid>
                <a:gridCol w="1938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4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47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78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572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操作类型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支持的接口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功能说明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设计考量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572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文件操作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open, close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打开/关闭文件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简化的文件句柄管理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572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数据读取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read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顺序/随机读取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支持大文件高效读取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572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数据写入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write, append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写入和追加数据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优化追加操作性能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572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不支持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随机写、硬链接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49505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简化设计，专注大文件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12345285" y="1399127"/>
            <a:ext cx="3473318" cy="3930620"/>
          </a:xfrm>
          <a:custGeom>
            <a:avLst/>
            <a:gdLst/>
            <a:ahLst/>
            <a:cxnLst/>
            <a:rect l="l" t="t" r="r" b="b"/>
            <a:pathLst>
              <a:path w="3473318" h="3930620">
                <a:moveTo>
                  <a:pt x="87111" y="0"/>
                </a:moveTo>
                <a:lnTo>
                  <a:pt x="3386207" y="0"/>
                </a:lnTo>
                <a:cubicBezTo>
                  <a:pt x="3434317" y="0"/>
                  <a:pt x="3473318" y="39001"/>
                  <a:pt x="3473318" y="87111"/>
                </a:cubicBezTo>
                <a:lnTo>
                  <a:pt x="3473318" y="3843509"/>
                </a:lnTo>
                <a:cubicBezTo>
                  <a:pt x="3473318" y="3891619"/>
                  <a:pt x="3434317" y="3930620"/>
                  <a:pt x="3386207" y="3930620"/>
                </a:cubicBezTo>
                <a:lnTo>
                  <a:pt x="87111" y="3930620"/>
                </a:lnTo>
                <a:cubicBezTo>
                  <a:pt x="39001" y="3930620"/>
                  <a:pt x="0" y="3891619"/>
                  <a:pt x="0" y="3843509"/>
                </a:cubicBezTo>
                <a:lnTo>
                  <a:pt x="0" y="87111"/>
                </a:lnTo>
                <a:cubicBezTo>
                  <a:pt x="0" y="39033"/>
                  <a:pt x="39033" y="0"/>
                  <a:pt x="87111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6"/>
          <p:cNvSpPr/>
          <p:nvPr/>
        </p:nvSpPr>
        <p:spPr>
          <a:xfrm>
            <a:off x="12595712" y="1676774"/>
            <a:ext cx="195987" cy="195987"/>
          </a:xfrm>
          <a:custGeom>
            <a:avLst/>
            <a:gdLst/>
            <a:ahLst/>
            <a:cxnLst/>
            <a:rect l="l" t="t" r="r" b="b"/>
            <a:pathLst>
              <a:path w="195987" h="195987">
                <a:moveTo>
                  <a:pt x="74682" y="3636"/>
                </a:moveTo>
                <a:cubicBezTo>
                  <a:pt x="75830" y="-2029"/>
                  <a:pt x="80844" y="-6125"/>
                  <a:pt x="86663" y="-6125"/>
                </a:cubicBezTo>
                <a:lnTo>
                  <a:pt x="109553" y="-6125"/>
                </a:lnTo>
                <a:cubicBezTo>
                  <a:pt x="115372" y="-6125"/>
                  <a:pt x="120386" y="-2029"/>
                  <a:pt x="121535" y="3636"/>
                </a:cubicBezTo>
                <a:lnTo>
                  <a:pt x="127085" y="30432"/>
                </a:lnTo>
                <a:cubicBezTo>
                  <a:pt x="132482" y="32728"/>
                  <a:pt x="137535" y="35676"/>
                  <a:pt x="142129" y="39159"/>
                </a:cubicBezTo>
                <a:lnTo>
                  <a:pt x="168081" y="30546"/>
                </a:lnTo>
                <a:cubicBezTo>
                  <a:pt x="173594" y="28709"/>
                  <a:pt x="179642" y="31006"/>
                  <a:pt x="182551" y="36058"/>
                </a:cubicBezTo>
                <a:lnTo>
                  <a:pt x="193996" y="55887"/>
                </a:lnTo>
                <a:cubicBezTo>
                  <a:pt x="196905" y="60940"/>
                  <a:pt x="195872" y="67294"/>
                  <a:pt x="191508" y="71160"/>
                </a:cubicBezTo>
                <a:lnTo>
                  <a:pt x="171105" y="89304"/>
                </a:lnTo>
                <a:cubicBezTo>
                  <a:pt x="171450" y="92137"/>
                  <a:pt x="171603" y="95046"/>
                  <a:pt x="171603" y="97993"/>
                </a:cubicBezTo>
                <a:cubicBezTo>
                  <a:pt x="171603" y="100941"/>
                  <a:pt x="171412" y="103850"/>
                  <a:pt x="171105" y="106683"/>
                </a:cubicBezTo>
                <a:lnTo>
                  <a:pt x="191546" y="124865"/>
                </a:lnTo>
                <a:cubicBezTo>
                  <a:pt x="195910" y="128731"/>
                  <a:pt x="196905" y="135124"/>
                  <a:pt x="194034" y="140138"/>
                </a:cubicBezTo>
                <a:lnTo>
                  <a:pt x="182589" y="159966"/>
                </a:lnTo>
                <a:cubicBezTo>
                  <a:pt x="179680" y="164981"/>
                  <a:pt x="173632" y="167316"/>
                  <a:pt x="168120" y="165479"/>
                </a:cubicBezTo>
                <a:lnTo>
                  <a:pt x="142167" y="156866"/>
                </a:lnTo>
                <a:cubicBezTo>
                  <a:pt x="137535" y="160349"/>
                  <a:pt x="132482" y="163258"/>
                  <a:pt x="127123" y="165593"/>
                </a:cubicBezTo>
                <a:lnTo>
                  <a:pt x="121611" y="192350"/>
                </a:lnTo>
                <a:cubicBezTo>
                  <a:pt x="120425" y="198054"/>
                  <a:pt x="115410" y="202111"/>
                  <a:pt x="109630" y="202111"/>
                </a:cubicBezTo>
                <a:lnTo>
                  <a:pt x="86739" y="202111"/>
                </a:lnTo>
                <a:cubicBezTo>
                  <a:pt x="80921" y="202111"/>
                  <a:pt x="75907" y="198015"/>
                  <a:pt x="74758" y="192350"/>
                </a:cubicBezTo>
                <a:lnTo>
                  <a:pt x="69246" y="165593"/>
                </a:lnTo>
                <a:cubicBezTo>
                  <a:pt x="63849" y="163297"/>
                  <a:pt x="58834" y="160349"/>
                  <a:pt x="54203" y="156866"/>
                </a:cubicBezTo>
                <a:lnTo>
                  <a:pt x="28135" y="165479"/>
                </a:lnTo>
                <a:cubicBezTo>
                  <a:pt x="22623" y="167316"/>
                  <a:pt x="16575" y="165019"/>
                  <a:pt x="13665" y="159966"/>
                </a:cubicBezTo>
                <a:lnTo>
                  <a:pt x="2220" y="140138"/>
                </a:lnTo>
                <a:cubicBezTo>
                  <a:pt x="-689" y="135085"/>
                  <a:pt x="345" y="128731"/>
                  <a:pt x="4708" y="124865"/>
                </a:cubicBezTo>
                <a:lnTo>
                  <a:pt x="25149" y="106683"/>
                </a:lnTo>
                <a:cubicBezTo>
                  <a:pt x="24805" y="103850"/>
                  <a:pt x="24651" y="100941"/>
                  <a:pt x="24651" y="97993"/>
                </a:cubicBezTo>
                <a:cubicBezTo>
                  <a:pt x="24651" y="95046"/>
                  <a:pt x="24843" y="92137"/>
                  <a:pt x="25149" y="89304"/>
                </a:cubicBezTo>
                <a:lnTo>
                  <a:pt x="4708" y="71122"/>
                </a:lnTo>
                <a:cubicBezTo>
                  <a:pt x="345" y="67256"/>
                  <a:pt x="-651" y="60863"/>
                  <a:pt x="2220" y="55849"/>
                </a:cubicBezTo>
                <a:lnTo>
                  <a:pt x="13665" y="36020"/>
                </a:lnTo>
                <a:cubicBezTo>
                  <a:pt x="16575" y="30967"/>
                  <a:pt x="22623" y="28671"/>
                  <a:pt x="28135" y="30508"/>
                </a:cubicBezTo>
                <a:lnTo>
                  <a:pt x="54088" y="39121"/>
                </a:lnTo>
                <a:cubicBezTo>
                  <a:pt x="58719" y="35637"/>
                  <a:pt x="63772" y="32728"/>
                  <a:pt x="69131" y="30393"/>
                </a:cubicBezTo>
                <a:lnTo>
                  <a:pt x="74682" y="3636"/>
                </a:lnTo>
                <a:close/>
                <a:moveTo>
                  <a:pt x="98108" y="128616"/>
                </a:moveTo>
                <a:cubicBezTo>
                  <a:pt x="109049" y="128575"/>
                  <a:pt x="119136" y="122701"/>
                  <a:pt x="124571" y="113205"/>
                </a:cubicBezTo>
                <a:cubicBezTo>
                  <a:pt x="130006" y="103710"/>
                  <a:pt x="129962" y="92037"/>
                  <a:pt x="124456" y="82582"/>
                </a:cubicBezTo>
                <a:cubicBezTo>
                  <a:pt x="118950" y="73128"/>
                  <a:pt x="108819" y="67329"/>
                  <a:pt x="97878" y="67370"/>
                </a:cubicBezTo>
                <a:cubicBezTo>
                  <a:pt x="86938" y="67411"/>
                  <a:pt x="76850" y="73286"/>
                  <a:pt x="71416" y="82781"/>
                </a:cubicBezTo>
                <a:cubicBezTo>
                  <a:pt x="65981" y="92277"/>
                  <a:pt x="66025" y="103950"/>
                  <a:pt x="71531" y="113404"/>
                </a:cubicBezTo>
                <a:cubicBezTo>
                  <a:pt x="77036" y="122858"/>
                  <a:pt x="87168" y="128657"/>
                  <a:pt x="98108" y="128616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12818919" y="1622334"/>
            <a:ext cx="2874470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2590268" y="2057859"/>
            <a:ext cx="3005128" cy="1001709"/>
          </a:xfrm>
          <a:custGeom>
            <a:avLst/>
            <a:gdLst/>
            <a:ahLst/>
            <a:cxnLst/>
            <a:rect l="l" t="t" r="r" b="b"/>
            <a:pathLst>
              <a:path w="3005128" h="1001709">
                <a:moveTo>
                  <a:pt x="43553" y="0"/>
                </a:moveTo>
                <a:lnTo>
                  <a:pt x="2961574" y="0"/>
                </a:lnTo>
                <a:cubicBezTo>
                  <a:pt x="2985628" y="0"/>
                  <a:pt x="3005128" y="19500"/>
                  <a:pt x="3005128" y="43554"/>
                </a:cubicBezTo>
                <a:lnTo>
                  <a:pt x="3005128" y="958155"/>
                </a:lnTo>
                <a:cubicBezTo>
                  <a:pt x="3005128" y="982209"/>
                  <a:pt x="2985628" y="1001709"/>
                  <a:pt x="2961574" y="1001709"/>
                </a:cubicBezTo>
                <a:lnTo>
                  <a:pt x="43553" y="1001709"/>
                </a:lnTo>
                <a:cubicBezTo>
                  <a:pt x="19499" y="1001709"/>
                  <a:pt x="0" y="982210"/>
                  <a:pt x="0" y="958157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9"/>
          <p:cNvSpPr/>
          <p:nvPr/>
        </p:nvSpPr>
        <p:spPr>
          <a:xfrm>
            <a:off x="12590268" y="2057859"/>
            <a:ext cx="43553" cy="1001709"/>
          </a:xfrm>
          <a:custGeom>
            <a:avLst/>
            <a:gdLst/>
            <a:ahLst/>
            <a:cxnLst/>
            <a:rect l="l" t="t" r="r" b="b"/>
            <a:pathLst>
              <a:path w="43553" h="1001709">
                <a:moveTo>
                  <a:pt x="43553" y="0"/>
                </a:moveTo>
                <a:lnTo>
                  <a:pt x="43553" y="0"/>
                </a:lnTo>
                <a:lnTo>
                  <a:pt x="43553" y="1001709"/>
                </a:lnTo>
                <a:lnTo>
                  <a:pt x="43553" y="1001709"/>
                </a:lnTo>
                <a:cubicBezTo>
                  <a:pt x="19499" y="1001709"/>
                  <a:pt x="0" y="982210"/>
                  <a:pt x="0" y="958157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0"/>
          <p:cNvSpPr/>
          <p:nvPr/>
        </p:nvSpPr>
        <p:spPr>
          <a:xfrm>
            <a:off x="12764478" y="2232070"/>
            <a:ext cx="174210" cy="174210"/>
          </a:xfrm>
          <a:custGeom>
            <a:avLst/>
            <a:gdLst/>
            <a:ahLst/>
            <a:cxnLst/>
            <a:rect l="l" t="t" r="r" b="b"/>
            <a:pathLst>
              <a:path w="174210" h="174210">
                <a:moveTo>
                  <a:pt x="21776" y="21776"/>
                </a:moveTo>
                <a:cubicBezTo>
                  <a:pt x="9765" y="21776"/>
                  <a:pt x="0" y="31542"/>
                  <a:pt x="0" y="43553"/>
                </a:cubicBezTo>
                <a:lnTo>
                  <a:pt x="0" y="46070"/>
                </a:lnTo>
                <a:cubicBezTo>
                  <a:pt x="0" y="48384"/>
                  <a:pt x="1497" y="50358"/>
                  <a:pt x="3437" y="51617"/>
                </a:cubicBezTo>
                <a:cubicBezTo>
                  <a:pt x="7928" y="54543"/>
                  <a:pt x="10888" y="59579"/>
                  <a:pt x="10888" y="65329"/>
                </a:cubicBezTo>
                <a:cubicBezTo>
                  <a:pt x="10888" y="71079"/>
                  <a:pt x="7928" y="76115"/>
                  <a:pt x="3437" y="79041"/>
                </a:cubicBezTo>
                <a:cubicBezTo>
                  <a:pt x="1497" y="80300"/>
                  <a:pt x="0" y="82274"/>
                  <a:pt x="0" y="84587"/>
                </a:cubicBezTo>
                <a:lnTo>
                  <a:pt x="0" y="103437"/>
                </a:lnTo>
                <a:lnTo>
                  <a:pt x="174210" y="103437"/>
                </a:lnTo>
                <a:lnTo>
                  <a:pt x="174210" y="84587"/>
                </a:lnTo>
                <a:cubicBezTo>
                  <a:pt x="174210" y="82274"/>
                  <a:pt x="172713" y="80300"/>
                  <a:pt x="170774" y="79041"/>
                </a:cubicBezTo>
                <a:cubicBezTo>
                  <a:pt x="166282" y="76115"/>
                  <a:pt x="163322" y="71079"/>
                  <a:pt x="163322" y="65329"/>
                </a:cubicBezTo>
                <a:cubicBezTo>
                  <a:pt x="163322" y="59579"/>
                  <a:pt x="166282" y="54543"/>
                  <a:pt x="170774" y="51617"/>
                </a:cubicBezTo>
                <a:cubicBezTo>
                  <a:pt x="172713" y="50358"/>
                  <a:pt x="174210" y="48384"/>
                  <a:pt x="174210" y="46070"/>
                </a:cubicBezTo>
                <a:lnTo>
                  <a:pt x="174210" y="43553"/>
                </a:lnTo>
                <a:cubicBezTo>
                  <a:pt x="174210" y="31542"/>
                  <a:pt x="164445" y="21776"/>
                  <a:pt x="152434" y="21776"/>
                </a:cubicBezTo>
                <a:lnTo>
                  <a:pt x="21776" y="21776"/>
                </a:lnTo>
                <a:close/>
                <a:moveTo>
                  <a:pt x="174210" y="141546"/>
                </a:moveTo>
                <a:lnTo>
                  <a:pt x="174210" y="119770"/>
                </a:lnTo>
                <a:lnTo>
                  <a:pt x="0" y="119770"/>
                </a:lnTo>
                <a:lnTo>
                  <a:pt x="0" y="141546"/>
                </a:lnTo>
                <a:cubicBezTo>
                  <a:pt x="0" y="147568"/>
                  <a:pt x="4866" y="152434"/>
                  <a:pt x="10888" y="152434"/>
                </a:cubicBezTo>
                <a:lnTo>
                  <a:pt x="32664" y="152434"/>
                </a:lnTo>
                <a:lnTo>
                  <a:pt x="32664" y="144268"/>
                </a:lnTo>
                <a:cubicBezTo>
                  <a:pt x="32664" y="139743"/>
                  <a:pt x="36305" y="136102"/>
                  <a:pt x="40831" y="136102"/>
                </a:cubicBezTo>
                <a:cubicBezTo>
                  <a:pt x="45356" y="136102"/>
                  <a:pt x="48997" y="139743"/>
                  <a:pt x="48997" y="144268"/>
                </a:cubicBezTo>
                <a:lnTo>
                  <a:pt x="48997" y="152434"/>
                </a:lnTo>
                <a:lnTo>
                  <a:pt x="78939" y="152434"/>
                </a:lnTo>
                <a:lnTo>
                  <a:pt x="78939" y="144268"/>
                </a:lnTo>
                <a:cubicBezTo>
                  <a:pt x="78939" y="139743"/>
                  <a:pt x="82580" y="136102"/>
                  <a:pt x="87105" y="136102"/>
                </a:cubicBezTo>
                <a:cubicBezTo>
                  <a:pt x="91631" y="136102"/>
                  <a:pt x="95271" y="139743"/>
                  <a:pt x="95271" y="144268"/>
                </a:cubicBezTo>
                <a:lnTo>
                  <a:pt x="95271" y="152434"/>
                </a:lnTo>
                <a:lnTo>
                  <a:pt x="125214" y="152434"/>
                </a:lnTo>
                <a:lnTo>
                  <a:pt x="125214" y="144268"/>
                </a:lnTo>
                <a:cubicBezTo>
                  <a:pt x="125214" y="139743"/>
                  <a:pt x="128854" y="136102"/>
                  <a:pt x="133380" y="136102"/>
                </a:cubicBezTo>
                <a:cubicBezTo>
                  <a:pt x="137905" y="136102"/>
                  <a:pt x="141546" y="139743"/>
                  <a:pt x="141546" y="144268"/>
                </a:cubicBezTo>
                <a:lnTo>
                  <a:pt x="141546" y="152434"/>
                </a:lnTo>
                <a:lnTo>
                  <a:pt x="163322" y="152434"/>
                </a:lnTo>
                <a:cubicBezTo>
                  <a:pt x="169345" y="152434"/>
                  <a:pt x="174210" y="147568"/>
                  <a:pt x="174210" y="141546"/>
                </a:cubicBezTo>
                <a:close/>
                <a:moveTo>
                  <a:pt x="54441" y="54441"/>
                </a:moveTo>
                <a:lnTo>
                  <a:pt x="54441" y="76217"/>
                </a:lnTo>
                <a:cubicBezTo>
                  <a:pt x="54441" y="82240"/>
                  <a:pt x="49575" y="87105"/>
                  <a:pt x="43553" y="87105"/>
                </a:cubicBezTo>
                <a:cubicBezTo>
                  <a:pt x="37530" y="87105"/>
                  <a:pt x="32664" y="82240"/>
                  <a:pt x="32664" y="76217"/>
                </a:cubicBezTo>
                <a:lnTo>
                  <a:pt x="32664" y="54441"/>
                </a:lnTo>
                <a:cubicBezTo>
                  <a:pt x="32664" y="48418"/>
                  <a:pt x="37530" y="43553"/>
                  <a:pt x="43553" y="43553"/>
                </a:cubicBezTo>
                <a:cubicBezTo>
                  <a:pt x="49575" y="43553"/>
                  <a:pt x="54441" y="48418"/>
                  <a:pt x="54441" y="54441"/>
                </a:cubicBezTo>
                <a:close/>
                <a:moveTo>
                  <a:pt x="97993" y="54441"/>
                </a:moveTo>
                <a:lnTo>
                  <a:pt x="97993" y="76217"/>
                </a:lnTo>
                <a:cubicBezTo>
                  <a:pt x="97993" y="82240"/>
                  <a:pt x="93128" y="87105"/>
                  <a:pt x="87105" y="87105"/>
                </a:cubicBezTo>
                <a:cubicBezTo>
                  <a:pt x="81083" y="87105"/>
                  <a:pt x="76217" y="82240"/>
                  <a:pt x="76217" y="76217"/>
                </a:cubicBezTo>
                <a:lnTo>
                  <a:pt x="76217" y="54441"/>
                </a:lnTo>
                <a:cubicBezTo>
                  <a:pt x="76217" y="48418"/>
                  <a:pt x="81083" y="43553"/>
                  <a:pt x="87105" y="43553"/>
                </a:cubicBezTo>
                <a:cubicBezTo>
                  <a:pt x="93128" y="43553"/>
                  <a:pt x="97993" y="48418"/>
                  <a:pt x="97993" y="54441"/>
                </a:cubicBezTo>
                <a:close/>
                <a:moveTo>
                  <a:pt x="141546" y="54441"/>
                </a:moveTo>
                <a:lnTo>
                  <a:pt x="141546" y="76217"/>
                </a:lnTo>
                <a:cubicBezTo>
                  <a:pt x="141546" y="82240"/>
                  <a:pt x="136680" y="87105"/>
                  <a:pt x="130658" y="87105"/>
                </a:cubicBezTo>
                <a:cubicBezTo>
                  <a:pt x="124635" y="87105"/>
                  <a:pt x="119770" y="82240"/>
                  <a:pt x="119770" y="76217"/>
                </a:cubicBezTo>
                <a:lnTo>
                  <a:pt x="119770" y="54441"/>
                </a:lnTo>
                <a:cubicBezTo>
                  <a:pt x="119770" y="48418"/>
                  <a:pt x="124635" y="43553"/>
                  <a:pt x="130658" y="43553"/>
                </a:cubicBezTo>
                <a:cubicBezTo>
                  <a:pt x="136680" y="43553"/>
                  <a:pt x="141546" y="48418"/>
                  <a:pt x="141546" y="54441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1"/>
          <p:cNvSpPr/>
          <p:nvPr/>
        </p:nvSpPr>
        <p:spPr>
          <a:xfrm>
            <a:off x="13047570" y="2188517"/>
            <a:ext cx="1306577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元数据缓存管理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2742702" y="2493385"/>
            <a:ext cx="2798253" cy="43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LRU 替换策略，TTL 过期机制（默认 5 分钟）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12590268" y="3190226"/>
            <a:ext cx="3005128" cy="783946"/>
          </a:xfrm>
          <a:custGeom>
            <a:avLst/>
            <a:gdLst/>
            <a:ahLst/>
            <a:cxnLst/>
            <a:rect l="l" t="t" r="r" b="b"/>
            <a:pathLst>
              <a:path w="3005128" h="783946">
                <a:moveTo>
                  <a:pt x="43553" y="0"/>
                </a:moveTo>
                <a:lnTo>
                  <a:pt x="2961572" y="0"/>
                </a:lnTo>
                <a:cubicBezTo>
                  <a:pt x="2985627" y="0"/>
                  <a:pt x="3005128" y="19501"/>
                  <a:pt x="3005128" y="43556"/>
                </a:cubicBezTo>
                <a:lnTo>
                  <a:pt x="3005128" y="740390"/>
                </a:lnTo>
                <a:cubicBezTo>
                  <a:pt x="3005128" y="764446"/>
                  <a:pt x="2985627" y="783946"/>
                  <a:pt x="2961572" y="783946"/>
                </a:cubicBezTo>
                <a:lnTo>
                  <a:pt x="43553" y="783946"/>
                </a:lnTo>
                <a:cubicBezTo>
                  <a:pt x="19499" y="783946"/>
                  <a:pt x="0" y="764447"/>
                  <a:pt x="0" y="740394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4"/>
          <p:cNvSpPr/>
          <p:nvPr/>
        </p:nvSpPr>
        <p:spPr>
          <a:xfrm>
            <a:off x="12590268" y="3190226"/>
            <a:ext cx="43553" cy="783946"/>
          </a:xfrm>
          <a:custGeom>
            <a:avLst/>
            <a:gdLst/>
            <a:ahLst/>
            <a:cxnLst/>
            <a:rect l="l" t="t" r="r" b="b"/>
            <a:pathLst>
              <a:path w="43553" h="783946">
                <a:moveTo>
                  <a:pt x="43553" y="0"/>
                </a:moveTo>
                <a:lnTo>
                  <a:pt x="43553" y="0"/>
                </a:lnTo>
                <a:lnTo>
                  <a:pt x="43553" y="783946"/>
                </a:lnTo>
                <a:lnTo>
                  <a:pt x="43553" y="783946"/>
                </a:lnTo>
                <a:cubicBezTo>
                  <a:pt x="19499" y="783946"/>
                  <a:pt x="0" y="764447"/>
                  <a:pt x="0" y="740394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5"/>
          <p:cNvSpPr/>
          <p:nvPr/>
        </p:nvSpPr>
        <p:spPr>
          <a:xfrm>
            <a:off x="12753590" y="3364437"/>
            <a:ext cx="195987" cy="174210"/>
          </a:xfrm>
          <a:custGeom>
            <a:avLst/>
            <a:gdLst/>
            <a:ahLst/>
            <a:cxnLst/>
            <a:rect l="l" t="t" r="r" b="b"/>
            <a:pathLst>
              <a:path w="195987" h="174210">
                <a:moveTo>
                  <a:pt x="84383" y="29942"/>
                </a:moveTo>
                <a:lnTo>
                  <a:pt x="111603" y="29942"/>
                </a:lnTo>
                <a:lnTo>
                  <a:pt x="111603" y="46275"/>
                </a:lnTo>
                <a:lnTo>
                  <a:pt x="84383" y="46275"/>
                </a:lnTo>
                <a:lnTo>
                  <a:pt x="84383" y="29942"/>
                </a:lnTo>
                <a:close/>
                <a:moveTo>
                  <a:pt x="81661" y="10888"/>
                </a:moveTo>
                <a:cubicBezTo>
                  <a:pt x="72644" y="10888"/>
                  <a:pt x="65329" y="18204"/>
                  <a:pt x="65329" y="27220"/>
                </a:cubicBezTo>
                <a:lnTo>
                  <a:pt x="65329" y="48997"/>
                </a:lnTo>
                <a:cubicBezTo>
                  <a:pt x="65329" y="58013"/>
                  <a:pt x="72644" y="65329"/>
                  <a:pt x="81661" y="65329"/>
                </a:cubicBezTo>
                <a:lnTo>
                  <a:pt x="87105" y="65329"/>
                </a:lnTo>
                <a:lnTo>
                  <a:pt x="87105" y="76217"/>
                </a:lnTo>
                <a:lnTo>
                  <a:pt x="10888" y="76217"/>
                </a:lnTo>
                <a:cubicBezTo>
                  <a:pt x="4866" y="76217"/>
                  <a:pt x="0" y="81083"/>
                  <a:pt x="0" y="87105"/>
                </a:cubicBezTo>
                <a:cubicBezTo>
                  <a:pt x="0" y="93128"/>
                  <a:pt x="4866" y="97993"/>
                  <a:pt x="10888" y="97993"/>
                </a:cubicBezTo>
                <a:lnTo>
                  <a:pt x="43553" y="97993"/>
                </a:lnTo>
                <a:lnTo>
                  <a:pt x="43553" y="108881"/>
                </a:lnTo>
                <a:lnTo>
                  <a:pt x="38109" y="108881"/>
                </a:lnTo>
                <a:cubicBezTo>
                  <a:pt x="29092" y="108881"/>
                  <a:pt x="21776" y="116197"/>
                  <a:pt x="21776" y="125214"/>
                </a:cubicBezTo>
                <a:lnTo>
                  <a:pt x="21776" y="146990"/>
                </a:lnTo>
                <a:cubicBezTo>
                  <a:pt x="21776" y="156007"/>
                  <a:pt x="29092" y="163322"/>
                  <a:pt x="38109" y="163322"/>
                </a:cubicBezTo>
                <a:lnTo>
                  <a:pt x="70773" y="163322"/>
                </a:lnTo>
                <a:cubicBezTo>
                  <a:pt x="79790" y="163322"/>
                  <a:pt x="87105" y="156007"/>
                  <a:pt x="87105" y="146990"/>
                </a:cubicBezTo>
                <a:lnTo>
                  <a:pt x="87105" y="125214"/>
                </a:lnTo>
                <a:cubicBezTo>
                  <a:pt x="87105" y="116197"/>
                  <a:pt x="79790" y="108881"/>
                  <a:pt x="70773" y="108881"/>
                </a:cubicBezTo>
                <a:lnTo>
                  <a:pt x="65329" y="108881"/>
                </a:lnTo>
                <a:lnTo>
                  <a:pt x="65329" y="97993"/>
                </a:lnTo>
                <a:lnTo>
                  <a:pt x="130658" y="97993"/>
                </a:lnTo>
                <a:lnTo>
                  <a:pt x="130658" y="108881"/>
                </a:lnTo>
                <a:lnTo>
                  <a:pt x="125214" y="108881"/>
                </a:lnTo>
                <a:cubicBezTo>
                  <a:pt x="116197" y="108881"/>
                  <a:pt x="108881" y="116197"/>
                  <a:pt x="108881" y="125214"/>
                </a:cubicBezTo>
                <a:lnTo>
                  <a:pt x="108881" y="146990"/>
                </a:lnTo>
                <a:cubicBezTo>
                  <a:pt x="108881" y="156007"/>
                  <a:pt x="116197" y="163322"/>
                  <a:pt x="125214" y="163322"/>
                </a:cubicBezTo>
                <a:lnTo>
                  <a:pt x="157878" y="163322"/>
                </a:lnTo>
                <a:cubicBezTo>
                  <a:pt x="166895" y="163322"/>
                  <a:pt x="174210" y="156007"/>
                  <a:pt x="174210" y="146990"/>
                </a:cubicBezTo>
                <a:lnTo>
                  <a:pt x="174210" y="125214"/>
                </a:lnTo>
                <a:cubicBezTo>
                  <a:pt x="174210" y="116197"/>
                  <a:pt x="166895" y="108881"/>
                  <a:pt x="157878" y="108881"/>
                </a:cubicBezTo>
                <a:lnTo>
                  <a:pt x="152434" y="108881"/>
                </a:lnTo>
                <a:lnTo>
                  <a:pt x="152434" y="97993"/>
                </a:lnTo>
                <a:lnTo>
                  <a:pt x="185098" y="97993"/>
                </a:lnTo>
                <a:cubicBezTo>
                  <a:pt x="191121" y="97993"/>
                  <a:pt x="195987" y="93128"/>
                  <a:pt x="195987" y="87105"/>
                </a:cubicBezTo>
                <a:cubicBezTo>
                  <a:pt x="195987" y="81083"/>
                  <a:pt x="191121" y="76217"/>
                  <a:pt x="185098" y="76217"/>
                </a:cubicBezTo>
                <a:lnTo>
                  <a:pt x="108881" y="76217"/>
                </a:lnTo>
                <a:lnTo>
                  <a:pt x="108881" y="65329"/>
                </a:lnTo>
                <a:lnTo>
                  <a:pt x="114326" y="65329"/>
                </a:lnTo>
                <a:cubicBezTo>
                  <a:pt x="123342" y="65329"/>
                  <a:pt x="130658" y="58013"/>
                  <a:pt x="130658" y="48997"/>
                </a:cubicBezTo>
                <a:lnTo>
                  <a:pt x="130658" y="27220"/>
                </a:lnTo>
                <a:cubicBezTo>
                  <a:pt x="130658" y="18204"/>
                  <a:pt x="123342" y="10888"/>
                  <a:pt x="114326" y="10888"/>
                </a:cubicBezTo>
                <a:lnTo>
                  <a:pt x="81661" y="10888"/>
                </a:lnTo>
                <a:close/>
                <a:moveTo>
                  <a:pt x="152434" y="127936"/>
                </a:moveTo>
                <a:lnTo>
                  <a:pt x="155156" y="127936"/>
                </a:lnTo>
                <a:lnTo>
                  <a:pt x="155156" y="144268"/>
                </a:lnTo>
                <a:lnTo>
                  <a:pt x="127936" y="144268"/>
                </a:lnTo>
                <a:lnTo>
                  <a:pt x="127936" y="127936"/>
                </a:lnTo>
                <a:lnTo>
                  <a:pt x="152434" y="127936"/>
                </a:lnTo>
                <a:close/>
                <a:moveTo>
                  <a:pt x="65329" y="127936"/>
                </a:moveTo>
                <a:lnTo>
                  <a:pt x="68051" y="127936"/>
                </a:lnTo>
                <a:lnTo>
                  <a:pt x="68051" y="144268"/>
                </a:lnTo>
                <a:lnTo>
                  <a:pt x="40831" y="144268"/>
                </a:lnTo>
                <a:lnTo>
                  <a:pt x="40831" y="127936"/>
                </a:lnTo>
                <a:lnTo>
                  <a:pt x="65329" y="127936"/>
                </a:ln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6"/>
          <p:cNvSpPr/>
          <p:nvPr/>
        </p:nvSpPr>
        <p:spPr>
          <a:xfrm>
            <a:off x="13047570" y="3320884"/>
            <a:ext cx="783946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通信优化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2742702" y="3625752"/>
            <a:ext cx="2798253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连接池管理，错误重试，负载均衡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12590268" y="4104831"/>
            <a:ext cx="3005128" cy="1001709"/>
          </a:xfrm>
          <a:custGeom>
            <a:avLst/>
            <a:gdLst/>
            <a:ahLst/>
            <a:cxnLst/>
            <a:rect l="l" t="t" r="r" b="b"/>
            <a:pathLst>
              <a:path w="3005128" h="1001709">
                <a:moveTo>
                  <a:pt x="43553" y="0"/>
                </a:moveTo>
                <a:lnTo>
                  <a:pt x="2961574" y="0"/>
                </a:lnTo>
                <a:cubicBezTo>
                  <a:pt x="2985628" y="0"/>
                  <a:pt x="3005128" y="19500"/>
                  <a:pt x="3005128" y="43554"/>
                </a:cubicBezTo>
                <a:lnTo>
                  <a:pt x="3005128" y="958155"/>
                </a:lnTo>
                <a:cubicBezTo>
                  <a:pt x="3005128" y="982209"/>
                  <a:pt x="2985628" y="1001709"/>
                  <a:pt x="2961574" y="1001709"/>
                </a:cubicBezTo>
                <a:lnTo>
                  <a:pt x="43553" y="1001709"/>
                </a:lnTo>
                <a:cubicBezTo>
                  <a:pt x="19499" y="1001709"/>
                  <a:pt x="0" y="982210"/>
                  <a:pt x="0" y="958157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39"/>
          <p:cNvSpPr/>
          <p:nvPr/>
        </p:nvSpPr>
        <p:spPr>
          <a:xfrm>
            <a:off x="12590268" y="4104831"/>
            <a:ext cx="43553" cy="1001709"/>
          </a:xfrm>
          <a:custGeom>
            <a:avLst/>
            <a:gdLst/>
            <a:ahLst/>
            <a:cxnLst/>
            <a:rect l="l" t="t" r="r" b="b"/>
            <a:pathLst>
              <a:path w="43553" h="1001709">
                <a:moveTo>
                  <a:pt x="43553" y="0"/>
                </a:moveTo>
                <a:lnTo>
                  <a:pt x="43553" y="0"/>
                </a:lnTo>
                <a:lnTo>
                  <a:pt x="43553" y="1001709"/>
                </a:lnTo>
                <a:lnTo>
                  <a:pt x="43553" y="1001709"/>
                </a:lnTo>
                <a:cubicBezTo>
                  <a:pt x="19499" y="1001709"/>
                  <a:pt x="0" y="982210"/>
                  <a:pt x="0" y="958157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0"/>
          <p:cNvSpPr/>
          <p:nvPr/>
        </p:nvSpPr>
        <p:spPr>
          <a:xfrm>
            <a:off x="12764478" y="4279041"/>
            <a:ext cx="174210" cy="174210"/>
          </a:xfrm>
          <a:custGeom>
            <a:avLst/>
            <a:gdLst/>
            <a:ahLst/>
            <a:cxnLst/>
            <a:rect l="l" t="t" r="r" b="b"/>
            <a:pathLst>
              <a:path w="174210" h="174210">
                <a:moveTo>
                  <a:pt x="0" y="32664"/>
                </a:moveTo>
                <a:cubicBezTo>
                  <a:pt x="0" y="26642"/>
                  <a:pt x="4866" y="21776"/>
                  <a:pt x="10888" y="21776"/>
                </a:cubicBezTo>
                <a:lnTo>
                  <a:pt x="141546" y="21776"/>
                </a:lnTo>
                <a:cubicBezTo>
                  <a:pt x="147568" y="21776"/>
                  <a:pt x="152434" y="26642"/>
                  <a:pt x="152434" y="32664"/>
                </a:cubicBezTo>
                <a:cubicBezTo>
                  <a:pt x="152434" y="38687"/>
                  <a:pt x="147568" y="43553"/>
                  <a:pt x="141546" y="43553"/>
                </a:cubicBezTo>
                <a:lnTo>
                  <a:pt x="10888" y="43553"/>
                </a:lnTo>
                <a:cubicBezTo>
                  <a:pt x="4866" y="43553"/>
                  <a:pt x="0" y="38687"/>
                  <a:pt x="0" y="32664"/>
                </a:cubicBezTo>
                <a:close/>
                <a:moveTo>
                  <a:pt x="21776" y="87105"/>
                </a:moveTo>
                <a:cubicBezTo>
                  <a:pt x="21776" y="81083"/>
                  <a:pt x="26642" y="76217"/>
                  <a:pt x="32664" y="76217"/>
                </a:cubicBezTo>
                <a:lnTo>
                  <a:pt x="163322" y="76217"/>
                </a:lnTo>
                <a:cubicBezTo>
                  <a:pt x="169345" y="76217"/>
                  <a:pt x="174210" y="81083"/>
                  <a:pt x="174210" y="87105"/>
                </a:cubicBezTo>
                <a:cubicBezTo>
                  <a:pt x="174210" y="93128"/>
                  <a:pt x="169345" y="97993"/>
                  <a:pt x="163322" y="97993"/>
                </a:cubicBezTo>
                <a:lnTo>
                  <a:pt x="32664" y="97993"/>
                </a:lnTo>
                <a:cubicBezTo>
                  <a:pt x="26642" y="97993"/>
                  <a:pt x="21776" y="93128"/>
                  <a:pt x="21776" y="87105"/>
                </a:cubicBezTo>
                <a:close/>
                <a:moveTo>
                  <a:pt x="152434" y="141546"/>
                </a:moveTo>
                <a:cubicBezTo>
                  <a:pt x="152434" y="147568"/>
                  <a:pt x="147568" y="152434"/>
                  <a:pt x="141546" y="152434"/>
                </a:cubicBezTo>
                <a:lnTo>
                  <a:pt x="10888" y="152434"/>
                </a:lnTo>
                <a:cubicBezTo>
                  <a:pt x="4866" y="152434"/>
                  <a:pt x="0" y="147568"/>
                  <a:pt x="0" y="141546"/>
                </a:cubicBezTo>
                <a:cubicBezTo>
                  <a:pt x="0" y="135523"/>
                  <a:pt x="4866" y="130658"/>
                  <a:pt x="10888" y="130658"/>
                </a:cubicBezTo>
                <a:lnTo>
                  <a:pt x="141546" y="130658"/>
                </a:lnTo>
                <a:cubicBezTo>
                  <a:pt x="147568" y="130658"/>
                  <a:pt x="152434" y="135523"/>
                  <a:pt x="152434" y="141546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1"/>
          <p:cNvSpPr/>
          <p:nvPr/>
        </p:nvSpPr>
        <p:spPr>
          <a:xfrm>
            <a:off x="13047570" y="4235488"/>
            <a:ext cx="783946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操作流程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12742702" y="4540356"/>
            <a:ext cx="2798253" cy="43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数据流与控制流分离，并行访问多个 ChunkServer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12345285" y="5514845"/>
            <a:ext cx="3473318" cy="3514855"/>
          </a:xfrm>
          <a:custGeom>
            <a:avLst/>
            <a:gdLst/>
            <a:ahLst/>
            <a:cxnLst/>
            <a:rect l="l" t="t" r="r" b="b"/>
            <a:pathLst>
              <a:path w="3473318" h="4714567">
                <a:moveTo>
                  <a:pt x="87111" y="0"/>
                </a:moveTo>
                <a:lnTo>
                  <a:pt x="3386207" y="0"/>
                </a:lnTo>
                <a:cubicBezTo>
                  <a:pt x="3434317" y="0"/>
                  <a:pt x="3473318" y="39001"/>
                  <a:pt x="3473318" y="87111"/>
                </a:cubicBezTo>
                <a:lnTo>
                  <a:pt x="3473318" y="4627456"/>
                </a:lnTo>
                <a:cubicBezTo>
                  <a:pt x="3473318" y="4675566"/>
                  <a:pt x="3434317" y="4714567"/>
                  <a:pt x="3386207" y="4714567"/>
                </a:cubicBezTo>
                <a:lnTo>
                  <a:pt x="87111" y="4714567"/>
                </a:lnTo>
                <a:cubicBezTo>
                  <a:pt x="39001" y="4714567"/>
                  <a:pt x="0" y="4675566"/>
                  <a:pt x="0" y="4627456"/>
                </a:cubicBezTo>
                <a:lnTo>
                  <a:pt x="0" y="87111"/>
                </a:lnTo>
                <a:cubicBezTo>
                  <a:pt x="0" y="39033"/>
                  <a:pt x="39033" y="0"/>
                  <a:pt x="87111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4"/>
          <p:cNvSpPr/>
          <p:nvPr/>
        </p:nvSpPr>
        <p:spPr>
          <a:xfrm>
            <a:off x="12595712" y="5792493"/>
            <a:ext cx="195987" cy="195987"/>
          </a:xfrm>
          <a:custGeom>
            <a:avLst/>
            <a:gdLst/>
            <a:ahLst/>
            <a:cxnLst/>
            <a:rect l="l" t="t" r="r" b="b"/>
            <a:pathLst>
              <a:path w="195987" h="195987">
                <a:moveTo>
                  <a:pt x="24498" y="24498"/>
                </a:moveTo>
                <a:cubicBezTo>
                  <a:pt x="24498" y="17723"/>
                  <a:pt x="19024" y="12249"/>
                  <a:pt x="12249" y="12249"/>
                </a:cubicBezTo>
                <a:cubicBezTo>
                  <a:pt x="5474" y="12249"/>
                  <a:pt x="0" y="17723"/>
                  <a:pt x="0" y="24498"/>
                </a:cubicBezTo>
                <a:lnTo>
                  <a:pt x="0" y="153115"/>
                </a:lnTo>
                <a:cubicBezTo>
                  <a:pt x="0" y="170034"/>
                  <a:pt x="13704" y="183737"/>
                  <a:pt x="30623" y="183737"/>
                </a:cubicBezTo>
                <a:lnTo>
                  <a:pt x="183737" y="183737"/>
                </a:lnTo>
                <a:cubicBezTo>
                  <a:pt x="190513" y="183737"/>
                  <a:pt x="195987" y="178264"/>
                  <a:pt x="195987" y="171488"/>
                </a:cubicBezTo>
                <a:cubicBezTo>
                  <a:pt x="195987" y="164713"/>
                  <a:pt x="190513" y="159239"/>
                  <a:pt x="183737" y="159239"/>
                </a:cubicBezTo>
                <a:lnTo>
                  <a:pt x="30623" y="159239"/>
                </a:lnTo>
                <a:cubicBezTo>
                  <a:pt x="27254" y="159239"/>
                  <a:pt x="24498" y="156483"/>
                  <a:pt x="24498" y="153115"/>
                </a:cubicBezTo>
                <a:lnTo>
                  <a:pt x="24498" y="24498"/>
                </a:lnTo>
                <a:close/>
                <a:moveTo>
                  <a:pt x="180139" y="57648"/>
                </a:moveTo>
                <a:cubicBezTo>
                  <a:pt x="184924" y="52863"/>
                  <a:pt x="184924" y="45092"/>
                  <a:pt x="180139" y="40307"/>
                </a:cubicBezTo>
                <a:cubicBezTo>
                  <a:pt x="175354" y="35523"/>
                  <a:pt x="167584" y="35523"/>
                  <a:pt x="162799" y="40307"/>
                </a:cubicBezTo>
                <a:lnTo>
                  <a:pt x="122492" y="80653"/>
                </a:lnTo>
                <a:lnTo>
                  <a:pt x="100520" y="58719"/>
                </a:lnTo>
                <a:cubicBezTo>
                  <a:pt x="95735" y="53935"/>
                  <a:pt x="87964" y="53935"/>
                  <a:pt x="83179" y="58719"/>
                </a:cubicBezTo>
                <a:lnTo>
                  <a:pt x="46432" y="95467"/>
                </a:lnTo>
                <a:cubicBezTo>
                  <a:pt x="41647" y="100252"/>
                  <a:pt x="41647" y="108022"/>
                  <a:pt x="46432" y="112807"/>
                </a:cubicBezTo>
                <a:cubicBezTo>
                  <a:pt x="51217" y="117592"/>
                  <a:pt x="58987" y="117592"/>
                  <a:pt x="63772" y="112807"/>
                </a:cubicBezTo>
                <a:lnTo>
                  <a:pt x="91869" y="84711"/>
                </a:lnTo>
                <a:lnTo>
                  <a:pt x="113841" y="106683"/>
                </a:lnTo>
                <a:cubicBezTo>
                  <a:pt x="118625" y="111467"/>
                  <a:pt x="126396" y="111467"/>
                  <a:pt x="131181" y="106683"/>
                </a:cubicBezTo>
                <a:lnTo>
                  <a:pt x="180178" y="57686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5"/>
          <p:cNvSpPr/>
          <p:nvPr/>
        </p:nvSpPr>
        <p:spPr>
          <a:xfrm>
            <a:off x="12818919" y="5738052"/>
            <a:ext cx="2874470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性能优化效果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12568492" y="6173578"/>
            <a:ext cx="3026904" cy="827499"/>
          </a:xfrm>
          <a:custGeom>
            <a:avLst/>
            <a:gdLst/>
            <a:ahLst/>
            <a:cxnLst/>
            <a:rect l="l" t="t" r="r" b="b"/>
            <a:pathLst>
              <a:path w="3026904" h="827499">
                <a:moveTo>
                  <a:pt x="43551" y="0"/>
                </a:moveTo>
                <a:lnTo>
                  <a:pt x="2983353" y="0"/>
                </a:lnTo>
                <a:cubicBezTo>
                  <a:pt x="3007406" y="0"/>
                  <a:pt x="3026904" y="19499"/>
                  <a:pt x="3026904" y="43551"/>
                </a:cubicBezTo>
                <a:lnTo>
                  <a:pt x="3026904" y="783948"/>
                </a:lnTo>
                <a:cubicBezTo>
                  <a:pt x="3026904" y="808000"/>
                  <a:pt x="3007406" y="827499"/>
                  <a:pt x="2983353" y="827499"/>
                </a:cubicBezTo>
                <a:lnTo>
                  <a:pt x="43551" y="827499"/>
                </a:lnTo>
                <a:cubicBezTo>
                  <a:pt x="19499" y="827499"/>
                  <a:pt x="0" y="808000"/>
                  <a:pt x="0" y="783948"/>
                </a:cubicBezTo>
                <a:lnTo>
                  <a:pt x="0" y="43551"/>
                </a:lnTo>
                <a:cubicBezTo>
                  <a:pt x="0" y="19515"/>
                  <a:pt x="19515" y="0"/>
                  <a:pt x="43551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7"/>
          <p:cNvSpPr/>
          <p:nvPr/>
        </p:nvSpPr>
        <p:spPr>
          <a:xfrm>
            <a:off x="12699149" y="6326012"/>
            <a:ext cx="1480788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元数据缓存命中率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14952400" y="6304236"/>
            <a:ext cx="609736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95%+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12699149" y="6652656"/>
            <a:ext cx="2841806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大幅减少 Master 查询请求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12568492" y="7131735"/>
            <a:ext cx="3026904" cy="827499"/>
          </a:xfrm>
          <a:custGeom>
            <a:avLst/>
            <a:gdLst/>
            <a:ahLst/>
            <a:cxnLst/>
            <a:rect l="l" t="t" r="r" b="b"/>
            <a:pathLst>
              <a:path w="3026904" h="827499">
                <a:moveTo>
                  <a:pt x="43551" y="0"/>
                </a:moveTo>
                <a:lnTo>
                  <a:pt x="2983353" y="0"/>
                </a:lnTo>
                <a:cubicBezTo>
                  <a:pt x="3007406" y="0"/>
                  <a:pt x="3026904" y="19499"/>
                  <a:pt x="3026904" y="43551"/>
                </a:cubicBezTo>
                <a:lnTo>
                  <a:pt x="3026904" y="783948"/>
                </a:lnTo>
                <a:cubicBezTo>
                  <a:pt x="3026904" y="808000"/>
                  <a:pt x="3007406" y="827499"/>
                  <a:pt x="2983353" y="827499"/>
                </a:cubicBezTo>
                <a:lnTo>
                  <a:pt x="43551" y="827499"/>
                </a:lnTo>
                <a:cubicBezTo>
                  <a:pt x="19499" y="827499"/>
                  <a:pt x="0" y="808000"/>
                  <a:pt x="0" y="783948"/>
                </a:cubicBezTo>
                <a:lnTo>
                  <a:pt x="0" y="43551"/>
                </a:lnTo>
                <a:cubicBezTo>
                  <a:pt x="0" y="19515"/>
                  <a:pt x="19515" y="0"/>
                  <a:pt x="43551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1"/>
          <p:cNvSpPr/>
          <p:nvPr/>
        </p:nvSpPr>
        <p:spPr>
          <a:xfrm>
            <a:off x="12699149" y="7284169"/>
            <a:ext cx="958157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连接复用率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14941001" y="7262392"/>
            <a:ext cx="620624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80%+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12699149" y="7610813"/>
            <a:ext cx="2841806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减少连接建立和销毁开销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12568492" y="8089891"/>
            <a:ext cx="3026904" cy="827499"/>
          </a:xfrm>
          <a:custGeom>
            <a:avLst/>
            <a:gdLst/>
            <a:ahLst/>
            <a:cxnLst/>
            <a:rect l="l" t="t" r="r" b="b"/>
            <a:pathLst>
              <a:path w="3026904" h="827499">
                <a:moveTo>
                  <a:pt x="43551" y="0"/>
                </a:moveTo>
                <a:lnTo>
                  <a:pt x="2983353" y="0"/>
                </a:lnTo>
                <a:cubicBezTo>
                  <a:pt x="3007406" y="0"/>
                  <a:pt x="3026904" y="19499"/>
                  <a:pt x="3026904" y="43551"/>
                </a:cubicBezTo>
                <a:lnTo>
                  <a:pt x="3026904" y="783948"/>
                </a:lnTo>
                <a:cubicBezTo>
                  <a:pt x="3026904" y="808000"/>
                  <a:pt x="3007406" y="827499"/>
                  <a:pt x="2983353" y="827499"/>
                </a:cubicBezTo>
                <a:lnTo>
                  <a:pt x="43551" y="827499"/>
                </a:lnTo>
                <a:cubicBezTo>
                  <a:pt x="19499" y="827499"/>
                  <a:pt x="0" y="808000"/>
                  <a:pt x="0" y="783948"/>
                </a:cubicBezTo>
                <a:lnTo>
                  <a:pt x="0" y="43551"/>
                </a:lnTo>
                <a:cubicBezTo>
                  <a:pt x="0" y="19515"/>
                  <a:pt x="19515" y="0"/>
                  <a:pt x="43551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5"/>
          <p:cNvSpPr/>
          <p:nvPr/>
        </p:nvSpPr>
        <p:spPr>
          <a:xfrm>
            <a:off x="12699149" y="8242326"/>
            <a:ext cx="958157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预读命中率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14730299" y="8220549"/>
            <a:ext cx="827499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60-80%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12699149" y="8568970"/>
            <a:ext cx="2841806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顺序读取性能显著提升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35000"/>
            <a:ext cx="508000" cy="50800"/>
          </a:xfrm>
          <a:custGeom>
            <a:avLst/>
            <a:gdLst/>
            <a:ahLst/>
            <a:cxnLst/>
            <a:rect l="l" t="t" r="r" b="b"/>
            <a:pathLst>
              <a:path w="508000" h="50800">
                <a:moveTo>
                  <a:pt x="0" y="0"/>
                </a:moveTo>
                <a:lnTo>
                  <a:pt x="508000" y="0"/>
                </a:lnTo>
                <a:lnTo>
                  <a:pt x="508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168400" y="508000"/>
            <a:ext cx="240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D4A2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DESIGN DECISION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 Master 设计的优势与挑战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1625600"/>
            <a:ext cx="7467600" cy="4267200"/>
          </a:xfrm>
          <a:custGeom>
            <a:avLst/>
            <a:gdLst/>
            <a:ahLst/>
            <a:cxnLst/>
            <a:rect l="l" t="t" r="r" b="b"/>
            <a:pathLst>
              <a:path w="7467600" h="4267200">
                <a:moveTo>
                  <a:pt x="50800" y="0"/>
                </a:moveTo>
                <a:lnTo>
                  <a:pt x="7365998" y="0"/>
                </a:lnTo>
                <a:cubicBezTo>
                  <a:pt x="7422111" y="0"/>
                  <a:pt x="7467600" y="45489"/>
                  <a:pt x="7467600" y="101602"/>
                </a:cubicBezTo>
                <a:lnTo>
                  <a:pt x="7467600" y="4165598"/>
                </a:lnTo>
                <a:cubicBezTo>
                  <a:pt x="7467600" y="4221711"/>
                  <a:pt x="7422111" y="4267200"/>
                  <a:pt x="7365998" y="4267200"/>
                </a:cubicBezTo>
                <a:lnTo>
                  <a:pt x="50800" y="4267200"/>
                </a:lnTo>
                <a:cubicBezTo>
                  <a:pt x="22744" y="4267200"/>
                  <a:pt x="0" y="4244456"/>
                  <a:pt x="0" y="4216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3400" y="1625600"/>
            <a:ext cx="50800" cy="4267200"/>
          </a:xfrm>
          <a:custGeom>
            <a:avLst/>
            <a:gdLst/>
            <a:ahLst/>
            <a:cxnLst/>
            <a:rect l="l" t="t" r="r" b="b"/>
            <a:pathLst>
              <a:path w="50800" h="4267200">
                <a:moveTo>
                  <a:pt x="50800" y="0"/>
                </a:moveTo>
                <a:lnTo>
                  <a:pt x="50800" y="0"/>
                </a:lnTo>
                <a:lnTo>
                  <a:pt x="50800" y="4267200"/>
                </a:lnTo>
                <a:lnTo>
                  <a:pt x="50800" y="4267200"/>
                </a:lnTo>
                <a:cubicBezTo>
                  <a:pt x="22763" y="4267200"/>
                  <a:pt x="0" y="4244437"/>
                  <a:pt x="0" y="4216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44550" y="1943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04900" y="1879600"/>
            <a:ext cx="675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 Master 的核心优势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" y="2438400"/>
            <a:ext cx="6908800" cy="965200"/>
          </a:xfrm>
          <a:custGeom>
            <a:avLst/>
            <a:gdLst/>
            <a:ahLst/>
            <a:cxnLst/>
            <a:rect l="l" t="t" r="r" b="b"/>
            <a:pathLst>
              <a:path w="6908800" h="965200">
                <a:moveTo>
                  <a:pt x="50798" y="0"/>
                </a:moveTo>
                <a:lnTo>
                  <a:pt x="6858002" y="0"/>
                </a:lnTo>
                <a:cubicBezTo>
                  <a:pt x="6886057" y="0"/>
                  <a:pt x="6908800" y="22743"/>
                  <a:pt x="6908800" y="50798"/>
                </a:cubicBezTo>
                <a:lnTo>
                  <a:pt x="6908800" y="914402"/>
                </a:lnTo>
                <a:cubicBezTo>
                  <a:pt x="6908800" y="942457"/>
                  <a:pt x="6886057" y="965200"/>
                  <a:pt x="6858002" y="965200"/>
                </a:cubicBezTo>
                <a:lnTo>
                  <a:pt x="50798" y="965200"/>
                </a:lnTo>
                <a:cubicBezTo>
                  <a:pt x="22743" y="965200"/>
                  <a:pt x="0" y="942457"/>
                  <a:pt x="0" y="9144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38200" y="2438400"/>
            <a:ext cx="50800" cy="965200"/>
          </a:xfrm>
          <a:custGeom>
            <a:avLst/>
            <a:gdLst/>
            <a:ahLst/>
            <a:cxnLst/>
            <a:rect l="l" t="t" r="r" b="b"/>
            <a:pathLst>
              <a:path w="50800" h="965200">
                <a:moveTo>
                  <a:pt x="50800" y="0"/>
                </a:moveTo>
                <a:lnTo>
                  <a:pt x="50800" y="0"/>
                </a:lnTo>
                <a:lnTo>
                  <a:pt x="50800" y="965200"/>
                </a:lnTo>
                <a:lnTo>
                  <a:pt x="50800" y="965200"/>
                </a:lnTo>
                <a:cubicBezTo>
                  <a:pt x="22763" y="965200"/>
                  <a:pt x="0" y="942437"/>
                  <a:pt x="0" y="91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16000" y="2590800"/>
            <a:ext cx="668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全局优化决策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2946400"/>
            <a:ext cx="668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Master 拥有全局视图，能够做出最优的 chunk 放置和负载均衡决策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8200" y="3556000"/>
            <a:ext cx="6908800" cy="965200"/>
          </a:xfrm>
          <a:custGeom>
            <a:avLst/>
            <a:gdLst/>
            <a:ahLst/>
            <a:cxnLst/>
            <a:rect l="l" t="t" r="r" b="b"/>
            <a:pathLst>
              <a:path w="6908800" h="965200">
                <a:moveTo>
                  <a:pt x="50798" y="0"/>
                </a:moveTo>
                <a:lnTo>
                  <a:pt x="6858002" y="0"/>
                </a:lnTo>
                <a:cubicBezTo>
                  <a:pt x="6886057" y="0"/>
                  <a:pt x="6908800" y="22743"/>
                  <a:pt x="6908800" y="50798"/>
                </a:cubicBezTo>
                <a:lnTo>
                  <a:pt x="6908800" y="914402"/>
                </a:lnTo>
                <a:cubicBezTo>
                  <a:pt x="6908800" y="942457"/>
                  <a:pt x="6886057" y="965200"/>
                  <a:pt x="6858002" y="965200"/>
                </a:cubicBezTo>
                <a:lnTo>
                  <a:pt x="50798" y="965200"/>
                </a:lnTo>
                <a:cubicBezTo>
                  <a:pt x="22743" y="965200"/>
                  <a:pt x="0" y="942457"/>
                  <a:pt x="0" y="9144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38200" y="3556000"/>
            <a:ext cx="50800" cy="965200"/>
          </a:xfrm>
          <a:custGeom>
            <a:avLst/>
            <a:gdLst/>
            <a:ahLst/>
            <a:cxnLst/>
            <a:rect l="l" t="t" r="r" b="b"/>
            <a:pathLst>
              <a:path w="50800" h="965200">
                <a:moveTo>
                  <a:pt x="50800" y="0"/>
                </a:moveTo>
                <a:lnTo>
                  <a:pt x="50800" y="0"/>
                </a:lnTo>
                <a:lnTo>
                  <a:pt x="50800" y="965200"/>
                </a:lnTo>
                <a:lnTo>
                  <a:pt x="50800" y="965200"/>
                </a:lnTo>
                <a:cubicBezTo>
                  <a:pt x="22763" y="965200"/>
                  <a:pt x="0" y="942437"/>
                  <a:pt x="0" y="91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016000" y="3708400"/>
            <a:ext cx="668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简化一致性保证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4064000"/>
            <a:ext cx="668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避免分布式共识协议，元数据操作天然原子性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" y="4673600"/>
            <a:ext cx="6908800" cy="965200"/>
          </a:xfrm>
          <a:custGeom>
            <a:avLst/>
            <a:gdLst/>
            <a:ahLst/>
            <a:cxnLst/>
            <a:rect l="l" t="t" r="r" b="b"/>
            <a:pathLst>
              <a:path w="6908800" h="965200">
                <a:moveTo>
                  <a:pt x="50798" y="0"/>
                </a:moveTo>
                <a:lnTo>
                  <a:pt x="6858002" y="0"/>
                </a:lnTo>
                <a:cubicBezTo>
                  <a:pt x="6886057" y="0"/>
                  <a:pt x="6908800" y="22743"/>
                  <a:pt x="6908800" y="50798"/>
                </a:cubicBezTo>
                <a:lnTo>
                  <a:pt x="6908800" y="914402"/>
                </a:lnTo>
                <a:cubicBezTo>
                  <a:pt x="6908800" y="942457"/>
                  <a:pt x="6886057" y="965200"/>
                  <a:pt x="6858002" y="965200"/>
                </a:cubicBezTo>
                <a:lnTo>
                  <a:pt x="50798" y="965200"/>
                </a:lnTo>
                <a:cubicBezTo>
                  <a:pt x="22743" y="965200"/>
                  <a:pt x="0" y="942457"/>
                  <a:pt x="0" y="9144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38200" y="4673600"/>
            <a:ext cx="50800" cy="965200"/>
          </a:xfrm>
          <a:custGeom>
            <a:avLst/>
            <a:gdLst/>
            <a:ahLst/>
            <a:cxnLst/>
            <a:rect l="l" t="t" r="r" b="b"/>
            <a:pathLst>
              <a:path w="50800" h="965200">
                <a:moveTo>
                  <a:pt x="50800" y="0"/>
                </a:moveTo>
                <a:lnTo>
                  <a:pt x="50800" y="0"/>
                </a:lnTo>
                <a:lnTo>
                  <a:pt x="50800" y="965200"/>
                </a:lnTo>
                <a:lnTo>
                  <a:pt x="50800" y="965200"/>
                </a:lnTo>
                <a:cubicBezTo>
                  <a:pt x="22763" y="965200"/>
                  <a:pt x="0" y="942437"/>
                  <a:pt x="0" y="91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016000" y="4826000"/>
            <a:ext cx="668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运维简化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5181600"/>
            <a:ext cx="668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单点调试和配置管理，降低系统复杂度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80400" y="1625600"/>
            <a:ext cx="7467600" cy="3657600"/>
          </a:xfrm>
          <a:custGeom>
            <a:avLst/>
            <a:gdLst/>
            <a:ahLst/>
            <a:cxnLst/>
            <a:rect l="l" t="t" r="r" b="b"/>
            <a:pathLst>
              <a:path w="7467600" h="3657600">
                <a:moveTo>
                  <a:pt x="50800" y="0"/>
                </a:moveTo>
                <a:lnTo>
                  <a:pt x="7365992" y="0"/>
                </a:lnTo>
                <a:cubicBezTo>
                  <a:pt x="7422108" y="0"/>
                  <a:pt x="7467600" y="45492"/>
                  <a:pt x="7467600" y="101608"/>
                </a:cubicBezTo>
                <a:lnTo>
                  <a:pt x="7467600" y="3555992"/>
                </a:lnTo>
                <a:cubicBezTo>
                  <a:pt x="7467600" y="3612108"/>
                  <a:pt x="7422108" y="3657600"/>
                  <a:pt x="7365992" y="3657600"/>
                </a:cubicBezTo>
                <a:lnTo>
                  <a:pt x="50800" y="3657600"/>
                </a:lnTo>
                <a:cubicBezTo>
                  <a:pt x="22763" y="3657600"/>
                  <a:pt x="0" y="3634837"/>
                  <a:pt x="0" y="3606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280400" y="1625600"/>
            <a:ext cx="50800" cy="3657600"/>
          </a:xfrm>
          <a:custGeom>
            <a:avLst/>
            <a:gdLst/>
            <a:ahLst/>
            <a:cxnLst/>
            <a:rect l="l" t="t" r="r" b="b"/>
            <a:pathLst>
              <a:path w="50800" h="3657600">
                <a:moveTo>
                  <a:pt x="50800" y="0"/>
                </a:moveTo>
                <a:lnTo>
                  <a:pt x="50800" y="0"/>
                </a:lnTo>
                <a:lnTo>
                  <a:pt x="50800" y="3657600"/>
                </a:lnTo>
                <a:lnTo>
                  <a:pt x="50800" y="3657600"/>
                </a:lnTo>
                <a:cubicBezTo>
                  <a:pt x="22763" y="3657600"/>
                  <a:pt x="0" y="3634837"/>
                  <a:pt x="0" y="3606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591550" y="1943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851900" y="1879600"/>
            <a:ext cx="675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瓶颈避免策略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85200" y="2438400"/>
            <a:ext cx="6908800" cy="1219200"/>
          </a:xfrm>
          <a:custGeom>
            <a:avLst/>
            <a:gdLst/>
            <a:ahLst/>
            <a:cxnLst/>
            <a:rect l="l" t="t" r="r" b="b"/>
            <a:pathLst>
              <a:path w="6908800" h="1219200">
                <a:moveTo>
                  <a:pt x="50800" y="0"/>
                </a:moveTo>
                <a:lnTo>
                  <a:pt x="6857996" y="0"/>
                </a:lnTo>
                <a:cubicBezTo>
                  <a:pt x="6886054" y="0"/>
                  <a:pt x="6908800" y="22746"/>
                  <a:pt x="6908800" y="50804"/>
                </a:cubicBezTo>
                <a:lnTo>
                  <a:pt x="6908800" y="1168396"/>
                </a:lnTo>
                <a:cubicBezTo>
                  <a:pt x="6908800" y="1196454"/>
                  <a:pt x="6886054" y="1219200"/>
                  <a:pt x="6857996" y="1219200"/>
                </a:cubicBezTo>
                <a:lnTo>
                  <a:pt x="50800" y="1219200"/>
                </a:lnTo>
                <a:cubicBezTo>
                  <a:pt x="22744" y="1219200"/>
                  <a:pt x="0" y="1196456"/>
                  <a:pt x="0" y="116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585200" y="2438400"/>
            <a:ext cx="50800" cy="1219200"/>
          </a:xfrm>
          <a:custGeom>
            <a:avLst/>
            <a:gdLst/>
            <a:ahLst/>
            <a:cxnLst/>
            <a:rect l="l" t="t" r="r" b="b"/>
            <a:pathLst>
              <a:path w="50800" h="1219200">
                <a:moveTo>
                  <a:pt x="50800" y="0"/>
                </a:moveTo>
                <a:lnTo>
                  <a:pt x="50800" y="0"/>
                </a:lnTo>
                <a:lnTo>
                  <a:pt x="50800" y="1219200"/>
                </a:lnTo>
                <a:lnTo>
                  <a:pt x="50800" y="1219200"/>
                </a:lnTo>
                <a:cubicBezTo>
                  <a:pt x="22763" y="1219200"/>
                  <a:pt x="0" y="1196437"/>
                  <a:pt x="0" y="116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763000" y="2590800"/>
            <a:ext cx="668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架构层面的分离策略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763000" y="2946400"/>
            <a:ext cx="666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数据流与控制流分离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：Master 只负责"指挥"，不参与"搬运"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763000" y="3251200"/>
            <a:ext cx="666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读写路径优化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：Master 只参与控制决策，不处理大量数据流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585200" y="3810000"/>
            <a:ext cx="6908800" cy="1219200"/>
          </a:xfrm>
          <a:custGeom>
            <a:avLst/>
            <a:gdLst/>
            <a:ahLst/>
            <a:cxnLst/>
            <a:rect l="l" t="t" r="r" b="b"/>
            <a:pathLst>
              <a:path w="6908800" h="1219200">
                <a:moveTo>
                  <a:pt x="50800" y="0"/>
                </a:moveTo>
                <a:lnTo>
                  <a:pt x="6857996" y="0"/>
                </a:lnTo>
                <a:cubicBezTo>
                  <a:pt x="6886054" y="0"/>
                  <a:pt x="6908800" y="22746"/>
                  <a:pt x="6908800" y="50804"/>
                </a:cubicBezTo>
                <a:lnTo>
                  <a:pt x="6908800" y="1168396"/>
                </a:lnTo>
                <a:cubicBezTo>
                  <a:pt x="6908800" y="1196454"/>
                  <a:pt x="6886054" y="1219200"/>
                  <a:pt x="6857996" y="1219200"/>
                </a:cubicBezTo>
                <a:lnTo>
                  <a:pt x="50800" y="1219200"/>
                </a:lnTo>
                <a:cubicBezTo>
                  <a:pt x="22744" y="1219200"/>
                  <a:pt x="0" y="1196456"/>
                  <a:pt x="0" y="116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585200" y="3810000"/>
            <a:ext cx="50800" cy="1219200"/>
          </a:xfrm>
          <a:custGeom>
            <a:avLst/>
            <a:gdLst/>
            <a:ahLst/>
            <a:cxnLst/>
            <a:rect l="l" t="t" r="r" b="b"/>
            <a:pathLst>
              <a:path w="50800" h="1219200">
                <a:moveTo>
                  <a:pt x="50800" y="0"/>
                </a:moveTo>
                <a:lnTo>
                  <a:pt x="50800" y="0"/>
                </a:lnTo>
                <a:lnTo>
                  <a:pt x="50800" y="1219200"/>
                </a:lnTo>
                <a:lnTo>
                  <a:pt x="50800" y="1219200"/>
                </a:lnTo>
                <a:cubicBezTo>
                  <a:pt x="22763" y="1219200"/>
                  <a:pt x="0" y="1196437"/>
                  <a:pt x="0" y="116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763000" y="3962400"/>
            <a:ext cx="668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客户端缓存策略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763000" y="4318000"/>
            <a:ext cx="666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元数据缓存机制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：LRU + TTL，减少 Master 查询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763000" y="4622800"/>
            <a:ext cx="666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智能预取优化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：命中率提升 20-30%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61350" y="5492750"/>
            <a:ext cx="7480300" cy="2908300"/>
          </a:xfrm>
          <a:custGeom>
            <a:avLst/>
            <a:gdLst/>
            <a:ahLst/>
            <a:cxnLst/>
            <a:rect l="l" t="t" r="r" b="b"/>
            <a:pathLst>
              <a:path w="7480300" h="2908300">
                <a:moveTo>
                  <a:pt x="101587" y="0"/>
                </a:moveTo>
                <a:lnTo>
                  <a:pt x="7378713" y="0"/>
                </a:lnTo>
                <a:cubicBezTo>
                  <a:pt x="7434818" y="0"/>
                  <a:pt x="7480300" y="45482"/>
                  <a:pt x="7480300" y="101587"/>
                </a:cubicBezTo>
                <a:lnTo>
                  <a:pt x="7480300" y="2806713"/>
                </a:lnTo>
                <a:cubicBezTo>
                  <a:pt x="7480300" y="2862818"/>
                  <a:pt x="7434818" y="2908300"/>
                  <a:pt x="7378713" y="2908300"/>
                </a:cubicBezTo>
                <a:lnTo>
                  <a:pt x="101587" y="2908300"/>
                </a:lnTo>
                <a:cubicBezTo>
                  <a:pt x="45482" y="2908300"/>
                  <a:pt x="0" y="2862818"/>
                  <a:pt x="0" y="2806713"/>
                </a:cubicBezTo>
                <a:lnTo>
                  <a:pt x="0" y="101587"/>
                </a:lnTo>
                <a:cubicBezTo>
                  <a:pt x="0" y="45520"/>
                  <a:pt x="45520" y="0"/>
                  <a:pt x="101587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567738" y="58166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5009" y="14288"/>
                </a:moveTo>
                <a:lnTo>
                  <a:pt x="10716" y="14288"/>
                </a:lnTo>
                <a:cubicBezTo>
                  <a:pt x="4777" y="14288"/>
                  <a:pt x="0" y="19065"/>
                  <a:pt x="0" y="25003"/>
                </a:cubicBezTo>
                <a:lnTo>
                  <a:pt x="0" y="89297"/>
                </a:lnTo>
                <a:cubicBezTo>
                  <a:pt x="0" y="93628"/>
                  <a:pt x="2590" y="97557"/>
                  <a:pt x="6608" y="99209"/>
                </a:cubicBezTo>
                <a:cubicBezTo>
                  <a:pt x="10626" y="100861"/>
                  <a:pt x="15225" y="99923"/>
                  <a:pt x="18306" y="96887"/>
                </a:cubicBezTo>
                <a:lnTo>
                  <a:pt x="36165" y="79028"/>
                </a:lnTo>
                <a:lnTo>
                  <a:pt x="71438" y="114300"/>
                </a:lnTo>
                <a:lnTo>
                  <a:pt x="36165" y="149572"/>
                </a:lnTo>
                <a:lnTo>
                  <a:pt x="18306" y="131713"/>
                </a:lnTo>
                <a:cubicBezTo>
                  <a:pt x="15225" y="128632"/>
                  <a:pt x="10626" y="127739"/>
                  <a:pt x="6608" y="129391"/>
                </a:cubicBezTo>
                <a:cubicBezTo>
                  <a:pt x="2590" y="131043"/>
                  <a:pt x="0" y="134972"/>
                  <a:pt x="0" y="139303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lnTo>
                  <a:pt x="75009" y="214313"/>
                </a:lnTo>
                <a:cubicBezTo>
                  <a:pt x="79340" y="214313"/>
                  <a:pt x="83269" y="211723"/>
                  <a:pt x="84921" y="207705"/>
                </a:cubicBezTo>
                <a:cubicBezTo>
                  <a:pt x="86573" y="203686"/>
                  <a:pt x="85680" y="199087"/>
                  <a:pt x="82600" y="196007"/>
                </a:cubicBezTo>
                <a:lnTo>
                  <a:pt x="64740" y="178147"/>
                </a:lnTo>
                <a:lnTo>
                  <a:pt x="100013" y="142875"/>
                </a:lnTo>
                <a:lnTo>
                  <a:pt x="135285" y="178147"/>
                </a:lnTo>
                <a:lnTo>
                  <a:pt x="117425" y="196007"/>
                </a:lnTo>
                <a:cubicBezTo>
                  <a:pt x="114345" y="199087"/>
                  <a:pt x="113452" y="203686"/>
                  <a:pt x="115104" y="207705"/>
                </a:cubicBezTo>
                <a:cubicBezTo>
                  <a:pt x="116756" y="211723"/>
                  <a:pt x="120685" y="214313"/>
                  <a:pt x="125016" y="214313"/>
                </a:cubicBezTo>
                <a:lnTo>
                  <a:pt x="189309" y="214313"/>
                </a:lnTo>
                <a:cubicBezTo>
                  <a:pt x="195248" y="214313"/>
                  <a:pt x="200025" y="209535"/>
                  <a:pt x="200025" y="203597"/>
                </a:cubicBezTo>
                <a:lnTo>
                  <a:pt x="200025" y="139303"/>
                </a:lnTo>
                <a:cubicBezTo>
                  <a:pt x="200025" y="134972"/>
                  <a:pt x="197435" y="131043"/>
                  <a:pt x="193417" y="129391"/>
                </a:cubicBezTo>
                <a:cubicBezTo>
                  <a:pt x="189399" y="127739"/>
                  <a:pt x="184800" y="128632"/>
                  <a:pt x="181719" y="131713"/>
                </a:cubicBezTo>
                <a:lnTo>
                  <a:pt x="163860" y="149572"/>
                </a:lnTo>
                <a:lnTo>
                  <a:pt x="128588" y="114300"/>
                </a:lnTo>
                <a:lnTo>
                  <a:pt x="163860" y="79028"/>
                </a:lnTo>
                <a:lnTo>
                  <a:pt x="181719" y="96887"/>
                </a:lnTo>
                <a:cubicBezTo>
                  <a:pt x="184800" y="99968"/>
                  <a:pt x="189399" y="100861"/>
                  <a:pt x="193417" y="99209"/>
                </a:cubicBezTo>
                <a:cubicBezTo>
                  <a:pt x="197435" y="97557"/>
                  <a:pt x="200025" y="93628"/>
                  <a:pt x="200025" y="89297"/>
                </a:cubicBezTo>
                <a:lnTo>
                  <a:pt x="200025" y="25003"/>
                </a:lnTo>
                <a:cubicBezTo>
                  <a:pt x="200025" y="19065"/>
                  <a:pt x="195248" y="14288"/>
                  <a:pt x="189309" y="14288"/>
                </a:cubicBezTo>
                <a:lnTo>
                  <a:pt x="125016" y="14288"/>
                </a:lnTo>
                <a:cubicBezTo>
                  <a:pt x="120685" y="14288"/>
                  <a:pt x="116756" y="16877"/>
                  <a:pt x="115104" y="20895"/>
                </a:cubicBezTo>
                <a:cubicBezTo>
                  <a:pt x="113452" y="24914"/>
                  <a:pt x="114389" y="29513"/>
                  <a:pt x="117425" y="32593"/>
                </a:cubicBezTo>
                <a:lnTo>
                  <a:pt x="135285" y="50453"/>
                </a:lnTo>
                <a:lnTo>
                  <a:pt x="100013" y="85725"/>
                </a:lnTo>
                <a:lnTo>
                  <a:pt x="64740" y="50453"/>
                </a:lnTo>
                <a:lnTo>
                  <a:pt x="82600" y="32593"/>
                </a:lnTo>
                <a:cubicBezTo>
                  <a:pt x="85680" y="29513"/>
                  <a:pt x="86573" y="24914"/>
                  <a:pt x="84921" y="20895"/>
                </a:cubicBezTo>
                <a:cubicBezTo>
                  <a:pt x="83269" y="16877"/>
                  <a:pt x="79340" y="14288"/>
                  <a:pt x="75009" y="14288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813800" y="5753100"/>
            <a:ext cx="678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Master 扩展策略</a:t>
            </a:r>
            <a:endParaRPr lang="en-US" sz="16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21700" y="6261100"/>
          <a:ext cx="6959600" cy="18796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扩展类型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扩展方法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效果说明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垂直扩展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硬件升级（内存、CPU、SSD）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支持更多元数据、加速操作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水平扩展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影子 Master 分担读负载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提高读操作并发能力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架构优化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层次化元数据管理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减少单点压力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08000" y="11811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152400" y="0"/>
                </a:moveTo>
                <a:lnTo>
                  <a:pt x="1066800" y="0"/>
                </a:lnTo>
                <a:cubicBezTo>
                  <a:pt x="1150912" y="0"/>
                  <a:pt x="1219200" y="68288"/>
                  <a:pt x="1219200" y="152400"/>
                </a:cubicBezTo>
                <a:lnTo>
                  <a:pt x="1219200" y="1066800"/>
                </a:lnTo>
                <a:cubicBezTo>
                  <a:pt x="1219200" y="1150912"/>
                  <a:pt x="1150912" y="1219200"/>
                  <a:pt x="1066800" y="1219200"/>
                </a:cubicBezTo>
                <a:lnTo>
                  <a:pt x="152400" y="1219200"/>
                </a:lnTo>
                <a:cubicBezTo>
                  <a:pt x="68288" y="1219200"/>
                  <a:pt x="0" y="1150912"/>
                  <a:pt x="0" y="10668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43545" y="1485900"/>
            <a:ext cx="1054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32000" y="1282700"/>
            <a:ext cx="101600" cy="1016000"/>
          </a:xfrm>
          <a:custGeom>
            <a:avLst/>
            <a:gdLst/>
            <a:ahLst/>
            <a:cxnLst/>
            <a:rect l="l" t="t" r="r" b="b"/>
            <a:pathLst>
              <a:path w="101600" h="1016000">
                <a:moveTo>
                  <a:pt x="0" y="0"/>
                </a:moveTo>
                <a:lnTo>
                  <a:pt x="101600" y="0"/>
                </a:lnTo>
                <a:lnTo>
                  <a:pt x="1016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08000" y="2806700"/>
            <a:ext cx="1061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GFS 关键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操作流程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397500"/>
            <a:ext cx="2438400" cy="76200"/>
          </a:xfrm>
          <a:custGeom>
            <a:avLst/>
            <a:gdLst/>
            <a:ahLst/>
            <a:cxnLst/>
            <a:rect l="l" t="t" r="r" b="b"/>
            <a:pathLst>
              <a:path w="2438400" h="76200">
                <a:moveTo>
                  <a:pt x="0" y="0"/>
                </a:moveTo>
                <a:lnTo>
                  <a:pt x="2438400" y="0"/>
                </a:lnTo>
                <a:lnTo>
                  <a:pt x="2438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08000" y="5880100"/>
            <a:ext cx="8686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深入剖析读取、写入、追加等核心操作的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实现机制和性能优化策略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14350" y="7283450"/>
            <a:ext cx="2070100" cy="673100"/>
          </a:xfrm>
          <a:custGeom>
            <a:avLst/>
            <a:gdLst/>
            <a:ahLst/>
            <a:cxnLst/>
            <a:rect l="l" t="t" r="r" b="b"/>
            <a:pathLst>
              <a:path w="2070100" h="673100">
                <a:moveTo>
                  <a:pt x="101598" y="0"/>
                </a:moveTo>
                <a:lnTo>
                  <a:pt x="1968502" y="0"/>
                </a:lnTo>
                <a:cubicBezTo>
                  <a:pt x="2024613" y="0"/>
                  <a:pt x="2070100" y="45487"/>
                  <a:pt x="2070100" y="101598"/>
                </a:cubicBezTo>
                <a:lnTo>
                  <a:pt x="2070100" y="571502"/>
                </a:lnTo>
                <a:cubicBezTo>
                  <a:pt x="2070100" y="627613"/>
                  <a:pt x="2024613" y="673100"/>
                  <a:pt x="1968502" y="673100"/>
                </a:cubicBezTo>
                <a:lnTo>
                  <a:pt x="101598" y="673100"/>
                </a:lnTo>
                <a:cubicBezTo>
                  <a:pt x="45487" y="673100"/>
                  <a:pt x="0" y="627613"/>
                  <a:pt x="0" y="5715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857250" y="7493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70098"/>
                </a:moveTo>
                <a:lnTo>
                  <a:pt x="127000" y="223540"/>
                </a:lnTo>
                <a:lnTo>
                  <a:pt x="127248" y="223441"/>
                </a:lnTo>
                <a:cubicBezTo>
                  <a:pt x="154335" y="212179"/>
                  <a:pt x="183406" y="206375"/>
                  <a:pt x="212725" y="206375"/>
                </a:cubicBezTo>
                <a:lnTo>
                  <a:pt x="222250" y="206375"/>
                </a:lnTo>
                <a:lnTo>
                  <a:pt x="222250" y="47625"/>
                </a:lnTo>
                <a:lnTo>
                  <a:pt x="212725" y="47625"/>
                </a:lnTo>
                <a:cubicBezTo>
                  <a:pt x="191790" y="47625"/>
                  <a:pt x="171004" y="51792"/>
                  <a:pt x="151656" y="59829"/>
                </a:cubicBezTo>
                <a:cubicBezTo>
                  <a:pt x="143321" y="63302"/>
                  <a:pt x="135086" y="66725"/>
                  <a:pt x="127000" y="70098"/>
                </a:cubicBezTo>
                <a:close/>
                <a:moveTo>
                  <a:pt x="114548" y="30510"/>
                </a:moveTo>
                <a:lnTo>
                  <a:pt x="127000" y="35719"/>
                </a:lnTo>
                <a:lnTo>
                  <a:pt x="139452" y="30510"/>
                </a:lnTo>
                <a:cubicBezTo>
                  <a:pt x="162669" y="20836"/>
                  <a:pt x="187573" y="15875"/>
                  <a:pt x="212725" y="15875"/>
                </a:cubicBezTo>
                <a:lnTo>
                  <a:pt x="230188" y="15875"/>
                </a:lnTo>
                <a:cubicBezTo>
                  <a:pt x="243334" y="15875"/>
                  <a:pt x="254000" y="26541"/>
                  <a:pt x="254000" y="39688"/>
                </a:cubicBezTo>
                <a:lnTo>
                  <a:pt x="254000" y="214313"/>
                </a:lnTo>
                <a:cubicBezTo>
                  <a:pt x="254000" y="227459"/>
                  <a:pt x="243334" y="238125"/>
                  <a:pt x="230188" y="238125"/>
                </a:cubicBezTo>
                <a:lnTo>
                  <a:pt x="212725" y="238125"/>
                </a:lnTo>
                <a:cubicBezTo>
                  <a:pt x="187573" y="238125"/>
                  <a:pt x="162669" y="243086"/>
                  <a:pt x="139452" y="252760"/>
                </a:cubicBezTo>
                <a:lnTo>
                  <a:pt x="133102" y="255389"/>
                </a:lnTo>
                <a:cubicBezTo>
                  <a:pt x="129183" y="257026"/>
                  <a:pt x="124817" y="257026"/>
                  <a:pt x="120898" y="255389"/>
                </a:cubicBezTo>
                <a:lnTo>
                  <a:pt x="114548" y="252760"/>
                </a:lnTo>
                <a:cubicBezTo>
                  <a:pt x="91331" y="243086"/>
                  <a:pt x="66427" y="238125"/>
                  <a:pt x="41275" y="238125"/>
                </a:cubicBezTo>
                <a:lnTo>
                  <a:pt x="23812" y="238125"/>
                </a:lnTo>
                <a:cubicBezTo>
                  <a:pt x="10666" y="238125"/>
                  <a:pt x="0" y="227459"/>
                  <a:pt x="0" y="214313"/>
                </a:cubicBezTo>
                <a:lnTo>
                  <a:pt x="0" y="39688"/>
                </a:lnTo>
                <a:cubicBezTo>
                  <a:pt x="0" y="26541"/>
                  <a:pt x="10666" y="15875"/>
                  <a:pt x="23812" y="15875"/>
                </a:cubicBezTo>
                <a:lnTo>
                  <a:pt x="41275" y="15875"/>
                </a:lnTo>
                <a:cubicBezTo>
                  <a:pt x="66427" y="15875"/>
                  <a:pt x="91331" y="20836"/>
                  <a:pt x="114548" y="3051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1354138" y="74676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读取流程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795588" y="7283450"/>
            <a:ext cx="2070100" cy="673100"/>
          </a:xfrm>
          <a:custGeom>
            <a:avLst/>
            <a:gdLst/>
            <a:ahLst/>
            <a:cxnLst/>
            <a:rect l="l" t="t" r="r" b="b"/>
            <a:pathLst>
              <a:path w="2070100" h="673100">
                <a:moveTo>
                  <a:pt x="101598" y="0"/>
                </a:moveTo>
                <a:lnTo>
                  <a:pt x="1968502" y="0"/>
                </a:lnTo>
                <a:cubicBezTo>
                  <a:pt x="2024613" y="0"/>
                  <a:pt x="2070100" y="45487"/>
                  <a:pt x="2070100" y="101598"/>
                </a:cubicBezTo>
                <a:lnTo>
                  <a:pt x="2070100" y="571502"/>
                </a:lnTo>
                <a:cubicBezTo>
                  <a:pt x="2070100" y="627613"/>
                  <a:pt x="2024613" y="673100"/>
                  <a:pt x="1968502" y="673100"/>
                </a:cubicBezTo>
                <a:lnTo>
                  <a:pt x="101598" y="673100"/>
                </a:lnTo>
                <a:cubicBezTo>
                  <a:pt x="45487" y="673100"/>
                  <a:pt x="0" y="627613"/>
                  <a:pt x="0" y="5715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3138488" y="7493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75071" y="10517"/>
                </a:moveTo>
                <a:lnTo>
                  <a:pt x="152797" y="32792"/>
                </a:lnTo>
                <a:lnTo>
                  <a:pt x="221208" y="101203"/>
                </a:lnTo>
                <a:lnTo>
                  <a:pt x="243483" y="78929"/>
                </a:lnTo>
                <a:cubicBezTo>
                  <a:pt x="250230" y="72231"/>
                  <a:pt x="254000" y="63103"/>
                  <a:pt x="254000" y="53578"/>
                </a:cubicBezTo>
                <a:cubicBezTo>
                  <a:pt x="254000" y="44053"/>
                  <a:pt x="250230" y="34925"/>
                  <a:pt x="243483" y="28228"/>
                </a:cubicBezTo>
                <a:lnTo>
                  <a:pt x="225772" y="10517"/>
                </a:lnTo>
                <a:cubicBezTo>
                  <a:pt x="219075" y="3770"/>
                  <a:pt x="209947" y="0"/>
                  <a:pt x="200422" y="0"/>
                </a:cubicBezTo>
                <a:cubicBezTo>
                  <a:pt x="190897" y="0"/>
                  <a:pt x="181769" y="3770"/>
                  <a:pt x="175071" y="10517"/>
                </a:cubicBezTo>
                <a:close/>
                <a:moveTo>
                  <a:pt x="135979" y="49609"/>
                </a:moveTo>
                <a:lnTo>
                  <a:pt x="29220" y="156319"/>
                </a:lnTo>
                <a:cubicBezTo>
                  <a:pt x="23912" y="161627"/>
                  <a:pt x="20042" y="168275"/>
                  <a:pt x="18008" y="175518"/>
                </a:cubicBezTo>
                <a:lnTo>
                  <a:pt x="446" y="238919"/>
                </a:lnTo>
                <a:cubicBezTo>
                  <a:pt x="-695" y="243036"/>
                  <a:pt x="446" y="247501"/>
                  <a:pt x="3522" y="250527"/>
                </a:cubicBezTo>
                <a:cubicBezTo>
                  <a:pt x="6598" y="253554"/>
                  <a:pt x="11013" y="254744"/>
                  <a:pt x="15131" y="253603"/>
                </a:cubicBezTo>
                <a:lnTo>
                  <a:pt x="78532" y="235992"/>
                </a:lnTo>
                <a:cubicBezTo>
                  <a:pt x="85775" y="233958"/>
                  <a:pt x="92373" y="230138"/>
                  <a:pt x="97730" y="224780"/>
                </a:cubicBezTo>
                <a:lnTo>
                  <a:pt x="204391" y="118021"/>
                </a:lnTo>
                <a:lnTo>
                  <a:pt x="135979" y="49609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3635375" y="74676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写入流程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076825" y="7283450"/>
            <a:ext cx="2070100" cy="673100"/>
          </a:xfrm>
          <a:custGeom>
            <a:avLst/>
            <a:gdLst/>
            <a:ahLst/>
            <a:cxnLst/>
            <a:rect l="l" t="t" r="r" b="b"/>
            <a:pathLst>
              <a:path w="2070100" h="673100">
                <a:moveTo>
                  <a:pt x="101598" y="0"/>
                </a:moveTo>
                <a:lnTo>
                  <a:pt x="1968502" y="0"/>
                </a:lnTo>
                <a:cubicBezTo>
                  <a:pt x="2024613" y="0"/>
                  <a:pt x="2070100" y="45487"/>
                  <a:pt x="2070100" y="101598"/>
                </a:cubicBezTo>
                <a:lnTo>
                  <a:pt x="2070100" y="571502"/>
                </a:lnTo>
                <a:cubicBezTo>
                  <a:pt x="2070100" y="627613"/>
                  <a:pt x="2024613" y="673100"/>
                  <a:pt x="1968502" y="673100"/>
                </a:cubicBezTo>
                <a:lnTo>
                  <a:pt x="101598" y="673100"/>
                </a:lnTo>
                <a:cubicBezTo>
                  <a:pt x="45487" y="673100"/>
                  <a:pt x="0" y="627613"/>
                  <a:pt x="0" y="571502"/>
                </a:cubicBezTo>
                <a:lnTo>
                  <a:pt x="0" y="101598"/>
                </a:lnTo>
                <a:cubicBezTo>
                  <a:pt x="0" y="45487"/>
                  <a:pt x="45487" y="0"/>
                  <a:pt x="10159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D4A23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5435600" y="74930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27000" y="31750"/>
                </a:moveTo>
                <a:cubicBezTo>
                  <a:pt x="127000" y="22969"/>
                  <a:pt x="119906" y="15875"/>
                  <a:pt x="111125" y="15875"/>
                </a:cubicBezTo>
                <a:cubicBezTo>
                  <a:pt x="102344" y="15875"/>
                  <a:pt x="95250" y="22969"/>
                  <a:pt x="95250" y="31750"/>
                </a:cubicBezTo>
                <a:lnTo>
                  <a:pt x="95250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95250" y="142875"/>
                </a:lnTo>
                <a:lnTo>
                  <a:pt x="95250" y="222250"/>
                </a:lnTo>
                <a:cubicBezTo>
                  <a:pt x="95250" y="231031"/>
                  <a:pt x="102344" y="238125"/>
                  <a:pt x="111125" y="238125"/>
                </a:cubicBezTo>
                <a:cubicBezTo>
                  <a:pt x="119906" y="238125"/>
                  <a:pt x="127000" y="231031"/>
                  <a:pt x="127000" y="222250"/>
                </a:cubicBezTo>
                <a:lnTo>
                  <a:pt x="127000" y="142875"/>
                </a:lnTo>
                <a:lnTo>
                  <a:pt x="206375" y="142875"/>
                </a:lnTo>
                <a:cubicBezTo>
                  <a:pt x="215156" y="142875"/>
                  <a:pt x="222250" y="135781"/>
                  <a:pt x="222250" y="127000"/>
                </a:cubicBezTo>
                <a:cubicBezTo>
                  <a:pt x="222250" y="118219"/>
                  <a:pt x="215156" y="111125"/>
                  <a:pt x="206375" y="111125"/>
                </a:cubicBezTo>
                <a:lnTo>
                  <a:pt x="127000" y="111125"/>
                </a:lnTo>
                <a:lnTo>
                  <a:pt x="127000" y="3175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5916613" y="74676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追加操作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529167"/>
            <a:ext cx="423333" cy="42333"/>
          </a:xfrm>
          <a:custGeom>
            <a:avLst/>
            <a:gdLst/>
            <a:ahLst/>
            <a:cxnLst/>
            <a:rect l="l" t="t" r="r" b="b"/>
            <a:pathLst>
              <a:path w="423333" h="42333">
                <a:moveTo>
                  <a:pt x="0" y="0"/>
                </a:moveTo>
                <a:lnTo>
                  <a:pt x="423333" y="0"/>
                </a:lnTo>
                <a:lnTo>
                  <a:pt x="423333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973667" y="423333"/>
            <a:ext cx="1799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D4A2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 DESIGN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762000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操作流程设计哲学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44500" y="1354667"/>
            <a:ext cx="10107083" cy="2963333"/>
          </a:xfrm>
          <a:custGeom>
            <a:avLst/>
            <a:gdLst/>
            <a:ahLst/>
            <a:cxnLst/>
            <a:rect l="l" t="t" r="r" b="b"/>
            <a:pathLst>
              <a:path w="10107083" h="2963333">
                <a:moveTo>
                  <a:pt x="42333" y="0"/>
                </a:moveTo>
                <a:lnTo>
                  <a:pt x="10022421" y="0"/>
                </a:lnTo>
                <a:cubicBezTo>
                  <a:pt x="10069179" y="0"/>
                  <a:pt x="10107083" y="37905"/>
                  <a:pt x="10107083" y="84662"/>
                </a:cubicBezTo>
                <a:lnTo>
                  <a:pt x="10107083" y="2878671"/>
                </a:lnTo>
                <a:cubicBezTo>
                  <a:pt x="10107083" y="2925429"/>
                  <a:pt x="10069179" y="2963333"/>
                  <a:pt x="10022421" y="2963333"/>
                </a:cubicBezTo>
                <a:lnTo>
                  <a:pt x="42333" y="2963333"/>
                </a:lnTo>
                <a:cubicBezTo>
                  <a:pt x="18953" y="2963333"/>
                  <a:pt x="0" y="2944380"/>
                  <a:pt x="0" y="2921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44500" y="1354667"/>
            <a:ext cx="42333" cy="2963333"/>
          </a:xfrm>
          <a:custGeom>
            <a:avLst/>
            <a:gdLst/>
            <a:ahLst/>
            <a:cxnLst/>
            <a:rect l="l" t="t" r="r" b="b"/>
            <a:pathLst>
              <a:path w="42333" h="2963333">
                <a:moveTo>
                  <a:pt x="42333" y="0"/>
                </a:moveTo>
                <a:lnTo>
                  <a:pt x="42333" y="0"/>
                </a:lnTo>
                <a:lnTo>
                  <a:pt x="42333" y="2963333"/>
                </a:lnTo>
                <a:lnTo>
                  <a:pt x="42333" y="2963333"/>
                </a:lnTo>
                <a:cubicBezTo>
                  <a:pt x="18953" y="2963333"/>
                  <a:pt x="0" y="2944380"/>
                  <a:pt x="0" y="2921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27604" y="16192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20750" y="1566333"/>
            <a:ext cx="9514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GFS 操作流程的核心原理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98500" y="2032000"/>
            <a:ext cx="4751917" cy="1100667"/>
          </a:xfrm>
          <a:custGeom>
            <a:avLst/>
            <a:gdLst/>
            <a:ahLst/>
            <a:cxnLst/>
            <a:rect l="l" t="t" r="r" b="b"/>
            <a:pathLst>
              <a:path w="4751917" h="1100667">
                <a:moveTo>
                  <a:pt x="42332" y="0"/>
                </a:moveTo>
                <a:lnTo>
                  <a:pt x="4709585" y="0"/>
                </a:lnTo>
                <a:cubicBezTo>
                  <a:pt x="4732964" y="0"/>
                  <a:pt x="4751917" y="18953"/>
                  <a:pt x="4751917" y="42332"/>
                </a:cubicBezTo>
                <a:lnTo>
                  <a:pt x="4751917" y="1058335"/>
                </a:lnTo>
                <a:cubicBezTo>
                  <a:pt x="4751917" y="1081714"/>
                  <a:pt x="4732964" y="1100667"/>
                  <a:pt x="4709585" y="1100667"/>
                </a:cubicBezTo>
                <a:lnTo>
                  <a:pt x="42332" y="1100667"/>
                </a:lnTo>
                <a:cubicBezTo>
                  <a:pt x="18953" y="1100667"/>
                  <a:pt x="0" y="1081714"/>
                  <a:pt x="0" y="1058335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98500" y="2032000"/>
            <a:ext cx="42333" cy="1100667"/>
          </a:xfrm>
          <a:custGeom>
            <a:avLst/>
            <a:gdLst/>
            <a:ahLst/>
            <a:cxnLst/>
            <a:rect l="l" t="t" r="r" b="b"/>
            <a:pathLst>
              <a:path w="42333" h="1100667">
                <a:moveTo>
                  <a:pt x="42333" y="0"/>
                </a:moveTo>
                <a:lnTo>
                  <a:pt x="42333" y="0"/>
                </a:lnTo>
                <a:lnTo>
                  <a:pt x="42333" y="1100667"/>
                </a:lnTo>
                <a:lnTo>
                  <a:pt x="42333" y="1100667"/>
                </a:lnTo>
                <a:cubicBezTo>
                  <a:pt x="18953" y="1100667"/>
                  <a:pt x="0" y="1081713"/>
                  <a:pt x="0" y="1058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867833" y="2201333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66224" y="49808"/>
                </a:moveTo>
                <a:lnTo>
                  <a:pt x="134474" y="81558"/>
                </a:lnTo>
                <a:cubicBezTo>
                  <a:pt x="131432" y="84601"/>
                  <a:pt x="126901" y="85493"/>
                  <a:pt x="122932" y="83840"/>
                </a:cubicBezTo>
                <a:cubicBezTo>
                  <a:pt x="118963" y="82186"/>
                  <a:pt x="116417" y="78350"/>
                  <a:pt x="116417" y="74083"/>
                </a:cubicBezTo>
                <a:lnTo>
                  <a:pt x="116417" y="52917"/>
                </a:lnTo>
                <a:lnTo>
                  <a:pt x="10583" y="52917"/>
                </a:lnTo>
                <a:cubicBezTo>
                  <a:pt x="4729" y="52917"/>
                  <a:pt x="0" y="48187"/>
                  <a:pt x="0" y="42333"/>
                </a:cubicBezTo>
                <a:cubicBezTo>
                  <a:pt x="0" y="36479"/>
                  <a:pt x="4729" y="31750"/>
                  <a:pt x="10583" y="31750"/>
                </a:cubicBezTo>
                <a:lnTo>
                  <a:pt x="116417" y="31750"/>
                </a:lnTo>
                <a:lnTo>
                  <a:pt x="116417" y="10583"/>
                </a:lnTo>
                <a:cubicBezTo>
                  <a:pt x="116417" y="6317"/>
                  <a:pt x="118996" y="2447"/>
                  <a:pt x="122965" y="794"/>
                </a:cubicBezTo>
                <a:cubicBezTo>
                  <a:pt x="126934" y="-860"/>
                  <a:pt x="131465" y="66"/>
                  <a:pt x="134508" y="3076"/>
                </a:cubicBezTo>
                <a:lnTo>
                  <a:pt x="166258" y="34826"/>
                </a:lnTo>
                <a:cubicBezTo>
                  <a:pt x="170392" y="38960"/>
                  <a:pt x="170392" y="45674"/>
                  <a:pt x="166258" y="49808"/>
                </a:cubicBezTo>
                <a:close/>
                <a:moveTo>
                  <a:pt x="34826" y="166224"/>
                </a:moveTo>
                <a:lnTo>
                  <a:pt x="3076" y="134474"/>
                </a:lnTo>
                <a:cubicBezTo>
                  <a:pt x="-1058" y="130340"/>
                  <a:pt x="-1058" y="123627"/>
                  <a:pt x="3076" y="119492"/>
                </a:cubicBezTo>
                <a:lnTo>
                  <a:pt x="34826" y="87742"/>
                </a:lnTo>
                <a:cubicBezTo>
                  <a:pt x="37868" y="84700"/>
                  <a:pt x="42399" y="83807"/>
                  <a:pt x="46368" y="85460"/>
                </a:cubicBezTo>
                <a:cubicBezTo>
                  <a:pt x="50337" y="87114"/>
                  <a:pt x="52917" y="90984"/>
                  <a:pt x="52917" y="95250"/>
                </a:cubicBezTo>
                <a:lnTo>
                  <a:pt x="52917" y="116417"/>
                </a:lnTo>
                <a:lnTo>
                  <a:pt x="158750" y="116417"/>
                </a:lnTo>
                <a:cubicBezTo>
                  <a:pt x="164604" y="116417"/>
                  <a:pt x="169333" y="121146"/>
                  <a:pt x="169333" y="127000"/>
                </a:cubicBezTo>
                <a:cubicBezTo>
                  <a:pt x="169333" y="132854"/>
                  <a:pt x="164604" y="137583"/>
                  <a:pt x="158750" y="137583"/>
                </a:cubicBezTo>
                <a:lnTo>
                  <a:pt x="52917" y="137583"/>
                </a:lnTo>
                <a:lnTo>
                  <a:pt x="52917" y="158750"/>
                </a:lnTo>
                <a:cubicBezTo>
                  <a:pt x="52917" y="163016"/>
                  <a:pt x="50337" y="166886"/>
                  <a:pt x="46368" y="168540"/>
                </a:cubicBezTo>
                <a:cubicBezTo>
                  <a:pt x="42399" y="170193"/>
                  <a:pt x="37868" y="169267"/>
                  <a:pt x="34826" y="166258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143000" y="2159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数据与控制分离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6667" y="2497667"/>
            <a:ext cx="456141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元数据操作通过 Master，数据传输直接在 Client 和 ChunkServer 间进行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95028" y="2032000"/>
            <a:ext cx="4751917" cy="1100667"/>
          </a:xfrm>
          <a:custGeom>
            <a:avLst/>
            <a:gdLst/>
            <a:ahLst/>
            <a:cxnLst/>
            <a:rect l="l" t="t" r="r" b="b"/>
            <a:pathLst>
              <a:path w="4751917" h="1100667">
                <a:moveTo>
                  <a:pt x="42332" y="0"/>
                </a:moveTo>
                <a:lnTo>
                  <a:pt x="4709585" y="0"/>
                </a:lnTo>
                <a:cubicBezTo>
                  <a:pt x="4732964" y="0"/>
                  <a:pt x="4751917" y="18953"/>
                  <a:pt x="4751917" y="42332"/>
                </a:cubicBezTo>
                <a:lnTo>
                  <a:pt x="4751917" y="1058335"/>
                </a:lnTo>
                <a:cubicBezTo>
                  <a:pt x="4751917" y="1081714"/>
                  <a:pt x="4732964" y="1100667"/>
                  <a:pt x="4709585" y="1100667"/>
                </a:cubicBezTo>
                <a:lnTo>
                  <a:pt x="42332" y="1100667"/>
                </a:lnTo>
                <a:cubicBezTo>
                  <a:pt x="18953" y="1100667"/>
                  <a:pt x="0" y="1081714"/>
                  <a:pt x="0" y="1058335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595028" y="2032000"/>
            <a:ext cx="42333" cy="1100667"/>
          </a:xfrm>
          <a:custGeom>
            <a:avLst/>
            <a:gdLst/>
            <a:ahLst/>
            <a:cxnLst/>
            <a:rect l="l" t="t" r="r" b="b"/>
            <a:pathLst>
              <a:path w="42333" h="1100667">
                <a:moveTo>
                  <a:pt x="42333" y="0"/>
                </a:moveTo>
                <a:lnTo>
                  <a:pt x="42333" y="0"/>
                </a:lnTo>
                <a:lnTo>
                  <a:pt x="42333" y="1100667"/>
                </a:lnTo>
                <a:lnTo>
                  <a:pt x="42333" y="1100667"/>
                </a:lnTo>
                <a:cubicBezTo>
                  <a:pt x="18953" y="1100667"/>
                  <a:pt x="0" y="1081713"/>
                  <a:pt x="0" y="1058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5764361" y="2201333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50813" y="74083"/>
                </a:moveTo>
                <a:lnTo>
                  <a:pt x="103188" y="74083"/>
                </a:lnTo>
                <a:cubicBezTo>
                  <a:pt x="98789" y="74083"/>
                  <a:pt x="95250" y="70545"/>
                  <a:pt x="95250" y="66146"/>
                </a:cubicBezTo>
                <a:lnTo>
                  <a:pt x="95250" y="18521"/>
                </a:lnTo>
                <a:cubicBezTo>
                  <a:pt x="95250" y="15313"/>
                  <a:pt x="97168" y="12402"/>
                  <a:pt x="100145" y="11179"/>
                </a:cubicBezTo>
                <a:cubicBezTo>
                  <a:pt x="103121" y="9955"/>
                  <a:pt x="106528" y="10649"/>
                  <a:pt x="108810" y="12898"/>
                </a:cubicBezTo>
                <a:lnTo>
                  <a:pt x="122039" y="26128"/>
                </a:lnTo>
                <a:lnTo>
                  <a:pt x="146315" y="1852"/>
                </a:lnTo>
                <a:cubicBezTo>
                  <a:pt x="147505" y="661"/>
                  <a:pt x="149126" y="0"/>
                  <a:pt x="150813" y="0"/>
                </a:cubicBezTo>
                <a:cubicBezTo>
                  <a:pt x="152499" y="0"/>
                  <a:pt x="154120" y="661"/>
                  <a:pt x="155343" y="1885"/>
                </a:cubicBezTo>
                <a:lnTo>
                  <a:pt x="167481" y="14023"/>
                </a:lnTo>
                <a:cubicBezTo>
                  <a:pt x="168672" y="15214"/>
                  <a:pt x="169333" y="16834"/>
                  <a:pt x="169333" y="18521"/>
                </a:cubicBezTo>
                <a:cubicBezTo>
                  <a:pt x="169333" y="20208"/>
                  <a:pt x="168672" y="21828"/>
                  <a:pt x="167448" y="23052"/>
                </a:cubicBezTo>
                <a:lnTo>
                  <a:pt x="143206" y="47294"/>
                </a:lnTo>
                <a:lnTo>
                  <a:pt x="156435" y="60523"/>
                </a:lnTo>
                <a:cubicBezTo>
                  <a:pt x="158717" y="62805"/>
                  <a:pt x="159378" y="66212"/>
                  <a:pt x="158155" y="69189"/>
                </a:cubicBezTo>
                <a:cubicBezTo>
                  <a:pt x="156931" y="72165"/>
                  <a:pt x="154021" y="74083"/>
                  <a:pt x="150813" y="74083"/>
                </a:cubicBezTo>
                <a:close/>
                <a:moveTo>
                  <a:pt x="150813" y="95250"/>
                </a:moveTo>
                <a:cubicBezTo>
                  <a:pt x="154021" y="95250"/>
                  <a:pt x="156931" y="97168"/>
                  <a:pt x="158155" y="100145"/>
                </a:cubicBezTo>
                <a:cubicBezTo>
                  <a:pt x="159378" y="103121"/>
                  <a:pt x="158717" y="106528"/>
                  <a:pt x="156435" y="108810"/>
                </a:cubicBezTo>
                <a:lnTo>
                  <a:pt x="143206" y="122039"/>
                </a:lnTo>
                <a:lnTo>
                  <a:pt x="167481" y="146315"/>
                </a:lnTo>
                <a:cubicBezTo>
                  <a:pt x="168672" y="147505"/>
                  <a:pt x="169366" y="149126"/>
                  <a:pt x="169366" y="150846"/>
                </a:cubicBezTo>
                <a:cubicBezTo>
                  <a:pt x="169366" y="152565"/>
                  <a:pt x="168705" y="154153"/>
                  <a:pt x="167481" y="155377"/>
                </a:cubicBezTo>
                <a:lnTo>
                  <a:pt x="155343" y="167514"/>
                </a:lnTo>
                <a:cubicBezTo>
                  <a:pt x="154120" y="168672"/>
                  <a:pt x="152499" y="169333"/>
                  <a:pt x="150813" y="169333"/>
                </a:cubicBezTo>
                <a:cubicBezTo>
                  <a:pt x="149126" y="169333"/>
                  <a:pt x="147505" y="168672"/>
                  <a:pt x="146282" y="167448"/>
                </a:cubicBezTo>
                <a:lnTo>
                  <a:pt x="122039" y="143206"/>
                </a:lnTo>
                <a:lnTo>
                  <a:pt x="108810" y="156435"/>
                </a:lnTo>
                <a:cubicBezTo>
                  <a:pt x="106528" y="158717"/>
                  <a:pt x="103121" y="159378"/>
                  <a:pt x="100145" y="158155"/>
                </a:cubicBezTo>
                <a:cubicBezTo>
                  <a:pt x="97168" y="156931"/>
                  <a:pt x="95250" y="154021"/>
                  <a:pt x="95250" y="150813"/>
                </a:cubicBezTo>
                <a:lnTo>
                  <a:pt x="95250" y="103188"/>
                </a:lnTo>
                <a:cubicBezTo>
                  <a:pt x="95250" y="98789"/>
                  <a:pt x="98789" y="95250"/>
                  <a:pt x="103188" y="95250"/>
                </a:cubicBezTo>
                <a:lnTo>
                  <a:pt x="150813" y="95250"/>
                </a:lnTo>
                <a:close/>
                <a:moveTo>
                  <a:pt x="66146" y="95250"/>
                </a:moveTo>
                <a:cubicBezTo>
                  <a:pt x="70545" y="95250"/>
                  <a:pt x="74083" y="98789"/>
                  <a:pt x="74083" y="103188"/>
                </a:cubicBezTo>
                <a:lnTo>
                  <a:pt x="74083" y="150813"/>
                </a:lnTo>
                <a:cubicBezTo>
                  <a:pt x="74083" y="154021"/>
                  <a:pt x="72165" y="156931"/>
                  <a:pt x="69189" y="158155"/>
                </a:cubicBezTo>
                <a:cubicBezTo>
                  <a:pt x="66212" y="159378"/>
                  <a:pt x="62805" y="158717"/>
                  <a:pt x="60523" y="156435"/>
                </a:cubicBezTo>
                <a:lnTo>
                  <a:pt x="47294" y="143206"/>
                </a:lnTo>
                <a:lnTo>
                  <a:pt x="23019" y="167481"/>
                </a:lnTo>
                <a:cubicBezTo>
                  <a:pt x="21828" y="168672"/>
                  <a:pt x="20208" y="169333"/>
                  <a:pt x="18521" y="169333"/>
                </a:cubicBezTo>
                <a:cubicBezTo>
                  <a:pt x="16834" y="169333"/>
                  <a:pt x="15214" y="168672"/>
                  <a:pt x="13990" y="167448"/>
                </a:cubicBezTo>
                <a:lnTo>
                  <a:pt x="1885" y="155343"/>
                </a:lnTo>
                <a:cubicBezTo>
                  <a:pt x="661" y="154120"/>
                  <a:pt x="0" y="152499"/>
                  <a:pt x="0" y="150813"/>
                </a:cubicBezTo>
                <a:cubicBezTo>
                  <a:pt x="0" y="149126"/>
                  <a:pt x="661" y="147505"/>
                  <a:pt x="1885" y="146282"/>
                </a:cubicBezTo>
                <a:lnTo>
                  <a:pt x="26128" y="122039"/>
                </a:lnTo>
                <a:lnTo>
                  <a:pt x="12898" y="108810"/>
                </a:lnTo>
                <a:cubicBezTo>
                  <a:pt x="10616" y="106528"/>
                  <a:pt x="9955" y="103121"/>
                  <a:pt x="11179" y="100145"/>
                </a:cubicBezTo>
                <a:cubicBezTo>
                  <a:pt x="12402" y="97168"/>
                  <a:pt x="15313" y="95250"/>
                  <a:pt x="18521" y="95250"/>
                </a:cubicBezTo>
                <a:lnTo>
                  <a:pt x="66146" y="95250"/>
                </a:lnTo>
                <a:close/>
                <a:moveTo>
                  <a:pt x="18521" y="74083"/>
                </a:moveTo>
                <a:cubicBezTo>
                  <a:pt x="15313" y="74083"/>
                  <a:pt x="12402" y="72165"/>
                  <a:pt x="11179" y="69189"/>
                </a:cubicBezTo>
                <a:cubicBezTo>
                  <a:pt x="9955" y="66212"/>
                  <a:pt x="10649" y="62805"/>
                  <a:pt x="12898" y="60523"/>
                </a:cubicBezTo>
                <a:lnTo>
                  <a:pt x="26128" y="47294"/>
                </a:lnTo>
                <a:lnTo>
                  <a:pt x="1885" y="23052"/>
                </a:lnTo>
                <a:cubicBezTo>
                  <a:pt x="661" y="21828"/>
                  <a:pt x="0" y="20208"/>
                  <a:pt x="0" y="18521"/>
                </a:cubicBezTo>
                <a:cubicBezTo>
                  <a:pt x="0" y="16834"/>
                  <a:pt x="661" y="15214"/>
                  <a:pt x="1885" y="13990"/>
                </a:cubicBezTo>
                <a:lnTo>
                  <a:pt x="13990" y="1885"/>
                </a:lnTo>
                <a:cubicBezTo>
                  <a:pt x="15214" y="661"/>
                  <a:pt x="16834" y="0"/>
                  <a:pt x="18521" y="0"/>
                </a:cubicBezTo>
                <a:cubicBezTo>
                  <a:pt x="20208" y="0"/>
                  <a:pt x="21828" y="661"/>
                  <a:pt x="23052" y="1885"/>
                </a:cubicBezTo>
                <a:lnTo>
                  <a:pt x="47294" y="26128"/>
                </a:lnTo>
                <a:lnTo>
                  <a:pt x="60523" y="12898"/>
                </a:lnTo>
                <a:cubicBezTo>
                  <a:pt x="62805" y="10616"/>
                  <a:pt x="66212" y="9955"/>
                  <a:pt x="69189" y="11179"/>
                </a:cubicBezTo>
                <a:cubicBezTo>
                  <a:pt x="72165" y="12402"/>
                  <a:pt x="74083" y="15313"/>
                  <a:pt x="74083" y="18521"/>
                </a:cubicBezTo>
                <a:lnTo>
                  <a:pt x="74083" y="66146"/>
                </a:lnTo>
                <a:cubicBezTo>
                  <a:pt x="74083" y="70545"/>
                  <a:pt x="70545" y="74083"/>
                  <a:pt x="66146" y="74083"/>
                </a:cubicBezTo>
                <a:lnTo>
                  <a:pt x="18521" y="74083"/>
                </a:ln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039528" y="2159000"/>
            <a:ext cx="1566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最小化 Master 负载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43195" y="2497667"/>
            <a:ext cx="4561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避免 Master 成为数据传输的瓶颈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98500" y="3259667"/>
            <a:ext cx="4751917" cy="846667"/>
          </a:xfrm>
          <a:custGeom>
            <a:avLst/>
            <a:gdLst/>
            <a:ahLst/>
            <a:cxnLst/>
            <a:rect l="l" t="t" r="r" b="b"/>
            <a:pathLst>
              <a:path w="4751917" h="846667">
                <a:moveTo>
                  <a:pt x="42333" y="0"/>
                </a:moveTo>
                <a:lnTo>
                  <a:pt x="4709583" y="0"/>
                </a:lnTo>
                <a:cubicBezTo>
                  <a:pt x="4732963" y="0"/>
                  <a:pt x="4751917" y="18953"/>
                  <a:pt x="4751917" y="42333"/>
                </a:cubicBezTo>
                <a:lnTo>
                  <a:pt x="4751917" y="804333"/>
                </a:lnTo>
                <a:cubicBezTo>
                  <a:pt x="4751917" y="827713"/>
                  <a:pt x="4732963" y="846667"/>
                  <a:pt x="4709583" y="846667"/>
                </a:cubicBezTo>
                <a:lnTo>
                  <a:pt x="42333" y="846667"/>
                </a:lnTo>
                <a:cubicBezTo>
                  <a:pt x="18953" y="846667"/>
                  <a:pt x="0" y="827713"/>
                  <a:pt x="0" y="804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98500" y="3259667"/>
            <a:ext cx="42333" cy="846667"/>
          </a:xfrm>
          <a:custGeom>
            <a:avLst/>
            <a:gdLst/>
            <a:ahLst/>
            <a:cxnLst/>
            <a:rect l="l" t="t" r="r" b="b"/>
            <a:pathLst>
              <a:path w="42333" h="846667">
                <a:moveTo>
                  <a:pt x="42333" y="0"/>
                </a:moveTo>
                <a:lnTo>
                  <a:pt x="42333" y="0"/>
                </a:lnTo>
                <a:lnTo>
                  <a:pt x="42333" y="846667"/>
                </a:lnTo>
                <a:lnTo>
                  <a:pt x="42333" y="846667"/>
                </a:lnTo>
                <a:cubicBezTo>
                  <a:pt x="18953" y="846667"/>
                  <a:pt x="0" y="827713"/>
                  <a:pt x="0" y="804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57250" y="3429000"/>
            <a:ext cx="190500" cy="169333"/>
          </a:xfrm>
          <a:custGeom>
            <a:avLst/>
            <a:gdLst/>
            <a:ahLst/>
            <a:cxnLst/>
            <a:rect l="l" t="t" r="r" b="b"/>
            <a:pathLst>
              <a:path w="190500" h="169333">
                <a:moveTo>
                  <a:pt x="82021" y="29104"/>
                </a:moveTo>
                <a:lnTo>
                  <a:pt x="108479" y="29104"/>
                </a:lnTo>
                <a:lnTo>
                  <a:pt x="108479" y="44979"/>
                </a:lnTo>
                <a:lnTo>
                  <a:pt x="82021" y="44979"/>
                </a:lnTo>
                <a:lnTo>
                  <a:pt x="82021" y="29104"/>
                </a:lnTo>
                <a:close/>
                <a:moveTo>
                  <a:pt x="79375" y="10583"/>
                </a:moveTo>
                <a:cubicBezTo>
                  <a:pt x="70611" y="10583"/>
                  <a:pt x="63500" y="17694"/>
                  <a:pt x="63500" y="26458"/>
                </a:cubicBezTo>
                <a:lnTo>
                  <a:pt x="63500" y="47625"/>
                </a:lnTo>
                <a:cubicBezTo>
                  <a:pt x="63500" y="56389"/>
                  <a:pt x="70611" y="63500"/>
                  <a:pt x="79375" y="63500"/>
                </a:cubicBezTo>
                <a:lnTo>
                  <a:pt x="84667" y="63500"/>
                </a:lnTo>
                <a:lnTo>
                  <a:pt x="84667" y="74083"/>
                </a:lnTo>
                <a:lnTo>
                  <a:pt x="10583" y="74083"/>
                </a:lnTo>
                <a:cubicBezTo>
                  <a:pt x="4729" y="74083"/>
                  <a:pt x="0" y="78813"/>
                  <a:pt x="0" y="84667"/>
                </a:cubicBezTo>
                <a:cubicBezTo>
                  <a:pt x="0" y="90521"/>
                  <a:pt x="4729" y="95250"/>
                  <a:pt x="10583" y="95250"/>
                </a:cubicBezTo>
                <a:lnTo>
                  <a:pt x="42333" y="95250"/>
                </a:lnTo>
                <a:lnTo>
                  <a:pt x="42333" y="105833"/>
                </a:lnTo>
                <a:lnTo>
                  <a:pt x="37042" y="105833"/>
                </a:lnTo>
                <a:cubicBezTo>
                  <a:pt x="28277" y="105833"/>
                  <a:pt x="21167" y="112944"/>
                  <a:pt x="21167" y="121708"/>
                </a:cubicBezTo>
                <a:lnTo>
                  <a:pt x="21167" y="142875"/>
                </a:lnTo>
                <a:cubicBezTo>
                  <a:pt x="21167" y="151639"/>
                  <a:pt x="28277" y="158750"/>
                  <a:pt x="37042" y="158750"/>
                </a:cubicBezTo>
                <a:lnTo>
                  <a:pt x="68792" y="158750"/>
                </a:lnTo>
                <a:cubicBezTo>
                  <a:pt x="77556" y="158750"/>
                  <a:pt x="84667" y="151639"/>
                  <a:pt x="84667" y="142875"/>
                </a:cubicBezTo>
                <a:lnTo>
                  <a:pt x="84667" y="121708"/>
                </a:lnTo>
                <a:cubicBezTo>
                  <a:pt x="84667" y="112944"/>
                  <a:pt x="77556" y="105833"/>
                  <a:pt x="68792" y="105833"/>
                </a:cubicBezTo>
                <a:lnTo>
                  <a:pt x="63500" y="105833"/>
                </a:lnTo>
                <a:lnTo>
                  <a:pt x="63500" y="95250"/>
                </a:lnTo>
                <a:lnTo>
                  <a:pt x="127000" y="95250"/>
                </a:lnTo>
                <a:lnTo>
                  <a:pt x="127000" y="105833"/>
                </a:lnTo>
                <a:lnTo>
                  <a:pt x="121708" y="105833"/>
                </a:lnTo>
                <a:cubicBezTo>
                  <a:pt x="112944" y="105833"/>
                  <a:pt x="105833" y="112944"/>
                  <a:pt x="105833" y="121708"/>
                </a:cubicBezTo>
                <a:lnTo>
                  <a:pt x="105833" y="142875"/>
                </a:lnTo>
                <a:cubicBezTo>
                  <a:pt x="105833" y="151639"/>
                  <a:pt x="112944" y="158750"/>
                  <a:pt x="121708" y="158750"/>
                </a:cubicBezTo>
                <a:lnTo>
                  <a:pt x="153458" y="158750"/>
                </a:lnTo>
                <a:cubicBezTo>
                  <a:pt x="162223" y="158750"/>
                  <a:pt x="169333" y="151639"/>
                  <a:pt x="169333" y="142875"/>
                </a:cubicBezTo>
                <a:lnTo>
                  <a:pt x="169333" y="121708"/>
                </a:lnTo>
                <a:cubicBezTo>
                  <a:pt x="169333" y="112944"/>
                  <a:pt x="162223" y="105833"/>
                  <a:pt x="153458" y="105833"/>
                </a:cubicBezTo>
                <a:lnTo>
                  <a:pt x="148167" y="105833"/>
                </a:lnTo>
                <a:lnTo>
                  <a:pt x="148167" y="95250"/>
                </a:lnTo>
                <a:lnTo>
                  <a:pt x="179917" y="95250"/>
                </a:lnTo>
                <a:cubicBezTo>
                  <a:pt x="185771" y="95250"/>
                  <a:pt x="190500" y="90521"/>
                  <a:pt x="190500" y="84667"/>
                </a:cubicBezTo>
                <a:cubicBezTo>
                  <a:pt x="190500" y="78813"/>
                  <a:pt x="185771" y="74083"/>
                  <a:pt x="179917" y="74083"/>
                </a:cubicBezTo>
                <a:lnTo>
                  <a:pt x="105833" y="74083"/>
                </a:lnTo>
                <a:lnTo>
                  <a:pt x="105833" y="63500"/>
                </a:lnTo>
                <a:lnTo>
                  <a:pt x="111125" y="63500"/>
                </a:lnTo>
                <a:cubicBezTo>
                  <a:pt x="119889" y="63500"/>
                  <a:pt x="127000" y="56389"/>
                  <a:pt x="127000" y="47625"/>
                </a:cubicBezTo>
                <a:lnTo>
                  <a:pt x="127000" y="26458"/>
                </a:lnTo>
                <a:cubicBezTo>
                  <a:pt x="127000" y="17694"/>
                  <a:pt x="119889" y="10583"/>
                  <a:pt x="111125" y="10583"/>
                </a:cubicBezTo>
                <a:lnTo>
                  <a:pt x="79375" y="10583"/>
                </a:lnTo>
                <a:close/>
                <a:moveTo>
                  <a:pt x="148167" y="124354"/>
                </a:moveTo>
                <a:lnTo>
                  <a:pt x="150813" y="124354"/>
                </a:lnTo>
                <a:lnTo>
                  <a:pt x="150813" y="140229"/>
                </a:lnTo>
                <a:lnTo>
                  <a:pt x="124354" y="140229"/>
                </a:lnTo>
                <a:lnTo>
                  <a:pt x="124354" y="124354"/>
                </a:lnTo>
                <a:lnTo>
                  <a:pt x="148167" y="124354"/>
                </a:lnTo>
                <a:close/>
                <a:moveTo>
                  <a:pt x="63500" y="124354"/>
                </a:moveTo>
                <a:lnTo>
                  <a:pt x="66146" y="124354"/>
                </a:lnTo>
                <a:lnTo>
                  <a:pt x="66146" y="140229"/>
                </a:lnTo>
                <a:lnTo>
                  <a:pt x="39688" y="140229"/>
                </a:lnTo>
                <a:lnTo>
                  <a:pt x="39688" y="124354"/>
                </a:lnTo>
                <a:lnTo>
                  <a:pt x="63500" y="124354"/>
                </a:ln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143000" y="3386667"/>
            <a:ext cx="1100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网络带宽优化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6667" y="3725333"/>
            <a:ext cx="4561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减少不必要的网络传输，提高整体吞吐量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595028" y="3259667"/>
            <a:ext cx="4751917" cy="846667"/>
          </a:xfrm>
          <a:custGeom>
            <a:avLst/>
            <a:gdLst/>
            <a:ahLst/>
            <a:cxnLst/>
            <a:rect l="l" t="t" r="r" b="b"/>
            <a:pathLst>
              <a:path w="4751917" h="846667">
                <a:moveTo>
                  <a:pt x="42333" y="0"/>
                </a:moveTo>
                <a:lnTo>
                  <a:pt x="4709583" y="0"/>
                </a:lnTo>
                <a:cubicBezTo>
                  <a:pt x="4732963" y="0"/>
                  <a:pt x="4751917" y="18953"/>
                  <a:pt x="4751917" y="42333"/>
                </a:cubicBezTo>
                <a:lnTo>
                  <a:pt x="4751917" y="804333"/>
                </a:lnTo>
                <a:cubicBezTo>
                  <a:pt x="4751917" y="827713"/>
                  <a:pt x="4732963" y="846667"/>
                  <a:pt x="4709583" y="846667"/>
                </a:cubicBezTo>
                <a:lnTo>
                  <a:pt x="42333" y="846667"/>
                </a:lnTo>
                <a:cubicBezTo>
                  <a:pt x="18953" y="846667"/>
                  <a:pt x="0" y="827713"/>
                  <a:pt x="0" y="804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5595028" y="3259667"/>
            <a:ext cx="42333" cy="846667"/>
          </a:xfrm>
          <a:custGeom>
            <a:avLst/>
            <a:gdLst/>
            <a:ahLst/>
            <a:cxnLst/>
            <a:rect l="l" t="t" r="r" b="b"/>
            <a:pathLst>
              <a:path w="42333" h="846667">
                <a:moveTo>
                  <a:pt x="42333" y="0"/>
                </a:moveTo>
                <a:lnTo>
                  <a:pt x="42333" y="0"/>
                </a:lnTo>
                <a:lnTo>
                  <a:pt x="42333" y="846667"/>
                </a:lnTo>
                <a:lnTo>
                  <a:pt x="42333" y="846667"/>
                </a:lnTo>
                <a:cubicBezTo>
                  <a:pt x="18953" y="846667"/>
                  <a:pt x="0" y="827713"/>
                  <a:pt x="0" y="804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5764361" y="3429000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0"/>
                </a:moveTo>
                <a:cubicBezTo>
                  <a:pt x="86188" y="0"/>
                  <a:pt x="87709" y="331"/>
                  <a:pt x="89098" y="959"/>
                </a:cubicBezTo>
                <a:lnTo>
                  <a:pt x="151408" y="27384"/>
                </a:lnTo>
                <a:cubicBezTo>
                  <a:pt x="158684" y="30460"/>
                  <a:pt x="164108" y="37637"/>
                  <a:pt x="164075" y="46302"/>
                </a:cubicBezTo>
                <a:cubicBezTo>
                  <a:pt x="163909" y="79110"/>
                  <a:pt x="150416" y="139138"/>
                  <a:pt x="93431" y="166423"/>
                </a:cubicBezTo>
                <a:cubicBezTo>
                  <a:pt x="87908" y="169069"/>
                  <a:pt x="81492" y="169069"/>
                  <a:pt x="75968" y="166423"/>
                </a:cubicBezTo>
                <a:cubicBezTo>
                  <a:pt x="18951" y="139138"/>
                  <a:pt x="5490" y="79110"/>
                  <a:pt x="5325" y="46302"/>
                </a:cubicBezTo>
                <a:cubicBezTo>
                  <a:pt x="5292" y="37637"/>
                  <a:pt x="10716" y="30460"/>
                  <a:pt x="17992" y="27384"/>
                </a:cubicBezTo>
                <a:lnTo>
                  <a:pt x="80268" y="959"/>
                </a:lnTo>
                <a:cubicBezTo>
                  <a:pt x="81657" y="331"/>
                  <a:pt x="83145" y="0"/>
                  <a:pt x="84667" y="0"/>
                </a:cubicBezTo>
                <a:close/>
                <a:moveTo>
                  <a:pt x="84667" y="22093"/>
                </a:moveTo>
                <a:lnTo>
                  <a:pt x="84667" y="147141"/>
                </a:lnTo>
                <a:cubicBezTo>
                  <a:pt x="130307" y="125049"/>
                  <a:pt x="142577" y="76101"/>
                  <a:pt x="142875" y="46798"/>
                </a:cubicBezTo>
                <a:lnTo>
                  <a:pt x="84667" y="22126"/>
                </a:lnTo>
                <a:lnTo>
                  <a:pt x="84667" y="22126"/>
                </a:ln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039528" y="3386667"/>
            <a:ext cx="931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容错性保证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43195" y="3725333"/>
            <a:ext cx="4561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通过副本机制和租约机制确保数据安全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8625" y="4492625"/>
            <a:ext cx="10117667" cy="2857500"/>
          </a:xfrm>
          <a:custGeom>
            <a:avLst/>
            <a:gdLst/>
            <a:ahLst/>
            <a:cxnLst/>
            <a:rect l="l" t="t" r="r" b="b"/>
            <a:pathLst>
              <a:path w="10117667" h="2857500">
                <a:moveTo>
                  <a:pt x="84668" y="0"/>
                </a:moveTo>
                <a:lnTo>
                  <a:pt x="10032999" y="0"/>
                </a:lnTo>
                <a:cubicBezTo>
                  <a:pt x="10079760" y="0"/>
                  <a:pt x="10117667" y="37907"/>
                  <a:pt x="10117667" y="84668"/>
                </a:cubicBezTo>
                <a:lnTo>
                  <a:pt x="10117667" y="2772832"/>
                </a:lnTo>
                <a:cubicBezTo>
                  <a:pt x="10117667" y="2819593"/>
                  <a:pt x="10079760" y="2857500"/>
                  <a:pt x="10032999" y="2857500"/>
                </a:cubicBezTo>
                <a:lnTo>
                  <a:pt x="84668" y="2857500"/>
                </a:lnTo>
                <a:cubicBezTo>
                  <a:pt x="37907" y="2857500"/>
                  <a:pt x="0" y="2819593"/>
                  <a:pt x="0" y="2772832"/>
                </a:cubicBezTo>
                <a:lnTo>
                  <a:pt x="0" y="84668"/>
                </a:lnTo>
                <a:cubicBezTo>
                  <a:pt x="0" y="37938"/>
                  <a:pt x="37938" y="0"/>
                  <a:pt x="8466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48229" y="47625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89000" y="4709583"/>
            <a:ext cx="9535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设计权衡对比</a:t>
            </a:r>
            <a:endParaRPr lang="en-US" sz="16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5583" y="5132917"/>
          <a:ext cx="9683749" cy="2000250"/>
        </p:xfrm>
        <a:graphic>
          <a:graphicData uri="http://schemas.openxmlformats.org/drawingml/2006/table">
            <a:tbl>
              <a:tblPr/>
              <a:tblGrid>
                <a:gridCol w="1564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8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0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98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设计决策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传统方案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GFS 方案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设计优势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数据路径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通过中心服务器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直接 Client-ChunkServer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显著减少网络跳数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元数据缓存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每次请求 Master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客户端缓存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大幅降低 Master 负载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副本选择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随机选择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网络拓扑感知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优化读取性能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批量操作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单个请求处理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流水线处理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大幅提升吞吐量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" name="Shape 30"/>
          <p:cNvSpPr/>
          <p:nvPr/>
        </p:nvSpPr>
        <p:spPr>
          <a:xfrm>
            <a:off x="10772097" y="1359958"/>
            <a:ext cx="5058833" cy="4032250"/>
          </a:xfrm>
          <a:custGeom>
            <a:avLst/>
            <a:gdLst/>
            <a:ahLst/>
            <a:cxnLst/>
            <a:rect l="l" t="t" r="r" b="b"/>
            <a:pathLst>
              <a:path w="5058833" h="4032250">
                <a:moveTo>
                  <a:pt x="84677" y="0"/>
                </a:moveTo>
                <a:lnTo>
                  <a:pt x="4974156" y="0"/>
                </a:lnTo>
                <a:cubicBezTo>
                  <a:pt x="5020922" y="0"/>
                  <a:pt x="5058833" y="37911"/>
                  <a:pt x="5058833" y="84677"/>
                </a:cubicBezTo>
                <a:lnTo>
                  <a:pt x="5058833" y="3947573"/>
                </a:lnTo>
                <a:cubicBezTo>
                  <a:pt x="5058833" y="3994339"/>
                  <a:pt x="5020922" y="4032250"/>
                  <a:pt x="4974156" y="4032250"/>
                </a:cubicBezTo>
                <a:lnTo>
                  <a:pt x="84677" y="4032250"/>
                </a:lnTo>
                <a:cubicBezTo>
                  <a:pt x="37911" y="4032250"/>
                  <a:pt x="0" y="3994339"/>
                  <a:pt x="0" y="3947573"/>
                </a:cubicBezTo>
                <a:lnTo>
                  <a:pt x="0" y="84677"/>
                </a:lnTo>
                <a:cubicBezTo>
                  <a:pt x="0" y="37943"/>
                  <a:pt x="37943" y="0"/>
                  <a:pt x="84677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1"/>
          <p:cNvSpPr/>
          <p:nvPr/>
        </p:nvSpPr>
        <p:spPr>
          <a:xfrm>
            <a:off x="11015514" y="162983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2"/>
          <p:cNvSpPr/>
          <p:nvPr/>
        </p:nvSpPr>
        <p:spPr>
          <a:xfrm>
            <a:off x="11232472" y="1576917"/>
            <a:ext cx="4476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操作类型分类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11010222" y="2000250"/>
            <a:ext cx="4603750" cy="973667"/>
          </a:xfrm>
          <a:custGeom>
            <a:avLst/>
            <a:gdLst/>
            <a:ahLst/>
            <a:cxnLst/>
            <a:rect l="l" t="t" r="r" b="b"/>
            <a:pathLst>
              <a:path w="4603750" h="973667">
                <a:moveTo>
                  <a:pt x="42333" y="0"/>
                </a:moveTo>
                <a:lnTo>
                  <a:pt x="4561415" y="0"/>
                </a:lnTo>
                <a:cubicBezTo>
                  <a:pt x="4584796" y="0"/>
                  <a:pt x="4603750" y="18954"/>
                  <a:pt x="4603750" y="42335"/>
                </a:cubicBezTo>
                <a:lnTo>
                  <a:pt x="4603750" y="931332"/>
                </a:lnTo>
                <a:cubicBezTo>
                  <a:pt x="4603750" y="954713"/>
                  <a:pt x="4584796" y="973667"/>
                  <a:pt x="4561415" y="973667"/>
                </a:cubicBezTo>
                <a:lnTo>
                  <a:pt x="42333" y="973667"/>
                </a:lnTo>
                <a:cubicBezTo>
                  <a:pt x="18953" y="973667"/>
                  <a:pt x="0" y="954713"/>
                  <a:pt x="0" y="931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4"/>
          <p:cNvSpPr/>
          <p:nvPr/>
        </p:nvSpPr>
        <p:spPr>
          <a:xfrm>
            <a:off x="11010222" y="2000250"/>
            <a:ext cx="42333" cy="973667"/>
          </a:xfrm>
          <a:custGeom>
            <a:avLst/>
            <a:gdLst/>
            <a:ahLst/>
            <a:cxnLst/>
            <a:rect l="l" t="t" r="r" b="b"/>
            <a:pathLst>
              <a:path w="42333" h="973667">
                <a:moveTo>
                  <a:pt x="42333" y="0"/>
                </a:moveTo>
                <a:lnTo>
                  <a:pt x="42333" y="0"/>
                </a:lnTo>
                <a:lnTo>
                  <a:pt x="42333" y="973667"/>
                </a:lnTo>
                <a:lnTo>
                  <a:pt x="42333" y="973667"/>
                </a:lnTo>
                <a:cubicBezTo>
                  <a:pt x="18953" y="973667"/>
                  <a:pt x="0" y="954713"/>
                  <a:pt x="0" y="931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5"/>
          <p:cNvSpPr/>
          <p:nvPr/>
        </p:nvSpPr>
        <p:spPr>
          <a:xfrm>
            <a:off x="11190139" y="2169583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21167" y="10583"/>
                </a:moveTo>
                <a:cubicBezTo>
                  <a:pt x="9492" y="10583"/>
                  <a:pt x="0" y="20075"/>
                  <a:pt x="0" y="31750"/>
                </a:cubicBezTo>
                <a:lnTo>
                  <a:pt x="0" y="52917"/>
                </a:lnTo>
                <a:cubicBezTo>
                  <a:pt x="0" y="64591"/>
                  <a:pt x="9492" y="74083"/>
                  <a:pt x="21167" y="74083"/>
                </a:cubicBezTo>
                <a:lnTo>
                  <a:pt x="127000" y="74083"/>
                </a:lnTo>
                <a:cubicBezTo>
                  <a:pt x="138675" y="74083"/>
                  <a:pt x="148167" y="64591"/>
                  <a:pt x="148167" y="52917"/>
                </a:cubicBezTo>
                <a:lnTo>
                  <a:pt x="148167" y="31750"/>
                </a:lnTo>
                <a:cubicBezTo>
                  <a:pt x="148167" y="20075"/>
                  <a:pt x="138675" y="10583"/>
                  <a:pt x="127000" y="10583"/>
                </a:cubicBezTo>
                <a:lnTo>
                  <a:pt x="21167" y="10583"/>
                </a:lnTo>
                <a:close/>
                <a:moveTo>
                  <a:pt x="92604" y="34396"/>
                </a:moveTo>
                <a:cubicBezTo>
                  <a:pt x="96985" y="34396"/>
                  <a:pt x="100542" y="37953"/>
                  <a:pt x="100542" y="42333"/>
                </a:cubicBezTo>
                <a:cubicBezTo>
                  <a:pt x="100542" y="46714"/>
                  <a:pt x="96985" y="50271"/>
                  <a:pt x="92604" y="50271"/>
                </a:cubicBezTo>
                <a:cubicBezTo>
                  <a:pt x="88223" y="50271"/>
                  <a:pt x="84667" y="46714"/>
                  <a:pt x="84667" y="42333"/>
                </a:cubicBezTo>
                <a:cubicBezTo>
                  <a:pt x="84667" y="37953"/>
                  <a:pt x="88223" y="34396"/>
                  <a:pt x="92604" y="34396"/>
                </a:cubicBezTo>
                <a:close/>
                <a:moveTo>
                  <a:pt x="111125" y="42333"/>
                </a:moveTo>
                <a:cubicBezTo>
                  <a:pt x="111125" y="37953"/>
                  <a:pt x="114682" y="34396"/>
                  <a:pt x="119063" y="34396"/>
                </a:cubicBezTo>
                <a:cubicBezTo>
                  <a:pt x="123443" y="34396"/>
                  <a:pt x="127000" y="37953"/>
                  <a:pt x="127000" y="42333"/>
                </a:cubicBezTo>
                <a:cubicBezTo>
                  <a:pt x="127000" y="46714"/>
                  <a:pt x="123443" y="50271"/>
                  <a:pt x="119063" y="50271"/>
                </a:cubicBezTo>
                <a:cubicBezTo>
                  <a:pt x="114682" y="50271"/>
                  <a:pt x="111125" y="46714"/>
                  <a:pt x="111125" y="42333"/>
                </a:cubicBezTo>
                <a:close/>
                <a:moveTo>
                  <a:pt x="21167" y="95250"/>
                </a:moveTo>
                <a:cubicBezTo>
                  <a:pt x="9492" y="95250"/>
                  <a:pt x="0" y="104742"/>
                  <a:pt x="0" y="116417"/>
                </a:cubicBezTo>
                <a:lnTo>
                  <a:pt x="0" y="137583"/>
                </a:lnTo>
                <a:cubicBezTo>
                  <a:pt x="0" y="149258"/>
                  <a:pt x="9492" y="158750"/>
                  <a:pt x="21167" y="158750"/>
                </a:cubicBezTo>
                <a:lnTo>
                  <a:pt x="127000" y="158750"/>
                </a:lnTo>
                <a:cubicBezTo>
                  <a:pt x="138675" y="158750"/>
                  <a:pt x="148167" y="149258"/>
                  <a:pt x="148167" y="137583"/>
                </a:cubicBezTo>
                <a:lnTo>
                  <a:pt x="148167" y="116417"/>
                </a:lnTo>
                <a:cubicBezTo>
                  <a:pt x="148167" y="104742"/>
                  <a:pt x="138675" y="95250"/>
                  <a:pt x="127000" y="95250"/>
                </a:cubicBezTo>
                <a:lnTo>
                  <a:pt x="21167" y="95250"/>
                </a:lnTo>
                <a:close/>
                <a:moveTo>
                  <a:pt x="92604" y="119063"/>
                </a:moveTo>
                <a:cubicBezTo>
                  <a:pt x="96985" y="119063"/>
                  <a:pt x="100542" y="122619"/>
                  <a:pt x="100542" y="127000"/>
                </a:cubicBezTo>
                <a:cubicBezTo>
                  <a:pt x="100542" y="131381"/>
                  <a:pt x="96985" y="134938"/>
                  <a:pt x="92604" y="134938"/>
                </a:cubicBezTo>
                <a:cubicBezTo>
                  <a:pt x="88223" y="134938"/>
                  <a:pt x="84667" y="131381"/>
                  <a:pt x="84667" y="127000"/>
                </a:cubicBezTo>
                <a:cubicBezTo>
                  <a:pt x="84667" y="122619"/>
                  <a:pt x="88223" y="119063"/>
                  <a:pt x="92604" y="119063"/>
                </a:cubicBezTo>
                <a:close/>
                <a:moveTo>
                  <a:pt x="111125" y="127000"/>
                </a:moveTo>
                <a:cubicBezTo>
                  <a:pt x="111125" y="122619"/>
                  <a:pt x="114682" y="119063"/>
                  <a:pt x="119063" y="119063"/>
                </a:cubicBezTo>
                <a:cubicBezTo>
                  <a:pt x="123443" y="119063"/>
                  <a:pt x="127000" y="122619"/>
                  <a:pt x="127000" y="127000"/>
                </a:cubicBezTo>
                <a:cubicBezTo>
                  <a:pt x="127000" y="131381"/>
                  <a:pt x="123443" y="134938"/>
                  <a:pt x="119063" y="134938"/>
                </a:cubicBezTo>
                <a:cubicBezTo>
                  <a:pt x="114682" y="134938"/>
                  <a:pt x="111125" y="131381"/>
                  <a:pt x="111125" y="12700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6"/>
          <p:cNvSpPr/>
          <p:nvPr/>
        </p:nvSpPr>
        <p:spPr>
          <a:xfrm>
            <a:off x="11454722" y="2127250"/>
            <a:ext cx="931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元数据操作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1158389" y="2423583"/>
            <a:ext cx="440266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文件/目录创建、删除、重命名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权限管理和访问控制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11010222" y="3100917"/>
            <a:ext cx="4603750" cy="973667"/>
          </a:xfrm>
          <a:custGeom>
            <a:avLst/>
            <a:gdLst/>
            <a:ahLst/>
            <a:cxnLst/>
            <a:rect l="l" t="t" r="r" b="b"/>
            <a:pathLst>
              <a:path w="4603750" h="973667">
                <a:moveTo>
                  <a:pt x="42333" y="0"/>
                </a:moveTo>
                <a:lnTo>
                  <a:pt x="4561415" y="0"/>
                </a:lnTo>
                <a:cubicBezTo>
                  <a:pt x="4584796" y="0"/>
                  <a:pt x="4603750" y="18954"/>
                  <a:pt x="4603750" y="42335"/>
                </a:cubicBezTo>
                <a:lnTo>
                  <a:pt x="4603750" y="931332"/>
                </a:lnTo>
                <a:cubicBezTo>
                  <a:pt x="4603750" y="954713"/>
                  <a:pt x="4584796" y="973667"/>
                  <a:pt x="4561415" y="973667"/>
                </a:cubicBezTo>
                <a:lnTo>
                  <a:pt x="42333" y="973667"/>
                </a:lnTo>
                <a:cubicBezTo>
                  <a:pt x="18953" y="973667"/>
                  <a:pt x="0" y="954713"/>
                  <a:pt x="0" y="931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39"/>
          <p:cNvSpPr/>
          <p:nvPr/>
        </p:nvSpPr>
        <p:spPr>
          <a:xfrm>
            <a:off x="11010222" y="3100917"/>
            <a:ext cx="42333" cy="973667"/>
          </a:xfrm>
          <a:custGeom>
            <a:avLst/>
            <a:gdLst/>
            <a:ahLst/>
            <a:cxnLst/>
            <a:rect l="l" t="t" r="r" b="b"/>
            <a:pathLst>
              <a:path w="42333" h="973667">
                <a:moveTo>
                  <a:pt x="42333" y="0"/>
                </a:moveTo>
                <a:lnTo>
                  <a:pt x="42333" y="0"/>
                </a:lnTo>
                <a:lnTo>
                  <a:pt x="42333" y="973667"/>
                </a:lnTo>
                <a:lnTo>
                  <a:pt x="42333" y="973667"/>
                </a:lnTo>
                <a:cubicBezTo>
                  <a:pt x="18953" y="973667"/>
                  <a:pt x="0" y="954713"/>
                  <a:pt x="0" y="931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0"/>
          <p:cNvSpPr/>
          <p:nvPr/>
        </p:nvSpPr>
        <p:spPr>
          <a:xfrm>
            <a:off x="11179555" y="3270250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46732"/>
                </a:moveTo>
                <a:lnTo>
                  <a:pt x="84667" y="149027"/>
                </a:lnTo>
                <a:lnTo>
                  <a:pt x="84832" y="148960"/>
                </a:lnTo>
                <a:cubicBezTo>
                  <a:pt x="102890" y="141453"/>
                  <a:pt x="122271" y="137583"/>
                  <a:pt x="141817" y="137583"/>
                </a:cubicBezTo>
                <a:lnTo>
                  <a:pt x="148167" y="137583"/>
                </a:lnTo>
                <a:lnTo>
                  <a:pt x="148167" y="31750"/>
                </a:lnTo>
                <a:lnTo>
                  <a:pt x="141817" y="31750"/>
                </a:lnTo>
                <a:cubicBezTo>
                  <a:pt x="127860" y="31750"/>
                  <a:pt x="114002" y="34528"/>
                  <a:pt x="101104" y="39886"/>
                </a:cubicBezTo>
                <a:cubicBezTo>
                  <a:pt x="95548" y="42201"/>
                  <a:pt x="90058" y="44483"/>
                  <a:pt x="84667" y="46732"/>
                </a:cubicBezTo>
                <a:close/>
                <a:moveTo>
                  <a:pt x="76365" y="20340"/>
                </a:moveTo>
                <a:lnTo>
                  <a:pt x="84667" y="23813"/>
                </a:lnTo>
                <a:lnTo>
                  <a:pt x="92968" y="20340"/>
                </a:lnTo>
                <a:cubicBezTo>
                  <a:pt x="108446" y="13891"/>
                  <a:pt x="125049" y="10583"/>
                  <a:pt x="141817" y="10583"/>
                </a:cubicBezTo>
                <a:lnTo>
                  <a:pt x="153458" y="10583"/>
                </a:lnTo>
                <a:cubicBezTo>
                  <a:pt x="162223" y="10583"/>
                  <a:pt x="169333" y="17694"/>
                  <a:pt x="169333" y="26458"/>
                </a:cubicBezTo>
                <a:lnTo>
                  <a:pt x="169333" y="142875"/>
                </a:lnTo>
                <a:cubicBezTo>
                  <a:pt x="169333" y="151639"/>
                  <a:pt x="162223" y="158750"/>
                  <a:pt x="153458" y="158750"/>
                </a:cubicBezTo>
                <a:lnTo>
                  <a:pt x="141817" y="158750"/>
                </a:lnTo>
                <a:cubicBezTo>
                  <a:pt x="125049" y="158750"/>
                  <a:pt x="108446" y="162057"/>
                  <a:pt x="92968" y="168507"/>
                </a:cubicBezTo>
                <a:lnTo>
                  <a:pt x="88735" y="170259"/>
                </a:lnTo>
                <a:cubicBezTo>
                  <a:pt x="86122" y="171351"/>
                  <a:pt x="83211" y="171351"/>
                  <a:pt x="80599" y="170259"/>
                </a:cubicBezTo>
                <a:lnTo>
                  <a:pt x="76365" y="168507"/>
                </a:lnTo>
                <a:cubicBezTo>
                  <a:pt x="60887" y="162057"/>
                  <a:pt x="44285" y="158750"/>
                  <a:pt x="27517" y="158750"/>
                </a:cubicBezTo>
                <a:lnTo>
                  <a:pt x="15875" y="158750"/>
                </a:lnTo>
                <a:cubicBezTo>
                  <a:pt x="7111" y="158750"/>
                  <a:pt x="0" y="151639"/>
                  <a:pt x="0" y="142875"/>
                </a:cubicBezTo>
                <a:lnTo>
                  <a:pt x="0" y="26458"/>
                </a:lnTo>
                <a:cubicBezTo>
                  <a:pt x="0" y="17694"/>
                  <a:pt x="7111" y="10583"/>
                  <a:pt x="15875" y="10583"/>
                </a:cubicBezTo>
                <a:lnTo>
                  <a:pt x="27517" y="10583"/>
                </a:lnTo>
                <a:cubicBezTo>
                  <a:pt x="44285" y="10583"/>
                  <a:pt x="60887" y="13891"/>
                  <a:pt x="76365" y="2034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1"/>
          <p:cNvSpPr/>
          <p:nvPr/>
        </p:nvSpPr>
        <p:spPr>
          <a:xfrm>
            <a:off x="11454722" y="3227917"/>
            <a:ext cx="1100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数据读取操作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11158389" y="3524250"/>
            <a:ext cx="440266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顺序读取（优化场景）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随机读取（支持场景）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11010222" y="4201583"/>
            <a:ext cx="4603750" cy="973667"/>
          </a:xfrm>
          <a:custGeom>
            <a:avLst/>
            <a:gdLst/>
            <a:ahLst/>
            <a:cxnLst/>
            <a:rect l="l" t="t" r="r" b="b"/>
            <a:pathLst>
              <a:path w="4603750" h="973667">
                <a:moveTo>
                  <a:pt x="42333" y="0"/>
                </a:moveTo>
                <a:lnTo>
                  <a:pt x="4561415" y="0"/>
                </a:lnTo>
                <a:cubicBezTo>
                  <a:pt x="4584796" y="0"/>
                  <a:pt x="4603750" y="18954"/>
                  <a:pt x="4603750" y="42335"/>
                </a:cubicBezTo>
                <a:lnTo>
                  <a:pt x="4603750" y="931332"/>
                </a:lnTo>
                <a:cubicBezTo>
                  <a:pt x="4603750" y="954713"/>
                  <a:pt x="4584796" y="973667"/>
                  <a:pt x="4561415" y="973667"/>
                </a:cubicBezTo>
                <a:lnTo>
                  <a:pt x="42333" y="973667"/>
                </a:lnTo>
                <a:cubicBezTo>
                  <a:pt x="18953" y="973667"/>
                  <a:pt x="0" y="954713"/>
                  <a:pt x="0" y="931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4"/>
          <p:cNvSpPr/>
          <p:nvPr/>
        </p:nvSpPr>
        <p:spPr>
          <a:xfrm>
            <a:off x="11010222" y="4201583"/>
            <a:ext cx="42333" cy="973667"/>
          </a:xfrm>
          <a:custGeom>
            <a:avLst/>
            <a:gdLst/>
            <a:ahLst/>
            <a:cxnLst/>
            <a:rect l="l" t="t" r="r" b="b"/>
            <a:pathLst>
              <a:path w="42333" h="973667">
                <a:moveTo>
                  <a:pt x="42333" y="0"/>
                </a:moveTo>
                <a:lnTo>
                  <a:pt x="42333" y="0"/>
                </a:lnTo>
                <a:lnTo>
                  <a:pt x="42333" y="973667"/>
                </a:lnTo>
                <a:lnTo>
                  <a:pt x="42333" y="973667"/>
                </a:lnTo>
                <a:cubicBezTo>
                  <a:pt x="18953" y="973667"/>
                  <a:pt x="0" y="954713"/>
                  <a:pt x="0" y="931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5"/>
          <p:cNvSpPr/>
          <p:nvPr/>
        </p:nvSpPr>
        <p:spPr>
          <a:xfrm>
            <a:off x="11179555" y="4370917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16714" y="7011"/>
                </a:moveTo>
                <a:lnTo>
                  <a:pt x="101865" y="21861"/>
                </a:lnTo>
                <a:lnTo>
                  <a:pt x="147472" y="67469"/>
                </a:lnTo>
                <a:lnTo>
                  <a:pt x="162322" y="52619"/>
                </a:lnTo>
                <a:cubicBezTo>
                  <a:pt x="166820" y="48154"/>
                  <a:pt x="169333" y="42069"/>
                  <a:pt x="169333" y="35719"/>
                </a:cubicBezTo>
                <a:cubicBezTo>
                  <a:pt x="169333" y="29369"/>
                  <a:pt x="166820" y="23283"/>
                  <a:pt x="162322" y="18818"/>
                </a:cubicBezTo>
                <a:lnTo>
                  <a:pt x="150515" y="7011"/>
                </a:lnTo>
                <a:cubicBezTo>
                  <a:pt x="146050" y="2514"/>
                  <a:pt x="139965" y="0"/>
                  <a:pt x="133615" y="0"/>
                </a:cubicBezTo>
                <a:cubicBezTo>
                  <a:pt x="127265" y="0"/>
                  <a:pt x="121179" y="2514"/>
                  <a:pt x="116714" y="7011"/>
                </a:cubicBezTo>
                <a:close/>
                <a:moveTo>
                  <a:pt x="90653" y="33073"/>
                </a:moveTo>
                <a:lnTo>
                  <a:pt x="19480" y="104213"/>
                </a:lnTo>
                <a:cubicBezTo>
                  <a:pt x="15941" y="107752"/>
                  <a:pt x="13361" y="112183"/>
                  <a:pt x="12005" y="117012"/>
                </a:cubicBezTo>
                <a:lnTo>
                  <a:pt x="298" y="159279"/>
                </a:lnTo>
                <a:cubicBezTo>
                  <a:pt x="-463" y="162024"/>
                  <a:pt x="298" y="165001"/>
                  <a:pt x="2348" y="167018"/>
                </a:cubicBezTo>
                <a:cubicBezTo>
                  <a:pt x="4399" y="169036"/>
                  <a:pt x="7342" y="169829"/>
                  <a:pt x="10087" y="169069"/>
                </a:cubicBezTo>
                <a:lnTo>
                  <a:pt x="52354" y="157328"/>
                </a:lnTo>
                <a:cubicBezTo>
                  <a:pt x="57183" y="155972"/>
                  <a:pt x="61582" y="153425"/>
                  <a:pt x="65154" y="149853"/>
                </a:cubicBezTo>
                <a:lnTo>
                  <a:pt x="136260" y="78680"/>
                </a:lnTo>
                <a:lnTo>
                  <a:pt x="90653" y="33073"/>
                </a:ln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6"/>
          <p:cNvSpPr/>
          <p:nvPr/>
        </p:nvSpPr>
        <p:spPr>
          <a:xfrm>
            <a:off x="11454722" y="4328583"/>
            <a:ext cx="1100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数据写入操作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11158389" y="4624917"/>
            <a:ext cx="440266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覆盖写入（较少使用）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追加写入（主要场景）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10772097" y="5572126"/>
            <a:ext cx="5058833" cy="3434292"/>
          </a:xfrm>
          <a:custGeom>
            <a:avLst/>
            <a:gdLst/>
            <a:ahLst/>
            <a:cxnLst/>
            <a:rect l="l" t="t" r="r" b="b"/>
            <a:pathLst>
              <a:path w="5058833" h="5069417">
                <a:moveTo>
                  <a:pt x="84685" y="0"/>
                </a:moveTo>
                <a:lnTo>
                  <a:pt x="4974148" y="0"/>
                </a:lnTo>
                <a:cubicBezTo>
                  <a:pt x="5020919" y="0"/>
                  <a:pt x="5058833" y="37915"/>
                  <a:pt x="5058833" y="84685"/>
                </a:cubicBezTo>
                <a:lnTo>
                  <a:pt x="5058833" y="4984732"/>
                </a:lnTo>
                <a:cubicBezTo>
                  <a:pt x="5058833" y="5031502"/>
                  <a:pt x="5020919" y="5069417"/>
                  <a:pt x="4974148" y="5069417"/>
                </a:cubicBezTo>
                <a:lnTo>
                  <a:pt x="84685" y="5069417"/>
                </a:lnTo>
                <a:cubicBezTo>
                  <a:pt x="37915" y="5069417"/>
                  <a:pt x="0" y="5031502"/>
                  <a:pt x="0" y="4984732"/>
                </a:cubicBezTo>
                <a:lnTo>
                  <a:pt x="0" y="84685"/>
                </a:lnTo>
                <a:cubicBezTo>
                  <a:pt x="0" y="37946"/>
                  <a:pt x="37946" y="0"/>
                  <a:pt x="84685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49"/>
          <p:cNvSpPr/>
          <p:nvPr/>
        </p:nvSpPr>
        <p:spPr>
          <a:xfrm>
            <a:off x="11015514" y="5842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50602"/>
                </a:moveTo>
                <a:cubicBezTo>
                  <a:pt x="100199" y="50602"/>
                  <a:pt x="104180" y="54583"/>
                  <a:pt x="104180" y="59531"/>
                </a:cubicBezTo>
                <a:lnTo>
                  <a:pt x="104180" y="101203"/>
                </a:lnTo>
                <a:cubicBezTo>
                  <a:pt x="104180" y="106152"/>
                  <a:pt x="100199" y="110133"/>
                  <a:pt x="95250" y="110133"/>
                </a:cubicBezTo>
                <a:cubicBezTo>
                  <a:pt x="90301" y="110133"/>
                  <a:pt x="86320" y="106152"/>
                  <a:pt x="86320" y="101203"/>
                </a:cubicBezTo>
                <a:lnTo>
                  <a:pt x="86320" y="59531"/>
                </a:lnTo>
                <a:cubicBezTo>
                  <a:pt x="86320" y="54583"/>
                  <a:pt x="90301" y="50602"/>
                  <a:pt x="95250" y="50602"/>
                </a:cubicBezTo>
                <a:close/>
                <a:moveTo>
                  <a:pt x="85316" y="130969"/>
                </a:moveTo>
                <a:cubicBezTo>
                  <a:pt x="85090" y="127281"/>
                  <a:pt x="86929" y="123773"/>
                  <a:pt x="90090" y="121861"/>
                </a:cubicBezTo>
                <a:cubicBezTo>
                  <a:pt x="93251" y="119949"/>
                  <a:pt x="97212" y="119949"/>
                  <a:pt x="100373" y="121861"/>
                </a:cubicBezTo>
                <a:cubicBezTo>
                  <a:pt x="103534" y="123773"/>
                  <a:pt x="105373" y="127281"/>
                  <a:pt x="105147" y="130969"/>
                </a:cubicBezTo>
                <a:cubicBezTo>
                  <a:pt x="105373" y="134656"/>
                  <a:pt x="103534" y="138165"/>
                  <a:pt x="100373" y="140077"/>
                </a:cubicBezTo>
                <a:cubicBezTo>
                  <a:pt x="97212" y="141989"/>
                  <a:pt x="93251" y="141989"/>
                  <a:pt x="90090" y="140077"/>
                </a:cubicBezTo>
                <a:cubicBezTo>
                  <a:pt x="86929" y="138165"/>
                  <a:pt x="85090" y="134656"/>
                  <a:pt x="85316" y="130969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0"/>
          <p:cNvSpPr/>
          <p:nvPr/>
        </p:nvSpPr>
        <p:spPr>
          <a:xfrm>
            <a:off x="11232472" y="5789083"/>
            <a:ext cx="4476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设计权衡分析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10989055" y="6212417"/>
            <a:ext cx="4624917" cy="1016000"/>
          </a:xfrm>
          <a:custGeom>
            <a:avLst/>
            <a:gdLst/>
            <a:ahLst/>
            <a:cxnLst/>
            <a:rect l="l" t="t" r="r" b="b"/>
            <a:pathLst>
              <a:path w="4624917" h="1016000">
                <a:moveTo>
                  <a:pt x="42337" y="0"/>
                </a:moveTo>
                <a:lnTo>
                  <a:pt x="4582580" y="0"/>
                </a:lnTo>
                <a:cubicBezTo>
                  <a:pt x="4605962" y="0"/>
                  <a:pt x="4624917" y="18955"/>
                  <a:pt x="4624917" y="42337"/>
                </a:cubicBezTo>
                <a:lnTo>
                  <a:pt x="4624917" y="973663"/>
                </a:lnTo>
                <a:cubicBezTo>
                  <a:pt x="4624917" y="997045"/>
                  <a:pt x="4605962" y="1016000"/>
                  <a:pt x="4582580" y="1016000"/>
                </a:cubicBezTo>
                <a:lnTo>
                  <a:pt x="42337" y="1016000"/>
                </a:lnTo>
                <a:cubicBezTo>
                  <a:pt x="18955" y="1016000"/>
                  <a:pt x="0" y="997045"/>
                  <a:pt x="0" y="973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2"/>
          <p:cNvSpPr/>
          <p:nvPr/>
        </p:nvSpPr>
        <p:spPr>
          <a:xfrm>
            <a:off x="11116055" y="6339417"/>
            <a:ext cx="4455583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 vs 性能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通过缓存和异步机制提升性能，但需要处理数据一致性问题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10989055" y="7355417"/>
            <a:ext cx="4624917" cy="762000"/>
          </a:xfrm>
          <a:custGeom>
            <a:avLst/>
            <a:gdLst/>
            <a:ahLst/>
            <a:cxnLst/>
            <a:rect l="l" t="t" r="r" b="b"/>
            <a:pathLst>
              <a:path w="4624917" h="762000">
                <a:moveTo>
                  <a:pt x="42337" y="0"/>
                </a:moveTo>
                <a:lnTo>
                  <a:pt x="4582580" y="0"/>
                </a:lnTo>
                <a:cubicBezTo>
                  <a:pt x="4605962" y="0"/>
                  <a:pt x="4624917" y="18955"/>
                  <a:pt x="4624917" y="42337"/>
                </a:cubicBezTo>
                <a:lnTo>
                  <a:pt x="4624917" y="719663"/>
                </a:lnTo>
                <a:cubicBezTo>
                  <a:pt x="4624917" y="743045"/>
                  <a:pt x="4605962" y="762000"/>
                  <a:pt x="4582580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4"/>
          <p:cNvSpPr/>
          <p:nvPr/>
        </p:nvSpPr>
        <p:spPr>
          <a:xfrm>
            <a:off x="11116055" y="7482417"/>
            <a:ext cx="445558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复杂性 vs 效率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增加了客户端和系统的复杂性，但显著提升整体效率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10989055" y="8244417"/>
            <a:ext cx="4624917" cy="762000"/>
          </a:xfrm>
          <a:custGeom>
            <a:avLst/>
            <a:gdLst/>
            <a:ahLst/>
            <a:cxnLst/>
            <a:rect l="l" t="t" r="r" b="b"/>
            <a:pathLst>
              <a:path w="4624917" h="762000">
                <a:moveTo>
                  <a:pt x="42337" y="0"/>
                </a:moveTo>
                <a:lnTo>
                  <a:pt x="4582580" y="0"/>
                </a:lnTo>
                <a:cubicBezTo>
                  <a:pt x="4605962" y="0"/>
                  <a:pt x="4624917" y="18955"/>
                  <a:pt x="4624917" y="42337"/>
                </a:cubicBezTo>
                <a:lnTo>
                  <a:pt x="4624917" y="719663"/>
                </a:lnTo>
                <a:cubicBezTo>
                  <a:pt x="4624917" y="743045"/>
                  <a:pt x="4605962" y="762000"/>
                  <a:pt x="4582580" y="762000"/>
                </a:cubicBezTo>
                <a:lnTo>
                  <a:pt x="42337" y="762000"/>
                </a:lnTo>
                <a:cubicBezTo>
                  <a:pt x="18955" y="762000"/>
                  <a:pt x="0" y="743045"/>
                  <a:pt x="0" y="719663"/>
                </a:cubicBezTo>
                <a:lnTo>
                  <a:pt x="0" y="42337"/>
                </a:lnTo>
                <a:cubicBezTo>
                  <a:pt x="0" y="18955"/>
                  <a:pt x="18955" y="0"/>
                  <a:pt x="42337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6"/>
          <p:cNvSpPr/>
          <p:nvPr/>
        </p:nvSpPr>
        <p:spPr>
          <a:xfrm>
            <a:off x="11116055" y="8371417"/>
            <a:ext cx="445558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 vs 延迟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使用更多内存换取更低的访问延迟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529167"/>
            <a:ext cx="423333" cy="42333"/>
          </a:xfrm>
          <a:custGeom>
            <a:avLst/>
            <a:gdLst/>
            <a:ahLst/>
            <a:cxnLst/>
            <a:rect l="l" t="t" r="r" b="b"/>
            <a:pathLst>
              <a:path w="423333" h="42333">
                <a:moveTo>
                  <a:pt x="0" y="0"/>
                </a:moveTo>
                <a:lnTo>
                  <a:pt x="423333" y="0"/>
                </a:lnTo>
                <a:lnTo>
                  <a:pt x="423333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973667" y="423333"/>
            <a:ext cx="1608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D4A2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 OPERATION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762000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文件读取流程详解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44500" y="1354667"/>
            <a:ext cx="11112500" cy="2667000"/>
          </a:xfrm>
          <a:custGeom>
            <a:avLst/>
            <a:gdLst/>
            <a:ahLst/>
            <a:cxnLst/>
            <a:rect l="l" t="t" r="r" b="b"/>
            <a:pathLst>
              <a:path w="11112500" h="2667000">
                <a:moveTo>
                  <a:pt x="42333" y="0"/>
                </a:moveTo>
                <a:lnTo>
                  <a:pt x="11027823" y="0"/>
                </a:lnTo>
                <a:cubicBezTo>
                  <a:pt x="11074589" y="0"/>
                  <a:pt x="11112500" y="37911"/>
                  <a:pt x="11112500" y="84677"/>
                </a:cubicBezTo>
                <a:lnTo>
                  <a:pt x="11112500" y="2582323"/>
                </a:lnTo>
                <a:cubicBezTo>
                  <a:pt x="11112500" y="2629089"/>
                  <a:pt x="11074589" y="2667000"/>
                  <a:pt x="11027823" y="2667000"/>
                </a:cubicBezTo>
                <a:lnTo>
                  <a:pt x="42333" y="2667000"/>
                </a:lnTo>
                <a:cubicBezTo>
                  <a:pt x="18953" y="2667000"/>
                  <a:pt x="0" y="2648047"/>
                  <a:pt x="0" y="2624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44500" y="1354667"/>
            <a:ext cx="42333" cy="2667000"/>
          </a:xfrm>
          <a:custGeom>
            <a:avLst/>
            <a:gdLst/>
            <a:ahLst/>
            <a:cxnLst/>
            <a:rect l="l" t="t" r="r" b="b"/>
            <a:pathLst>
              <a:path w="42333" h="2667000">
                <a:moveTo>
                  <a:pt x="42333" y="0"/>
                </a:moveTo>
                <a:lnTo>
                  <a:pt x="42333" y="0"/>
                </a:lnTo>
                <a:lnTo>
                  <a:pt x="42333" y="2667000"/>
                </a:lnTo>
                <a:lnTo>
                  <a:pt x="42333" y="2667000"/>
                </a:lnTo>
                <a:cubicBezTo>
                  <a:pt x="18953" y="2667000"/>
                  <a:pt x="0" y="2648047"/>
                  <a:pt x="0" y="2624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77333" y="1566333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50883" y="1629833"/>
            <a:ext cx="1693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27667" y="1629833"/>
            <a:ext cx="1661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阶段 1: 元数据获取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7333" y="2116667"/>
            <a:ext cx="10668000" cy="508000"/>
          </a:xfrm>
          <a:custGeom>
            <a:avLst/>
            <a:gdLst/>
            <a:ahLst/>
            <a:cxnLst/>
            <a:rect l="l" t="t" r="r" b="b"/>
            <a:pathLst>
              <a:path w="10668000" h="508000">
                <a:moveTo>
                  <a:pt x="42332" y="0"/>
                </a:moveTo>
                <a:lnTo>
                  <a:pt x="10625668" y="0"/>
                </a:lnTo>
                <a:cubicBezTo>
                  <a:pt x="10649047" y="0"/>
                  <a:pt x="10668000" y="18953"/>
                  <a:pt x="10668000" y="42332"/>
                </a:cubicBezTo>
                <a:lnTo>
                  <a:pt x="10668000" y="465668"/>
                </a:lnTo>
                <a:cubicBezTo>
                  <a:pt x="10668000" y="489047"/>
                  <a:pt x="10649047" y="508000"/>
                  <a:pt x="10625668" y="508000"/>
                </a:cubicBezTo>
                <a:lnTo>
                  <a:pt x="42332" y="508000"/>
                </a:lnTo>
                <a:cubicBezTo>
                  <a:pt x="18953" y="508000"/>
                  <a:pt x="0" y="489047"/>
                  <a:pt x="0" y="465668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04333" y="2243667"/>
            <a:ext cx="10498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客户端向 Master 请求文件的 chunk 位置信息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7333" y="2709333"/>
            <a:ext cx="10668000" cy="508000"/>
          </a:xfrm>
          <a:custGeom>
            <a:avLst/>
            <a:gdLst/>
            <a:ahLst/>
            <a:cxnLst/>
            <a:rect l="l" t="t" r="r" b="b"/>
            <a:pathLst>
              <a:path w="10668000" h="508000">
                <a:moveTo>
                  <a:pt x="42332" y="0"/>
                </a:moveTo>
                <a:lnTo>
                  <a:pt x="10625668" y="0"/>
                </a:lnTo>
                <a:cubicBezTo>
                  <a:pt x="10649047" y="0"/>
                  <a:pt x="10668000" y="18953"/>
                  <a:pt x="10668000" y="42332"/>
                </a:cubicBezTo>
                <a:lnTo>
                  <a:pt x="10668000" y="465668"/>
                </a:lnTo>
                <a:cubicBezTo>
                  <a:pt x="10668000" y="489047"/>
                  <a:pt x="10649047" y="508000"/>
                  <a:pt x="10625668" y="508000"/>
                </a:cubicBezTo>
                <a:lnTo>
                  <a:pt x="42332" y="508000"/>
                </a:lnTo>
                <a:cubicBezTo>
                  <a:pt x="18953" y="508000"/>
                  <a:pt x="0" y="489047"/>
                  <a:pt x="0" y="465668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04333" y="2836333"/>
            <a:ext cx="10498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Master 返回 chunk 标识和所有副本的位置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8500" y="3302000"/>
            <a:ext cx="10646833" cy="508000"/>
          </a:xfrm>
          <a:custGeom>
            <a:avLst/>
            <a:gdLst/>
            <a:ahLst/>
            <a:cxnLst/>
            <a:rect l="l" t="t" r="r" b="b"/>
            <a:pathLst>
              <a:path w="10646833" h="508000">
                <a:moveTo>
                  <a:pt x="42332" y="0"/>
                </a:moveTo>
                <a:lnTo>
                  <a:pt x="10604502" y="0"/>
                </a:lnTo>
                <a:cubicBezTo>
                  <a:pt x="10627881" y="0"/>
                  <a:pt x="10646833" y="18953"/>
                  <a:pt x="10646833" y="42332"/>
                </a:cubicBezTo>
                <a:lnTo>
                  <a:pt x="10646833" y="465668"/>
                </a:lnTo>
                <a:cubicBezTo>
                  <a:pt x="10646833" y="489047"/>
                  <a:pt x="10627881" y="508000"/>
                  <a:pt x="10604502" y="508000"/>
                </a:cubicBezTo>
                <a:lnTo>
                  <a:pt x="42332" y="508000"/>
                </a:lnTo>
                <a:cubicBezTo>
                  <a:pt x="18953" y="508000"/>
                  <a:pt x="0" y="489047"/>
                  <a:pt x="0" y="465668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98500" y="3302000"/>
            <a:ext cx="42333" cy="508000"/>
          </a:xfrm>
          <a:custGeom>
            <a:avLst/>
            <a:gdLst/>
            <a:ahLst/>
            <a:cxnLst/>
            <a:rect l="l" t="t" r="r" b="b"/>
            <a:pathLst>
              <a:path w="42333" h="508000">
                <a:moveTo>
                  <a:pt x="42333" y="0"/>
                </a:moveTo>
                <a:lnTo>
                  <a:pt x="42333" y="0"/>
                </a:lnTo>
                <a:lnTo>
                  <a:pt x="42333" y="508000"/>
                </a:lnTo>
                <a:lnTo>
                  <a:pt x="42333" y="508000"/>
                </a:lnTo>
                <a:cubicBezTo>
                  <a:pt x="18953" y="508000"/>
                  <a:pt x="0" y="489047"/>
                  <a:pt x="0" y="465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46667" y="3429000"/>
            <a:ext cx="10456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设计要点：</a:t>
            </a:r>
            <a:r>
              <a:rPr lang="en-US" sz="133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客户端根据文件偏移量计算所需的 chunk，向 Master 请求位置信息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4500" y="4191000"/>
            <a:ext cx="11112500" cy="2667000"/>
          </a:xfrm>
          <a:custGeom>
            <a:avLst/>
            <a:gdLst/>
            <a:ahLst/>
            <a:cxnLst/>
            <a:rect l="l" t="t" r="r" b="b"/>
            <a:pathLst>
              <a:path w="11112500" h="2667000">
                <a:moveTo>
                  <a:pt x="42333" y="0"/>
                </a:moveTo>
                <a:lnTo>
                  <a:pt x="11027823" y="0"/>
                </a:lnTo>
                <a:cubicBezTo>
                  <a:pt x="11074589" y="0"/>
                  <a:pt x="11112500" y="37911"/>
                  <a:pt x="11112500" y="84677"/>
                </a:cubicBezTo>
                <a:lnTo>
                  <a:pt x="11112500" y="2582323"/>
                </a:lnTo>
                <a:cubicBezTo>
                  <a:pt x="11112500" y="2629089"/>
                  <a:pt x="11074589" y="2667000"/>
                  <a:pt x="11027823" y="2667000"/>
                </a:cubicBezTo>
                <a:lnTo>
                  <a:pt x="42333" y="2667000"/>
                </a:lnTo>
                <a:cubicBezTo>
                  <a:pt x="18953" y="2667000"/>
                  <a:pt x="0" y="2648047"/>
                  <a:pt x="0" y="2624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444500" y="4191000"/>
            <a:ext cx="42333" cy="2667000"/>
          </a:xfrm>
          <a:custGeom>
            <a:avLst/>
            <a:gdLst/>
            <a:ahLst/>
            <a:cxnLst/>
            <a:rect l="l" t="t" r="r" b="b"/>
            <a:pathLst>
              <a:path w="42333" h="2667000">
                <a:moveTo>
                  <a:pt x="42333" y="0"/>
                </a:moveTo>
                <a:lnTo>
                  <a:pt x="42333" y="0"/>
                </a:lnTo>
                <a:lnTo>
                  <a:pt x="42333" y="2667000"/>
                </a:lnTo>
                <a:lnTo>
                  <a:pt x="42333" y="2667000"/>
                </a:lnTo>
                <a:cubicBezTo>
                  <a:pt x="18953" y="2667000"/>
                  <a:pt x="0" y="2648047"/>
                  <a:pt x="0" y="2624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77333" y="4402667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33603" y="4466167"/>
            <a:ext cx="201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27667" y="4466167"/>
            <a:ext cx="24553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阶段 2: 副本选择与数据读取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7333" y="4953000"/>
            <a:ext cx="10668000" cy="508000"/>
          </a:xfrm>
          <a:custGeom>
            <a:avLst/>
            <a:gdLst/>
            <a:ahLst/>
            <a:cxnLst/>
            <a:rect l="l" t="t" r="r" b="b"/>
            <a:pathLst>
              <a:path w="10668000" h="508000">
                <a:moveTo>
                  <a:pt x="42332" y="0"/>
                </a:moveTo>
                <a:lnTo>
                  <a:pt x="10625668" y="0"/>
                </a:lnTo>
                <a:cubicBezTo>
                  <a:pt x="10649047" y="0"/>
                  <a:pt x="10668000" y="18953"/>
                  <a:pt x="10668000" y="42332"/>
                </a:cubicBezTo>
                <a:lnTo>
                  <a:pt x="10668000" y="465668"/>
                </a:lnTo>
                <a:cubicBezTo>
                  <a:pt x="10668000" y="489047"/>
                  <a:pt x="10649047" y="508000"/>
                  <a:pt x="10625668" y="508000"/>
                </a:cubicBezTo>
                <a:lnTo>
                  <a:pt x="42332" y="508000"/>
                </a:lnTo>
                <a:cubicBezTo>
                  <a:pt x="18953" y="508000"/>
                  <a:pt x="0" y="489047"/>
                  <a:pt x="0" y="465668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04333" y="5080000"/>
            <a:ext cx="10498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客户端选择最近的副本进行数据读取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7333" y="5545667"/>
            <a:ext cx="10668000" cy="508000"/>
          </a:xfrm>
          <a:custGeom>
            <a:avLst/>
            <a:gdLst/>
            <a:ahLst/>
            <a:cxnLst/>
            <a:rect l="l" t="t" r="r" b="b"/>
            <a:pathLst>
              <a:path w="10668000" h="508000">
                <a:moveTo>
                  <a:pt x="42332" y="0"/>
                </a:moveTo>
                <a:lnTo>
                  <a:pt x="10625668" y="0"/>
                </a:lnTo>
                <a:cubicBezTo>
                  <a:pt x="10649047" y="0"/>
                  <a:pt x="10668000" y="18953"/>
                  <a:pt x="10668000" y="42332"/>
                </a:cubicBezTo>
                <a:lnTo>
                  <a:pt x="10668000" y="465668"/>
                </a:lnTo>
                <a:cubicBezTo>
                  <a:pt x="10668000" y="489047"/>
                  <a:pt x="10649047" y="508000"/>
                  <a:pt x="10625668" y="508000"/>
                </a:cubicBezTo>
                <a:lnTo>
                  <a:pt x="42332" y="508000"/>
                </a:lnTo>
                <a:cubicBezTo>
                  <a:pt x="18953" y="508000"/>
                  <a:pt x="0" y="489047"/>
                  <a:pt x="0" y="465668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04333" y="5672667"/>
            <a:ext cx="10498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ChunkServer 返回数据和校验和信息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8500" y="6138333"/>
            <a:ext cx="10646833" cy="508000"/>
          </a:xfrm>
          <a:custGeom>
            <a:avLst/>
            <a:gdLst/>
            <a:ahLst/>
            <a:cxnLst/>
            <a:rect l="l" t="t" r="r" b="b"/>
            <a:pathLst>
              <a:path w="10646833" h="508000">
                <a:moveTo>
                  <a:pt x="42332" y="0"/>
                </a:moveTo>
                <a:lnTo>
                  <a:pt x="10604502" y="0"/>
                </a:lnTo>
                <a:cubicBezTo>
                  <a:pt x="10627881" y="0"/>
                  <a:pt x="10646833" y="18953"/>
                  <a:pt x="10646833" y="42332"/>
                </a:cubicBezTo>
                <a:lnTo>
                  <a:pt x="10646833" y="465668"/>
                </a:lnTo>
                <a:cubicBezTo>
                  <a:pt x="10646833" y="489047"/>
                  <a:pt x="10627881" y="508000"/>
                  <a:pt x="10604502" y="508000"/>
                </a:cubicBezTo>
                <a:lnTo>
                  <a:pt x="42332" y="508000"/>
                </a:lnTo>
                <a:cubicBezTo>
                  <a:pt x="18953" y="508000"/>
                  <a:pt x="0" y="489047"/>
                  <a:pt x="0" y="465668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698500" y="6138333"/>
            <a:ext cx="42333" cy="508000"/>
          </a:xfrm>
          <a:custGeom>
            <a:avLst/>
            <a:gdLst/>
            <a:ahLst/>
            <a:cxnLst/>
            <a:rect l="l" t="t" r="r" b="b"/>
            <a:pathLst>
              <a:path w="42333" h="508000">
                <a:moveTo>
                  <a:pt x="42333" y="0"/>
                </a:moveTo>
                <a:lnTo>
                  <a:pt x="42333" y="0"/>
                </a:lnTo>
                <a:lnTo>
                  <a:pt x="42333" y="508000"/>
                </a:lnTo>
                <a:lnTo>
                  <a:pt x="42333" y="508000"/>
                </a:lnTo>
                <a:cubicBezTo>
                  <a:pt x="18953" y="508000"/>
                  <a:pt x="0" y="489047"/>
                  <a:pt x="0" y="465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46667" y="6265333"/>
            <a:ext cx="10456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副本选择策略：</a:t>
            </a:r>
            <a:r>
              <a:rPr lang="en-US" sz="133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网络距离优先、负载均衡、容错处理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1789833" y="697437"/>
            <a:ext cx="4042833" cy="2921000"/>
          </a:xfrm>
          <a:custGeom>
            <a:avLst/>
            <a:gdLst/>
            <a:ahLst/>
            <a:cxnLst/>
            <a:rect l="l" t="t" r="r" b="b"/>
            <a:pathLst>
              <a:path w="4042833" h="2921000">
                <a:moveTo>
                  <a:pt x="42333" y="0"/>
                </a:moveTo>
                <a:lnTo>
                  <a:pt x="3958154" y="0"/>
                </a:lnTo>
                <a:cubicBezTo>
                  <a:pt x="4004921" y="0"/>
                  <a:pt x="4042833" y="37912"/>
                  <a:pt x="4042833" y="84680"/>
                </a:cubicBezTo>
                <a:lnTo>
                  <a:pt x="4042833" y="2836320"/>
                </a:lnTo>
                <a:cubicBezTo>
                  <a:pt x="4042833" y="2883088"/>
                  <a:pt x="4004921" y="2921000"/>
                  <a:pt x="3958154" y="2921000"/>
                </a:cubicBezTo>
                <a:lnTo>
                  <a:pt x="42333" y="2921000"/>
                </a:lnTo>
                <a:cubicBezTo>
                  <a:pt x="18953" y="2921000"/>
                  <a:pt x="0" y="2902047"/>
                  <a:pt x="0" y="2878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11789833" y="697437"/>
            <a:ext cx="42333" cy="2921000"/>
          </a:xfrm>
          <a:custGeom>
            <a:avLst/>
            <a:gdLst/>
            <a:ahLst/>
            <a:cxnLst/>
            <a:rect l="l" t="t" r="r" b="b"/>
            <a:pathLst>
              <a:path w="42333" h="2921000">
                <a:moveTo>
                  <a:pt x="42333" y="0"/>
                </a:moveTo>
                <a:lnTo>
                  <a:pt x="42333" y="0"/>
                </a:lnTo>
                <a:lnTo>
                  <a:pt x="42333" y="2921000"/>
                </a:lnTo>
                <a:lnTo>
                  <a:pt x="42333" y="2921000"/>
                </a:lnTo>
                <a:cubicBezTo>
                  <a:pt x="18953" y="2921000"/>
                  <a:pt x="0" y="2902047"/>
                  <a:pt x="0" y="2878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12022667" y="909103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2178109" y="972603"/>
            <a:ext cx="2116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573000" y="972603"/>
            <a:ext cx="20743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阶段 3: 数据验证与缓存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2022667" y="1459437"/>
            <a:ext cx="3598333" cy="508000"/>
          </a:xfrm>
          <a:custGeom>
            <a:avLst/>
            <a:gdLst/>
            <a:ahLst/>
            <a:cxnLst/>
            <a:rect l="l" t="t" r="r" b="b"/>
            <a:pathLst>
              <a:path w="3598333" h="508000">
                <a:moveTo>
                  <a:pt x="42332" y="0"/>
                </a:moveTo>
                <a:lnTo>
                  <a:pt x="3556002" y="0"/>
                </a:lnTo>
                <a:cubicBezTo>
                  <a:pt x="3579381" y="0"/>
                  <a:pt x="3598333" y="18953"/>
                  <a:pt x="3598333" y="42332"/>
                </a:cubicBezTo>
                <a:lnTo>
                  <a:pt x="3598333" y="465668"/>
                </a:lnTo>
                <a:cubicBezTo>
                  <a:pt x="3598333" y="489047"/>
                  <a:pt x="3579381" y="508000"/>
                  <a:pt x="3556002" y="508000"/>
                </a:cubicBezTo>
                <a:lnTo>
                  <a:pt x="42332" y="508000"/>
                </a:lnTo>
                <a:cubicBezTo>
                  <a:pt x="18953" y="508000"/>
                  <a:pt x="0" y="489047"/>
                  <a:pt x="0" y="465668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2149667" y="1586437"/>
            <a:ext cx="342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客户端验证数据完整性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2022667" y="2052103"/>
            <a:ext cx="3598333" cy="508000"/>
          </a:xfrm>
          <a:custGeom>
            <a:avLst/>
            <a:gdLst/>
            <a:ahLst/>
            <a:cxnLst/>
            <a:rect l="l" t="t" r="r" b="b"/>
            <a:pathLst>
              <a:path w="3598333" h="508000">
                <a:moveTo>
                  <a:pt x="42332" y="0"/>
                </a:moveTo>
                <a:lnTo>
                  <a:pt x="3556002" y="0"/>
                </a:lnTo>
                <a:cubicBezTo>
                  <a:pt x="3579381" y="0"/>
                  <a:pt x="3598333" y="18953"/>
                  <a:pt x="3598333" y="42332"/>
                </a:cubicBezTo>
                <a:lnTo>
                  <a:pt x="3598333" y="465668"/>
                </a:lnTo>
                <a:cubicBezTo>
                  <a:pt x="3598333" y="489047"/>
                  <a:pt x="3579381" y="508000"/>
                  <a:pt x="3556002" y="508000"/>
                </a:cubicBezTo>
                <a:lnTo>
                  <a:pt x="42332" y="508000"/>
                </a:lnTo>
                <a:cubicBezTo>
                  <a:pt x="18953" y="508000"/>
                  <a:pt x="0" y="489047"/>
                  <a:pt x="0" y="465668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2149667" y="2179103"/>
            <a:ext cx="342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缓存元数据信息以提高后续访问效率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2043833" y="2644770"/>
            <a:ext cx="3577167" cy="762000"/>
          </a:xfrm>
          <a:custGeom>
            <a:avLst/>
            <a:gdLst/>
            <a:ahLst/>
            <a:cxnLst/>
            <a:rect l="l" t="t" r="r" b="b"/>
            <a:pathLst>
              <a:path w="3577167" h="762000">
                <a:moveTo>
                  <a:pt x="42333" y="0"/>
                </a:moveTo>
                <a:lnTo>
                  <a:pt x="3534830" y="0"/>
                </a:lnTo>
                <a:cubicBezTo>
                  <a:pt x="3558212" y="0"/>
                  <a:pt x="3577167" y="18955"/>
                  <a:pt x="3577167" y="42337"/>
                </a:cubicBezTo>
                <a:lnTo>
                  <a:pt x="3577167" y="719663"/>
                </a:lnTo>
                <a:cubicBezTo>
                  <a:pt x="3577167" y="743045"/>
                  <a:pt x="3558212" y="762000"/>
                  <a:pt x="3534830" y="762000"/>
                </a:cubicBezTo>
                <a:lnTo>
                  <a:pt x="42333" y="762000"/>
                </a:lnTo>
                <a:cubicBezTo>
                  <a:pt x="18953" y="762000"/>
                  <a:pt x="0" y="743047"/>
                  <a:pt x="0" y="719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12043833" y="2644770"/>
            <a:ext cx="42333" cy="762000"/>
          </a:xfrm>
          <a:custGeom>
            <a:avLst/>
            <a:gdLst/>
            <a:ahLst/>
            <a:cxnLst/>
            <a:rect l="l" t="t" r="r" b="b"/>
            <a:pathLst>
              <a:path w="42333" h="762000">
                <a:moveTo>
                  <a:pt x="42333" y="0"/>
                </a:moveTo>
                <a:lnTo>
                  <a:pt x="42333" y="0"/>
                </a:lnTo>
                <a:lnTo>
                  <a:pt x="42333" y="762000"/>
                </a:lnTo>
                <a:lnTo>
                  <a:pt x="42333" y="762000"/>
                </a:lnTo>
                <a:cubicBezTo>
                  <a:pt x="18953" y="762000"/>
                  <a:pt x="0" y="743047"/>
                  <a:pt x="0" y="719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2192000" y="2771770"/>
            <a:ext cx="338666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数据传输优化：</a:t>
            </a:r>
            <a:r>
              <a:rPr lang="en-US" sz="133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范围读取、校验和验证、连接复用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773958" y="3793062"/>
            <a:ext cx="4053417" cy="2804583"/>
          </a:xfrm>
          <a:custGeom>
            <a:avLst/>
            <a:gdLst/>
            <a:ahLst/>
            <a:cxnLst/>
            <a:rect l="l" t="t" r="r" b="b"/>
            <a:pathLst>
              <a:path w="4053417" h="2804583">
                <a:moveTo>
                  <a:pt x="84670" y="0"/>
                </a:moveTo>
                <a:lnTo>
                  <a:pt x="3968746" y="0"/>
                </a:lnTo>
                <a:cubicBezTo>
                  <a:pt x="4015508" y="0"/>
                  <a:pt x="4053417" y="37908"/>
                  <a:pt x="4053417" y="84670"/>
                </a:cubicBezTo>
                <a:lnTo>
                  <a:pt x="4053417" y="2719913"/>
                </a:lnTo>
                <a:cubicBezTo>
                  <a:pt x="4053417" y="2766675"/>
                  <a:pt x="4015508" y="2804583"/>
                  <a:pt x="3968746" y="2804583"/>
                </a:cubicBezTo>
                <a:lnTo>
                  <a:pt x="84670" y="2804583"/>
                </a:lnTo>
                <a:cubicBezTo>
                  <a:pt x="37908" y="2804583"/>
                  <a:pt x="0" y="2766675"/>
                  <a:pt x="0" y="2719913"/>
                </a:cubicBezTo>
                <a:lnTo>
                  <a:pt x="0" y="84670"/>
                </a:lnTo>
                <a:cubicBezTo>
                  <a:pt x="0" y="37908"/>
                  <a:pt x="37908" y="0"/>
                  <a:pt x="84670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12017375" y="406293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35719"/>
                </a:moveTo>
                <a:cubicBezTo>
                  <a:pt x="190500" y="54397"/>
                  <a:pt x="168511" y="82265"/>
                  <a:pt x="159023" y="93390"/>
                </a:cubicBezTo>
                <a:cubicBezTo>
                  <a:pt x="157609" y="95027"/>
                  <a:pt x="155525" y="95659"/>
                  <a:pt x="153628" y="95250"/>
                </a:cubicBezTo>
                <a:lnTo>
                  <a:pt x="119063" y="95250"/>
                </a:lnTo>
                <a:cubicBezTo>
                  <a:pt x="112477" y="95250"/>
                  <a:pt x="107156" y="100571"/>
                  <a:pt x="107156" y="107156"/>
                </a:cubicBezTo>
                <a:cubicBezTo>
                  <a:pt x="107156" y="113742"/>
                  <a:pt x="112477" y="119063"/>
                  <a:pt x="119063" y="119063"/>
                </a:cubicBezTo>
                <a:lnTo>
                  <a:pt x="154781" y="119063"/>
                </a:lnTo>
                <a:cubicBezTo>
                  <a:pt x="174501" y="119063"/>
                  <a:pt x="190500" y="135062"/>
                  <a:pt x="190500" y="154781"/>
                </a:cubicBezTo>
                <a:cubicBezTo>
                  <a:pt x="190500" y="174501"/>
                  <a:pt x="174501" y="190500"/>
                  <a:pt x="154781" y="190500"/>
                </a:cubicBezTo>
                <a:lnTo>
                  <a:pt x="51941" y="190500"/>
                </a:lnTo>
                <a:cubicBezTo>
                  <a:pt x="55178" y="186817"/>
                  <a:pt x="59122" y="182091"/>
                  <a:pt x="63103" y="176808"/>
                </a:cubicBezTo>
                <a:cubicBezTo>
                  <a:pt x="65447" y="173682"/>
                  <a:pt x="67866" y="170259"/>
                  <a:pt x="70172" y="166688"/>
                </a:cubicBezTo>
                <a:lnTo>
                  <a:pt x="154781" y="166688"/>
                </a:lnTo>
                <a:cubicBezTo>
                  <a:pt x="161367" y="166688"/>
                  <a:pt x="166688" y="161367"/>
                  <a:pt x="166688" y="154781"/>
                </a:cubicBezTo>
                <a:cubicBezTo>
                  <a:pt x="166688" y="148196"/>
                  <a:pt x="161367" y="142875"/>
                  <a:pt x="154781" y="142875"/>
                </a:cubicBezTo>
                <a:lnTo>
                  <a:pt x="119063" y="142875"/>
                </a:lnTo>
                <a:cubicBezTo>
                  <a:pt x="99343" y="142875"/>
                  <a:pt x="83344" y="126876"/>
                  <a:pt x="83344" y="107156"/>
                </a:cubicBezTo>
                <a:cubicBezTo>
                  <a:pt x="83344" y="87437"/>
                  <a:pt x="99343" y="71438"/>
                  <a:pt x="119063" y="71438"/>
                </a:cubicBezTo>
                <a:lnTo>
                  <a:pt x="133871" y="71438"/>
                </a:lnTo>
                <a:cubicBezTo>
                  <a:pt x="126057" y="59717"/>
                  <a:pt x="119063" y="46248"/>
                  <a:pt x="119063" y="35719"/>
                </a:cubicBezTo>
                <a:cubicBezTo>
                  <a:pt x="119063" y="15999"/>
                  <a:pt x="135062" y="0"/>
                  <a:pt x="154781" y="0"/>
                </a:cubicBezTo>
                <a:cubicBezTo>
                  <a:pt x="174501" y="0"/>
                  <a:pt x="190500" y="15999"/>
                  <a:pt x="190500" y="35719"/>
                </a:cubicBezTo>
                <a:close/>
                <a:moveTo>
                  <a:pt x="43569" y="181980"/>
                </a:moveTo>
                <a:cubicBezTo>
                  <a:pt x="42156" y="183579"/>
                  <a:pt x="40891" y="184993"/>
                  <a:pt x="39812" y="186184"/>
                </a:cubicBezTo>
                <a:lnTo>
                  <a:pt x="39142" y="186928"/>
                </a:lnTo>
                <a:lnTo>
                  <a:pt x="39067" y="186854"/>
                </a:lnTo>
                <a:cubicBezTo>
                  <a:pt x="36835" y="188565"/>
                  <a:pt x="33635" y="188342"/>
                  <a:pt x="31626" y="186184"/>
                </a:cubicBezTo>
                <a:cubicBezTo>
                  <a:pt x="22250" y="175989"/>
                  <a:pt x="0" y="149758"/>
                  <a:pt x="0" y="130969"/>
                </a:cubicBezTo>
                <a:cubicBezTo>
                  <a:pt x="0" y="111249"/>
                  <a:pt x="15999" y="95250"/>
                  <a:pt x="35719" y="95250"/>
                </a:cubicBezTo>
                <a:cubicBezTo>
                  <a:pt x="55438" y="95250"/>
                  <a:pt x="71438" y="111249"/>
                  <a:pt x="71438" y="130969"/>
                </a:cubicBezTo>
                <a:cubicBezTo>
                  <a:pt x="71438" y="142131"/>
                  <a:pt x="63587" y="155897"/>
                  <a:pt x="55252" y="167394"/>
                </a:cubicBezTo>
                <a:cubicBezTo>
                  <a:pt x="51271" y="172864"/>
                  <a:pt x="47179" y="177812"/>
                  <a:pt x="43793" y="181719"/>
                </a:cubicBezTo>
                <a:lnTo>
                  <a:pt x="43569" y="181980"/>
                </a:lnTo>
                <a:close/>
                <a:moveTo>
                  <a:pt x="47625" y="130969"/>
                </a:moveTo>
                <a:cubicBezTo>
                  <a:pt x="47625" y="124398"/>
                  <a:pt x="42290" y="119063"/>
                  <a:pt x="35719" y="119063"/>
                </a:cubicBezTo>
                <a:cubicBezTo>
                  <a:pt x="29148" y="119063"/>
                  <a:pt x="23812" y="124398"/>
                  <a:pt x="23812" y="130969"/>
                </a:cubicBezTo>
                <a:cubicBezTo>
                  <a:pt x="23812" y="137540"/>
                  <a:pt x="29148" y="142875"/>
                  <a:pt x="35719" y="142875"/>
                </a:cubicBezTo>
                <a:cubicBezTo>
                  <a:pt x="42290" y="142875"/>
                  <a:pt x="47625" y="137540"/>
                  <a:pt x="47625" y="130969"/>
                </a:cubicBezTo>
                <a:close/>
                <a:moveTo>
                  <a:pt x="154781" y="47625"/>
                </a:moveTo>
                <a:cubicBezTo>
                  <a:pt x="161352" y="47625"/>
                  <a:pt x="166688" y="42290"/>
                  <a:pt x="166688" y="35719"/>
                </a:cubicBezTo>
                <a:cubicBezTo>
                  <a:pt x="166688" y="29148"/>
                  <a:pt x="161352" y="23812"/>
                  <a:pt x="154781" y="23812"/>
                </a:cubicBezTo>
                <a:cubicBezTo>
                  <a:pt x="148210" y="23812"/>
                  <a:pt x="142875" y="29148"/>
                  <a:pt x="142875" y="35719"/>
                </a:cubicBezTo>
                <a:cubicBezTo>
                  <a:pt x="142875" y="42290"/>
                  <a:pt x="148210" y="47625"/>
                  <a:pt x="154781" y="47625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2234333" y="4010020"/>
            <a:ext cx="34713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读取流程总结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1990917" y="4433353"/>
            <a:ext cx="3619500" cy="423333"/>
          </a:xfrm>
          <a:custGeom>
            <a:avLst/>
            <a:gdLst/>
            <a:ahLst/>
            <a:cxnLst/>
            <a:rect l="l" t="t" r="r" b="b"/>
            <a:pathLst>
              <a:path w="3619500" h="423333">
                <a:moveTo>
                  <a:pt x="42333" y="0"/>
                </a:moveTo>
                <a:lnTo>
                  <a:pt x="3577167" y="0"/>
                </a:lnTo>
                <a:cubicBezTo>
                  <a:pt x="3600547" y="0"/>
                  <a:pt x="3619500" y="18953"/>
                  <a:pt x="3619500" y="42333"/>
                </a:cubicBezTo>
                <a:lnTo>
                  <a:pt x="3619500" y="381000"/>
                </a:lnTo>
                <a:cubicBezTo>
                  <a:pt x="3619500" y="404380"/>
                  <a:pt x="3600547" y="423333"/>
                  <a:pt x="3577167" y="423333"/>
                </a:cubicBezTo>
                <a:lnTo>
                  <a:pt x="42333" y="423333"/>
                </a:lnTo>
                <a:cubicBezTo>
                  <a:pt x="18953" y="423333"/>
                  <a:pt x="0" y="404380"/>
                  <a:pt x="0" y="381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12075583" y="451802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2038542" y="4518020"/>
            <a:ext cx="328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2414250" y="4539187"/>
            <a:ext cx="2402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 → Master：获取 chunk 位置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990917" y="4941353"/>
            <a:ext cx="3619500" cy="423333"/>
          </a:xfrm>
          <a:custGeom>
            <a:avLst/>
            <a:gdLst/>
            <a:ahLst/>
            <a:cxnLst/>
            <a:rect l="l" t="t" r="r" b="b"/>
            <a:pathLst>
              <a:path w="3619500" h="423333">
                <a:moveTo>
                  <a:pt x="42333" y="0"/>
                </a:moveTo>
                <a:lnTo>
                  <a:pt x="3577167" y="0"/>
                </a:lnTo>
                <a:cubicBezTo>
                  <a:pt x="3600547" y="0"/>
                  <a:pt x="3619500" y="18953"/>
                  <a:pt x="3619500" y="42333"/>
                </a:cubicBezTo>
                <a:lnTo>
                  <a:pt x="3619500" y="381000"/>
                </a:lnTo>
                <a:cubicBezTo>
                  <a:pt x="3619500" y="404380"/>
                  <a:pt x="3600547" y="423333"/>
                  <a:pt x="3577167" y="423333"/>
                </a:cubicBezTo>
                <a:lnTo>
                  <a:pt x="42333" y="423333"/>
                </a:lnTo>
                <a:cubicBezTo>
                  <a:pt x="18953" y="423333"/>
                  <a:pt x="0" y="404380"/>
                  <a:pt x="0" y="381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12075583" y="502602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2038542" y="5026020"/>
            <a:ext cx="328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2414250" y="5047187"/>
            <a:ext cx="2317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 → ChunkServer：读取数据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1990917" y="5449353"/>
            <a:ext cx="3619500" cy="423333"/>
          </a:xfrm>
          <a:custGeom>
            <a:avLst/>
            <a:gdLst/>
            <a:ahLst/>
            <a:cxnLst/>
            <a:rect l="l" t="t" r="r" b="b"/>
            <a:pathLst>
              <a:path w="3619500" h="423333">
                <a:moveTo>
                  <a:pt x="42333" y="0"/>
                </a:moveTo>
                <a:lnTo>
                  <a:pt x="3577167" y="0"/>
                </a:lnTo>
                <a:cubicBezTo>
                  <a:pt x="3600547" y="0"/>
                  <a:pt x="3619500" y="18953"/>
                  <a:pt x="3619500" y="42333"/>
                </a:cubicBezTo>
                <a:lnTo>
                  <a:pt x="3619500" y="381000"/>
                </a:lnTo>
                <a:cubicBezTo>
                  <a:pt x="3619500" y="404380"/>
                  <a:pt x="3600547" y="423333"/>
                  <a:pt x="3577167" y="423333"/>
                </a:cubicBezTo>
                <a:lnTo>
                  <a:pt x="42333" y="423333"/>
                </a:lnTo>
                <a:cubicBezTo>
                  <a:pt x="18953" y="423333"/>
                  <a:pt x="0" y="404380"/>
                  <a:pt x="0" y="381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12075583" y="553402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12038542" y="5534020"/>
            <a:ext cx="328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2414250" y="5555187"/>
            <a:ext cx="1111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验证数据完整性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1990917" y="5957353"/>
            <a:ext cx="3619500" cy="423333"/>
          </a:xfrm>
          <a:custGeom>
            <a:avLst/>
            <a:gdLst/>
            <a:ahLst/>
            <a:cxnLst/>
            <a:rect l="l" t="t" r="r" b="b"/>
            <a:pathLst>
              <a:path w="3619500" h="423333">
                <a:moveTo>
                  <a:pt x="42333" y="0"/>
                </a:moveTo>
                <a:lnTo>
                  <a:pt x="3577167" y="0"/>
                </a:lnTo>
                <a:cubicBezTo>
                  <a:pt x="3600547" y="0"/>
                  <a:pt x="3619500" y="18953"/>
                  <a:pt x="3619500" y="42333"/>
                </a:cubicBezTo>
                <a:lnTo>
                  <a:pt x="3619500" y="381000"/>
                </a:lnTo>
                <a:cubicBezTo>
                  <a:pt x="3619500" y="404380"/>
                  <a:pt x="3600547" y="423333"/>
                  <a:pt x="3577167" y="423333"/>
                </a:cubicBezTo>
                <a:lnTo>
                  <a:pt x="42333" y="423333"/>
                </a:lnTo>
                <a:cubicBezTo>
                  <a:pt x="18953" y="423333"/>
                  <a:pt x="0" y="404380"/>
                  <a:pt x="0" y="381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12075583" y="604202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12038542" y="6042020"/>
            <a:ext cx="328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67" b="1" dirty="0">
                <a:solidFill>
                  <a:srgbClr val="1A1D2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2414250" y="6063187"/>
            <a:ext cx="214841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缓存元数据，提高后续访问效率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1773958" y="6777562"/>
            <a:ext cx="4053417" cy="2169583"/>
          </a:xfrm>
          <a:custGeom>
            <a:avLst/>
            <a:gdLst/>
            <a:ahLst/>
            <a:cxnLst/>
            <a:rect l="l" t="t" r="r" b="b"/>
            <a:pathLst>
              <a:path w="4053417" h="2169583">
                <a:moveTo>
                  <a:pt x="84657" y="0"/>
                </a:moveTo>
                <a:lnTo>
                  <a:pt x="3968760" y="0"/>
                </a:lnTo>
                <a:cubicBezTo>
                  <a:pt x="4015514" y="0"/>
                  <a:pt x="4053417" y="37902"/>
                  <a:pt x="4053417" y="84657"/>
                </a:cubicBezTo>
                <a:lnTo>
                  <a:pt x="4053417" y="2084926"/>
                </a:lnTo>
                <a:cubicBezTo>
                  <a:pt x="4053417" y="2131681"/>
                  <a:pt x="4015514" y="2169583"/>
                  <a:pt x="3968760" y="2169583"/>
                </a:cubicBezTo>
                <a:lnTo>
                  <a:pt x="84657" y="2169583"/>
                </a:lnTo>
                <a:cubicBezTo>
                  <a:pt x="37902" y="2169583"/>
                  <a:pt x="0" y="2131681"/>
                  <a:pt x="0" y="2084926"/>
                </a:cubicBezTo>
                <a:lnTo>
                  <a:pt x="0" y="84657"/>
                </a:lnTo>
                <a:cubicBezTo>
                  <a:pt x="0" y="37902"/>
                  <a:pt x="37902" y="0"/>
                  <a:pt x="84657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12005469" y="7047437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92273" y="32742"/>
                </a:moveTo>
                <a:lnTo>
                  <a:pt x="122039" y="32742"/>
                </a:lnTo>
                <a:lnTo>
                  <a:pt x="122039" y="50602"/>
                </a:lnTo>
                <a:lnTo>
                  <a:pt x="92273" y="50602"/>
                </a:lnTo>
                <a:lnTo>
                  <a:pt x="92273" y="32742"/>
                </a:lnTo>
                <a:close/>
                <a:moveTo>
                  <a:pt x="89297" y="11906"/>
                </a:moveTo>
                <a:cubicBezTo>
                  <a:pt x="79437" y="11906"/>
                  <a:pt x="71438" y="19906"/>
                  <a:pt x="71438" y="29766"/>
                </a:cubicBezTo>
                <a:lnTo>
                  <a:pt x="71438" y="53578"/>
                </a:lnTo>
                <a:cubicBezTo>
                  <a:pt x="71438" y="63438"/>
                  <a:pt x="79437" y="71438"/>
                  <a:pt x="89297" y="71438"/>
                </a:cubicBezTo>
                <a:lnTo>
                  <a:pt x="95250" y="71438"/>
                </a:lnTo>
                <a:lnTo>
                  <a:pt x="95250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47625" y="107156"/>
                </a:lnTo>
                <a:lnTo>
                  <a:pt x="47625" y="119063"/>
                </a:lnTo>
                <a:lnTo>
                  <a:pt x="41672" y="119063"/>
                </a:lnTo>
                <a:cubicBezTo>
                  <a:pt x="31812" y="119063"/>
                  <a:pt x="23812" y="127062"/>
                  <a:pt x="23812" y="136922"/>
                </a:cubicBezTo>
                <a:lnTo>
                  <a:pt x="23812" y="160734"/>
                </a:lnTo>
                <a:cubicBezTo>
                  <a:pt x="23812" y="170594"/>
                  <a:pt x="31812" y="178594"/>
                  <a:pt x="41672" y="178594"/>
                </a:cubicBezTo>
                <a:lnTo>
                  <a:pt x="77391" y="178594"/>
                </a:lnTo>
                <a:cubicBezTo>
                  <a:pt x="87250" y="178594"/>
                  <a:pt x="95250" y="170594"/>
                  <a:pt x="95250" y="160734"/>
                </a:cubicBezTo>
                <a:lnTo>
                  <a:pt x="95250" y="136922"/>
                </a:lnTo>
                <a:cubicBezTo>
                  <a:pt x="95250" y="127062"/>
                  <a:pt x="87250" y="119063"/>
                  <a:pt x="77391" y="119063"/>
                </a:cubicBezTo>
                <a:lnTo>
                  <a:pt x="71438" y="119063"/>
                </a:lnTo>
                <a:lnTo>
                  <a:pt x="71438" y="107156"/>
                </a:lnTo>
                <a:lnTo>
                  <a:pt x="142875" y="107156"/>
                </a:lnTo>
                <a:lnTo>
                  <a:pt x="142875" y="119063"/>
                </a:lnTo>
                <a:lnTo>
                  <a:pt x="136922" y="119063"/>
                </a:lnTo>
                <a:cubicBezTo>
                  <a:pt x="127062" y="119063"/>
                  <a:pt x="119063" y="127062"/>
                  <a:pt x="119063" y="136922"/>
                </a:cubicBezTo>
                <a:lnTo>
                  <a:pt x="119063" y="160734"/>
                </a:lnTo>
                <a:cubicBezTo>
                  <a:pt x="119063" y="170594"/>
                  <a:pt x="127062" y="178594"/>
                  <a:pt x="136922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136922"/>
                </a:lnTo>
                <a:cubicBezTo>
                  <a:pt x="190500" y="127062"/>
                  <a:pt x="182500" y="119063"/>
                  <a:pt x="172641" y="119063"/>
                </a:cubicBezTo>
                <a:lnTo>
                  <a:pt x="166688" y="119063"/>
                </a:lnTo>
                <a:lnTo>
                  <a:pt x="166688" y="107156"/>
                </a:lnTo>
                <a:lnTo>
                  <a:pt x="202406" y="107156"/>
                </a:lnTo>
                <a:cubicBezTo>
                  <a:pt x="208992" y="107156"/>
                  <a:pt x="214313" y="101836"/>
                  <a:pt x="214313" y="95250"/>
                </a:cubicBezTo>
                <a:cubicBezTo>
                  <a:pt x="214313" y="88664"/>
                  <a:pt x="208992" y="83344"/>
                  <a:pt x="202406" y="83344"/>
                </a:cubicBezTo>
                <a:lnTo>
                  <a:pt x="119063" y="83344"/>
                </a:lnTo>
                <a:lnTo>
                  <a:pt x="119063" y="71438"/>
                </a:lnTo>
                <a:lnTo>
                  <a:pt x="125016" y="71438"/>
                </a:lnTo>
                <a:cubicBezTo>
                  <a:pt x="134875" y="71438"/>
                  <a:pt x="142875" y="63438"/>
                  <a:pt x="142875" y="53578"/>
                </a:cubicBezTo>
                <a:lnTo>
                  <a:pt x="142875" y="29766"/>
                </a:lnTo>
                <a:cubicBezTo>
                  <a:pt x="142875" y="19906"/>
                  <a:pt x="134875" y="11906"/>
                  <a:pt x="125016" y="11906"/>
                </a:cubicBezTo>
                <a:lnTo>
                  <a:pt x="89297" y="11906"/>
                </a:lnTo>
                <a:close/>
                <a:moveTo>
                  <a:pt x="166688" y="139898"/>
                </a:moveTo>
                <a:lnTo>
                  <a:pt x="169664" y="139898"/>
                </a:lnTo>
                <a:lnTo>
                  <a:pt x="169664" y="157758"/>
                </a:lnTo>
                <a:lnTo>
                  <a:pt x="139898" y="157758"/>
                </a:lnTo>
                <a:lnTo>
                  <a:pt x="139898" y="139898"/>
                </a:lnTo>
                <a:lnTo>
                  <a:pt x="166688" y="139898"/>
                </a:lnTo>
                <a:close/>
                <a:moveTo>
                  <a:pt x="71438" y="139898"/>
                </a:moveTo>
                <a:lnTo>
                  <a:pt x="74414" y="139898"/>
                </a:lnTo>
                <a:lnTo>
                  <a:pt x="74414" y="157758"/>
                </a:lnTo>
                <a:lnTo>
                  <a:pt x="44648" y="157758"/>
                </a:lnTo>
                <a:lnTo>
                  <a:pt x="44648" y="139898"/>
                </a:lnTo>
                <a:lnTo>
                  <a:pt x="71438" y="139898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12234333" y="6994520"/>
            <a:ext cx="34713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网络拓扑感知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1990917" y="7417853"/>
            <a:ext cx="3619500" cy="381000"/>
          </a:xfrm>
          <a:custGeom>
            <a:avLst/>
            <a:gdLst/>
            <a:ahLst/>
            <a:cxnLst/>
            <a:rect l="l" t="t" r="r" b="b"/>
            <a:pathLst>
              <a:path w="3619500" h="381000">
                <a:moveTo>
                  <a:pt x="42333" y="0"/>
                </a:moveTo>
                <a:lnTo>
                  <a:pt x="3577167" y="0"/>
                </a:lnTo>
                <a:cubicBezTo>
                  <a:pt x="3600547" y="0"/>
                  <a:pt x="3619500" y="18953"/>
                  <a:pt x="3619500" y="42333"/>
                </a:cubicBezTo>
                <a:lnTo>
                  <a:pt x="3619500" y="338667"/>
                </a:lnTo>
                <a:cubicBezTo>
                  <a:pt x="3619500" y="362047"/>
                  <a:pt x="3600547" y="381000"/>
                  <a:pt x="3577167" y="381000"/>
                </a:cubicBezTo>
                <a:lnTo>
                  <a:pt x="42333" y="381000"/>
                </a:lnTo>
                <a:cubicBezTo>
                  <a:pt x="18953" y="381000"/>
                  <a:pt x="0" y="362047"/>
                  <a:pt x="0" y="338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12075583" y="7502520"/>
            <a:ext cx="3524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同机架优先</a:t>
            </a: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选择同机架或同数据中心副本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1990917" y="7883520"/>
            <a:ext cx="3619500" cy="381000"/>
          </a:xfrm>
          <a:custGeom>
            <a:avLst/>
            <a:gdLst/>
            <a:ahLst/>
            <a:cxnLst/>
            <a:rect l="l" t="t" r="r" b="b"/>
            <a:pathLst>
              <a:path w="3619500" h="381000">
                <a:moveTo>
                  <a:pt x="42333" y="0"/>
                </a:moveTo>
                <a:lnTo>
                  <a:pt x="3577167" y="0"/>
                </a:lnTo>
                <a:cubicBezTo>
                  <a:pt x="3600547" y="0"/>
                  <a:pt x="3619500" y="18953"/>
                  <a:pt x="3619500" y="42333"/>
                </a:cubicBezTo>
                <a:lnTo>
                  <a:pt x="3619500" y="338667"/>
                </a:lnTo>
                <a:cubicBezTo>
                  <a:pt x="3619500" y="362047"/>
                  <a:pt x="3600547" y="381000"/>
                  <a:pt x="3577167" y="381000"/>
                </a:cubicBezTo>
                <a:lnTo>
                  <a:pt x="42333" y="381000"/>
                </a:lnTo>
                <a:cubicBezTo>
                  <a:pt x="18953" y="381000"/>
                  <a:pt x="0" y="362047"/>
                  <a:pt x="0" y="338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12075583" y="7968187"/>
            <a:ext cx="3524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负载均衡</a:t>
            </a: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在多个可用副本中选择负载较低节点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1990917" y="8349187"/>
            <a:ext cx="3619500" cy="381000"/>
          </a:xfrm>
          <a:custGeom>
            <a:avLst/>
            <a:gdLst/>
            <a:ahLst/>
            <a:cxnLst/>
            <a:rect l="l" t="t" r="r" b="b"/>
            <a:pathLst>
              <a:path w="3619500" h="381000">
                <a:moveTo>
                  <a:pt x="42333" y="0"/>
                </a:moveTo>
                <a:lnTo>
                  <a:pt x="3577167" y="0"/>
                </a:lnTo>
                <a:cubicBezTo>
                  <a:pt x="3600547" y="0"/>
                  <a:pt x="3619500" y="18953"/>
                  <a:pt x="3619500" y="42333"/>
                </a:cubicBezTo>
                <a:lnTo>
                  <a:pt x="3619500" y="338667"/>
                </a:lnTo>
                <a:cubicBezTo>
                  <a:pt x="3619500" y="362047"/>
                  <a:pt x="3600547" y="381000"/>
                  <a:pt x="3577167" y="381000"/>
                </a:cubicBezTo>
                <a:lnTo>
                  <a:pt x="42333" y="381000"/>
                </a:lnTo>
                <a:cubicBezTo>
                  <a:pt x="18953" y="381000"/>
                  <a:pt x="0" y="362047"/>
                  <a:pt x="0" y="338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12075583" y="8433853"/>
            <a:ext cx="35242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容错处理</a:t>
            </a: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副本不可用时自动切换到其他副本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35000"/>
            <a:ext cx="508000" cy="50800"/>
          </a:xfrm>
          <a:custGeom>
            <a:avLst/>
            <a:gdLst/>
            <a:ahLst/>
            <a:cxnLst/>
            <a:rect l="l" t="t" r="r" b="b"/>
            <a:pathLst>
              <a:path w="508000" h="50800">
                <a:moveTo>
                  <a:pt x="0" y="0"/>
                </a:moveTo>
                <a:lnTo>
                  <a:pt x="508000" y="0"/>
                </a:lnTo>
                <a:lnTo>
                  <a:pt x="508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168400" y="508000"/>
            <a:ext cx="327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D4A2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OPTIMIZATION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读取性能优化策略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4350" y="1631950"/>
            <a:ext cx="9982200" cy="7112000"/>
          </a:xfrm>
          <a:custGeom>
            <a:avLst/>
            <a:gdLst/>
            <a:ahLst/>
            <a:cxnLst/>
            <a:rect l="l" t="t" r="r" b="b"/>
            <a:pathLst>
              <a:path w="9982200" h="7112000">
                <a:moveTo>
                  <a:pt x="101630" y="0"/>
                </a:moveTo>
                <a:lnTo>
                  <a:pt x="9880570" y="0"/>
                </a:lnTo>
                <a:cubicBezTo>
                  <a:pt x="9936698" y="0"/>
                  <a:pt x="9982200" y="45502"/>
                  <a:pt x="9982200" y="101630"/>
                </a:cubicBezTo>
                <a:lnTo>
                  <a:pt x="9982200" y="7010370"/>
                </a:lnTo>
                <a:cubicBezTo>
                  <a:pt x="9982200" y="7066498"/>
                  <a:pt x="9936698" y="7112000"/>
                  <a:pt x="9880570" y="7112000"/>
                </a:cubicBezTo>
                <a:lnTo>
                  <a:pt x="101630" y="7112000"/>
                </a:lnTo>
                <a:cubicBezTo>
                  <a:pt x="45502" y="7112000"/>
                  <a:pt x="0" y="7066498"/>
                  <a:pt x="0" y="7010370"/>
                </a:cubicBezTo>
                <a:lnTo>
                  <a:pt x="0" y="101630"/>
                </a:lnTo>
                <a:cubicBezTo>
                  <a:pt x="0" y="45502"/>
                  <a:pt x="45502" y="0"/>
                  <a:pt x="101630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06450" y="1955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12814" y="28575"/>
                  <a:pt x="0" y="41389"/>
                  <a:pt x="0" y="57150"/>
                </a:cubicBezTo>
                <a:lnTo>
                  <a:pt x="0" y="60454"/>
                </a:lnTo>
                <a:cubicBezTo>
                  <a:pt x="0" y="63490"/>
                  <a:pt x="1965" y="66080"/>
                  <a:pt x="4509" y="67732"/>
                </a:cubicBezTo>
                <a:cubicBezTo>
                  <a:pt x="10403" y="71571"/>
                  <a:pt x="14288" y="78179"/>
                  <a:pt x="14288" y="85725"/>
                </a:cubicBezTo>
                <a:cubicBezTo>
                  <a:pt x="14288" y="93271"/>
                  <a:pt x="10403" y="99879"/>
                  <a:pt x="4509" y="103718"/>
                </a:cubicBezTo>
                <a:cubicBezTo>
                  <a:pt x="1965" y="105370"/>
                  <a:pt x="0" y="107960"/>
                  <a:pt x="0" y="110996"/>
                </a:cubicBezTo>
                <a:lnTo>
                  <a:pt x="0" y="135731"/>
                </a:lnTo>
                <a:lnTo>
                  <a:pt x="228600" y="135731"/>
                </a:lnTo>
                <a:lnTo>
                  <a:pt x="228600" y="110996"/>
                </a:lnTo>
                <a:cubicBezTo>
                  <a:pt x="228600" y="107960"/>
                  <a:pt x="226635" y="105370"/>
                  <a:pt x="224091" y="103718"/>
                </a:cubicBezTo>
                <a:cubicBezTo>
                  <a:pt x="218197" y="99879"/>
                  <a:pt x="214313" y="93271"/>
                  <a:pt x="214313" y="85725"/>
                </a:cubicBezTo>
                <a:cubicBezTo>
                  <a:pt x="214313" y="78179"/>
                  <a:pt x="218197" y="71571"/>
                  <a:pt x="224091" y="67732"/>
                </a:cubicBezTo>
                <a:cubicBezTo>
                  <a:pt x="226635" y="66080"/>
                  <a:pt x="228600" y="63490"/>
                  <a:pt x="228600" y="60454"/>
                </a:cubicBezTo>
                <a:lnTo>
                  <a:pt x="228600" y="57150"/>
                </a:lnTo>
                <a:cubicBezTo>
                  <a:pt x="228600" y="41389"/>
                  <a:pt x="215786" y="28575"/>
                  <a:pt x="200025" y="28575"/>
                </a:cubicBezTo>
                <a:lnTo>
                  <a:pt x="28575" y="28575"/>
                </a:lnTo>
                <a:close/>
                <a:moveTo>
                  <a:pt x="228600" y="185738"/>
                </a:moveTo>
                <a:lnTo>
                  <a:pt x="228600" y="157163"/>
                </a:lnTo>
                <a:lnTo>
                  <a:pt x="0" y="157163"/>
                </a:lnTo>
                <a:lnTo>
                  <a:pt x="0" y="185738"/>
                </a:lnTo>
                <a:cubicBezTo>
                  <a:pt x="0" y="193640"/>
                  <a:pt x="6385" y="200025"/>
                  <a:pt x="14288" y="200025"/>
                </a:cubicBezTo>
                <a:lnTo>
                  <a:pt x="42863" y="200025"/>
                </a:lnTo>
                <a:lnTo>
                  <a:pt x="42863" y="189309"/>
                </a:lnTo>
                <a:cubicBezTo>
                  <a:pt x="42863" y="183371"/>
                  <a:pt x="47640" y="178594"/>
                  <a:pt x="53578" y="178594"/>
                </a:cubicBezTo>
                <a:cubicBezTo>
                  <a:pt x="59516" y="178594"/>
                  <a:pt x="64294" y="183371"/>
                  <a:pt x="64294" y="189309"/>
                </a:cubicBezTo>
                <a:lnTo>
                  <a:pt x="64294" y="200025"/>
                </a:lnTo>
                <a:lnTo>
                  <a:pt x="103584" y="200025"/>
                </a:lnTo>
                <a:lnTo>
                  <a:pt x="103584" y="189309"/>
                </a:lnTo>
                <a:cubicBezTo>
                  <a:pt x="103584" y="183371"/>
                  <a:pt x="108362" y="178594"/>
                  <a:pt x="114300" y="178594"/>
                </a:cubicBezTo>
                <a:cubicBezTo>
                  <a:pt x="120238" y="178594"/>
                  <a:pt x="125016" y="183371"/>
                  <a:pt x="125016" y="189309"/>
                </a:cubicBezTo>
                <a:lnTo>
                  <a:pt x="125016" y="200025"/>
                </a:lnTo>
                <a:lnTo>
                  <a:pt x="164306" y="200025"/>
                </a:lnTo>
                <a:lnTo>
                  <a:pt x="164306" y="189309"/>
                </a:lnTo>
                <a:cubicBezTo>
                  <a:pt x="164306" y="183371"/>
                  <a:pt x="169084" y="178594"/>
                  <a:pt x="175022" y="178594"/>
                </a:cubicBezTo>
                <a:cubicBezTo>
                  <a:pt x="180960" y="178594"/>
                  <a:pt x="185738" y="183371"/>
                  <a:pt x="185738" y="189309"/>
                </a:cubicBezTo>
                <a:lnTo>
                  <a:pt x="185738" y="200025"/>
                </a:lnTo>
                <a:lnTo>
                  <a:pt x="214313" y="200025"/>
                </a:lnTo>
                <a:cubicBezTo>
                  <a:pt x="222215" y="200025"/>
                  <a:pt x="228600" y="193640"/>
                  <a:pt x="228600" y="185738"/>
                </a:cubicBezTo>
                <a:close/>
                <a:moveTo>
                  <a:pt x="71438" y="71438"/>
                </a:moveTo>
                <a:lnTo>
                  <a:pt x="71438" y="100013"/>
                </a:lnTo>
                <a:cubicBezTo>
                  <a:pt x="71438" y="107915"/>
                  <a:pt x="65053" y="114300"/>
                  <a:pt x="57150" y="114300"/>
                </a:cubicBezTo>
                <a:cubicBezTo>
                  <a:pt x="49247" y="114300"/>
                  <a:pt x="42863" y="107915"/>
                  <a:pt x="42863" y="100013"/>
                </a:cubicBezTo>
                <a:lnTo>
                  <a:pt x="42863" y="71438"/>
                </a:lnTo>
                <a:cubicBezTo>
                  <a:pt x="42863" y="63535"/>
                  <a:pt x="49247" y="57150"/>
                  <a:pt x="57150" y="57150"/>
                </a:cubicBezTo>
                <a:cubicBezTo>
                  <a:pt x="65053" y="57150"/>
                  <a:pt x="71438" y="63535"/>
                  <a:pt x="71438" y="71438"/>
                </a:cubicBezTo>
                <a:close/>
                <a:moveTo>
                  <a:pt x="128588" y="71438"/>
                </a:moveTo>
                <a:lnTo>
                  <a:pt x="128588" y="100013"/>
                </a:lnTo>
                <a:cubicBezTo>
                  <a:pt x="128588" y="107915"/>
                  <a:pt x="122203" y="114300"/>
                  <a:pt x="114300" y="114300"/>
                </a:cubicBezTo>
                <a:cubicBezTo>
                  <a:pt x="106397" y="114300"/>
                  <a:pt x="100013" y="107915"/>
                  <a:pt x="100013" y="100013"/>
                </a:cubicBezTo>
                <a:lnTo>
                  <a:pt x="100013" y="71438"/>
                </a:lnTo>
                <a:cubicBezTo>
                  <a:pt x="100013" y="63535"/>
                  <a:pt x="106397" y="57150"/>
                  <a:pt x="114300" y="57150"/>
                </a:cubicBezTo>
                <a:cubicBezTo>
                  <a:pt x="122203" y="57150"/>
                  <a:pt x="128588" y="63535"/>
                  <a:pt x="128588" y="71438"/>
                </a:cubicBezTo>
                <a:close/>
                <a:moveTo>
                  <a:pt x="185738" y="71438"/>
                </a:moveTo>
                <a:lnTo>
                  <a:pt x="185738" y="100013"/>
                </a:lnTo>
                <a:cubicBezTo>
                  <a:pt x="185738" y="107915"/>
                  <a:pt x="179353" y="114300"/>
                  <a:pt x="171450" y="114300"/>
                </a:cubicBezTo>
                <a:cubicBezTo>
                  <a:pt x="163547" y="114300"/>
                  <a:pt x="157163" y="107915"/>
                  <a:pt x="157163" y="100013"/>
                </a:cubicBezTo>
                <a:lnTo>
                  <a:pt x="157163" y="71438"/>
                </a:lnTo>
                <a:cubicBezTo>
                  <a:pt x="157163" y="63535"/>
                  <a:pt x="163547" y="57150"/>
                  <a:pt x="171450" y="57150"/>
                </a:cubicBezTo>
                <a:cubicBezTo>
                  <a:pt x="179353" y="57150"/>
                  <a:pt x="185738" y="63535"/>
                  <a:pt x="185738" y="71438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66800" y="1892300"/>
            <a:ext cx="928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三类缓存机制及其性能提升效果</a:t>
            </a:r>
            <a:endParaRPr lang="en-US" sz="1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4700" y="2400300"/>
          <a:ext cx="9461500" cy="24892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缓存类型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缓存内容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生存时间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命中率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性能提升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元数据缓存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chunk 位置信息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5-10 分钟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95%+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减少 Master 负载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连接池缓存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ChunkServer 连接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连接空闲时间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80%+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减少连接建立开销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预读缓存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后续 chunk 数据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应用相关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60-80%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提升顺序读性能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10762059" y="1631950"/>
            <a:ext cx="4978400" cy="4025900"/>
          </a:xfrm>
          <a:custGeom>
            <a:avLst/>
            <a:gdLst/>
            <a:ahLst/>
            <a:cxnLst/>
            <a:rect l="l" t="t" r="r" b="b"/>
            <a:pathLst>
              <a:path w="4978400" h="4025900">
                <a:moveTo>
                  <a:pt x="101614" y="0"/>
                </a:moveTo>
                <a:lnTo>
                  <a:pt x="4876786" y="0"/>
                </a:lnTo>
                <a:cubicBezTo>
                  <a:pt x="4932906" y="0"/>
                  <a:pt x="4978400" y="45494"/>
                  <a:pt x="4978400" y="101614"/>
                </a:cubicBezTo>
                <a:lnTo>
                  <a:pt x="4978400" y="3924286"/>
                </a:lnTo>
                <a:cubicBezTo>
                  <a:pt x="4978400" y="3980406"/>
                  <a:pt x="4932906" y="4025900"/>
                  <a:pt x="4876786" y="4025900"/>
                </a:cubicBezTo>
                <a:lnTo>
                  <a:pt x="101614" y="4025900"/>
                </a:lnTo>
                <a:cubicBezTo>
                  <a:pt x="45494" y="4025900"/>
                  <a:pt x="0" y="3980406"/>
                  <a:pt x="0" y="3924286"/>
                </a:cubicBezTo>
                <a:lnTo>
                  <a:pt x="0" y="101614"/>
                </a:lnTo>
                <a:cubicBezTo>
                  <a:pt x="0" y="45494"/>
                  <a:pt x="45494" y="0"/>
                  <a:pt x="101614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11039872" y="19558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5958" y="19243"/>
                </a:moveTo>
                <a:cubicBezTo>
                  <a:pt x="160779" y="14288"/>
                  <a:pt x="153144" y="12903"/>
                  <a:pt x="146581" y="15716"/>
                </a:cubicBezTo>
                <a:cubicBezTo>
                  <a:pt x="140018" y="18529"/>
                  <a:pt x="135731" y="25003"/>
                  <a:pt x="135731" y="32147"/>
                </a:cubicBezTo>
                <a:lnTo>
                  <a:pt x="135731" y="93003"/>
                </a:lnTo>
                <a:lnTo>
                  <a:pt x="58802" y="19288"/>
                </a:lnTo>
                <a:cubicBezTo>
                  <a:pt x="53623" y="14288"/>
                  <a:pt x="45988" y="12903"/>
                  <a:pt x="39425" y="15716"/>
                </a:cubicBezTo>
                <a:cubicBezTo>
                  <a:pt x="32861" y="18529"/>
                  <a:pt x="28575" y="25003"/>
                  <a:pt x="28575" y="32147"/>
                </a:cubicBezTo>
                <a:lnTo>
                  <a:pt x="28575" y="196453"/>
                </a:lnTo>
                <a:cubicBezTo>
                  <a:pt x="28575" y="203597"/>
                  <a:pt x="32861" y="210071"/>
                  <a:pt x="39425" y="212884"/>
                </a:cubicBezTo>
                <a:cubicBezTo>
                  <a:pt x="45988" y="215697"/>
                  <a:pt x="53623" y="214313"/>
                  <a:pt x="58802" y="209357"/>
                </a:cubicBezTo>
                <a:lnTo>
                  <a:pt x="135731" y="135597"/>
                </a:lnTo>
                <a:lnTo>
                  <a:pt x="135731" y="196453"/>
                </a:lnTo>
                <a:cubicBezTo>
                  <a:pt x="135731" y="203597"/>
                  <a:pt x="140018" y="210071"/>
                  <a:pt x="146581" y="212884"/>
                </a:cubicBezTo>
                <a:cubicBezTo>
                  <a:pt x="153144" y="215697"/>
                  <a:pt x="160779" y="214313"/>
                  <a:pt x="165958" y="209357"/>
                </a:cubicBezTo>
                <a:lnTo>
                  <a:pt x="251683" y="127203"/>
                </a:lnTo>
                <a:cubicBezTo>
                  <a:pt x="255210" y="123855"/>
                  <a:pt x="257175" y="119167"/>
                  <a:pt x="257175" y="114300"/>
                </a:cubicBezTo>
                <a:cubicBezTo>
                  <a:pt x="257175" y="109433"/>
                  <a:pt x="255166" y="104790"/>
                  <a:pt x="251683" y="101397"/>
                </a:cubicBezTo>
                <a:lnTo>
                  <a:pt x="165958" y="19243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11314509" y="1892300"/>
            <a:ext cx="427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预读策略实现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047809" y="2400300"/>
            <a:ext cx="4432300" cy="1422400"/>
          </a:xfrm>
          <a:custGeom>
            <a:avLst/>
            <a:gdLst/>
            <a:ahLst/>
            <a:cxnLst/>
            <a:rect l="l" t="t" r="r" b="b"/>
            <a:pathLst>
              <a:path w="4432300" h="1422400">
                <a:moveTo>
                  <a:pt x="50794" y="0"/>
                </a:moveTo>
                <a:lnTo>
                  <a:pt x="4381506" y="0"/>
                </a:lnTo>
                <a:cubicBezTo>
                  <a:pt x="4409559" y="0"/>
                  <a:pt x="4432300" y="22741"/>
                  <a:pt x="4432300" y="50794"/>
                </a:cubicBezTo>
                <a:lnTo>
                  <a:pt x="4432300" y="1371606"/>
                </a:lnTo>
                <a:cubicBezTo>
                  <a:pt x="4432300" y="1399659"/>
                  <a:pt x="4409559" y="1422400"/>
                  <a:pt x="4381506" y="1422400"/>
                </a:cubicBezTo>
                <a:lnTo>
                  <a:pt x="50794" y="1422400"/>
                </a:lnTo>
                <a:cubicBezTo>
                  <a:pt x="22741" y="1422400"/>
                  <a:pt x="0" y="1399659"/>
                  <a:pt x="0" y="1371606"/>
                </a:cubicBezTo>
                <a:lnTo>
                  <a:pt x="0" y="50794"/>
                </a:lnTo>
                <a:cubicBezTo>
                  <a:pt x="0" y="22741"/>
                  <a:pt x="22741" y="0"/>
                  <a:pt x="50794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11047809" y="240030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5080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11225609" y="2552700"/>
            <a:ext cx="4203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预读管理器组件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225609" y="29083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预取大小：默认 64MB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预取队列管理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模式检测识别顺序读取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1047809" y="3975100"/>
            <a:ext cx="4432300" cy="1422400"/>
          </a:xfrm>
          <a:custGeom>
            <a:avLst/>
            <a:gdLst/>
            <a:ahLst/>
            <a:cxnLst/>
            <a:rect l="l" t="t" r="r" b="b"/>
            <a:pathLst>
              <a:path w="4432300" h="1422400">
                <a:moveTo>
                  <a:pt x="50794" y="0"/>
                </a:moveTo>
                <a:lnTo>
                  <a:pt x="4381506" y="0"/>
                </a:lnTo>
                <a:cubicBezTo>
                  <a:pt x="4409559" y="0"/>
                  <a:pt x="4432300" y="22741"/>
                  <a:pt x="4432300" y="50794"/>
                </a:cubicBezTo>
                <a:lnTo>
                  <a:pt x="4432300" y="1371606"/>
                </a:lnTo>
                <a:cubicBezTo>
                  <a:pt x="4432300" y="1399659"/>
                  <a:pt x="4409559" y="1422400"/>
                  <a:pt x="4381506" y="1422400"/>
                </a:cubicBezTo>
                <a:lnTo>
                  <a:pt x="50794" y="1422400"/>
                </a:lnTo>
                <a:cubicBezTo>
                  <a:pt x="22741" y="1422400"/>
                  <a:pt x="0" y="1399659"/>
                  <a:pt x="0" y="1371606"/>
                </a:cubicBezTo>
                <a:lnTo>
                  <a:pt x="0" y="50794"/>
                </a:lnTo>
                <a:cubicBezTo>
                  <a:pt x="0" y="22741"/>
                  <a:pt x="22741" y="0"/>
                  <a:pt x="50794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11047809" y="397510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5080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11225609" y="4127500"/>
            <a:ext cx="4203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预读决策逻辑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225609" y="44831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顺序读检测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预取条件判断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异步预取执行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0762059" y="5873750"/>
            <a:ext cx="4978400" cy="2870200"/>
          </a:xfrm>
          <a:custGeom>
            <a:avLst/>
            <a:gdLst/>
            <a:ahLst/>
            <a:cxnLst/>
            <a:rect l="l" t="t" r="r" b="b"/>
            <a:pathLst>
              <a:path w="4978400" h="2870200">
                <a:moveTo>
                  <a:pt x="101605" y="0"/>
                </a:moveTo>
                <a:lnTo>
                  <a:pt x="4876795" y="0"/>
                </a:lnTo>
                <a:cubicBezTo>
                  <a:pt x="4932910" y="0"/>
                  <a:pt x="4978400" y="45490"/>
                  <a:pt x="4978400" y="101605"/>
                </a:cubicBezTo>
                <a:lnTo>
                  <a:pt x="4978400" y="2768595"/>
                </a:lnTo>
                <a:cubicBezTo>
                  <a:pt x="4978400" y="2824710"/>
                  <a:pt x="4932910" y="2870200"/>
                  <a:pt x="4876795" y="2870200"/>
                </a:cubicBezTo>
                <a:lnTo>
                  <a:pt x="101605" y="2870200"/>
                </a:lnTo>
                <a:cubicBezTo>
                  <a:pt x="45490" y="2870200"/>
                  <a:pt x="0" y="2824710"/>
                  <a:pt x="0" y="27685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11054159" y="6197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11314509" y="6134100"/>
            <a:ext cx="427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错误处理与重试机制</a:t>
            </a:r>
            <a:endParaRPr lang="en-US" sz="160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022409" y="6642100"/>
          <a:ext cx="4457700" cy="1841500"/>
        </p:xfrm>
        <a:graphic>
          <a:graphicData uri="http://schemas.openxmlformats.org/drawingml/2006/table">
            <a:tbl>
              <a:tblPr/>
              <a:tblGrid>
                <a:gridCol w="186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错误类型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处理策略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重试次数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网络超时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切换副本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次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校验和错误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尝试其他副本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所有副本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ChunkServer 故障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从副本读取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自动切换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Master 不可达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使用缓存元数据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等待恢复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35000"/>
            <a:ext cx="508000" cy="50800"/>
          </a:xfrm>
          <a:custGeom>
            <a:avLst/>
            <a:gdLst/>
            <a:ahLst/>
            <a:cxnLst/>
            <a:rect l="l" t="t" r="r" b="b"/>
            <a:pathLst>
              <a:path w="508000" h="50800">
                <a:moveTo>
                  <a:pt x="0" y="0"/>
                </a:moveTo>
                <a:lnTo>
                  <a:pt x="508000" y="0"/>
                </a:lnTo>
                <a:lnTo>
                  <a:pt x="508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168400" y="508000"/>
            <a:ext cx="204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D4A2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WRITE OPERATION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文件写入流程设计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1625600"/>
            <a:ext cx="9969500" cy="3098800"/>
          </a:xfrm>
          <a:custGeom>
            <a:avLst/>
            <a:gdLst/>
            <a:ahLst/>
            <a:cxnLst/>
            <a:rect l="l" t="t" r="r" b="b"/>
            <a:pathLst>
              <a:path w="9969500" h="3098800">
                <a:moveTo>
                  <a:pt x="50800" y="0"/>
                </a:moveTo>
                <a:lnTo>
                  <a:pt x="9867890" y="0"/>
                </a:lnTo>
                <a:cubicBezTo>
                  <a:pt x="9924008" y="0"/>
                  <a:pt x="9969500" y="45492"/>
                  <a:pt x="9969500" y="101610"/>
                </a:cubicBezTo>
                <a:lnTo>
                  <a:pt x="9969500" y="2997190"/>
                </a:lnTo>
                <a:cubicBezTo>
                  <a:pt x="9969500" y="3053308"/>
                  <a:pt x="9924008" y="3098800"/>
                  <a:pt x="9867890" y="3098800"/>
                </a:cubicBezTo>
                <a:lnTo>
                  <a:pt x="50800" y="3098800"/>
                </a:lnTo>
                <a:cubicBezTo>
                  <a:pt x="22763" y="3098800"/>
                  <a:pt x="0" y="3076037"/>
                  <a:pt x="0" y="3048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3400" y="1625600"/>
            <a:ext cx="50800" cy="3098800"/>
          </a:xfrm>
          <a:custGeom>
            <a:avLst/>
            <a:gdLst/>
            <a:ahLst/>
            <a:cxnLst/>
            <a:rect l="l" t="t" r="r" b="b"/>
            <a:pathLst>
              <a:path w="50800" h="3098800">
                <a:moveTo>
                  <a:pt x="50800" y="0"/>
                </a:moveTo>
                <a:lnTo>
                  <a:pt x="50800" y="0"/>
                </a:lnTo>
                <a:lnTo>
                  <a:pt x="50800" y="3098800"/>
                </a:lnTo>
                <a:lnTo>
                  <a:pt x="50800" y="3098800"/>
                </a:lnTo>
                <a:cubicBezTo>
                  <a:pt x="22763" y="3098800"/>
                  <a:pt x="0" y="3076037"/>
                  <a:pt x="0" y="3048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44550" y="1943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78581"/>
                </a:moveTo>
                <a:cubicBezTo>
                  <a:pt x="106397" y="78581"/>
                  <a:pt x="100013" y="84966"/>
                  <a:pt x="100013" y="92869"/>
                </a:cubicBezTo>
                <a:cubicBezTo>
                  <a:pt x="100013" y="98807"/>
                  <a:pt x="95235" y="103584"/>
                  <a:pt x="89297" y="103584"/>
                </a:cubicBezTo>
                <a:cubicBezTo>
                  <a:pt x="83359" y="103584"/>
                  <a:pt x="78581" y="98807"/>
                  <a:pt x="78581" y="92869"/>
                </a:cubicBezTo>
                <a:cubicBezTo>
                  <a:pt x="78581" y="73134"/>
                  <a:pt x="94565" y="57150"/>
                  <a:pt x="114300" y="57150"/>
                </a:cubicBezTo>
                <a:cubicBezTo>
                  <a:pt x="134035" y="57150"/>
                  <a:pt x="150019" y="73134"/>
                  <a:pt x="150019" y="92869"/>
                </a:cubicBezTo>
                <a:cubicBezTo>
                  <a:pt x="150019" y="113943"/>
                  <a:pt x="133945" y="122873"/>
                  <a:pt x="125016" y="126132"/>
                </a:cubicBezTo>
                <a:lnTo>
                  <a:pt x="125016" y="127828"/>
                </a:lnTo>
                <a:cubicBezTo>
                  <a:pt x="125016" y="133767"/>
                  <a:pt x="120238" y="138544"/>
                  <a:pt x="114300" y="138544"/>
                </a:cubicBezTo>
                <a:cubicBezTo>
                  <a:pt x="108362" y="138544"/>
                  <a:pt x="103584" y="133767"/>
                  <a:pt x="103584" y="127828"/>
                </a:cubicBezTo>
                <a:lnTo>
                  <a:pt x="103584" y="124212"/>
                </a:lnTo>
                <a:cubicBezTo>
                  <a:pt x="103584" y="115059"/>
                  <a:pt x="110192" y="108496"/>
                  <a:pt x="117024" y="106263"/>
                </a:cubicBezTo>
                <a:cubicBezTo>
                  <a:pt x="119881" y="105326"/>
                  <a:pt x="122917" y="103808"/>
                  <a:pt x="125150" y="101664"/>
                </a:cubicBezTo>
                <a:cubicBezTo>
                  <a:pt x="127069" y="99789"/>
                  <a:pt x="128588" y="97200"/>
                  <a:pt x="128588" y="92913"/>
                </a:cubicBezTo>
                <a:cubicBezTo>
                  <a:pt x="128588" y="85011"/>
                  <a:pt x="122203" y="78626"/>
                  <a:pt x="114300" y="78626"/>
                </a:cubicBezTo>
                <a:close/>
                <a:moveTo>
                  <a:pt x="100013" y="164306"/>
                </a:moveTo>
                <a:cubicBezTo>
                  <a:pt x="100013" y="156421"/>
                  <a:pt x="106415" y="150019"/>
                  <a:pt x="114300" y="150019"/>
                </a:cubicBezTo>
                <a:cubicBezTo>
                  <a:pt x="122185" y="150019"/>
                  <a:pt x="128588" y="156421"/>
                  <a:pt x="128588" y="164306"/>
                </a:cubicBezTo>
                <a:cubicBezTo>
                  <a:pt x="128588" y="172192"/>
                  <a:pt x="122185" y="178594"/>
                  <a:pt x="114300" y="178594"/>
                </a:cubicBezTo>
                <a:cubicBezTo>
                  <a:pt x="106415" y="178594"/>
                  <a:pt x="100013" y="172192"/>
                  <a:pt x="100013" y="164306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04900" y="1879600"/>
            <a:ext cx="925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为什么写入比读取复杂？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" y="2387600"/>
            <a:ext cx="4610100" cy="965200"/>
          </a:xfrm>
          <a:custGeom>
            <a:avLst/>
            <a:gdLst/>
            <a:ahLst/>
            <a:cxnLst/>
            <a:rect l="l" t="t" r="r" b="b"/>
            <a:pathLst>
              <a:path w="4610100" h="965200">
                <a:moveTo>
                  <a:pt x="50798" y="0"/>
                </a:moveTo>
                <a:lnTo>
                  <a:pt x="4559302" y="0"/>
                </a:lnTo>
                <a:cubicBezTo>
                  <a:pt x="4587357" y="0"/>
                  <a:pt x="4610100" y="22743"/>
                  <a:pt x="4610100" y="50798"/>
                </a:cubicBezTo>
                <a:lnTo>
                  <a:pt x="4610100" y="914402"/>
                </a:lnTo>
                <a:cubicBezTo>
                  <a:pt x="4610100" y="942457"/>
                  <a:pt x="4587357" y="965200"/>
                  <a:pt x="4559302" y="965200"/>
                </a:cubicBezTo>
                <a:lnTo>
                  <a:pt x="50798" y="965200"/>
                </a:lnTo>
                <a:cubicBezTo>
                  <a:pt x="22743" y="965200"/>
                  <a:pt x="0" y="942457"/>
                  <a:pt x="0" y="9144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38200" y="2387600"/>
            <a:ext cx="50800" cy="965200"/>
          </a:xfrm>
          <a:custGeom>
            <a:avLst/>
            <a:gdLst/>
            <a:ahLst/>
            <a:cxnLst/>
            <a:rect l="l" t="t" r="r" b="b"/>
            <a:pathLst>
              <a:path w="50800" h="965200">
                <a:moveTo>
                  <a:pt x="50800" y="0"/>
                </a:moveTo>
                <a:lnTo>
                  <a:pt x="50800" y="0"/>
                </a:lnTo>
                <a:lnTo>
                  <a:pt x="50800" y="965200"/>
                </a:lnTo>
                <a:lnTo>
                  <a:pt x="50800" y="965200"/>
                </a:lnTo>
                <a:cubicBezTo>
                  <a:pt x="22763" y="965200"/>
                  <a:pt x="0" y="942437"/>
                  <a:pt x="0" y="91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016000" y="254000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一致性要求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289560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需要确保所有副本的一致性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30267" y="2387600"/>
            <a:ext cx="4610100" cy="965200"/>
          </a:xfrm>
          <a:custGeom>
            <a:avLst/>
            <a:gdLst/>
            <a:ahLst/>
            <a:cxnLst/>
            <a:rect l="l" t="t" r="r" b="b"/>
            <a:pathLst>
              <a:path w="4610100" h="965200">
                <a:moveTo>
                  <a:pt x="50798" y="0"/>
                </a:moveTo>
                <a:lnTo>
                  <a:pt x="4559302" y="0"/>
                </a:lnTo>
                <a:cubicBezTo>
                  <a:pt x="4587357" y="0"/>
                  <a:pt x="4610100" y="22743"/>
                  <a:pt x="4610100" y="50798"/>
                </a:cubicBezTo>
                <a:lnTo>
                  <a:pt x="4610100" y="914402"/>
                </a:lnTo>
                <a:cubicBezTo>
                  <a:pt x="4610100" y="942457"/>
                  <a:pt x="4587357" y="965200"/>
                  <a:pt x="4559302" y="965200"/>
                </a:cubicBezTo>
                <a:lnTo>
                  <a:pt x="50798" y="965200"/>
                </a:lnTo>
                <a:cubicBezTo>
                  <a:pt x="22743" y="965200"/>
                  <a:pt x="0" y="942457"/>
                  <a:pt x="0" y="9144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630267" y="2387600"/>
            <a:ext cx="50800" cy="965200"/>
          </a:xfrm>
          <a:custGeom>
            <a:avLst/>
            <a:gdLst/>
            <a:ahLst/>
            <a:cxnLst/>
            <a:rect l="l" t="t" r="r" b="b"/>
            <a:pathLst>
              <a:path w="50800" h="965200">
                <a:moveTo>
                  <a:pt x="50800" y="0"/>
                </a:moveTo>
                <a:lnTo>
                  <a:pt x="50800" y="0"/>
                </a:lnTo>
                <a:lnTo>
                  <a:pt x="50800" y="965200"/>
                </a:lnTo>
                <a:lnTo>
                  <a:pt x="50800" y="965200"/>
                </a:lnTo>
                <a:cubicBezTo>
                  <a:pt x="22763" y="965200"/>
                  <a:pt x="0" y="942437"/>
                  <a:pt x="0" y="91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808067" y="254000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原子性保证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08067" y="289560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写入操作必须是原子的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" y="3505200"/>
            <a:ext cx="4610100" cy="965200"/>
          </a:xfrm>
          <a:custGeom>
            <a:avLst/>
            <a:gdLst/>
            <a:ahLst/>
            <a:cxnLst/>
            <a:rect l="l" t="t" r="r" b="b"/>
            <a:pathLst>
              <a:path w="4610100" h="965200">
                <a:moveTo>
                  <a:pt x="50798" y="0"/>
                </a:moveTo>
                <a:lnTo>
                  <a:pt x="4559302" y="0"/>
                </a:lnTo>
                <a:cubicBezTo>
                  <a:pt x="4587357" y="0"/>
                  <a:pt x="4610100" y="22743"/>
                  <a:pt x="4610100" y="50798"/>
                </a:cubicBezTo>
                <a:lnTo>
                  <a:pt x="4610100" y="914402"/>
                </a:lnTo>
                <a:cubicBezTo>
                  <a:pt x="4610100" y="942457"/>
                  <a:pt x="4587357" y="965200"/>
                  <a:pt x="4559302" y="965200"/>
                </a:cubicBezTo>
                <a:lnTo>
                  <a:pt x="50798" y="965200"/>
                </a:lnTo>
                <a:cubicBezTo>
                  <a:pt x="22743" y="965200"/>
                  <a:pt x="0" y="942457"/>
                  <a:pt x="0" y="9144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38200" y="3505200"/>
            <a:ext cx="50800" cy="965200"/>
          </a:xfrm>
          <a:custGeom>
            <a:avLst/>
            <a:gdLst/>
            <a:ahLst/>
            <a:cxnLst/>
            <a:rect l="l" t="t" r="r" b="b"/>
            <a:pathLst>
              <a:path w="50800" h="965200">
                <a:moveTo>
                  <a:pt x="50800" y="0"/>
                </a:moveTo>
                <a:lnTo>
                  <a:pt x="50800" y="0"/>
                </a:lnTo>
                <a:lnTo>
                  <a:pt x="50800" y="965200"/>
                </a:lnTo>
                <a:lnTo>
                  <a:pt x="50800" y="965200"/>
                </a:lnTo>
                <a:cubicBezTo>
                  <a:pt x="22763" y="965200"/>
                  <a:pt x="0" y="942437"/>
                  <a:pt x="0" y="91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016000" y="365760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并发控制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401320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多个客户端可能同时写入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30267" y="3505200"/>
            <a:ext cx="4610100" cy="965200"/>
          </a:xfrm>
          <a:custGeom>
            <a:avLst/>
            <a:gdLst/>
            <a:ahLst/>
            <a:cxnLst/>
            <a:rect l="l" t="t" r="r" b="b"/>
            <a:pathLst>
              <a:path w="4610100" h="965200">
                <a:moveTo>
                  <a:pt x="50798" y="0"/>
                </a:moveTo>
                <a:lnTo>
                  <a:pt x="4559302" y="0"/>
                </a:lnTo>
                <a:cubicBezTo>
                  <a:pt x="4587357" y="0"/>
                  <a:pt x="4610100" y="22743"/>
                  <a:pt x="4610100" y="50798"/>
                </a:cubicBezTo>
                <a:lnTo>
                  <a:pt x="4610100" y="914402"/>
                </a:lnTo>
                <a:cubicBezTo>
                  <a:pt x="4610100" y="942457"/>
                  <a:pt x="4587357" y="965200"/>
                  <a:pt x="4559302" y="965200"/>
                </a:cubicBezTo>
                <a:lnTo>
                  <a:pt x="50798" y="965200"/>
                </a:lnTo>
                <a:cubicBezTo>
                  <a:pt x="22743" y="965200"/>
                  <a:pt x="0" y="942457"/>
                  <a:pt x="0" y="9144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5630267" y="3505200"/>
            <a:ext cx="50800" cy="965200"/>
          </a:xfrm>
          <a:custGeom>
            <a:avLst/>
            <a:gdLst/>
            <a:ahLst/>
            <a:cxnLst/>
            <a:rect l="l" t="t" r="r" b="b"/>
            <a:pathLst>
              <a:path w="50800" h="965200">
                <a:moveTo>
                  <a:pt x="50800" y="0"/>
                </a:moveTo>
                <a:lnTo>
                  <a:pt x="50800" y="0"/>
                </a:lnTo>
                <a:lnTo>
                  <a:pt x="50800" y="965200"/>
                </a:lnTo>
                <a:lnTo>
                  <a:pt x="50800" y="965200"/>
                </a:lnTo>
                <a:cubicBezTo>
                  <a:pt x="22763" y="965200"/>
                  <a:pt x="0" y="942437"/>
                  <a:pt x="0" y="91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808067" y="365760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故障恢复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08067" y="401320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需要处理各种故障情况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4350" y="4933950"/>
            <a:ext cx="9982200" cy="3429000"/>
          </a:xfrm>
          <a:custGeom>
            <a:avLst/>
            <a:gdLst/>
            <a:ahLst/>
            <a:cxnLst/>
            <a:rect l="l" t="t" r="r" b="b"/>
            <a:pathLst>
              <a:path w="9982200" h="3429000">
                <a:moveTo>
                  <a:pt x="101601" y="0"/>
                </a:moveTo>
                <a:lnTo>
                  <a:pt x="9880599" y="0"/>
                </a:lnTo>
                <a:cubicBezTo>
                  <a:pt x="9936712" y="0"/>
                  <a:pt x="9982200" y="45488"/>
                  <a:pt x="9982200" y="101601"/>
                </a:cubicBezTo>
                <a:lnTo>
                  <a:pt x="9982200" y="3327399"/>
                </a:lnTo>
                <a:cubicBezTo>
                  <a:pt x="9982200" y="3383512"/>
                  <a:pt x="9936712" y="3429000"/>
                  <a:pt x="9880599" y="3429000"/>
                </a:cubicBezTo>
                <a:lnTo>
                  <a:pt x="101601" y="3429000"/>
                </a:lnTo>
                <a:cubicBezTo>
                  <a:pt x="45488" y="3429000"/>
                  <a:pt x="0" y="3383512"/>
                  <a:pt x="0" y="33273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06450" y="5257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066800" y="5194300"/>
            <a:ext cx="928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写入操作的性能挑战</a:t>
            </a:r>
            <a:endParaRPr lang="en-US" sz="1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4700" y="5702300"/>
          <a:ext cx="9461500" cy="2400300"/>
        </p:xfrm>
        <a:graphic>
          <a:graphicData uri="http://schemas.openxmlformats.org/drawingml/2006/table">
            <a:tbl>
              <a:tblPr/>
              <a:tblGrid>
                <a:gridCol w="168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挑战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传统解决方案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GFS 解决方案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性能影响</a:t>
                      </a:r>
                      <a:endParaRPr lang="en-US" sz="16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副本同步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同步写入所有副本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流水线推送数据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减少 60% 写入延迟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一致性保证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分布式锁机制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租约 + 主副本模式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简化协议复杂度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故障处理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复杂的恢复协议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重试 + 版本控制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提高系统可用性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并发写入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全局锁机制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操作序列化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保证正确性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10758984" y="1631950"/>
            <a:ext cx="4978400" cy="4584700"/>
          </a:xfrm>
          <a:custGeom>
            <a:avLst/>
            <a:gdLst/>
            <a:ahLst/>
            <a:cxnLst/>
            <a:rect l="l" t="t" r="r" b="b"/>
            <a:pathLst>
              <a:path w="4978400" h="4584700">
                <a:moveTo>
                  <a:pt x="101597" y="0"/>
                </a:moveTo>
                <a:lnTo>
                  <a:pt x="4876803" y="0"/>
                </a:lnTo>
                <a:cubicBezTo>
                  <a:pt x="4932913" y="0"/>
                  <a:pt x="4978400" y="45487"/>
                  <a:pt x="4978400" y="101597"/>
                </a:cubicBezTo>
                <a:lnTo>
                  <a:pt x="4978400" y="4483103"/>
                </a:lnTo>
                <a:cubicBezTo>
                  <a:pt x="4978400" y="4539213"/>
                  <a:pt x="4932913" y="4584700"/>
                  <a:pt x="4876803" y="4584700"/>
                </a:cubicBezTo>
                <a:lnTo>
                  <a:pt x="101597" y="4584700"/>
                </a:lnTo>
                <a:cubicBezTo>
                  <a:pt x="45487" y="4584700"/>
                  <a:pt x="0" y="4539213"/>
                  <a:pt x="0" y="44831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7"/>
          <p:cNvSpPr/>
          <p:nvPr/>
        </p:nvSpPr>
        <p:spPr>
          <a:xfrm>
            <a:off x="11051084" y="1955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42863"/>
                </a:moveTo>
                <a:cubicBezTo>
                  <a:pt x="0" y="34960"/>
                  <a:pt x="6385" y="28575"/>
                  <a:pt x="14288" y="28575"/>
                </a:cubicBezTo>
                <a:lnTo>
                  <a:pt x="185738" y="28575"/>
                </a:lnTo>
                <a:cubicBezTo>
                  <a:pt x="193640" y="28575"/>
                  <a:pt x="200025" y="34960"/>
                  <a:pt x="200025" y="42863"/>
                </a:cubicBezTo>
                <a:cubicBezTo>
                  <a:pt x="200025" y="50765"/>
                  <a:pt x="193640" y="57150"/>
                  <a:pt x="185738" y="57150"/>
                </a:cubicBezTo>
                <a:lnTo>
                  <a:pt x="14288" y="57150"/>
                </a:lnTo>
                <a:cubicBezTo>
                  <a:pt x="6385" y="57150"/>
                  <a:pt x="0" y="50765"/>
                  <a:pt x="0" y="42863"/>
                </a:cubicBezTo>
                <a:close/>
                <a:moveTo>
                  <a:pt x="28575" y="114300"/>
                </a:moveTo>
                <a:cubicBezTo>
                  <a:pt x="28575" y="106397"/>
                  <a:pt x="34960" y="100013"/>
                  <a:pt x="42863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42863" y="128588"/>
                </a:lnTo>
                <a:cubicBezTo>
                  <a:pt x="34960" y="128588"/>
                  <a:pt x="28575" y="122203"/>
                  <a:pt x="28575" y="114300"/>
                </a:cubicBezTo>
                <a:close/>
                <a:moveTo>
                  <a:pt x="200025" y="185738"/>
                </a:moveTo>
                <a:cubicBezTo>
                  <a:pt x="200025" y="193640"/>
                  <a:pt x="193640" y="200025"/>
                  <a:pt x="185738" y="200025"/>
                </a:cubicBezTo>
                <a:lnTo>
                  <a:pt x="14288" y="200025"/>
                </a:lnTo>
                <a:cubicBezTo>
                  <a:pt x="6385" y="200025"/>
                  <a:pt x="0" y="193640"/>
                  <a:pt x="0" y="185738"/>
                </a:cubicBezTo>
                <a:cubicBezTo>
                  <a:pt x="0" y="177835"/>
                  <a:pt x="6385" y="171450"/>
                  <a:pt x="14288" y="171450"/>
                </a:cubicBezTo>
                <a:lnTo>
                  <a:pt x="185738" y="171450"/>
                </a:lnTo>
                <a:cubicBezTo>
                  <a:pt x="193640" y="171450"/>
                  <a:pt x="200025" y="177835"/>
                  <a:pt x="200025" y="185738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8"/>
          <p:cNvSpPr/>
          <p:nvPr/>
        </p:nvSpPr>
        <p:spPr>
          <a:xfrm>
            <a:off x="11311434" y="1892300"/>
            <a:ext cx="427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完整写入流程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11044734" y="2400300"/>
            <a:ext cx="4432300" cy="812800"/>
          </a:xfrm>
          <a:custGeom>
            <a:avLst/>
            <a:gdLst/>
            <a:ahLst/>
            <a:cxnLst/>
            <a:rect l="l" t="t" r="r" b="b"/>
            <a:pathLst>
              <a:path w="4432300" h="812800">
                <a:moveTo>
                  <a:pt x="50800" y="0"/>
                </a:moveTo>
                <a:lnTo>
                  <a:pt x="4381500" y="0"/>
                </a:lnTo>
                <a:cubicBezTo>
                  <a:pt x="4409537" y="0"/>
                  <a:pt x="4432300" y="22763"/>
                  <a:pt x="4432300" y="50800"/>
                </a:cubicBezTo>
                <a:lnTo>
                  <a:pt x="4432300" y="762000"/>
                </a:lnTo>
                <a:cubicBezTo>
                  <a:pt x="4432300" y="790037"/>
                  <a:pt x="4409537" y="812800"/>
                  <a:pt x="43815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0"/>
          <p:cNvSpPr/>
          <p:nvPr/>
        </p:nvSpPr>
        <p:spPr>
          <a:xfrm>
            <a:off x="11044734" y="24003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5080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1"/>
          <p:cNvSpPr/>
          <p:nvPr/>
        </p:nvSpPr>
        <p:spPr>
          <a:xfrm>
            <a:off x="11171734" y="2501900"/>
            <a:ext cx="430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阶段 1: 租约获取与副本发现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1171734" y="2857500"/>
            <a:ext cx="429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客户端向 Master 请求 chunk 的主副本和从副本信息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11044734" y="3314700"/>
            <a:ext cx="4432300" cy="812800"/>
          </a:xfrm>
          <a:custGeom>
            <a:avLst/>
            <a:gdLst/>
            <a:ahLst/>
            <a:cxnLst/>
            <a:rect l="l" t="t" r="r" b="b"/>
            <a:pathLst>
              <a:path w="4432300" h="812800">
                <a:moveTo>
                  <a:pt x="50800" y="0"/>
                </a:moveTo>
                <a:lnTo>
                  <a:pt x="4381500" y="0"/>
                </a:lnTo>
                <a:cubicBezTo>
                  <a:pt x="4409537" y="0"/>
                  <a:pt x="4432300" y="22763"/>
                  <a:pt x="4432300" y="50800"/>
                </a:cubicBezTo>
                <a:lnTo>
                  <a:pt x="4432300" y="762000"/>
                </a:lnTo>
                <a:cubicBezTo>
                  <a:pt x="4432300" y="790037"/>
                  <a:pt x="4409537" y="812800"/>
                  <a:pt x="43815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4"/>
          <p:cNvSpPr/>
          <p:nvPr/>
        </p:nvSpPr>
        <p:spPr>
          <a:xfrm>
            <a:off x="11044734" y="33147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5080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5"/>
          <p:cNvSpPr/>
          <p:nvPr/>
        </p:nvSpPr>
        <p:spPr>
          <a:xfrm>
            <a:off x="11171734" y="3416300"/>
            <a:ext cx="430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阶段 2: 数据推送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1171734" y="3771900"/>
            <a:ext cx="429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客户端将数据推送到所有副本（采用链式传输优化）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11044734" y="4229100"/>
            <a:ext cx="4432300" cy="812800"/>
          </a:xfrm>
          <a:custGeom>
            <a:avLst/>
            <a:gdLst/>
            <a:ahLst/>
            <a:cxnLst/>
            <a:rect l="l" t="t" r="r" b="b"/>
            <a:pathLst>
              <a:path w="4432300" h="812800">
                <a:moveTo>
                  <a:pt x="50800" y="0"/>
                </a:moveTo>
                <a:lnTo>
                  <a:pt x="4381500" y="0"/>
                </a:lnTo>
                <a:cubicBezTo>
                  <a:pt x="4409537" y="0"/>
                  <a:pt x="4432300" y="22763"/>
                  <a:pt x="4432300" y="50800"/>
                </a:cubicBezTo>
                <a:lnTo>
                  <a:pt x="4432300" y="762000"/>
                </a:lnTo>
                <a:cubicBezTo>
                  <a:pt x="4432300" y="790037"/>
                  <a:pt x="4409537" y="812800"/>
                  <a:pt x="43815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8"/>
          <p:cNvSpPr/>
          <p:nvPr/>
        </p:nvSpPr>
        <p:spPr>
          <a:xfrm>
            <a:off x="11044734" y="42291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5080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9"/>
          <p:cNvSpPr/>
          <p:nvPr/>
        </p:nvSpPr>
        <p:spPr>
          <a:xfrm>
            <a:off x="11171734" y="4330700"/>
            <a:ext cx="430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阶段 3: 写入控制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11171734" y="4686300"/>
            <a:ext cx="429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主副本协调所有从副本执行写入操作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11044734" y="5143500"/>
            <a:ext cx="4432300" cy="812800"/>
          </a:xfrm>
          <a:custGeom>
            <a:avLst/>
            <a:gdLst/>
            <a:ahLst/>
            <a:cxnLst/>
            <a:rect l="l" t="t" r="r" b="b"/>
            <a:pathLst>
              <a:path w="4432300" h="812800">
                <a:moveTo>
                  <a:pt x="50800" y="0"/>
                </a:moveTo>
                <a:lnTo>
                  <a:pt x="4381500" y="0"/>
                </a:lnTo>
                <a:cubicBezTo>
                  <a:pt x="4409537" y="0"/>
                  <a:pt x="4432300" y="22763"/>
                  <a:pt x="4432300" y="50800"/>
                </a:cubicBezTo>
                <a:lnTo>
                  <a:pt x="4432300" y="762000"/>
                </a:lnTo>
                <a:cubicBezTo>
                  <a:pt x="4432300" y="790037"/>
                  <a:pt x="4409537" y="812800"/>
                  <a:pt x="43815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2"/>
          <p:cNvSpPr/>
          <p:nvPr/>
        </p:nvSpPr>
        <p:spPr>
          <a:xfrm>
            <a:off x="11044734" y="51435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5080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3"/>
          <p:cNvSpPr/>
          <p:nvPr/>
        </p:nvSpPr>
        <p:spPr>
          <a:xfrm>
            <a:off x="11171734" y="5245100"/>
            <a:ext cx="430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阶段 4: 错误处理与重试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11171734" y="5600700"/>
            <a:ext cx="429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检测写入失败并向 Master 报告错误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10758984" y="6432550"/>
            <a:ext cx="4978400" cy="2603500"/>
          </a:xfrm>
          <a:custGeom>
            <a:avLst/>
            <a:gdLst/>
            <a:ahLst/>
            <a:cxnLst/>
            <a:rect l="l" t="t" r="r" b="b"/>
            <a:pathLst>
              <a:path w="4978400" h="2603500">
                <a:moveTo>
                  <a:pt x="101589" y="0"/>
                </a:moveTo>
                <a:lnTo>
                  <a:pt x="4876811" y="0"/>
                </a:lnTo>
                <a:cubicBezTo>
                  <a:pt x="4932917" y="0"/>
                  <a:pt x="4978400" y="45483"/>
                  <a:pt x="4978400" y="101589"/>
                </a:cubicBezTo>
                <a:lnTo>
                  <a:pt x="4978400" y="2501911"/>
                </a:lnTo>
                <a:cubicBezTo>
                  <a:pt x="4978400" y="2558017"/>
                  <a:pt x="4932917" y="2603500"/>
                  <a:pt x="4876811" y="2603500"/>
                </a:cubicBezTo>
                <a:lnTo>
                  <a:pt x="101589" y="2603500"/>
                </a:lnTo>
                <a:cubicBezTo>
                  <a:pt x="45483" y="2603500"/>
                  <a:pt x="0" y="2558017"/>
                  <a:pt x="0" y="2501911"/>
                </a:cubicBezTo>
                <a:lnTo>
                  <a:pt x="0" y="101589"/>
                </a:lnTo>
                <a:cubicBezTo>
                  <a:pt x="0" y="45520"/>
                  <a:pt x="45520" y="0"/>
                  <a:pt x="101589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6"/>
          <p:cNvSpPr/>
          <p:nvPr/>
        </p:nvSpPr>
        <p:spPr>
          <a:xfrm>
            <a:off x="11051084" y="6756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7"/>
          <p:cNvSpPr/>
          <p:nvPr/>
        </p:nvSpPr>
        <p:spPr>
          <a:xfrm>
            <a:off x="11311434" y="6692900"/>
            <a:ext cx="427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关键设计点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11019334" y="7200900"/>
            <a:ext cx="4457700" cy="457200"/>
          </a:xfrm>
          <a:custGeom>
            <a:avLst/>
            <a:gdLst/>
            <a:ahLst/>
            <a:cxnLst/>
            <a:rect l="l" t="t" r="r" b="b"/>
            <a:pathLst>
              <a:path w="4457700" h="457200">
                <a:moveTo>
                  <a:pt x="50799" y="0"/>
                </a:moveTo>
                <a:lnTo>
                  <a:pt x="4406901" y="0"/>
                </a:lnTo>
                <a:cubicBezTo>
                  <a:pt x="4434956" y="0"/>
                  <a:pt x="4457700" y="22744"/>
                  <a:pt x="4457700" y="50799"/>
                </a:cubicBezTo>
                <a:lnTo>
                  <a:pt x="4457700" y="406401"/>
                </a:lnTo>
                <a:cubicBezTo>
                  <a:pt x="4457700" y="434456"/>
                  <a:pt x="4434956" y="457200"/>
                  <a:pt x="44069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49"/>
          <p:cNvSpPr/>
          <p:nvPr/>
        </p:nvSpPr>
        <p:spPr>
          <a:xfrm>
            <a:off x="11120934" y="7302500"/>
            <a:ext cx="434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数据流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：Client → 所有副本（并行推送）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11019334" y="7759700"/>
            <a:ext cx="4457700" cy="457200"/>
          </a:xfrm>
          <a:custGeom>
            <a:avLst/>
            <a:gdLst/>
            <a:ahLst/>
            <a:cxnLst/>
            <a:rect l="l" t="t" r="r" b="b"/>
            <a:pathLst>
              <a:path w="4457700" h="457200">
                <a:moveTo>
                  <a:pt x="50799" y="0"/>
                </a:moveTo>
                <a:lnTo>
                  <a:pt x="4406901" y="0"/>
                </a:lnTo>
                <a:cubicBezTo>
                  <a:pt x="4434956" y="0"/>
                  <a:pt x="4457700" y="22744"/>
                  <a:pt x="4457700" y="50799"/>
                </a:cubicBezTo>
                <a:lnTo>
                  <a:pt x="4457700" y="406401"/>
                </a:lnTo>
                <a:cubicBezTo>
                  <a:pt x="4457700" y="434456"/>
                  <a:pt x="4434956" y="457200"/>
                  <a:pt x="44069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1"/>
          <p:cNvSpPr/>
          <p:nvPr/>
        </p:nvSpPr>
        <p:spPr>
          <a:xfrm>
            <a:off x="11120934" y="7861300"/>
            <a:ext cx="434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控制流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：Client → Primary → 所有副本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11019334" y="8318500"/>
            <a:ext cx="4457700" cy="457200"/>
          </a:xfrm>
          <a:custGeom>
            <a:avLst/>
            <a:gdLst/>
            <a:ahLst/>
            <a:cxnLst/>
            <a:rect l="l" t="t" r="r" b="b"/>
            <a:pathLst>
              <a:path w="4457700" h="457200">
                <a:moveTo>
                  <a:pt x="50799" y="0"/>
                </a:moveTo>
                <a:lnTo>
                  <a:pt x="4406901" y="0"/>
                </a:lnTo>
                <a:cubicBezTo>
                  <a:pt x="4434956" y="0"/>
                  <a:pt x="4457700" y="22744"/>
                  <a:pt x="4457700" y="50799"/>
                </a:cubicBezTo>
                <a:lnTo>
                  <a:pt x="4457700" y="406401"/>
                </a:lnTo>
                <a:cubicBezTo>
                  <a:pt x="4457700" y="434456"/>
                  <a:pt x="4434956" y="457200"/>
                  <a:pt x="44069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3"/>
          <p:cNvSpPr/>
          <p:nvPr/>
        </p:nvSpPr>
        <p:spPr>
          <a:xfrm>
            <a:off x="11120934" y="8420100"/>
            <a:ext cx="434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协调者</a:t>
            </a:r>
            <a:r>
              <a:rPr lang="en-US" sz="1400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：主副本负责写入顺序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0305" y="562881"/>
            <a:ext cx="450305" cy="45030"/>
          </a:xfrm>
          <a:custGeom>
            <a:avLst/>
            <a:gdLst/>
            <a:ahLst/>
            <a:cxnLst/>
            <a:rect l="l" t="t" r="r" b="b"/>
            <a:pathLst>
              <a:path w="450305" h="45030">
                <a:moveTo>
                  <a:pt x="0" y="0"/>
                </a:moveTo>
                <a:lnTo>
                  <a:pt x="450305" y="0"/>
                </a:lnTo>
                <a:lnTo>
                  <a:pt x="450305" y="45030"/>
                </a:lnTo>
                <a:lnTo>
                  <a:pt x="0" y="45030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35701" y="450305"/>
            <a:ext cx="2431645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b="1" kern="0" spc="71" dirty="0">
                <a:solidFill>
                  <a:srgbClr val="D4A2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OPTIMIZATION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0305" y="810548"/>
            <a:ext cx="15558028" cy="450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91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数据推送优化: 链式传输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2820" y="1440975"/>
            <a:ext cx="10784798" cy="3782560"/>
          </a:xfrm>
          <a:custGeom>
            <a:avLst/>
            <a:gdLst/>
            <a:ahLst/>
            <a:cxnLst/>
            <a:rect l="l" t="t" r="r" b="b"/>
            <a:pathLst>
              <a:path w="10784798" h="3782560">
                <a:moveTo>
                  <a:pt x="45030" y="0"/>
                </a:moveTo>
                <a:lnTo>
                  <a:pt x="10694735" y="0"/>
                </a:lnTo>
                <a:cubicBezTo>
                  <a:pt x="10744475" y="0"/>
                  <a:pt x="10784798" y="40322"/>
                  <a:pt x="10784798" y="90063"/>
                </a:cubicBezTo>
                <a:lnTo>
                  <a:pt x="10784798" y="3692497"/>
                </a:lnTo>
                <a:cubicBezTo>
                  <a:pt x="10784798" y="3742237"/>
                  <a:pt x="10744475" y="3782560"/>
                  <a:pt x="10694735" y="3782560"/>
                </a:cubicBezTo>
                <a:lnTo>
                  <a:pt x="45030" y="3782560"/>
                </a:lnTo>
                <a:cubicBezTo>
                  <a:pt x="20161" y="3782560"/>
                  <a:pt x="0" y="3762399"/>
                  <a:pt x="0" y="3737529"/>
                </a:cubicBezTo>
                <a:lnTo>
                  <a:pt x="0" y="45030"/>
                </a:lnTo>
                <a:cubicBezTo>
                  <a:pt x="0" y="20161"/>
                  <a:pt x="20161" y="0"/>
                  <a:pt x="45030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72820" y="1440975"/>
            <a:ext cx="45030" cy="3782560"/>
          </a:xfrm>
          <a:custGeom>
            <a:avLst/>
            <a:gdLst/>
            <a:ahLst/>
            <a:cxnLst/>
            <a:rect l="l" t="t" r="r" b="b"/>
            <a:pathLst>
              <a:path w="45030" h="3782560">
                <a:moveTo>
                  <a:pt x="45030" y="0"/>
                </a:moveTo>
                <a:lnTo>
                  <a:pt x="45030" y="0"/>
                </a:lnTo>
                <a:lnTo>
                  <a:pt x="45030" y="3782560"/>
                </a:lnTo>
                <a:lnTo>
                  <a:pt x="45030" y="3782560"/>
                </a:lnTo>
                <a:cubicBezTo>
                  <a:pt x="20161" y="3782560"/>
                  <a:pt x="0" y="3762399"/>
                  <a:pt x="0" y="3737529"/>
                </a:cubicBezTo>
                <a:lnTo>
                  <a:pt x="0" y="45030"/>
                </a:lnTo>
                <a:cubicBezTo>
                  <a:pt x="0" y="20177"/>
                  <a:pt x="20177" y="0"/>
                  <a:pt x="4503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48632" y="1722416"/>
            <a:ext cx="202637" cy="202637"/>
          </a:xfrm>
          <a:custGeom>
            <a:avLst/>
            <a:gdLst/>
            <a:ahLst/>
            <a:cxnLst/>
            <a:rect l="l" t="t" r="r" b="b"/>
            <a:pathLst>
              <a:path w="202637" h="202637">
                <a:moveTo>
                  <a:pt x="0" y="31662"/>
                </a:moveTo>
                <a:cubicBezTo>
                  <a:pt x="0" y="21174"/>
                  <a:pt x="8509" y="12665"/>
                  <a:pt x="18997" y="12665"/>
                </a:cubicBezTo>
                <a:lnTo>
                  <a:pt x="56992" y="12665"/>
                </a:lnTo>
                <a:cubicBezTo>
                  <a:pt x="67480" y="12665"/>
                  <a:pt x="75989" y="21174"/>
                  <a:pt x="75989" y="31662"/>
                </a:cubicBezTo>
                <a:lnTo>
                  <a:pt x="75989" y="37994"/>
                </a:lnTo>
                <a:lnTo>
                  <a:pt x="126648" y="37994"/>
                </a:lnTo>
                <a:lnTo>
                  <a:pt x="126648" y="31662"/>
                </a:lnTo>
                <a:cubicBezTo>
                  <a:pt x="126648" y="21174"/>
                  <a:pt x="135157" y="12665"/>
                  <a:pt x="145645" y="12665"/>
                </a:cubicBezTo>
                <a:lnTo>
                  <a:pt x="183640" y="12665"/>
                </a:lnTo>
                <a:cubicBezTo>
                  <a:pt x="194128" y="12665"/>
                  <a:pt x="202637" y="21174"/>
                  <a:pt x="202637" y="31662"/>
                </a:cubicBezTo>
                <a:lnTo>
                  <a:pt x="202637" y="69657"/>
                </a:lnTo>
                <a:cubicBezTo>
                  <a:pt x="202637" y="80145"/>
                  <a:pt x="194128" y="88654"/>
                  <a:pt x="183640" y="88654"/>
                </a:cubicBezTo>
                <a:lnTo>
                  <a:pt x="145645" y="88654"/>
                </a:lnTo>
                <a:cubicBezTo>
                  <a:pt x="135157" y="88654"/>
                  <a:pt x="126648" y="80145"/>
                  <a:pt x="126648" y="69657"/>
                </a:cubicBezTo>
                <a:lnTo>
                  <a:pt x="126648" y="63324"/>
                </a:lnTo>
                <a:lnTo>
                  <a:pt x="75989" y="63324"/>
                </a:lnTo>
                <a:lnTo>
                  <a:pt x="75989" y="69657"/>
                </a:lnTo>
                <a:cubicBezTo>
                  <a:pt x="75989" y="72546"/>
                  <a:pt x="75316" y="75316"/>
                  <a:pt x="74168" y="77770"/>
                </a:cubicBezTo>
                <a:lnTo>
                  <a:pt x="101319" y="113983"/>
                </a:lnTo>
                <a:lnTo>
                  <a:pt x="132981" y="113983"/>
                </a:lnTo>
                <a:cubicBezTo>
                  <a:pt x="143469" y="113983"/>
                  <a:pt x="151978" y="122493"/>
                  <a:pt x="151978" y="132981"/>
                </a:cubicBezTo>
                <a:lnTo>
                  <a:pt x="151978" y="170975"/>
                </a:lnTo>
                <a:cubicBezTo>
                  <a:pt x="151978" y="181463"/>
                  <a:pt x="143469" y="189972"/>
                  <a:pt x="132981" y="189972"/>
                </a:cubicBezTo>
                <a:lnTo>
                  <a:pt x="94986" y="189972"/>
                </a:lnTo>
                <a:cubicBezTo>
                  <a:pt x="84498" y="189972"/>
                  <a:pt x="75989" y="181463"/>
                  <a:pt x="75989" y="170975"/>
                </a:cubicBezTo>
                <a:lnTo>
                  <a:pt x="75989" y="132981"/>
                </a:lnTo>
                <a:cubicBezTo>
                  <a:pt x="75989" y="130091"/>
                  <a:pt x="76662" y="127321"/>
                  <a:pt x="77809" y="124867"/>
                </a:cubicBezTo>
                <a:lnTo>
                  <a:pt x="50659" y="88654"/>
                </a:lnTo>
                <a:lnTo>
                  <a:pt x="18997" y="88654"/>
                </a:lnTo>
                <a:cubicBezTo>
                  <a:pt x="8509" y="88654"/>
                  <a:pt x="0" y="80145"/>
                  <a:pt x="0" y="69657"/>
                </a:cubicBezTo>
                <a:lnTo>
                  <a:pt x="0" y="31662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79413" y="1666127"/>
            <a:ext cx="10154371" cy="315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6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链式推送算法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3003" y="2161463"/>
            <a:ext cx="10289463" cy="855579"/>
          </a:xfrm>
          <a:custGeom>
            <a:avLst/>
            <a:gdLst/>
            <a:ahLst/>
            <a:cxnLst/>
            <a:rect l="l" t="t" r="r" b="b"/>
            <a:pathLst>
              <a:path w="10289463" h="855579">
                <a:moveTo>
                  <a:pt x="45029" y="0"/>
                </a:moveTo>
                <a:lnTo>
                  <a:pt x="10244433" y="0"/>
                </a:lnTo>
                <a:cubicBezTo>
                  <a:pt x="10269302" y="0"/>
                  <a:pt x="10289463" y="20160"/>
                  <a:pt x="10289463" y="45029"/>
                </a:cubicBezTo>
                <a:lnTo>
                  <a:pt x="10289463" y="810550"/>
                </a:lnTo>
                <a:cubicBezTo>
                  <a:pt x="10289463" y="835419"/>
                  <a:pt x="10269302" y="855579"/>
                  <a:pt x="10244433" y="855579"/>
                </a:cubicBezTo>
                <a:lnTo>
                  <a:pt x="45029" y="855579"/>
                </a:lnTo>
                <a:cubicBezTo>
                  <a:pt x="20160" y="855579"/>
                  <a:pt x="0" y="835419"/>
                  <a:pt x="0" y="810550"/>
                </a:cubicBezTo>
                <a:lnTo>
                  <a:pt x="0" y="45029"/>
                </a:lnTo>
                <a:cubicBezTo>
                  <a:pt x="0" y="20177"/>
                  <a:pt x="20177" y="0"/>
                  <a:pt x="45029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743003" y="2161463"/>
            <a:ext cx="45030" cy="855579"/>
          </a:xfrm>
          <a:custGeom>
            <a:avLst/>
            <a:gdLst/>
            <a:ahLst/>
            <a:cxnLst/>
            <a:rect l="l" t="t" r="r" b="b"/>
            <a:pathLst>
              <a:path w="45030" h="855579">
                <a:moveTo>
                  <a:pt x="45030" y="0"/>
                </a:moveTo>
                <a:lnTo>
                  <a:pt x="45030" y="0"/>
                </a:lnTo>
                <a:lnTo>
                  <a:pt x="45030" y="855579"/>
                </a:lnTo>
                <a:lnTo>
                  <a:pt x="45030" y="855579"/>
                </a:lnTo>
                <a:cubicBezTo>
                  <a:pt x="20161" y="855579"/>
                  <a:pt x="0" y="835418"/>
                  <a:pt x="0" y="810548"/>
                </a:cubicBezTo>
                <a:lnTo>
                  <a:pt x="0" y="45030"/>
                </a:lnTo>
                <a:cubicBezTo>
                  <a:pt x="0" y="20177"/>
                  <a:pt x="20177" y="0"/>
                  <a:pt x="4503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00609" y="2296554"/>
            <a:ext cx="10086825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起始节点选择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00609" y="2611767"/>
            <a:ext cx="10086825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从客户端位置出发，选择网络距离最近的副本作为推送链的第一个节点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3003" y="3152133"/>
            <a:ext cx="10289463" cy="855579"/>
          </a:xfrm>
          <a:custGeom>
            <a:avLst/>
            <a:gdLst/>
            <a:ahLst/>
            <a:cxnLst/>
            <a:rect l="l" t="t" r="r" b="b"/>
            <a:pathLst>
              <a:path w="10289463" h="855579">
                <a:moveTo>
                  <a:pt x="45029" y="0"/>
                </a:moveTo>
                <a:lnTo>
                  <a:pt x="10244433" y="0"/>
                </a:lnTo>
                <a:cubicBezTo>
                  <a:pt x="10269302" y="0"/>
                  <a:pt x="10289463" y="20160"/>
                  <a:pt x="10289463" y="45029"/>
                </a:cubicBezTo>
                <a:lnTo>
                  <a:pt x="10289463" y="810550"/>
                </a:lnTo>
                <a:cubicBezTo>
                  <a:pt x="10289463" y="835419"/>
                  <a:pt x="10269302" y="855579"/>
                  <a:pt x="10244433" y="855579"/>
                </a:cubicBezTo>
                <a:lnTo>
                  <a:pt x="45029" y="855579"/>
                </a:lnTo>
                <a:cubicBezTo>
                  <a:pt x="20160" y="855579"/>
                  <a:pt x="0" y="835419"/>
                  <a:pt x="0" y="810550"/>
                </a:cubicBezTo>
                <a:lnTo>
                  <a:pt x="0" y="45029"/>
                </a:lnTo>
                <a:cubicBezTo>
                  <a:pt x="0" y="20177"/>
                  <a:pt x="20177" y="0"/>
                  <a:pt x="45029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743003" y="3152133"/>
            <a:ext cx="45030" cy="855579"/>
          </a:xfrm>
          <a:custGeom>
            <a:avLst/>
            <a:gdLst/>
            <a:ahLst/>
            <a:cxnLst/>
            <a:rect l="l" t="t" r="r" b="b"/>
            <a:pathLst>
              <a:path w="45030" h="855579">
                <a:moveTo>
                  <a:pt x="45030" y="0"/>
                </a:moveTo>
                <a:lnTo>
                  <a:pt x="45030" y="0"/>
                </a:lnTo>
                <a:lnTo>
                  <a:pt x="45030" y="855579"/>
                </a:lnTo>
                <a:lnTo>
                  <a:pt x="45030" y="855579"/>
                </a:lnTo>
                <a:cubicBezTo>
                  <a:pt x="20161" y="855579"/>
                  <a:pt x="0" y="835418"/>
                  <a:pt x="0" y="810548"/>
                </a:cubicBezTo>
                <a:lnTo>
                  <a:pt x="0" y="45030"/>
                </a:lnTo>
                <a:cubicBezTo>
                  <a:pt x="0" y="20177"/>
                  <a:pt x="20177" y="0"/>
                  <a:pt x="4503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00609" y="3287224"/>
            <a:ext cx="10086825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链路扩展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0609" y="3602438"/>
            <a:ext cx="10086825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从当前节点出发，选择距离最近的未处理副本，将新副本加入推送链，重复直到所有副本都加入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3003" y="4142803"/>
            <a:ext cx="10289463" cy="855579"/>
          </a:xfrm>
          <a:custGeom>
            <a:avLst/>
            <a:gdLst/>
            <a:ahLst/>
            <a:cxnLst/>
            <a:rect l="l" t="t" r="r" b="b"/>
            <a:pathLst>
              <a:path w="10289463" h="855579">
                <a:moveTo>
                  <a:pt x="45029" y="0"/>
                </a:moveTo>
                <a:lnTo>
                  <a:pt x="10244433" y="0"/>
                </a:lnTo>
                <a:cubicBezTo>
                  <a:pt x="10269302" y="0"/>
                  <a:pt x="10289463" y="20160"/>
                  <a:pt x="10289463" y="45029"/>
                </a:cubicBezTo>
                <a:lnTo>
                  <a:pt x="10289463" y="810550"/>
                </a:lnTo>
                <a:cubicBezTo>
                  <a:pt x="10289463" y="835419"/>
                  <a:pt x="10269302" y="855579"/>
                  <a:pt x="10244433" y="855579"/>
                </a:cubicBezTo>
                <a:lnTo>
                  <a:pt x="45029" y="855579"/>
                </a:lnTo>
                <a:cubicBezTo>
                  <a:pt x="20160" y="855579"/>
                  <a:pt x="0" y="835419"/>
                  <a:pt x="0" y="810550"/>
                </a:cubicBezTo>
                <a:lnTo>
                  <a:pt x="0" y="45029"/>
                </a:lnTo>
                <a:cubicBezTo>
                  <a:pt x="0" y="20177"/>
                  <a:pt x="20177" y="0"/>
                  <a:pt x="45029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743003" y="4142803"/>
            <a:ext cx="45030" cy="855579"/>
          </a:xfrm>
          <a:custGeom>
            <a:avLst/>
            <a:gdLst/>
            <a:ahLst/>
            <a:cxnLst/>
            <a:rect l="l" t="t" r="r" b="b"/>
            <a:pathLst>
              <a:path w="45030" h="855579">
                <a:moveTo>
                  <a:pt x="45030" y="0"/>
                </a:moveTo>
                <a:lnTo>
                  <a:pt x="45030" y="0"/>
                </a:lnTo>
                <a:lnTo>
                  <a:pt x="45030" y="855579"/>
                </a:lnTo>
                <a:lnTo>
                  <a:pt x="45030" y="855579"/>
                </a:lnTo>
                <a:cubicBezTo>
                  <a:pt x="20161" y="855579"/>
                  <a:pt x="0" y="835418"/>
                  <a:pt x="0" y="810548"/>
                </a:cubicBezTo>
                <a:lnTo>
                  <a:pt x="0" y="45030"/>
                </a:lnTo>
                <a:cubicBezTo>
                  <a:pt x="0" y="20177"/>
                  <a:pt x="20177" y="0"/>
                  <a:pt x="4503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00609" y="4277895"/>
            <a:ext cx="10086825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带宽优化效果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0609" y="4593108"/>
            <a:ext cx="10086825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链式推送 vs 并行推送：通常可节省 50-70% 的网络带宽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5934" y="5409285"/>
            <a:ext cx="10796055" cy="2127690"/>
          </a:xfrm>
          <a:custGeom>
            <a:avLst/>
            <a:gdLst/>
            <a:ahLst/>
            <a:cxnLst/>
            <a:rect l="l" t="t" r="r" b="b"/>
            <a:pathLst>
              <a:path w="10796055" h="2127690">
                <a:moveTo>
                  <a:pt x="90065" y="0"/>
                </a:moveTo>
                <a:lnTo>
                  <a:pt x="10705990" y="0"/>
                </a:lnTo>
                <a:cubicBezTo>
                  <a:pt x="10755732" y="0"/>
                  <a:pt x="10796055" y="40324"/>
                  <a:pt x="10796055" y="90065"/>
                </a:cubicBezTo>
                <a:lnTo>
                  <a:pt x="10796055" y="2037625"/>
                </a:lnTo>
                <a:cubicBezTo>
                  <a:pt x="10796055" y="2087366"/>
                  <a:pt x="10755732" y="2127690"/>
                  <a:pt x="10705990" y="2127690"/>
                </a:cubicBezTo>
                <a:lnTo>
                  <a:pt x="90065" y="2127690"/>
                </a:lnTo>
                <a:cubicBezTo>
                  <a:pt x="40324" y="2127690"/>
                  <a:pt x="0" y="2087366"/>
                  <a:pt x="0" y="2037625"/>
                </a:cubicBezTo>
                <a:lnTo>
                  <a:pt x="0" y="90065"/>
                </a:lnTo>
                <a:cubicBezTo>
                  <a:pt x="0" y="40357"/>
                  <a:pt x="40357" y="0"/>
                  <a:pt x="90065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40188" y="5696355"/>
            <a:ext cx="151978" cy="202637"/>
          </a:xfrm>
          <a:custGeom>
            <a:avLst/>
            <a:gdLst/>
            <a:ahLst/>
            <a:cxnLst/>
            <a:rect l="l" t="t" r="r" b="b"/>
            <a:pathLst>
              <a:path w="151978" h="202637">
                <a:moveTo>
                  <a:pt x="25330" y="0"/>
                </a:moveTo>
                <a:cubicBezTo>
                  <a:pt x="11359" y="0"/>
                  <a:pt x="0" y="11359"/>
                  <a:pt x="0" y="25330"/>
                </a:cubicBezTo>
                <a:lnTo>
                  <a:pt x="0" y="177307"/>
                </a:lnTo>
                <a:cubicBezTo>
                  <a:pt x="0" y="191278"/>
                  <a:pt x="11359" y="202637"/>
                  <a:pt x="25330" y="202637"/>
                </a:cubicBezTo>
                <a:lnTo>
                  <a:pt x="126648" y="202637"/>
                </a:lnTo>
                <a:cubicBezTo>
                  <a:pt x="140619" y="202637"/>
                  <a:pt x="151978" y="191278"/>
                  <a:pt x="151978" y="177307"/>
                </a:cubicBezTo>
                <a:lnTo>
                  <a:pt x="151978" y="25330"/>
                </a:lnTo>
                <a:cubicBezTo>
                  <a:pt x="151978" y="11359"/>
                  <a:pt x="140619" y="0"/>
                  <a:pt x="126648" y="0"/>
                </a:cubicBezTo>
                <a:lnTo>
                  <a:pt x="25330" y="0"/>
                </a:lnTo>
                <a:close/>
                <a:moveTo>
                  <a:pt x="37994" y="25330"/>
                </a:moveTo>
                <a:lnTo>
                  <a:pt x="113983" y="25330"/>
                </a:lnTo>
                <a:cubicBezTo>
                  <a:pt x="120989" y="25330"/>
                  <a:pt x="126648" y="30989"/>
                  <a:pt x="126648" y="37994"/>
                </a:cubicBezTo>
                <a:lnTo>
                  <a:pt x="126648" y="50659"/>
                </a:lnTo>
                <a:cubicBezTo>
                  <a:pt x="126648" y="57665"/>
                  <a:pt x="120989" y="63324"/>
                  <a:pt x="113983" y="63324"/>
                </a:cubicBezTo>
                <a:lnTo>
                  <a:pt x="37994" y="63324"/>
                </a:lnTo>
                <a:cubicBezTo>
                  <a:pt x="30989" y="63324"/>
                  <a:pt x="25330" y="57665"/>
                  <a:pt x="25330" y="50659"/>
                </a:cubicBezTo>
                <a:lnTo>
                  <a:pt x="25330" y="37994"/>
                </a:lnTo>
                <a:cubicBezTo>
                  <a:pt x="25330" y="30989"/>
                  <a:pt x="30989" y="25330"/>
                  <a:pt x="37994" y="25330"/>
                </a:cubicBezTo>
                <a:close/>
                <a:moveTo>
                  <a:pt x="44327" y="91820"/>
                </a:moveTo>
                <a:cubicBezTo>
                  <a:pt x="44327" y="97062"/>
                  <a:pt x="40071" y="101319"/>
                  <a:pt x="34828" y="101319"/>
                </a:cubicBezTo>
                <a:cubicBezTo>
                  <a:pt x="29586" y="101319"/>
                  <a:pt x="25330" y="97062"/>
                  <a:pt x="25330" y="91820"/>
                </a:cubicBezTo>
                <a:cubicBezTo>
                  <a:pt x="25330" y="86578"/>
                  <a:pt x="29586" y="82321"/>
                  <a:pt x="34828" y="82321"/>
                </a:cubicBezTo>
                <a:cubicBezTo>
                  <a:pt x="40071" y="82321"/>
                  <a:pt x="44327" y="86578"/>
                  <a:pt x="44327" y="91820"/>
                </a:cubicBezTo>
                <a:close/>
                <a:moveTo>
                  <a:pt x="75989" y="101319"/>
                </a:moveTo>
                <a:cubicBezTo>
                  <a:pt x="70746" y="101319"/>
                  <a:pt x="66490" y="97062"/>
                  <a:pt x="66490" y="91820"/>
                </a:cubicBezTo>
                <a:cubicBezTo>
                  <a:pt x="66490" y="86578"/>
                  <a:pt x="70746" y="82321"/>
                  <a:pt x="75989" y="82321"/>
                </a:cubicBezTo>
                <a:cubicBezTo>
                  <a:pt x="81231" y="82321"/>
                  <a:pt x="85488" y="86578"/>
                  <a:pt x="85488" y="91820"/>
                </a:cubicBezTo>
                <a:cubicBezTo>
                  <a:pt x="85488" y="97062"/>
                  <a:pt x="81231" y="101319"/>
                  <a:pt x="75989" y="101319"/>
                </a:cubicBezTo>
                <a:close/>
                <a:moveTo>
                  <a:pt x="126648" y="91820"/>
                </a:moveTo>
                <a:cubicBezTo>
                  <a:pt x="126648" y="97062"/>
                  <a:pt x="122392" y="101319"/>
                  <a:pt x="117150" y="101319"/>
                </a:cubicBezTo>
                <a:cubicBezTo>
                  <a:pt x="111907" y="101319"/>
                  <a:pt x="107651" y="97062"/>
                  <a:pt x="107651" y="91820"/>
                </a:cubicBezTo>
                <a:cubicBezTo>
                  <a:pt x="107651" y="86578"/>
                  <a:pt x="111907" y="82321"/>
                  <a:pt x="117150" y="82321"/>
                </a:cubicBezTo>
                <a:cubicBezTo>
                  <a:pt x="122392" y="82321"/>
                  <a:pt x="126648" y="86578"/>
                  <a:pt x="126648" y="91820"/>
                </a:cubicBezTo>
                <a:close/>
                <a:moveTo>
                  <a:pt x="34828" y="139313"/>
                </a:moveTo>
                <a:cubicBezTo>
                  <a:pt x="29586" y="139313"/>
                  <a:pt x="25330" y="135057"/>
                  <a:pt x="25330" y="129814"/>
                </a:cubicBezTo>
                <a:cubicBezTo>
                  <a:pt x="25330" y="124572"/>
                  <a:pt x="29586" y="120316"/>
                  <a:pt x="34828" y="120316"/>
                </a:cubicBezTo>
                <a:cubicBezTo>
                  <a:pt x="40071" y="120316"/>
                  <a:pt x="44327" y="124572"/>
                  <a:pt x="44327" y="129814"/>
                </a:cubicBezTo>
                <a:cubicBezTo>
                  <a:pt x="44327" y="135057"/>
                  <a:pt x="40071" y="139313"/>
                  <a:pt x="34828" y="139313"/>
                </a:cubicBezTo>
                <a:close/>
                <a:moveTo>
                  <a:pt x="85488" y="129814"/>
                </a:moveTo>
                <a:cubicBezTo>
                  <a:pt x="85488" y="135057"/>
                  <a:pt x="81231" y="139313"/>
                  <a:pt x="75989" y="139313"/>
                </a:cubicBezTo>
                <a:cubicBezTo>
                  <a:pt x="70746" y="139313"/>
                  <a:pt x="66490" y="135057"/>
                  <a:pt x="66490" y="129814"/>
                </a:cubicBezTo>
                <a:cubicBezTo>
                  <a:pt x="66490" y="124572"/>
                  <a:pt x="70746" y="120316"/>
                  <a:pt x="75989" y="120316"/>
                </a:cubicBezTo>
                <a:cubicBezTo>
                  <a:pt x="81231" y="120316"/>
                  <a:pt x="85488" y="124572"/>
                  <a:pt x="85488" y="129814"/>
                </a:cubicBezTo>
                <a:close/>
                <a:moveTo>
                  <a:pt x="117150" y="139313"/>
                </a:moveTo>
                <a:cubicBezTo>
                  <a:pt x="111907" y="139313"/>
                  <a:pt x="107651" y="135057"/>
                  <a:pt x="107651" y="129814"/>
                </a:cubicBezTo>
                <a:cubicBezTo>
                  <a:pt x="107651" y="124572"/>
                  <a:pt x="111907" y="120316"/>
                  <a:pt x="117150" y="120316"/>
                </a:cubicBezTo>
                <a:cubicBezTo>
                  <a:pt x="122392" y="120316"/>
                  <a:pt x="126648" y="124572"/>
                  <a:pt x="126648" y="129814"/>
                </a:cubicBezTo>
                <a:cubicBezTo>
                  <a:pt x="126648" y="135057"/>
                  <a:pt x="122392" y="139313"/>
                  <a:pt x="117150" y="139313"/>
                </a:cubicBezTo>
                <a:close/>
                <a:moveTo>
                  <a:pt x="25330" y="167809"/>
                </a:moveTo>
                <a:cubicBezTo>
                  <a:pt x="25330" y="162545"/>
                  <a:pt x="29564" y="158310"/>
                  <a:pt x="34828" y="158310"/>
                </a:cubicBezTo>
                <a:lnTo>
                  <a:pt x="79155" y="158310"/>
                </a:lnTo>
                <a:cubicBezTo>
                  <a:pt x="84419" y="158310"/>
                  <a:pt x="88654" y="162545"/>
                  <a:pt x="88654" y="167809"/>
                </a:cubicBezTo>
                <a:cubicBezTo>
                  <a:pt x="88654" y="173073"/>
                  <a:pt x="84419" y="177307"/>
                  <a:pt x="79155" y="177307"/>
                </a:cubicBezTo>
                <a:lnTo>
                  <a:pt x="34828" y="177307"/>
                </a:lnTo>
                <a:cubicBezTo>
                  <a:pt x="29564" y="177307"/>
                  <a:pt x="25330" y="173073"/>
                  <a:pt x="25330" y="167809"/>
                </a:cubicBezTo>
                <a:close/>
                <a:moveTo>
                  <a:pt x="117150" y="158310"/>
                </a:moveTo>
                <a:cubicBezTo>
                  <a:pt x="122413" y="158310"/>
                  <a:pt x="126648" y="162545"/>
                  <a:pt x="126648" y="167809"/>
                </a:cubicBezTo>
                <a:cubicBezTo>
                  <a:pt x="126648" y="173073"/>
                  <a:pt x="122413" y="177307"/>
                  <a:pt x="117150" y="177307"/>
                </a:cubicBezTo>
                <a:cubicBezTo>
                  <a:pt x="111886" y="177307"/>
                  <a:pt x="107651" y="173073"/>
                  <a:pt x="107651" y="167809"/>
                </a:cubicBezTo>
                <a:cubicBezTo>
                  <a:pt x="107651" y="162545"/>
                  <a:pt x="111886" y="158310"/>
                  <a:pt x="117150" y="15831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45640" y="5640066"/>
            <a:ext cx="10176886" cy="315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6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链式推送 vs 并行推送对比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09230" y="6090371"/>
            <a:ext cx="5054670" cy="1215823"/>
          </a:xfrm>
          <a:custGeom>
            <a:avLst/>
            <a:gdLst/>
            <a:ahLst/>
            <a:cxnLst/>
            <a:rect l="l" t="t" r="r" b="b"/>
            <a:pathLst>
              <a:path w="5054670" h="1215823">
                <a:moveTo>
                  <a:pt x="45030" y="0"/>
                </a:moveTo>
                <a:lnTo>
                  <a:pt x="5009636" y="0"/>
                </a:lnTo>
                <a:cubicBezTo>
                  <a:pt x="5034508" y="0"/>
                  <a:pt x="5054670" y="20162"/>
                  <a:pt x="5054670" y="45034"/>
                </a:cubicBezTo>
                <a:lnTo>
                  <a:pt x="5054670" y="1170789"/>
                </a:lnTo>
                <a:cubicBezTo>
                  <a:pt x="5054670" y="1195660"/>
                  <a:pt x="5034508" y="1215823"/>
                  <a:pt x="5009636" y="1215823"/>
                </a:cubicBezTo>
                <a:lnTo>
                  <a:pt x="45030" y="1215823"/>
                </a:lnTo>
                <a:cubicBezTo>
                  <a:pt x="20161" y="1215823"/>
                  <a:pt x="0" y="1195662"/>
                  <a:pt x="0" y="1170792"/>
                </a:cubicBezTo>
                <a:lnTo>
                  <a:pt x="0" y="45030"/>
                </a:lnTo>
                <a:cubicBezTo>
                  <a:pt x="0" y="20161"/>
                  <a:pt x="20161" y="0"/>
                  <a:pt x="45030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709230" y="6090371"/>
            <a:ext cx="45030" cy="1215823"/>
          </a:xfrm>
          <a:custGeom>
            <a:avLst/>
            <a:gdLst/>
            <a:ahLst/>
            <a:cxnLst/>
            <a:rect l="l" t="t" r="r" b="b"/>
            <a:pathLst>
              <a:path w="45030" h="1215823">
                <a:moveTo>
                  <a:pt x="45030" y="0"/>
                </a:moveTo>
                <a:lnTo>
                  <a:pt x="45030" y="0"/>
                </a:lnTo>
                <a:lnTo>
                  <a:pt x="45030" y="1215823"/>
                </a:lnTo>
                <a:lnTo>
                  <a:pt x="45030" y="1215823"/>
                </a:lnTo>
                <a:cubicBezTo>
                  <a:pt x="20161" y="1215823"/>
                  <a:pt x="0" y="1195662"/>
                  <a:pt x="0" y="1170792"/>
                </a:cubicBezTo>
                <a:lnTo>
                  <a:pt x="0" y="45030"/>
                </a:lnTo>
                <a:cubicBezTo>
                  <a:pt x="0" y="20177"/>
                  <a:pt x="20177" y="0"/>
                  <a:pt x="45030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66837" y="6225463"/>
            <a:ext cx="4852033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链式推送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6837" y="6585706"/>
            <a:ext cx="4852033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每个副本只接收一次完整数据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6837" y="6945950"/>
            <a:ext cx="4840776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1" dirty="0">
                <a:solidFill>
                  <a:srgbClr val="F8F9FA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带宽利用率高，延迟低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63987" y="6090371"/>
            <a:ext cx="5054670" cy="1215823"/>
          </a:xfrm>
          <a:custGeom>
            <a:avLst/>
            <a:gdLst/>
            <a:ahLst/>
            <a:cxnLst/>
            <a:rect l="l" t="t" r="r" b="b"/>
            <a:pathLst>
              <a:path w="5054670" h="1215823">
                <a:moveTo>
                  <a:pt x="45030" y="0"/>
                </a:moveTo>
                <a:lnTo>
                  <a:pt x="5009636" y="0"/>
                </a:lnTo>
                <a:cubicBezTo>
                  <a:pt x="5034508" y="0"/>
                  <a:pt x="5054670" y="20162"/>
                  <a:pt x="5054670" y="45034"/>
                </a:cubicBezTo>
                <a:lnTo>
                  <a:pt x="5054670" y="1170789"/>
                </a:lnTo>
                <a:cubicBezTo>
                  <a:pt x="5054670" y="1195660"/>
                  <a:pt x="5034508" y="1215823"/>
                  <a:pt x="5009636" y="1215823"/>
                </a:cubicBezTo>
                <a:lnTo>
                  <a:pt x="45030" y="1215823"/>
                </a:lnTo>
                <a:cubicBezTo>
                  <a:pt x="20161" y="1215823"/>
                  <a:pt x="0" y="1195662"/>
                  <a:pt x="0" y="1170792"/>
                </a:cubicBezTo>
                <a:lnTo>
                  <a:pt x="0" y="45030"/>
                </a:lnTo>
                <a:cubicBezTo>
                  <a:pt x="0" y="20161"/>
                  <a:pt x="20161" y="0"/>
                  <a:pt x="45030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5963987" y="6090371"/>
            <a:ext cx="45030" cy="1215823"/>
          </a:xfrm>
          <a:custGeom>
            <a:avLst/>
            <a:gdLst/>
            <a:ahLst/>
            <a:cxnLst/>
            <a:rect l="l" t="t" r="r" b="b"/>
            <a:pathLst>
              <a:path w="45030" h="1215823">
                <a:moveTo>
                  <a:pt x="45030" y="0"/>
                </a:moveTo>
                <a:lnTo>
                  <a:pt x="45030" y="0"/>
                </a:lnTo>
                <a:lnTo>
                  <a:pt x="45030" y="1215823"/>
                </a:lnTo>
                <a:lnTo>
                  <a:pt x="45030" y="1215823"/>
                </a:lnTo>
                <a:cubicBezTo>
                  <a:pt x="20161" y="1215823"/>
                  <a:pt x="0" y="1195662"/>
                  <a:pt x="0" y="1170792"/>
                </a:cubicBezTo>
                <a:lnTo>
                  <a:pt x="0" y="45030"/>
                </a:lnTo>
                <a:cubicBezTo>
                  <a:pt x="0" y="20177"/>
                  <a:pt x="20177" y="0"/>
                  <a:pt x="45030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121593" y="6225463"/>
            <a:ext cx="4852033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并行推送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121593" y="6585706"/>
            <a:ext cx="4852033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客户端需向所有副本发送数据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21593" y="6945950"/>
            <a:ext cx="4840776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1" dirty="0">
                <a:solidFill>
                  <a:srgbClr val="F8F9FA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带宽消耗大，客户端压力大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483386" y="946538"/>
            <a:ext cx="4311668" cy="3613695"/>
          </a:xfrm>
          <a:custGeom>
            <a:avLst/>
            <a:gdLst/>
            <a:ahLst/>
            <a:cxnLst/>
            <a:rect l="l" t="t" r="r" b="b"/>
            <a:pathLst>
              <a:path w="4311668" h="3613695">
                <a:moveTo>
                  <a:pt x="90053" y="0"/>
                </a:moveTo>
                <a:lnTo>
                  <a:pt x="4221614" y="0"/>
                </a:lnTo>
                <a:cubicBezTo>
                  <a:pt x="4271349" y="0"/>
                  <a:pt x="4311668" y="40318"/>
                  <a:pt x="4311668" y="90053"/>
                </a:cubicBezTo>
                <a:lnTo>
                  <a:pt x="4311668" y="3523642"/>
                </a:lnTo>
                <a:cubicBezTo>
                  <a:pt x="4311668" y="3573377"/>
                  <a:pt x="4271349" y="3613695"/>
                  <a:pt x="4221614" y="3613695"/>
                </a:cubicBezTo>
                <a:lnTo>
                  <a:pt x="90053" y="3613695"/>
                </a:lnTo>
                <a:cubicBezTo>
                  <a:pt x="40318" y="3613695"/>
                  <a:pt x="0" y="3573377"/>
                  <a:pt x="0" y="3523642"/>
                </a:cubicBezTo>
                <a:lnTo>
                  <a:pt x="0" y="90053"/>
                </a:lnTo>
                <a:cubicBezTo>
                  <a:pt x="0" y="40352"/>
                  <a:pt x="40352" y="0"/>
                  <a:pt x="90053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11716981" y="1233607"/>
            <a:ext cx="253296" cy="202637"/>
          </a:xfrm>
          <a:custGeom>
            <a:avLst/>
            <a:gdLst/>
            <a:ahLst/>
            <a:cxnLst/>
            <a:rect l="l" t="t" r="r" b="b"/>
            <a:pathLst>
              <a:path w="253296" h="202637">
                <a:moveTo>
                  <a:pt x="164603" y="83311"/>
                </a:moveTo>
                <a:cubicBezTo>
                  <a:pt x="169432" y="82005"/>
                  <a:pt x="174497" y="84300"/>
                  <a:pt x="176674" y="88772"/>
                </a:cubicBezTo>
                <a:lnTo>
                  <a:pt x="184036" y="103654"/>
                </a:lnTo>
                <a:cubicBezTo>
                  <a:pt x="188112" y="104208"/>
                  <a:pt x="192109" y="105316"/>
                  <a:pt x="195869" y="106859"/>
                </a:cubicBezTo>
                <a:lnTo>
                  <a:pt x="209722" y="97638"/>
                </a:lnTo>
                <a:cubicBezTo>
                  <a:pt x="213877" y="94867"/>
                  <a:pt x="219378" y="95422"/>
                  <a:pt x="222901" y="98944"/>
                </a:cubicBezTo>
                <a:lnTo>
                  <a:pt x="230500" y="106543"/>
                </a:lnTo>
                <a:cubicBezTo>
                  <a:pt x="234022" y="110065"/>
                  <a:pt x="234576" y="115606"/>
                  <a:pt x="231806" y="119722"/>
                </a:cubicBezTo>
                <a:lnTo>
                  <a:pt x="222584" y="133535"/>
                </a:lnTo>
                <a:cubicBezTo>
                  <a:pt x="223336" y="135395"/>
                  <a:pt x="224009" y="137334"/>
                  <a:pt x="224563" y="139353"/>
                </a:cubicBezTo>
                <a:cubicBezTo>
                  <a:pt x="225117" y="141371"/>
                  <a:pt x="225473" y="143350"/>
                  <a:pt x="225750" y="145368"/>
                </a:cubicBezTo>
                <a:lnTo>
                  <a:pt x="240671" y="152730"/>
                </a:lnTo>
                <a:cubicBezTo>
                  <a:pt x="245143" y="154946"/>
                  <a:pt x="247439" y="160012"/>
                  <a:pt x="246133" y="164801"/>
                </a:cubicBezTo>
                <a:lnTo>
                  <a:pt x="243362" y="175170"/>
                </a:lnTo>
                <a:cubicBezTo>
                  <a:pt x="242056" y="179959"/>
                  <a:pt x="237584" y="183205"/>
                  <a:pt x="232597" y="182888"/>
                </a:cubicBezTo>
                <a:lnTo>
                  <a:pt x="215975" y="181819"/>
                </a:lnTo>
                <a:cubicBezTo>
                  <a:pt x="213481" y="185025"/>
                  <a:pt x="210592" y="187993"/>
                  <a:pt x="207307" y="190526"/>
                </a:cubicBezTo>
                <a:lnTo>
                  <a:pt x="208376" y="207109"/>
                </a:lnTo>
                <a:cubicBezTo>
                  <a:pt x="208692" y="212096"/>
                  <a:pt x="205447" y="216608"/>
                  <a:pt x="200658" y="217874"/>
                </a:cubicBezTo>
                <a:lnTo>
                  <a:pt x="190289" y="220645"/>
                </a:lnTo>
                <a:cubicBezTo>
                  <a:pt x="185460" y="221951"/>
                  <a:pt x="180434" y="219655"/>
                  <a:pt x="178218" y="215183"/>
                </a:cubicBezTo>
                <a:lnTo>
                  <a:pt x="170856" y="200302"/>
                </a:lnTo>
                <a:cubicBezTo>
                  <a:pt x="166780" y="199748"/>
                  <a:pt x="162783" y="198640"/>
                  <a:pt x="159023" y="197096"/>
                </a:cubicBezTo>
                <a:lnTo>
                  <a:pt x="145170" y="206318"/>
                </a:lnTo>
                <a:cubicBezTo>
                  <a:pt x="141015" y="209088"/>
                  <a:pt x="135514" y="208534"/>
                  <a:pt x="131991" y="205012"/>
                </a:cubicBezTo>
                <a:lnTo>
                  <a:pt x="124392" y="197413"/>
                </a:lnTo>
                <a:cubicBezTo>
                  <a:pt x="120870" y="193890"/>
                  <a:pt x="120316" y="188389"/>
                  <a:pt x="123086" y="184234"/>
                </a:cubicBezTo>
                <a:lnTo>
                  <a:pt x="132308" y="170381"/>
                </a:lnTo>
                <a:cubicBezTo>
                  <a:pt x="131556" y="168521"/>
                  <a:pt x="130883" y="166582"/>
                  <a:pt x="130329" y="164564"/>
                </a:cubicBezTo>
                <a:cubicBezTo>
                  <a:pt x="129775" y="162545"/>
                  <a:pt x="129419" y="160527"/>
                  <a:pt x="129142" y="158548"/>
                </a:cubicBezTo>
                <a:lnTo>
                  <a:pt x="114221" y="151186"/>
                </a:lnTo>
                <a:cubicBezTo>
                  <a:pt x="109749" y="148970"/>
                  <a:pt x="107493" y="143904"/>
                  <a:pt x="108759" y="139115"/>
                </a:cubicBezTo>
                <a:lnTo>
                  <a:pt x="111530" y="128746"/>
                </a:lnTo>
                <a:cubicBezTo>
                  <a:pt x="112836" y="123957"/>
                  <a:pt x="117308" y="120712"/>
                  <a:pt x="122295" y="121028"/>
                </a:cubicBezTo>
                <a:lnTo>
                  <a:pt x="138878" y="122097"/>
                </a:lnTo>
                <a:cubicBezTo>
                  <a:pt x="141371" y="118891"/>
                  <a:pt x="144260" y="115923"/>
                  <a:pt x="147545" y="113390"/>
                </a:cubicBezTo>
                <a:lnTo>
                  <a:pt x="146477" y="96846"/>
                </a:lnTo>
                <a:cubicBezTo>
                  <a:pt x="146160" y="91860"/>
                  <a:pt x="149405" y="87348"/>
                  <a:pt x="154194" y="86081"/>
                </a:cubicBezTo>
                <a:lnTo>
                  <a:pt x="164564" y="83311"/>
                </a:lnTo>
                <a:close/>
                <a:moveTo>
                  <a:pt x="177466" y="134564"/>
                </a:moveTo>
                <a:cubicBezTo>
                  <a:pt x="167855" y="134575"/>
                  <a:pt x="160061" y="142387"/>
                  <a:pt x="160071" y="151998"/>
                </a:cubicBezTo>
                <a:cubicBezTo>
                  <a:pt x="160082" y="161609"/>
                  <a:pt x="167894" y="169403"/>
                  <a:pt x="177505" y="169392"/>
                </a:cubicBezTo>
                <a:cubicBezTo>
                  <a:pt x="187116" y="169381"/>
                  <a:pt x="194911" y="161569"/>
                  <a:pt x="194900" y="151958"/>
                </a:cubicBezTo>
                <a:cubicBezTo>
                  <a:pt x="194889" y="142347"/>
                  <a:pt x="187077" y="134553"/>
                  <a:pt x="177466" y="134564"/>
                </a:cubicBezTo>
                <a:close/>
                <a:moveTo>
                  <a:pt x="89010" y="-18008"/>
                </a:moveTo>
                <a:lnTo>
                  <a:pt x="99379" y="-15237"/>
                </a:lnTo>
                <a:cubicBezTo>
                  <a:pt x="104168" y="-13931"/>
                  <a:pt x="107414" y="-9419"/>
                  <a:pt x="107097" y="-4472"/>
                </a:cubicBezTo>
                <a:lnTo>
                  <a:pt x="106028" y="12071"/>
                </a:lnTo>
                <a:cubicBezTo>
                  <a:pt x="109313" y="14604"/>
                  <a:pt x="112202" y="17533"/>
                  <a:pt x="114696" y="20778"/>
                </a:cubicBezTo>
                <a:lnTo>
                  <a:pt x="131318" y="19710"/>
                </a:lnTo>
                <a:cubicBezTo>
                  <a:pt x="136266" y="19393"/>
                  <a:pt x="140777" y="22638"/>
                  <a:pt x="142083" y="27427"/>
                </a:cubicBezTo>
                <a:lnTo>
                  <a:pt x="144854" y="37797"/>
                </a:lnTo>
                <a:cubicBezTo>
                  <a:pt x="146120" y="42585"/>
                  <a:pt x="143864" y="47651"/>
                  <a:pt x="139392" y="49868"/>
                </a:cubicBezTo>
                <a:lnTo>
                  <a:pt x="124471" y="57229"/>
                </a:lnTo>
                <a:cubicBezTo>
                  <a:pt x="124194" y="59248"/>
                  <a:pt x="123799" y="61266"/>
                  <a:pt x="123284" y="63245"/>
                </a:cubicBezTo>
                <a:cubicBezTo>
                  <a:pt x="122770" y="65224"/>
                  <a:pt x="122057" y="67203"/>
                  <a:pt x="121305" y="69063"/>
                </a:cubicBezTo>
                <a:lnTo>
                  <a:pt x="130527" y="82915"/>
                </a:lnTo>
                <a:cubicBezTo>
                  <a:pt x="133297" y="87071"/>
                  <a:pt x="132743" y="92572"/>
                  <a:pt x="129221" y="96094"/>
                </a:cubicBezTo>
                <a:lnTo>
                  <a:pt x="121622" y="103693"/>
                </a:lnTo>
                <a:cubicBezTo>
                  <a:pt x="118099" y="107216"/>
                  <a:pt x="112598" y="107770"/>
                  <a:pt x="108443" y="104999"/>
                </a:cubicBezTo>
                <a:lnTo>
                  <a:pt x="94590" y="95778"/>
                </a:lnTo>
                <a:cubicBezTo>
                  <a:pt x="90831" y="97321"/>
                  <a:pt x="86833" y="98429"/>
                  <a:pt x="82757" y="98983"/>
                </a:cubicBezTo>
                <a:lnTo>
                  <a:pt x="75395" y="113865"/>
                </a:lnTo>
                <a:cubicBezTo>
                  <a:pt x="73179" y="118337"/>
                  <a:pt x="68113" y="120593"/>
                  <a:pt x="63324" y="119326"/>
                </a:cubicBezTo>
                <a:lnTo>
                  <a:pt x="52955" y="116556"/>
                </a:lnTo>
                <a:cubicBezTo>
                  <a:pt x="48126" y="115250"/>
                  <a:pt x="44921" y="110738"/>
                  <a:pt x="45237" y="105791"/>
                </a:cubicBezTo>
                <a:lnTo>
                  <a:pt x="46306" y="89208"/>
                </a:lnTo>
                <a:cubicBezTo>
                  <a:pt x="43021" y="86675"/>
                  <a:pt x="40132" y="83746"/>
                  <a:pt x="37638" y="80501"/>
                </a:cubicBezTo>
                <a:lnTo>
                  <a:pt x="21016" y="81569"/>
                </a:lnTo>
                <a:cubicBezTo>
                  <a:pt x="16068" y="81886"/>
                  <a:pt x="11557" y="78641"/>
                  <a:pt x="10251" y="73852"/>
                </a:cubicBezTo>
                <a:lnTo>
                  <a:pt x="7480" y="63482"/>
                </a:lnTo>
                <a:cubicBezTo>
                  <a:pt x="6214" y="58694"/>
                  <a:pt x="8470" y="53628"/>
                  <a:pt x="12942" y="51411"/>
                </a:cubicBezTo>
                <a:lnTo>
                  <a:pt x="27863" y="44050"/>
                </a:lnTo>
                <a:cubicBezTo>
                  <a:pt x="28140" y="42031"/>
                  <a:pt x="28535" y="40052"/>
                  <a:pt x="29050" y="38034"/>
                </a:cubicBezTo>
                <a:cubicBezTo>
                  <a:pt x="29604" y="36016"/>
                  <a:pt x="30237" y="34076"/>
                  <a:pt x="31029" y="32216"/>
                </a:cubicBezTo>
                <a:lnTo>
                  <a:pt x="21807" y="18404"/>
                </a:lnTo>
                <a:cubicBezTo>
                  <a:pt x="19037" y="14248"/>
                  <a:pt x="19591" y="8747"/>
                  <a:pt x="23113" y="5224"/>
                </a:cubicBezTo>
                <a:lnTo>
                  <a:pt x="30712" y="-2375"/>
                </a:lnTo>
                <a:cubicBezTo>
                  <a:pt x="34235" y="-5897"/>
                  <a:pt x="39736" y="-6451"/>
                  <a:pt x="43892" y="-3681"/>
                </a:cubicBezTo>
                <a:lnTo>
                  <a:pt x="57744" y="5541"/>
                </a:lnTo>
                <a:cubicBezTo>
                  <a:pt x="61504" y="3997"/>
                  <a:pt x="65501" y="2889"/>
                  <a:pt x="69577" y="2335"/>
                </a:cubicBezTo>
                <a:lnTo>
                  <a:pt x="76939" y="-12546"/>
                </a:lnTo>
                <a:cubicBezTo>
                  <a:pt x="79155" y="-17018"/>
                  <a:pt x="84181" y="-19274"/>
                  <a:pt x="89010" y="-18008"/>
                </a:cubicBezTo>
                <a:close/>
                <a:moveTo>
                  <a:pt x="76147" y="33245"/>
                </a:moveTo>
                <a:cubicBezTo>
                  <a:pt x="66536" y="33245"/>
                  <a:pt x="58733" y="41048"/>
                  <a:pt x="58733" y="50659"/>
                </a:cubicBezTo>
                <a:cubicBezTo>
                  <a:pt x="58733" y="60270"/>
                  <a:pt x="66536" y="68073"/>
                  <a:pt x="76147" y="68073"/>
                </a:cubicBezTo>
                <a:cubicBezTo>
                  <a:pt x="85758" y="68073"/>
                  <a:pt x="93561" y="60270"/>
                  <a:pt x="93561" y="50659"/>
                </a:cubicBezTo>
                <a:cubicBezTo>
                  <a:pt x="93561" y="41048"/>
                  <a:pt x="85758" y="33245"/>
                  <a:pt x="76147" y="33245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1973092" y="1177319"/>
            <a:ext cx="3692499" cy="315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6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优化器组件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714167" y="1627624"/>
            <a:ext cx="3850105" cy="810548"/>
          </a:xfrm>
          <a:custGeom>
            <a:avLst/>
            <a:gdLst/>
            <a:ahLst/>
            <a:cxnLst/>
            <a:rect l="l" t="t" r="r" b="b"/>
            <a:pathLst>
              <a:path w="3850105" h="810548">
                <a:moveTo>
                  <a:pt x="45034" y="0"/>
                </a:moveTo>
                <a:lnTo>
                  <a:pt x="3805071" y="0"/>
                </a:lnTo>
                <a:cubicBezTo>
                  <a:pt x="3829943" y="0"/>
                  <a:pt x="3850105" y="20162"/>
                  <a:pt x="3850105" y="45034"/>
                </a:cubicBezTo>
                <a:lnTo>
                  <a:pt x="3850105" y="765514"/>
                </a:lnTo>
                <a:cubicBezTo>
                  <a:pt x="3850105" y="790386"/>
                  <a:pt x="3829943" y="810548"/>
                  <a:pt x="3805071" y="810548"/>
                </a:cubicBezTo>
                <a:lnTo>
                  <a:pt x="45034" y="810548"/>
                </a:lnTo>
                <a:cubicBezTo>
                  <a:pt x="20162" y="810548"/>
                  <a:pt x="0" y="790386"/>
                  <a:pt x="0" y="765514"/>
                </a:cubicBezTo>
                <a:lnTo>
                  <a:pt x="0" y="45034"/>
                </a:lnTo>
                <a:cubicBezTo>
                  <a:pt x="0" y="20179"/>
                  <a:pt x="20179" y="0"/>
                  <a:pt x="45034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1849258" y="1762715"/>
            <a:ext cx="3669983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网络拓扑感知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849258" y="2077928"/>
            <a:ext cx="3658726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1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维护数据中心、机架、节点的网络拓扑信息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1714167" y="2573264"/>
            <a:ext cx="3850105" cy="810548"/>
          </a:xfrm>
          <a:custGeom>
            <a:avLst/>
            <a:gdLst/>
            <a:ahLst/>
            <a:cxnLst/>
            <a:rect l="l" t="t" r="r" b="b"/>
            <a:pathLst>
              <a:path w="3850105" h="810548">
                <a:moveTo>
                  <a:pt x="45034" y="0"/>
                </a:moveTo>
                <a:lnTo>
                  <a:pt x="3805071" y="0"/>
                </a:lnTo>
                <a:cubicBezTo>
                  <a:pt x="3829943" y="0"/>
                  <a:pt x="3850105" y="20162"/>
                  <a:pt x="3850105" y="45034"/>
                </a:cubicBezTo>
                <a:lnTo>
                  <a:pt x="3850105" y="765514"/>
                </a:lnTo>
                <a:cubicBezTo>
                  <a:pt x="3850105" y="790386"/>
                  <a:pt x="3829943" y="810548"/>
                  <a:pt x="3805071" y="810548"/>
                </a:cubicBezTo>
                <a:lnTo>
                  <a:pt x="45034" y="810548"/>
                </a:lnTo>
                <a:cubicBezTo>
                  <a:pt x="20162" y="810548"/>
                  <a:pt x="0" y="790386"/>
                  <a:pt x="0" y="765514"/>
                </a:cubicBezTo>
                <a:lnTo>
                  <a:pt x="0" y="45034"/>
                </a:lnTo>
                <a:cubicBezTo>
                  <a:pt x="0" y="20179"/>
                  <a:pt x="20179" y="0"/>
                  <a:pt x="45034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1849258" y="2708355"/>
            <a:ext cx="3669983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距离计算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849258" y="3023568"/>
            <a:ext cx="3658726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1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基于网络延迟和带宽计算节点间距离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714167" y="3518904"/>
            <a:ext cx="3850105" cy="810548"/>
          </a:xfrm>
          <a:custGeom>
            <a:avLst/>
            <a:gdLst/>
            <a:ahLst/>
            <a:cxnLst/>
            <a:rect l="l" t="t" r="r" b="b"/>
            <a:pathLst>
              <a:path w="3850105" h="810548">
                <a:moveTo>
                  <a:pt x="45034" y="0"/>
                </a:moveTo>
                <a:lnTo>
                  <a:pt x="3805071" y="0"/>
                </a:lnTo>
                <a:cubicBezTo>
                  <a:pt x="3829943" y="0"/>
                  <a:pt x="3850105" y="20162"/>
                  <a:pt x="3850105" y="45034"/>
                </a:cubicBezTo>
                <a:lnTo>
                  <a:pt x="3850105" y="765514"/>
                </a:lnTo>
                <a:cubicBezTo>
                  <a:pt x="3850105" y="790386"/>
                  <a:pt x="3829943" y="810548"/>
                  <a:pt x="3805071" y="810548"/>
                </a:cubicBezTo>
                <a:lnTo>
                  <a:pt x="45034" y="810548"/>
                </a:lnTo>
                <a:cubicBezTo>
                  <a:pt x="20162" y="810548"/>
                  <a:pt x="0" y="790386"/>
                  <a:pt x="0" y="765514"/>
                </a:cubicBezTo>
                <a:lnTo>
                  <a:pt x="0" y="45034"/>
                </a:lnTo>
                <a:cubicBezTo>
                  <a:pt x="0" y="20179"/>
                  <a:pt x="20179" y="0"/>
                  <a:pt x="45034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1849258" y="3653995"/>
            <a:ext cx="3669983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推送链构建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849258" y="3969208"/>
            <a:ext cx="3658726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1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动态生成最优的数据传输路径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1483386" y="4751613"/>
            <a:ext cx="4311668" cy="3936347"/>
          </a:xfrm>
          <a:custGeom>
            <a:avLst/>
            <a:gdLst/>
            <a:ahLst/>
            <a:cxnLst/>
            <a:rect l="l" t="t" r="r" b="b"/>
            <a:pathLst>
              <a:path w="4311668" h="4604366">
                <a:moveTo>
                  <a:pt x="90071" y="0"/>
                </a:moveTo>
                <a:lnTo>
                  <a:pt x="4221597" y="0"/>
                </a:lnTo>
                <a:cubicBezTo>
                  <a:pt x="4271342" y="0"/>
                  <a:pt x="4311668" y="40326"/>
                  <a:pt x="4311668" y="90071"/>
                </a:cubicBezTo>
                <a:lnTo>
                  <a:pt x="4311668" y="4514295"/>
                </a:lnTo>
                <a:cubicBezTo>
                  <a:pt x="4311668" y="4564040"/>
                  <a:pt x="4271342" y="4604366"/>
                  <a:pt x="4221597" y="4604366"/>
                </a:cubicBezTo>
                <a:lnTo>
                  <a:pt x="90071" y="4604366"/>
                </a:lnTo>
                <a:cubicBezTo>
                  <a:pt x="40326" y="4604366"/>
                  <a:pt x="0" y="4564040"/>
                  <a:pt x="0" y="4514295"/>
                </a:cubicBezTo>
                <a:lnTo>
                  <a:pt x="0" y="90071"/>
                </a:lnTo>
                <a:cubicBezTo>
                  <a:pt x="0" y="40359"/>
                  <a:pt x="40359" y="0"/>
                  <a:pt x="90071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1742311" y="5038682"/>
            <a:ext cx="202637" cy="202637"/>
          </a:xfrm>
          <a:custGeom>
            <a:avLst/>
            <a:gdLst/>
            <a:ahLst/>
            <a:cxnLst/>
            <a:rect l="l" t="t" r="r" b="b"/>
            <a:pathLst>
              <a:path w="202637" h="202637">
                <a:moveTo>
                  <a:pt x="25330" y="25330"/>
                </a:moveTo>
                <a:cubicBezTo>
                  <a:pt x="25330" y="18324"/>
                  <a:pt x="19670" y="12665"/>
                  <a:pt x="12665" y="12665"/>
                </a:cubicBezTo>
                <a:cubicBezTo>
                  <a:pt x="5660" y="12665"/>
                  <a:pt x="0" y="18324"/>
                  <a:pt x="0" y="25330"/>
                </a:cubicBezTo>
                <a:lnTo>
                  <a:pt x="0" y="158310"/>
                </a:lnTo>
                <a:cubicBezTo>
                  <a:pt x="0" y="175804"/>
                  <a:pt x="14169" y="189972"/>
                  <a:pt x="31662" y="189972"/>
                </a:cubicBezTo>
                <a:lnTo>
                  <a:pt x="189972" y="189972"/>
                </a:lnTo>
                <a:cubicBezTo>
                  <a:pt x="196978" y="189972"/>
                  <a:pt x="202637" y="184313"/>
                  <a:pt x="202637" y="177307"/>
                </a:cubicBezTo>
                <a:cubicBezTo>
                  <a:pt x="202637" y="170302"/>
                  <a:pt x="196978" y="164643"/>
                  <a:pt x="189972" y="164643"/>
                </a:cubicBezTo>
                <a:lnTo>
                  <a:pt x="31662" y="164643"/>
                </a:lnTo>
                <a:cubicBezTo>
                  <a:pt x="28179" y="164643"/>
                  <a:pt x="25330" y="161793"/>
                  <a:pt x="25330" y="158310"/>
                </a:cubicBezTo>
                <a:lnTo>
                  <a:pt x="25330" y="25330"/>
                </a:lnTo>
                <a:close/>
                <a:moveTo>
                  <a:pt x="186252" y="59604"/>
                </a:moveTo>
                <a:cubicBezTo>
                  <a:pt x="191199" y="54657"/>
                  <a:pt x="191199" y="46622"/>
                  <a:pt x="186252" y="41675"/>
                </a:cubicBezTo>
                <a:cubicBezTo>
                  <a:pt x="181305" y="36728"/>
                  <a:pt x="173271" y="36728"/>
                  <a:pt x="168323" y="41675"/>
                </a:cubicBezTo>
                <a:lnTo>
                  <a:pt x="126648" y="83390"/>
                </a:lnTo>
                <a:lnTo>
                  <a:pt x="103931" y="60712"/>
                </a:lnTo>
                <a:cubicBezTo>
                  <a:pt x="98983" y="55765"/>
                  <a:pt x="90949" y="55765"/>
                  <a:pt x="86002" y="60712"/>
                </a:cubicBezTo>
                <a:lnTo>
                  <a:pt x="48008" y="98706"/>
                </a:lnTo>
                <a:cubicBezTo>
                  <a:pt x="43060" y="103654"/>
                  <a:pt x="43060" y="111688"/>
                  <a:pt x="48008" y="116635"/>
                </a:cubicBezTo>
                <a:cubicBezTo>
                  <a:pt x="52955" y="121582"/>
                  <a:pt x="60989" y="121582"/>
                  <a:pt x="65936" y="116635"/>
                </a:cubicBezTo>
                <a:lnTo>
                  <a:pt x="94986" y="87585"/>
                </a:lnTo>
                <a:lnTo>
                  <a:pt x="117704" y="110303"/>
                </a:lnTo>
                <a:cubicBezTo>
                  <a:pt x="122651" y="115250"/>
                  <a:pt x="130685" y="115250"/>
                  <a:pt x="135632" y="110303"/>
                </a:cubicBezTo>
                <a:lnTo>
                  <a:pt x="186292" y="59643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1973092" y="4982394"/>
            <a:ext cx="3692499" cy="315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6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性能提升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1714167" y="5432699"/>
            <a:ext cx="3850105" cy="900609"/>
          </a:xfrm>
          <a:custGeom>
            <a:avLst/>
            <a:gdLst/>
            <a:ahLst/>
            <a:cxnLst/>
            <a:rect l="l" t="t" r="r" b="b"/>
            <a:pathLst>
              <a:path w="3850105" h="900609">
                <a:moveTo>
                  <a:pt x="45030" y="0"/>
                </a:moveTo>
                <a:lnTo>
                  <a:pt x="3805075" y="0"/>
                </a:lnTo>
                <a:cubicBezTo>
                  <a:pt x="3829944" y="0"/>
                  <a:pt x="3850105" y="20161"/>
                  <a:pt x="3850105" y="45030"/>
                </a:cubicBezTo>
                <a:lnTo>
                  <a:pt x="3850105" y="855579"/>
                </a:lnTo>
                <a:cubicBezTo>
                  <a:pt x="3850105" y="880449"/>
                  <a:pt x="3829944" y="900609"/>
                  <a:pt x="3805075" y="900609"/>
                </a:cubicBezTo>
                <a:lnTo>
                  <a:pt x="45030" y="900609"/>
                </a:lnTo>
                <a:cubicBezTo>
                  <a:pt x="20161" y="900609"/>
                  <a:pt x="0" y="880449"/>
                  <a:pt x="0" y="855579"/>
                </a:cubicBezTo>
                <a:lnTo>
                  <a:pt x="0" y="45030"/>
                </a:lnTo>
                <a:cubicBezTo>
                  <a:pt x="0" y="20177"/>
                  <a:pt x="20177" y="0"/>
                  <a:pt x="45030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1849258" y="5612820"/>
            <a:ext cx="810548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带宽节省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4446250" y="5567790"/>
            <a:ext cx="1114504" cy="360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27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50-70%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849258" y="5973064"/>
            <a:ext cx="3658726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1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相比并行推送显著减少网络带宽消耗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1714167" y="6468399"/>
            <a:ext cx="3850105" cy="900609"/>
          </a:xfrm>
          <a:custGeom>
            <a:avLst/>
            <a:gdLst/>
            <a:ahLst/>
            <a:cxnLst/>
            <a:rect l="l" t="t" r="r" b="b"/>
            <a:pathLst>
              <a:path w="3850105" h="900609">
                <a:moveTo>
                  <a:pt x="45030" y="0"/>
                </a:moveTo>
                <a:lnTo>
                  <a:pt x="3805075" y="0"/>
                </a:lnTo>
                <a:cubicBezTo>
                  <a:pt x="3829944" y="0"/>
                  <a:pt x="3850105" y="20161"/>
                  <a:pt x="3850105" y="45030"/>
                </a:cubicBezTo>
                <a:lnTo>
                  <a:pt x="3850105" y="855579"/>
                </a:lnTo>
                <a:cubicBezTo>
                  <a:pt x="3850105" y="880449"/>
                  <a:pt x="3829944" y="900609"/>
                  <a:pt x="3805075" y="900609"/>
                </a:cubicBezTo>
                <a:lnTo>
                  <a:pt x="45030" y="900609"/>
                </a:lnTo>
                <a:cubicBezTo>
                  <a:pt x="20161" y="900609"/>
                  <a:pt x="0" y="880449"/>
                  <a:pt x="0" y="855579"/>
                </a:cubicBezTo>
                <a:lnTo>
                  <a:pt x="0" y="45030"/>
                </a:lnTo>
                <a:cubicBezTo>
                  <a:pt x="0" y="20177"/>
                  <a:pt x="20177" y="0"/>
                  <a:pt x="45030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11849258" y="6648521"/>
            <a:ext cx="810548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写入延迟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4754515" y="6603491"/>
            <a:ext cx="810548" cy="360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27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-60%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849258" y="7008765"/>
            <a:ext cx="3658726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1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流水线传输减少总体写入延迟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1714167" y="7504100"/>
            <a:ext cx="3850105" cy="900609"/>
          </a:xfrm>
          <a:custGeom>
            <a:avLst/>
            <a:gdLst/>
            <a:ahLst/>
            <a:cxnLst/>
            <a:rect l="l" t="t" r="r" b="b"/>
            <a:pathLst>
              <a:path w="3850105" h="900609">
                <a:moveTo>
                  <a:pt x="45030" y="0"/>
                </a:moveTo>
                <a:lnTo>
                  <a:pt x="3805075" y="0"/>
                </a:lnTo>
                <a:cubicBezTo>
                  <a:pt x="3829944" y="0"/>
                  <a:pt x="3850105" y="20161"/>
                  <a:pt x="3850105" y="45030"/>
                </a:cubicBezTo>
                <a:lnTo>
                  <a:pt x="3850105" y="855579"/>
                </a:lnTo>
                <a:cubicBezTo>
                  <a:pt x="3850105" y="880449"/>
                  <a:pt x="3829944" y="900609"/>
                  <a:pt x="3805075" y="900609"/>
                </a:cubicBezTo>
                <a:lnTo>
                  <a:pt x="45030" y="900609"/>
                </a:lnTo>
                <a:cubicBezTo>
                  <a:pt x="20161" y="900609"/>
                  <a:pt x="0" y="880449"/>
                  <a:pt x="0" y="855579"/>
                </a:cubicBezTo>
                <a:lnTo>
                  <a:pt x="0" y="45030"/>
                </a:lnTo>
                <a:cubicBezTo>
                  <a:pt x="0" y="20177"/>
                  <a:pt x="20177" y="0"/>
                  <a:pt x="45030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11849258" y="7684222"/>
            <a:ext cx="990670" cy="270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客户端压力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4348449" y="7639192"/>
            <a:ext cx="1215823" cy="360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27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大幅降低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849258" y="8044466"/>
            <a:ext cx="3658726" cy="225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1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客户端只需发送一次数据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529167"/>
            <a:ext cx="423333" cy="42333"/>
          </a:xfrm>
          <a:custGeom>
            <a:avLst/>
            <a:gdLst/>
            <a:ahLst/>
            <a:cxnLst/>
            <a:rect l="l" t="t" r="r" b="b"/>
            <a:pathLst>
              <a:path w="423333" h="42333">
                <a:moveTo>
                  <a:pt x="0" y="0"/>
                </a:moveTo>
                <a:lnTo>
                  <a:pt x="423333" y="0"/>
                </a:lnTo>
                <a:lnTo>
                  <a:pt x="423333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973667" y="423333"/>
            <a:ext cx="24870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67" dirty="0">
                <a:solidFill>
                  <a:srgbClr val="D4A2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CONSISTENCY MECHANISM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3333" y="762000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租约机制: 写入顺序保证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44500" y="1354667"/>
            <a:ext cx="10107083" cy="2624667"/>
          </a:xfrm>
          <a:custGeom>
            <a:avLst/>
            <a:gdLst/>
            <a:ahLst/>
            <a:cxnLst/>
            <a:rect l="l" t="t" r="r" b="b"/>
            <a:pathLst>
              <a:path w="10107083" h="2624667">
                <a:moveTo>
                  <a:pt x="42333" y="0"/>
                </a:moveTo>
                <a:lnTo>
                  <a:pt x="10022412" y="0"/>
                </a:lnTo>
                <a:cubicBezTo>
                  <a:pt x="10069175" y="0"/>
                  <a:pt x="10107083" y="37909"/>
                  <a:pt x="10107083" y="84672"/>
                </a:cubicBezTo>
                <a:lnTo>
                  <a:pt x="10107083" y="2539995"/>
                </a:lnTo>
                <a:cubicBezTo>
                  <a:pt x="10107083" y="2586758"/>
                  <a:pt x="10069175" y="2624667"/>
                  <a:pt x="10022412" y="2624667"/>
                </a:cubicBezTo>
                <a:lnTo>
                  <a:pt x="42333" y="2624667"/>
                </a:lnTo>
                <a:cubicBezTo>
                  <a:pt x="18953" y="2624667"/>
                  <a:pt x="0" y="2605713"/>
                  <a:pt x="0" y="258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44500" y="1354667"/>
            <a:ext cx="42333" cy="2624667"/>
          </a:xfrm>
          <a:custGeom>
            <a:avLst/>
            <a:gdLst/>
            <a:ahLst/>
            <a:cxnLst/>
            <a:rect l="l" t="t" r="r" b="b"/>
            <a:pathLst>
              <a:path w="42333" h="2624667">
                <a:moveTo>
                  <a:pt x="42333" y="0"/>
                </a:moveTo>
                <a:lnTo>
                  <a:pt x="42333" y="0"/>
                </a:lnTo>
                <a:lnTo>
                  <a:pt x="42333" y="2624667"/>
                </a:lnTo>
                <a:lnTo>
                  <a:pt x="42333" y="2624667"/>
                </a:lnTo>
                <a:cubicBezTo>
                  <a:pt x="18953" y="2624667"/>
                  <a:pt x="0" y="2605713"/>
                  <a:pt x="0" y="258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03792" y="1619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65484"/>
                </a:moveTo>
                <a:cubicBezTo>
                  <a:pt x="88664" y="65484"/>
                  <a:pt x="83344" y="70805"/>
                  <a:pt x="83344" y="77391"/>
                </a:cubicBezTo>
                <a:cubicBezTo>
                  <a:pt x="83344" y="82339"/>
                  <a:pt x="79363" y="86320"/>
                  <a:pt x="74414" y="86320"/>
                </a:cubicBezTo>
                <a:cubicBezTo>
                  <a:pt x="69466" y="86320"/>
                  <a:pt x="65484" y="82339"/>
                  <a:pt x="65484" y="77391"/>
                </a:cubicBezTo>
                <a:cubicBezTo>
                  <a:pt x="65484" y="60945"/>
                  <a:pt x="78804" y="47625"/>
                  <a:pt x="95250" y="47625"/>
                </a:cubicBezTo>
                <a:cubicBezTo>
                  <a:pt x="111696" y="47625"/>
                  <a:pt x="125016" y="60945"/>
                  <a:pt x="125016" y="77391"/>
                </a:cubicBezTo>
                <a:cubicBezTo>
                  <a:pt x="125016" y="94952"/>
                  <a:pt x="111621" y="102394"/>
                  <a:pt x="104180" y="105110"/>
                </a:cubicBezTo>
                <a:lnTo>
                  <a:pt x="104180" y="106524"/>
                </a:lnTo>
                <a:cubicBezTo>
                  <a:pt x="104180" y="111472"/>
                  <a:pt x="100199" y="115453"/>
                  <a:pt x="95250" y="115453"/>
                </a:cubicBezTo>
                <a:cubicBezTo>
                  <a:pt x="90301" y="115453"/>
                  <a:pt x="86320" y="111472"/>
                  <a:pt x="86320" y="106524"/>
                </a:cubicBezTo>
                <a:lnTo>
                  <a:pt x="86320" y="103510"/>
                </a:lnTo>
                <a:cubicBezTo>
                  <a:pt x="86320" y="95883"/>
                  <a:pt x="91827" y="90413"/>
                  <a:pt x="97520" y="88553"/>
                </a:cubicBezTo>
                <a:cubicBezTo>
                  <a:pt x="99901" y="87771"/>
                  <a:pt x="102431" y="86506"/>
                  <a:pt x="104291" y="84720"/>
                </a:cubicBezTo>
                <a:cubicBezTo>
                  <a:pt x="105891" y="83158"/>
                  <a:pt x="107156" y="81000"/>
                  <a:pt x="107156" y="77428"/>
                </a:cubicBezTo>
                <a:cubicBezTo>
                  <a:pt x="107156" y="70842"/>
                  <a:pt x="101836" y="65522"/>
                  <a:pt x="95250" y="65522"/>
                </a:cubicBezTo>
                <a:close/>
                <a:moveTo>
                  <a:pt x="83344" y="136922"/>
                </a:moveTo>
                <a:cubicBezTo>
                  <a:pt x="83344" y="130351"/>
                  <a:pt x="88679" y="125016"/>
                  <a:pt x="95250" y="125016"/>
                </a:cubicBezTo>
                <a:cubicBezTo>
                  <a:pt x="101821" y="125016"/>
                  <a:pt x="107156" y="130351"/>
                  <a:pt x="107156" y="136922"/>
                </a:cubicBezTo>
                <a:cubicBezTo>
                  <a:pt x="107156" y="143493"/>
                  <a:pt x="101821" y="148828"/>
                  <a:pt x="95250" y="148828"/>
                </a:cubicBezTo>
                <a:cubicBezTo>
                  <a:pt x="88679" y="148828"/>
                  <a:pt x="83344" y="143493"/>
                  <a:pt x="83344" y="136922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20750" y="1566333"/>
            <a:ext cx="95144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为什么需要租约机制？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98500" y="2032000"/>
            <a:ext cx="4751917" cy="804333"/>
          </a:xfrm>
          <a:custGeom>
            <a:avLst/>
            <a:gdLst/>
            <a:ahLst/>
            <a:cxnLst/>
            <a:rect l="l" t="t" r="r" b="b"/>
            <a:pathLst>
              <a:path w="4751917" h="804333">
                <a:moveTo>
                  <a:pt x="42332" y="0"/>
                </a:moveTo>
                <a:lnTo>
                  <a:pt x="4709585" y="0"/>
                </a:lnTo>
                <a:cubicBezTo>
                  <a:pt x="4732964" y="0"/>
                  <a:pt x="4751917" y="18953"/>
                  <a:pt x="4751917" y="42332"/>
                </a:cubicBezTo>
                <a:lnTo>
                  <a:pt x="4751917" y="762001"/>
                </a:lnTo>
                <a:cubicBezTo>
                  <a:pt x="4751917" y="785381"/>
                  <a:pt x="4732964" y="804333"/>
                  <a:pt x="4709585" y="804333"/>
                </a:cubicBezTo>
                <a:lnTo>
                  <a:pt x="42332" y="804333"/>
                </a:lnTo>
                <a:cubicBezTo>
                  <a:pt x="18953" y="804333"/>
                  <a:pt x="0" y="785381"/>
                  <a:pt x="0" y="762001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98500" y="2032000"/>
            <a:ext cx="42333" cy="804333"/>
          </a:xfrm>
          <a:custGeom>
            <a:avLst/>
            <a:gdLst/>
            <a:ahLst/>
            <a:cxnLst/>
            <a:rect l="l" t="t" r="r" b="b"/>
            <a:pathLst>
              <a:path w="42333" h="804333">
                <a:moveTo>
                  <a:pt x="42333" y="0"/>
                </a:moveTo>
                <a:lnTo>
                  <a:pt x="42333" y="0"/>
                </a:lnTo>
                <a:lnTo>
                  <a:pt x="42333" y="804333"/>
                </a:lnTo>
                <a:lnTo>
                  <a:pt x="42333" y="804333"/>
                </a:lnTo>
                <a:cubicBezTo>
                  <a:pt x="18953" y="804333"/>
                  <a:pt x="0" y="785380"/>
                  <a:pt x="0" y="762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46667" y="2159000"/>
            <a:ext cx="4561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确保写入顺序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6667" y="2455333"/>
            <a:ext cx="4561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所有副本按相同顺序应用写入操作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95028" y="2032000"/>
            <a:ext cx="4751917" cy="804333"/>
          </a:xfrm>
          <a:custGeom>
            <a:avLst/>
            <a:gdLst/>
            <a:ahLst/>
            <a:cxnLst/>
            <a:rect l="l" t="t" r="r" b="b"/>
            <a:pathLst>
              <a:path w="4751917" h="804333">
                <a:moveTo>
                  <a:pt x="42332" y="0"/>
                </a:moveTo>
                <a:lnTo>
                  <a:pt x="4709585" y="0"/>
                </a:lnTo>
                <a:cubicBezTo>
                  <a:pt x="4732964" y="0"/>
                  <a:pt x="4751917" y="18953"/>
                  <a:pt x="4751917" y="42332"/>
                </a:cubicBezTo>
                <a:lnTo>
                  <a:pt x="4751917" y="762001"/>
                </a:lnTo>
                <a:cubicBezTo>
                  <a:pt x="4751917" y="785381"/>
                  <a:pt x="4732964" y="804333"/>
                  <a:pt x="4709585" y="804333"/>
                </a:cubicBezTo>
                <a:lnTo>
                  <a:pt x="42332" y="804333"/>
                </a:lnTo>
                <a:cubicBezTo>
                  <a:pt x="18953" y="804333"/>
                  <a:pt x="0" y="785381"/>
                  <a:pt x="0" y="762001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595028" y="2032000"/>
            <a:ext cx="42333" cy="804333"/>
          </a:xfrm>
          <a:custGeom>
            <a:avLst/>
            <a:gdLst/>
            <a:ahLst/>
            <a:cxnLst/>
            <a:rect l="l" t="t" r="r" b="b"/>
            <a:pathLst>
              <a:path w="42333" h="804333">
                <a:moveTo>
                  <a:pt x="42333" y="0"/>
                </a:moveTo>
                <a:lnTo>
                  <a:pt x="42333" y="0"/>
                </a:lnTo>
                <a:lnTo>
                  <a:pt x="42333" y="804333"/>
                </a:lnTo>
                <a:lnTo>
                  <a:pt x="42333" y="804333"/>
                </a:lnTo>
                <a:cubicBezTo>
                  <a:pt x="18953" y="804333"/>
                  <a:pt x="0" y="785380"/>
                  <a:pt x="0" y="762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743195" y="2159000"/>
            <a:ext cx="4561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避免脑裂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43195" y="2455333"/>
            <a:ext cx="4561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防止多个副本同时成为主副本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98500" y="2963333"/>
            <a:ext cx="4751917" cy="804333"/>
          </a:xfrm>
          <a:custGeom>
            <a:avLst/>
            <a:gdLst/>
            <a:ahLst/>
            <a:cxnLst/>
            <a:rect l="l" t="t" r="r" b="b"/>
            <a:pathLst>
              <a:path w="4751917" h="804333">
                <a:moveTo>
                  <a:pt x="42332" y="0"/>
                </a:moveTo>
                <a:lnTo>
                  <a:pt x="4709585" y="0"/>
                </a:lnTo>
                <a:cubicBezTo>
                  <a:pt x="4732964" y="0"/>
                  <a:pt x="4751917" y="18953"/>
                  <a:pt x="4751917" y="42332"/>
                </a:cubicBezTo>
                <a:lnTo>
                  <a:pt x="4751917" y="762001"/>
                </a:lnTo>
                <a:cubicBezTo>
                  <a:pt x="4751917" y="785381"/>
                  <a:pt x="4732964" y="804333"/>
                  <a:pt x="4709585" y="804333"/>
                </a:cubicBezTo>
                <a:lnTo>
                  <a:pt x="42332" y="804333"/>
                </a:lnTo>
                <a:cubicBezTo>
                  <a:pt x="18953" y="804333"/>
                  <a:pt x="0" y="785381"/>
                  <a:pt x="0" y="762001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98500" y="2963333"/>
            <a:ext cx="42333" cy="804333"/>
          </a:xfrm>
          <a:custGeom>
            <a:avLst/>
            <a:gdLst/>
            <a:ahLst/>
            <a:cxnLst/>
            <a:rect l="l" t="t" r="r" b="b"/>
            <a:pathLst>
              <a:path w="42333" h="804333">
                <a:moveTo>
                  <a:pt x="42333" y="0"/>
                </a:moveTo>
                <a:lnTo>
                  <a:pt x="42333" y="0"/>
                </a:lnTo>
                <a:lnTo>
                  <a:pt x="42333" y="804333"/>
                </a:lnTo>
                <a:lnTo>
                  <a:pt x="42333" y="804333"/>
                </a:lnTo>
                <a:cubicBezTo>
                  <a:pt x="18953" y="804333"/>
                  <a:pt x="0" y="785380"/>
                  <a:pt x="0" y="762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46667" y="3090333"/>
            <a:ext cx="4561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简化协调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6667" y="3386667"/>
            <a:ext cx="4561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减少副本间的复杂协调逻辑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95028" y="2963333"/>
            <a:ext cx="4751917" cy="804333"/>
          </a:xfrm>
          <a:custGeom>
            <a:avLst/>
            <a:gdLst/>
            <a:ahLst/>
            <a:cxnLst/>
            <a:rect l="l" t="t" r="r" b="b"/>
            <a:pathLst>
              <a:path w="4751917" h="804333">
                <a:moveTo>
                  <a:pt x="42332" y="0"/>
                </a:moveTo>
                <a:lnTo>
                  <a:pt x="4709585" y="0"/>
                </a:lnTo>
                <a:cubicBezTo>
                  <a:pt x="4732964" y="0"/>
                  <a:pt x="4751917" y="18953"/>
                  <a:pt x="4751917" y="42332"/>
                </a:cubicBezTo>
                <a:lnTo>
                  <a:pt x="4751917" y="762001"/>
                </a:lnTo>
                <a:cubicBezTo>
                  <a:pt x="4751917" y="785381"/>
                  <a:pt x="4732964" y="804333"/>
                  <a:pt x="4709585" y="804333"/>
                </a:cubicBezTo>
                <a:lnTo>
                  <a:pt x="42332" y="804333"/>
                </a:lnTo>
                <a:cubicBezTo>
                  <a:pt x="18953" y="804333"/>
                  <a:pt x="0" y="785381"/>
                  <a:pt x="0" y="762001"/>
                </a:cubicBezTo>
                <a:lnTo>
                  <a:pt x="0" y="42332"/>
                </a:lnTo>
                <a:cubicBezTo>
                  <a:pt x="0" y="18968"/>
                  <a:pt x="18968" y="0"/>
                  <a:pt x="42332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5595028" y="2963333"/>
            <a:ext cx="42333" cy="804333"/>
          </a:xfrm>
          <a:custGeom>
            <a:avLst/>
            <a:gdLst/>
            <a:ahLst/>
            <a:cxnLst/>
            <a:rect l="l" t="t" r="r" b="b"/>
            <a:pathLst>
              <a:path w="42333" h="804333">
                <a:moveTo>
                  <a:pt x="42333" y="0"/>
                </a:moveTo>
                <a:lnTo>
                  <a:pt x="42333" y="0"/>
                </a:lnTo>
                <a:lnTo>
                  <a:pt x="42333" y="804333"/>
                </a:lnTo>
                <a:lnTo>
                  <a:pt x="42333" y="804333"/>
                </a:lnTo>
                <a:cubicBezTo>
                  <a:pt x="18953" y="804333"/>
                  <a:pt x="0" y="785380"/>
                  <a:pt x="0" y="762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743195" y="3090333"/>
            <a:ext cx="4561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提高性能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43195" y="3386667"/>
            <a:ext cx="45614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避免每次写入都需要选举主副本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8625" y="4153958"/>
            <a:ext cx="10117667" cy="1830917"/>
          </a:xfrm>
          <a:custGeom>
            <a:avLst/>
            <a:gdLst/>
            <a:ahLst/>
            <a:cxnLst/>
            <a:rect l="l" t="t" r="r" b="b"/>
            <a:pathLst>
              <a:path w="10117667" h="1830917">
                <a:moveTo>
                  <a:pt x="84662" y="0"/>
                </a:moveTo>
                <a:lnTo>
                  <a:pt x="10033005" y="0"/>
                </a:lnTo>
                <a:cubicBezTo>
                  <a:pt x="10079762" y="0"/>
                  <a:pt x="10117667" y="37904"/>
                  <a:pt x="10117667" y="84662"/>
                </a:cubicBezTo>
                <a:lnTo>
                  <a:pt x="10117667" y="1746255"/>
                </a:lnTo>
                <a:cubicBezTo>
                  <a:pt x="10117667" y="1793012"/>
                  <a:pt x="10079762" y="1830917"/>
                  <a:pt x="10033005" y="1830917"/>
                </a:cubicBezTo>
                <a:lnTo>
                  <a:pt x="84662" y="1830917"/>
                </a:lnTo>
                <a:cubicBezTo>
                  <a:pt x="37904" y="1830917"/>
                  <a:pt x="0" y="1793012"/>
                  <a:pt x="0" y="1746255"/>
                </a:cubicBezTo>
                <a:lnTo>
                  <a:pt x="0" y="84662"/>
                </a:lnTo>
                <a:cubicBezTo>
                  <a:pt x="0" y="37904"/>
                  <a:pt x="37904" y="0"/>
                  <a:pt x="84662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72042" y="442383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89000" y="4370917"/>
            <a:ext cx="9535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租约生命周期管理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66750" y="4794250"/>
            <a:ext cx="3122083" cy="973667"/>
          </a:xfrm>
          <a:custGeom>
            <a:avLst/>
            <a:gdLst/>
            <a:ahLst/>
            <a:cxnLst/>
            <a:rect l="l" t="t" r="r" b="b"/>
            <a:pathLst>
              <a:path w="3122083" h="973667">
                <a:moveTo>
                  <a:pt x="42333" y="0"/>
                </a:moveTo>
                <a:lnTo>
                  <a:pt x="3079748" y="0"/>
                </a:lnTo>
                <a:cubicBezTo>
                  <a:pt x="3103129" y="0"/>
                  <a:pt x="3122083" y="18954"/>
                  <a:pt x="3122083" y="42335"/>
                </a:cubicBezTo>
                <a:lnTo>
                  <a:pt x="3122083" y="931332"/>
                </a:lnTo>
                <a:cubicBezTo>
                  <a:pt x="3122083" y="954713"/>
                  <a:pt x="3103129" y="973667"/>
                  <a:pt x="3079748" y="973667"/>
                </a:cubicBezTo>
                <a:lnTo>
                  <a:pt x="42333" y="973667"/>
                </a:lnTo>
                <a:cubicBezTo>
                  <a:pt x="18953" y="973667"/>
                  <a:pt x="0" y="954713"/>
                  <a:pt x="0" y="931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66750" y="4794250"/>
            <a:ext cx="42333" cy="973667"/>
          </a:xfrm>
          <a:custGeom>
            <a:avLst/>
            <a:gdLst/>
            <a:ahLst/>
            <a:cxnLst/>
            <a:rect l="l" t="t" r="r" b="b"/>
            <a:pathLst>
              <a:path w="42333" h="973667">
                <a:moveTo>
                  <a:pt x="42333" y="0"/>
                </a:moveTo>
                <a:lnTo>
                  <a:pt x="42333" y="0"/>
                </a:lnTo>
                <a:lnTo>
                  <a:pt x="42333" y="973667"/>
                </a:lnTo>
                <a:lnTo>
                  <a:pt x="42333" y="973667"/>
                </a:lnTo>
                <a:cubicBezTo>
                  <a:pt x="18953" y="973667"/>
                  <a:pt x="0" y="954713"/>
                  <a:pt x="0" y="931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14917" y="4921250"/>
            <a:ext cx="29315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初始授予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14917" y="5217583"/>
            <a:ext cx="2921000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Master 选择合适的副本并授予租约（通常 60 秒）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938158" y="4794250"/>
            <a:ext cx="3122083" cy="973667"/>
          </a:xfrm>
          <a:custGeom>
            <a:avLst/>
            <a:gdLst/>
            <a:ahLst/>
            <a:cxnLst/>
            <a:rect l="l" t="t" r="r" b="b"/>
            <a:pathLst>
              <a:path w="3122083" h="973667">
                <a:moveTo>
                  <a:pt x="42333" y="0"/>
                </a:moveTo>
                <a:lnTo>
                  <a:pt x="3079748" y="0"/>
                </a:lnTo>
                <a:cubicBezTo>
                  <a:pt x="3103129" y="0"/>
                  <a:pt x="3122083" y="18954"/>
                  <a:pt x="3122083" y="42335"/>
                </a:cubicBezTo>
                <a:lnTo>
                  <a:pt x="3122083" y="931332"/>
                </a:lnTo>
                <a:cubicBezTo>
                  <a:pt x="3122083" y="954713"/>
                  <a:pt x="3103129" y="973667"/>
                  <a:pt x="3079748" y="973667"/>
                </a:cubicBezTo>
                <a:lnTo>
                  <a:pt x="42333" y="973667"/>
                </a:lnTo>
                <a:cubicBezTo>
                  <a:pt x="18953" y="973667"/>
                  <a:pt x="0" y="954713"/>
                  <a:pt x="0" y="931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3938158" y="4794250"/>
            <a:ext cx="42333" cy="973667"/>
          </a:xfrm>
          <a:custGeom>
            <a:avLst/>
            <a:gdLst/>
            <a:ahLst/>
            <a:cxnLst/>
            <a:rect l="l" t="t" r="r" b="b"/>
            <a:pathLst>
              <a:path w="42333" h="973667">
                <a:moveTo>
                  <a:pt x="42333" y="0"/>
                </a:moveTo>
                <a:lnTo>
                  <a:pt x="42333" y="0"/>
                </a:lnTo>
                <a:lnTo>
                  <a:pt x="42333" y="973667"/>
                </a:lnTo>
                <a:lnTo>
                  <a:pt x="42333" y="973667"/>
                </a:lnTo>
                <a:cubicBezTo>
                  <a:pt x="18953" y="973667"/>
                  <a:pt x="0" y="954713"/>
                  <a:pt x="0" y="931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086324" y="4921250"/>
            <a:ext cx="29315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自动续期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086324" y="5217583"/>
            <a:ext cx="2921000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主副本正常工作时自动续期，保持版本号不变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209565" y="4794250"/>
            <a:ext cx="3122083" cy="973667"/>
          </a:xfrm>
          <a:custGeom>
            <a:avLst/>
            <a:gdLst/>
            <a:ahLst/>
            <a:cxnLst/>
            <a:rect l="l" t="t" r="r" b="b"/>
            <a:pathLst>
              <a:path w="3122083" h="973667">
                <a:moveTo>
                  <a:pt x="42333" y="0"/>
                </a:moveTo>
                <a:lnTo>
                  <a:pt x="3079748" y="0"/>
                </a:lnTo>
                <a:cubicBezTo>
                  <a:pt x="3103129" y="0"/>
                  <a:pt x="3122083" y="18954"/>
                  <a:pt x="3122083" y="42335"/>
                </a:cubicBezTo>
                <a:lnTo>
                  <a:pt x="3122083" y="931332"/>
                </a:lnTo>
                <a:cubicBezTo>
                  <a:pt x="3122083" y="954713"/>
                  <a:pt x="3103129" y="973667"/>
                  <a:pt x="3079748" y="973667"/>
                </a:cubicBezTo>
                <a:lnTo>
                  <a:pt x="42333" y="973667"/>
                </a:lnTo>
                <a:cubicBezTo>
                  <a:pt x="18953" y="973667"/>
                  <a:pt x="0" y="954713"/>
                  <a:pt x="0" y="931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7209565" y="4794250"/>
            <a:ext cx="42333" cy="973667"/>
          </a:xfrm>
          <a:custGeom>
            <a:avLst/>
            <a:gdLst/>
            <a:ahLst/>
            <a:cxnLst/>
            <a:rect l="l" t="t" r="r" b="b"/>
            <a:pathLst>
              <a:path w="42333" h="973667">
                <a:moveTo>
                  <a:pt x="42333" y="0"/>
                </a:moveTo>
                <a:lnTo>
                  <a:pt x="42333" y="0"/>
                </a:lnTo>
                <a:lnTo>
                  <a:pt x="42333" y="973667"/>
                </a:lnTo>
                <a:lnTo>
                  <a:pt x="42333" y="973667"/>
                </a:lnTo>
                <a:cubicBezTo>
                  <a:pt x="18953" y="973667"/>
                  <a:pt x="0" y="954713"/>
                  <a:pt x="0" y="931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7357732" y="4921250"/>
            <a:ext cx="29315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租约撤销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357732" y="5217583"/>
            <a:ext cx="29210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主副本故障或数据不一致时撤销租约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772097" y="702728"/>
            <a:ext cx="5058833" cy="2804583"/>
          </a:xfrm>
          <a:custGeom>
            <a:avLst/>
            <a:gdLst/>
            <a:ahLst/>
            <a:cxnLst/>
            <a:rect l="l" t="t" r="r" b="b"/>
            <a:pathLst>
              <a:path w="5058833" h="2804583">
                <a:moveTo>
                  <a:pt x="84670" y="0"/>
                </a:moveTo>
                <a:lnTo>
                  <a:pt x="4974163" y="0"/>
                </a:lnTo>
                <a:cubicBezTo>
                  <a:pt x="5020925" y="0"/>
                  <a:pt x="5058833" y="37908"/>
                  <a:pt x="5058833" y="84670"/>
                </a:cubicBezTo>
                <a:lnTo>
                  <a:pt x="5058833" y="2719913"/>
                </a:lnTo>
                <a:cubicBezTo>
                  <a:pt x="5058833" y="2766675"/>
                  <a:pt x="5020925" y="2804583"/>
                  <a:pt x="4974163" y="2804583"/>
                </a:cubicBezTo>
                <a:lnTo>
                  <a:pt x="84670" y="2804583"/>
                </a:lnTo>
                <a:cubicBezTo>
                  <a:pt x="37908" y="2804583"/>
                  <a:pt x="0" y="2766675"/>
                  <a:pt x="0" y="2719913"/>
                </a:cubicBezTo>
                <a:lnTo>
                  <a:pt x="0" y="84670"/>
                </a:lnTo>
                <a:cubicBezTo>
                  <a:pt x="0" y="37908"/>
                  <a:pt x="37908" y="0"/>
                  <a:pt x="84670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0991701" y="972603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50602" y="47625"/>
                </a:moveTo>
                <a:cubicBezTo>
                  <a:pt x="50602" y="22983"/>
                  <a:pt x="70608" y="2977"/>
                  <a:pt x="95250" y="2977"/>
                </a:cubicBezTo>
                <a:cubicBezTo>
                  <a:pt x="119892" y="2977"/>
                  <a:pt x="139898" y="22983"/>
                  <a:pt x="139898" y="47625"/>
                </a:cubicBezTo>
                <a:cubicBezTo>
                  <a:pt x="139898" y="72267"/>
                  <a:pt x="119892" y="92273"/>
                  <a:pt x="95250" y="92273"/>
                </a:cubicBezTo>
                <a:cubicBezTo>
                  <a:pt x="70608" y="92273"/>
                  <a:pt x="50602" y="72267"/>
                  <a:pt x="50602" y="47625"/>
                </a:cubicBezTo>
                <a:close/>
                <a:moveTo>
                  <a:pt x="17859" y="179450"/>
                </a:moveTo>
                <a:cubicBezTo>
                  <a:pt x="17859" y="142801"/>
                  <a:pt x="47551" y="113109"/>
                  <a:pt x="84200" y="113109"/>
                </a:cubicBezTo>
                <a:lnTo>
                  <a:pt x="106300" y="113109"/>
                </a:lnTo>
                <a:cubicBezTo>
                  <a:pt x="142949" y="113109"/>
                  <a:pt x="172641" y="142801"/>
                  <a:pt x="172641" y="179450"/>
                </a:cubicBezTo>
                <a:cubicBezTo>
                  <a:pt x="172641" y="185551"/>
                  <a:pt x="167692" y="190500"/>
                  <a:pt x="161590" y="190500"/>
                </a:cubicBezTo>
                <a:lnTo>
                  <a:pt x="28910" y="190500"/>
                </a:lnTo>
                <a:cubicBezTo>
                  <a:pt x="22808" y="190500"/>
                  <a:pt x="17859" y="185551"/>
                  <a:pt x="17859" y="179450"/>
                </a:cubicBezTo>
                <a:close/>
                <a:moveTo>
                  <a:pt x="227856" y="49374"/>
                </a:moveTo>
                <a:lnTo>
                  <a:pt x="198090" y="96999"/>
                </a:lnTo>
                <a:cubicBezTo>
                  <a:pt x="196528" y="99492"/>
                  <a:pt x="193849" y="101054"/>
                  <a:pt x="190909" y="101203"/>
                </a:cubicBezTo>
                <a:cubicBezTo>
                  <a:pt x="187970" y="101352"/>
                  <a:pt x="185142" y="100013"/>
                  <a:pt x="183393" y="97631"/>
                </a:cubicBezTo>
                <a:lnTo>
                  <a:pt x="165534" y="73819"/>
                </a:lnTo>
                <a:cubicBezTo>
                  <a:pt x="162558" y="69875"/>
                  <a:pt x="163376" y="64294"/>
                  <a:pt x="167320" y="61317"/>
                </a:cubicBezTo>
                <a:cubicBezTo>
                  <a:pt x="171264" y="58341"/>
                  <a:pt x="176845" y="59159"/>
                  <a:pt x="179822" y="63103"/>
                </a:cubicBezTo>
                <a:lnTo>
                  <a:pt x="189867" y="76498"/>
                </a:lnTo>
                <a:lnTo>
                  <a:pt x="212713" y="39923"/>
                </a:lnTo>
                <a:cubicBezTo>
                  <a:pt x="215317" y="35756"/>
                  <a:pt x="220824" y="34454"/>
                  <a:pt x="225028" y="37095"/>
                </a:cubicBezTo>
                <a:cubicBezTo>
                  <a:pt x="229233" y="39737"/>
                  <a:pt x="230498" y="45207"/>
                  <a:pt x="227856" y="49411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1232472" y="919687"/>
            <a:ext cx="4476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主副本选择考虑因素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989055" y="1343020"/>
            <a:ext cx="4624917" cy="423333"/>
          </a:xfrm>
          <a:custGeom>
            <a:avLst/>
            <a:gdLst/>
            <a:ahLst/>
            <a:cxnLst/>
            <a:rect l="l" t="t" r="r" b="b"/>
            <a:pathLst>
              <a:path w="4624917" h="423333">
                <a:moveTo>
                  <a:pt x="42333" y="0"/>
                </a:moveTo>
                <a:lnTo>
                  <a:pt x="4582583" y="0"/>
                </a:lnTo>
                <a:cubicBezTo>
                  <a:pt x="4605963" y="0"/>
                  <a:pt x="4624917" y="18953"/>
                  <a:pt x="4624917" y="42333"/>
                </a:cubicBezTo>
                <a:lnTo>
                  <a:pt x="4624917" y="381000"/>
                </a:lnTo>
                <a:cubicBezTo>
                  <a:pt x="4624917" y="404380"/>
                  <a:pt x="4605963" y="423333"/>
                  <a:pt x="4582583" y="423333"/>
                </a:cubicBezTo>
                <a:lnTo>
                  <a:pt x="42333" y="423333"/>
                </a:lnTo>
                <a:cubicBezTo>
                  <a:pt x="18953" y="423333"/>
                  <a:pt x="0" y="404380"/>
                  <a:pt x="0" y="381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1073722" y="1427687"/>
            <a:ext cx="4540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副本健康状态</a:t>
            </a:r>
            <a:r>
              <a:rPr lang="en-US" sz="133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确保主副本稳定可用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989055" y="1851020"/>
            <a:ext cx="4624917" cy="423333"/>
          </a:xfrm>
          <a:custGeom>
            <a:avLst/>
            <a:gdLst/>
            <a:ahLst/>
            <a:cxnLst/>
            <a:rect l="l" t="t" r="r" b="b"/>
            <a:pathLst>
              <a:path w="4624917" h="423333">
                <a:moveTo>
                  <a:pt x="42333" y="0"/>
                </a:moveTo>
                <a:lnTo>
                  <a:pt x="4582583" y="0"/>
                </a:lnTo>
                <a:cubicBezTo>
                  <a:pt x="4605963" y="0"/>
                  <a:pt x="4624917" y="18953"/>
                  <a:pt x="4624917" y="42333"/>
                </a:cubicBezTo>
                <a:lnTo>
                  <a:pt x="4624917" y="381000"/>
                </a:lnTo>
                <a:cubicBezTo>
                  <a:pt x="4624917" y="404380"/>
                  <a:pt x="4605963" y="423333"/>
                  <a:pt x="4582583" y="423333"/>
                </a:cubicBezTo>
                <a:lnTo>
                  <a:pt x="42333" y="423333"/>
                </a:lnTo>
                <a:cubicBezTo>
                  <a:pt x="18953" y="423333"/>
                  <a:pt x="0" y="404380"/>
                  <a:pt x="0" y="381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1073722" y="1935687"/>
            <a:ext cx="4540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数据版本</a:t>
            </a:r>
            <a:r>
              <a:rPr lang="en-US" sz="133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确保选择最新版本的副本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0989055" y="2359020"/>
            <a:ext cx="4624917" cy="423333"/>
          </a:xfrm>
          <a:custGeom>
            <a:avLst/>
            <a:gdLst/>
            <a:ahLst/>
            <a:cxnLst/>
            <a:rect l="l" t="t" r="r" b="b"/>
            <a:pathLst>
              <a:path w="4624917" h="423333">
                <a:moveTo>
                  <a:pt x="42333" y="0"/>
                </a:moveTo>
                <a:lnTo>
                  <a:pt x="4582583" y="0"/>
                </a:lnTo>
                <a:cubicBezTo>
                  <a:pt x="4605963" y="0"/>
                  <a:pt x="4624917" y="18953"/>
                  <a:pt x="4624917" y="42333"/>
                </a:cubicBezTo>
                <a:lnTo>
                  <a:pt x="4624917" y="381000"/>
                </a:lnTo>
                <a:cubicBezTo>
                  <a:pt x="4624917" y="404380"/>
                  <a:pt x="4605963" y="423333"/>
                  <a:pt x="4582583" y="423333"/>
                </a:cubicBezTo>
                <a:lnTo>
                  <a:pt x="42333" y="423333"/>
                </a:lnTo>
                <a:cubicBezTo>
                  <a:pt x="18953" y="423333"/>
                  <a:pt x="0" y="404380"/>
                  <a:pt x="0" y="381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1073722" y="2443687"/>
            <a:ext cx="4540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负载均衡</a:t>
            </a:r>
            <a:r>
              <a:rPr lang="en-US" sz="133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避免热点 ChunkServer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0989055" y="2867020"/>
            <a:ext cx="4624917" cy="423333"/>
          </a:xfrm>
          <a:custGeom>
            <a:avLst/>
            <a:gdLst/>
            <a:ahLst/>
            <a:cxnLst/>
            <a:rect l="l" t="t" r="r" b="b"/>
            <a:pathLst>
              <a:path w="4624917" h="423333">
                <a:moveTo>
                  <a:pt x="42333" y="0"/>
                </a:moveTo>
                <a:lnTo>
                  <a:pt x="4582583" y="0"/>
                </a:lnTo>
                <a:cubicBezTo>
                  <a:pt x="4605963" y="0"/>
                  <a:pt x="4624917" y="18953"/>
                  <a:pt x="4624917" y="42333"/>
                </a:cubicBezTo>
                <a:lnTo>
                  <a:pt x="4624917" y="381000"/>
                </a:lnTo>
                <a:cubicBezTo>
                  <a:pt x="4624917" y="404380"/>
                  <a:pt x="4605963" y="423333"/>
                  <a:pt x="4582583" y="423333"/>
                </a:cubicBezTo>
                <a:lnTo>
                  <a:pt x="42333" y="423333"/>
                </a:lnTo>
                <a:cubicBezTo>
                  <a:pt x="18953" y="423333"/>
                  <a:pt x="0" y="404380"/>
                  <a:pt x="0" y="381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1073722" y="2951687"/>
            <a:ext cx="4540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网络延迟</a:t>
            </a:r>
            <a:r>
              <a:rPr lang="en-US" sz="1333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减少客户端写入延迟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0772097" y="3687228"/>
            <a:ext cx="5058833" cy="2391833"/>
          </a:xfrm>
          <a:custGeom>
            <a:avLst/>
            <a:gdLst/>
            <a:ahLst/>
            <a:cxnLst/>
            <a:rect l="l" t="t" r="r" b="b"/>
            <a:pathLst>
              <a:path w="5058833" h="2391833">
                <a:moveTo>
                  <a:pt x="84671" y="0"/>
                </a:moveTo>
                <a:lnTo>
                  <a:pt x="4974162" y="0"/>
                </a:lnTo>
                <a:cubicBezTo>
                  <a:pt x="5020925" y="0"/>
                  <a:pt x="5058833" y="37908"/>
                  <a:pt x="5058833" y="84671"/>
                </a:cubicBezTo>
                <a:lnTo>
                  <a:pt x="5058833" y="2307162"/>
                </a:lnTo>
                <a:cubicBezTo>
                  <a:pt x="5058833" y="2353925"/>
                  <a:pt x="5020925" y="2391833"/>
                  <a:pt x="4974162" y="2391833"/>
                </a:cubicBezTo>
                <a:lnTo>
                  <a:pt x="84671" y="2391833"/>
                </a:lnTo>
                <a:cubicBezTo>
                  <a:pt x="37908" y="2391833"/>
                  <a:pt x="0" y="2353925"/>
                  <a:pt x="0" y="2307162"/>
                </a:cubicBezTo>
                <a:lnTo>
                  <a:pt x="0" y="84671"/>
                </a:lnTo>
                <a:cubicBezTo>
                  <a:pt x="0" y="37940"/>
                  <a:pt x="37940" y="0"/>
                  <a:pt x="84671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11015514" y="395710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11232472" y="3904187"/>
            <a:ext cx="4476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租约性能分析</a:t>
            </a:r>
            <a:endParaRPr lang="en-US" sz="16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756899"/>
              </p:ext>
            </p:extLst>
          </p:nvPr>
        </p:nvGraphicFramePr>
        <p:xfrm>
          <a:off x="10989055" y="4327520"/>
          <a:ext cx="4624917" cy="1534585"/>
        </p:xfrm>
        <a:graphic>
          <a:graphicData uri="http://schemas.openxmlformats.org/drawingml/2006/table">
            <a:tbl>
              <a:tblPr/>
              <a:tblGrid>
                <a:gridCol w="1132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5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6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917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租约参数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典型值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性能影响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917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租约时长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60 秒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影响故障恢复时间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917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续约频率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 20 秒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影响 Master 负载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917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租约缓存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客户端缓存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提高写入性能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917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故障检测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心跳机制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快速故障切换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5" name="Shape 52"/>
          <p:cNvSpPr/>
          <p:nvPr/>
        </p:nvSpPr>
        <p:spPr>
          <a:xfrm>
            <a:off x="10772097" y="6258978"/>
            <a:ext cx="5058833" cy="2635250"/>
          </a:xfrm>
          <a:custGeom>
            <a:avLst/>
            <a:gdLst/>
            <a:ahLst/>
            <a:cxnLst/>
            <a:rect l="l" t="t" r="r" b="b"/>
            <a:pathLst>
              <a:path w="5058833" h="2635250">
                <a:moveTo>
                  <a:pt x="84671" y="0"/>
                </a:moveTo>
                <a:lnTo>
                  <a:pt x="4974163" y="0"/>
                </a:lnTo>
                <a:cubicBezTo>
                  <a:pt x="5020925" y="0"/>
                  <a:pt x="5058833" y="37908"/>
                  <a:pt x="5058833" y="84671"/>
                </a:cubicBezTo>
                <a:lnTo>
                  <a:pt x="5058833" y="2550579"/>
                </a:lnTo>
                <a:cubicBezTo>
                  <a:pt x="5058833" y="2597342"/>
                  <a:pt x="5020925" y="2635250"/>
                  <a:pt x="4974163" y="2635250"/>
                </a:cubicBezTo>
                <a:lnTo>
                  <a:pt x="84671" y="2635250"/>
                </a:lnTo>
                <a:cubicBezTo>
                  <a:pt x="37908" y="2635250"/>
                  <a:pt x="0" y="2597342"/>
                  <a:pt x="0" y="2550579"/>
                </a:cubicBezTo>
                <a:lnTo>
                  <a:pt x="0" y="84671"/>
                </a:lnTo>
                <a:cubicBezTo>
                  <a:pt x="0" y="37908"/>
                  <a:pt x="37908" y="0"/>
                  <a:pt x="84671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3"/>
          <p:cNvSpPr/>
          <p:nvPr/>
        </p:nvSpPr>
        <p:spPr>
          <a:xfrm>
            <a:off x="11015514" y="652885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6034" y="15404"/>
                </a:moveTo>
                <a:cubicBezTo>
                  <a:pt x="51383" y="10753"/>
                  <a:pt x="43830" y="10753"/>
                  <a:pt x="39179" y="15404"/>
                </a:cubicBezTo>
                <a:lnTo>
                  <a:pt x="3460" y="51122"/>
                </a:lnTo>
                <a:cubicBezTo>
                  <a:pt x="-1191" y="55773"/>
                  <a:pt x="-1191" y="63326"/>
                  <a:pt x="3460" y="67977"/>
                </a:cubicBezTo>
                <a:cubicBezTo>
                  <a:pt x="8111" y="72628"/>
                  <a:pt x="15664" y="72628"/>
                  <a:pt x="20315" y="67977"/>
                </a:cubicBezTo>
                <a:lnTo>
                  <a:pt x="35719" y="52574"/>
                </a:lnTo>
                <a:lnTo>
                  <a:pt x="35719" y="166688"/>
                </a:lnTo>
                <a:cubicBezTo>
                  <a:pt x="35719" y="173273"/>
                  <a:pt x="41039" y="178594"/>
                  <a:pt x="47625" y="178594"/>
                </a:cubicBezTo>
                <a:cubicBezTo>
                  <a:pt x="54211" y="178594"/>
                  <a:pt x="59531" y="173273"/>
                  <a:pt x="59531" y="166688"/>
                </a:cubicBezTo>
                <a:lnTo>
                  <a:pt x="59531" y="52574"/>
                </a:lnTo>
                <a:lnTo>
                  <a:pt x="74935" y="67977"/>
                </a:lnTo>
                <a:cubicBezTo>
                  <a:pt x="79586" y="72628"/>
                  <a:pt x="87139" y="72628"/>
                  <a:pt x="91790" y="67977"/>
                </a:cubicBezTo>
                <a:cubicBezTo>
                  <a:pt x="96441" y="63326"/>
                  <a:pt x="96441" y="55773"/>
                  <a:pt x="91790" y="51122"/>
                </a:cubicBezTo>
                <a:lnTo>
                  <a:pt x="56071" y="15404"/>
                </a:lnTo>
                <a:close/>
                <a:moveTo>
                  <a:pt x="155786" y="14139"/>
                </a:moveTo>
                <a:cubicBezTo>
                  <a:pt x="152698" y="11906"/>
                  <a:pt x="148679" y="11274"/>
                  <a:pt x="145070" y="12502"/>
                </a:cubicBezTo>
                <a:lnTo>
                  <a:pt x="127211" y="18455"/>
                </a:lnTo>
                <a:cubicBezTo>
                  <a:pt x="120960" y="20538"/>
                  <a:pt x="117611" y="27273"/>
                  <a:pt x="119695" y="33524"/>
                </a:cubicBezTo>
                <a:cubicBezTo>
                  <a:pt x="121779" y="39774"/>
                  <a:pt x="128513" y="43123"/>
                  <a:pt x="134764" y="41039"/>
                </a:cubicBezTo>
                <a:lnTo>
                  <a:pt x="136959" y="40295"/>
                </a:lnTo>
                <a:lnTo>
                  <a:pt x="136959" y="59494"/>
                </a:lnTo>
                <a:lnTo>
                  <a:pt x="131006" y="59494"/>
                </a:lnTo>
                <a:cubicBezTo>
                  <a:pt x="124420" y="59494"/>
                  <a:pt x="119100" y="64815"/>
                  <a:pt x="119100" y="71400"/>
                </a:cubicBezTo>
                <a:cubicBezTo>
                  <a:pt x="119100" y="77986"/>
                  <a:pt x="124420" y="83307"/>
                  <a:pt x="131006" y="83307"/>
                </a:cubicBezTo>
                <a:lnTo>
                  <a:pt x="166725" y="83307"/>
                </a:lnTo>
                <a:cubicBezTo>
                  <a:pt x="173310" y="83307"/>
                  <a:pt x="178631" y="77986"/>
                  <a:pt x="178631" y="71400"/>
                </a:cubicBezTo>
                <a:cubicBezTo>
                  <a:pt x="178631" y="64815"/>
                  <a:pt x="173310" y="59494"/>
                  <a:pt x="166725" y="59494"/>
                </a:cubicBezTo>
                <a:lnTo>
                  <a:pt x="160772" y="59494"/>
                </a:lnTo>
                <a:lnTo>
                  <a:pt x="160772" y="23775"/>
                </a:lnTo>
                <a:cubicBezTo>
                  <a:pt x="160772" y="19943"/>
                  <a:pt x="158948" y="16371"/>
                  <a:pt x="155823" y="14101"/>
                </a:cubicBezTo>
                <a:close/>
                <a:moveTo>
                  <a:pt x="135843" y="160213"/>
                </a:moveTo>
                <a:cubicBezTo>
                  <a:pt x="132271" y="165720"/>
                  <a:pt x="133834" y="173087"/>
                  <a:pt x="139340" y="176696"/>
                </a:cubicBezTo>
                <a:cubicBezTo>
                  <a:pt x="144847" y="180305"/>
                  <a:pt x="152214" y="178705"/>
                  <a:pt x="155823" y="173199"/>
                </a:cubicBezTo>
                <a:lnTo>
                  <a:pt x="171487" y="149051"/>
                </a:lnTo>
                <a:cubicBezTo>
                  <a:pt x="176101" y="141908"/>
                  <a:pt x="178594" y="133573"/>
                  <a:pt x="178594" y="125053"/>
                </a:cubicBezTo>
                <a:cubicBezTo>
                  <a:pt x="178594" y="108607"/>
                  <a:pt x="165274" y="95287"/>
                  <a:pt x="148828" y="95287"/>
                </a:cubicBezTo>
                <a:cubicBezTo>
                  <a:pt x="132383" y="95287"/>
                  <a:pt x="119063" y="108607"/>
                  <a:pt x="119063" y="125053"/>
                </a:cubicBezTo>
                <a:cubicBezTo>
                  <a:pt x="119063" y="138485"/>
                  <a:pt x="127955" y="149870"/>
                  <a:pt x="140196" y="153553"/>
                </a:cubicBezTo>
                <a:lnTo>
                  <a:pt x="135843" y="160251"/>
                </a:lnTo>
                <a:close/>
                <a:moveTo>
                  <a:pt x="139898" y="125016"/>
                </a:moveTo>
                <a:cubicBezTo>
                  <a:pt x="139898" y="120087"/>
                  <a:pt x="143900" y="116086"/>
                  <a:pt x="148828" y="116086"/>
                </a:cubicBezTo>
                <a:cubicBezTo>
                  <a:pt x="153757" y="116086"/>
                  <a:pt x="157758" y="120087"/>
                  <a:pt x="157758" y="125016"/>
                </a:cubicBezTo>
                <a:cubicBezTo>
                  <a:pt x="157758" y="129944"/>
                  <a:pt x="153757" y="133945"/>
                  <a:pt x="148828" y="133945"/>
                </a:cubicBezTo>
                <a:cubicBezTo>
                  <a:pt x="143900" y="133945"/>
                  <a:pt x="139898" y="129944"/>
                  <a:pt x="139898" y="125016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4"/>
          <p:cNvSpPr/>
          <p:nvPr/>
        </p:nvSpPr>
        <p:spPr>
          <a:xfrm>
            <a:off x="11232472" y="6475937"/>
            <a:ext cx="4476750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写入顺序保证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10989055" y="6899270"/>
            <a:ext cx="4624917" cy="381000"/>
          </a:xfrm>
          <a:custGeom>
            <a:avLst/>
            <a:gdLst/>
            <a:ahLst/>
            <a:cxnLst/>
            <a:rect l="l" t="t" r="r" b="b"/>
            <a:pathLst>
              <a:path w="4624917" h="381000">
                <a:moveTo>
                  <a:pt x="42333" y="0"/>
                </a:moveTo>
                <a:lnTo>
                  <a:pt x="4582584" y="0"/>
                </a:lnTo>
                <a:cubicBezTo>
                  <a:pt x="4605964" y="0"/>
                  <a:pt x="4624917" y="18953"/>
                  <a:pt x="4624917" y="42333"/>
                </a:cubicBezTo>
                <a:lnTo>
                  <a:pt x="4624917" y="338667"/>
                </a:lnTo>
                <a:cubicBezTo>
                  <a:pt x="4624917" y="362047"/>
                  <a:pt x="4605964" y="381000"/>
                  <a:pt x="4582584" y="381000"/>
                </a:cubicBezTo>
                <a:lnTo>
                  <a:pt x="42333" y="381000"/>
                </a:lnTo>
                <a:cubicBezTo>
                  <a:pt x="18953" y="381000"/>
                  <a:pt x="0" y="362047"/>
                  <a:pt x="0" y="338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6"/>
          <p:cNvSpPr/>
          <p:nvPr/>
        </p:nvSpPr>
        <p:spPr>
          <a:xfrm>
            <a:off x="11073722" y="6983937"/>
            <a:ext cx="4529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</a:t>
            </a: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客户端将数据推送到所有副本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10989055" y="7364937"/>
            <a:ext cx="4624917" cy="381000"/>
          </a:xfrm>
          <a:custGeom>
            <a:avLst/>
            <a:gdLst/>
            <a:ahLst/>
            <a:cxnLst/>
            <a:rect l="l" t="t" r="r" b="b"/>
            <a:pathLst>
              <a:path w="4624917" h="381000">
                <a:moveTo>
                  <a:pt x="42333" y="0"/>
                </a:moveTo>
                <a:lnTo>
                  <a:pt x="4582584" y="0"/>
                </a:lnTo>
                <a:cubicBezTo>
                  <a:pt x="4605964" y="0"/>
                  <a:pt x="4624917" y="18953"/>
                  <a:pt x="4624917" y="42333"/>
                </a:cubicBezTo>
                <a:lnTo>
                  <a:pt x="4624917" y="338667"/>
                </a:lnTo>
                <a:cubicBezTo>
                  <a:pt x="4624917" y="362047"/>
                  <a:pt x="4605964" y="381000"/>
                  <a:pt x="4582584" y="381000"/>
                </a:cubicBezTo>
                <a:lnTo>
                  <a:pt x="42333" y="381000"/>
                </a:lnTo>
                <a:cubicBezTo>
                  <a:pt x="18953" y="381000"/>
                  <a:pt x="0" y="362047"/>
                  <a:pt x="0" y="338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8"/>
          <p:cNvSpPr/>
          <p:nvPr/>
        </p:nvSpPr>
        <p:spPr>
          <a:xfrm>
            <a:off x="11073722" y="7449603"/>
            <a:ext cx="4529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</a:t>
            </a: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客户端向主副本发送写入请求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10989055" y="7830603"/>
            <a:ext cx="4624917" cy="381000"/>
          </a:xfrm>
          <a:custGeom>
            <a:avLst/>
            <a:gdLst/>
            <a:ahLst/>
            <a:cxnLst/>
            <a:rect l="l" t="t" r="r" b="b"/>
            <a:pathLst>
              <a:path w="4624917" h="381000">
                <a:moveTo>
                  <a:pt x="42333" y="0"/>
                </a:moveTo>
                <a:lnTo>
                  <a:pt x="4582584" y="0"/>
                </a:lnTo>
                <a:cubicBezTo>
                  <a:pt x="4605964" y="0"/>
                  <a:pt x="4624917" y="18953"/>
                  <a:pt x="4624917" y="42333"/>
                </a:cubicBezTo>
                <a:lnTo>
                  <a:pt x="4624917" y="338667"/>
                </a:lnTo>
                <a:cubicBezTo>
                  <a:pt x="4624917" y="362047"/>
                  <a:pt x="4605964" y="381000"/>
                  <a:pt x="4582584" y="381000"/>
                </a:cubicBezTo>
                <a:lnTo>
                  <a:pt x="42333" y="381000"/>
                </a:lnTo>
                <a:cubicBezTo>
                  <a:pt x="18953" y="381000"/>
                  <a:pt x="0" y="362047"/>
                  <a:pt x="0" y="338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0"/>
          <p:cNvSpPr/>
          <p:nvPr/>
        </p:nvSpPr>
        <p:spPr>
          <a:xfrm>
            <a:off x="11073722" y="7915270"/>
            <a:ext cx="4529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</a:t>
            </a: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主副本分配序列号并按顺序执行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10989055" y="8296270"/>
            <a:ext cx="4624917" cy="381000"/>
          </a:xfrm>
          <a:custGeom>
            <a:avLst/>
            <a:gdLst/>
            <a:ahLst/>
            <a:cxnLst/>
            <a:rect l="l" t="t" r="r" b="b"/>
            <a:pathLst>
              <a:path w="4624917" h="381000">
                <a:moveTo>
                  <a:pt x="42333" y="0"/>
                </a:moveTo>
                <a:lnTo>
                  <a:pt x="4582584" y="0"/>
                </a:lnTo>
                <a:cubicBezTo>
                  <a:pt x="4605964" y="0"/>
                  <a:pt x="4624917" y="18953"/>
                  <a:pt x="4624917" y="42333"/>
                </a:cubicBezTo>
                <a:lnTo>
                  <a:pt x="4624917" y="338667"/>
                </a:lnTo>
                <a:cubicBezTo>
                  <a:pt x="4624917" y="362047"/>
                  <a:pt x="4605964" y="381000"/>
                  <a:pt x="4582584" y="381000"/>
                </a:cubicBezTo>
                <a:lnTo>
                  <a:pt x="42333" y="381000"/>
                </a:lnTo>
                <a:cubicBezTo>
                  <a:pt x="18953" y="381000"/>
                  <a:pt x="0" y="362047"/>
                  <a:pt x="0" y="338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2"/>
          <p:cNvSpPr/>
          <p:nvPr/>
        </p:nvSpPr>
        <p:spPr>
          <a:xfrm>
            <a:off x="11073722" y="8380937"/>
            <a:ext cx="4529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</a:t>
            </a:r>
            <a:r>
              <a:rPr lang="en-US" sz="116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主副本通知从副本按相同顺序执行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9534" y="574417"/>
            <a:ext cx="459534" cy="45953"/>
          </a:xfrm>
          <a:custGeom>
            <a:avLst/>
            <a:gdLst/>
            <a:ahLst/>
            <a:cxnLst/>
            <a:rect l="l" t="t" r="r" b="b"/>
            <a:pathLst>
              <a:path w="459534" h="45953">
                <a:moveTo>
                  <a:pt x="0" y="0"/>
                </a:moveTo>
                <a:lnTo>
                  <a:pt x="459534" y="0"/>
                </a:lnTo>
                <a:lnTo>
                  <a:pt x="459534" y="45953"/>
                </a:lnTo>
                <a:lnTo>
                  <a:pt x="0" y="45953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56927" y="459534"/>
            <a:ext cx="2010459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b="1" kern="0" spc="72" dirty="0">
                <a:solidFill>
                  <a:srgbClr val="D4A2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APPEND OPERATION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9534" y="827160"/>
            <a:ext cx="15543723" cy="459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57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原子追加操作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82510" y="1470507"/>
            <a:ext cx="10052297" cy="2849108"/>
          </a:xfrm>
          <a:custGeom>
            <a:avLst/>
            <a:gdLst/>
            <a:ahLst/>
            <a:cxnLst/>
            <a:rect l="l" t="t" r="r" b="b"/>
            <a:pathLst>
              <a:path w="10052297" h="2849108">
                <a:moveTo>
                  <a:pt x="45953" y="0"/>
                </a:moveTo>
                <a:lnTo>
                  <a:pt x="9960385" y="0"/>
                </a:lnTo>
                <a:cubicBezTo>
                  <a:pt x="10011146" y="0"/>
                  <a:pt x="10052297" y="41151"/>
                  <a:pt x="10052297" y="91912"/>
                </a:cubicBezTo>
                <a:lnTo>
                  <a:pt x="10052297" y="2757196"/>
                </a:lnTo>
                <a:cubicBezTo>
                  <a:pt x="10052297" y="2807958"/>
                  <a:pt x="10011146" y="2849108"/>
                  <a:pt x="9960385" y="2849108"/>
                </a:cubicBezTo>
                <a:lnTo>
                  <a:pt x="45953" y="2849108"/>
                </a:lnTo>
                <a:cubicBezTo>
                  <a:pt x="20574" y="2849108"/>
                  <a:pt x="0" y="2828534"/>
                  <a:pt x="0" y="2803155"/>
                </a:cubicBezTo>
                <a:lnTo>
                  <a:pt x="0" y="45953"/>
                </a:lnTo>
                <a:cubicBezTo>
                  <a:pt x="0" y="20574"/>
                  <a:pt x="20574" y="0"/>
                  <a:pt x="45953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82510" y="1470507"/>
            <a:ext cx="45953" cy="2849108"/>
          </a:xfrm>
          <a:custGeom>
            <a:avLst/>
            <a:gdLst/>
            <a:ahLst/>
            <a:cxnLst/>
            <a:rect l="l" t="t" r="r" b="b"/>
            <a:pathLst>
              <a:path w="45953" h="2849108">
                <a:moveTo>
                  <a:pt x="45953" y="0"/>
                </a:moveTo>
                <a:lnTo>
                  <a:pt x="45953" y="0"/>
                </a:lnTo>
                <a:lnTo>
                  <a:pt x="45953" y="2849108"/>
                </a:lnTo>
                <a:lnTo>
                  <a:pt x="45953" y="2849108"/>
                </a:lnTo>
                <a:cubicBezTo>
                  <a:pt x="20574" y="2849108"/>
                  <a:pt x="0" y="2828534"/>
                  <a:pt x="0" y="2803155"/>
                </a:cubicBezTo>
                <a:lnTo>
                  <a:pt x="0" y="45953"/>
                </a:lnTo>
                <a:cubicBezTo>
                  <a:pt x="0" y="20574"/>
                  <a:pt x="20574" y="0"/>
                  <a:pt x="4595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63975" y="1757716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103395" y="206790"/>
                </a:moveTo>
                <a:cubicBezTo>
                  <a:pt x="160460" y="206790"/>
                  <a:pt x="206790" y="160460"/>
                  <a:pt x="206790" y="103395"/>
                </a:cubicBezTo>
                <a:cubicBezTo>
                  <a:pt x="206790" y="46330"/>
                  <a:pt x="160460" y="0"/>
                  <a:pt x="103395" y="0"/>
                </a:cubicBezTo>
                <a:cubicBezTo>
                  <a:pt x="46330" y="0"/>
                  <a:pt x="0" y="46330"/>
                  <a:pt x="0" y="103395"/>
                </a:cubicBezTo>
                <a:cubicBezTo>
                  <a:pt x="0" y="160460"/>
                  <a:pt x="46330" y="206790"/>
                  <a:pt x="103395" y="206790"/>
                </a:cubicBezTo>
                <a:close/>
                <a:moveTo>
                  <a:pt x="103395" y="71084"/>
                </a:moveTo>
                <a:cubicBezTo>
                  <a:pt x="96246" y="71084"/>
                  <a:pt x="90471" y="76860"/>
                  <a:pt x="90471" y="84008"/>
                </a:cubicBezTo>
                <a:cubicBezTo>
                  <a:pt x="90471" y="89380"/>
                  <a:pt x="86149" y="93702"/>
                  <a:pt x="80777" y="93702"/>
                </a:cubicBezTo>
                <a:cubicBezTo>
                  <a:pt x="75406" y="93702"/>
                  <a:pt x="71084" y="89380"/>
                  <a:pt x="71084" y="84008"/>
                </a:cubicBezTo>
                <a:cubicBezTo>
                  <a:pt x="71084" y="66157"/>
                  <a:pt x="85543" y="51698"/>
                  <a:pt x="103395" y="51698"/>
                </a:cubicBezTo>
                <a:cubicBezTo>
                  <a:pt x="121247" y="51698"/>
                  <a:pt x="135706" y="66157"/>
                  <a:pt x="135706" y="84008"/>
                </a:cubicBezTo>
                <a:cubicBezTo>
                  <a:pt x="135706" y="103072"/>
                  <a:pt x="121166" y="111150"/>
                  <a:pt x="113088" y="114098"/>
                </a:cubicBezTo>
                <a:lnTo>
                  <a:pt x="113088" y="115633"/>
                </a:lnTo>
                <a:cubicBezTo>
                  <a:pt x="113088" y="121005"/>
                  <a:pt x="108767" y="125326"/>
                  <a:pt x="103395" y="125326"/>
                </a:cubicBezTo>
                <a:cubicBezTo>
                  <a:pt x="98023" y="125326"/>
                  <a:pt x="93702" y="121005"/>
                  <a:pt x="93702" y="115633"/>
                </a:cubicBezTo>
                <a:lnTo>
                  <a:pt x="93702" y="112361"/>
                </a:lnTo>
                <a:cubicBezTo>
                  <a:pt x="93702" y="104082"/>
                  <a:pt x="99679" y="98145"/>
                  <a:pt x="105859" y="96125"/>
                </a:cubicBezTo>
                <a:cubicBezTo>
                  <a:pt x="108444" y="95277"/>
                  <a:pt x="111190" y="93904"/>
                  <a:pt x="113210" y="91965"/>
                </a:cubicBezTo>
                <a:cubicBezTo>
                  <a:pt x="114946" y="90269"/>
                  <a:pt x="116319" y="87926"/>
                  <a:pt x="116319" y="84049"/>
                </a:cubicBezTo>
                <a:cubicBezTo>
                  <a:pt x="116319" y="76900"/>
                  <a:pt x="110544" y="71124"/>
                  <a:pt x="103395" y="71124"/>
                </a:cubicBezTo>
                <a:close/>
                <a:moveTo>
                  <a:pt x="90471" y="148630"/>
                </a:moveTo>
                <a:cubicBezTo>
                  <a:pt x="90471" y="141497"/>
                  <a:pt x="96262" y="135706"/>
                  <a:pt x="103395" y="135706"/>
                </a:cubicBezTo>
                <a:cubicBezTo>
                  <a:pt x="110528" y="135706"/>
                  <a:pt x="116319" y="141497"/>
                  <a:pt x="116319" y="148630"/>
                </a:cubicBezTo>
                <a:cubicBezTo>
                  <a:pt x="116319" y="155764"/>
                  <a:pt x="110528" y="161555"/>
                  <a:pt x="103395" y="161555"/>
                </a:cubicBezTo>
                <a:cubicBezTo>
                  <a:pt x="96262" y="161555"/>
                  <a:pt x="90471" y="155764"/>
                  <a:pt x="90471" y="14863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99486" y="1700274"/>
            <a:ext cx="9408950" cy="32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2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为什么追加操作如此重要？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230" y="2205761"/>
            <a:ext cx="4687242" cy="873114"/>
          </a:xfrm>
          <a:custGeom>
            <a:avLst/>
            <a:gdLst/>
            <a:ahLst/>
            <a:cxnLst/>
            <a:rect l="l" t="t" r="r" b="b"/>
            <a:pathLst>
              <a:path w="4687242" h="873114">
                <a:moveTo>
                  <a:pt x="45952" y="0"/>
                </a:moveTo>
                <a:lnTo>
                  <a:pt x="4641290" y="0"/>
                </a:lnTo>
                <a:cubicBezTo>
                  <a:pt x="4666669" y="0"/>
                  <a:pt x="4687242" y="20573"/>
                  <a:pt x="4687242" y="45952"/>
                </a:cubicBezTo>
                <a:lnTo>
                  <a:pt x="4687242" y="827162"/>
                </a:lnTo>
                <a:cubicBezTo>
                  <a:pt x="4687242" y="852540"/>
                  <a:pt x="4666669" y="873114"/>
                  <a:pt x="4641290" y="873114"/>
                </a:cubicBezTo>
                <a:lnTo>
                  <a:pt x="45952" y="873114"/>
                </a:lnTo>
                <a:cubicBezTo>
                  <a:pt x="20573" y="873114"/>
                  <a:pt x="0" y="852540"/>
                  <a:pt x="0" y="827162"/>
                </a:cubicBezTo>
                <a:lnTo>
                  <a:pt x="0" y="45952"/>
                </a:lnTo>
                <a:cubicBezTo>
                  <a:pt x="0" y="20590"/>
                  <a:pt x="20590" y="0"/>
                  <a:pt x="45952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758230" y="2205761"/>
            <a:ext cx="45953" cy="873114"/>
          </a:xfrm>
          <a:custGeom>
            <a:avLst/>
            <a:gdLst/>
            <a:ahLst/>
            <a:cxnLst/>
            <a:rect l="l" t="t" r="r" b="b"/>
            <a:pathLst>
              <a:path w="45953" h="873114">
                <a:moveTo>
                  <a:pt x="45953" y="0"/>
                </a:moveTo>
                <a:lnTo>
                  <a:pt x="45953" y="0"/>
                </a:lnTo>
                <a:lnTo>
                  <a:pt x="45953" y="873114"/>
                </a:lnTo>
                <a:lnTo>
                  <a:pt x="45953" y="873114"/>
                </a:lnTo>
                <a:cubicBezTo>
                  <a:pt x="20574" y="873114"/>
                  <a:pt x="0" y="852540"/>
                  <a:pt x="0" y="827160"/>
                </a:cubicBezTo>
                <a:lnTo>
                  <a:pt x="0" y="45953"/>
                </a:lnTo>
                <a:cubicBezTo>
                  <a:pt x="0" y="20574"/>
                  <a:pt x="20574" y="0"/>
                  <a:pt x="4595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19067" y="2343621"/>
            <a:ext cx="4480452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日志文件写入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9067" y="2665295"/>
            <a:ext cx="4480452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Web 服务器日志、应用程序日志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10528" y="2205761"/>
            <a:ext cx="4687242" cy="873114"/>
          </a:xfrm>
          <a:custGeom>
            <a:avLst/>
            <a:gdLst/>
            <a:ahLst/>
            <a:cxnLst/>
            <a:rect l="l" t="t" r="r" b="b"/>
            <a:pathLst>
              <a:path w="4687242" h="873114">
                <a:moveTo>
                  <a:pt x="45952" y="0"/>
                </a:moveTo>
                <a:lnTo>
                  <a:pt x="4641290" y="0"/>
                </a:lnTo>
                <a:cubicBezTo>
                  <a:pt x="4666669" y="0"/>
                  <a:pt x="4687242" y="20573"/>
                  <a:pt x="4687242" y="45952"/>
                </a:cubicBezTo>
                <a:lnTo>
                  <a:pt x="4687242" y="827162"/>
                </a:lnTo>
                <a:cubicBezTo>
                  <a:pt x="4687242" y="852540"/>
                  <a:pt x="4666669" y="873114"/>
                  <a:pt x="4641290" y="873114"/>
                </a:cubicBezTo>
                <a:lnTo>
                  <a:pt x="45952" y="873114"/>
                </a:lnTo>
                <a:cubicBezTo>
                  <a:pt x="20573" y="873114"/>
                  <a:pt x="0" y="852540"/>
                  <a:pt x="0" y="827162"/>
                </a:cubicBezTo>
                <a:lnTo>
                  <a:pt x="0" y="45952"/>
                </a:lnTo>
                <a:cubicBezTo>
                  <a:pt x="0" y="20590"/>
                  <a:pt x="20590" y="0"/>
                  <a:pt x="45952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610528" y="2205761"/>
            <a:ext cx="45953" cy="873114"/>
          </a:xfrm>
          <a:custGeom>
            <a:avLst/>
            <a:gdLst/>
            <a:ahLst/>
            <a:cxnLst/>
            <a:rect l="l" t="t" r="r" b="b"/>
            <a:pathLst>
              <a:path w="45953" h="873114">
                <a:moveTo>
                  <a:pt x="45953" y="0"/>
                </a:moveTo>
                <a:lnTo>
                  <a:pt x="45953" y="0"/>
                </a:lnTo>
                <a:lnTo>
                  <a:pt x="45953" y="873114"/>
                </a:lnTo>
                <a:lnTo>
                  <a:pt x="45953" y="873114"/>
                </a:lnTo>
                <a:cubicBezTo>
                  <a:pt x="20574" y="873114"/>
                  <a:pt x="0" y="852540"/>
                  <a:pt x="0" y="827160"/>
                </a:cubicBezTo>
                <a:lnTo>
                  <a:pt x="0" y="45953"/>
                </a:lnTo>
                <a:cubicBezTo>
                  <a:pt x="0" y="20574"/>
                  <a:pt x="20574" y="0"/>
                  <a:pt x="45953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771365" y="2343621"/>
            <a:ext cx="4480452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数据采集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71365" y="2665295"/>
            <a:ext cx="4480452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传感器数据、用户行为数据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58230" y="3216735"/>
            <a:ext cx="4687242" cy="873114"/>
          </a:xfrm>
          <a:custGeom>
            <a:avLst/>
            <a:gdLst/>
            <a:ahLst/>
            <a:cxnLst/>
            <a:rect l="l" t="t" r="r" b="b"/>
            <a:pathLst>
              <a:path w="4687242" h="873114">
                <a:moveTo>
                  <a:pt x="45952" y="0"/>
                </a:moveTo>
                <a:lnTo>
                  <a:pt x="4641290" y="0"/>
                </a:lnTo>
                <a:cubicBezTo>
                  <a:pt x="4666669" y="0"/>
                  <a:pt x="4687242" y="20573"/>
                  <a:pt x="4687242" y="45952"/>
                </a:cubicBezTo>
                <a:lnTo>
                  <a:pt x="4687242" y="827162"/>
                </a:lnTo>
                <a:cubicBezTo>
                  <a:pt x="4687242" y="852540"/>
                  <a:pt x="4666669" y="873114"/>
                  <a:pt x="4641290" y="873114"/>
                </a:cubicBezTo>
                <a:lnTo>
                  <a:pt x="45952" y="873114"/>
                </a:lnTo>
                <a:cubicBezTo>
                  <a:pt x="20573" y="873114"/>
                  <a:pt x="0" y="852540"/>
                  <a:pt x="0" y="827162"/>
                </a:cubicBezTo>
                <a:lnTo>
                  <a:pt x="0" y="45952"/>
                </a:lnTo>
                <a:cubicBezTo>
                  <a:pt x="0" y="20590"/>
                  <a:pt x="20590" y="0"/>
                  <a:pt x="45952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758230" y="3216735"/>
            <a:ext cx="45953" cy="873114"/>
          </a:xfrm>
          <a:custGeom>
            <a:avLst/>
            <a:gdLst/>
            <a:ahLst/>
            <a:cxnLst/>
            <a:rect l="l" t="t" r="r" b="b"/>
            <a:pathLst>
              <a:path w="45953" h="873114">
                <a:moveTo>
                  <a:pt x="45953" y="0"/>
                </a:moveTo>
                <a:lnTo>
                  <a:pt x="45953" y="0"/>
                </a:lnTo>
                <a:lnTo>
                  <a:pt x="45953" y="873114"/>
                </a:lnTo>
                <a:lnTo>
                  <a:pt x="45953" y="873114"/>
                </a:lnTo>
                <a:cubicBezTo>
                  <a:pt x="20574" y="873114"/>
                  <a:pt x="0" y="852540"/>
                  <a:pt x="0" y="827160"/>
                </a:cubicBezTo>
                <a:lnTo>
                  <a:pt x="0" y="45953"/>
                </a:lnTo>
                <a:cubicBezTo>
                  <a:pt x="0" y="20574"/>
                  <a:pt x="20574" y="0"/>
                  <a:pt x="45953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19067" y="3354595"/>
            <a:ext cx="4480452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批处理输出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9067" y="3676269"/>
            <a:ext cx="4480452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 作业的输出文件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10528" y="3216735"/>
            <a:ext cx="4687242" cy="873114"/>
          </a:xfrm>
          <a:custGeom>
            <a:avLst/>
            <a:gdLst/>
            <a:ahLst/>
            <a:cxnLst/>
            <a:rect l="l" t="t" r="r" b="b"/>
            <a:pathLst>
              <a:path w="4687242" h="873114">
                <a:moveTo>
                  <a:pt x="45952" y="0"/>
                </a:moveTo>
                <a:lnTo>
                  <a:pt x="4641290" y="0"/>
                </a:lnTo>
                <a:cubicBezTo>
                  <a:pt x="4666669" y="0"/>
                  <a:pt x="4687242" y="20573"/>
                  <a:pt x="4687242" y="45952"/>
                </a:cubicBezTo>
                <a:lnTo>
                  <a:pt x="4687242" y="827162"/>
                </a:lnTo>
                <a:cubicBezTo>
                  <a:pt x="4687242" y="852540"/>
                  <a:pt x="4666669" y="873114"/>
                  <a:pt x="4641290" y="873114"/>
                </a:cubicBezTo>
                <a:lnTo>
                  <a:pt x="45952" y="873114"/>
                </a:lnTo>
                <a:cubicBezTo>
                  <a:pt x="20573" y="873114"/>
                  <a:pt x="0" y="852540"/>
                  <a:pt x="0" y="827162"/>
                </a:cubicBezTo>
                <a:lnTo>
                  <a:pt x="0" y="45952"/>
                </a:lnTo>
                <a:cubicBezTo>
                  <a:pt x="0" y="20590"/>
                  <a:pt x="20590" y="0"/>
                  <a:pt x="45952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5610528" y="3216735"/>
            <a:ext cx="45953" cy="873114"/>
          </a:xfrm>
          <a:custGeom>
            <a:avLst/>
            <a:gdLst/>
            <a:ahLst/>
            <a:cxnLst/>
            <a:rect l="l" t="t" r="r" b="b"/>
            <a:pathLst>
              <a:path w="45953" h="873114">
                <a:moveTo>
                  <a:pt x="45953" y="0"/>
                </a:moveTo>
                <a:lnTo>
                  <a:pt x="45953" y="0"/>
                </a:lnTo>
                <a:lnTo>
                  <a:pt x="45953" y="873114"/>
                </a:lnTo>
                <a:lnTo>
                  <a:pt x="45953" y="873114"/>
                </a:lnTo>
                <a:cubicBezTo>
                  <a:pt x="20574" y="873114"/>
                  <a:pt x="0" y="852540"/>
                  <a:pt x="0" y="827160"/>
                </a:cubicBezTo>
                <a:lnTo>
                  <a:pt x="0" y="45953"/>
                </a:lnTo>
                <a:cubicBezTo>
                  <a:pt x="0" y="20574"/>
                  <a:pt x="20574" y="0"/>
                  <a:pt x="45953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771365" y="3354595"/>
            <a:ext cx="4480452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检查点文件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71365" y="3676269"/>
            <a:ext cx="4480452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dirty="0">
                <a:solidFill>
                  <a:srgbClr val="F8F9F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系统状态的定期保存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65278" y="4509173"/>
            <a:ext cx="10063785" cy="1987483"/>
          </a:xfrm>
          <a:custGeom>
            <a:avLst/>
            <a:gdLst/>
            <a:ahLst/>
            <a:cxnLst/>
            <a:rect l="l" t="t" r="r" b="b"/>
            <a:pathLst>
              <a:path w="10063785" h="1987483">
                <a:moveTo>
                  <a:pt x="91901" y="0"/>
                </a:moveTo>
                <a:lnTo>
                  <a:pt x="9971884" y="0"/>
                </a:lnTo>
                <a:cubicBezTo>
                  <a:pt x="10022640" y="0"/>
                  <a:pt x="10063785" y="41146"/>
                  <a:pt x="10063785" y="91901"/>
                </a:cubicBezTo>
                <a:lnTo>
                  <a:pt x="10063785" y="1895581"/>
                </a:lnTo>
                <a:cubicBezTo>
                  <a:pt x="10063785" y="1946337"/>
                  <a:pt x="10022640" y="1987483"/>
                  <a:pt x="9971884" y="1987483"/>
                </a:cubicBezTo>
                <a:lnTo>
                  <a:pt x="91901" y="1987483"/>
                </a:lnTo>
                <a:cubicBezTo>
                  <a:pt x="41146" y="1987483"/>
                  <a:pt x="0" y="1946337"/>
                  <a:pt x="0" y="1895581"/>
                </a:cubicBezTo>
                <a:lnTo>
                  <a:pt x="0" y="91901"/>
                </a:lnTo>
                <a:cubicBezTo>
                  <a:pt x="0" y="41146"/>
                  <a:pt x="41146" y="0"/>
                  <a:pt x="91901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742434" y="4802126"/>
            <a:ext cx="180941" cy="206790"/>
          </a:xfrm>
          <a:custGeom>
            <a:avLst/>
            <a:gdLst/>
            <a:ahLst/>
            <a:cxnLst/>
            <a:rect l="l" t="t" r="r" b="b"/>
            <a:pathLst>
              <a:path w="180941" h="206790">
                <a:moveTo>
                  <a:pt x="103395" y="25849"/>
                </a:moveTo>
                <a:cubicBezTo>
                  <a:pt x="103395" y="18700"/>
                  <a:pt x="97619" y="12924"/>
                  <a:pt x="90471" y="12924"/>
                </a:cubicBezTo>
                <a:cubicBezTo>
                  <a:pt x="83322" y="12924"/>
                  <a:pt x="77546" y="18700"/>
                  <a:pt x="77546" y="25849"/>
                </a:cubicBezTo>
                <a:lnTo>
                  <a:pt x="77546" y="90471"/>
                </a:lnTo>
                <a:lnTo>
                  <a:pt x="12924" y="90471"/>
                </a:lnTo>
                <a:cubicBezTo>
                  <a:pt x="5776" y="90471"/>
                  <a:pt x="0" y="96246"/>
                  <a:pt x="0" y="103395"/>
                </a:cubicBezTo>
                <a:cubicBezTo>
                  <a:pt x="0" y="110544"/>
                  <a:pt x="5776" y="116319"/>
                  <a:pt x="12924" y="116319"/>
                </a:cubicBezTo>
                <a:lnTo>
                  <a:pt x="77546" y="116319"/>
                </a:lnTo>
                <a:lnTo>
                  <a:pt x="77546" y="180941"/>
                </a:lnTo>
                <a:cubicBezTo>
                  <a:pt x="77546" y="188090"/>
                  <a:pt x="83322" y="193866"/>
                  <a:pt x="90471" y="193866"/>
                </a:cubicBezTo>
                <a:cubicBezTo>
                  <a:pt x="97619" y="193866"/>
                  <a:pt x="103395" y="188090"/>
                  <a:pt x="103395" y="180941"/>
                </a:cubicBezTo>
                <a:lnTo>
                  <a:pt x="103395" y="116319"/>
                </a:lnTo>
                <a:lnTo>
                  <a:pt x="168017" y="116319"/>
                </a:lnTo>
                <a:cubicBezTo>
                  <a:pt x="175166" y="116319"/>
                  <a:pt x="180941" y="110544"/>
                  <a:pt x="180941" y="103395"/>
                </a:cubicBezTo>
                <a:cubicBezTo>
                  <a:pt x="180941" y="96246"/>
                  <a:pt x="175166" y="90471"/>
                  <a:pt x="168017" y="90471"/>
                </a:cubicBezTo>
                <a:lnTo>
                  <a:pt x="103395" y="90471"/>
                </a:lnTo>
                <a:lnTo>
                  <a:pt x="103395" y="25849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965020" y="4744684"/>
            <a:ext cx="9431927" cy="32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2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原子追加实现机制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23765" y="5204218"/>
            <a:ext cx="3078875" cy="1056927"/>
          </a:xfrm>
          <a:custGeom>
            <a:avLst/>
            <a:gdLst/>
            <a:ahLst/>
            <a:cxnLst/>
            <a:rect l="l" t="t" r="r" b="b"/>
            <a:pathLst>
              <a:path w="3078875" h="1056927">
                <a:moveTo>
                  <a:pt x="45953" y="0"/>
                </a:moveTo>
                <a:lnTo>
                  <a:pt x="3032920" y="0"/>
                </a:lnTo>
                <a:cubicBezTo>
                  <a:pt x="3058300" y="0"/>
                  <a:pt x="3078875" y="20575"/>
                  <a:pt x="3078875" y="45955"/>
                </a:cubicBezTo>
                <a:lnTo>
                  <a:pt x="3078875" y="1010972"/>
                </a:lnTo>
                <a:cubicBezTo>
                  <a:pt x="3078875" y="1036352"/>
                  <a:pt x="3058300" y="1056927"/>
                  <a:pt x="3032920" y="1056927"/>
                </a:cubicBezTo>
                <a:lnTo>
                  <a:pt x="45953" y="1056927"/>
                </a:lnTo>
                <a:cubicBezTo>
                  <a:pt x="20574" y="1056927"/>
                  <a:pt x="0" y="1036353"/>
                  <a:pt x="0" y="1010974"/>
                </a:cubicBezTo>
                <a:lnTo>
                  <a:pt x="0" y="45953"/>
                </a:lnTo>
                <a:cubicBezTo>
                  <a:pt x="0" y="20574"/>
                  <a:pt x="20574" y="0"/>
                  <a:pt x="45953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723765" y="5204218"/>
            <a:ext cx="45953" cy="1056927"/>
          </a:xfrm>
          <a:custGeom>
            <a:avLst/>
            <a:gdLst/>
            <a:ahLst/>
            <a:cxnLst/>
            <a:rect l="l" t="t" r="r" b="b"/>
            <a:pathLst>
              <a:path w="45953" h="1056927">
                <a:moveTo>
                  <a:pt x="45953" y="0"/>
                </a:moveTo>
                <a:lnTo>
                  <a:pt x="45953" y="0"/>
                </a:lnTo>
                <a:lnTo>
                  <a:pt x="45953" y="1056927"/>
                </a:lnTo>
                <a:lnTo>
                  <a:pt x="45953" y="1056927"/>
                </a:lnTo>
                <a:cubicBezTo>
                  <a:pt x="20574" y="1056927"/>
                  <a:pt x="0" y="1036353"/>
                  <a:pt x="0" y="1010974"/>
                </a:cubicBezTo>
                <a:lnTo>
                  <a:pt x="0" y="45953"/>
                </a:lnTo>
                <a:cubicBezTo>
                  <a:pt x="0" y="20574"/>
                  <a:pt x="20574" y="0"/>
                  <a:pt x="45953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84602" y="5342078"/>
            <a:ext cx="2872085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追加操作预处理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84602" y="5663751"/>
            <a:ext cx="2860596" cy="459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6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 chunk 确定、空间检查、chunk 管理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966259" y="5204218"/>
            <a:ext cx="3078875" cy="1056927"/>
          </a:xfrm>
          <a:custGeom>
            <a:avLst/>
            <a:gdLst/>
            <a:ahLst/>
            <a:cxnLst/>
            <a:rect l="l" t="t" r="r" b="b"/>
            <a:pathLst>
              <a:path w="3078875" h="1056927">
                <a:moveTo>
                  <a:pt x="45953" y="0"/>
                </a:moveTo>
                <a:lnTo>
                  <a:pt x="3032920" y="0"/>
                </a:lnTo>
                <a:cubicBezTo>
                  <a:pt x="3058300" y="0"/>
                  <a:pt x="3078875" y="20575"/>
                  <a:pt x="3078875" y="45955"/>
                </a:cubicBezTo>
                <a:lnTo>
                  <a:pt x="3078875" y="1010972"/>
                </a:lnTo>
                <a:cubicBezTo>
                  <a:pt x="3078875" y="1036352"/>
                  <a:pt x="3058300" y="1056927"/>
                  <a:pt x="3032920" y="1056927"/>
                </a:cubicBezTo>
                <a:lnTo>
                  <a:pt x="45953" y="1056927"/>
                </a:lnTo>
                <a:cubicBezTo>
                  <a:pt x="20574" y="1056927"/>
                  <a:pt x="0" y="1036353"/>
                  <a:pt x="0" y="1010974"/>
                </a:cubicBezTo>
                <a:lnTo>
                  <a:pt x="0" y="45953"/>
                </a:lnTo>
                <a:cubicBezTo>
                  <a:pt x="0" y="20574"/>
                  <a:pt x="20574" y="0"/>
                  <a:pt x="4595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3966259" y="5204218"/>
            <a:ext cx="45953" cy="1056927"/>
          </a:xfrm>
          <a:custGeom>
            <a:avLst/>
            <a:gdLst/>
            <a:ahLst/>
            <a:cxnLst/>
            <a:rect l="l" t="t" r="r" b="b"/>
            <a:pathLst>
              <a:path w="45953" h="1056927">
                <a:moveTo>
                  <a:pt x="45953" y="0"/>
                </a:moveTo>
                <a:lnTo>
                  <a:pt x="45953" y="0"/>
                </a:lnTo>
                <a:lnTo>
                  <a:pt x="45953" y="1056927"/>
                </a:lnTo>
                <a:lnTo>
                  <a:pt x="45953" y="1056927"/>
                </a:lnTo>
                <a:cubicBezTo>
                  <a:pt x="20574" y="1056927"/>
                  <a:pt x="0" y="1036353"/>
                  <a:pt x="0" y="1010974"/>
                </a:cubicBezTo>
                <a:lnTo>
                  <a:pt x="0" y="45953"/>
                </a:lnTo>
                <a:cubicBezTo>
                  <a:pt x="0" y="20574"/>
                  <a:pt x="20574" y="0"/>
                  <a:pt x="45953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127096" y="5342078"/>
            <a:ext cx="2872085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追加执行流程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127096" y="5663751"/>
            <a:ext cx="2860596" cy="459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6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租约获取、数据推送、主副本追加、次副本同步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208843" y="5204218"/>
            <a:ext cx="3078875" cy="1056927"/>
          </a:xfrm>
          <a:custGeom>
            <a:avLst/>
            <a:gdLst/>
            <a:ahLst/>
            <a:cxnLst/>
            <a:rect l="l" t="t" r="r" b="b"/>
            <a:pathLst>
              <a:path w="3078875" h="1056927">
                <a:moveTo>
                  <a:pt x="45953" y="0"/>
                </a:moveTo>
                <a:lnTo>
                  <a:pt x="3032920" y="0"/>
                </a:lnTo>
                <a:cubicBezTo>
                  <a:pt x="3058300" y="0"/>
                  <a:pt x="3078875" y="20575"/>
                  <a:pt x="3078875" y="45955"/>
                </a:cubicBezTo>
                <a:lnTo>
                  <a:pt x="3078875" y="1010972"/>
                </a:lnTo>
                <a:cubicBezTo>
                  <a:pt x="3078875" y="1036352"/>
                  <a:pt x="3058300" y="1056927"/>
                  <a:pt x="3032920" y="1056927"/>
                </a:cubicBezTo>
                <a:lnTo>
                  <a:pt x="45953" y="1056927"/>
                </a:lnTo>
                <a:cubicBezTo>
                  <a:pt x="20574" y="1056927"/>
                  <a:pt x="0" y="1036353"/>
                  <a:pt x="0" y="1010974"/>
                </a:cubicBezTo>
                <a:lnTo>
                  <a:pt x="0" y="45953"/>
                </a:lnTo>
                <a:cubicBezTo>
                  <a:pt x="0" y="20574"/>
                  <a:pt x="20574" y="0"/>
                  <a:pt x="45953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7208843" y="5204218"/>
            <a:ext cx="45953" cy="1056927"/>
          </a:xfrm>
          <a:custGeom>
            <a:avLst/>
            <a:gdLst/>
            <a:ahLst/>
            <a:cxnLst/>
            <a:rect l="l" t="t" r="r" b="b"/>
            <a:pathLst>
              <a:path w="45953" h="1056927">
                <a:moveTo>
                  <a:pt x="45953" y="0"/>
                </a:moveTo>
                <a:lnTo>
                  <a:pt x="45953" y="0"/>
                </a:lnTo>
                <a:lnTo>
                  <a:pt x="45953" y="1056927"/>
                </a:lnTo>
                <a:lnTo>
                  <a:pt x="45953" y="1056927"/>
                </a:lnTo>
                <a:cubicBezTo>
                  <a:pt x="20574" y="1056927"/>
                  <a:pt x="0" y="1036353"/>
                  <a:pt x="0" y="1010974"/>
                </a:cubicBezTo>
                <a:lnTo>
                  <a:pt x="0" y="45953"/>
                </a:lnTo>
                <a:cubicBezTo>
                  <a:pt x="0" y="20574"/>
                  <a:pt x="20574" y="0"/>
                  <a:pt x="45953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7369680" y="5342078"/>
            <a:ext cx="2872085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主副本追加逻辑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369680" y="5663751"/>
            <a:ext cx="2860596" cy="459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6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并发控制、空间验证、边界处理、位置分配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767356" y="1204786"/>
            <a:ext cx="5020404" cy="2929527"/>
          </a:xfrm>
          <a:custGeom>
            <a:avLst/>
            <a:gdLst/>
            <a:ahLst/>
            <a:cxnLst/>
            <a:rect l="l" t="t" r="r" b="b"/>
            <a:pathLst>
              <a:path w="5020404" h="2929527">
                <a:moveTo>
                  <a:pt x="91899" y="0"/>
                </a:moveTo>
                <a:lnTo>
                  <a:pt x="4928505" y="0"/>
                </a:lnTo>
                <a:cubicBezTo>
                  <a:pt x="4979260" y="0"/>
                  <a:pt x="5020404" y="41145"/>
                  <a:pt x="5020404" y="91899"/>
                </a:cubicBezTo>
                <a:lnTo>
                  <a:pt x="5020404" y="2837627"/>
                </a:lnTo>
                <a:cubicBezTo>
                  <a:pt x="5020404" y="2888382"/>
                  <a:pt x="4979260" y="2929527"/>
                  <a:pt x="4928505" y="2929527"/>
                </a:cubicBezTo>
                <a:lnTo>
                  <a:pt x="91899" y="2929527"/>
                </a:lnTo>
                <a:cubicBezTo>
                  <a:pt x="41145" y="2929527"/>
                  <a:pt x="0" y="2888382"/>
                  <a:pt x="0" y="2837627"/>
                </a:cubicBezTo>
                <a:lnTo>
                  <a:pt x="0" y="91899"/>
                </a:lnTo>
                <a:cubicBezTo>
                  <a:pt x="0" y="41145"/>
                  <a:pt x="41145" y="0"/>
                  <a:pt x="91899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1005739" y="1497738"/>
            <a:ext cx="258488" cy="206790"/>
          </a:xfrm>
          <a:custGeom>
            <a:avLst/>
            <a:gdLst/>
            <a:ahLst/>
            <a:cxnLst/>
            <a:rect l="l" t="t" r="r" b="b"/>
            <a:pathLst>
              <a:path w="258488" h="206790">
                <a:moveTo>
                  <a:pt x="155093" y="12924"/>
                </a:moveTo>
                <a:lnTo>
                  <a:pt x="206790" y="12924"/>
                </a:lnTo>
                <a:cubicBezTo>
                  <a:pt x="213939" y="12924"/>
                  <a:pt x="219714" y="18700"/>
                  <a:pt x="219714" y="25849"/>
                </a:cubicBezTo>
                <a:cubicBezTo>
                  <a:pt x="219714" y="32998"/>
                  <a:pt x="213939" y="38773"/>
                  <a:pt x="206790" y="38773"/>
                </a:cubicBezTo>
                <a:lnTo>
                  <a:pt x="160909" y="38773"/>
                </a:lnTo>
                <a:cubicBezTo>
                  <a:pt x="158808" y="49193"/>
                  <a:pt x="151660" y="57796"/>
                  <a:pt x="142168" y="61916"/>
                </a:cubicBezTo>
                <a:lnTo>
                  <a:pt x="142168" y="180941"/>
                </a:lnTo>
                <a:lnTo>
                  <a:pt x="206790" y="180941"/>
                </a:lnTo>
                <a:cubicBezTo>
                  <a:pt x="213939" y="180941"/>
                  <a:pt x="219714" y="186717"/>
                  <a:pt x="219714" y="193866"/>
                </a:cubicBezTo>
                <a:cubicBezTo>
                  <a:pt x="219714" y="201015"/>
                  <a:pt x="213939" y="206790"/>
                  <a:pt x="206790" y="206790"/>
                </a:cubicBezTo>
                <a:lnTo>
                  <a:pt x="51698" y="206790"/>
                </a:lnTo>
                <a:cubicBezTo>
                  <a:pt x="44549" y="206790"/>
                  <a:pt x="38773" y="201015"/>
                  <a:pt x="38773" y="193866"/>
                </a:cubicBezTo>
                <a:cubicBezTo>
                  <a:pt x="38773" y="186717"/>
                  <a:pt x="44549" y="180941"/>
                  <a:pt x="51698" y="180941"/>
                </a:cubicBezTo>
                <a:lnTo>
                  <a:pt x="116319" y="180941"/>
                </a:lnTo>
                <a:lnTo>
                  <a:pt x="116319" y="61916"/>
                </a:lnTo>
                <a:cubicBezTo>
                  <a:pt x="106828" y="57756"/>
                  <a:pt x="99679" y="49153"/>
                  <a:pt x="97579" y="38773"/>
                </a:cubicBezTo>
                <a:lnTo>
                  <a:pt x="51698" y="38773"/>
                </a:lnTo>
                <a:cubicBezTo>
                  <a:pt x="44549" y="38773"/>
                  <a:pt x="38773" y="32998"/>
                  <a:pt x="38773" y="25849"/>
                </a:cubicBezTo>
                <a:cubicBezTo>
                  <a:pt x="38773" y="18700"/>
                  <a:pt x="44549" y="12924"/>
                  <a:pt x="51698" y="12924"/>
                </a:cubicBezTo>
                <a:lnTo>
                  <a:pt x="103395" y="12924"/>
                </a:lnTo>
                <a:cubicBezTo>
                  <a:pt x="109292" y="5089"/>
                  <a:pt x="118662" y="0"/>
                  <a:pt x="129244" y="0"/>
                </a:cubicBezTo>
                <a:cubicBezTo>
                  <a:pt x="139826" y="0"/>
                  <a:pt x="149196" y="5089"/>
                  <a:pt x="155093" y="12924"/>
                </a:cubicBezTo>
                <a:close/>
                <a:moveTo>
                  <a:pt x="177549" y="129244"/>
                </a:moveTo>
                <a:lnTo>
                  <a:pt x="236032" y="129244"/>
                </a:lnTo>
                <a:lnTo>
                  <a:pt x="206790" y="79081"/>
                </a:lnTo>
                <a:lnTo>
                  <a:pt x="177549" y="129244"/>
                </a:lnTo>
                <a:close/>
                <a:moveTo>
                  <a:pt x="206790" y="168017"/>
                </a:moveTo>
                <a:cubicBezTo>
                  <a:pt x="181386" y="168017"/>
                  <a:pt x="160262" y="154285"/>
                  <a:pt x="155900" y="136150"/>
                </a:cubicBezTo>
                <a:cubicBezTo>
                  <a:pt x="154850" y="131708"/>
                  <a:pt x="156304" y="127144"/>
                  <a:pt x="158606" y="123186"/>
                </a:cubicBezTo>
                <a:lnTo>
                  <a:pt x="197056" y="57271"/>
                </a:lnTo>
                <a:cubicBezTo>
                  <a:pt x="199076" y="53798"/>
                  <a:pt x="202792" y="51698"/>
                  <a:pt x="206790" y="51698"/>
                </a:cubicBezTo>
                <a:cubicBezTo>
                  <a:pt x="210789" y="51698"/>
                  <a:pt x="214504" y="53838"/>
                  <a:pt x="216524" y="57271"/>
                </a:cubicBezTo>
                <a:lnTo>
                  <a:pt x="254974" y="123186"/>
                </a:lnTo>
                <a:cubicBezTo>
                  <a:pt x="257276" y="127144"/>
                  <a:pt x="258730" y="131708"/>
                  <a:pt x="257680" y="136150"/>
                </a:cubicBezTo>
                <a:cubicBezTo>
                  <a:pt x="253318" y="154244"/>
                  <a:pt x="232195" y="168017"/>
                  <a:pt x="206790" y="168017"/>
                </a:cubicBezTo>
                <a:close/>
                <a:moveTo>
                  <a:pt x="51213" y="79081"/>
                </a:moveTo>
                <a:lnTo>
                  <a:pt x="21971" y="129244"/>
                </a:lnTo>
                <a:lnTo>
                  <a:pt x="80495" y="129244"/>
                </a:lnTo>
                <a:lnTo>
                  <a:pt x="51213" y="79081"/>
                </a:lnTo>
                <a:close/>
                <a:moveTo>
                  <a:pt x="363" y="136150"/>
                </a:moveTo>
                <a:cubicBezTo>
                  <a:pt x="-687" y="131708"/>
                  <a:pt x="767" y="127144"/>
                  <a:pt x="3070" y="123186"/>
                </a:cubicBezTo>
                <a:lnTo>
                  <a:pt x="41520" y="57271"/>
                </a:lnTo>
                <a:cubicBezTo>
                  <a:pt x="43539" y="53798"/>
                  <a:pt x="47255" y="51698"/>
                  <a:pt x="51253" y="51698"/>
                </a:cubicBezTo>
                <a:cubicBezTo>
                  <a:pt x="55252" y="51698"/>
                  <a:pt x="58967" y="53838"/>
                  <a:pt x="60987" y="57271"/>
                </a:cubicBezTo>
                <a:lnTo>
                  <a:pt x="99437" y="123186"/>
                </a:lnTo>
                <a:cubicBezTo>
                  <a:pt x="101739" y="127144"/>
                  <a:pt x="103193" y="131708"/>
                  <a:pt x="102143" y="136150"/>
                </a:cubicBezTo>
                <a:cubicBezTo>
                  <a:pt x="97781" y="154244"/>
                  <a:pt x="76658" y="168017"/>
                  <a:pt x="51253" y="168017"/>
                </a:cubicBezTo>
                <a:cubicBezTo>
                  <a:pt x="25849" y="168017"/>
                  <a:pt x="4725" y="154285"/>
                  <a:pt x="363" y="13615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1267099" y="1440297"/>
            <a:ext cx="4388546" cy="32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2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追加 vs 覆盖写入对比</a:t>
            </a:r>
            <a:endParaRPr lang="en-US" sz="16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054988"/>
              </p:ext>
            </p:extLst>
          </p:nvPr>
        </p:nvGraphicFramePr>
        <p:xfrm>
          <a:off x="11002867" y="1899830"/>
          <a:ext cx="4549383" cy="1998972"/>
        </p:xfrm>
        <a:graphic>
          <a:graphicData uri="http://schemas.openxmlformats.org/drawingml/2006/table">
            <a:tbl>
              <a:tblPr/>
              <a:tblGrid>
                <a:gridCol w="1171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2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53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162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覆盖写入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追加写入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62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并发安全性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需要复杂锁机制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天然支持并发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D4A2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62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性能表现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随机 I/O 模式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顺序 I/O 模式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62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一致性保证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复杂的一致性协议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简化的原子追加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62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故障恢复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需要回滚机制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重试即可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62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应用适配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需要应用层协调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D4A2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应用层简单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4" name="Shape 41"/>
          <p:cNvSpPr/>
          <p:nvPr/>
        </p:nvSpPr>
        <p:spPr>
          <a:xfrm>
            <a:off x="10767356" y="4329614"/>
            <a:ext cx="5020404" cy="2309156"/>
          </a:xfrm>
          <a:custGeom>
            <a:avLst/>
            <a:gdLst/>
            <a:ahLst/>
            <a:cxnLst/>
            <a:rect l="l" t="t" r="r" b="b"/>
            <a:pathLst>
              <a:path w="5020404" h="2309156">
                <a:moveTo>
                  <a:pt x="91904" y="0"/>
                </a:moveTo>
                <a:lnTo>
                  <a:pt x="4928500" y="0"/>
                </a:lnTo>
                <a:cubicBezTo>
                  <a:pt x="4979257" y="0"/>
                  <a:pt x="5020404" y="41147"/>
                  <a:pt x="5020404" y="91904"/>
                </a:cubicBezTo>
                <a:lnTo>
                  <a:pt x="5020404" y="2217252"/>
                </a:lnTo>
                <a:cubicBezTo>
                  <a:pt x="5020404" y="2268009"/>
                  <a:pt x="4979257" y="2309156"/>
                  <a:pt x="4928500" y="2309156"/>
                </a:cubicBezTo>
                <a:lnTo>
                  <a:pt x="91904" y="2309156"/>
                </a:lnTo>
                <a:cubicBezTo>
                  <a:pt x="41147" y="2309156"/>
                  <a:pt x="0" y="2268009"/>
                  <a:pt x="0" y="2217252"/>
                </a:cubicBezTo>
                <a:lnTo>
                  <a:pt x="0" y="91904"/>
                </a:lnTo>
                <a:cubicBezTo>
                  <a:pt x="0" y="41181"/>
                  <a:pt x="41181" y="0"/>
                  <a:pt x="91904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2"/>
          <p:cNvSpPr/>
          <p:nvPr/>
        </p:nvSpPr>
        <p:spPr>
          <a:xfrm>
            <a:off x="11057437" y="4622567"/>
            <a:ext cx="155093" cy="206790"/>
          </a:xfrm>
          <a:custGeom>
            <a:avLst/>
            <a:gdLst/>
            <a:ahLst/>
            <a:cxnLst/>
            <a:rect l="l" t="t" r="r" b="b"/>
            <a:pathLst>
              <a:path w="155093" h="206790">
                <a:moveTo>
                  <a:pt x="100931" y="26980"/>
                </a:moveTo>
                <a:cubicBezTo>
                  <a:pt x="105132" y="21204"/>
                  <a:pt x="103839" y="13126"/>
                  <a:pt x="98064" y="8926"/>
                </a:cubicBezTo>
                <a:cubicBezTo>
                  <a:pt x="92288" y="4725"/>
                  <a:pt x="84210" y="6018"/>
                  <a:pt x="80010" y="11793"/>
                </a:cubicBezTo>
                <a:lnTo>
                  <a:pt x="37198" y="70640"/>
                </a:lnTo>
                <a:lnTo>
                  <a:pt x="22052" y="55494"/>
                </a:lnTo>
                <a:cubicBezTo>
                  <a:pt x="17004" y="50445"/>
                  <a:pt x="8805" y="50445"/>
                  <a:pt x="3756" y="55494"/>
                </a:cubicBezTo>
                <a:cubicBezTo>
                  <a:pt x="-1292" y="60543"/>
                  <a:pt x="-1292" y="68742"/>
                  <a:pt x="3756" y="73790"/>
                </a:cubicBezTo>
                <a:lnTo>
                  <a:pt x="29605" y="99639"/>
                </a:lnTo>
                <a:cubicBezTo>
                  <a:pt x="32271" y="102305"/>
                  <a:pt x="35986" y="103678"/>
                  <a:pt x="39742" y="103395"/>
                </a:cubicBezTo>
                <a:cubicBezTo>
                  <a:pt x="43499" y="103112"/>
                  <a:pt x="46972" y="101174"/>
                  <a:pt x="49193" y="98104"/>
                </a:cubicBezTo>
                <a:lnTo>
                  <a:pt x="100891" y="27020"/>
                </a:lnTo>
                <a:close/>
                <a:moveTo>
                  <a:pt x="152629" y="81908"/>
                </a:moveTo>
                <a:cubicBezTo>
                  <a:pt x="156829" y="76133"/>
                  <a:pt x="155537" y="68055"/>
                  <a:pt x="149761" y="63855"/>
                </a:cubicBezTo>
                <a:cubicBezTo>
                  <a:pt x="143986" y="59654"/>
                  <a:pt x="135908" y="60947"/>
                  <a:pt x="131708" y="66722"/>
                </a:cubicBezTo>
                <a:lnTo>
                  <a:pt x="63047" y="161110"/>
                </a:lnTo>
                <a:lnTo>
                  <a:pt x="34977" y="133040"/>
                </a:lnTo>
                <a:cubicBezTo>
                  <a:pt x="29928" y="127992"/>
                  <a:pt x="21729" y="127992"/>
                  <a:pt x="16681" y="133040"/>
                </a:cubicBezTo>
                <a:cubicBezTo>
                  <a:pt x="11632" y="138089"/>
                  <a:pt x="11632" y="146288"/>
                  <a:pt x="16681" y="151336"/>
                </a:cubicBezTo>
                <a:lnTo>
                  <a:pt x="55454" y="190110"/>
                </a:lnTo>
                <a:cubicBezTo>
                  <a:pt x="58119" y="192775"/>
                  <a:pt x="61835" y="194148"/>
                  <a:pt x="65591" y="193866"/>
                </a:cubicBezTo>
                <a:cubicBezTo>
                  <a:pt x="69347" y="193583"/>
                  <a:pt x="72821" y="191644"/>
                  <a:pt x="75042" y="188575"/>
                </a:cubicBezTo>
                <a:lnTo>
                  <a:pt x="152588" y="81949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3"/>
          <p:cNvSpPr/>
          <p:nvPr/>
        </p:nvSpPr>
        <p:spPr>
          <a:xfrm>
            <a:off x="11267099" y="4565125"/>
            <a:ext cx="4388546" cy="32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2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一致性保证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11002867" y="5024658"/>
            <a:ext cx="4549382" cy="643347"/>
          </a:xfrm>
          <a:custGeom>
            <a:avLst/>
            <a:gdLst/>
            <a:ahLst/>
            <a:cxnLst/>
            <a:rect l="l" t="t" r="r" b="b"/>
            <a:pathLst>
              <a:path w="4549382" h="643347">
                <a:moveTo>
                  <a:pt x="45954" y="0"/>
                </a:moveTo>
                <a:lnTo>
                  <a:pt x="4503428" y="0"/>
                </a:lnTo>
                <a:cubicBezTo>
                  <a:pt x="4528808" y="0"/>
                  <a:pt x="4549382" y="20574"/>
                  <a:pt x="4549382" y="45954"/>
                </a:cubicBezTo>
                <a:lnTo>
                  <a:pt x="4549382" y="597393"/>
                </a:lnTo>
                <a:cubicBezTo>
                  <a:pt x="4549382" y="622773"/>
                  <a:pt x="4528808" y="643347"/>
                  <a:pt x="4503428" y="643347"/>
                </a:cubicBezTo>
                <a:lnTo>
                  <a:pt x="45954" y="643347"/>
                </a:lnTo>
                <a:cubicBezTo>
                  <a:pt x="20574" y="643347"/>
                  <a:pt x="0" y="622773"/>
                  <a:pt x="0" y="597393"/>
                </a:cubicBezTo>
                <a:lnTo>
                  <a:pt x="0" y="45954"/>
                </a:lnTo>
                <a:cubicBezTo>
                  <a:pt x="0" y="20591"/>
                  <a:pt x="20591" y="0"/>
                  <a:pt x="45954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5"/>
          <p:cNvSpPr/>
          <p:nvPr/>
        </p:nvSpPr>
        <p:spPr>
          <a:xfrm>
            <a:off x="11094774" y="5116565"/>
            <a:ext cx="4445987" cy="459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6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"至少一次"语义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266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重复检测 + 结果缓存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11002867" y="5759912"/>
            <a:ext cx="4549382" cy="643347"/>
          </a:xfrm>
          <a:custGeom>
            <a:avLst/>
            <a:gdLst/>
            <a:ahLst/>
            <a:cxnLst/>
            <a:rect l="l" t="t" r="r" b="b"/>
            <a:pathLst>
              <a:path w="4549382" h="643347">
                <a:moveTo>
                  <a:pt x="45954" y="0"/>
                </a:moveTo>
                <a:lnTo>
                  <a:pt x="4503428" y="0"/>
                </a:lnTo>
                <a:cubicBezTo>
                  <a:pt x="4528808" y="0"/>
                  <a:pt x="4549382" y="20574"/>
                  <a:pt x="4549382" y="45954"/>
                </a:cubicBezTo>
                <a:lnTo>
                  <a:pt x="4549382" y="597393"/>
                </a:lnTo>
                <a:cubicBezTo>
                  <a:pt x="4549382" y="622773"/>
                  <a:pt x="4528808" y="643347"/>
                  <a:pt x="4503428" y="643347"/>
                </a:cubicBezTo>
                <a:lnTo>
                  <a:pt x="45954" y="643347"/>
                </a:lnTo>
                <a:cubicBezTo>
                  <a:pt x="20574" y="643347"/>
                  <a:pt x="0" y="622773"/>
                  <a:pt x="0" y="597393"/>
                </a:cubicBezTo>
                <a:lnTo>
                  <a:pt x="0" y="45954"/>
                </a:lnTo>
                <a:cubicBezTo>
                  <a:pt x="0" y="20591"/>
                  <a:pt x="20591" y="0"/>
                  <a:pt x="45954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7"/>
          <p:cNvSpPr/>
          <p:nvPr/>
        </p:nvSpPr>
        <p:spPr>
          <a:xfrm>
            <a:off x="11094774" y="5851819"/>
            <a:ext cx="4445987" cy="459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6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副本一致性验证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266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校验和计算 + 不一致修复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10767356" y="6834072"/>
            <a:ext cx="5020404" cy="2033436"/>
          </a:xfrm>
          <a:custGeom>
            <a:avLst/>
            <a:gdLst/>
            <a:ahLst/>
            <a:cxnLst/>
            <a:rect l="l" t="t" r="r" b="b"/>
            <a:pathLst>
              <a:path w="5020404" h="2033436">
                <a:moveTo>
                  <a:pt x="91911" y="0"/>
                </a:moveTo>
                <a:lnTo>
                  <a:pt x="4928493" y="0"/>
                </a:lnTo>
                <a:cubicBezTo>
                  <a:pt x="4979254" y="0"/>
                  <a:pt x="5020404" y="41150"/>
                  <a:pt x="5020404" y="91911"/>
                </a:cubicBezTo>
                <a:lnTo>
                  <a:pt x="5020404" y="1941525"/>
                </a:lnTo>
                <a:cubicBezTo>
                  <a:pt x="5020404" y="1992286"/>
                  <a:pt x="4979254" y="2033436"/>
                  <a:pt x="4928493" y="2033436"/>
                </a:cubicBezTo>
                <a:lnTo>
                  <a:pt x="91911" y="2033436"/>
                </a:lnTo>
                <a:cubicBezTo>
                  <a:pt x="41150" y="2033436"/>
                  <a:pt x="0" y="1992286"/>
                  <a:pt x="0" y="1941525"/>
                </a:cubicBezTo>
                <a:lnTo>
                  <a:pt x="0" y="91911"/>
                </a:lnTo>
                <a:cubicBezTo>
                  <a:pt x="0" y="41184"/>
                  <a:pt x="41184" y="0"/>
                  <a:pt x="91911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49"/>
          <p:cNvSpPr/>
          <p:nvPr/>
        </p:nvSpPr>
        <p:spPr>
          <a:xfrm>
            <a:off x="11031588" y="7127024"/>
            <a:ext cx="206790" cy="206790"/>
          </a:xfrm>
          <a:custGeom>
            <a:avLst/>
            <a:gdLst/>
            <a:ahLst/>
            <a:cxnLst/>
            <a:rect l="l" t="t" r="r" b="b"/>
            <a:pathLst>
              <a:path w="206790" h="206790">
                <a:moveTo>
                  <a:pt x="51698" y="129244"/>
                </a:moveTo>
                <a:lnTo>
                  <a:pt x="9895" y="129244"/>
                </a:lnTo>
                <a:cubicBezTo>
                  <a:pt x="-162" y="129244"/>
                  <a:pt x="-6341" y="118298"/>
                  <a:pt x="-1171" y="109655"/>
                </a:cubicBezTo>
                <a:lnTo>
                  <a:pt x="20194" y="74032"/>
                </a:lnTo>
                <a:cubicBezTo>
                  <a:pt x="23708" y="68176"/>
                  <a:pt x="30009" y="64622"/>
                  <a:pt x="36834" y="64622"/>
                </a:cubicBezTo>
                <a:lnTo>
                  <a:pt x="75204" y="64622"/>
                </a:lnTo>
                <a:cubicBezTo>
                  <a:pt x="105940" y="12561"/>
                  <a:pt x="151781" y="9936"/>
                  <a:pt x="182436" y="14419"/>
                </a:cubicBezTo>
                <a:cubicBezTo>
                  <a:pt x="187605" y="15186"/>
                  <a:pt x="191644" y="19225"/>
                  <a:pt x="192371" y="24354"/>
                </a:cubicBezTo>
                <a:cubicBezTo>
                  <a:pt x="196854" y="55009"/>
                  <a:pt x="194229" y="100851"/>
                  <a:pt x="142168" y="131586"/>
                </a:cubicBezTo>
                <a:lnTo>
                  <a:pt x="142168" y="169956"/>
                </a:lnTo>
                <a:cubicBezTo>
                  <a:pt x="142168" y="176781"/>
                  <a:pt x="138614" y="183082"/>
                  <a:pt x="132758" y="186596"/>
                </a:cubicBezTo>
                <a:lnTo>
                  <a:pt x="97135" y="207961"/>
                </a:lnTo>
                <a:cubicBezTo>
                  <a:pt x="88532" y="213131"/>
                  <a:pt x="77546" y="206911"/>
                  <a:pt x="77546" y="196895"/>
                </a:cubicBezTo>
                <a:lnTo>
                  <a:pt x="77546" y="155093"/>
                </a:lnTo>
                <a:cubicBezTo>
                  <a:pt x="77546" y="140835"/>
                  <a:pt x="65955" y="129244"/>
                  <a:pt x="51698" y="129244"/>
                </a:cubicBezTo>
                <a:lnTo>
                  <a:pt x="51657" y="129244"/>
                </a:lnTo>
                <a:close/>
                <a:moveTo>
                  <a:pt x="161555" y="64622"/>
                </a:moveTo>
                <a:cubicBezTo>
                  <a:pt x="161555" y="53922"/>
                  <a:pt x="152868" y="45235"/>
                  <a:pt x="142168" y="45235"/>
                </a:cubicBezTo>
                <a:cubicBezTo>
                  <a:pt x="131468" y="45235"/>
                  <a:pt x="122782" y="53922"/>
                  <a:pt x="122782" y="64622"/>
                </a:cubicBezTo>
                <a:cubicBezTo>
                  <a:pt x="122782" y="75322"/>
                  <a:pt x="131468" y="84008"/>
                  <a:pt x="142168" y="84008"/>
                </a:cubicBezTo>
                <a:cubicBezTo>
                  <a:pt x="152868" y="84008"/>
                  <a:pt x="161555" y="75322"/>
                  <a:pt x="161555" y="64622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0"/>
          <p:cNvSpPr/>
          <p:nvPr/>
        </p:nvSpPr>
        <p:spPr>
          <a:xfrm>
            <a:off x="11267099" y="7069583"/>
            <a:ext cx="4388546" cy="32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2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性能提升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11002867" y="7529116"/>
            <a:ext cx="4549382" cy="505487"/>
          </a:xfrm>
          <a:custGeom>
            <a:avLst/>
            <a:gdLst/>
            <a:ahLst/>
            <a:cxnLst/>
            <a:rect l="l" t="t" r="r" b="b"/>
            <a:pathLst>
              <a:path w="4549382" h="505487">
                <a:moveTo>
                  <a:pt x="45954" y="0"/>
                </a:moveTo>
                <a:lnTo>
                  <a:pt x="4503429" y="0"/>
                </a:lnTo>
                <a:cubicBezTo>
                  <a:pt x="4528808" y="0"/>
                  <a:pt x="4549382" y="20574"/>
                  <a:pt x="4549382" y="45954"/>
                </a:cubicBezTo>
                <a:lnTo>
                  <a:pt x="4549382" y="459533"/>
                </a:lnTo>
                <a:cubicBezTo>
                  <a:pt x="4549382" y="484913"/>
                  <a:pt x="4528808" y="505487"/>
                  <a:pt x="4503429" y="505487"/>
                </a:cubicBezTo>
                <a:lnTo>
                  <a:pt x="45954" y="505487"/>
                </a:lnTo>
                <a:cubicBezTo>
                  <a:pt x="20574" y="505487"/>
                  <a:pt x="0" y="484913"/>
                  <a:pt x="0" y="459533"/>
                </a:cubicBezTo>
                <a:lnTo>
                  <a:pt x="0" y="45954"/>
                </a:lnTo>
                <a:cubicBezTo>
                  <a:pt x="0" y="20574"/>
                  <a:pt x="20574" y="0"/>
                  <a:pt x="45954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2"/>
          <p:cNvSpPr/>
          <p:nvPr/>
        </p:nvSpPr>
        <p:spPr>
          <a:xfrm>
            <a:off x="11094774" y="7644000"/>
            <a:ext cx="827160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并发性能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14860077" y="7621023"/>
            <a:ext cx="712277" cy="32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28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3-5 倍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11002867" y="8126510"/>
            <a:ext cx="4549382" cy="505487"/>
          </a:xfrm>
          <a:custGeom>
            <a:avLst/>
            <a:gdLst/>
            <a:ahLst/>
            <a:cxnLst/>
            <a:rect l="l" t="t" r="r" b="b"/>
            <a:pathLst>
              <a:path w="4549382" h="505487">
                <a:moveTo>
                  <a:pt x="45954" y="0"/>
                </a:moveTo>
                <a:lnTo>
                  <a:pt x="4503429" y="0"/>
                </a:lnTo>
                <a:cubicBezTo>
                  <a:pt x="4528808" y="0"/>
                  <a:pt x="4549382" y="20574"/>
                  <a:pt x="4549382" y="45954"/>
                </a:cubicBezTo>
                <a:lnTo>
                  <a:pt x="4549382" y="459533"/>
                </a:lnTo>
                <a:cubicBezTo>
                  <a:pt x="4549382" y="484913"/>
                  <a:pt x="4528808" y="505487"/>
                  <a:pt x="4503429" y="505487"/>
                </a:cubicBezTo>
                <a:lnTo>
                  <a:pt x="45954" y="505487"/>
                </a:lnTo>
                <a:cubicBezTo>
                  <a:pt x="20574" y="505487"/>
                  <a:pt x="0" y="484913"/>
                  <a:pt x="0" y="459533"/>
                </a:cubicBezTo>
                <a:lnTo>
                  <a:pt x="0" y="45954"/>
                </a:lnTo>
                <a:cubicBezTo>
                  <a:pt x="0" y="20574"/>
                  <a:pt x="20574" y="0"/>
                  <a:pt x="45954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5"/>
          <p:cNvSpPr/>
          <p:nvPr/>
        </p:nvSpPr>
        <p:spPr>
          <a:xfrm>
            <a:off x="11094774" y="8241393"/>
            <a:ext cx="643347" cy="27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7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容错性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15257771" y="8218417"/>
            <a:ext cx="310185" cy="321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28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强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5254" y="606567"/>
            <a:ext cx="485254" cy="48525"/>
          </a:xfrm>
          <a:custGeom>
            <a:avLst/>
            <a:gdLst/>
            <a:ahLst/>
            <a:cxnLst/>
            <a:rect l="l" t="t" r="r" b="b"/>
            <a:pathLst>
              <a:path w="485254" h="48525">
                <a:moveTo>
                  <a:pt x="0" y="0"/>
                </a:moveTo>
                <a:lnTo>
                  <a:pt x="485254" y="0"/>
                </a:lnTo>
                <a:lnTo>
                  <a:pt x="485254" y="48525"/>
                </a:lnTo>
                <a:lnTo>
                  <a:pt x="0" y="48525"/>
                </a:lnTo>
                <a:lnTo>
                  <a:pt x="0" y="0"/>
                </a:ln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116084" y="485254"/>
            <a:ext cx="2668896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b="1" kern="0" spc="76" dirty="0">
                <a:solidFill>
                  <a:srgbClr val="D4A23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5254" y="873457"/>
            <a:ext cx="15503857" cy="48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39" b="1" dirty="0">
                <a:solidFill>
                  <a:srgbClr val="F8F9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性能分析与优化策略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9516" y="1552812"/>
            <a:ext cx="7497170" cy="5143690"/>
          </a:xfrm>
          <a:custGeom>
            <a:avLst/>
            <a:gdLst/>
            <a:ahLst/>
            <a:cxnLst/>
            <a:rect l="l" t="t" r="r" b="b"/>
            <a:pathLst>
              <a:path w="7497170" h="5143690">
                <a:moveTo>
                  <a:pt x="48525" y="0"/>
                </a:moveTo>
                <a:lnTo>
                  <a:pt x="7400109" y="0"/>
                </a:lnTo>
                <a:cubicBezTo>
                  <a:pt x="7453714" y="0"/>
                  <a:pt x="7497170" y="43456"/>
                  <a:pt x="7497170" y="97061"/>
                </a:cubicBezTo>
                <a:lnTo>
                  <a:pt x="7497170" y="5046628"/>
                </a:lnTo>
                <a:cubicBezTo>
                  <a:pt x="7497170" y="5100234"/>
                  <a:pt x="7453714" y="5143690"/>
                  <a:pt x="7400109" y="5143690"/>
                </a:cubicBezTo>
                <a:lnTo>
                  <a:pt x="48525" y="5143690"/>
                </a:lnTo>
                <a:cubicBezTo>
                  <a:pt x="21726" y="5143690"/>
                  <a:pt x="0" y="5121964"/>
                  <a:pt x="0" y="5095164"/>
                </a:cubicBezTo>
                <a:lnTo>
                  <a:pt x="0" y="48525"/>
                </a:lnTo>
                <a:cubicBezTo>
                  <a:pt x="0" y="21743"/>
                  <a:pt x="21743" y="0"/>
                  <a:pt x="48525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9516" y="1552812"/>
            <a:ext cx="48525" cy="5143690"/>
          </a:xfrm>
          <a:custGeom>
            <a:avLst/>
            <a:gdLst/>
            <a:ahLst/>
            <a:cxnLst/>
            <a:rect l="l" t="t" r="r" b="b"/>
            <a:pathLst>
              <a:path w="48525" h="5143690">
                <a:moveTo>
                  <a:pt x="48525" y="0"/>
                </a:moveTo>
                <a:lnTo>
                  <a:pt x="48525" y="0"/>
                </a:lnTo>
                <a:lnTo>
                  <a:pt x="48525" y="5143690"/>
                </a:lnTo>
                <a:lnTo>
                  <a:pt x="48525" y="5143690"/>
                </a:lnTo>
                <a:cubicBezTo>
                  <a:pt x="21726" y="5143690"/>
                  <a:pt x="0" y="5121964"/>
                  <a:pt x="0" y="5095164"/>
                </a:cubicBezTo>
                <a:lnTo>
                  <a:pt x="0" y="48525"/>
                </a:lnTo>
                <a:cubicBezTo>
                  <a:pt x="0" y="21726"/>
                  <a:pt x="21726" y="0"/>
                  <a:pt x="48525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06734" y="1856096"/>
            <a:ext cx="218364" cy="218364"/>
          </a:xfrm>
          <a:custGeom>
            <a:avLst/>
            <a:gdLst/>
            <a:ahLst/>
            <a:cxnLst/>
            <a:rect l="l" t="t" r="r" b="b"/>
            <a:pathLst>
              <a:path w="218364" h="218364">
                <a:moveTo>
                  <a:pt x="13648" y="13648"/>
                </a:moveTo>
                <a:cubicBezTo>
                  <a:pt x="21197" y="13648"/>
                  <a:pt x="27296" y="19747"/>
                  <a:pt x="27296" y="27296"/>
                </a:cubicBezTo>
                <a:lnTo>
                  <a:pt x="27296" y="170597"/>
                </a:lnTo>
                <a:cubicBezTo>
                  <a:pt x="27296" y="174350"/>
                  <a:pt x="30366" y="177421"/>
                  <a:pt x="34119" y="177421"/>
                </a:cubicBezTo>
                <a:lnTo>
                  <a:pt x="204716" y="177421"/>
                </a:lnTo>
                <a:cubicBezTo>
                  <a:pt x="212265" y="177421"/>
                  <a:pt x="218364" y="183520"/>
                  <a:pt x="218364" y="191069"/>
                </a:cubicBezTo>
                <a:cubicBezTo>
                  <a:pt x="218364" y="198618"/>
                  <a:pt x="212265" y="204716"/>
                  <a:pt x="204716" y="204716"/>
                </a:cubicBezTo>
                <a:lnTo>
                  <a:pt x="34119" y="204716"/>
                </a:lnTo>
                <a:cubicBezTo>
                  <a:pt x="15268" y="204716"/>
                  <a:pt x="0" y="189448"/>
                  <a:pt x="0" y="170597"/>
                </a:cubicBezTo>
                <a:lnTo>
                  <a:pt x="0" y="27296"/>
                </a:lnTo>
                <a:cubicBezTo>
                  <a:pt x="0" y="19747"/>
                  <a:pt x="6099" y="13648"/>
                  <a:pt x="13648" y="13648"/>
                </a:cubicBezTo>
                <a:close/>
                <a:moveTo>
                  <a:pt x="102358" y="40943"/>
                </a:moveTo>
                <a:cubicBezTo>
                  <a:pt x="105216" y="40943"/>
                  <a:pt x="107945" y="42137"/>
                  <a:pt x="109907" y="44270"/>
                </a:cubicBezTo>
                <a:lnTo>
                  <a:pt x="140231" y="77323"/>
                </a:lnTo>
                <a:lnTo>
                  <a:pt x="159935" y="57576"/>
                </a:lnTo>
                <a:cubicBezTo>
                  <a:pt x="163944" y="53567"/>
                  <a:pt x="170426" y="53567"/>
                  <a:pt x="174393" y="57576"/>
                </a:cubicBezTo>
                <a:lnTo>
                  <a:pt x="201688" y="84872"/>
                </a:lnTo>
                <a:cubicBezTo>
                  <a:pt x="203608" y="86791"/>
                  <a:pt x="204674" y="89393"/>
                  <a:pt x="204674" y="92122"/>
                </a:cubicBezTo>
                <a:lnTo>
                  <a:pt x="204674" y="139890"/>
                </a:lnTo>
                <a:cubicBezTo>
                  <a:pt x="204674" y="145562"/>
                  <a:pt x="200110" y="150125"/>
                  <a:pt x="194438" y="150125"/>
                </a:cubicBezTo>
                <a:lnTo>
                  <a:pt x="64784" y="150125"/>
                </a:lnTo>
                <a:cubicBezTo>
                  <a:pt x="59112" y="150125"/>
                  <a:pt x="54548" y="145562"/>
                  <a:pt x="54548" y="139890"/>
                </a:cubicBezTo>
                <a:lnTo>
                  <a:pt x="54548" y="92122"/>
                </a:lnTo>
                <a:cubicBezTo>
                  <a:pt x="54548" y="89563"/>
                  <a:pt x="55529" y="87090"/>
                  <a:pt x="57235" y="85213"/>
                </a:cubicBezTo>
                <a:lnTo>
                  <a:pt x="94767" y="44270"/>
                </a:lnTo>
                <a:cubicBezTo>
                  <a:pt x="96686" y="42137"/>
                  <a:pt x="99458" y="40943"/>
                  <a:pt x="102316" y="40943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55427" y="1795439"/>
            <a:ext cx="6817815" cy="339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GFS 性能特点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0669" y="2329218"/>
            <a:ext cx="6963391" cy="921982"/>
          </a:xfrm>
          <a:custGeom>
            <a:avLst/>
            <a:gdLst/>
            <a:ahLst/>
            <a:cxnLst/>
            <a:rect l="l" t="t" r="r" b="b"/>
            <a:pathLst>
              <a:path w="6963391" h="921982">
                <a:moveTo>
                  <a:pt x="48524" y="0"/>
                </a:moveTo>
                <a:lnTo>
                  <a:pt x="6914867" y="0"/>
                </a:lnTo>
                <a:cubicBezTo>
                  <a:pt x="6941666" y="0"/>
                  <a:pt x="6963391" y="21725"/>
                  <a:pt x="6963391" y="48524"/>
                </a:cubicBezTo>
                <a:lnTo>
                  <a:pt x="6963391" y="873458"/>
                </a:lnTo>
                <a:cubicBezTo>
                  <a:pt x="6963391" y="900257"/>
                  <a:pt x="6941666" y="921982"/>
                  <a:pt x="6914867" y="921982"/>
                </a:cubicBezTo>
                <a:lnTo>
                  <a:pt x="48524" y="921982"/>
                </a:lnTo>
                <a:cubicBezTo>
                  <a:pt x="21725" y="921982"/>
                  <a:pt x="0" y="900257"/>
                  <a:pt x="0" y="873458"/>
                </a:cubicBezTo>
                <a:lnTo>
                  <a:pt x="0" y="48524"/>
                </a:lnTo>
                <a:cubicBezTo>
                  <a:pt x="0" y="21725"/>
                  <a:pt x="21725" y="0"/>
                  <a:pt x="48524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00669" y="2329218"/>
            <a:ext cx="48525" cy="921982"/>
          </a:xfrm>
          <a:custGeom>
            <a:avLst/>
            <a:gdLst/>
            <a:ahLst/>
            <a:cxnLst/>
            <a:rect l="l" t="t" r="r" b="b"/>
            <a:pathLst>
              <a:path w="48525" h="921982">
                <a:moveTo>
                  <a:pt x="48525" y="0"/>
                </a:moveTo>
                <a:lnTo>
                  <a:pt x="48525" y="0"/>
                </a:lnTo>
                <a:lnTo>
                  <a:pt x="48525" y="921982"/>
                </a:lnTo>
                <a:lnTo>
                  <a:pt x="48525" y="921982"/>
                </a:lnTo>
                <a:cubicBezTo>
                  <a:pt x="21726" y="921982"/>
                  <a:pt x="0" y="900257"/>
                  <a:pt x="0" y="873457"/>
                </a:cubicBezTo>
                <a:lnTo>
                  <a:pt x="0" y="48525"/>
                </a:lnTo>
                <a:cubicBezTo>
                  <a:pt x="0" y="21726"/>
                  <a:pt x="21726" y="0"/>
                  <a:pt x="48525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70507" y="2474794"/>
            <a:ext cx="6745027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大文件顺序访问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70507" y="2814472"/>
            <a:ext cx="6745027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性能最优，能充分利用网络带宽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0669" y="3396776"/>
            <a:ext cx="6963391" cy="921982"/>
          </a:xfrm>
          <a:custGeom>
            <a:avLst/>
            <a:gdLst/>
            <a:ahLst/>
            <a:cxnLst/>
            <a:rect l="l" t="t" r="r" b="b"/>
            <a:pathLst>
              <a:path w="6963391" h="921982">
                <a:moveTo>
                  <a:pt x="48524" y="0"/>
                </a:moveTo>
                <a:lnTo>
                  <a:pt x="6914867" y="0"/>
                </a:lnTo>
                <a:cubicBezTo>
                  <a:pt x="6941666" y="0"/>
                  <a:pt x="6963391" y="21725"/>
                  <a:pt x="6963391" y="48524"/>
                </a:cubicBezTo>
                <a:lnTo>
                  <a:pt x="6963391" y="873458"/>
                </a:lnTo>
                <a:cubicBezTo>
                  <a:pt x="6963391" y="900257"/>
                  <a:pt x="6941666" y="921982"/>
                  <a:pt x="6914867" y="921982"/>
                </a:cubicBezTo>
                <a:lnTo>
                  <a:pt x="48524" y="921982"/>
                </a:lnTo>
                <a:cubicBezTo>
                  <a:pt x="21725" y="921982"/>
                  <a:pt x="0" y="900257"/>
                  <a:pt x="0" y="873458"/>
                </a:cubicBezTo>
                <a:lnTo>
                  <a:pt x="0" y="48524"/>
                </a:lnTo>
                <a:cubicBezTo>
                  <a:pt x="0" y="21725"/>
                  <a:pt x="21725" y="0"/>
                  <a:pt x="48524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00669" y="3396776"/>
            <a:ext cx="48525" cy="921982"/>
          </a:xfrm>
          <a:custGeom>
            <a:avLst/>
            <a:gdLst/>
            <a:ahLst/>
            <a:cxnLst/>
            <a:rect l="l" t="t" r="r" b="b"/>
            <a:pathLst>
              <a:path w="48525" h="921982">
                <a:moveTo>
                  <a:pt x="48525" y="0"/>
                </a:moveTo>
                <a:lnTo>
                  <a:pt x="48525" y="0"/>
                </a:lnTo>
                <a:lnTo>
                  <a:pt x="48525" y="921982"/>
                </a:lnTo>
                <a:lnTo>
                  <a:pt x="48525" y="921982"/>
                </a:lnTo>
                <a:cubicBezTo>
                  <a:pt x="21726" y="921982"/>
                  <a:pt x="0" y="900257"/>
                  <a:pt x="0" y="873457"/>
                </a:cubicBezTo>
                <a:lnTo>
                  <a:pt x="0" y="48525"/>
                </a:lnTo>
                <a:cubicBezTo>
                  <a:pt x="0" y="21726"/>
                  <a:pt x="21726" y="0"/>
                  <a:pt x="48525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70507" y="3542352"/>
            <a:ext cx="6745027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小文件随机访问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70507" y="3882030"/>
            <a:ext cx="6745027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性能相对较差，受 Master 查询开销影响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0669" y="4464334"/>
            <a:ext cx="6963391" cy="921982"/>
          </a:xfrm>
          <a:custGeom>
            <a:avLst/>
            <a:gdLst/>
            <a:ahLst/>
            <a:cxnLst/>
            <a:rect l="l" t="t" r="r" b="b"/>
            <a:pathLst>
              <a:path w="6963391" h="921982">
                <a:moveTo>
                  <a:pt x="48524" y="0"/>
                </a:moveTo>
                <a:lnTo>
                  <a:pt x="6914867" y="0"/>
                </a:lnTo>
                <a:cubicBezTo>
                  <a:pt x="6941666" y="0"/>
                  <a:pt x="6963391" y="21725"/>
                  <a:pt x="6963391" y="48524"/>
                </a:cubicBezTo>
                <a:lnTo>
                  <a:pt x="6963391" y="873458"/>
                </a:lnTo>
                <a:cubicBezTo>
                  <a:pt x="6963391" y="900257"/>
                  <a:pt x="6941666" y="921982"/>
                  <a:pt x="6914867" y="921982"/>
                </a:cubicBezTo>
                <a:lnTo>
                  <a:pt x="48524" y="921982"/>
                </a:lnTo>
                <a:cubicBezTo>
                  <a:pt x="21725" y="921982"/>
                  <a:pt x="0" y="900257"/>
                  <a:pt x="0" y="873458"/>
                </a:cubicBezTo>
                <a:lnTo>
                  <a:pt x="0" y="48524"/>
                </a:lnTo>
                <a:cubicBezTo>
                  <a:pt x="0" y="21725"/>
                  <a:pt x="21725" y="0"/>
                  <a:pt x="48524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00669" y="4464334"/>
            <a:ext cx="48525" cy="921982"/>
          </a:xfrm>
          <a:custGeom>
            <a:avLst/>
            <a:gdLst/>
            <a:ahLst/>
            <a:cxnLst/>
            <a:rect l="l" t="t" r="r" b="b"/>
            <a:pathLst>
              <a:path w="48525" h="921982">
                <a:moveTo>
                  <a:pt x="48525" y="0"/>
                </a:moveTo>
                <a:lnTo>
                  <a:pt x="48525" y="0"/>
                </a:lnTo>
                <a:lnTo>
                  <a:pt x="48525" y="921982"/>
                </a:lnTo>
                <a:lnTo>
                  <a:pt x="48525" y="921982"/>
                </a:lnTo>
                <a:cubicBezTo>
                  <a:pt x="21726" y="921982"/>
                  <a:pt x="0" y="900257"/>
                  <a:pt x="0" y="873457"/>
                </a:cubicBezTo>
                <a:lnTo>
                  <a:pt x="0" y="48525"/>
                </a:lnTo>
                <a:cubicBezTo>
                  <a:pt x="0" y="21726"/>
                  <a:pt x="21726" y="0"/>
                  <a:pt x="48525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70507" y="4609910"/>
            <a:ext cx="6745027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记录追加操作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70507" y="4949588"/>
            <a:ext cx="6745027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针对性优化，支持高并发写入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0669" y="5531893"/>
            <a:ext cx="6963391" cy="921982"/>
          </a:xfrm>
          <a:custGeom>
            <a:avLst/>
            <a:gdLst/>
            <a:ahLst/>
            <a:cxnLst/>
            <a:rect l="l" t="t" r="r" b="b"/>
            <a:pathLst>
              <a:path w="6963391" h="921982">
                <a:moveTo>
                  <a:pt x="48524" y="0"/>
                </a:moveTo>
                <a:lnTo>
                  <a:pt x="6914867" y="0"/>
                </a:lnTo>
                <a:cubicBezTo>
                  <a:pt x="6941666" y="0"/>
                  <a:pt x="6963391" y="21725"/>
                  <a:pt x="6963391" y="48524"/>
                </a:cubicBezTo>
                <a:lnTo>
                  <a:pt x="6963391" y="873458"/>
                </a:lnTo>
                <a:cubicBezTo>
                  <a:pt x="6963391" y="900257"/>
                  <a:pt x="6941666" y="921982"/>
                  <a:pt x="6914867" y="921982"/>
                </a:cubicBezTo>
                <a:lnTo>
                  <a:pt x="48524" y="921982"/>
                </a:lnTo>
                <a:cubicBezTo>
                  <a:pt x="21725" y="921982"/>
                  <a:pt x="0" y="900257"/>
                  <a:pt x="0" y="873458"/>
                </a:cubicBezTo>
                <a:lnTo>
                  <a:pt x="0" y="48524"/>
                </a:lnTo>
                <a:cubicBezTo>
                  <a:pt x="0" y="21725"/>
                  <a:pt x="21725" y="0"/>
                  <a:pt x="48524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00669" y="5531893"/>
            <a:ext cx="48525" cy="921982"/>
          </a:xfrm>
          <a:custGeom>
            <a:avLst/>
            <a:gdLst/>
            <a:ahLst/>
            <a:cxnLst/>
            <a:rect l="l" t="t" r="r" b="b"/>
            <a:pathLst>
              <a:path w="48525" h="921982">
                <a:moveTo>
                  <a:pt x="48525" y="0"/>
                </a:moveTo>
                <a:lnTo>
                  <a:pt x="48525" y="0"/>
                </a:lnTo>
                <a:lnTo>
                  <a:pt x="48525" y="921982"/>
                </a:lnTo>
                <a:lnTo>
                  <a:pt x="48525" y="921982"/>
                </a:lnTo>
                <a:cubicBezTo>
                  <a:pt x="21726" y="921982"/>
                  <a:pt x="0" y="900257"/>
                  <a:pt x="0" y="873457"/>
                </a:cubicBezTo>
                <a:lnTo>
                  <a:pt x="0" y="48525"/>
                </a:lnTo>
                <a:cubicBezTo>
                  <a:pt x="0" y="21726"/>
                  <a:pt x="21726" y="0"/>
                  <a:pt x="48525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70507" y="5677469"/>
            <a:ext cx="6745027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元数据操作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70507" y="6017146"/>
            <a:ext cx="6745027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由单一 Master 处理，存在性能瓶颈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76230" y="1552812"/>
            <a:ext cx="7497170" cy="5823045"/>
          </a:xfrm>
          <a:custGeom>
            <a:avLst/>
            <a:gdLst/>
            <a:ahLst/>
            <a:cxnLst/>
            <a:rect l="l" t="t" r="r" b="b"/>
            <a:pathLst>
              <a:path w="7497170" h="5823045">
                <a:moveTo>
                  <a:pt x="48525" y="0"/>
                </a:moveTo>
                <a:lnTo>
                  <a:pt x="7400100" y="0"/>
                </a:lnTo>
                <a:cubicBezTo>
                  <a:pt x="7453710" y="0"/>
                  <a:pt x="7497170" y="43460"/>
                  <a:pt x="7497170" y="97070"/>
                </a:cubicBezTo>
                <a:lnTo>
                  <a:pt x="7497170" y="5725975"/>
                </a:lnTo>
                <a:cubicBezTo>
                  <a:pt x="7497170" y="5779585"/>
                  <a:pt x="7453710" y="5823045"/>
                  <a:pt x="7400100" y="5823045"/>
                </a:cubicBezTo>
                <a:lnTo>
                  <a:pt x="48525" y="5823045"/>
                </a:lnTo>
                <a:cubicBezTo>
                  <a:pt x="21726" y="5823045"/>
                  <a:pt x="0" y="5801319"/>
                  <a:pt x="0" y="5774519"/>
                </a:cubicBezTo>
                <a:lnTo>
                  <a:pt x="0" y="48525"/>
                </a:lnTo>
                <a:cubicBezTo>
                  <a:pt x="0" y="21726"/>
                  <a:pt x="21726" y="0"/>
                  <a:pt x="48525" y="0"/>
                </a:cubicBezTo>
                <a:close/>
              </a:path>
            </a:pathLst>
          </a:custGeom>
          <a:solidFill>
            <a:srgbClr val="343A4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276230" y="1552812"/>
            <a:ext cx="48525" cy="5823045"/>
          </a:xfrm>
          <a:custGeom>
            <a:avLst/>
            <a:gdLst/>
            <a:ahLst/>
            <a:cxnLst/>
            <a:rect l="l" t="t" r="r" b="b"/>
            <a:pathLst>
              <a:path w="48525" h="5823045">
                <a:moveTo>
                  <a:pt x="48525" y="0"/>
                </a:moveTo>
                <a:lnTo>
                  <a:pt x="48525" y="0"/>
                </a:lnTo>
                <a:lnTo>
                  <a:pt x="48525" y="5823045"/>
                </a:lnTo>
                <a:lnTo>
                  <a:pt x="48525" y="5823045"/>
                </a:lnTo>
                <a:cubicBezTo>
                  <a:pt x="21726" y="5823045"/>
                  <a:pt x="0" y="5801319"/>
                  <a:pt x="0" y="5774519"/>
                </a:cubicBezTo>
                <a:lnTo>
                  <a:pt x="0" y="48525"/>
                </a:lnTo>
                <a:cubicBezTo>
                  <a:pt x="0" y="21726"/>
                  <a:pt x="21726" y="0"/>
                  <a:pt x="48525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546152" y="1856096"/>
            <a:ext cx="272955" cy="218364"/>
          </a:xfrm>
          <a:custGeom>
            <a:avLst/>
            <a:gdLst/>
            <a:ahLst/>
            <a:cxnLst/>
            <a:rect l="l" t="t" r="r" b="b"/>
            <a:pathLst>
              <a:path w="272955" h="218364">
                <a:moveTo>
                  <a:pt x="177378" y="89777"/>
                </a:moveTo>
                <a:cubicBezTo>
                  <a:pt x="182581" y="88369"/>
                  <a:pt x="188041" y="90843"/>
                  <a:pt x="190386" y="95662"/>
                </a:cubicBezTo>
                <a:lnTo>
                  <a:pt x="198319" y="111698"/>
                </a:lnTo>
                <a:cubicBezTo>
                  <a:pt x="202712" y="112295"/>
                  <a:pt x="207019" y="113490"/>
                  <a:pt x="211071" y="115153"/>
                </a:cubicBezTo>
                <a:lnTo>
                  <a:pt x="225998" y="105216"/>
                </a:lnTo>
                <a:cubicBezTo>
                  <a:pt x="230477" y="102230"/>
                  <a:pt x="236405" y="102827"/>
                  <a:pt x="240201" y="106623"/>
                </a:cubicBezTo>
                <a:lnTo>
                  <a:pt x="248389" y="114812"/>
                </a:lnTo>
                <a:cubicBezTo>
                  <a:pt x="252185" y="118608"/>
                  <a:pt x="252782" y="124578"/>
                  <a:pt x="249797" y="129014"/>
                </a:cubicBezTo>
                <a:lnTo>
                  <a:pt x="239859" y="143899"/>
                </a:lnTo>
                <a:cubicBezTo>
                  <a:pt x="240670" y="145903"/>
                  <a:pt x="241395" y="147993"/>
                  <a:pt x="241992" y="150168"/>
                </a:cubicBezTo>
                <a:cubicBezTo>
                  <a:pt x="242589" y="152343"/>
                  <a:pt x="242973" y="154476"/>
                  <a:pt x="243271" y="156651"/>
                </a:cubicBezTo>
                <a:lnTo>
                  <a:pt x="259350" y="164583"/>
                </a:lnTo>
                <a:cubicBezTo>
                  <a:pt x="264169" y="166972"/>
                  <a:pt x="266643" y="172431"/>
                  <a:pt x="265236" y="177591"/>
                </a:cubicBezTo>
                <a:lnTo>
                  <a:pt x="262250" y="188766"/>
                </a:lnTo>
                <a:cubicBezTo>
                  <a:pt x="260843" y="193926"/>
                  <a:pt x="256023" y="197423"/>
                  <a:pt x="250650" y="197082"/>
                </a:cubicBezTo>
                <a:lnTo>
                  <a:pt x="232737" y="195931"/>
                </a:lnTo>
                <a:cubicBezTo>
                  <a:pt x="230050" y="199385"/>
                  <a:pt x="226937" y="202584"/>
                  <a:pt x="223397" y="205314"/>
                </a:cubicBezTo>
                <a:lnTo>
                  <a:pt x="224548" y="223184"/>
                </a:lnTo>
                <a:cubicBezTo>
                  <a:pt x="224890" y="228557"/>
                  <a:pt x="221392" y="233419"/>
                  <a:pt x="216232" y="234784"/>
                </a:cubicBezTo>
                <a:lnTo>
                  <a:pt x="205058" y="237770"/>
                </a:lnTo>
                <a:cubicBezTo>
                  <a:pt x="199854" y="239177"/>
                  <a:pt x="194438" y="236703"/>
                  <a:pt x="192050" y="231884"/>
                </a:cubicBezTo>
                <a:lnTo>
                  <a:pt x="184117" y="215848"/>
                </a:lnTo>
                <a:cubicBezTo>
                  <a:pt x="179724" y="215251"/>
                  <a:pt x="175416" y="214057"/>
                  <a:pt x="171365" y="212393"/>
                </a:cubicBezTo>
                <a:lnTo>
                  <a:pt x="156437" y="222331"/>
                </a:lnTo>
                <a:cubicBezTo>
                  <a:pt x="151959" y="225316"/>
                  <a:pt x="146031" y="224719"/>
                  <a:pt x="142235" y="220923"/>
                </a:cubicBezTo>
                <a:lnTo>
                  <a:pt x="134047" y="212734"/>
                </a:lnTo>
                <a:cubicBezTo>
                  <a:pt x="130251" y="208939"/>
                  <a:pt x="129654" y="203010"/>
                  <a:pt x="132639" y="198532"/>
                </a:cubicBezTo>
                <a:lnTo>
                  <a:pt x="142576" y="183605"/>
                </a:lnTo>
                <a:cubicBezTo>
                  <a:pt x="141766" y="181601"/>
                  <a:pt x="141041" y="179511"/>
                  <a:pt x="140444" y="177336"/>
                </a:cubicBezTo>
                <a:cubicBezTo>
                  <a:pt x="139847" y="175160"/>
                  <a:pt x="139463" y="172985"/>
                  <a:pt x="139165" y="170853"/>
                </a:cubicBezTo>
                <a:lnTo>
                  <a:pt x="123086" y="162920"/>
                </a:lnTo>
                <a:cubicBezTo>
                  <a:pt x="118266" y="160532"/>
                  <a:pt x="115835" y="155073"/>
                  <a:pt x="117200" y="149912"/>
                </a:cubicBezTo>
                <a:lnTo>
                  <a:pt x="120186" y="138738"/>
                </a:lnTo>
                <a:cubicBezTo>
                  <a:pt x="121593" y="133577"/>
                  <a:pt x="126412" y="130080"/>
                  <a:pt x="131786" y="130421"/>
                </a:cubicBezTo>
                <a:lnTo>
                  <a:pt x="149656" y="131573"/>
                </a:lnTo>
                <a:cubicBezTo>
                  <a:pt x="152343" y="128118"/>
                  <a:pt x="155457" y="124920"/>
                  <a:pt x="158996" y="122190"/>
                </a:cubicBezTo>
                <a:lnTo>
                  <a:pt x="157845" y="104363"/>
                </a:lnTo>
                <a:cubicBezTo>
                  <a:pt x="157504" y="98989"/>
                  <a:pt x="161001" y="94127"/>
                  <a:pt x="166161" y="92762"/>
                </a:cubicBezTo>
                <a:lnTo>
                  <a:pt x="177336" y="89777"/>
                </a:lnTo>
                <a:close/>
                <a:moveTo>
                  <a:pt x="191239" y="145007"/>
                </a:moveTo>
                <a:cubicBezTo>
                  <a:pt x="180882" y="145019"/>
                  <a:pt x="172483" y="153437"/>
                  <a:pt x="172495" y="163794"/>
                </a:cubicBezTo>
                <a:cubicBezTo>
                  <a:pt x="172507" y="174152"/>
                  <a:pt x="180925" y="182551"/>
                  <a:pt x="191282" y="182539"/>
                </a:cubicBezTo>
                <a:cubicBezTo>
                  <a:pt x="201639" y="182527"/>
                  <a:pt x="210038" y="174109"/>
                  <a:pt x="210026" y="163752"/>
                </a:cubicBezTo>
                <a:cubicBezTo>
                  <a:pt x="210014" y="153395"/>
                  <a:pt x="201596" y="144996"/>
                  <a:pt x="191239" y="145007"/>
                </a:cubicBezTo>
                <a:close/>
                <a:moveTo>
                  <a:pt x="95918" y="-19405"/>
                </a:moveTo>
                <a:lnTo>
                  <a:pt x="107092" y="-16420"/>
                </a:lnTo>
                <a:cubicBezTo>
                  <a:pt x="112253" y="-15013"/>
                  <a:pt x="115750" y="-10151"/>
                  <a:pt x="115409" y="-4819"/>
                </a:cubicBezTo>
                <a:lnTo>
                  <a:pt x="114257" y="13008"/>
                </a:lnTo>
                <a:cubicBezTo>
                  <a:pt x="117797" y="15738"/>
                  <a:pt x="120911" y="18894"/>
                  <a:pt x="123598" y="22391"/>
                </a:cubicBezTo>
                <a:lnTo>
                  <a:pt x="141510" y="21239"/>
                </a:lnTo>
                <a:cubicBezTo>
                  <a:pt x="146841" y="20898"/>
                  <a:pt x="151703" y="24395"/>
                  <a:pt x="153111" y="29556"/>
                </a:cubicBezTo>
                <a:lnTo>
                  <a:pt x="156096" y="40730"/>
                </a:lnTo>
                <a:cubicBezTo>
                  <a:pt x="157461" y="45891"/>
                  <a:pt x="155030" y="51350"/>
                  <a:pt x="150211" y="53738"/>
                </a:cubicBezTo>
                <a:lnTo>
                  <a:pt x="134132" y="61671"/>
                </a:lnTo>
                <a:cubicBezTo>
                  <a:pt x="133833" y="63846"/>
                  <a:pt x="133407" y="66021"/>
                  <a:pt x="132852" y="68154"/>
                </a:cubicBezTo>
                <a:cubicBezTo>
                  <a:pt x="132298" y="70286"/>
                  <a:pt x="131530" y="72418"/>
                  <a:pt x="130720" y="74423"/>
                </a:cubicBezTo>
                <a:lnTo>
                  <a:pt x="140657" y="89350"/>
                </a:lnTo>
                <a:cubicBezTo>
                  <a:pt x="143643" y="93828"/>
                  <a:pt x="143046" y="99757"/>
                  <a:pt x="139250" y="103552"/>
                </a:cubicBezTo>
                <a:lnTo>
                  <a:pt x="131061" y="111741"/>
                </a:lnTo>
                <a:cubicBezTo>
                  <a:pt x="127265" y="115537"/>
                  <a:pt x="121337" y="116134"/>
                  <a:pt x="116859" y="113148"/>
                </a:cubicBezTo>
                <a:lnTo>
                  <a:pt x="101932" y="103211"/>
                </a:lnTo>
                <a:cubicBezTo>
                  <a:pt x="97880" y="104875"/>
                  <a:pt x="93572" y="106069"/>
                  <a:pt x="89180" y="106666"/>
                </a:cubicBezTo>
                <a:lnTo>
                  <a:pt x="81247" y="122702"/>
                </a:lnTo>
                <a:cubicBezTo>
                  <a:pt x="78858" y="127521"/>
                  <a:pt x="73399" y="129952"/>
                  <a:pt x="68239" y="128588"/>
                </a:cubicBezTo>
                <a:lnTo>
                  <a:pt x="57065" y="125602"/>
                </a:lnTo>
                <a:cubicBezTo>
                  <a:pt x="51861" y="124195"/>
                  <a:pt x="48407" y="119333"/>
                  <a:pt x="48748" y="114001"/>
                </a:cubicBezTo>
                <a:lnTo>
                  <a:pt x="49900" y="96131"/>
                </a:lnTo>
                <a:cubicBezTo>
                  <a:pt x="46360" y="93402"/>
                  <a:pt x="43246" y="90246"/>
                  <a:pt x="40559" y="86749"/>
                </a:cubicBezTo>
                <a:lnTo>
                  <a:pt x="22647" y="87900"/>
                </a:lnTo>
                <a:cubicBezTo>
                  <a:pt x="17316" y="88241"/>
                  <a:pt x="12454" y="84744"/>
                  <a:pt x="11046" y="79584"/>
                </a:cubicBezTo>
                <a:lnTo>
                  <a:pt x="8061" y="68409"/>
                </a:lnTo>
                <a:cubicBezTo>
                  <a:pt x="6696" y="63249"/>
                  <a:pt x="9127" y="57790"/>
                  <a:pt x="13946" y="55401"/>
                </a:cubicBezTo>
                <a:lnTo>
                  <a:pt x="30025" y="47469"/>
                </a:lnTo>
                <a:cubicBezTo>
                  <a:pt x="30324" y="45294"/>
                  <a:pt x="30750" y="43161"/>
                  <a:pt x="31305" y="40986"/>
                </a:cubicBezTo>
                <a:cubicBezTo>
                  <a:pt x="31902" y="38811"/>
                  <a:pt x="32584" y="36721"/>
                  <a:pt x="33437" y="34716"/>
                </a:cubicBezTo>
                <a:lnTo>
                  <a:pt x="23500" y="19832"/>
                </a:lnTo>
                <a:cubicBezTo>
                  <a:pt x="20514" y="15354"/>
                  <a:pt x="21111" y="9425"/>
                  <a:pt x="24907" y="5630"/>
                </a:cubicBezTo>
                <a:lnTo>
                  <a:pt x="33096" y="-2559"/>
                </a:lnTo>
                <a:cubicBezTo>
                  <a:pt x="36892" y="-6355"/>
                  <a:pt x="42820" y="-6952"/>
                  <a:pt x="47298" y="-3966"/>
                </a:cubicBezTo>
                <a:lnTo>
                  <a:pt x="62225" y="5971"/>
                </a:lnTo>
                <a:cubicBezTo>
                  <a:pt x="66277" y="4308"/>
                  <a:pt x="70585" y="3113"/>
                  <a:pt x="74977" y="2516"/>
                </a:cubicBezTo>
                <a:lnTo>
                  <a:pt x="82910" y="-13520"/>
                </a:lnTo>
                <a:cubicBezTo>
                  <a:pt x="85299" y="-18339"/>
                  <a:pt x="90715" y="-20770"/>
                  <a:pt x="95918" y="-19405"/>
                </a:cubicBezTo>
                <a:close/>
                <a:moveTo>
                  <a:pt x="82057" y="35825"/>
                </a:moveTo>
                <a:cubicBezTo>
                  <a:pt x="71700" y="35825"/>
                  <a:pt x="63291" y="44234"/>
                  <a:pt x="63291" y="54591"/>
                </a:cubicBezTo>
                <a:cubicBezTo>
                  <a:pt x="63291" y="64948"/>
                  <a:pt x="71700" y="73357"/>
                  <a:pt x="82057" y="73357"/>
                </a:cubicBezTo>
                <a:cubicBezTo>
                  <a:pt x="92414" y="73357"/>
                  <a:pt x="100823" y="64948"/>
                  <a:pt x="100823" y="54591"/>
                </a:cubicBezTo>
                <a:cubicBezTo>
                  <a:pt x="100823" y="44234"/>
                  <a:pt x="92414" y="35825"/>
                  <a:pt x="82057" y="35825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822140" y="1795439"/>
            <a:ext cx="6817815" cy="339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9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核心优化策略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567382" y="2329218"/>
            <a:ext cx="6963391" cy="1504287"/>
          </a:xfrm>
          <a:custGeom>
            <a:avLst/>
            <a:gdLst/>
            <a:ahLst/>
            <a:cxnLst/>
            <a:rect l="l" t="t" r="r" b="b"/>
            <a:pathLst>
              <a:path w="6963391" h="1504287">
                <a:moveTo>
                  <a:pt x="48525" y="0"/>
                </a:moveTo>
                <a:lnTo>
                  <a:pt x="6914863" y="0"/>
                </a:lnTo>
                <a:cubicBezTo>
                  <a:pt x="6941664" y="0"/>
                  <a:pt x="6963391" y="21727"/>
                  <a:pt x="6963391" y="48528"/>
                </a:cubicBezTo>
                <a:lnTo>
                  <a:pt x="6963391" y="1455758"/>
                </a:lnTo>
                <a:cubicBezTo>
                  <a:pt x="6963391" y="1482560"/>
                  <a:pt x="6941664" y="1504287"/>
                  <a:pt x="6914863" y="1504287"/>
                </a:cubicBezTo>
                <a:lnTo>
                  <a:pt x="48525" y="1504287"/>
                </a:lnTo>
                <a:cubicBezTo>
                  <a:pt x="21726" y="1504287"/>
                  <a:pt x="0" y="1482561"/>
                  <a:pt x="0" y="1455761"/>
                </a:cubicBezTo>
                <a:lnTo>
                  <a:pt x="0" y="48525"/>
                </a:lnTo>
                <a:cubicBezTo>
                  <a:pt x="0" y="21743"/>
                  <a:pt x="21743" y="0"/>
                  <a:pt x="48525" y="0"/>
                </a:cubicBezTo>
                <a:close/>
              </a:path>
            </a:pathLst>
          </a:custGeom>
          <a:solidFill>
            <a:srgbClr val="D4A237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567382" y="2329218"/>
            <a:ext cx="48525" cy="1504287"/>
          </a:xfrm>
          <a:custGeom>
            <a:avLst/>
            <a:gdLst/>
            <a:ahLst/>
            <a:cxnLst/>
            <a:rect l="l" t="t" r="r" b="b"/>
            <a:pathLst>
              <a:path w="48525" h="1504287">
                <a:moveTo>
                  <a:pt x="48525" y="0"/>
                </a:moveTo>
                <a:lnTo>
                  <a:pt x="48525" y="0"/>
                </a:lnTo>
                <a:lnTo>
                  <a:pt x="48525" y="1504287"/>
                </a:lnTo>
                <a:lnTo>
                  <a:pt x="48525" y="1504287"/>
                </a:lnTo>
                <a:cubicBezTo>
                  <a:pt x="21726" y="1504287"/>
                  <a:pt x="0" y="1482561"/>
                  <a:pt x="0" y="1455761"/>
                </a:cubicBezTo>
                <a:lnTo>
                  <a:pt x="0" y="48525"/>
                </a:lnTo>
                <a:cubicBezTo>
                  <a:pt x="0" y="21726"/>
                  <a:pt x="21726" y="0"/>
                  <a:pt x="48525" y="0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737221" y="2474794"/>
            <a:ext cx="6745027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读取优化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737221" y="2862997"/>
            <a:ext cx="6732896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37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元数据缓存</a:t>
            </a:r>
            <a:r>
              <a:rPr lang="en-US" sz="133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减少与 Master 的交互次数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737221" y="3154149"/>
            <a:ext cx="6732896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37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智能副本选择</a:t>
            </a:r>
            <a:r>
              <a:rPr lang="en-US" sz="133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优先选择网络距离近、负载低的副本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737221" y="3445301"/>
            <a:ext cx="6732896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37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预读机制</a:t>
            </a:r>
            <a:r>
              <a:rPr lang="en-US" sz="133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提前读取可能需要的数据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567382" y="3979081"/>
            <a:ext cx="6963391" cy="1504287"/>
          </a:xfrm>
          <a:custGeom>
            <a:avLst/>
            <a:gdLst/>
            <a:ahLst/>
            <a:cxnLst/>
            <a:rect l="l" t="t" r="r" b="b"/>
            <a:pathLst>
              <a:path w="6963391" h="1504287">
                <a:moveTo>
                  <a:pt x="48525" y="0"/>
                </a:moveTo>
                <a:lnTo>
                  <a:pt x="6914863" y="0"/>
                </a:lnTo>
                <a:cubicBezTo>
                  <a:pt x="6941664" y="0"/>
                  <a:pt x="6963391" y="21727"/>
                  <a:pt x="6963391" y="48528"/>
                </a:cubicBezTo>
                <a:lnTo>
                  <a:pt x="6963391" y="1455758"/>
                </a:lnTo>
                <a:cubicBezTo>
                  <a:pt x="6963391" y="1482560"/>
                  <a:pt x="6941664" y="1504287"/>
                  <a:pt x="6914863" y="1504287"/>
                </a:cubicBezTo>
                <a:lnTo>
                  <a:pt x="48525" y="1504287"/>
                </a:lnTo>
                <a:cubicBezTo>
                  <a:pt x="21726" y="1504287"/>
                  <a:pt x="0" y="1482561"/>
                  <a:pt x="0" y="1455761"/>
                </a:cubicBezTo>
                <a:lnTo>
                  <a:pt x="0" y="48525"/>
                </a:lnTo>
                <a:cubicBezTo>
                  <a:pt x="0" y="21743"/>
                  <a:pt x="21743" y="0"/>
                  <a:pt x="48525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567382" y="3979081"/>
            <a:ext cx="48525" cy="1504287"/>
          </a:xfrm>
          <a:custGeom>
            <a:avLst/>
            <a:gdLst/>
            <a:ahLst/>
            <a:cxnLst/>
            <a:rect l="l" t="t" r="r" b="b"/>
            <a:pathLst>
              <a:path w="48525" h="1504287">
                <a:moveTo>
                  <a:pt x="48525" y="0"/>
                </a:moveTo>
                <a:lnTo>
                  <a:pt x="48525" y="0"/>
                </a:lnTo>
                <a:lnTo>
                  <a:pt x="48525" y="1504287"/>
                </a:lnTo>
                <a:lnTo>
                  <a:pt x="48525" y="1504287"/>
                </a:lnTo>
                <a:cubicBezTo>
                  <a:pt x="21726" y="1504287"/>
                  <a:pt x="0" y="1482561"/>
                  <a:pt x="0" y="1455761"/>
                </a:cubicBezTo>
                <a:lnTo>
                  <a:pt x="0" y="48525"/>
                </a:lnTo>
                <a:cubicBezTo>
                  <a:pt x="0" y="21726"/>
                  <a:pt x="21726" y="0"/>
                  <a:pt x="48525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737221" y="4124657"/>
            <a:ext cx="6745027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写入优化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737221" y="4512860"/>
            <a:ext cx="6732896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37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数据流与控制流分离</a:t>
            </a:r>
            <a:r>
              <a:rPr lang="en-US" sz="133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提高网络利用率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737221" y="4804012"/>
            <a:ext cx="6732896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37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链式数据推送</a:t>
            </a:r>
            <a:r>
              <a:rPr lang="en-US" sz="133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减少网络传输时间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737221" y="5095164"/>
            <a:ext cx="6732896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37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租约机制</a:t>
            </a:r>
            <a:r>
              <a:rPr lang="en-US" sz="133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减少协调开销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567382" y="5628943"/>
            <a:ext cx="6963391" cy="1504287"/>
          </a:xfrm>
          <a:custGeom>
            <a:avLst/>
            <a:gdLst/>
            <a:ahLst/>
            <a:cxnLst/>
            <a:rect l="l" t="t" r="r" b="b"/>
            <a:pathLst>
              <a:path w="6963391" h="1504287">
                <a:moveTo>
                  <a:pt x="48525" y="0"/>
                </a:moveTo>
                <a:lnTo>
                  <a:pt x="6914863" y="0"/>
                </a:lnTo>
                <a:cubicBezTo>
                  <a:pt x="6941664" y="0"/>
                  <a:pt x="6963391" y="21727"/>
                  <a:pt x="6963391" y="48528"/>
                </a:cubicBezTo>
                <a:lnTo>
                  <a:pt x="6963391" y="1455758"/>
                </a:lnTo>
                <a:cubicBezTo>
                  <a:pt x="6963391" y="1482560"/>
                  <a:pt x="6941664" y="1504287"/>
                  <a:pt x="6914863" y="1504287"/>
                </a:cubicBezTo>
                <a:lnTo>
                  <a:pt x="48525" y="1504287"/>
                </a:lnTo>
                <a:cubicBezTo>
                  <a:pt x="21726" y="1504287"/>
                  <a:pt x="0" y="1482561"/>
                  <a:pt x="0" y="1455761"/>
                </a:cubicBezTo>
                <a:lnTo>
                  <a:pt x="0" y="48525"/>
                </a:lnTo>
                <a:cubicBezTo>
                  <a:pt x="0" y="21743"/>
                  <a:pt x="21743" y="0"/>
                  <a:pt x="48525" y="0"/>
                </a:cubicBezTo>
                <a:close/>
              </a:path>
            </a:pathLst>
          </a:custGeom>
          <a:solidFill>
            <a:srgbClr val="495057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8567382" y="5628943"/>
            <a:ext cx="48525" cy="1504287"/>
          </a:xfrm>
          <a:custGeom>
            <a:avLst/>
            <a:gdLst/>
            <a:ahLst/>
            <a:cxnLst/>
            <a:rect l="l" t="t" r="r" b="b"/>
            <a:pathLst>
              <a:path w="48525" h="1504287">
                <a:moveTo>
                  <a:pt x="48525" y="0"/>
                </a:moveTo>
                <a:lnTo>
                  <a:pt x="48525" y="0"/>
                </a:lnTo>
                <a:lnTo>
                  <a:pt x="48525" y="1504287"/>
                </a:lnTo>
                <a:lnTo>
                  <a:pt x="48525" y="1504287"/>
                </a:lnTo>
                <a:cubicBezTo>
                  <a:pt x="21726" y="1504287"/>
                  <a:pt x="0" y="1482561"/>
                  <a:pt x="0" y="1455761"/>
                </a:cubicBezTo>
                <a:lnTo>
                  <a:pt x="0" y="48525"/>
                </a:lnTo>
                <a:cubicBezTo>
                  <a:pt x="0" y="21726"/>
                  <a:pt x="21726" y="0"/>
                  <a:pt x="48525" y="0"/>
                </a:cubicBezTo>
                <a:close/>
              </a:path>
            </a:pathLst>
          </a:custGeom>
          <a:solidFill>
            <a:srgbClr val="49505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737221" y="5774519"/>
            <a:ext cx="6745027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追加优化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737221" y="6162722"/>
            <a:ext cx="6732896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37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原子追加</a:t>
            </a:r>
            <a:r>
              <a:rPr lang="en-US" sz="133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简化并发控制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737221" y="6453875"/>
            <a:ext cx="6732896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37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批量处理</a:t>
            </a:r>
            <a:r>
              <a:rPr lang="en-US" sz="133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提高操作效率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737221" y="6745027"/>
            <a:ext cx="6732896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37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重复检测</a:t>
            </a:r>
            <a:r>
              <a:rPr lang="en-US" sz="1337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- 保证操作幂等性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91319" y="7490297"/>
            <a:ext cx="15273361" cy="1564943"/>
          </a:xfrm>
          <a:custGeom>
            <a:avLst/>
            <a:gdLst/>
            <a:ahLst/>
            <a:cxnLst/>
            <a:rect l="l" t="t" r="r" b="b"/>
            <a:pathLst>
              <a:path w="15273361" h="1564943">
                <a:moveTo>
                  <a:pt x="97058" y="0"/>
                </a:moveTo>
                <a:lnTo>
                  <a:pt x="15176303" y="0"/>
                </a:lnTo>
                <a:cubicBezTo>
                  <a:pt x="15229907" y="0"/>
                  <a:pt x="15273361" y="43454"/>
                  <a:pt x="15273361" y="97058"/>
                </a:cubicBezTo>
                <a:lnTo>
                  <a:pt x="15273361" y="1467886"/>
                </a:lnTo>
                <a:cubicBezTo>
                  <a:pt x="15273361" y="1521489"/>
                  <a:pt x="15229907" y="1564943"/>
                  <a:pt x="15176303" y="1564943"/>
                </a:cubicBezTo>
                <a:lnTo>
                  <a:pt x="97058" y="1564943"/>
                </a:lnTo>
                <a:cubicBezTo>
                  <a:pt x="43454" y="1564943"/>
                  <a:pt x="0" y="1521489"/>
                  <a:pt x="0" y="1467886"/>
                </a:cubicBezTo>
                <a:lnTo>
                  <a:pt x="0" y="97058"/>
                </a:lnTo>
                <a:cubicBezTo>
                  <a:pt x="0" y="43454"/>
                  <a:pt x="43454" y="0"/>
                  <a:pt x="97058" y="0"/>
                </a:cubicBezTo>
                <a:close/>
              </a:path>
            </a:pathLst>
          </a:custGeom>
          <a:solidFill>
            <a:srgbClr val="343A40"/>
          </a:solidFill>
          <a:ln w="12700">
            <a:solidFill>
              <a:srgbClr val="495057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812800" y="8054404"/>
            <a:ext cx="327546" cy="436728"/>
          </a:xfrm>
          <a:custGeom>
            <a:avLst/>
            <a:gdLst/>
            <a:ahLst/>
            <a:cxnLst/>
            <a:rect l="l" t="t" r="r" b="b"/>
            <a:pathLst>
              <a:path w="327546" h="436728">
                <a:moveTo>
                  <a:pt x="249839" y="327546"/>
                </a:moveTo>
                <a:cubicBezTo>
                  <a:pt x="256066" y="308525"/>
                  <a:pt x="268520" y="291294"/>
                  <a:pt x="282594" y="276452"/>
                </a:cubicBezTo>
                <a:cubicBezTo>
                  <a:pt x="310487" y="247110"/>
                  <a:pt x="327546" y="207446"/>
                  <a:pt x="327546" y="163773"/>
                </a:cubicBezTo>
                <a:cubicBezTo>
                  <a:pt x="327546" y="73357"/>
                  <a:pt x="254190" y="0"/>
                  <a:pt x="163773" y="0"/>
                </a:cubicBezTo>
                <a:cubicBezTo>
                  <a:pt x="73357" y="0"/>
                  <a:pt x="0" y="73357"/>
                  <a:pt x="0" y="163773"/>
                </a:cubicBezTo>
                <a:cubicBezTo>
                  <a:pt x="0" y="207446"/>
                  <a:pt x="17060" y="247110"/>
                  <a:pt x="44952" y="276452"/>
                </a:cubicBezTo>
                <a:cubicBezTo>
                  <a:pt x="59027" y="291294"/>
                  <a:pt x="71565" y="308525"/>
                  <a:pt x="77707" y="327546"/>
                </a:cubicBezTo>
                <a:lnTo>
                  <a:pt x="249754" y="327546"/>
                </a:lnTo>
                <a:close/>
                <a:moveTo>
                  <a:pt x="245660" y="368490"/>
                </a:moveTo>
                <a:lnTo>
                  <a:pt x="81887" y="368490"/>
                </a:lnTo>
                <a:lnTo>
                  <a:pt x="81887" y="382137"/>
                </a:lnTo>
                <a:cubicBezTo>
                  <a:pt x="81887" y="419839"/>
                  <a:pt x="112423" y="450376"/>
                  <a:pt x="150125" y="450376"/>
                </a:cubicBezTo>
                <a:lnTo>
                  <a:pt x="177421" y="450376"/>
                </a:lnTo>
                <a:cubicBezTo>
                  <a:pt x="215123" y="450376"/>
                  <a:pt x="245660" y="419839"/>
                  <a:pt x="245660" y="382137"/>
                </a:cubicBezTo>
                <a:lnTo>
                  <a:pt x="245660" y="368490"/>
                </a:lnTo>
                <a:close/>
                <a:moveTo>
                  <a:pt x="156949" y="95534"/>
                </a:moveTo>
                <a:cubicBezTo>
                  <a:pt x="123000" y="95534"/>
                  <a:pt x="95534" y="123000"/>
                  <a:pt x="95534" y="156949"/>
                </a:cubicBezTo>
                <a:cubicBezTo>
                  <a:pt x="95534" y="168294"/>
                  <a:pt x="86407" y="177421"/>
                  <a:pt x="75063" y="177421"/>
                </a:cubicBezTo>
                <a:cubicBezTo>
                  <a:pt x="63718" y="177421"/>
                  <a:pt x="54591" y="168294"/>
                  <a:pt x="54591" y="156949"/>
                </a:cubicBezTo>
                <a:cubicBezTo>
                  <a:pt x="54591" y="100396"/>
                  <a:pt x="100396" y="54591"/>
                  <a:pt x="156949" y="54591"/>
                </a:cubicBezTo>
                <a:cubicBezTo>
                  <a:pt x="168294" y="54591"/>
                  <a:pt x="177421" y="63718"/>
                  <a:pt x="177421" y="75063"/>
                </a:cubicBezTo>
                <a:cubicBezTo>
                  <a:pt x="177421" y="86407"/>
                  <a:pt x="168294" y="95534"/>
                  <a:pt x="156949" y="95534"/>
                </a:cubicBezTo>
                <a:close/>
              </a:path>
            </a:pathLst>
          </a:custGeom>
          <a:solidFill>
            <a:srgbClr val="D4A23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413017" y="7738989"/>
            <a:ext cx="14230066" cy="339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10" b="1" dirty="0">
                <a:solidFill>
                  <a:srgbClr val="F8F9F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核心设计哲学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413017" y="8175718"/>
            <a:ext cx="14205803" cy="630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28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GFS 通过</a:t>
            </a:r>
            <a:r>
              <a:rPr lang="en-US" sz="1528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针对特定场景的优化</a:t>
            </a:r>
            <a:r>
              <a:rPr lang="en-US" sz="1528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，在</a:t>
            </a:r>
            <a:r>
              <a:rPr lang="en-US" sz="1528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简单性</a:t>
            </a:r>
            <a:r>
              <a:rPr lang="en-US" sz="1528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528" b="1" dirty="0">
                <a:solidFill>
                  <a:srgbClr val="D4A2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</a:t>
            </a:r>
            <a:r>
              <a:rPr lang="en-US" sz="1528" dirty="0">
                <a:solidFill>
                  <a:srgbClr val="F8F9F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之间做出了明智的权衡。虽然存在单 Master 瓶颈等限制，但其设计思想影响了整个分布式存储领域，为后续系统（如 HDFS）奠定了基础。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2219</Words>
  <Application>Microsoft Macintosh PowerPoint</Application>
  <PresentationFormat>自定义</PresentationFormat>
  <Paragraphs>941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6" baseType="lpstr">
      <vt:lpstr>微软雅黑</vt:lpstr>
      <vt:lpstr>Liter</vt:lpstr>
      <vt:lpstr>Noto Sans SC</vt:lpstr>
      <vt:lpstr>MiSans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File System (GFS) - 大规模分布式存储系统的设计与实现</dc:title>
  <dc:subject>Google File System (GFS) - 大规模分布式存储系统的设计与实现</dc:subject>
  <dc:creator>Kimi</dc:creator>
  <cp:lastModifiedBy>王 天青</cp:lastModifiedBy>
  <cp:revision>4</cp:revision>
  <dcterms:created xsi:type="dcterms:W3CDTF">2025-12-20T06:53:38Z</dcterms:created>
  <dcterms:modified xsi:type="dcterms:W3CDTF">2025-12-20T06:59:12Z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{"Label":"Google File System (GFS) - 大规模分布式存储系统的设计与实现","ContentProducer":"001191110108MACG2KBH8F10000","ProduceID":"19b3a7ef-d242-8219-8000-0000f2d1926b","ReservedCode1":"","ContentPropagator":"001191110108MACG2KBH8F20000","PropagateID":"19b3a7ef-d242-8219-8000-0000f2d1926b","ReservedCode2":""}</vt:lpwstr>
  </property>
</Properties>
</file>