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6256000" cy="9144000"/>
  <p:notesSz cx="9144000" cy="16256000"/>
  <p:embeddedFontLst>
    <p:embeddedFont>
      <p:font typeface="MiSans" pitchFamily="2" charset="-122"/>
      <p:regular r:id="rId33"/>
    </p:embeddedFont>
    <p:embeddedFont>
      <p:font typeface="Noto Sans SC" panose="020B0200000000000000" pitchFamily="34" charset="-128"/>
      <p:regular r:id="rId3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48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007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4350" y="1716088"/>
            <a:ext cx="4724400" cy="571500"/>
          </a:xfrm>
          <a:custGeom>
            <a:avLst/>
            <a:gdLst/>
            <a:ahLst/>
            <a:cxnLst/>
            <a:rect l="l" t="t" r="r" b="b"/>
            <a:pathLst>
              <a:path w="4724400" h="571500">
                <a:moveTo>
                  <a:pt x="101601" y="0"/>
                </a:moveTo>
                <a:lnTo>
                  <a:pt x="4622799" y="0"/>
                </a:lnTo>
                <a:cubicBezTo>
                  <a:pt x="4678912" y="0"/>
                  <a:pt x="4724400" y="45488"/>
                  <a:pt x="4724400" y="101601"/>
                </a:cubicBezTo>
                <a:lnTo>
                  <a:pt x="4724400" y="469899"/>
                </a:lnTo>
                <a:cubicBezTo>
                  <a:pt x="4724400" y="526012"/>
                  <a:pt x="4678912" y="571500"/>
                  <a:pt x="4622799" y="571500"/>
                </a:cubicBezTo>
                <a:lnTo>
                  <a:pt x="101601" y="571500"/>
                </a:lnTo>
                <a:cubicBezTo>
                  <a:pt x="45488" y="571500"/>
                  <a:pt x="0" y="526012"/>
                  <a:pt x="0" y="4698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23900" y="1849438"/>
            <a:ext cx="442098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kern="0" spc="9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HADOOP DISTRIBUTED FILE SYSTEM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598738"/>
            <a:ext cx="1569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HDFS 分布式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文件系统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5189538"/>
            <a:ext cx="154305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30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原理、架构与实现深度解析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33400" y="6418263"/>
            <a:ext cx="50800" cy="1016000"/>
          </a:xfrm>
          <a:custGeom>
            <a:avLst/>
            <a:gdLst/>
            <a:ahLst/>
            <a:cxnLst/>
            <a:rect l="l" t="t" r="r" b="b"/>
            <a:pathLst>
              <a:path w="50800" h="1016000">
                <a:moveTo>
                  <a:pt x="0" y="0"/>
                </a:moveTo>
                <a:lnTo>
                  <a:pt x="50800" y="0"/>
                </a:lnTo>
                <a:lnTo>
                  <a:pt x="508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863600" y="6418263"/>
            <a:ext cx="1778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2006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3600" y="7129463"/>
            <a:ext cx="157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项目启动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972098" y="6418263"/>
            <a:ext cx="50800" cy="1016000"/>
          </a:xfrm>
          <a:custGeom>
            <a:avLst/>
            <a:gdLst/>
            <a:ahLst/>
            <a:cxnLst/>
            <a:rect l="l" t="t" r="r" b="b"/>
            <a:pathLst>
              <a:path w="50800" h="1016000">
                <a:moveTo>
                  <a:pt x="0" y="0"/>
                </a:moveTo>
                <a:lnTo>
                  <a:pt x="50800" y="0"/>
                </a:lnTo>
                <a:lnTo>
                  <a:pt x="508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3302298" y="6418263"/>
            <a:ext cx="16891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PB级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02298" y="7129463"/>
            <a:ext cx="148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数据存储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326658" y="6418263"/>
            <a:ext cx="50800" cy="1016000"/>
          </a:xfrm>
          <a:custGeom>
            <a:avLst/>
            <a:gdLst/>
            <a:ahLst/>
            <a:cxnLst/>
            <a:rect l="l" t="t" r="r" b="b"/>
            <a:pathLst>
              <a:path w="50800" h="1016000">
                <a:moveTo>
                  <a:pt x="0" y="0"/>
                </a:moveTo>
                <a:lnTo>
                  <a:pt x="50800" y="0"/>
                </a:lnTo>
                <a:lnTo>
                  <a:pt x="508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5656858" y="6418263"/>
            <a:ext cx="2057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99.9%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656858" y="7129463"/>
            <a:ext cx="185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高可用性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112395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目录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8000" y="188595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A6C8C"/>
              </a:gs>
              <a:gs pos="100000">
                <a:srgbClr val="5E8B7E"/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14350" y="2349500"/>
            <a:ext cx="7454900" cy="1930400"/>
          </a:xfrm>
          <a:custGeom>
            <a:avLst/>
            <a:gdLst/>
            <a:ahLst/>
            <a:cxnLst/>
            <a:rect l="l" t="t" r="r" b="b"/>
            <a:pathLst>
              <a:path w="7454900" h="1930400">
                <a:moveTo>
                  <a:pt x="101597" y="0"/>
                </a:moveTo>
                <a:lnTo>
                  <a:pt x="7353303" y="0"/>
                </a:lnTo>
                <a:cubicBezTo>
                  <a:pt x="7409413" y="0"/>
                  <a:pt x="7454900" y="45487"/>
                  <a:pt x="7454900" y="101597"/>
                </a:cubicBezTo>
                <a:lnTo>
                  <a:pt x="7454900" y="1828803"/>
                </a:lnTo>
                <a:cubicBezTo>
                  <a:pt x="7454900" y="1884913"/>
                  <a:pt x="7409413" y="1930400"/>
                  <a:pt x="73533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25500" y="26606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62000" y="2660650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38300" y="2660650"/>
            <a:ext cx="6172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的起源与发展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38300" y="3219450"/>
            <a:ext cx="61341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 GFS 论文到 Hadoop 项目的开源之路，探索 HDFS 的技术演进历程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86750" y="2349500"/>
            <a:ext cx="7454900" cy="1930400"/>
          </a:xfrm>
          <a:custGeom>
            <a:avLst/>
            <a:gdLst/>
            <a:ahLst/>
            <a:cxnLst/>
            <a:rect l="l" t="t" r="r" b="b"/>
            <a:pathLst>
              <a:path w="7454900" h="1930400">
                <a:moveTo>
                  <a:pt x="101597" y="0"/>
                </a:moveTo>
                <a:lnTo>
                  <a:pt x="7353303" y="0"/>
                </a:lnTo>
                <a:cubicBezTo>
                  <a:pt x="7409413" y="0"/>
                  <a:pt x="7454900" y="45487"/>
                  <a:pt x="7454900" y="101597"/>
                </a:cubicBezTo>
                <a:lnTo>
                  <a:pt x="7454900" y="1828803"/>
                </a:lnTo>
                <a:cubicBezTo>
                  <a:pt x="7454900" y="1884913"/>
                  <a:pt x="7409413" y="1930400"/>
                  <a:pt x="7353303" y="1930400"/>
                </a:cubicBezTo>
                <a:lnTo>
                  <a:pt x="101597" y="1930400"/>
                </a:lnTo>
                <a:cubicBezTo>
                  <a:pt x="45487" y="1930400"/>
                  <a:pt x="0" y="1884913"/>
                  <a:pt x="0" y="18288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597900" y="26606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534400" y="2660650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10700" y="2660650"/>
            <a:ext cx="6172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系统架构与核心组件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410700" y="3219450"/>
            <a:ext cx="6134100" cy="74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Master-Slave 架构设计，NameNode 与 DataNode 的职责分工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4350" y="4591050"/>
            <a:ext cx="7454900" cy="1549400"/>
          </a:xfrm>
          <a:custGeom>
            <a:avLst/>
            <a:gdLst/>
            <a:ahLst/>
            <a:cxnLst/>
            <a:rect l="l" t="t" r="r" b="b"/>
            <a:pathLst>
              <a:path w="7454900" h="1549400">
                <a:moveTo>
                  <a:pt x="101594" y="0"/>
                </a:moveTo>
                <a:lnTo>
                  <a:pt x="7353306" y="0"/>
                </a:lnTo>
                <a:cubicBezTo>
                  <a:pt x="7409415" y="0"/>
                  <a:pt x="7454900" y="45485"/>
                  <a:pt x="7454900" y="101594"/>
                </a:cubicBezTo>
                <a:lnTo>
                  <a:pt x="7454900" y="1447806"/>
                </a:lnTo>
                <a:cubicBezTo>
                  <a:pt x="7454900" y="1503915"/>
                  <a:pt x="7409415" y="1549400"/>
                  <a:pt x="7353306" y="1549400"/>
                </a:cubicBezTo>
                <a:lnTo>
                  <a:pt x="101594" y="1549400"/>
                </a:lnTo>
                <a:cubicBezTo>
                  <a:pt x="45485" y="1549400"/>
                  <a:pt x="0" y="1503915"/>
                  <a:pt x="0" y="1447806"/>
                </a:cubicBezTo>
                <a:lnTo>
                  <a:pt x="0" y="101594"/>
                </a:lnTo>
                <a:cubicBezTo>
                  <a:pt x="0" y="45485"/>
                  <a:pt x="45485" y="0"/>
                  <a:pt x="10159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25500" y="4902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62000" y="4902200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38300" y="4902200"/>
            <a:ext cx="4673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数据存储与副本机制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38300" y="5461000"/>
            <a:ext cx="4635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管理、副本放置策略与数据一致性保证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86750" y="4591050"/>
            <a:ext cx="7454900" cy="1549400"/>
          </a:xfrm>
          <a:custGeom>
            <a:avLst/>
            <a:gdLst/>
            <a:ahLst/>
            <a:cxnLst/>
            <a:rect l="l" t="t" r="r" b="b"/>
            <a:pathLst>
              <a:path w="7454900" h="1549400">
                <a:moveTo>
                  <a:pt x="101594" y="0"/>
                </a:moveTo>
                <a:lnTo>
                  <a:pt x="7353306" y="0"/>
                </a:lnTo>
                <a:cubicBezTo>
                  <a:pt x="7409415" y="0"/>
                  <a:pt x="7454900" y="45485"/>
                  <a:pt x="7454900" y="101594"/>
                </a:cubicBezTo>
                <a:lnTo>
                  <a:pt x="7454900" y="1447806"/>
                </a:lnTo>
                <a:cubicBezTo>
                  <a:pt x="7454900" y="1503915"/>
                  <a:pt x="7409415" y="1549400"/>
                  <a:pt x="7353306" y="1549400"/>
                </a:cubicBezTo>
                <a:lnTo>
                  <a:pt x="101594" y="1549400"/>
                </a:lnTo>
                <a:cubicBezTo>
                  <a:pt x="45485" y="1549400"/>
                  <a:pt x="0" y="1503915"/>
                  <a:pt x="0" y="1447806"/>
                </a:cubicBezTo>
                <a:lnTo>
                  <a:pt x="0" y="101594"/>
                </a:lnTo>
                <a:cubicBezTo>
                  <a:pt x="0" y="45485"/>
                  <a:pt x="45485" y="0"/>
                  <a:pt x="101594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597900" y="4902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534400" y="4902200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410700" y="4902200"/>
            <a:ext cx="546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读取流程详解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10700" y="5461000"/>
            <a:ext cx="54229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从客户端到 DataNode 的数据获取全过程与性能优化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4350" y="6461125"/>
            <a:ext cx="7454900" cy="1549400"/>
          </a:xfrm>
          <a:custGeom>
            <a:avLst/>
            <a:gdLst/>
            <a:ahLst/>
            <a:cxnLst/>
            <a:rect l="l" t="t" r="r" b="b"/>
            <a:pathLst>
              <a:path w="7454900" h="1549400">
                <a:moveTo>
                  <a:pt x="101594" y="0"/>
                </a:moveTo>
                <a:lnTo>
                  <a:pt x="7353306" y="0"/>
                </a:lnTo>
                <a:cubicBezTo>
                  <a:pt x="7409415" y="0"/>
                  <a:pt x="7454900" y="45485"/>
                  <a:pt x="7454900" y="101594"/>
                </a:cubicBezTo>
                <a:lnTo>
                  <a:pt x="7454900" y="1447806"/>
                </a:lnTo>
                <a:cubicBezTo>
                  <a:pt x="7454900" y="1503915"/>
                  <a:pt x="7409415" y="1549400"/>
                  <a:pt x="7353306" y="1549400"/>
                </a:cubicBezTo>
                <a:lnTo>
                  <a:pt x="101594" y="1549400"/>
                </a:lnTo>
                <a:cubicBezTo>
                  <a:pt x="45485" y="1549400"/>
                  <a:pt x="0" y="1503915"/>
                  <a:pt x="0" y="1447806"/>
                </a:cubicBezTo>
                <a:lnTo>
                  <a:pt x="0" y="101594"/>
                </a:lnTo>
                <a:cubicBezTo>
                  <a:pt x="0" y="45485"/>
                  <a:pt x="45485" y="0"/>
                  <a:pt x="10159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 w="12700">
            <a:solidFill>
              <a:srgbClr val="4A6C8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25500" y="67722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62000" y="6772275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638300" y="6772275"/>
            <a:ext cx="4038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写入流程详解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38300" y="7331075"/>
            <a:ext cx="40005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管道写入、副本同步与一致性保证机制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86750" y="6461125"/>
            <a:ext cx="7454900" cy="1549400"/>
          </a:xfrm>
          <a:custGeom>
            <a:avLst/>
            <a:gdLst/>
            <a:ahLst/>
            <a:cxnLst/>
            <a:rect l="l" t="t" r="r" b="b"/>
            <a:pathLst>
              <a:path w="7454900" h="1549400">
                <a:moveTo>
                  <a:pt x="101594" y="0"/>
                </a:moveTo>
                <a:lnTo>
                  <a:pt x="7353306" y="0"/>
                </a:lnTo>
                <a:cubicBezTo>
                  <a:pt x="7409415" y="0"/>
                  <a:pt x="7454900" y="45485"/>
                  <a:pt x="7454900" y="101594"/>
                </a:cubicBezTo>
                <a:lnTo>
                  <a:pt x="7454900" y="1447806"/>
                </a:lnTo>
                <a:cubicBezTo>
                  <a:pt x="7454900" y="1503915"/>
                  <a:pt x="7409415" y="1549400"/>
                  <a:pt x="7353306" y="1549400"/>
                </a:cubicBezTo>
                <a:lnTo>
                  <a:pt x="101594" y="1549400"/>
                </a:lnTo>
                <a:cubicBezTo>
                  <a:pt x="45485" y="1549400"/>
                  <a:pt x="0" y="1503915"/>
                  <a:pt x="0" y="1447806"/>
                </a:cubicBezTo>
                <a:lnTo>
                  <a:pt x="0" y="101594"/>
                </a:lnTo>
                <a:cubicBezTo>
                  <a:pt x="0" y="45485"/>
                  <a:pt x="45485" y="0"/>
                  <a:pt x="101594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597900" y="67722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534400" y="6772275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410700" y="6772275"/>
            <a:ext cx="4089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性能优化与最佳实践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410700" y="7331075"/>
            <a:ext cx="40513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提升 HDFS 性能的关键技术与实践建议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4350" y="1797050"/>
            <a:ext cx="2019300" cy="571500"/>
          </a:xfrm>
          <a:custGeom>
            <a:avLst/>
            <a:gdLst/>
            <a:ahLst/>
            <a:cxnLst/>
            <a:rect l="l" t="t" r="r" b="b"/>
            <a:pathLst>
              <a:path w="2019300" h="571500">
                <a:moveTo>
                  <a:pt x="101601" y="0"/>
                </a:moveTo>
                <a:lnTo>
                  <a:pt x="1917699" y="0"/>
                </a:lnTo>
                <a:cubicBezTo>
                  <a:pt x="1973812" y="0"/>
                  <a:pt x="2019300" y="45488"/>
                  <a:pt x="2019300" y="101601"/>
                </a:cubicBezTo>
                <a:lnTo>
                  <a:pt x="2019300" y="469899"/>
                </a:lnTo>
                <a:cubicBezTo>
                  <a:pt x="2019300" y="526012"/>
                  <a:pt x="1973812" y="571500"/>
                  <a:pt x="1917699" y="571500"/>
                </a:cubicBezTo>
                <a:lnTo>
                  <a:pt x="101601" y="571500"/>
                </a:lnTo>
                <a:cubicBezTo>
                  <a:pt x="45488" y="571500"/>
                  <a:pt x="0" y="526012"/>
                  <a:pt x="0" y="4698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23900" y="1911350"/>
            <a:ext cx="173107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10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679700"/>
            <a:ext cx="1562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HDFS 的起源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与发展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4889500"/>
            <a:ext cx="15392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 GFS 论文到 Hadoop 项目的开源之路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探索分布式文件系统的技术演进历程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33400" y="64897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762000" y="6489700"/>
            <a:ext cx="353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2003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7048500"/>
            <a:ext cx="344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GFS 论文发表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428034" y="64897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4656634" y="6489700"/>
            <a:ext cx="353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56634" y="7048500"/>
            <a:ext cx="344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Hadoop 项目启动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322667" y="64897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8551267" y="6489700"/>
            <a:ext cx="353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51267" y="7048500"/>
            <a:ext cx="344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Apache 顶级项目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ORIGIN STORY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从 GFS 到 HDFS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24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879600"/>
            <a:ext cx="50800" cy="3429000"/>
          </a:xfrm>
          <a:custGeom>
            <a:avLst/>
            <a:gdLst/>
            <a:ahLst/>
            <a:cxnLst/>
            <a:rect l="l" t="t" r="r" b="b"/>
            <a:pathLst>
              <a:path w="50800" h="3429000">
                <a:moveTo>
                  <a:pt x="0" y="0"/>
                </a:moveTo>
                <a:lnTo>
                  <a:pt x="50800" y="0"/>
                </a:lnTo>
                <a:lnTo>
                  <a:pt x="508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38200" y="1905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71438" y="152400"/>
                </a:moveTo>
                <a:cubicBezTo>
                  <a:pt x="63520" y="152400"/>
                  <a:pt x="57150" y="158770"/>
                  <a:pt x="57150" y="166688"/>
                </a:cubicBezTo>
                <a:cubicBezTo>
                  <a:pt x="57150" y="174605"/>
                  <a:pt x="63520" y="180975"/>
                  <a:pt x="71438" y="180975"/>
                </a:cubicBezTo>
                <a:lnTo>
                  <a:pt x="157163" y="180975"/>
                </a:lnTo>
                <a:cubicBezTo>
                  <a:pt x="165080" y="180975"/>
                  <a:pt x="171450" y="174605"/>
                  <a:pt x="171450" y="166688"/>
                </a:cubicBezTo>
                <a:cubicBezTo>
                  <a:pt x="171450" y="158770"/>
                  <a:pt x="165080" y="152400"/>
                  <a:pt x="157163" y="152400"/>
                </a:cubicBezTo>
                <a:lnTo>
                  <a:pt x="71438" y="152400"/>
                </a:lnTo>
                <a:close/>
                <a:moveTo>
                  <a:pt x="71438" y="209550"/>
                </a:moveTo>
                <a:cubicBezTo>
                  <a:pt x="63520" y="209550"/>
                  <a:pt x="57150" y="215920"/>
                  <a:pt x="57150" y="223838"/>
                </a:cubicBezTo>
                <a:cubicBezTo>
                  <a:pt x="57150" y="231755"/>
                  <a:pt x="63520" y="238125"/>
                  <a:pt x="71438" y="238125"/>
                </a:cubicBezTo>
                <a:lnTo>
                  <a:pt x="157163" y="238125"/>
                </a:lnTo>
                <a:cubicBezTo>
                  <a:pt x="165080" y="238125"/>
                  <a:pt x="171450" y="231755"/>
                  <a:pt x="171450" y="223838"/>
                </a:cubicBezTo>
                <a:cubicBezTo>
                  <a:pt x="171450" y="215920"/>
                  <a:pt x="165080" y="209550"/>
                  <a:pt x="157163" y="209550"/>
                </a:cubicBezTo>
                <a:lnTo>
                  <a:pt x="71438" y="20955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44600" y="1879600"/>
            <a:ext cx="1955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GFS 的重要影响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387600"/>
            <a:ext cx="4762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2003年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，Google 发表里程碑论文《The Google File System》，首次向业界展示如何构建大规模分布式文件系统。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5306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理论贡献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9370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基于商用硬件构建大规模存储系统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42926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宽松一致性模型平衡性能与可用性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46482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将硬件故障视为常态的容错设计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50038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Master-Slave 架构模式的确立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98034" y="1879600"/>
            <a:ext cx="50800" cy="3429000"/>
          </a:xfrm>
          <a:custGeom>
            <a:avLst/>
            <a:gdLst/>
            <a:ahLst/>
            <a:cxnLst/>
            <a:rect l="l" t="t" r="r" b="b"/>
            <a:pathLst>
              <a:path w="50800" h="3429000">
                <a:moveTo>
                  <a:pt x="0" y="0"/>
                </a:moveTo>
                <a:lnTo>
                  <a:pt x="50800" y="0"/>
                </a:lnTo>
                <a:lnTo>
                  <a:pt x="508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964734" y="190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09234" y="18796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开源需求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26634" y="2387600"/>
            <a:ext cx="47625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尽管 GFS 论文提供了宝贵思路，但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并未开源其实现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，这给学术界和工业界带来了挑战。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26634" y="32004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市场痛点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26634" y="36068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互联网公司面临大数据存储挑战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26634" y="39624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研究机构需要开源实现验证算法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26634" y="43180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企业需要可部署的分布式存储方案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26634" y="46736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从论文到工程实现存在技术鸿沟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862667" y="1879600"/>
            <a:ext cx="50800" cy="3429000"/>
          </a:xfrm>
          <a:custGeom>
            <a:avLst/>
            <a:gdLst/>
            <a:ahLst/>
            <a:cxnLst/>
            <a:rect l="l" t="t" r="r" b="b"/>
            <a:pathLst>
              <a:path w="50800" h="3429000">
                <a:moveTo>
                  <a:pt x="0" y="0"/>
                </a:moveTo>
                <a:lnTo>
                  <a:pt x="50800" y="0"/>
                </a:lnTo>
                <a:lnTo>
                  <a:pt x="5080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1129367" y="1905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190500"/>
                </a:moveTo>
                <a:lnTo>
                  <a:pt x="14585" y="190500"/>
                </a:lnTo>
                <a:cubicBezTo>
                  <a:pt x="-238" y="190500"/>
                  <a:pt x="-9346" y="174367"/>
                  <a:pt x="-1726" y="161627"/>
                </a:cubicBezTo>
                <a:lnTo>
                  <a:pt x="29766" y="109121"/>
                </a:lnTo>
                <a:cubicBezTo>
                  <a:pt x="34945" y="100489"/>
                  <a:pt x="44232" y="95250"/>
                  <a:pt x="54293" y="95250"/>
                </a:cubicBezTo>
                <a:lnTo>
                  <a:pt x="110847" y="95250"/>
                </a:lnTo>
                <a:cubicBezTo>
                  <a:pt x="156150" y="18514"/>
                  <a:pt x="223718" y="14645"/>
                  <a:pt x="268903" y="21253"/>
                </a:cubicBezTo>
                <a:cubicBezTo>
                  <a:pt x="276523" y="22384"/>
                  <a:pt x="282476" y="28337"/>
                  <a:pt x="283547" y="35897"/>
                </a:cubicBezTo>
                <a:cubicBezTo>
                  <a:pt x="290155" y="81082"/>
                  <a:pt x="286286" y="148650"/>
                  <a:pt x="209550" y="193953"/>
                </a:cubicBezTo>
                <a:lnTo>
                  <a:pt x="209550" y="250508"/>
                </a:lnTo>
                <a:cubicBezTo>
                  <a:pt x="209550" y="260568"/>
                  <a:pt x="204311" y="269855"/>
                  <a:pt x="195679" y="275034"/>
                </a:cubicBezTo>
                <a:lnTo>
                  <a:pt x="143173" y="306526"/>
                </a:lnTo>
                <a:cubicBezTo>
                  <a:pt x="130493" y="314146"/>
                  <a:pt x="114300" y="304979"/>
                  <a:pt x="114300" y="290215"/>
                </a:cubicBezTo>
                <a:lnTo>
                  <a:pt x="114300" y="228600"/>
                </a:lnTo>
                <a:cubicBezTo>
                  <a:pt x="114300" y="207585"/>
                  <a:pt x="97215" y="190500"/>
                  <a:pt x="76200" y="190500"/>
                </a:cubicBezTo>
                <a:lnTo>
                  <a:pt x="76140" y="190500"/>
                </a:lnTo>
                <a:close/>
                <a:moveTo>
                  <a:pt x="238125" y="95250"/>
                </a:moveTo>
                <a:cubicBezTo>
                  <a:pt x="238125" y="79479"/>
                  <a:pt x="225321" y="66675"/>
                  <a:pt x="209550" y="66675"/>
                </a:cubicBezTo>
                <a:cubicBezTo>
                  <a:pt x="193779" y="66675"/>
                  <a:pt x="180975" y="79479"/>
                  <a:pt x="180975" y="95250"/>
                </a:cubicBezTo>
                <a:cubicBezTo>
                  <a:pt x="180975" y="111021"/>
                  <a:pt x="193779" y="123825"/>
                  <a:pt x="209550" y="123825"/>
                </a:cubicBezTo>
                <a:cubicBezTo>
                  <a:pt x="225321" y="123825"/>
                  <a:pt x="238125" y="111021"/>
                  <a:pt x="238125" y="9525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1573867" y="1879600"/>
            <a:ext cx="137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诞生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91267" y="2387600"/>
            <a:ext cx="47625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在这样的背景下，HDFS 应运而生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，成为了 GFS 思想的开源实现，由 Doug Cutting 在 2006 年正式启动。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091267" y="35306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开源优势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091267" y="39370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完全开源，便于学习研究和改进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091267" y="42926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活跃社区推动技术快速发展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091267" y="46482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与 Hadoop 生态系统紧密集成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091267" y="50038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Apache 许可证支持商业应用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33400" y="5562600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44550" y="5613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22250" y="127000"/>
                </a:moveTo>
                <a:cubicBezTo>
                  <a:pt x="222250" y="74430"/>
                  <a:pt x="179570" y="31750"/>
                  <a:pt x="127000" y="31750"/>
                </a:cubicBezTo>
                <a:cubicBezTo>
                  <a:pt x="74430" y="31750"/>
                  <a:pt x="31750" y="74430"/>
                  <a:pt x="31750" y="127000"/>
                </a:cubicBezTo>
                <a:cubicBezTo>
                  <a:pt x="31750" y="179570"/>
                  <a:pt x="74430" y="222250"/>
                  <a:pt x="127000" y="222250"/>
                </a:cubicBezTo>
                <a:cubicBezTo>
                  <a:pt x="179570" y="222250"/>
                  <a:pt x="222250" y="179570"/>
                  <a:pt x="222250" y="127000"/>
                </a:cubicBezTo>
                <a:close/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27000" y="166688"/>
                </a:moveTo>
                <a:cubicBezTo>
                  <a:pt x="148904" y="166688"/>
                  <a:pt x="166688" y="148904"/>
                  <a:pt x="166688" y="127000"/>
                </a:cubicBezTo>
                <a:cubicBezTo>
                  <a:pt x="166688" y="105096"/>
                  <a:pt x="148904" y="87313"/>
                  <a:pt x="127000" y="87313"/>
                </a:cubicBezTo>
                <a:cubicBezTo>
                  <a:pt x="105096" y="87313"/>
                  <a:pt x="87313" y="105096"/>
                  <a:pt x="87313" y="127000"/>
                </a:cubicBezTo>
                <a:cubicBezTo>
                  <a:pt x="87313" y="148904"/>
                  <a:pt x="105096" y="166688"/>
                  <a:pt x="127000" y="166688"/>
                </a:cubicBezTo>
                <a:close/>
                <a:moveTo>
                  <a:pt x="127000" y="55563"/>
                </a:moveTo>
                <a:cubicBezTo>
                  <a:pt x="166427" y="55563"/>
                  <a:pt x="198438" y="87573"/>
                  <a:pt x="198438" y="127000"/>
                </a:cubicBezTo>
                <a:cubicBezTo>
                  <a:pt x="198438" y="166427"/>
                  <a:pt x="166427" y="198438"/>
                  <a:pt x="127000" y="198438"/>
                </a:cubicBezTo>
                <a:cubicBezTo>
                  <a:pt x="87573" y="198438"/>
                  <a:pt x="55563" y="166427"/>
                  <a:pt x="55563" y="127000"/>
                </a:cubicBezTo>
                <a:cubicBezTo>
                  <a:pt x="55563" y="87573"/>
                  <a:pt x="87573" y="55563"/>
                  <a:pt x="127000" y="55563"/>
                </a:cubicBezTo>
                <a:close/>
                <a:moveTo>
                  <a:pt x="111125" y="127000"/>
                </a:moveTo>
                <a:cubicBezTo>
                  <a:pt x="111125" y="118238"/>
                  <a:pt x="118238" y="111125"/>
                  <a:pt x="127000" y="111125"/>
                </a:cubicBezTo>
                <a:cubicBezTo>
                  <a:pt x="135762" y="111125"/>
                  <a:pt x="142875" y="118238"/>
                  <a:pt x="142875" y="127000"/>
                </a:cubicBezTo>
                <a:cubicBezTo>
                  <a:pt x="142875" y="135762"/>
                  <a:pt x="135762" y="142875"/>
                  <a:pt x="127000" y="142875"/>
                </a:cubicBezTo>
                <a:cubicBezTo>
                  <a:pt x="118238" y="142875"/>
                  <a:pt x="111125" y="135762"/>
                  <a:pt x="111125" y="12700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282700" y="5562600"/>
            <a:ext cx="187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设计目标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12800" y="6070600"/>
            <a:ext cx="3733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高容错性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2800" y="6578600"/>
            <a:ext cx="368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在商用硬件上提供高可靠性，将硬件故障视为常态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97400" y="6070600"/>
            <a:ext cx="3733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高吞吐量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97400" y="6578600"/>
            <a:ext cx="368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优化大数据集的批处理性能，支持 GB 到 TB 级别文件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82000" y="6070600"/>
            <a:ext cx="3733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可扩展性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82000" y="6578600"/>
            <a:ext cx="368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支持从几个节点到数千个节点的线性扩展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166600" y="6070600"/>
            <a:ext cx="3733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简单性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2166600" y="6578600"/>
            <a:ext cx="368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提供简单一致的文件系统接口，降低使用门槛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TECHNOLOGY EVOLUTION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HDFS 发展历程与技术演进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24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879600"/>
            <a:ext cx="50800" cy="2082800"/>
          </a:xfrm>
          <a:custGeom>
            <a:avLst/>
            <a:gdLst/>
            <a:ahLst/>
            <a:cxnLst/>
            <a:rect l="l" t="t" r="r" b="b"/>
            <a:pathLst>
              <a:path w="50800" h="2082800">
                <a:moveTo>
                  <a:pt x="0" y="0"/>
                </a:moveTo>
                <a:lnTo>
                  <a:pt x="50800" y="0"/>
                </a:lnTo>
                <a:lnTo>
                  <a:pt x="50800" y="2082800"/>
                </a:lnTo>
                <a:lnTo>
                  <a:pt x="0" y="20828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62000" y="1930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04850" y="19304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879600"/>
            <a:ext cx="106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0.x 时代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235200"/>
            <a:ext cx="1028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2006-2009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2590800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基础 HDFS 架构实现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2946400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NameNode-DataNode 架构确立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3302000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基本副本机制建立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3657600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块分配算法优化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94200" y="1879600"/>
            <a:ext cx="50800" cy="2082800"/>
          </a:xfrm>
          <a:custGeom>
            <a:avLst/>
            <a:gdLst/>
            <a:ahLst/>
            <a:cxnLst/>
            <a:rect l="l" t="t" r="r" b="b"/>
            <a:pathLst>
              <a:path w="50800" h="2082800">
                <a:moveTo>
                  <a:pt x="0" y="0"/>
                </a:moveTo>
                <a:lnTo>
                  <a:pt x="50800" y="0"/>
                </a:lnTo>
                <a:lnTo>
                  <a:pt x="50800" y="2082800"/>
                </a:lnTo>
                <a:lnTo>
                  <a:pt x="0" y="20828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622800" y="1930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565650" y="19304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32400" y="1879600"/>
            <a:ext cx="1016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1.x 时代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32400" y="223520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2009-2012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22800" y="2590800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性能优化：网络、存储、元数据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22800" y="2946400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配额管理系统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22800" y="3302000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权限控制机制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22800" y="3657600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监控管理工具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55000" y="1879600"/>
            <a:ext cx="50800" cy="2082800"/>
          </a:xfrm>
          <a:custGeom>
            <a:avLst/>
            <a:gdLst/>
            <a:ahLst/>
            <a:cxnLst/>
            <a:rect l="l" t="t" r="r" b="b"/>
            <a:pathLst>
              <a:path w="50800" h="2082800">
                <a:moveTo>
                  <a:pt x="0" y="0"/>
                </a:moveTo>
                <a:lnTo>
                  <a:pt x="50800" y="0"/>
                </a:lnTo>
                <a:lnTo>
                  <a:pt x="50800" y="2082800"/>
                </a:lnTo>
                <a:lnTo>
                  <a:pt x="0" y="20828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483600" y="1930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426450" y="19304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093200" y="1879600"/>
            <a:ext cx="1041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2.x 时代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93200" y="2235200"/>
            <a:ext cx="1003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2012-2017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83600" y="2590800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HDFS Federation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83600" y="2946400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NameNode HA 高可用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83600" y="3302000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QJM 共享存储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83600" y="3657600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多 NameNode 水平扩展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115800" y="1879600"/>
            <a:ext cx="50800" cy="2082800"/>
          </a:xfrm>
          <a:custGeom>
            <a:avLst/>
            <a:gdLst/>
            <a:ahLst/>
            <a:cxnLst/>
            <a:rect l="l" t="t" r="r" b="b"/>
            <a:pathLst>
              <a:path w="50800" h="2082800">
                <a:moveTo>
                  <a:pt x="0" y="0"/>
                </a:moveTo>
                <a:lnTo>
                  <a:pt x="50800" y="0"/>
                </a:lnTo>
                <a:lnTo>
                  <a:pt x="50800" y="2082800"/>
                </a:lnTo>
                <a:lnTo>
                  <a:pt x="0" y="20828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12344400" y="1930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2287250" y="19304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954000" y="1879600"/>
            <a:ext cx="1041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3.x 时代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954000" y="2235200"/>
            <a:ext cx="1003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2017-至今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344400" y="2590800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纠删码 (Erasure Coding)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344400" y="2946400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多 Standby NameNode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344400" y="3302000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云原生和容器化支持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344400" y="3657600"/>
            <a:ext cx="350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异构存储支持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33400" y="4064000"/>
            <a:ext cx="50800" cy="2692400"/>
          </a:xfrm>
          <a:custGeom>
            <a:avLst/>
            <a:gdLst/>
            <a:ahLst/>
            <a:cxnLst/>
            <a:rect l="l" t="t" r="r" b="b"/>
            <a:pathLst>
              <a:path w="50800" h="2692400">
                <a:moveTo>
                  <a:pt x="0" y="0"/>
                </a:moveTo>
                <a:lnTo>
                  <a:pt x="50800" y="0"/>
                </a:lnTo>
                <a:lnTo>
                  <a:pt x="50800" y="2692400"/>
                </a:lnTo>
                <a:lnTo>
                  <a:pt x="0" y="26924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28675" y="41148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53541" y="-9376"/>
                </a:moveTo>
                <a:cubicBezTo>
                  <a:pt x="151507" y="-13345"/>
                  <a:pt x="147389" y="-15875"/>
                  <a:pt x="142925" y="-15875"/>
                </a:cubicBezTo>
                <a:cubicBezTo>
                  <a:pt x="138460" y="-15875"/>
                  <a:pt x="134342" y="-13345"/>
                  <a:pt x="132308" y="-9376"/>
                </a:cubicBezTo>
                <a:lnTo>
                  <a:pt x="95796" y="62161"/>
                </a:lnTo>
                <a:lnTo>
                  <a:pt x="16470" y="74761"/>
                </a:lnTo>
                <a:cubicBezTo>
                  <a:pt x="12055" y="75456"/>
                  <a:pt x="8384" y="78581"/>
                  <a:pt x="6995" y="82848"/>
                </a:cubicBezTo>
                <a:cubicBezTo>
                  <a:pt x="5606" y="87114"/>
                  <a:pt x="6747" y="91777"/>
                  <a:pt x="9872" y="94952"/>
                </a:cubicBezTo>
                <a:lnTo>
                  <a:pt x="66625" y="151755"/>
                </a:lnTo>
                <a:lnTo>
                  <a:pt x="54124" y="231080"/>
                </a:lnTo>
                <a:cubicBezTo>
                  <a:pt x="53429" y="235496"/>
                  <a:pt x="55265" y="239961"/>
                  <a:pt x="58886" y="242590"/>
                </a:cubicBezTo>
                <a:cubicBezTo>
                  <a:pt x="62508" y="245219"/>
                  <a:pt x="67270" y="245616"/>
                  <a:pt x="71289" y="243582"/>
                </a:cubicBezTo>
                <a:lnTo>
                  <a:pt x="142925" y="207169"/>
                </a:lnTo>
                <a:lnTo>
                  <a:pt x="214511" y="243582"/>
                </a:lnTo>
                <a:cubicBezTo>
                  <a:pt x="218480" y="245616"/>
                  <a:pt x="223292" y="245219"/>
                  <a:pt x="226913" y="242590"/>
                </a:cubicBezTo>
                <a:cubicBezTo>
                  <a:pt x="230535" y="239961"/>
                  <a:pt x="232370" y="235545"/>
                  <a:pt x="231676" y="231080"/>
                </a:cubicBezTo>
                <a:lnTo>
                  <a:pt x="219125" y="151755"/>
                </a:lnTo>
                <a:lnTo>
                  <a:pt x="275878" y="94952"/>
                </a:lnTo>
                <a:cubicBezTo>
                  <a:pt x="279053" y="91777"/>
                  <a:pt x="280144" y="87114"/>
                  <a:pt x="278755" y="82848"/>
                </a:cubicBezTo>
                <a:cubicBezTo>
                  <a:pt x="277366" y="78581"/>
                  <a:pt x="273745" y="75456"/>
                  <a:pt x="269280" y="74761"/>
                </a:cubicBezTo>
                <a:lnTo>
                  <a:pt x="190004" y="62161"/>
                </a:lnTo>
                <a:lnTo>
                  <a:pt x="153541" y="-9376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1282700" y="4064000"/>
            <a:ext cx="2489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Hadoop 1.x 性能优化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12800" y="45720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网络优化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12800" y="49276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数据传输管道优化、网络拓扑感知机制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12800" y="53340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存储优化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12800" y="56896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块大小调整至 128MB、存储空间利用率提升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12800" y="60960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元数据优化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12800" y="64516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 内存管理优化、文件系统操作性能提升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05800" y="4064000"/>
            <a:ext cx="50800" cy="2692400"/>
          </a:xfrm>
          <a:custGeom>
            <a:avLst/>
            <a:gdLst/>
            <a:ahLst/>
            <a:cxnLst/>
            <a:rect l="l" t="t" r="r" b="b"/>
            <a:pathLst>
              <a:path w="50800" h="2692400">
                <a:moveTo>
                  <a:pt x="0" y="0"/>
                </a:moveTo>
                <a:lnTo>
                  <a:pt x="50800" y="0"/>
                </a:lnTo>
                <a:lnTo>
                  <a:pt x="50800" y="2692400"/>
                </a:lnTo>
                <a:lnTo>
                  <a:pt x="0" y="26924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8616950" y="4114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158750"/>
                </a:moveTo>
                <a:lnTo>
                  <a:pt x="12154" y="158750"/>
                </a:lnTo>
                <a:cubicBezTo>
                  <a:pt x="-198" y="158750"/>
                  <a:pt x="-7789" y="145306"/>
                  <a:pt x="-1439" y="134689"/>
                </a:cubicBezTo>
                <a:lnTo>
                  <a:pt x="24805" y="90934"/>
                </a:lnTo>
                <a:cubicBezTo>
                  <a:pt x="29121" y="83741"/>
                  <a:pt x="36860" y="79375"/>
                  <a:pt x="45244" y="79375"/>
                </a:cubicBezTo>
                <a:lnTo>
                  <a:pt x="92373" y="79375"/>
                </a:lnTo>
                <a:cubicBezTo>
                  <a:pt x="130125" y="15429"/>
                  <a:pt x="186432" y="12204"/>
                  <a:pt x="224086" y="17711"/>
                </a:cubicBezTo>
                <a:cubicBezTo>
                  <a:pt x="230436" y="18653"/>
                  <a:pt x="235396" y="23614"/>
                  <a:pt x="236289" y="29914"/>
                </a:cubicBezTo>
                <a:cubicBezTo>
                  <a:pt x="241796" y="67568"/>
                  <a:pt x="238571" y="123875"/>
                  <a:pt x="174625" y="161627"/>
                </a:cubicBezTo>
                <a:lnTo>
                  <a:pt x="174625" y="208756"/>
                </a:lnTo>
                <a:cubicBezTo>
                  <a:pt x="174625" y="217140"/>
                  <a:pt x="170259" y="224879"/>
                  <a:pt x="163066" y="229195"/>
                </a:cubicBezTo>
                <a:lnTo>
                  <a:pt x="119311" y="255439"/>
                </a:lnTo>
                <a:cubicBezTo>
                  <a:pt x="108744" y="261789"/>
                  <a:pt x="95250" y="254149"/>
                  <a:pt x="95250" y="241846"/>
                </a:cubicBezTo>
                <a:lnTo>
                  <a:pt x="95250" y="190500"/>
                </a:lnTo>
                <a:cubicBezTo>
                  <a:pt x="95250" y="172988"/>
                  <a:pt x="81012" y="158750"/>
                  <a:pt x="63500" y="158750"/>
                </a:cubicBezTo>
                <a:lnTo>
                  <a:pt x="63450" y="158750"/>
                </a:lnTo>
                <a:close/>
                <a:moveTo>
                  <a:pt x="198438" y="79375"/>
                </a:moveTo>
                <a:cubicBezTo>
                  <a:pt x="198438" y="66233"/>
                  <a:pt x="187767" y="55563"/>
                  <a:pt x="174625" y="55563"/>
                </a:cubicBezTo>
                <a:cubicBezTo>
                  <a:pt x="161483" y="55563"/>
                  <a:pt x="150813" y="66233"/>
                  <a:pt x="150813" y="79375"/>
                </a:cubicBezTo>
                <a:cubicBezTo>
                  <a:pt x="150813" y="92517"/>
                  <a:pt x="161483" y="103188"/>
                  <a:pt x="174625" y="103188"/>
                </a:cubicBezTo>
                <a:cubicBezTo>
                  <a:pt x="187767" y="103188"/>
                  <a:pt x="198438" y="92517"/>
                  <a:pt x="198438" y="79375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9055100" y="4064000"/>
            <a:ext cx="252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Hadoop 2.x 架构革新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585200" y="45720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Federation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585200" y="49276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 NameNode 独立管理命名空间，共享 DataNode 池，实现水平扩展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585200" y="53340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 HA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585200" y="56896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Active-Standby 架构，QJM 共享存储，自动故障转移，消除单点故障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33400" y="6858000"/>
            <a:ext cx="50800" cy="1727200"/>
          </a:xfrm>
          <a:custGeom>
            <a:avLst/>
            <a:gdLst/>
            <a:ahLst/>
            <a:cxnLst/>
            <a:rect l="l" t="t" r="r" b="b"/>
            <a:pathLst>
              <a:path w="50800" h="1727200">
                <a:moveTo>
                  <a:pt x="0" y="0"/>
                </a:moveTo>
                <a:lnTo>
                  <a:pt x="50800" y="0"/>
                </a:lnTo>
                <a:lnTo>
                  <a:pt x="50800" y="1727200"/>
                </a:lnTo>
                <a:lnTo>
                  <a:pt x="0" y="17272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844550" y="69088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71586" y="0"/>
                </a:moveTo>
                <a:lnTo>
                  <a:pt x="182711" y="0"/>
                </a:lnTo>
                <a:cubicBezTo>
                  <a:pt x="195858" y="0"/>
                  <a:pt x="206573" y="10815"/>
                  <a:pt x="206077" y="23912"/>
                </a:cubicBezTo>
                <a:cubicBezTo>
                  <a:pt x="205978" y="26541"/>
                  <a:pt x="205879" y="29170"/>
                  <a:pt x="205730" y="31750"/>
                </a:cubicBezTo>
                <a:lnTo>
                  <a:pt x="230336" y="31750"/>
                </a:lnTo>
                <a:cubicBezTo>
                  <a:pt x="243284" y="31750"/>
                  <a:pt x="254695" y="42466"/>
                  <a:pt x="253702" y="56455"/>
                </a:cubicBezTo>
                <a:cubicBezTo>
                  <a:pt x="249982" y="107900"/>
                  <a:pt x="223689" y="136178"/>
                  <a:pt x="195163" y="150961"/>
                </a:cubicBezTo>
                <a:cubicBezTo>
                  <a:pt x="187325" y="155029"/>
                  <a:pt x="179338" y="158055"/>
                  <a:pt x="171748" y="160288"/>
                </a:cubicBezTo>
                <a:cubicBezTo>
                  <a:pt x="161727" y="174476"/>
                  <a:pt x="151309" y="181967"/>
                  <a:pt x="143024" y="185986"/>
                </a:cubicBezTo>
                <a:lnTo>
                  <a:pt x="143024" y="222250"/>
                </a:lnTo>
                <a:lnTo>
                  <a:pt x="174774" y="222250"/>
                </a:lnTo>
                <a:cubicBezTo>
                  <a:pt x="183555" y="222250"/>
                  <a:pt x="190649" y="229344"/>
                  <a:pt x="190649" y="238125"/>
                </a:cubicBezTo>
                <a:cubicBezTo>
                  <a:pt x="190649" y="246906"/>
                  <a:pt x="183555" y="254000"/>
                  <a:pt x="174774" y="254000"/>
                </a:cubicBezTo>
                <a:lnTo>
                  <a:pt x="79524" y="254000"/>
                </a:lnTo>
                <a:cubicBezTo>
                  <a:pt x="70743" y="254000"/>
                  <a:pt x="63649" y="246906"/>
                  <a:pt x="63649" y="238125"/>
                </a:cubicBezTo>
                <a:cubicBezTo>
                  <a:pt x="63649" y="229344"/>
                  <a:pt x="70743" y="222250"/>
                  <a:pt x="79524" y="222250"/>
                </a:cubicBezTo>
                <a:lnTo>
                  <a:pt x="111274" y="222250"/>
                </a:lnTo>
                <a:lnTo>
                  <a:pt x="111274" y="185986"/>
                </a:lnTo>
                <a:cubicBezTo>
                  <a:pt x="103336" y="182166"/>
                  <a:pt x="93464" y="175071"/>
                  <a:pt x="83840" y="162024"/>
                </a:cubicBezTo>
                <a:cubicBezTo>
                  <a:pt x="74712" y="159643"/>
                  <a:pt x="64790" y="156021"/>
                  <a:pt x="55116" y="150564"/>
                </a:cubicBezTo>
                <a:cubicBezTo>
                  <a:pt x="28277" y="135533"/>
                  <a:pt x="4068" y="107206"/>
                  <a:pt x="595" y="56356"/>
                </a:cubicBezTo>
                <a:cubicBezTo>
                  <a:pt x="-347" y="42416"/>
                  <a:pt x="11013" y="31700"/>
                  <a:pt x="23961" y="31700"/>
                </a:cubicBezTo>
                <a:lnTo>
                  <a:pt x="48568" y="31700"/>
                </a:lnTo>
                <a:cubicBezTo>
                  <a:pt x="48419" y="29121"/>
                  <a:pt x="48320" y="26541"/>
                  <a:pt x="48220" y="23862"/>
                </a:cubicBezTo>
                <a:cubicBezTo>
                  <a:pt x="47724" y="10716"/>
                  <a:pt x="58440" y="-50"/>
                  <a:pt x="71586" y="-50"/>
                </a:cubicBezTo>
                <a:close/>
                <a:moveTo>
                  <a:pt x="50354" y="55563"/>
                </a:moveTo>
                <a:lnTo>
                  <a:pt x="24358" y="55563"/>
                </a:lnTo>
                <a:cubicBezTo>
                  <a:pt x="27434" y="97582"/>
                  <a:pt x="46732" y="118616"/>
                  <a:pt x="66625" y="129778"/>
                </a:cubicBezTo>
                <a:cubicBezTo>
                  <a:pt x="59482" y="111274"/>
                  <a:pt x="53578" y="87114"/>
                  <a:pt x="50354" y="55563"/>
                </a:cubicBezTo>
                <a:close/>
                <a:moveTo>
                  <a:pt x="188516" y="127397"/>
                </a:moveTo>
                <a:cubicBezTo>
                  <a:pt x="208607" y="115590"/>
                  <a:pt x="226764" y="94605"/>
                  <a:pt x="229840" y="55563"/>
                </a:cubicBezTo>
                <a:lnTo>
                  <a:pt x="203895" y="55563"/>
                </a:lnTo>
                <a:cubicBezTo>
                  <a:pt x="200819" y="85775"/>
                  <a:pt x="195263" y="109240"/>
                  <a:pt x="188516" y="127397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1282700" y="6858000"/>
            <a:ext cx="406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Hadoop 3.x 技术创新：纠删码技术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12800" y="73660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传统三副本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12800" y="7772400"/>
            <a:ext cx="500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200%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12800" y="82804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存储开销，容错 2 个节点故障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875834" y="73660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RS(6,3) 纠删码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875834" y="7772400"/>
            <a:ext cx="500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50%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5875834" y="82804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存储开销，容错 3 个节点故障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938867" y="73660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RS(10,4) 纠删码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938867" y="7772400"/>
            <a:ext cx="500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40%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0938867" y="82804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存储开销，容错 4 个节点故障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4974" y="474974"/>
            <a:ext cx="15389172" cy="237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9" b="1" kern="0" spc="65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DESIGN PRINCIPLES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74974" y="807457"/>
            <a:ext cx="15519790" cy="474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66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设计原则与核心理念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4974" y="1424923"/>
            <a:ext cx="1139939" cy="47497"/>
          </a:xfrm>
          <a:custGeom>
            <a:avLst/>
            <a:gdLst/>
            <a:ahLst/>
            <a:cxnLst/>
            <a:rect l="l" t="t" r="r" b="b"/>
            <a:pathLst>
              <a:path w="1139939" h="47497">
                <a:moveTo>
                  <a:pt x="0" y="0"/>
                </a:moveTo>
                <a:lnTo>
                  <a:pt x="1139939" y="0"/>
                </a:lnTo>
                <a:lnTo>
                  <a:pt x="1139939" y="47497"/>
                </a:lnTo>
                <a:lnTo>
                  <a:pt x="0" y="47497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98723" y="1709908"/>
            <a:ext cx="47497" cy="2826098"/>
          </a:xfrm>
          <a:custGeom>
            <a:avLst/>
            <a:gdLst/>
            <a:ahLst/>
            <a:cxnLst/>
            <a:rect l="l" t="t" r="r" b="b"/>
            <a:pathLst>
              <a:path w="47497" h="2826098">
                <a:moveTo>
                  <a:pt x="0" y="0"/>
                </a:moveTo>
                <a:lnTo>
                  <a:pt x="47497" y="0"/>
                </a:lnTo>
                <a:lnTo>
                  <a:pt x="47497" y="2826098"/>
                </a:lnTo>
                <a:lnTo>
                  <a:pt x="0" y="2826098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48085" y="1733657"/>
            <a:ext cx="284985" cy="284985"/>
          </a:xfrm>
          <a:custGeom>
            <a:avLst/>
            <a:gdLst/>
            <a:ahLst/>
            <a:cxnLst/>
            <a:rect l="l" t="t" r="r" b="b"/>
            <a:pathLst>
              <a:path w="284985" h="284985">
                <a:moveTo>
                  <a:pt x="142492" y="284985"/>
                </a:moveTo>
                <a:cubicBezTo>
                  <a:pt x="221136" y="284985"/>
                  <a:pt x="284985" y="221136"/>
                  <a:pt x="284985" y="142492"/>
                </a:cubicBezTo>
                <a:cubicBezTo>
                  <a:pt x="284985" y="63849"/>
                  <a:pt x="221136" y="0"/>
                  <a:pt x="142492" y="0"/>
                </a:cubicBezTo>
                <a:cubicBezTo>
                  <a:pt x="63849" y="0"/>
                  <a:pt x="0" y="63849"/>
                  <a:pt x="0" y="142492"/>
                </a:cubicBezTo>
                <a:cubicBezTo>
                  <a:pt x="0" y="221136"/>
                  <a:pt x="63849" y="284985"/>
                  <a:pt x="142492" y="284985"/>
                </a:cubicBezTo>
                <a:close/>
                <a:moveTo>
                  <a:pt x="142492" y="75699"/>
                </a:moveTo>
                <a:cubicBezTo>
                  <a:pt x="149895" y="75699"/>
                  <a:pt x="155851" y="81655"/>
                  <a:pt x="155851" y="89058"/>
                </a:cubicBezTo>
                <a:lnTo>
                  <a:pt x="155851" y="151398"/>
                </a:lnTo>
                <a:cubicBezTo>
                  <a:pt x="155851" y="158801"/>
                  <a:pt x="149895" y="164757"/>
                  <a:pt x="142492" y="164757"/>
                </a:cubicBezTo>
                <a:cubicBezTo>
                  <a:pt x="135089" y="164757"/>
                  <a:pt x="129134" y="158801"/>
                  <a:pt x="129134" y="151398"/>
                </a:cubicBezTo>
                <a:lnTo>
                  <a:pt x="129134" y="89058"/>
                </a:lnTo>
                <a:cubicBezTo>
                  <a:pt x="129134" y="81655"/>
                  <a:pt x="135089" y="75699"/>
                  <a:pt x="142492" y="75699"/>
                </a:cubicBezTo>
                <a:close/>
                <a:moveTo>
                  <a:pt x="127631" y="195927"/>
                </a:moveTo>
                <a:cubicBezTo>
                  <a:pt x="127293" y="190411"/>
                  <a:pt x="130044" y="185162"/>
                  <a:pt x="134773" y="182302"/>
                </a:cubicBezTo>
                <a:cubicBezTo>
                  <a:pt x="139502" y="179441"/>
                  <a:pt x="145427" y="179441"/>
                  <a:pt x="150156" y="182302"/>
                </a:cubicBezTo>
                <a:cubicBezTo>
                  <a:pt x="154885" y="185162"/>
                  <a:pt x="157636" y="190411"/>
                  <a:pt x="157298" y="195927"/>
                </a:cubicBezTo>
                <a:cubicBezTo>
                  <a:pt x="157636" y="201443"/>
                  <a:pt x="154885" y="206692"/>
                  <a:pt x="150156" y="209552"/>
                </a:cubicBezTo>
                <a:cubicBezTo>
                  <a:pt x="145427" y="212413"/>
                  <a:pt x="139502" y="212413"/>
                  <a:pt x="134773" y="209552"/>
                </a:cubicBezTo>
                <a:cubicBezTo>
                  <a:pt x="130044" y="206692"/>
                  <a:pt x="127293" y="201443"/>
                  <a:pt x="127631" y="195927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63687" y="1709908"/>
            <a:ext cx="1781154" cy="332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7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硬件故障常态化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2462" y="2184882"/>
            <a:ext cx="4797242" cy="92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在大规模集群中，</a:t>
            </a:r>
            <a:r>
              <a:rPr lang="en-US" sz="1496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硬件故障不是异常而是常态</a:t>
            </a: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。HDFS 必须能够自动检测故障、透明恢复、保证数据完整性、确保服务连续性。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12462" y="3253575"/>
            <a:ext cx="4797242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自动检测节点、磁盘、网络故障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2462" y="3586057"/>
            <a:ext cx="4797242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透明故障恢复，不影响应用运行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2462" y="3918539"/>
            <a:ext cx="4797242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确保故障不会导致数据丢失或损坏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2462" y="4251021"/>
            <a:ext cx="4797242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故障期间系统仍能提供服务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79377" y="1709908"/>
            <a:ext cx="47497" cy="2826098"/>
          </a:xfrm>
          <a:custGeom>
            <a:avLst/>
            <a:gdLst/>
            <a:ahLst/>
            <a:cxnLst/>
            <a:rect l="l" t="t" r="r" b="b"/>
            <a:pathLst>
              <a:path w="47497" h="2826098">
                <a:moveTo>
                  <a:pt x="0" y="0"/>
                </a:moveTo>
                <a:lnTo>
                  <a:pt x="47497" y="0"/>
                </a:lnTo>
                <a:lnTo>
                  <a:pt x="47497" y="2826098"/>
                </a:lnTo>
                <a:lnTo>
                  <a:pt x="0" y="2826098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5946550" y="1733657"/>
            <a:ext cx="249362" cy="284985"/>
          </a:xfrm>
          <a:custGeom>
            <a:avLst/>
            <a:gdLst/>
            <a:ahLst/>
            <a:cxnLst/>
            <a:rect l="l" t="t" r="r" b="b"/>
            <a:pathLst>
              <a:path w="249362" h="284985">
                <a:moveTo>
                  <a:pt x="249362" y="114550"/>
                </a:moveTo>
                <a:cubicBezTo>
                  <a:pt x="241124" y="120005"/>
                  <a:pt x="231661" y="124402"/>
                  <a:pt x="221809" y="127909"/>
                </a:cubicBezTo>
                <a:cubicBezTo>
                  <a:pt x="195649" y="137260"/>
                  <a:pt x="161306" y="142492"/>
                  <a:pt x="124681" y="142492"/>
                </a:cubicBezTo>
                <a:cubicBezTo>
                  <a:pt x="88056" y="142492"/>
                  <a:pt x="53657" y="137205"/>
                  <a:pt x="27552" y="127909"/>
                </a:cubicBezTo>
                <a:cubicBezTo>
                  <a:pt x="17756" y="124402"/>
                  <a:pt x="8238" y="120005"/>
                  <a:pt x="0" y="114550"/>
                </a:cubicBezTo>
                <a:lnTo>
                  <a:pt x="0" y="160304"/>
                </a:lnTo>
                <a:cubicBezTo>
                  <a:pt x="0" y="184906"/>
                  <a:pt x="55828" y="204833"/>
                  <a:pt x="124681" y="204833"/>
                </a:cubicBezTo>
                <a:cubicBezTo>
                  <a:pt x="193534" y="204833"/>
                  <a:pt x="249362" y="184906"/>
                  <a:pt x="249362" y="160304"/>
                </a:cubicBezTo>
                <a:lnTo>
                  <a:pt x="249362" y="114550"/>
                </a:lnTo>
                <a:close/>
                <a:moveTo>
                  <a:pt x="249362" y="71246"/>
                </a:moveTo>
                <a:lnTo>
                  <a:pt x="249362" y="44529"/>
                </a:lnTo>
                <a:cubicBezTo>
                  <a:pt x="249362" y="19927"/>
                  <a:pt x="193534" y="0"/>
                  <a:pt x="124681" y="0"/>
                </a:cubicBezTo>
                <a:cubicBezTo>
                  <a:pt x="55828" y="0"/>
                  <a:pt x="0" y="19927"/>
                  <a:pt x="0" y="44529"/>
                </a:cubicBezTo>
                <a:lnTo>
                  <a:pt x="0" y="71246"/>
                </a:lnTo>
                <a:cubicBezTo>
                  <a:pt x="0" y="95848"/>
                  <a:pt x="55828" y="115775"/>
                  <a:pt x="124681" y="115775"/>
                </a:cubicBezTo>
                <a:cubicBezTo>
                  <a:pt x="193534" y="115775"/>
                  <a:pt x="249362" y="95848"/>
                  <a:pt x="249362" y="71246"/>
                </a:cubicBezTo>
                <a:close/>
                <a:moveTo>
                  <a:pt x="221809" y="216967"/>
                </a:moveTo>
                <a:cubicBezTo>
                  <a:pt x="195704" y="226262"/>
                  <a:pt x="161361" y="231550"/>
                  <a:pt x="124681" y="231550"/>
                </a:cubicBezTo>
                <a:cubicBezTo>
                  <a:pt x="88000" y="231550"/>
                  <a:pt x="53657" y="226262"/>
                  <a:pt x="27552" y="216967"/>
                </a:cubicBezTo>
                <a:cubicBezTo>
                  <a:pt x="17756" y="213460"/>
                  <a:pt x="8238" y="209063"/>
                  <a:pt x="0" y="203608"/>
                </a:cubicBezTo>
                <a:lnTo>
                  <a:pt x="0" y="240456"/>
                </a:lnTo>
                <a:cubicBezTo>
                  <a:pt x="0" y="265058"/>
                  <a:pt x="55828" y="284985"/>
                  <a:pt x="124681" y="284985"/>
                </a:cubicBezTo>
                <a:cubicBezTo>
                  <a:pt x="193534" y="284985"/>
                  <a:pt x="249362" y="265058"/>
                  <a:pt x="249362" y="240456"/>
                </a:cubicBezTo>
                <a:lnTo>
                  <a:pt x="249362" y="203608"/>
                </a:lnTo>
                <a:cubicBezTo>
                  <a:pt x="241124" y="209063"/>
                  <a:pt x="231661" y="213460"/>
                  <a:pt x="221809" y="216967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344341" y="1709908"/>
            <a:ext cx="1543667" cy="332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7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海量数据存储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93115" y="2184882"/>
            <a:ext cx="4797242" cy="61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需要支持</a:t>
            </a:r>
            <a:r>
              <a:rPr lang="en-US" sz="1496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PB 级别的数据存储</a:t>
            </a: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，通过水平扩展、负载均衡、存储效率和访问性能优化来实现。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93115" y="2944841"/>
            <a:ext cx="4797242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通过增加节点线性扩展存储容量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93115" y="3277324"/>
            <a:ext cx="4797242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数据在集群中均匀分布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93115" y="3609806"/>
            <a:ext cx="4797242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最大化存储空间利用率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93115" y="3942288"/>
            <a:ext cx="4797242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保证大数据集的高吞吐量访问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860123" y="1709908"/>
            <a:ext cx="47497" cy="2826098"/>
          </a:xfrm>
          <a:custGeom>
            <a:avLst/>
            <a:gdLst/>
            <a:ahLst/>
            <a:cxnLst/>
            <a:rect l="l" t="t" r="r" b="b"/>
            <a:pathLst>
              <a:path w="47497" h="2826098">
                <a:moveTo>
                  <a:pt x="0" y="0"/>
                </a:moveTo>
                <a:lnTo>
                  <a:pt x="47497" y="0"/>
                </a:lnTo>
                <a:lnTo>
                  <a:pt x="47497" y="2826098"/>
                </a:lnTo>
                <a:lnTo>
                  <a:pt x="0" y="2826098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11109485" y="1733657"/>
            <a:ext cx="284985" cy="284985"/>
          </a:xfrm>
          <a:custGeom>
            <a:avLst/>
            <a:gdLst/>
            <a:ahLst/>
            <a:cxnLst/>
            <a:rect l="l" t="t" r="r" b="b"/>
            <a:pathLst>
              <a:path w="284985" h="284985">
                <a:moveTo>
                  <a:pt x="267229" y="106869"/>
                </a:moveTo>
                <a:lnTo>
                  <a:pt x="271626" y="106869"/>
                </a:lnTo>
                <a:cubicBezTo>
                  <a:pt x="279029" y="106869"/>
                  <a:pt x="284985" y="100914"/>
                  <a:pt x="284985" y="93511"/>
                </a:cubicBezTo>
                <a:lnTo>
                  <a:pt x="284985" y="13359"/>
                </a:lnTo>
                <a:cubicBezTo>
                  <a:pt x="284985" y="7960"/>
                  <a:pt x="281756" y="3061"/>
                  <a:pt x="276747" y="1002"/>
                </a:cubicBezTo>
                <a:cubicBezTo>
                  <a:pt x="271737" y="-1058"/>
                  <a:pt x="266004" y="111"/>
                  <a:pt x="262164" y="3896"/>
                </a:cubicBezTo>
                <a:lnTo>
                  <a:pt x="233387" y="32729"/>
                </a:lnTo>
                <a:cubicBezTo>
                  <a:pt x="208729" y="12301"/>
                  <a:pt x="177002" y="0"/>
                  <a:pt x="142492" y="0"/>
                </a:cubicBezTo>
                <a:cubicBezTo>
                  <a:pt x="70690" y="0"/>
                  <a:pt x="11299" y="53101"/>
                  <a:pt x="1447" y="122176"/>
                </a:cubicBezTo>
                <a:cubicBezTo>
                  <a:pt x="56" y="131917"/>
                  <a:pt x="6791" y="140934"/>
                  <a:pt x="16531" y="142325"/>
                </a:cubicBezTo>
                <a:cubicBezTo>
                  <a:pt x="26272" y="143717"/>
                  <a:pt x="35289" y="136926"/>
                  <a:pt x="36681" y="127241"/>
                </a:cubicBezTo>
                <a:cubicBezTo>
                  <a:pt x="44084" y="75421"/>
                  <a:pt x="88668" y="35623"/>
                  <a:pt x="142492" y="35623"/>
                </a:cubicBezTo>
                <a:cubicBezTo>
                  <a:pt x="167206" y="35623"/>
                  <a:pt x="189916" y="43972"/>
                  <a:pt x="208005" y="58054"/>
                </a:cubicBezTo>
                <a:lnTo>
                  <a:pt x="182012" y="84048"/>
                </a:lnTo>
                <a:cubicBezTo>
                  <a:pt x="178171" y="87889"/>
                  <a:pt x="177058" y="93622"/>
                  <a:pt x="179117" y="98631"/>
                </a:cubicBezTo>
                <a:cubicBezTo>
                  <a:pt x="181177" y="103641"/>
                  <a:pt x="186075" y="106869"/>
                  <a:pt x="191474" y="106869"/>
                </a:cubicBezTo>
                <a:lnTo>
                  <a:pt x="267229" y="106869"/>
                </a:lnTo>
                <a:close/>
                <a:moveTo>
                  <a:pt x="283593" y="162809"/>
                </a:moveTo>
                <a:cubicBezTo>
                  <a:pt x="284985" y="153068"/>
                  <a:pt x="278194" y="144051"/>
                  <a:pt x="268509" y="142659"/>
                </a:cubicBezTo>
                <a:cubicBezTo>
                  <a:pt x="258824" y="141268"/>
                  <a:pt x="249751" y="148058"/>
                  <a:pt x="248360" y="157743"/>
                </a:cubicBezTo>
                <a:cubicBezTo>
                  <a:pt x="240957" y="209508"/>
                  <a:pt x="196372" y="249306"/>
                  <a:pt x="142548" y="249306"/>
                </a:cubicBezTo>
                <a:cubicBezTo>
                  <a:pt x="117834" y="249306"/>
                  <a:pt x="95125" y="240957"/>
                  <a:pt x="77035" y="226875"/>
                </a:cubicBezTo>
                <a:lnTo>
                  <a:pt x="102973" y="200936"/>
                </a:lnTo>
                <a:cubicBezTo>
                  <a:pt x="106814" y="197096"/>
                  <a:pt x="107927" y="191363"/>
                  <a:pt x="105867" y="186353"/>
                </a:cubicBezTo>
                <a:cubicBezTo>
                  <a:pt x="103808" y="181344"/>
                  <a:pt x="98910" y="178115"/>
                  <a:pt x="93511" y="178115"/>
                </a:cubicBezTo>
                <a:lnTo>
                  <a:pt x="13359" y="178115"/>
                </a:lnTo>
                <a:cubicBezTo>
                  <a:pt x="5956" y="178115"/>
                  <a:pt x="0" y="184071"/>
                  <a:pt x="0" y="191474"/>
                </a:cubicBezTo>
                <a:lnTo>
                  <a:pt x="0" y="271626"/>
                </a:lnTo>
                <a:cubicBezTo>
                  <a:pt x="0" y="277025"/>
                  <a:pt x="3228" y="281923"/>
                  <a:pt x="8238" y="283983"/>
                </a:cubicBezTo>
                <a:cubicBezTo>
                  <a:pt x="13247" y="286042"/>
                  <a:pt x="18980" y="284873"/>
                  <a:pt x="22821" y="281088"/>
                </a:cubicBezTo>
                <a:lnTo>
                  <a:pt x="51653" y="252256"/>
                </a:lnTo>
                <a:cubicBezTo>
                  <a:pt x="76256" y="272684"/>
                  <a:pt x="107982" y="284985"/>
                  <a:pt x="142492" y="284985"/>
                </a:cubicBezTo>
                <a:cubicBezTo>
                  <a:pt x="214295" y="284985"/>
                  <a:pt x="273685" y="231884"/>
                  <a:pt x="283537" y="162809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1525088" y="1709908"/>
            <a:ext cx="1781154" cy="332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7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简化一致性模型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073862" y="2184882"/>
            <a:ext cx="4797242" cy="61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为提高性能，HDFS 采用</a:t>
            </a:r>
            <a:r>
              <a:rPr lang="en-US" sz="1496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简化的一致性模型</a:t>
            </a: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，通过单写者模式、顺序写入和最终一致性来平衡性能与可靠性。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073862" y="2944841"/>
            <a:ext cx="4797242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一次写入，多次读取（Write-Once-Read-Many）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73862" y="3277324"/>
            <a:ext cx="4797242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支持在文件末尾追加数据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073862" y="3609806"/>
            <a:ext cx="4797242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副本之间可能存在短暂的不一致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073862" y="3942288"/>
            <a:ext cx="4797242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通过租约机制保证写入一致性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8723" y="4773493"/>
            <a:ext cx="47497" cy="3609806"/>
          </a:xfrm>
          <a:custGeom>
            <a:avLst/>
            <a:gdLst/>
            <a:ahLst/>
            <a:cxnLst/>
            <a:rect l="l" t="t" r="r" b="b"/>
            <a:pathLst>
              <a:path w="47497" h="3609806">
                <a:moveTo>
                  <a:pt x="0" y="0"/>
                </a:moveTo>
                <a:lnTo>
                  <a:pt x="47497" y="0"/>
                </a:lnTo>
                <a:lnTo>
                  <a:pt x="47497" y="3609806"/>
                </a:lnTo>
                <a:lnTo>
                  <a:pt x="0" y="3609806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759959" y="4820991"/>
            <a:ext cx="296859" cy="237487"/>
          </a:xfrm>
          <a:custGeom>
            <a:avLst/>
            <a:gdLst/>
            <a:ahLst/>
            <a:cxnLst/>
            <a:rect l="l" t="t" r="r" b="b"/>
            <a:pathLst>
              <a:path w="296859" h="237487">
                <a:moveTo>
                  <a:pt x="192912" y="97639"/>
                </a:moveTo>
                <a:cubicBezTo>
                  <a:pt x="198571" y="96108"/>
                  <a:pt x="204508" y="98798"/>
                  <a:pt x="207059" y="104040"/>
                </a:cubicBezTo>
                <a:lnTo>
                  <a:pt x="215687" y="121480"/>
                </a:lnTo>
                <a:cubicBezTo>
                  <a:pt x="220464" y="122130"/>
                  <a:pt x="225149" y="123428"/>
                  <a:pt x="229556" y="125237"/>
                </a:cubicBezTo>
                <a:lnTo>
                  <a:pt x="245790" y="114430"/>
                </a:lnTo>
                <a:cubicBezTo>
                  <a:pt x="250660" y="111183"/>
                  <a:pt x="257108" y="111832"/>
                  <a:pt x="261236" y="115961"/>
                </a:cubicBezTo>
                <a:lnTo>
                  <a:pt x="270142" y="124866"/>
                </a:lnTo>
                <a:cubicBezTo>
                  <a:pt x="274270" y="128995"/>
                  <a:pt x="274919" y="135488"/>
                  <a:pt x="271672" y="140312"/>
                </a:cubicBezTo>
                <a:lnTo>
                  <a:pt x="260865" y="156500"/>
                </a:lnTo>
                <a:cubicBezTo>
                  <a:pt x="261746" y="158680"/>
                  <a:pt x="262535" y="160953"/>
                  <a:pt x="263184" y="163319"/>
                </a:cubicBezTo>
                <a:cubicBezTo>
                  <a:pt x="263833" y="165684"/>
                  <a:pt x="264251" y="168004"/>
                  <a:pt x="264576" y="170369"/>
                </a:cubicBezTo>
                <a:lnTo>
                  <a:pt x="282062" y="178997"/>
                </a:lnTo>
                <a:cubicBezTo>
                  <a:pt x="287304" y="181594"/>
                  <a:pt x="289994" y="187531"/>
                  <a:pt x="288463" y="193144"/>
                </a:cubicBezTo>
                <a:lnTo>
                  <a:pt x="285217" y="205297"/>
                </a:lnTo>
                <a:cubicBezTo>
                  <a:pt x="283686" y="210909"/>
                  <a:pt x="278444" y="214713"/>
                  <a:pt x="272600" y="214341"/>
                </a:cubicBezTo>
                <a:lnTo>
                  <a:pt x="253119" y="213089"/>
                </a:lnTo>
                <a:cubicBezTo>
                  <a:pt x="250196" y="216846"/>
                  <a:pt x="246810" y="220325"/>
                  <a:pt x="242961" y="223294"/>
                </a:cubicBezTo>
                <a:lnTo>
                  <a:pt x="244213" y="242729"/>
                </a:lnTo>
                <a:cubicBezTo>
                  <a:pt x="244584" y="248573"/>
                  <a:pt x="240780" y="253861"/>
                  <a:pt x="235168" y="255345"/>
                </a:cubicBezTo>
                <a:lnTo>
                  <a:pt x="223015" y="258592"/>
                </a:lnTo>
                <a:cubicBezTo>
                  <a:pt x="217356" y="260123"/>
                  <a:pt x="211466" y="257432"/>
                  <a:pt x="208868" y="252191"/>
                </a:cubicBezTo>
                <a:lnTo>
                  <a:pt x="200241" y="234751"/>
                </a:lnTo>
                <a:cubicBezTo>
                  <a:pt x="195463" y="234101"/>
                  <a:pt x="190778" y="232802"/>
                  <a:pt x="186372" y="230993"/>
                </a:cubicBezTo>
                <a:lnTo>
                  <a:pt x="170137" y="241801"/>
                </a:lnTo>
                <a:cubicBezTo>
                  <a:pt x="165267" y="245048"/>
                  <a:pt x="158820" y="244398"/>
                  <a:pt x="154691" y="240270"/>
                </a:cubicBezTo>
                <a:lnTo>
                  <a:pt x="145786" y="231364"/>
                </a:lnTo>
                <a:cubicBezTo>
                  <a:pt x="141657" y="227236"/>
                  <a:pt x="141008" y="220789"/>
                  <a:pt x="144255" y="215919"/>
                </a:cubicBezTo>
                <a:lnTo>
                  <a:pt x="155062" y="199684"/>
                </a:lnTo>
                <a:cubicBezTo>
                  <a:pt x="154181" y="197504"/>
                  <a:pt x="153393" y="195231"/>
                  <a:pt x="152743" y="192866"/>
                </a:cubicBezTo>
                <a:cubicBezTo>
                  <a:pt x="152094" y="190500"/>
                  <a:pt x="151676" y="188134"/>
                  <a:pt x="151352" y="185815"/>
                </a:cubicBezTo>
                <a:lnTo>
                  <a:pt x="133865" y="177188"/>
                </a:lnTo>
                <a:cubicBezTo>
                  <a:pt x="128623" y="174590"/>
                  <a:pt x="125980" y="168653"/>
                  <a:pt x="127464" y="163041"/>
                </a:cubicBezTo>
                <a:lnTo>
                  <a:pt x="130711" y="150888"/>
                </a:lnTo>
                <a:cubicBezTo>
                  <a:pt x="132241" y="145275"/>
                  <a:pt x="137483" y="141472"/>
                  <a:pt x="143327" y="141843"/>
                </a:cubicBezTo>
                <a:lnTo>
                  <a:pt x="162762" y="143095"/>
                </a:lnTo>
                <a:cubicBezTo>
                  <a:pt x="165684" y="139338"/>
                  <a:pt x="169070" y="135859"/>
                  <a:pt x="172920" y="132891"/>
                </a:cubicBezTo>
                <a:lnTo>
                  <a:pt x="171668" y="113502"/>
                </a:lnTo>
                <a:cubicBezTo>
                  <a:pt x="171297" y="107658"/>
                  <a:pt x="175100" y="102370"/>
                  <a:pt x="180713" y="100886"/>
                </a:cubicBezTo>
                <a:lnTo>
                  <a:pt x="192866" y="97639"/>
                </a:lnTo>
                <a:close/>
                <a:moveTo>
                  <a:pt x="207987" y="157706"/>
                </a:moveTo>
                <a:cubicBezTo>
                  <a:pt x="196723" y="157719"/>
                  <a:pt x="187588" y="166875"/>
                  <a:pt x="187601" y="178139"/>
                </a:cubicBezTo>
                <a:cubicBezTo>
                  <a:pt x="187614" y="189403"/>
                  <a:pt x="196769" y="198537"/>
                  <a:pt x="208033" y="198524"/>
                </a:cubicBezTo>
                <a:cubicBezTo>
                  <a:pt x="219297" y="198512"/>
                  <a:pt x="228432" y="189356"/>
                  <a:pt x="228419" y="178092"/>
                </a:cubicBezTo>
                <a:cubicBezTo>
                  <a:pt x="228406" y="166828"/>
                  <a:pt x="219251" y="157694"/>
                  <a:pt x="207987" y="157706"/>
                </a:cubicBezTo>
                <a:close/>
                <a:moveTo>
                  <a:pt x="104318" y="-21105"/>
                </a:moveTo>
                <a:lnTo>
                  <a:pt x="116471" y="-17858"/>
                </a:lnTo>
                <a:cubicBezTo>
                  <a:pt x="122083" y="-16327"/>
                  <a:pt x="125887" y="-11039"/>
                  <a:pt x="125516" y="-5241"/>
                </a:cubicBezTo>
                <a:lnTo>
                  <a:pt x="124263" y="14147"/>
                </a:lnTo>
                <a:cubicBezTo>
                  <a:pt x="128113" y="17116"/>
                  <a:pt x="131499" y="20548"/>
                  <a:pt x="134421" y="24352"/>
                </a:cubicBezTo>
                <a:lnTo>
                  <a:pt x="153903" y="23099"/>
                </a:lnTo>
                <a:cubicBezTo>
                  <a:pt x="159701" y="22728"/>
                  <a:pt x="164989" y="26532"/>
                  <a:pt x="166519" y="32144"/>
                </a:cubicBezTo>
                <a:lnTo>
                  <a:pt x="169766" y="44297"/>
                </a:lnTo>
                <a:cubicBezTo>
                  <a:pt x="171251" y="49909"/>
                  <a:pt x="168607" y="55847"/>
                  <a:pt x="163365" y="58444"/>
                </a:cubicBezTo>
                <a:lnTo>
                  <a:pt x="145878" y="67072"/>
                </a:lnTo>
                <a:cubicBezTo>
                  <a:pt x="145554" y="69437"/>
                  <a:pt x="145090" y="71803"/>
                  <a:pt x="144487" y="74122"/>
                </a:cubicBezTo>
                <a:cubicBezTo>
                  <a:pt x="143884" y="76441"/>
                  <a:pt x="143049" y="78760"/>
                  <a:pt x="142168" y="80940"/>
                </a:cubicBezTo>
                <a:lnTo>
                  <a:pt x="152975" y="97175"/>
                </a:lnTo>
                <a:cubicBezTo>
                  <a:pt x="156222" y="102045"/>
                  <a:pt x="155573" y="108493"/>
                  <a:pt x="151444" y="112621"/>
                </a:cubicBezTo>
                <a:lnTo>
                  <a:pt x="142539" y="121527"/>
                </a:lnTo>
                <a:cubicBezTo>
                  <a:pt x="138411" y="125655"/>
                  <a:pt x="131963" y="126304"/>
                  <a:pt x="127093" y="123057"/>
                </a:cubicBezTo>
                <a:lnTo>
                  <a:pt x="110858" y="112250"/>
                </a:lnTo>
                <a:cubicBezTo>
                  <a:pt x="106452" y="114059"/>
                  <a:pt x="101767" y="115358"/>
                  <a:pt x="96989" y="116007"/>
                </a:cubicBezTo>
                <a:lnTo>
                  <a:pt x="88362" y="133447"/>
                </a:lnTo>
                <a:cubicBezTo>
                  <a:pt x="85764" y="138689"/>
                  <a:pt x="79827" y="141333"/>
                  <a:pt x="74215" y="139848"/>
                </a:cubicBezTo>
                <a:lnTo>
                  <a:pt x="62062" y="136602"/>
                </a:lnTo>
                <a:cubicBezTo>
                  <a:pt x="56403" y="135071"/>
                  <a:pt x="52646" y="129783"/>
                  <a:pt x="53017" y="123985"/>
                </a:cubicBezTo>
                <a:lnTo>
                  <a:pt x="54270" y="104550"/>
                </a:lnTo>
                <a:cubicBezTo>
                  <a:pt x="50420" y="101581"/>
                  <a:pt x="47034" y="98149"/>
                  <a:pt x="44111" y="94346"/>
                </a:cubicBezTo>
                <a:lnTo>
                  <a:pt x="24630" y="95598"/>
                </a:lnTo>
                <a:cubicBezTo>
                  <a:pt x="18832" y="95969"/>
                  <a:pt x="13544" y="92165"/>
                  <a:pt x="12014" y="86553"/>
                </a:cubicBezTo>
                <a:lnTo>
                  <a:pt x="8767" y="74400"/>
                </a:lnTo>
                <a:cubicBezTo>
                  <a:pt x="7282" y="68788"/>
                  <a:pt x="9926" y="62851"/>
                  <a:pt x="15168" y="60253"/>
                </a:cubicBezTo>
                <a:lnTo>
                  <a:pt x="32654" y="51626"/>
                </a:lnTo>
                <a:cubicBezTo>
                  <a:pt x="32979" y="49260"/>
                  <a:pt x="33443" y="46941"/>
                  <a:pt x="34046" y="44575"/>
                </a:cubicBezTo>
                <a:cubicBezTo>
                  <a:pt x="34695" y="42210"/>
                  <a:pt x="35438" y="39937"/>
                  <a:pt x="36365" y="37757"/>
                </a:cubicBezTo>
                <a:lnTo>
                  <a:pt x="25558" y="21569"/>
                </a:lnTo>
                <a:cubicBezTo>
                  <a:pt x="22311" y="16698"/>
                  <a:pt x="22960" y="10251"/>
                  <a:pt x="27088" y="6123"/>
                </a:cubicBezTo>
                <a:lnTo>
                  <a:pt x="35994" y="-2783"/>
                </a:lnTo>
                <a:cubicBezTo>
                  <a:pt x="40122" y="-6911"/>
                  <a:pt x="46570" y="-7561"/>
                  <a:pt x="51440" y="-4314"/>
                </a:cubicBezTo>
                <a:lnTo>
                  <a:pt x="67675" y="6494"/>
                </a:lnTo>
                <a:cubicBezTo>
                  <a:pt x="72081" y="4685"/>
                  <a:pt x="76766" y="3386"/>
                  <a:pt x="81543" y="2737"/>
                </a:cubicBezTo>
                <a:lnTo>
                  <a:pt x="90171" y="-14704"/>
                </a:lnTo>
                <a:cubicBezTo>
                  <a:pt x="92768" y="-19945"/>
                  <a:pt x="98659" y="-22589"/>
                  <a:pt x="104318" y="-21105"/>
                </a:cubicBezTo>
                <a:close/>
                <a:moveTo>
                  <a:pt x="89243" y="38963"/>
                </a:moveTo>
                <a:cubicBezTo>
                  <a:pt x="77979" y="38963"/>
                  <a:pt x="68834" y="48108"/>
                  <a:pt x="68834" y="59372"/>
                </a:cubicBezTo>
                <a:cubicBezTo>
                  <a:pt x="68834" y="70636"/>
                  <a:pt x="77979" y="79781"/>
                  <a:pt x="89243" y="79781"/>
                </a:cubicBezTo>
                <a:cubicBezTo>
                  <a:pt x="100507" y="79781"/>
                  <a:pt x="109652" y="70636"/>
                  <a:pt x="109652" y="59372"/>
                </a:cubicBezTo>
                <a:cubicBezTo>
                  <a:pt x="109652" y="48108"/>
                  <a:pt x="100507" y="38963"/>
                  <a:pt x="89243" y="38963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199310" y="4773493"/>
            <a:ext cx="2256129" cy="332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7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设计假设与硬件考虑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59959" y="5248467"/>
            <a:ext cx="7314606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商用硬件假设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9959" y="5628447"/>
            <a:ext cx="7314606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成本效益优先，使用普通 PC 服务器降低成本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9959" y="5960929"/>
            <a:ext cx="7314606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故障率相对较高，通过软件容错机制应对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59959" y="6293411"/>
            <a:ext cx="7314606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性能中等，通过并行处理弥补单机性能不足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9959" y="6720888"/>
            <a:ext cx="7314606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网络环境假设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59959" y="7100868"/>
            <a:ext cx="7314606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带宽有限，优化数据传输减少网络开销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9959" y="7433350"/>
            <a:ext cx="7314606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延迟不可忽略，设计本地化策略减少网络延迟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59959" y="7765832"/>
            <a:ext cx="7314606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分层网络拓扑，实现机架感知的数据放置策略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93499" y="4773493"/>
            <a:ext cx="47497" cy="3609806"/>
          </a:xfrm>
          <a:custGeom>
            <a:avLst/>
            <a:gdLst/>
            <a:ahLst/>
            <a:cxnLst/>
            <a:rect l="l" t="t" r="r" b="b"/>
            <a:pathLst>
              <a:path w="47497" h="3609806">
                <a:moveTo>
                  <a:pt x="0" y="0"/>
                </a:moveTo>
                <a:lnTo>
                  <a:pt x="47497" y="0"/>
                </a:lnTo>
                <a:lnTo>
                  <a:pt x="47497" y="3609806"/>
                </a:lnTo>
                <a:lnTo>
                  <a:pt x="0" y="3609806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584421" y="4820991"/>
            <a:ext cx="237487" cy="237487"/>
          </a:xfrm>
          <a:custGeom>
            <a:avLst/>
            <a:gdLst/>
            <a:ahLst/>
            <a:cxnLst/>
            <a:rect l="l" t="t" r="r" b="b"/>
            <a:pathLst>
              <a:path w="237487" h="237487">
                <a:moveTo>
                  <a:pt x="29686" y="29686"/>
                </a:moveTo>
                <a:cubicBezTo>
                  <a:pt x="29686" y="21476"/>
                  <a:pt x="23053" y="14843"/>
                  <a:pt x="14843" y="14843"/>
                </a:cubicBezTo>
                <a:cubicBezTo>
                  <a:pt x="6633" y="14843"/>
                  <a:pt x="0" y="21476"/>
                  <a:pt x="0" y="29686"/>
                </a:cubicBezTo>
                <a:lnTo>
                  <a:pt x="0" y="185537"/>
                </a:lnTo>
                <a:cubicBezTo>
                  <a:pt x="0" y="206039"/>
                  <a:pt x="16606" y="222644"/>
                  <a:pt x="37107" y="222644"/>
                </a:cubicBezTo>
                <a:lnTo>
                  <a:pt x="222644" y="222644"/>
                </a:lnTo>
                <a:cubicBezTo>
                  <a:pt x="230854" y="222644"/>
                  <a:pt x="237487" y="216011"/>
                  <a:pt x="237487" y="207801"/>
                </a:cubicBezTo>
                <a:cubicBezTo>
                  <a:pt x="237487" y="199591"/>
                  <a:pt x="230854" y="192958"/>
                  <a:pt x="222644" y="192958"/>
                </a:cubicBezTo>
                <a:lnTo>
                  <a:pt x="37107" y="192958"/>
                </a:lnTo>
                <a:cubicBezTo>
                  <a:pt x="33026" y="192958"/>
                  <a:pt x="29686" y="189619"/>
                  <a:pt x="29686" y="185537"/>
                </a:cubicBezTo>
                <a:lnTo>
                  <a:pt x="29686" y="29686"/>
                </a:lnTo>
                <a:close/>
                <a:moveTo>
                  <a:pt x="218284" y="69855"/>
                </a:moveTo>
                <a:cubicBezTo>
                  <a:pt x="224082" y="64057"/>
                  <a:pt x="224082" y="54641"/>
                  <a:pt x="218284" y="48843"/>
                </a:cubicBezTo>
                <a:cubicBezTo>
                  <a:pt x="212486" y="43045"/>
                  <a:pt x="203070" y="43045"/>
                  <a:pt x="197272" y="48843"/>
                </a:cubicBezTo>
                <a:lnTo>
                  <a:pt x="148430" y="97732"/>
                </a:lnTo>
                <a:lnTo>
                  <a:pt x="121805" y="71153"/>
                </a:lnTo>
                <a:cubicBezTo>
                  <a:pt x="116007" y="65355"/>
                  <a:pt x="106591" y="65355"/>
                  <a:pt x="100793" y="71153"/>
                </a:cubicBezTo>
                <a:lnTo>
                  <a:pt x="56264" y="115682"/>
                </a:lnTo>
                <a:cubicBezTo>
                  <a:pt x="50466" y="121480"/>
                  <a:pt x="50466" y="130896"/>
                  <a:pt x="56264" y="136694"/>
                </a:cubicBezTo>
                <a:cubicBezTo>
                  <a:pt x="62062" y="142492"/>
                  <a:pt x="71478" y="142492"/>
                  <a:pt x="77276" y="136694"/>
                </a:cubicBezTo>
                <a:lnTo>
                  <a:pt x="111322" y="102648"/>
                </a:lnTo>
                <a:lnTo>
                  <a:pt x="137947" y="129273"/>
                </a:lnTo>
                <a:cubicBezTo>
                  <a:pt x="143745" y="135071"/>
                  <a:pt x="153161" y="135071"/>
                  <a:pt x="158959" y="129273"/>
                </a:cubicBezTo>
                <a:lnTo>
                  <a:pt x="218331" y="69901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994086" y="4773493"/>
            <a:ext cx="1543667" cy="332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7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应用特征假设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54735" y="5248467"/>
            <a:ext cx="7314606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大文件优先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54735" y="5628447"/>
            <a:ext cx="7314606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文件大小通常为 GB 到 TB 级别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554735" y="5960929"/>
            <a:ext cx="7314606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块大小默认 128MB，远大于传统文件系统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554735" y="6293411"/>
            <a:ext cx="7314606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相对于数据量，元数据占比很小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554735" y="6720888"/>
            <a:ext cx="7314606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访问模式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554735" y="7100868"/>
            <a:ext cx="7314606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写入模式：一次写入，多次读取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554735" y="7433350"/>
            <a:ext cx="7314606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读取模式：大规模流式读取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554735" y="7765832"/>
            <a:ext cx="7314606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不优化小规模随机读写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554735" y="8098314"/>
            <a:ext cx="7314606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9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支持在文件末尾追加数据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4350" y="1797050"/>
            <a:ext cx="2070100" cy="571500"/>
          </a:xfrm>
          <a:custGeom>
            <a:avLst/>
            <a:gdLst/>
            <a:ahLst/>
            <a:cxnLst/>
            <a:rect l="l" t="t" r="r" b="b"/>
            <a:pathLst>
              <a:path w="2070100" h="571500">
                <a:moveTo>
                  <a:pt x="101601" y="0"/>
                </a:moveTo>
                <a:lnTo>
                  <a:pt x="1968499" y="0"/>
                </a:lnTo>
                <a:cubicBezTo>
                  <a:pt x="2024612" y="0"/>
                  <a:pt x="2070100" y="45488"/>
                  <a:pt x="2070100" y="101601"/>
                </a:cubicBezTo>
                <a:lnTo>
                  <a:pt x="2070100" y="469899"/>
                </a:lnTo>
                <a:cubicBezTo>
                  <a:pt x="2070100" y="526012"/>
                  <a:pt x="2024612" y="571500"/>
                  <a:pt x="1968499" y="571500"/>
                </a:cubicBezTo>
                <a:lnTo>
                  <a:pt x="101601" y="571500"/>
                </a:lnTo>
                <a:cubicBezTo>
                  <a:pt x="45488" y="571500"/>
                  <a:pt x="0" y="526012"/>
                  <a:pt x="0" y="4698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23900" y="1911350"/>
            <a:ext cx="1774031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1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679700"/>
            <a:ext cx="1562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系统架构与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核心组件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4889500"/>
            <a:ext cx="15392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Master-Slave 架构与分布式系统设计理论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深入理解 NameNode、DataNode 与客户端的协作机制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33400" y="64897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762000" y="6489700"/>
            <a:ext cx="353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7048500"/>
            <a:ext cx="344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元数据管理核心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428034" y="64897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4656634" y="6489700"/>
            <a:ext cx="353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DataNode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56634" y="7048500"/>
            <a:ext cx="344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数据存储工作节点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322667" y="64897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8551267" y="6489700"/>
            <a:ext cx="353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51267" y="7048500"/>
            <a:ext cx="344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文件系统接口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DISTRIBUTED SYSTEMS THEORY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分布式系统设计理论基础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24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828800"/>
            <a:ext cx="50800" cy="2844800"/>
          </a:xfrm>
          <a:custGeom>
            <a:avLst/>
            <a:gdLst/>
            <a:ahLst/>
            <a:cxnLst/>
            <a:rect l="l" t="t" r="r" b="b"/>
            <a:pathLst>
              <a:path w="50800" h="2844800">
                <a:moveTo>
                  <a:pt x="0" y="0"/>
                </a:moveTo>
                <a:lnTo>
                  <a:pt x="50800" y="0"/>
                </a:lnTo>
                <a:lnTo>
                  <a:pt x="50800" y="2844800"/>
                </a:lnTo>
                <a:lnTo>
                  <a:pt x="0" y="28448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62000" y="18288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分布式系统基本挑战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3368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网络分区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：节点间通信可能中断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7432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节点故障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：任意节点可能随时故障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1496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数据一致性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：多副本间数据同步困难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5560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可扩展性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：系统规模增长带来的复杂性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9624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：分布式环境下的性能权衡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43688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容错处理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：部分故障下的系统可用性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98034" y="1828800"/>
            <a:ext cx="50800" cy="2844800"/>
          </a:xfrm>
          <a:custGeom>
            <a:avLst/>
            <a:gdLst/>
            <a:ahLst/>
            <a:cxnLst/>
            <a:rect l="l" t="t" r="r" b="b"/>
            <a:pathLst>
              <a:path w="50800" h="2844800">
                <a:moveTo>
                  <a:pt x="0" y="0"/>
                </a:moveTo>
                <a:lnTo>
                  <a:pt x="50800" y="0"/>
                </a:lnTo>
                <a:lnTo>
                  <a:pt x="50800" y="2844800"/>
                </a:lnTo>
                <a:lnTo>
                  <a:pt x="0" y="28448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926634" y="18288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应对策略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26634" y="23368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心跳机制 + 超时检测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26634" y="27432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多副本机制 + 故障检测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26634" y="31496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简化一致性模型 + 单写者模式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26634" y="35560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水平扩展 + 负载均衡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26634" y="39624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数据本地性 + 批量操作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26634" y="43688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优雅降级 + 自动恢复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862667" y="1828800"/>
            <a:ext cx="50800" cy="2844800"/>
          </a:xfrm>
          <a:custGeom>
            <a:avLst/>
            <a:gdLst/>
            <a:ahLst/>
            <a:cxnLst/>
            <a:rect l="l" t="t" r="r" b="b"/>
            <a:pathLst>
              <a:path w="50800" h="2844800">
                <a:moveTo>
                  <a:pt x="0" y="0"/>
                </a:moveTo>
                <a:lnTo>
                  <a:pt x="50800" y="0"/>
                </a:lnTo>
                <a:lnTo>
                  <a:pt x="50800" y="2844800"/>
                </a:lnTo>
                <a:lnTo>
                  <a:pt x="0" y="28448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1091267" y="1828800"/>
            <a:ext cx="477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理论基础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91267" y="23368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FLP 不可能性定理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091267" y="27432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拜占庭将军问题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091267" y="31496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CAP 定理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91267" y="35560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可扩展性理论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091267" y="39624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分布式系统性能模型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091267" y="43688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容错理论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3400" y="4927600"/>
            <a:ext cx="50800" cy="2794000"/>
          </a:xfrm>
          <a:custGeom>
            <a:avLst/>
            <a:gdLst/>
            <a:ahLst/>
            <a:cxnLst/>
            <a:rect l="l" t="t" r="r" b="b"/>
            <a:pathLst>
              <a:path w="50800" h="2794000">
                <a:moveTo>
                  <a:pt x="0" y="0"/>
                </a:moveTo>
                <a:lnTo>
                  <a:pt x="50800" y="0"/>
                </a:lnTo>
                <a:lnTo>
                  <a:pt x="50800" y="2794000"/>
                </a:lnTo>
                <a:lnTo>
                  <a:pt x="0" y="2794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12800" y="49784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90500" y="15875"/>
                </a:moveTo>
                <a:lnTo>
                  <a:pt x="254000" y="15875"/>
                </a:lnTo>
                <a:cubicBezTo>
                  <a:pt x="262781" y="15875"/>
                  <a:pt x="269875" y="22969"/>
                  <a:pt x="269875" y="31750"/>
                </a:cubicBezTo>
                <a:cubicBezTo>
                  <a:pt x="269875" y="40531"/>
                  <a:pt x="262781" y="47625"/>
                  <a:pt x="254000" y="47625"/>
                </a:cubicBezTo>
                <a:lnTo>
                  <a:pt x="197644" y="47625"/>
                </a:lnTo>
                <a:cubicBezTo>
                  <a:pt x="195064" y="60424"/>
                  <a:pt x="186283" y="70991"/>
                  <a:pt x="174625" y="76051"/>
                </a:cubicBezTo>
                <a:lnTo>
                  <a:pt x="174625" y="222250"/>
                </a:lnTo>
                <a:lnTo>
                  <a:pt x="254000" y="222250"/>
                </a:lnTo>
                <a:cubicBezTo>
                  <a:pt x="262781" y="222250"/>
                  <a:pt x="269875" y="229344"/>
                  <a:pt x="269875" y="238125"/>
                </a:cubicBezTo>
                <a:cubicBezTo>
                  <a:pt x="269875" y="246906"/>
                  <a:pt x="262781" y="254000"/>
                  <a:pt x="254000" y="254000"/>
                </a:cubicBezTo>
                <a:lnTo>
                  <a:pt x="63500" y="254000"/>
                </a:lnTo>
                <a:cubicBezTo>
                  <a:pt x="54719" y="254000"/>
                  <a:pt x="47625" y="246906"/>
                  <a:pt x="47625" y="238125"/>
                </a:cubicBezTo>
                <a:cubicBezTo>
                  <a:pt x="47625" y="229344"/>
                  <a:pt x="54719" y="222250"/>
                  <a:pt x="63500" y="222250"/>
                </a:cubicBezTo>
                <a:lnTo>
                  <a:pt x="142875" y="222250"/>
                </a:lnTo>
                <a:lnTo>
                  <a:pt x="142875" y="76051"/>
                </a:lnTo>
                <a:cubicBezTo>
                  <a:pt x="131217" y="70941"/>
                  <a:pt x="122436" y="60375"/>
                  <a:pt x="119856" y="47625"/>
                </a:cubicBezTo>
                <a:lnTo>
                  <a:pt x="63500" y="47625"/>
                </a:lnTo>
                <a:cubicBezTo>
                  <a:pt x="54719" y="47625"/>
                  <a:pt x="47625" y="40531"/>
                  <a:pt x="47625" y="31750"/>
                </a:cubicBezTo>
                <a:cubicBezTo>
                  <a:pt x="47625" y="22969"/>
                  <a:pt x="54719" y="15875"/>
                  <a:pt x="63500" y="15875"/>
                </a:cubicBezTo>
                <a:lnTo>
                  <a:pt x="127000" y="15875"/>
                </a:lnTo>
                <a:cubicBezTo>
                  <a:pt x="134243" y="6251"/>
                  <a:pt x="145752" y="0"/>
                  <a:pt x="158750" y="0"/>
                </a:cubicBezTo>
                <a:cubicBezTo>
                  <a:pt x="171748" y="0"/>
                  <a:pt x="183257" y="6251"/>
                  <a:pt x="190500" y="15875"/>
                </a:cubicBezTo>
                <a:close/>
                <a:moveTo>
                  <a:pt x="218083" y="158750"/>
                </a:moveTo>
                <a:lnTo>
                  <a:pt x="289917" y="158750"/>
                </a:lnTo>
                <a:lnTo>
                  <a:pt x="254000" y="97135"/>
                </a:lnTo>
                <a:lnTo>
                  <a:pt x="218083" y="158750"/>
                </a:lnTo>
                <a:close/>
                <a:moveTo>
                  <a:pt x="254000" y="206375"/>
                </a:moveTo>
                <a:cubicBezTo>
                  <a:pt x="222796" y="206375"/>
                  <a:pt x="196850" y="189508"/>
                  <a:pt x="191492" y="167233"/>
                </a:cubicBezTo>
                <a:cubicBezTo>
                  <a:pt x="190202" y="161776"/>
                  <a:pt x="191988" y="156170"/>
                  <a:pt x="194816" y="151309"/>
                </a:cubicBezTo>
                <a:lnTo>
                  <a:pt x="242044" y="70346"/>
                </a:lnTo>
                <a:cubicBezTo>
                  <a:pt x="244525" y="66080"/>
                  <a:pt x="249089" y="63500"/>
                  <a:pt x="254000" y="63500"/>
                </a:cubicBezTo>
                <a:cubicBezTo>
                  <a:pt x="258911" y="63500"/>
                  <a:pt x="263475" y="66129"/>
                  <a:pt x="265956" y="70346"/>
                </a:cubicBezTo>
                <a:lnTo>
                  <a:pt x="313184" y="151309"/>
                </a:lnTo>
                <a:cubicBezTo>
                  <a:pt x="316012" y="156170"/>
                  <a:pt x="317798" y="161776"/>
                  <a:pt x="316508" y="167233"/>
                </a:cubicBezTo>
                <a:cubicBezTo>
                  <a:pt x="311150" y="189458"/>
                  <a:pt x="285204" y="206375"/>
                  <a:pt x="254000" y="206375"/>
                </a:cubicBezTo>
                <a:close/>
                <a:moveTo>
                  <a:pt x="62905" y="97135"/>
                </a:moveTo>
                <a:lnTo>
                  <a:pt x="26988" y="158750"/>
                </a:lnTo>
                <a:lnTo>
                  <a:pt x="98871" y="158750"/>
                </a:lnTo>
                <a:lnTo>
                  <a:pt x="62905" y="97135"/>
                </a:lnTo>
                <a:close/>
                <a:moveTo>
                  <a:pt x="446" y="167233"/>
                </a:moveTo>
                <a:cubicBezTo>
                  <a:pt x="-843" y="161776"/>
                  <a:pt x="943" y="156170"/>
                  <a:pt x="3770" y="151309"/>
                </a:cubicBezTo>
                <a:lnTo>
                  <a:pt x="50998" y="70346"/>
                </a:lnTo>
                <a:cubicBezTo>
                  <a:pt x="53479" y="66080"/>
                  <a:pt x="58043" y="63500"/>
                  <a:pt x="62954" y="63500"/>
                </a:cubicBezTo>
                <a:cubicBezTo>
                  <a:pt x="67866" y="63500"/>
                  <a:pt x="72430" y="66129"/>
                  <a:pt x="74910" y="70346"/>
                </a:cubicBezTo>
                <a:lnTo>
                  <a:pt x="122138" y="151309"/>
                </a:lnTo>
                <a:cubicBezTo>
                  <a:pt x="124966" y="156170"/>
                  <a:pt x="126752" y="161776"/>
                  <a:pt x="125462" y="167233"/>
                </a:cubicBezTo>
                <a:cubicBezTo>
                  <a:pt x="120104" y="189458"/>
                  <a:pt x="94159" y="206375"/>
                  <a:pt x="62954" y="206375"/>
                </a:cubicBezTo>
                <a:cubicBezTo>
                  <a:pt x="31750" y="206375"/>
                  <a:pt x="5804" y="189508"/>
                  <a:pt x="446" y="167233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282700" y="4927600"/>
            <a:ext cx="2781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 定理与 HDFS 选择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2800" y="5435600"/>
            <a:ext cx="726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CAP 定理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：在分布式系统中，一致性 (C)、可用性 (A) 和分区容错性 (P) 三者不可兼得，最多只能同时满足两个。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2800" y="61976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的 CP 系统选择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2800" y="66040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一致性保证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：强一致性元数据 + 最终一致性数据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12800" y="70104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分区容错性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：副本机制 + 故障检测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2800" y="7416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可用性权衡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：HA 机制 + 自动故障转移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05800" y="4927600"/>
            <a:ext cx="50800" cy="2794000"/>
          </a:xfrm>
          <a:custGeom>
            <a:avLst/>
            <a:gdLst/>
            <a:ahLst/>
            <a:cxnLst/>
            <a:rect l="l" t="t" r="r" b="b"/>
            <a:pathLst>
              <a:path w="50800" h="2794000">
                <a:moveTo>
                  <a:pt x="0" y="0"/>
                </a:moveTo>
                <a:lnTo>
                  <a:pt x="50800" y="0"/>
                </a:lnTo>
                <a:lnTo>
                  <a:pt x="50800" y="2794000"/>
                </a:lnTo>
                <a:lnTo>
                  <a:pt x="0" y="27940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616950" y="4978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5342" y="2580"/>
                </a:moveTo>
                <a:cubicBezTo>
                  <a:pt x="122734" y="-843"/>
                  <a:pt x="131266" y="-843"/>
                  <a:pt x="138658" y="2580"/>
                </a:cubicBezTo>
                <a:lnTo>
                  <a:pt x="247104" y="52685"/>
                </a:lnTo>
                <a:cubicBezTo>
                  <a:pt x="251321" y="54620"/>
                  <a:pt x="254000" y="58837"/>
                  <a:pt x="254000" y="63500"/>
                </a:cubicBezTo>
                <a:cubicBezTo>
                  <a:pt x="254000" y="68163"/>
                  <a:pt x="251321" y="72380"/>
                  <a:pt x="247104" y="74315"/>
                </a:cubicBezTo>
                <a:lnTo>
                  <a:pt x="138658" y="124420"/>
                </a:lnTo>
                <a:cubicBezTo>
                  <a:pt x="131266" y="127843"/>
                  <a:pt x="122734" y="127843"/>
                  <a:pt x="115342" y="124420"/>
                </a:cubicBezTo>
                <a:lnTo>
                  <a:pt x="6896" y="74315"/>
                </a:lnTo>
                <a:cubicBezTo>
                  <a:pt x="2679" y="72330"/>
                  <a:pt x="0" y="68114"/>
                  <a:pt x="0" y="63500"/>
                </a:cubicBezTo>
                <a:cubicBezTo>
                  <a:pt x="0" y="58886"/>
                  <a:pt x="2679" y="54620"/>
                  <a:pt x="6896" y="52685"/>
                </a:cubicBezTo>
                <a:lnTo>
                  <a:pt x="115342" y="2580"/>
                </a:lnTo>
                <a:close/>
                <a:moveTo>
                  <a:pt x="23862" y="108347"/>
                </a:moveTo>
                <a:lnTo>
                  <a:pt x="105370" y="146000"/>
                </a:lnTo>
                <a:cubicBezTo>
                  <a:pt x="119112" y="152350"/>
                  <a:pt x="134938" y="152350"/>
                  <a:pt x="148679" y="146000"/>
                </a:cubicBezTo>
                <a:lnTo>
                  <a:pt x="230188" y="108347"/>
                </a:lnTo>
                <a:lnTo>
                  <a:pt x="247104" y="116185"/>
                </a:lnTo>
                <a:cubicBezTo>
                  <a:pt x="251321" y="118120"/>
                  <a:pt x="254000" y="122337"/>
                  <a:pt x="254000" y="127000"/>
                </a:cubicBezTo>
                <a:cubicBezTo>
                  <a:pt x="254000" y="131663"/>
                  <a:pt x="251321" y="135880"/>
                  <a:pt x="247104" y="137815"/>
                </a:cubicBezTo>
                <a:lnTo>
                  <a:pt x="138658" y="187920"/>
                </a:lnTo>
                <a:cubicBezTo>
                  <a:pt x="131266" y="191343"/>
                  <a:pt x="122734" y="191343"/>
                  <a:pt x="115342" y="187920"/>
                </a:cubicBezTo>
                <a:lnTo>
                  <a:pt x="6896" y="137815"/>
                </a:lnTo>
                <a:cubicBezTo>
                  <a:pt x="2679" y="135830"/>
                  <a:pt x="0" y="131614"/>
                  <a:pt x="0" y="127000"/>
                </a:cubicBezTo>
                <a:cubicBezTo>
                  <a:pt x="0" y="122386"/>
                  <a:pt x="2679" y="118120"/>
                  <a:pt x="6896" y="116185"/>
                </a:cubicBezTo>
                <a:lnTo>
                  <a:pt x="23812" y="108347"/>
                </a:lnTo>
                <a:close/>
                <a:moveTo>
                  <a:pt x="6896" y="179685"/>
                </a:moveTo>
                <a:lnTo>
                  <a:pt x="23812" y="171847"/>
                </a:lnTo>
                <a:lnTo>
                  <a:pt x="105321" y="209500"/>
                </a:lnTo>
                <a:cubicBezTo>
                  <a:pt x="119063" y="215850"/>
                  <a:pt x="134888" y="215850"/>
                  <a:pt x="148630" y="209500"/>
                </a:cubicBezTo>
                <a:lnTo>
                  <a:pt x="230138" y="171847"/>
                </a:lnTo>
                <a:lnTo>
                  <a:pt x="247055" y="179685"/>
                </a:lnTo>
                <a:cubicBezTo>
                  <a:pt x="251271" y="181620"/>
                  <a:pt x="253950" y="185837"/>
                  <a:pt x="253950" y="190500"/>
                </a:cubicBezTo>
                <a:cubicBezTo>
                  <a:pt x="253950" y="195163"/>
                  <a:pt x="251271" y="199380"/>
                  <a:pt x="247055" y="201315"/>
                </a:cubicBezTo>
                <a:lnTo>
                  <a:pt x="138609" y="251420"/>
                </a:lnTo>
                <a:cubicBezTo>
                  <a:pt x="131217" y="254843"/>
                  <a:pt x="122684" y="254843"/>
                  <a:pt x="115292" y="251420"/>
                </a:cubicBezTo>
                <a:lnTo>
                  <a:pt x="6896" y="201315"/>
                </a:lnTo>
                <a:cubicBezTo>
                  <a:pt x="2679" y="199330"/>
                  <a:pt x="0" y="195114"/>
                  <a:pt x="0" y="190500"/>
                </a:cubicBezTo>
                <a:cubicBezTo>
                  <a:pt x="0" y="185886"/>
                  <a:pt x="2679" y="181620"/>
                  <a:pt x="6896" y="179685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9055100" y="49276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核心设计模式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585200" y="54356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Master-Slave 模式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585200" y="57912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集中式元数据管理，简化一致性，统一决策中心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85200" y="62484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数据分片模式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85200" y="66040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文件分块 (128MB)，分布存储，并行处理提升 I/O 性能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85200" y="70612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副本模式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585200" y="7416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三副本设计，机架感知，动态管理和修复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HDFS 整体架构概览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24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828800"/>
            <a:ext cx="50800" cy="2692400"/>
          </a:xfrm>
          <a:custGeom>
            <a:avLst/>
            <a:gdLst/>
            <a:ahLst/>
            <a:cxnLst/>
            <a:rect l="l" t="t" r="r" b="b"/>
            <a:pathLst>
              <a:path w="50800" h="2692400">
                <a:moveTo>
                  <a:pt x="0" y="0"/>
                </a:moveTo>
                <a:lnTo>
                  <a:pt x="50800" y="0"/>
                </a:lnTo>
                <a:lnTo>
                  <a:pt x="50800" y="2692400"/>
                </a:lnTo>
                <a:lnTo>
                  <a:pt x="0" y="26924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19150" y="18542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95250"/>
                </a:lnTo>
                <a:cubicBezTo>
                  <a:pt x="0" y="116265"/>
                  <a:pt x="17085" y="133350"/>
                  <a:pt x="38100" y="133350"/>
                </a:cubicBezTo>
                <a:lnTo>
                  <a:pt x="228600" y="133350"/>
                </a:lnTo>
                <a:cubicBezTo>
                  <a:pt x="249615" y="133350"/>
                  <a:pt x="266700" y="116265"/>
                  <a:pt x="266700" y="952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166688" y="61912"/>
                </a:moveTo>
                <a:cubicBezTo>
                  <a:pt x="174573" y="61912"/>
                  <a:pt x="180975" y="68315"/>
                  <a:pt x="180975" y="76200"/>
                </a:cubicBezTo>
                <a:cubicBezTo>
                  <a:pt x="180975" y="84085"/>
                  <a:pt x="174573" y="90488"/>
                  <a:pt x="166688" y="90488"/>
                </a:cubicBezTo>
                <a:cubicBezTo>
                  <a:pt x="158802" y="90488"/>
                  <a:pt x="152400" y="84085"/>
                  <a:pt x="152400" y="76200"/>
                </a:cubicBezTo>
                <a:cubicBezTo>
                  <a:pt x="152400" y="68315"/>
                  <a:pt x="158802" y="61912"/>
                  <a:pt x="166688" y="61912"/>
                </a:cubicBezTo>
                <a:close/>
                <a:moveTo>
                  <a:pt x="200025" y="76200"/>
                </a:moveTo>
                <a:cubicBezTo>
                  <a:pt x="200025" y="68315"/>
                  <a:pt x="206427" y="61912"/>
                  <a:pt x="214313" y="61912"/>
                </a:cubicBezTo>
                <a:cubicBezTo>
                  <a:pt x="222198" y="61912"/>
                  <a:pt x="228600" y="68315"/>
                  <a:pt x="228600" y="76200"/>
                </a:cubicBezTo>
                <a:cubicBezTo>
                  <a:pt x="228600" y="84085"/>
                  <a:pt x="222198" y="90488"/>
                  <a:pt x="214313" y="90488"/>
                </a:cubicBezTo>
                <a:cubicBezTo>
                  <a:pt x="206427" y="90488"/>
                  <a:pt x="200025" y="84085"/>
                  <a:pt x="200025" y="76200"/>
                </a:cubicBezTo>
                <a:close/>
                <a:moveTo>
                  <a:pt x="38100" y="171450"/>
                </a:moveTo>
                <a:cubicBezTo>
                  <a:pt x="17085" y="171450"/>
                  <a:pt x="0" y="188535"/>
                  <a:pt x="0" y="2095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209550"/>
                </a:lnTo>
                <a:cubicBezTo>
                  <a:pt x="266700" y="188535"/>
                  <a:pt x="249615" y="171450"/>
                  <a:pt x="228600" y="171450"/>
                </a:cubicBezTo>
                <a:lnTo>
                  <a:pt x="38100" y="171450"/>
                </a:lnTo>
                <a:close/>
                <a:moveTo>
                  <a:pt x="166688" y="214313"/>
                </a:moveTo>
                <a:cubicBezTo>
                  <a:pt x="174573" y="214313"/>
                  <a:pt x="180975" y="220715"/>
                  <a:pt x="180975" y="228600"/>
                </a:cubicBezTo>
                <a:cubicBezTo>
                  <a:pt x="180975" y="236485"/>
                  <a:pt x="174573" y="242888"/>
                  <a:pt x="166688" y="242888"/>
                </a:cubicBezTo>
                <a:cubicBezTo>
                  <a:pt x="158802" y="242888"/>
                  <a:pt x="152400" y="236485"/>
                  <a:pt x="152400" y="228600"/>
                </a:cubicBezTo>
                <a:cubicBezTo>
                  <a:pt x="152400" y="220715"/>
                  <a:pt x="158802" y="214313"/>
                  <a:pt x="166688" y="214313"/>
                </a:cubicBezTo>
                <a:close/>
                <a:moveTo>
                  <a:pt x="200025" y="228600"/>
                </a:moveTo>
                <a:cubicBezTo>
                  <a:pt x="200025" y="220715"/>
                  <a:pt x="206427" y="214313"/>
                  <a:pt x="214313" y="214313"/>
                </a:cubicBezTo>
                <a:cubicBezTo>
                  <a:pt x="222198" y="214313"/>
                  <a:pt x="228600" y="220715"/>
                  <a:pt x="228600" y="228600"/>
                </a:cubicBezTo>
                <a:cubicBezTo>
                  <a:pt x="228600" y="236485"/>
                  <a:pt x="222198" y="242888"/>
                  <a:pt x="214313" y="242888"/>
                </a:cubicBezTo>
                <a:cubicBezTo>
                  <a:pt x="206427" y="242888"/>
                  <a:pt x="200025" y="236485"/>
                  <a:pt x="200025" y="22860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44600" y="1828800"/>
            <a:ext cx="1435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33680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的主节点，负责管理文件系统的命名空间和协调整个集群的操作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098800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核心职责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505200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元数据管理（命名空间、块映射）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860800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集群协调（DataNode 管理、负载均衡）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4216400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安全管理（权限控制、用户认证）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15000" y="1828800"/>
            <a:ext cx="50800" cy="2692400"/>
          </a:xfrm>
          <a:custGeom>
            <a:avLst/>
            <a:gdLst/>
            <a:ahLst/>
            <a:cxnLst/>
            <a:rect l="l" t="t" r="r" b="b"/>
            <a:pathLst>
              <a:path w="50800" h="2692400">
                <a:moveTo>
                  <a:pt x="0" y="0"/>
                </a:moveTo>
                <a:lnTo>
                  <a:pt x="50800" y="0"/>
                </a:lnTo>
                <a:lnTo>
                  <a:pt x="50800" y="2692400"/>
                </a:lnTo>
                <a:lnTo>
                  <a:pt x="0" y="26924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000750" y="18542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154841"/>
                </a:lnTo>
                <a:cubicBezTo>
                  <a:pt x="10775" y="147280"/>
                  <a:pt x="23932" y="142875"/>
                  <a:pt x="38100" y="142875"/>
                </a:cubicBezTo>
                <a:lnTo>
                  <a:pt x="228600" y="142875"/>
                </a:lnTo>
                <a:cubicBezTo>
                  <a:pt x="242768" y="142875"/>
                  <a:pt x="255925" y="147280"/>
                  <a:pt x="266700" y="154841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266700" y="209550"/>
                </a:moveTo>
                <a:cubicBezTo>
                  <a:pt x="266700" y="188535"/>
                  <a:pt x="249615" y="171450"/>
                  <a:pt x="228600" y="171450"/>
                </a:cubicBezTo>
                <a:lnTo>
                  <a:pt x="38100" y="171450"/>
                </a:lnTo>
                <a:cubicBezTo>
                  <a:pt x="17085" y="171450"/>
                  <a:pt x="0" y="188535"/>
                  <a:pt x="0" y="2095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209550"/>
                </a:lnTo>
                <a:close/>
                <a:moveTo>
                  <a:pt x="133350" y="228600"/>
                </a:moveTo>
                <a:cubicBezTo>
                  <a:pt x="133350" y="218086"/>
                  <a:pt x="141886" y="209550"/>
                  <a:pt x="152400" y="209550"/>
                </a:cubicBezTo>
                <a:cubicBezTo>
                  <a:pt x="162914" y="209550"/>
                  <a:pt x="171450" y="218086"/>
                  <a:pt x="171450" y="228600"/>
                </a:cubicBezTo>
                <a:cubicBezTo>
                  <a:pt x="171450" y="239114"/>
                  <a:pt x="162914" y="247650"/>
                  <a:pt x="152400" y="247650"/>
                </a:cubicBezTo>
                <a:cubicBezTo>
                  <a:pt x="141886" y="247650"/>
                  <a:pt x="133350" y="239114"/>
                  <a:pt x="133350" y="228600"/>
                </a:cubicBezTo>
                <a:close/>
                <a:moveTo>
                  <a:pt x="209550" y="209550"/>
                </a:moveTo>
                <a:cubicBezTo>
                  <a:pt x="220064" y="209550"/>
                  <a:pt x="228600" y="218086"/>
                  <a:pt x="228600" y="228600"/>
                </a:cubicBezTo>
                <a:cubicBezTo>
                  <a:pt x="228600" y="239114"/>
                  <a:pt x="220064" y="247650"/>
                  <a:pt x="209550" y="247650"/>
                </a:cubicBezTo>
                <a:cubicBezTo>
                  <a:pt x="199036" y="247650"/>
                  <a:pt x="190500" y="239114"/>
                  <a:pt x="190500" y="228600"/>
                </a:cubicBezTo>
                <a:cubicBezTo>
                  <a:pt x="190500" y="218086"/>
                  <a:pt x="199036" y="209550"/>
                  <a:pt x="209550" y="20955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426200" y="1828800"/>
            <a:ext cx="1295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DataNode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0" y="2336800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的工作节点，负责实际的数据存储和管理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43600" y="2794000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0" y="3200400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块存储（数据块文件、元数据文件）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0" y="3556000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空间管理（容量监控、清理机制）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43600" y="3911600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数据服务（读取服务、写入服务）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896600" y="1828800"/>
            <a:ext cx="50800" cy="2692400"/>
          </a:xfrm>
          <a:custGeom>
            <a:avLst/>
            <a:gdLst/>
            <a:ahLst/>
            <a:cxnLst/>
            <a:rect l="l" t="t" r="r" b="b"/>
            <a:pathLst>
              <a:path w="50800" h="2692400">
                <a:moveTo>
                  <a:pt x="0" y="0"/>
                </a:moveTo>
                <a:lnTo>
                  <a:pt x="50800" y="0"/>
                </a:lnTo>
                <a:lnTo>
                  <a:pt x="50800" y="2692400"/>
                </a:lnTo>
                <a:lnTo>
                  <a:pt x="0" y="26924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11163300" y="185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09550"/>
                </a:lnTo>
                <a:cubicBezTo>
                  <a:pt x="0" y="230565"/>
                  <a:pt x="17085" y="247650"/>
                  <a:pt x="38100" y="247650"/>
                </a:cubicBezTo>
                <a:lnTo>
                  <a:pt x="123825" y="247650"/>
                </a:lnTo>
                <a:lnTo>
                  <a:pt x="114300" y="276225"/>
                </a:lnTo>
                <a:lnTo>
                  <a:pt x="71438" y="276225"/>
                </a:lnTo>
                <a:cubicBezTo>
                  <a:pt x="63520" y="276225"/>
                  <a:pt x="57150" y="282595"/>
                  <a:pt x="57150" y="290513"/>
                </a:cubicBezTo>
                <a:cubicBezTo>
                  <a:pt x="57150" y="298430"/>
                  <a:pt x="63520" y="304800"/>
                  <a:pt x="71438" y="304800"/>
                </a:cubicBezTo>
                <a:lnTo>
                  <a:pt x="233363" y="304800"/>
                </a:lnTo>
                <a:cubicBezTo>
                  <a:pt x="241280" y="304800"/>
                  <a:pt x="247650" y="298430"/>
                  <a:pt x="247650" y="290513"/>
                </a:cubicBezTo>
                <a:cubicBezTo>
                  <a:pt x="247650" y="282595"/>
                  <a:pt x="241280" y="276225"/>
                  <a:pt x="233363" y="276225"/>
                </a:cubicBezTo>
                <a:lnTo>
                  <a:pt x="190500" y="276225"/>
                </a:lnTo>
                <a:lnTo>
                  <a:pt x="180975" y="247650"/>
                </a:lnTo>
                <a:lnTo>
                  <a:pt x="266700" y="247650"/>
                </a:lnTo>
                <a:cubicBezTo>
                  <a:pt x="287715" y="247650"/>
                  <a:pt x="304800" y="230565"/>
                  <a:pt x="304800" y="209550"/>
                </a:cubicBezTo>
                <a:lnTo>
                  <a:pt x="304800" y="57150"/>
                </a:lnTo>
                <a:cubicBezTo>
                  <a:pt x="304800" y="36135"/>
                  <a:pt x="287715" y="19050"/>
                  <a:pt x="266700" y="19050"/>
                </a:cubicBezTo>
                <a:lnTo>
                  <a:pt x="38100" y="19050"/>
                </a:lnTo>
                <a:close/>
                <a:moveTo>
                  <a:pt x="57150" y="57150"/>
                </a:moveTo>
                <a:lnTo>
                  <a:pt x="247650" y="57150"/>
                </a:lnTo>
                <a:cubicBezTo>
                  <a:pt x="258187" y="57150"/>
                  <a:pt x="266700" y="65663"/>
                  <a:pt x="266700" y="76200"/>
                </a:cubicBezTo>
                <a:lnTo>
                  <a:pt x="266700" y="171450"/>
                </a:lnTo>
                <a:cubicBezTo>
                  <a:pt x="266700" y="181987"/>
                  <a:pt x="258187" y="190500"/>
                  <a:pt x="247650" y="190500"/>
                </a:cubicBezTo>
                <a:lnTo>
                  <a:pt x="57150" y="190500"/>
                </a:lnTo>
                <a:cubicBezTo>
                  <a:pt x="46613" y="190500"/>
                  <a:pt x="38100" y="181987"/>
                  <a:pt x="38100" y="171450"/>
                </a:cubicBezTo>
                <a:lnTo>
                  <a:pt x="38100" y="76200"/>
                </a:lnTo>
                <a:cubicBezTo>
                  <a:pt x="38100" y="65663"/>
                  <a:pt x="46613" y="57150"/>
                  <a:pt x="57150" y="5715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1607800" y="1828800"/>
            <a:ext cx="80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125200" y="2336800"/>
            <a:ext cx="472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提供文件系统接口，实现数据读写和元数据操作的分离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125200" y="3098800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125200" y="3505200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文件操作 API（创建、删除、重命名）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125200" y="3860800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数据流管理（读写管道、错误处理）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125200" y="4216400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负载均衡与数据本地性优化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3400" y="4775200"/>
            <a:ext cx="50800" cy="3251200"/>
          </a:xfrm>
          <a:custGeom>
            <a:avLst/>
            <a:gdLst/>
            <a:ahLst/>
            <a:cxnLst/>
            <a:rect l="l" t="t" r="r" b="b"/>
            <a:pathLst>
              <a:path w="50800" h="3251200">
                <a:moveTo>
                  <a:pt x="0" y="0"/>
                </a:moveTo>
                <a:lnTo>
                  <a:pt x="50800" y="0"/>
                </a:lnTo>
                <a:lnTo>
                  <a:pt x="508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44550" y="4826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00323" y="17066"/>
                </a:moveTo>
                <a:cubicBezTo>
                  <a:pt x="206276" y="14585"/>
                  <a:pt x="213072" y="15974"/>
                  <a:pt x="217636" y="20489"/>
                </a:cubicBezTo>
                <a:lnTo>
                  <a:pt x="249386" y="52239"/>
                </a:lnTo>
                <a:cubicBezTo>
                  <a:pt x="252363" y="55215"/>
                  <a:pt x="254050" y="59234"/>
                  <a:pt x="254050" y="63450"/>
                </a:cubicBezTo>
                <a:cubicBezTo>
                  <a:pt x="254050" y="67667"/>
                  <a:pt x="252363" y="71686"/>
                  <a:pt x="249386" y="74662"/>
                </a:cubicBezTo>
                <a:lnTo>
                  <a:pt x="217636" y="106412"/>
                </a:lnTo>
                <a:cubicBezTo>
                  <a:pt x="213072" y="110976"/>
                  <a:pt x="206276" y="112316"/>
                  <a:pt x="200323" y="109835"/>
                </a:cubicBezTo>
                <a:cubicBezTo>
                  <a:pt x="194370" y="107355"/>
                  <a:pt x="190500" y="101650"/>
                  <a:pt x="190500" y="95250"/>
                </a:cubicBezTo>
                <a:lnTo>
                  <a:pt x="190500" y="79375"/>
                </a:lnTo>
                <a:lnTo>
                  <a:pt x="174625" y="79375"/>
                </a:lnTo>
                <a:cubicBezTo>
                  <a:pt x="169614" y="79375"/>
                  <a:pt x="164902" y="81707"/>
                  <a:pt x="161925" y="85725"/>
                </a:cubicBezTo>
                <a:lnTo>
                  <a:pt x="145852" y="107156"/>
                </a:lnTo>
                <a:lnTo>
                  <a:pt x="126008" y="80714"/>
                </a:lnTo>
                <a:lnTo>
                  <a:pt x="136525" y="66675"/>
                </a:lnTo>
                <a:cubicBezTo>
                  <a:pt x="145504" y="54670"/>
                  <a:pt x="159643" y="47625"/>
                  <a:pt x="174625" y="47625"/>
                </a:cubicBezTo>
                <a:lnTo>
                  <a:pt x="190500" y="47625"/>
                </a:lnTo>
                <a:lnTo>
                  <a:pt x="190500" y="31750"/>
                </a:lnTo>
                <a:cubicBezTo>
                  <a:pt x="190500" y="25350"/>
                  <a:pt x="194370" y="19546"/>
                  <a:pt x="200323" y="17066"/>
                </a:cubicBezTo>
                <a:close/>
                <a:moveTo>
                  <a:pt x="76398" y="146844"/>
                </a:moveTo>
                <a:lnTo>
                  <a:pt x="96242" y="173286"/>
                </a:lnTo>
                <a:lnTo>
                  <a:pt x="85725" y="187325"/>
                </a:lnTo>
                <a:cubicBezTo>
                  <a:pt x="76746" y="199330"/>
                  <a:pt x="62607" y="206375"/>
                  <a:pt x="47625" y="206375"/>
                </a:cubicBezTo>
                <a:lnTo>
                  <a:pt x="15875" y="206375"/>
                </a:lnTo>
                <a:cubicBezTo>
                  <a:pt x="7094" y="206375"/>
                  <a:pt x="0" y="199281"/>
                  <a:pt x="0" y="190500"/>
                </a:cubicBezTo>
                <a:cubicBezTo>
                  <a:pt x="0" y="181719"/>
                  <a:pt x="7094" y="174625"/>
                  <a:pt x="15875" y="174625"/>
                </a:cubicBezTo>
                <a:lnTo>
                  <a:pt x="47625" y="174625"/>
                </a:lnTo>
                <a:cubicBezTo>
                  <a:pt x="52636" y="174625"/>
                  <a:pt x="57348" y="172293"/>
                  <a:pt x="60325" y="168275"/>
                </a:cubicBezTo>
                <a:lnTo>
                  <a:pt x="76398" y="146844"/>
                </a:lnTo>
                <a:close/>
                <a:moveTo>
                  <a:pt x="217587" y="233462"/>
                </a:moveTo>
                <a:cubicBezTo>
                  <a:pt x="213023" y="238026"/>
                  <a:pt x="206226" y="239365"/>
                  <a:pt x="200273" y="236885"/>
                </a:cubicBezTo>
                <a:cubicBezTo>
                  <a:pt x="194320" y="234404"/>
                  <a:pt x="190500" y="228650"/>
                  <a:pt x="190500" y="222250"/>
                </a:cubicBezTo>
                <a:lnTo>
                  <a:pt x="190500" y="206375"/>
                </a:lnTo>
                <a:lnTo>
                  <a:pt x="174625" y="206375"/>
                </a:lnTo>
                <a:cubicBezTo>
                  <a:pt x="159643" y="206375"/>
                  <a:pt x="145504" y="199330"/>
                  <a:pt x="136525" y="187325"/>
                </a:cubicBezTo>
                <a:lnTo>
                  <a:pt x="60325" y="85725"/>
                </a:lnTo>
                <a:cubicBezTo>
                  <a:pt x="57348" y="81707"/>
                  <a:pt x="52636" y="79375"/>
                  <a:pt x="47625" y="79375"/>
                </a:cubicBezTo>
                <a:lnTo>
                  <a:pt x="15875" y="79375"/>
                </a:lnTo>
                <a:cubicBezTo>
                  <a:pt x="7094" y="79375"/>
                  <a:pt x="0" y="72281"/>
                  <a:pt x="0" y="63500"/>
                </a:cubicBezTo>
                <a:cubicBezTo>
                  <a:pt x="0" y="54719"/>
                  <a:pt x="7094" y="47625"/>
                  <a:pt x="15875" y="47625"/>
                </a:cubicBezTo>
                <a:lnTo>
                  <a:pt x="47625" y="47625"/>
                </a:lnTo>
                <a:cubicBezTo>
                  <a:pt x="62607" y="47625"/>
                  <a:pt x="76746" y="54670"/>
                  <a:pt x="85725" y="66675"/>
                </a:cubicBezTo>
                <a:lnTo>
                  <a:pt x="161925" y="168275"/>
                </a:lnTo>
                <a:cubicBezTo>
                  <a:pt x="164902" y="172293"/>
                  <a:pt x="169614" y="174625"/>
                  <a:pt x="174625" y="174625"/>
                </a:cubicBezTo>
                <a:lnTo>
                  <a:pt x="190500" y="174625"/>
                </a:lnTo>
                <a:lnTo>
                  <a:pt x="190500" y="158750"/>
                </a:lnTo>
                <a:cubicBezTo>
                  <a:pt x="190500" y="152350"/>
                  <a:pt x="194370" y="146546"/>
                  <a:pt x="200323" y="144066"/>
                </a:cubicBezTo>
                <a:cubicBezTo>
                  <a:pt x="206276" y="141585"/>
                  <a:pt x="213072" y="142974"/>
                  <a:pt x="217636" y="147489"/>
                </a:cubicBezTo>
                <a:lnTo>
                  <a:pt x="249386" y="179239"/>
                </a:lnTo>
                <a:cubicBezTo>
                  <a:pt x="252363" y="182215"/>
                  <a:pt x="254050" y="186234"/>
                  <a:pt x="254050" y="190450"/>
                </a:cubicBezTo>
                <a:cubicBezTo>
                  <a:pt x="254050" y="194667"/>
                  <a:pt x="252363" y="198686"/>
                  <a:pt x="249386" y="201662"/>
                </a:cubicBezTo>
                <a:lnTo>
                  <a:pt x="217636" y="233412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282700" y="4775200"/>
            <a:ext cx="292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控制流与数据流分离设计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2800" y="5334000"/>
            <a:ext cx="741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控制流 (Control Flow)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2800" y="5791200"/>
            <a:ext cx="741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路径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：Client ↔ NameNode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2800" y="6197600"/>
            <a:ext cx="741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内容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：元数据操作、权限验证、块位置信息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12800" y="6604000"/>
            <a:ext cx="741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特点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：数据量小、延迟敏感、频率相对较低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2800" y="7010400"/>
            <a:ext cx="741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协议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：基于 RPC 的 ClientProtocol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32800" y="5334000"/>
            <a:ext cx="741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数据流 (Data Flow)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32800" y="5791200"/>
            <a:ext cx="741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路径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：Client ↔ DataNode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32800" y="6197600"/>
            <a:ext cx="741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内容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：实际文件数据、校验和、块传输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32800" y="6604000"/>
            <a:ext cx="741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特点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：数据量大、吞吐量敏感、持续传输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32800" y="7010400"/>
            <a:ext cx="741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协议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：基于 TCP 的 DataTransferProtocol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62000" y="7620000"/>
            <a:ext cx="372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减轻 NameNode 负载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533900" y="7620000"/>
            <a:ext cx="372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提高数据传输效率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305800" y="7620000"/>
            <a:ext cx="372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增强系统可扩展性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077700" y="7620000"/>
            <a:ext cx="372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优化网络利用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504" y="502504"/>
            <a:ext cx="15338930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kern="0" spc="69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 DEEP DIVE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504" y="854257"/>
            <a:ext cx="15477119" cy="50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61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NameNode：元数据管理核心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504" y="1507512"/>
            <a:ext cx="1206009" cy="50250"/>
          </a:xfrm>
          <a:custGeom>
            <a:avLst/>
            <a:gdLst/>
            <a:ahLst/>
            <a:cxnLst/>
            <a:rect l="l" t="t" r="r" b="b"/>
            <a:pathLst>
              <a:path w="1206009" h="50250">
                <a:moveTo>
                  <a:pt x="0" y="0"/>
                </a:moveTo>
                <a:lnTo>
                  <a:pt x="1206009" y="0"/>
                </a:lnTo>
                <a:lnTo>
                  <a:pt x="1206009" y="50250"/>
                </a:lnTo>
                <a:lnTo>
                  <a:pt x="0" y="5025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27629" y="1809014"/>
            <a:ext cx="50250" cy="3467277"/>
          </a:xfrm>
          <a:custGeom>
            <a:avLst/>
            <a:gdLst/>
            <a:ahLst/>
            <a:cxnLst/>
            <a:rect l="l" t="t" r="r" b="b"/>
            <a:pathLst>
              <a:path w="50250" h="3467277">
                <a:moveTo>
                  <a:pt x="0" y="0"/>
                </a:moveTo>
                <a:lnTo>
                  <a:pt x="50250" y="0"/>
                </a:lnTo>
                <a:lnTo>
                  <a:pt x="50250" y="3467277"/>
                </a:lnTo>
                <a:lnTo>
                  <a:pt x="0" y="3467277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19709" y="1859264"/>
            <a:ext cx="282658" cy="251252"/>
          </a:xfrm>
          <a:custGeom>
            <a:avLst/>
            <a:gdLst/>
            <a:ahLst/>
            <a:cxnLst/>
            <a:rect l="l" t="t" r="r" b="b"/>
            <a:pathLst>
              <a:path w="282658" h="251252">
                <a:moveTo>
                  <a:pt x="27481" y="110708"/>
                </a:moveTo>
                <a:lnTo>
                  <a:pt x="15900" y="145353"/>
                </a:lnTo>
                <a:lnTo>
                  <a:pt x="15900" y="47110"/>
                </a:lnTo>
                <a:cubicBezTo>
                  <a:pt x="15900" y="29787"/>
                  <a:pt x="29983" y="15703"/>
                  <a:pt x="47306" y="15703"/>
                </a:cubicBezTo>
                <a:lnTo>
                  <a:pt x="115370" y="15703"/>
                </a:lnTo>
                <a:cubicBezTo>
                  <a:pt x="122142" y="15703"/>
                  <a:pt x="128767" y="17912"/>
                  <a:pt x="134214" y="21985"/>
                </a:cubicBezTo>
                <a:lnTo>
                  <a:pt x="153058" y="36117"/>
                </a:lnTo>
                <a:cubicBezTo>
                  <a:pt x="155757" y="38179"/>
                  <a:pt x="159094" y="39258"/>
                  <a:pt x="162480" y="39258"/>
                </a:cubicBezTo>
                <a:lnTo>
                  <a:pt x="220042" y="39258"/>
                </a:lnTo>
                <a:cubicBezTo>
                  <a:pt x="237364" y="39258"/>
                  <a:pt x="251448" y="53342"/>
                  <a:pt x="251448" y="70665"/>
                </a:cubicBezTo>
                <a:lnTo>
                  <a:pt x="251448" y="78516"/>
                </a:lnTo>
                <a:lnTo>
                  <a:pt x="72137" y="78516"/>
                </a:lnTo>
                <a:cubicBezTo>
                  <a:pt x="51870" y="78516"/>
                  <a:pt x="33860" y="91471"/>
                  <a:pt x="27432" y="110708"/>
                </a:cubicBezTo>
                <a:close/>
                <a:moveTo>
                  <a:pt x="234469" y="219845"/>
                </a:moveTo>
                <a:lnTo>
                  <a:pt x="48582" y="219845"/>
                </a:lnTo>
                <a:cubicBezTo>
                  <a:pt x="32486" y="219845"/>
                  <a:pt x="21150" y="204093"/>
                  <a:pt x="26254" y="188832"/>
                </a:cubicBezTo>
                <a:lnTo>
                  <a:pt x="49809" y="118167"/>
                </a:lnTo>
                <a:cubicBezTo>
                  <a:pt x="52998" y="108549"/>
                  <a:pt x="62028" y="102071"/>
                  <a:pt x="72137" y="102071"/>
                </a:cubicBezTo>
                <a:lnTo>
                  <a:pt x="258024" y="102071"/>
                </a:lnTo>
                <a:cubicBezTo>
                  <a:pt x="274120" y="102071"/>
                  <a:pt x="285456" y="117823"/>
                  <a:pt x="280352" y="133085"/>
                </a:cubicBezTo>
                <a:lnTo>
                  <a:pt x="256797" y="203750"/>
                </a:lnTo>
                <a:cubicBezTo>
                  <a:pt x="253607" y="213368"/>
                  <a:pt x="244578" y="219845"/>
                  <a:pt x="234469" y="219845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68822" y="1809014"/>
            <a:ext cx="1381886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元数据管理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006" y="2311518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命名空间 (Namespace)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006" y="2713521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维护层次化目录结构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006" y="3065274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存储文件大小、创建时间、权限等属性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006" y="3417026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路径解析和命名空间操作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006" y="3869280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块映射 (Block Mapping)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4006" y="4271283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维护文件到块的映射关系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4006" y="4623036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记录块到 DataNode 的映射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4006" y="4974788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跟踪每个数据块副本的位置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05250" y="1809014"/>
            <a:ext cx="50250" cy="3467277"/>
          </a:xfrm>
          <a:custGeom>
            <a:avLst/>
            <a:gdLst/>
            <a:ahLst/>
            <a:cxnLst/>
            <a:rect l="l" t="t" r="r" b="b"/>
            <a:pathLst>
              <a:path w="50250" h="3467277">
                <a:moveTo>
                  <a:pt x="0" y="0"/>
                </a:moveTo>
                <a:lnTo>
                  <a:pt x="50250" y="0"/>
                </a:lnTo>
                <a:lnTo>
                  <a:pt x="50250" y="3467277"/>
                </a:lnTo>
                <a:lnTo>
                  <a:pt x="0" y="3467277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613034" y="1859264"/>
            <a:ext cx="251252" cy="251252"/>
          </a:xfrm>
          <a:custGeom>
            <a:avLst/>
            <a:gdLst/>
            <a:ahLst/>
            <a:cxnLst/>
            <a:rect l="l" t="t" r="r" b="b"/>
            <a:pathLst>
              <a:path w="251252" h="251252">
                <a:moveTo>
                  <a:pt x="31406" y="31406"/>
                </a:moveTo>
                <a:cubicBezTo>
                  <a:pt x="14084" y="31406"/>
                  <a:pt x="0" y="45490"/>
                  <a:pt x="0" y="62813"/>
                </a:cubicBezTo>
                <a:lnTo>
                  <a:pt x="0" y="66444"/>
                </a:lnTo>
                <a:cubicBezTo>
                  <a:pt x="0" y="69781"/>
                  <a:pt x="2159" y="72628"/>
                  <a:pt x="4956" y="74443"/>
                </a:cubicBezTo>
                <a:cubicBezTo>
                  <a:pt x="11434" y="78663"/>
                  <a:pt x="15703" y="85926"/>
                  <a:pt x="15703" y="94219"/>
                </a:cubicBezTo>
                <a:cubicBezTo>
                  <a:pt x="15703" y="102513"/>
                  <a:pt x="11434" y="109776"/>
                  <a:pt x="4956" y="113996"/>
                </a:cubicBezTo>
                <a:cubicBezTo>
                  <a:pt x="2159" y="115811"/>
                  <a:pt x="0" y="118658"/>
                  <a:pt x="0" y="121995"/>
                </a:cubicBezTo>
                <a:lnTo>
                  <a:pt x="0" y="149181"/>
                </a:lnTo>
                <a:lnTo>
                  <a:pt x="251252" y="149181"/>
                </a:lnTo>
                <a:lnTo>
                  <a:pt x="251252" y="121995"/>
                </a:lnTo>
                <a:cubicBezTo>
                  <a:pt x="251252" y="118658"/>
                  <a:pt x="249093" y="115811"/>
                  <a:pt x="246296" y="113996"/>
                </a:cubicBezTo>
                <a:cubicBezTo>
                  <a:pt x="239818" y="109776"/>
                  <a:pt x="235549" y="102513"/>
                  <a:pt x="235549" y="94219"/>
                </a:cubicBezTo>
                <a:cubicBezTo>
                  <a:pt x="235549" y="85926"/>
                  <a:pt x="239818" y="78663"/>
                  <a:pt x="246296" y="74443"/>
                </a:cubicBezTo>
                <a:cubicBezTo>
                  <a:pt x="249093" y="72628"/>
                  <a:pt x="251252" y="69781"/>
                  <a:pt x="251252" y="66444"/>
                </a:cubicBezTo>
                <a:lnTo>
                  <a:pt x="251252" y="62813"/>
                </a:lnTo>
                <a:cubicBezTo>
                  <a:pt x="251252" y="45490"/>
                  <a:pt x="237168" y="31406"/>
                  <a:pt x="219845" y="31406"/>
                </a:cubicBezTo>
                <a:lnTo>
                  <a:pt x="31406" y="31406"/>
                </a:lnTo>
                <a:close/>
                <a:moveTo>
                  <a:pt x="251252" y="204142"/>
                </a:moveTo>
                <a:lnTo>
                  <a:pt x="251252" y="172736"/>
                </a:lnTo>
                <a:lnTo>
                  <a:pt x="0" y="172736"/>
                </a:lnTo>
                <a:lnTo>
                  <a:pt x="0" y="204142"/>
                </a:lnTo>
                <a:cubicBezTo>
                  <a:pt x="0" y="212828"/>
                  <a:pt x="7017" y="219845"/>
                  <a:pt x="15703" y="219845"/>
                </a:cubicBezTo>
                <a:lnTo>
                  <a:pt x="47110" y="219845"/>
                </a:lnTo>
                <a:lnTo>
                  <a:pt x="47110" y="208068"/>
                </a:lnTo>
                <a:cubicBezTo>
                  <a:pt x="47110" y="201541"/>
                  <a:pt x="52361" y="196291"/>
                  <a:pt x="58887" y="196291"/>
                </a:cubicBezTo>
                <a:cubicBezTo>
                  <a:pt x="65414" y="196291"/>
                  <a:pt x="70665" y="201541"/>
                  <a:pt x="70665" y="208068"/>
                </a:cubicBezTo>
                <a:lnTo>
                  <a:pt x="70665" y="219845"/>
                </a:lnTo>
                <a:lnTo>
                  <a:pt x="113849" y="219845"/>
                </a:lnTo>
                <a:lnTo>
                  <a:pt x="113849" y="208068"/>
                </a:lnTo>
                <a:cubicBezTo>
                  <a:pt x="113849" y="201541"/>
                  <a:pt x="119099" y="196291"/>
                  <a:pt x="125626" y="196291"/>
                </a:cubicBezTo>
                <a:cubicBezTo>
                  <a:pt x="132153" y="196291"/>
                  <a:pt x="137403" y="201541"/>
                  <a:pt x="137403" y="208068"/>
                </a:cubicBezTo>
                <a:lnTo>
                  <a:pt x="137403" y="219845"/>
                </a:lnTo>
                <a:lnTo>
                  <a:pt x="180587" y="219845"/>
                </a:lnTo>
                <a:lnTo>
                  <a:pt x="180587" y="208068"/>
                </a:lnTo>
                <a:cubicBezTo>
                  <a:pt x="180587" y="201541"/>
                  <a:pt x="185838" y="196291"/>
                  <a:pt x="192365" y="196291"/>
                </a:cubicBezTo>
                <a:cubicBezTo>
                  <a:pt x="198891" y="196291"/>
                  <a:pt x="204142" y="201541"/>
                  <a:pt x="204142" y="208068"/>
                </a:cubicBezTo>
                <a:lnTo>
                  <a:pt x="204142" y="219845"/>
                </a:lnTo>
                <a:lnTo>
                  <a:pt x="235549" y="219845"/>
                </a:lnTo>
                <a:cubicBezTo>
                  <a:pt x="244235" y="219845"/>
                  <a:pt x="251252" y="212828"/>
                  <a:pt x="251252" y="204142"/>
                </a:cubicBezTo>
                <a:close/>
                <a:moveTo>
                  <a:pt x="78516" y="78516"/>
                </a:moveTo>
                <a:lnTo>
                  <a:pt x="78516" y="109923"/>
                </a:lnTo>
                <a:cubicBezTo>
                  <a:pt x="78516" y="118609"/>
                  <a:pt x="71499" y="125626"/>
                  <a:pt x="62813" y="125626"/>
                </a:cubicBezTo>
                <a:cubicBezTo>
                  <a:pt x="54127" y="125626"/>
                  <a:pt x="47110" y="118609"/>
                  <a:pt x="47110" y="109923"/>
                </a:cubicBezTo>
                <a:lnTo>
                  <a:pt x="47110" y="78516"/>
                </a:lnTo>
                <a:cubicBezTo>
                  <a:pt x="47110" y="69830"/>
                  <a:pt x="54127" y="62813"/>
                  <a:pt x="62813" y="62813"/>
                </a:cubicBezTo>
                <a:cubicBezTo>
                  <a:pt x="71499" y="62813"/>
                  <a:pt x="78516" y="69830"/>
                  <a:pt x="78516" y="78516"/>
                </a:cubicBezTo>
                <a:close/>
                <a:moveTo>
                  <a:pt x="141329" y="78516"/>
                </a:moveTo>
                <a:lnTo>
                  <a:pt x="141329" y="109923"/>
                </a:lnTo>
                <a:cubicBezTo>
                  <a:pt x="141329" y="118609"/>
                  <a:pt x="134312" y="125626"/>
                  <a:pt x="125626" y="125626"/>
                </a:cubicBezTo>
                <a:cubicBezTo>
                  <a:pt x="116940" y="125626"/>
                  <a:pt x="109923" y="118609"/>
                  <a:pt x="109923" y="109923"/>
                </a:cubicBezTo>
                <a:lnTo>
                  <a:pt x="109923" y="78516"/>
                </a:lnTo>
                <a:cubicBezTo>
                  <a:pt x="109923" y="69830"/>
                  <a:pt x="116940" y="62813"/>
                  <a:pt x="125626" y="62813"/>
                </a:cubicBezTo>
                <a:cubicBezTo>
                  <a:pt x="134312" y="62813"/>
                  <a:pt x="141329" y="69830"/>
                  <a:pt x="141329" y="78516"/>
                </a:cubicBezTo>
                <a:close/>
                <a:moveTo>
                  <a:pt x="204142" y="78516"/>
                </a:moveTo>
                <a:lnTo>
                  <a:pt x="204142" y="109923"/>
                </a:lnTo>
                <a:cubicBezTo>
                  <a:pt x="204142" y="118609"/>
                  <a:pt x="197125" y="125626"/>
                  <a:pt x="188439" y="125626"/>
                </a:cubicBezTo>
                <a:cubicBezTo>
                  <a:pt x="179753" y="125626"/>
                  <a:pt x="172736" y="118609"/>
                  <a:pt x="172736" y="109923"/>
                </a:cubicBezTo>
                <a:lnTo>
                  <a:pt x="172736" y="78516"/>
                </a:lnTo>
                <a:cubicBezTo>
                  <a:pt x="172736" y="69830"/>
                  <a:pt x="179753" y="62813"/>
                  <a:pt x="188439" y="62813"/>
                </a:cubicBezTo>
                <a:cubicBezTo>
                  <a:pt x="197125" y="62813"/>
                  <a:pt x="204142" y="69830"/>
                  <a:pt x="204142" y="78516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046444" y="1809014"/>
            <a:ext cx="1633138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内存存储策略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81628" y="2311518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内存使用估算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81628" y="2713521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每个文件和目录大约占用 150 字节内存：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81628" y="3115524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INode 对象：约 100 字节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81628" y="3467277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块引用：每个块约 24 字节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81628" y="3819029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其他开销：约 26 字节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81628" y="4277564"/>
            <a:ext cx="7173243" cy="12563"/>
          </a:xfrm>
          <a:custGeom>
            <a:avLst/>
            <a:gdLst/>
            <a:ahLst/>
            <a:cxnLst/>
            <a:rect l="l" t="t" r="r" b="b"/>
            <a:pathLst>
              <a:path w="7173243" h="12563">
                <a:moveTo>
                  <a:pt x="0" y="0"/>
                </a:moveTo>
                <a:lnTo>
                  <a:pt x="7173243" y="0"/>
                </a:lnTo>
                <a:lnTo>
                  <a:pt x="7173243" y="12563"/>
                </a:lnTo>
                <a:lnTo>
                  <a:pt x="0" y="12563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581628" y="4384346"/>
            <a:ext cx="7273743" cy="653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示例</a:t>
            </a: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：1000 万个文件，平均每个文件 3 个块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内存使用：约 </a:t>
            </a:r>
            <a:r>
              <a:rPr lang="en-US" sz="1781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2.2GB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7629" y="5527543"/>
            <a:ext cx="50250" cy="3115524"/>
          </a:xfrm>
          <a:custGeom>
            <a:avLst/>
            <a:gdLst/>
            <a:ahLst/>
            <a:cxnLst/>
            <a:rect l="l" t="t" r="r" b="b"/>
            <a:pathLst>
              <a:path w="50250" h="3115524">
                <a:moveTo>
                  <a:pt x="0" y="0"/>
                </a:moveTo>
                <a:lnTo>
                  <a:pt x="50250" y="0"/>
                </a:lnTo>
                <a:lnTo>
                  <a:pt x="50250" y="3115524"/>
                </a:lnTo>
                <a:lnTo>
                  <a:pt x="0" y="3115524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51116" y="5577793"/>
            <a:ext cx="219845" cy="251252"/>
          </a:xfrm>
          <a:custGeom>
            <a:avLst/>
            <a:gdLst/>
            <a:ahLst/>
            <a:cxnLst/>
            <a:rect l="l" t="t" r="r" b="b"/>
            <a:pathLst>
              <a:path w="219845" h="251252">
                <a:moveTo>
                  <a:pt x="31406" y="15703"/>
                </a:moveTo>
                <a:cubicBezTo>
                  <a:pt x="14084" y="15703"/>
                  <a:pt x="0" y="29787"/>
                  <a:pt x="0" y="47110"/>
                </a:cubicBezTo>
                <a:lnTo>
                  <a:pt x="0" y="204142"/>
                </a:lnTo>
                <a:cubicBezTo>
                  <a:pt x="0" y="221465"/>
                  <a:pt x="14084" y="235549"/>
                  <a:pt x="31406" y="235549"/>
                </a:cubicBezTo>
                <a:lnTo>
                  <a:pt x="188439" y="235549"/>
                </a:lnTo>
                <a:cubicBezTo>
                  <a:pt x="205762" y="235549"/>
                  <a:pt x="219845" y="221465"/>
                  <a:pt x="219845" y="204142"/>
                </a:cubicBezTo>
                <a:lnTo>
                  <a:pt x="219845" y="85043"/>
                </a:lnTo>
                <a:cubicBezTo>
                  <a:pt x="219845" y="76701"/>
                  <a:pt x="216558" y="68702"/>
                  <a:pt x="210669" y="62813"/>
                </a:cubicBezTo>
                <a:lnTo>
                  <a:pt x="172736" y="24880"/>
                </a:lnTo>
                <a:cubicBezTo>
                  <a:pt x="166847" y="18991"/>
                  <a:pt x="158848" y="15703"/>
                  <a:pt x="150506" y="15703"/>
                </a:cubicBezTo>
                <a:lnTo>
                  <a:pt x="31406" y="15703"/>
                </a:lnTo>
                <a:close/>
                <a:moveTo>
                  <a:pt x="47110" y="62813"/>
                </a:moveTo>
                <a:cubicBezTo>
                  <a:pt x="47110" y="54127"/>
                  <a:pt x="54127" y="47110"/>
                  <a:pt x="62813" y="47110"/>
                </a:cubicBezTo>
                <a:lnTo>
                  <a:pt x="141329" y="47110"/>
                </a:lnTo>
                <a:cubicBezTo>
                  <a:pt x="150015" y="47110"/>
                  <a:pt x="157032" y="54127"/>
                  <a:pt x="157032" y="62813"/>
                </a:cubicBezTo>
                <a:lnTo>
                  <a:pt x="157032" y="94219"/>
                </a:lnTo>
                <a:cubicBezTo>
                  <a:pt x="157032" y="102905"/>
                  <a:pt x="150015" y="109923"/>
                  <a:pt x="141329" y="109923"/>
                </a:cubicBezTo>
                <a:lnTo>
                  <a:pt x="62813" y="109923"/>
                </a:lnTo>
                <a:cubicBezTo>
                  <a:pt x="54127" y="109923"/>
                  <a:pt x="47110" y="102905"/>
                  <a:pt x="47110" y="94219"/>
                </a:cubicBezTo>
                <a:lnTo>
                  <a:pt x="47110" y="62813"/>
                </a:lnTo>
                <a:close/>
                <a:moveTo>
                  <a:pt x="109923" y="141329"/>
                </a:moveTo>
                <a:cubicBezTo>
                  <a:pt x="127256" y="141329"/>
                  <a:pt x="141329" y="155402"/>
                  <a:pt x="141329" y="172736"/>
                </a:cubicBezTo>
                <a:cubicBezTo>
                  <a:pt x="141329" y="190069"/>
                  <a:pt x="127256" y="204142"/>
                  <a:pt x="109923" y="204142"/>
                </a:cubicBezTo>
                <a:cubicBezTo>
                  <a:pt x="92589" y="204142"/>
                  <a:pt x="78516" y="190069"/>
                  <a:pt x="78516" y="172736"/>
                </a:cubicBezTo>
                <a:cubicBezTo>
                  <a:pt x="78516" y="155402"/>
                  <a:pt x="92589" y="141329"/>
                  <a:pt x="109923" y="141329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268822" y="5527543"/>
            <a:ext cx="1381886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持久化机制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4006" y="6030046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FSImage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04006" y="6432049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文件系统元数据的完整镜像，定期生成，NameNode 启动时加载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4006" y="6884303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EditLog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4006" y="7286306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记录所有文件系统修改操作，实时写入，故障恢复时重放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4006" y="7738560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Checkpoint 机制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04006" y="8140563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SecondaryNameNode 合并 FSImage 和 EditLog，生成新的 FSImage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05250" y="5527543"/>
            <a:ext cx="50250" cy="3115524"/>
          </a:xfrm>
          <a:custGeom>
            <a:avLst/>
            <a:gdLst/>
            <a:ahLst/>
            <a:cxnLst/>
            <a:rect l="l" t="t" r="r" b="b"/>
            <a:pathLst>
              <a:path w="50250" h="3115524">
                <a:moveTo>
                  <a:pt x="0" y="0"/>
                </a:moveTo>
                <a:lnTo>
                  <a:pt x="50250" y="0"/>
                </a:lnTo>
                <a:lnTo>
                  <a:pt x="50250" y="3115524"/>
                </a:lnTo>
                <a:lnTo>
                  <a:pt x="0" y="3115524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613034" y="5577793"/>
            <a:ext cx="251252" cy="251252"/>
          </a:xfrm>
          <a:custGeom>
            <a:avLst/>
            <a:gdLst/>
            <a:ahLst/>
            <a:cxnLst/>
            <a:rect l="l" t="t" r="r" b="b"/>
            <a:pathLst>
              <a:path w="251252" h="251252">
                <a:moveTo>
                  <a:pt x="125626" y="0"/>
                </a:moveTo>
                <a:cubicBezTo>
                  <a:pt x="127883" y="0"/>
                  <a:pt x="130141" y="491"/>
                  <a:pt x="132202" y="1423"/>
                </a:cubicBezTo>
                <a:lnTo>
                  <a:pt x="224655" y="40632"/>
                </a:lnTo>
                <a:cubicBezTo>
                  <a:pt x="235451" y="45196"/>
                  <a:pt x="243498" y="55845"/>
                  <a:pt x="243449" y="68702"/>
                </a:cubicBezTo>
                <a:cubicBezTo>
                  <a:pt x="243204" y="117382"/>
                  <a:pt x="223182" y="206449"/>
                  <a:pt x="138630" y="246934"/>
                </a:cubicBezTo>
                <a:cubicBezTo>
                  <a:pt x="130435" y="250859"/>
                  <a:pt x="120915" y="250859"/>
                  <a:pt x="112720" y="246934"/>
                </a:cubicBezTo>
                <a:cubicBezTo>
                  <a:pt x="28119" y="206449"/>
                  <a:pt x="8146" y="117382"/>
                  <a:pt x="7901" y="68702"/>
                </a:cubicBezTo>
                <a:cubicBezTo>
                  <a:pt x="7852" y="55845"/>
                  <a:pt x="15900" y="45196"/>
                  <a:pt x="26696" y="40632"/>
                </a:cubicBezTo>
                <a:lnTo>
                  <a:pt x="119099" y="1423"/>
                </a:lnTo>
                <a:cubicBezTo>
                  <a:pt x="121160" y="491"/>
                  <a:pt x="123369" y="0"/>
                  <a:pt x="125626" y="0"/>
                </a:cubicBezTo>
                <a:close/>
                <a:moveTo>
                  <a:pt x="125626" y="32781"/>
                </a:moveTo>
                <a:lnTo>
                  <a:pt x="125626" y="218324"/>
                </a:lnTo>
                <a:cubicBezTo>
                  <a:pt x="193346" y="185544"/>
                  <a:pt x="211552" y="112916"/>
                  <a:pt x="211994" y="69438"/>
                </a:cubicBezTo>
                <a:lnTo>
                  <a:pt x="125626" y="32830"/>
                </a:lnTo>
                <a:lnTo>
                  <a:pt x="125626" y="3283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046444" y="5527543"/>
            <a:ext cx="2198454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高可用性设计 (HA)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81628" y="6030046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Active-Standby 架构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81628" y="6432049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Active NameNode 提供正常服务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581628" y="6783802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Standby NameNode 保持热备份状态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581628" y="7135555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共享存储机制确保元数据同步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81628" y="7487308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基于 ZooKeeper 的自动故障转移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81628" y="7939561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脑裂防护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81628" y="8341564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Fencing 机制防止多个 Active NameNode 同时存在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504" y="502504"/>
            <a:ext cx="15338930" cy="251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5" b="1" kern="0" spc="69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DATANODE DEEP DIVE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2504" y="854257"/>
            <a:ext cx="15477119" cy="502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61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DataNode：数据存储工作节点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504" y="1507512"/>
            <a:ext cx="1206009" cy="50250"/>
          </a:xfrm>
          <a:custGeom>
            <a:avLst/>
            <a:gdLst/>
            <a:ahLst/>
            <a:cxnLst/>
            <a:rect l="l" t="t" r="r" b="b"/>
            <a:pathLst>
              <a:path w="1206009" h="50250">
                <a:moveTo>
                  <a:pt x="0" y="0"/>
                </a:moveTo>
                <a:lnTo>
                  <a:pt x="1206009" y="0"/>
                </a:lnTo>
                <a:lnTo>
                  <a:pt x="1206009" y="50250"/>
                </a:lnTo>
                <a:lnTo>
                  <a:pt x="0" y="5025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27629" y="1809014"/>
            <a:ext cx="50250" cy="3115524"/>
          </a:xfrm>
          <a:custGeom>
            <a:avLst/>
            <a:gdLst/>
            <a:ahLst/>
            <a:cxnLst/>
            <a:rect l="l" t="t" r="r" b="b"/>
            <a:pathLst>
              <a:path w="50250" h="3115524">
                <a:moveTo>
                  <a:pt x="0" y="0"/>
                </a:moveTo>
                <a:lnTo>
                  <a:pt x="50250" y="0"/>
                </a:lnTo>
                <a:lnTo>
                  <a:pt x="50250" y="3115524"/>
                </a:lnTo>
                <a:lnTo>
                  <a:pt x="0" y="3115524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51116" y="1859264"/>
            <a:ext cx="219845" cy="251252"/>
          </a:xfrm>
          <a:custGeom>
            <a:avLst/>
            <a:gdLst/>
            <a:ahLst/>
            <a:cxnLst/>
            <a:rect l="l" t="t" r="r" b="b"/>
            <a:pathLst>
              <a:path w="219845" h="251252">
                <a:moveTo>
                  <a:pt x="31406" y="15703"/>
                </a:moveTo>
                <a:cubicBezTo>
                  <a:pt x="14084" y="15703"/>
                  <a:pt x="0" y="29787"/>
                  <a:pt x="0" y="47110"/>
                </a:cubicBezTo>
                <a:lnTo>
                  <a:pt x="0" y="127638"/>
                </a:lnTo>
                <a:cubicBezTo>
                  <a:pt x="8882" y="121406"/>
                  <a:pt x="19727" y="117774"/>
                  <a:pt x="31406" y="117774"/>
                </a:cubicBezTo>
                <a:lnTo>
                  <a:pt x="188439" y="117774"/>
                </a:lnTo>
                <a:cubicBezTo>
                  <a:pt x="200118" y="117774"/>
                  <a:pt x="210963" y="121406"/>
                  <a:pt x="219845" y="127638"/>
                </a:cubicBezTo>
                <a:lnTo>
                  <a:pt x="219845" y="47110"/>
                </a:lnTo>
                <a:cubicBezTo>
                  <a:pt x="219845" y="29787"/>
                  <a:pt x="205762" y="15703"/>
                  <a:pt x="188439" y="15703"/>
                </a:cubicBezTo>
                <a:lnTo>
                  <a:pt x="31406" y="15703"/>
                </a:lnTo>
                <a:close/>
                <a:moveTo>
                  <a:pt x="219845" y="172736"/>
                </a:moveTo>
                <a:cubicBezTo>
                  <a:pt x="219845" y="155413"/>
                  <a:pt x="205762" y="141329"/>
                  <a:pt x="188439" y="141329"/>
                </a:cubicBezTo>
                <a:lnTo>
                  <a:pt x="31406" y="141329"/>
                </a:lnTo>
                <a:cubicBezTo>
                  <a:pt x="14084" y="141329"/>
                  <a:pt x="0" y="155413"/>
                  <a:pt x="0" y="172736"/>
                </a:cubicBezTo>
                <a:lnTo>
                  <a:pt x="0" y="204142"/>
                </a:lnTo>
                <a:cubicBezTo>
                  <a:pt x="0" y="221465"/>
                  <a:pt x="14084" y="235549"/>
                  <a:pt x="31406" y="235549"/>
                </a:cubicBezTo>
                <a:lnTo>
                  <a:pt x="188439" y="235549"/>
                </a:lnTo>
                <a:cubicBezTo>
                  <a:pt x="205762" y="235549"/>
                  <a:pt x="219845" y="221465"/>
                  <a:pt x="219845" y="204142"/>
                </a:cubicBezTo>
                <a:lnTo>
                  <a:pt x="219845" y="172736"/>
                </a:lnTo>
                <a:close/>
                <a:moveTo>
                  <a:pt x="109923" y="188439"/>
                </a:moveTo>
                <a:cubicBezTo>
                  <a:pt x="109923" y="179772"/>
                  <a:pt x="116959" y="172736"/>
                  <a:pt x="125626" y="172736"/>
                </a:cubicBezTo>
                <a:cubicBezTo>
                  <a:pt x="134293" y="172736"/>
                  <a:pt x="141329" y="179772"/>
                  <a:pt x="141329" y="188439"/>
                </a:cubicBezTo>
                <a:cubicBezTo>
                  <a:pt x="141329" y="197106"/>
                  <a:pt x="134293" y="204142"/>
                  <a:pt x="125626" y="204142"/>
                </a:cubicBezTo>
                <a:cubicBezTo>
                  <a:pt x="116959" y="204142"/>
                  <a:pt x="109923" y="197106"/>
                  <a:pt x="109923" y="188439"/>
                </a:cubicBezTo>
                <a:close/>
                <a:moveTo>
                  <a:pt x="172736" y="172736"/>
                </a:moveTo>
                <a:cubicBezTo>
                  <a:pt x="181403" y="172736"/>
                  <a:pt x="188439" y="179772"/>
                  <a:pt x="188439" y="188439"/>
                </a:cubicBezTo>
                <a:cubicBezTo>
                  <a:pt x="188439" y="197106"/>
                  <a:pt x="181403" y="204142"/>
                  <a:pt x="172736" y="204142"/>
                </a:cubicBezTo>
                <a:cubicBezTo>
                  <a:pt x="164069" y="204142"/>
                  <a:pt x="157032" y="197106"/>
                  <a:pt x="157032" y="188439"/>
                </a:cubicBezTo>
                <a:cubicBezTo>
                  <a:pt x="157032" y="179772"/>
                  <a:pt x="164069" y="172736"/>
                  <a:pt x="172736" y="172736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68822" y="1809014"/>
            <a:ext cx="2135641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核心功能：块存储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006" y="2311518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数据目录 (Data Directories)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4006" y="2713521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支持配置多个数据存储路径，提高 I/O 并发性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006" y="3065274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在多个目录间均匀分布数据块，避免热点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006" y="3417026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单个目录故障不影响其他目录的数据访问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006" y="3869280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存储文件结构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4006" y="4271283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8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blk_*</a:t>
            </a: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：数据块文件，存储实际数据内容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4006" y="4623036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8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*.meta</a:t>
            </a: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：元数据文件，存储校验和等信息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05250" y="1809014"/>
            <a:ext cx="50250" cy="3115524"/>
          </a:xfrm>
          <a:custGeom>
            <a:avLst/>
            <a:gdLst/>
            <a:ahLst/>
            <a:cxnLst/>
            <a:rect l="l" t="t" r="r" b="b"/>
            <a:pathLst>
              <a:path w="50250" h="3115524">
                <a:moveTo>
                  <a:pt x="0" y="0"/>
                </a:moveTo>
                <a:lnTo>
                  <a:pt x="50250" y="0"/>
                </a:lnTo>
                <a:lnTo>
                  <a:pt x="50250" y="3115524"/>
                </a:lnTo>
                <a:lnTo>
                  <a:pt x="0" y="3115524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613034" y="1859264"/>
            <a:ext cx="251252" cy="251252"/>
          </a:xfrm>
          <a:custGeom>
            <a:avLst/>
            <a:gdLst/>
            <a:ahLst/>
            <a:cxnLst/>
            <a:rect l="l" t="t" r="r" b="b"/>
            <a:pathLst>
              <a:path w="251252" h="251252">
                <a:moveTo>
                  <a:pt x="246639" y="73903"/>
                </a:moveTo>
                <a:lnTo>
                  <a:pt x="199529" y="121013"/>
                </a:lnTo>
                <a:cubicBezTo>
                  <a:pt x="195015" y="125528"/>
                  <a:pt x="188292" y="126853"/>
                  <a:pt x="182403" y="124399"/>
                </a:cubicBezTo>
                <a:cubicBezTo>
                  <a:pt x="176514" y="121946"/>
                  <a:pt x="172736" y="116253"/>
                  <a:pt x="172736" y="109923"/>
                </a:cubicBezTo>
                <a:lnTo>
                  <a:pt x="172736" y="78516"/>
                </a:lnTo>
                <a:lnTo>
                  <a:pt x="15703" y="78516"/>
                </a:lnTo>
                <a:cubicBezTo>
                  <a:pt x="7017" y="78516"/>
                  <a:pt x="0" y="71499"/>
                  <a:pt x="0" y="62813"/>
                </a:cubicBezTo>
                <a:cubicBezTo>
                  <a:pt x="0" y="54127"/>
                  <a:pt x="7017" y="47110"/>
                  <a:pt x="15703" y="47110"/>
                </a:cubicBezTo>
                <a:lnTo>
                  <a:pt x="172736" y="47110"/>
                </a:lnTo>
                <a:lnTo>
                  <a:pt x="172736" y="15703"/>
                </a:lnTo>
                <a:cubicBezTo>
                  <a:pt x="172736" y="9373"/>
                  <a:pt x="176563" y="3631"/>
                  <a:pt x="182452" y="1178"/>
                </a:cubicBezTo>
                <a:cubicBezTo>
                  <a:pt x="188341" y="-1276"/>
                  <a:pt x="195064" y="98"/>
                  <a:pt x="199578" y="4564"/>
                </a:cubicBezTo>
                <a:lnTo>
                  <a:pt x="246688" y="51673"/>
                </a:lnTo>
                <a:cubicBezTo>
                  <a:pt x="252822" y="57808"/>
                  <a:pt x="252822" y="67769"/>
                  <a:pt x="246688" y="73903"/>
                </a:cubicBezTo>
                <a:close/>
                <a:moveTo>
                  <a:pt x="51673" y="246639"/>
                </a:moveTo>
                <a:lnTo>
                  <a:pt x="4564" y="199529"/>
                </a:lnTo>
                <a:cubicBezTo>
                  <a:pt x="-1570" y="193395"/>
                  <a:pt x="-1570" y="183434"/>
                  <a:pt x="4564" y="177299"/>
                </a:cubicBezTo>
                <a:lnTo>
                  <a:pt x="51673" y="130190"/>
                </a:lnTo>
                <a:cubicBezTo>
                  <a:pt x="56188" y="125675"/>
                  <a:pt x="62911" y="124350"/>
                  <a:pt x="68800" y="126804"/>
                </a:cubicBezTo>
                <a:cubicBezTo>
                  <a:pt x="74689" y="129257"/>
                  <a:pt x="78516" y="134999"/>
                  <a:pt x="78516" y="141329"/>
                </a:cubicBezTo>
                <a:lnTo>
                  <a:pt x="78516" y="172736"/>
                </a:lnTo>
                <a:lnTo>
                  <a:pt x="235549" y="172736"/>
                </a:lnTo>
                <a:cubicBezTo>
                  <a:pt x="244235" y="172736"/>
                  <a:pt x="251252" y="179753"/>
                  <a:pt x="251252" y="188439"/>
                </a:cubicBezTo>
                <a:cubicBezTo>
                  <a:pt x="251252" y="197125"/>
                  <a:pt x="244235" y="204142"/>
                  <a:pt x="235549" y="204142"/>
                </a:cubicBezTo>
                <a:lnTo>
                  <a:pt x="78516" y="204142"/>
                </a:lnTo>
                <a:lnTo>
                  <a:pt x="78516" y="235549"/>
                </a:lnTo>
                <a:cubicBezTo>
                  <a:pt x="78516" y="241879"/>
                  <a:pt x="74689" y="247621"/>
                  <a:pt x="68800" y="250074"/>
                </a:cubicBezTo>
                <a:cubicBezTo>
                  <a:pt x="62911" y="252528"/>
                  <a:pt x="56188" y="251154"/>
                  <a:pt x="51673" y="246688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046444" y="1809014"/>
            <a:ext cx="2575332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 NameNode 的交互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81628" y="2311518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注册和心跳机制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81628" y="2713521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8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启动注册</a:t>
            </a: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：DataNode 向 NameNode 发送注册请求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81628" y="3065274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8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定期心跳</a:t>
            </a: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：每 3 秒发送心跳 + 块报告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81628" y="3417026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8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块报告</a:t>
            </a: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：定期汇报完整块列表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81628" y="3768779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8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增量报告</a:t>
            </a: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：实时汇报块变化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81628" y="4221032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心跳信息内容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81628" y="4623036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存储容量、网络状态、系统负载、健康状态、块信息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27629" y="5175790"/>
            <a:ext cx="50250" cy="3467277"/>
          </a:xfrm>
          <a:custGeom>
            <a:avLst/>
            <a:gdLst/>
            <a:ahLst/>
            <a:cxnLst/>
            <a:rect l="l" t="t" r="r" b="b"/>
            <a:pathLst>
              <a:path w="50250" h="3467277">
                <a:moveTo>
                  <a:pt x="0" y="0"/>
                </a:moveTo>
                <a:lnTo>
                  <a:pt x="50250" y="0"/>
                </a:lnTo>
                <a:lnTo>
                  <a:pt x="50250" y="3467277"/>
                </a:lnTo>
                <a:lnTo>
                  <a:pt x="0" y="3467277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35413" y="5226040"/>
            <a:ext cx="251252" cy="251252"/>
          </a:xfrm>
          <a:custGeom>
            <a:avLst/>
            <a:gdLst/>
            <a:ahLst/>
            <a:cxnLst/>
            <a:rect l="l" t="t" r="r" b="b"/>
            <a:pathLst>
              <a:path w="251252" h="251252">
                <a:moveTo>
                  <a:pt x="125626" y="251252"/>
                </a:moveTo>
                <a:cubicBezTo>
                  <a:pt x="194961" y="251252"/>
                  <a:pt x="251252" y="194961"/>
                  <a:pt x="251252" y="125626"/>
                </a:cubicBezTo>
                <a:cubicBezTo>
                  <a:pt x="251252" y="56291"/>
                  <a:pt x="194961" y="0"/>
                  <a:pt x="125626" y="0"/>
                </a:cubicBezTo>
                <a:cubicBezTo>
                  <a:pt x="56291" y="0"/>
                  <a:pt x="0" y="56291"/>
                  <a:pt x="0" y="125626"/>
                </a:cubicBezTo>
                <a:cubicBezTo>
                  <a:pt x="0" y="194961"/>
                  <a:pt x="56291" y="251252"/>
                  <a:pt x="125626" y="251252"/>
                </a:cubicBezTo>
                <a:close/>
                <a:moveTo>
                  <a:pt x="167043" y="104378"/>
                </a:moveTo>
                <a:lnTo>
                  <a:pt x="127785" y="167190"/>
                </a:lnTo>
                <a:cubicBezTo>
                  <a:pt x="125724" y="170478"/>
                  <a:pt x="122191" y="172539"/>
                  <a:pt x="118314" y="172736"/>
                </a:cubicBezTo>
                <a:cubicBezTo>
                  <a:pt x="114437" y="172932"/>
                  <a:pt x="110708" y="171165"/>
                  <a:pt x="108401" y="168025"/>
                </a:cubicBezTo>
                <a:lnTo>
                  <a:pt x="84847" y="136618"/>
                </a:lnTo>
                <a:cubicBezTo>
                  <a:pt x="80921" y="131417"/>
                  <a:pt x="82000" y="124056"/>
                  <a:pt x="87202" y="120130"/>
                </a:cubicBezTo>
                <a:cubicBezTo>
                  <a:pt x="92404" y="116204"/>
                  <a:pt x="99765" y="117284"/>
                  <a:pt x="103690" y="122485"/>
                </a:cubicBezTo>
                <a:lnTo>
                  <a:pt x="116940" y="140151"/>
                </a:lnTo>
                <a:lnTo>
                  <a:pt x="147071" y="91913"/>
                </a:lnTo>
                <a:cubicBezTo>
                  <a:pt x="150506" y="86417"/>
                  <a:pt x="157769" y="84699"/>
                  <a:pt x="163314" y="88184"/>
                </a:cubicBezTo>
                <a:cubicBezTo>
                  <a:pt x="168859" y="91668"/>
                  <a:pt x="170527" y="98881"/>
                  <a:pt x="167043" y="104427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268822" y="5175790"/>
            <a:ext cx="1884389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数据完整性保证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4006" y="5678294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校验机制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04006" y="6080297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写入时计算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04006" y="6381799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 512 字节分块，使用 CRC32 算法，校验和存储到 .meta 文件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4006" y="6783802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读取时验证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4006" y="7085304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实时校验，错误检测，向 NameNode 报告损坏块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05250" y="5175790"/>
            <a:ext cx="50250" cy="3467277"/>
          </a:xfrm>
          <a:custGeom>
            <a:avLst/>
            <a:gdLst/>
            <a:ahLst/>
            <a:cxnLst/>
            <a:rect l="l" t="t" r="r" b="b"/>
            <a:pathLst>
              <a:path w="50250" h="3467277">
                <a:moveTo>
                  <a:pt x="0" y="0"/>
                </a:moveTo>
                <a:lnTo>
                  <a:pt x="50250" y="0"/>
                </a:lnTo>
                <a:lnTo>
                  <a:pt x="50250" y="3467277"/>
                </a:lnTo>
                <a:lnTo>
                  <a:pt x="0" y="3467277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628737" y="5226040"/>
            <a:ext cx="219845" cy="251252"/>
          </a:xfrm>
          <a:custGeom>
            <a:avLst/>
            <a:gdLst/>
            <a:ahLst/>
            <a:cxnLst/>
            <a:rect l="l" t="t" r="r" b="b"/>
            <a:pathLst>
              <a:path w="219845" h="251252">
                <a:moveTo>
                  <a:pt x="31406" y="15703"/>
                </a:moveTo>
                <a:cubicBezTo>
                  <a:pt x="14084" y="15703"/>
                  <a:pt x="0" y="29787"/>
                  <a:pt x="0" y="47110"/>
                </a:cubicBezTo>
                <a:lnTo>
                  <a:pt x="0" y="78516"/>
                </a:lnTo>
                <a:cubicBezTo>
                  <a:pt x="0" y="95839"/>
                  <a:pt x="14084" y="109923"/>
                  <a:pt x="31406" y="109923"/>
                </a:cubicBezTo>
                <a:lnTo>
                  <a:pt x="188439" y="109923"/>
                </a:lnTo>
                <a:cubicBezTo>
                  <a:pt x="205762" y="109923"/>
                  <a:pt x="219845" y="95839"/>
                  <a:pt x="219845" y="78516"/>
                </a:cubicBezTo>
                <a:lnTo>
                  <a:pt x="219845" y="47110"/>
                </a:lnTo>
                <a:cubicBezTo>
                  <a:pt x="219845" y="29787"/>
                  <a:pt x="205762" y="15703"/>
                  <a:pt x="188439" y="15703"/>
                </a:cubicBezTo>
                <a:lnTo>
                  <a:pt x="31406" y="15703"/>
                </a:lnTo>
                <a:close/>
                <a:moveTo>
                  <a:pt x="137403" y="51036"/>
                </a:moveTo>
                <a:cubicBezTo>
                  <a:pt x="143904" y="51036"/>
                  <a:pt x="149181" y="56313"/>
                  <a:pt x="149181" y="62813"/>
                </a:cubicBezTo>
                <a:cubicBezTo>
                  <a:pt x="149181" y="69313"/>
                  <a:pt x="143904" y="74590"/>
                  <a:pt x="137403" y="74590"/>
                </a:cubicBezTo>
                <a:cubicBezTo>
                  <a:pt x="130903" y="74590"/>
                  <a:pt x="125626" y="69313"/>
                  <a:pt x="125626" y="62813"/>
                </a:cubicBezTo>
                <a:cubicBezTo>
                  <a:pt x="125626" y="56313"/>
                  <a:pt x="130903" y="51036"/>
                  <a:pt x="137403" y="51036"/>
                </a:cubicBezTo>
                <a:close/>
                <a:moveTo>
                  <a:pt x="164884" y="62813"/>
                </a:moveTo>
                <a:cubicBezTo>
                  <a:pt x="164884" y="56313"/>
                  <a:pt x="170161" y="51036"/>
                  <a:pt x="176662" y="51036"/>
                </a:cubicBezTo>
                <a:cubicBezTo>
                  <a:pt x="183162" y="51036"/>
                  <a:pt x="188439" y="56313"/>
                  <a:pt x="188439" y="62813"/>
                </a:cubicBezTo>
                <a:cubicBezTo>
                  <a:pt x="188439" y="69313"/>
                  <a:pt x="183162" y="74590"/>
                  <a:pt x="176662" y="74590"/>
                </a:cubicBezTo>
                <a:cubicBezTo>
                  <a:pt x="170161" y="74590"/>
                  <a:pt x="164884" y="69313"/>
                  <a:pt x="164884" y="62813"/>
                </a:cubicBezTo>
                <a:close/>
                <a:moveTo>
                  <a:pt x="31406" y="141329"/>
                </a:moveTo>
                <a:cubicBezTo>
                  <a:pt x="14084" y="141329"/>
                  <a:pt x="0" y="155413"/>
                  <a:pt x="0" y="172736"/>
                </a:cubicBezTo>
                <a:lnTo>
                  <a:pt x="0" y="204142"/>
                </a:lnTo>
                <a:cubicBezTo>
                  <a:pt x="0" y="221465"/>
                  <a:pt x="14084" y="235549"/>
                  <a:pt x="31406" y="235549"/>
                </a:cubicBezTo>
                <a:lnTo>
                  <a:pt x="188439" y="235549"/>
                </a:lnTo>
                <a:cubicBezTo>
                  <a:pt x="205762" y="235549"/>
                  <a:pt x="219845" y="221465"/>
                  <a:pt x="219845" y="204142"/>
                </a:cubicBezTo>
                <a:lnTo>
                  <a:pt x="219845" y="172736"/>
                </a:lnTo>
                <a:cubicBezTo>
                  <a:pt x="219845" y="155413"/>
                  <a:pt x="205762" y="141329"/>
                  <a:pt x="188439" y="141329"/>
                </a:cubicBezTo>
                <a:lnTo>
                  <a:pt x="31406" y="141329"/>
                </a:lnTo>
                <a:close/>
                <a:moveTo>
                  <a:pt x="137403" y="176662"/>
                </a:moveTo>
                <a:cubicBezTo>
                  <a:pt x="143904" y="176662"/>
                  <a:pt x="149181" y="181939"/>
                  <a:pt x="149181" y="188439"/>
                </a:cubicBezTo>
                <a:cubicBezTo>
                  <a:pt x="149181" y="194939"/>
                  <a:pt x="143904" y="200216"/>
                  <a:pt x="137403" y="200216"/>
                </a:cubicBezTo>
                <a:cubicBezTo>
                  <a:pt x="130903" y="200216"/>
                  <a:pt x="125626" y="194939"/>
                  <a:pt x="125626" y="188439"/>
                </a:cubicBezTo>
                <a:cubicBezTo>
                  <a:pt x="125626" y="181939"/>
                  <a:pt x="130903" y="176662"/>
                  <a:pt x="137403" y="176662"/>
                </a:cubicBezTo>
                <a:close/>
                <a:moveTo>
                  <a:pt x="164884" y="188439"/>
                </a:moveTo>
                <a:cubicBezTo>
                  <a:pt x="164884" y="181939"/>
                  <a:pt x="170161" y="176662"/>
                  <a:pt x="176662" y="176662"/>
                </a:cubicBezTo>
                <a:cubicBezTo>
                  <a:pt x="183162" y="176662"/>
                  <a:pt x="188439" y="181939"/>
                  <a:pt x="188439" y="188439"/>
                </a:cubicBezTo>
                <a:cubicBezTo>
                  <a:pt x="188439" y="194939"/>
                  <a:pt x="183162" y="200216"/>
                  <a:pt x="176662" y="200216"/>
                </a:cubicBezTo>
                <a:cubicBezTo>
                  <a:pt x="170161" y="200216"/>
                  <a:pt x="164884" y="194939"/>
                  <a:pt x="164884" y="188439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9046444" y="5175790"/>
            <a:ext cx="1130634" cy="35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数据服务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81628" y="5678294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读取服务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81628" y="6080297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根据块 ID 定位本地块文件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81628" y="6432049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将块数据传输给客户端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81628" y="6783802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传输过程中验证数据完整性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581628" y="7236056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写入服务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581628" y="7638059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接收客户端发送的数据块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81628" y="7989811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在副本管道中转发数据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81628" y="8341564"/>
            <a:ext cx="7273743" cy="301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3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将数据持久化到本地存储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4350" y="1797050"/>
            <a:ext cx="2070100" cy="571500"/>
          </a:xfrm>
          <a:custGeom>
            <a:avLst/>
            <a:gdLst/>
            <a:ahLst/>
            <a:cxnLst/>
            <a:rect l="l" t="t" r="r" b="b"/>
            <a:pathLst>
              <a:path w="2070100" h="571500">
                <a:moveTo>
                  <a:pt x="101601" y="0"/>
                </a:moveTo>
                <a:lnTo>
                  <a:pt x="1968499" y="0"/>
                </a:lnTo>
                <a:cubicBezTo>
                  <a:pt x="2024612" y="0"/>
                  <a:pt x="2070100" y="45488"/>
                  <a:pt x="2070100" y="101601"/>
                </a:cubicBezTo>
                <a:lnTo>
                  <a:pt x="2070100" y="469899"/>
                </a:lnTo>
                <a:cubicBezTo>
                  <a:pt x="2070100" y="526012"/>
                  <a:pt x="2024612" y="571500"/>
                  <a:pt x="1968499" y="571500"/>
                </a:cubicBezTo>
                <a:lnTo>
                  <a:pt x="101601" y="571500"/>
                </a:lnTo>
                <a:cubicBezTo>
                  <a:pt x="45488" y="571500"/>
                  <a:pt x="0" y="526012"/>
                  <a:pt x="0" y="4698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23900" y="1911350"/>
            <a:ext cx="1780580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10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679700"/>
            <a:ext cx="1562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数据存储与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副本机制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4889500"/>
            <a:ext cx="15392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管理、副本策略与数据一致性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 HDFS 如何保证数据可靠性和高可用性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33400" y="64897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762000" y="6489700"/>
            <a:ext cx="353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128MB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7048500"/>
            <a:ext cx="344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默认块大小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428034" y="64897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4656634" y="6489700"/>
            <a:ext cx="353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3副本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56634" y="7048500"/>
            <a:ext cx="344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默认副本数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322667" y="64897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8551267" y="6489700"/>
            <a:ext cx="353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99.9999%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51267" y="7048500"/>
            <a:ext cx="344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系统可靠性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6343" y="486343"/>
            <a:ext cx="15368425" cy="243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kern="0" spc="67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MECHANISM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86343" y="826782"/>
            <a:ext cx="15502169" cy="4863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447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文件拆分成 Block 的机制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6343" y="1459028"/>
            <a:ext cx="1167222" cy="48634"/>
          </a:xfrm>
          <a:custGeom>
            <a:avLst/>
            <a:gdLst/>
            <a:ahLst/>
            <a:cxnLst/>
            <a:rect l="l" t="t" r="r" b="b"/>
            <a:pathLst>
              <a:path w="1167222" h="48634">
                <a:moveTo>
                  <a:pt x="0" y="0"/>
                </a:moveTo>
                <a:lnTo>
                  <a:pt x="1167222" y="0"/>
                </a:lnTo>
                <a:lnTo>
                  <a:pt x="1167222" y="48634"/>
                </a:lnTo>
                <a:lnTo>
                  <a:pt x="0" y="48634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10660" y="1750833"/>
            <a:ext cx="48634" cy="3307129"/>
          </a:xfrm>
          <a:custGeom>
            <a:avLst/>
            <a:gdLst/>
            <a:ahLst/>
            <a:cxnLst/>
            <a:rect l="l" t="t" r="r" b="b"/>
            <a:pathLst>
              <a:path w="48634" h="3307129">
                <a:moveTo>
                  <a:pt x="0" y="0"/>
                </a:moveTo>
                <a:lnTo>
                  <a:pt x="48634" y="0"/>
                </a:lnTo>
                <a:lnTo>
                  <a:pt x="48634" y="3307129"/>
                </a:lnTo>
                <a:lnTo>
                  <a:pt x="0" y="3307129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08545" y="1799467"/>
            <a:ext cx="243171" cy="243171"/>
          </a:xfrm>
          <a:custGeom>
            <a:avLst/>
            <a:gdLst/>
            <a:ahLst/>
            <a:cxnLst/>
            <a:rect l="l" t="t" r="r" b="b"/>
            <a:pathLst>
              <a:path w="243171" h="243171">
                <a:moveTo>
                  <a:pt x="91189" y="121586"/>
                </a:moveTo>
                <a:lnTo>
                  <a:pt x="72429" y="140346"/>
                </a:lnTo>
                <a:cubicBezTo>
                  <a:pt x="66445" y="138019"/>
                  <a:pt x="59985" y="136784"/>
                  <a:pt x="53194" y="136784"/>
                </a:cubicBezTo>
                <a:cubicBezTo>
                  <a:pt x="23795" y="136784"/>
                  <a:pt x="0" y="160579"/>
                  <a:pt x="0" y="189978"/>
                </a:cubicBezTo>
                <a:cubicBezTo>
                  <a:pt x="0" y="219377"/>
                  <a:pt x="23795" y="243171"/>
                  <a:pt x="53194" y="243171"/>
                </a:cubicBezTo>
                <a:cubicBezTo>
                  <a:pt x="82593" y="243171"/>
                  <a:pt x="106387" y="219377"/>
                  <a:pt x="106387" y="189978"/>
                </a:cubicBezTo>
                <a:cubicBezTo>
                  <a:pt x="106387" y="183186"/>
                  <a:pt x="105105" y="176727"/>
                  <a:pt x="102825" y="170742"/>
                </a:cubicBezTo>
                <a:lnTo>
                  <a:pt x="237092" y="36476"/>
                </a:lnTo>
                <a:cubicBezTo>
                  <a:pt x="240464" y="33104"/>
                  <a:pt x="240464" y="27689"/>
                  <a:pt x="237092" y="24317"/>
                </a:cubicBezTo>
                <a:cubicBezTo>
                  <a:pt x="223651" y="10876"/>
                  <a:pt x="201899" y="10876"/>
                  <a:pt x="188458" y="24317"/>
                </a:cubicBezTo>
                <a:lnTo>
                  <a:pt x="121586" y="91189"/>
                </a:lnTo>
                <a:lnTo>
                  <a:pt x="102825" y="72429"/>
                </a:lnTo>
                <a:cubicBezTo>
                  <a:pt x="105153" y="66445"/>
                  <a:pt x="106387" y="59985"/>
                  <a:pt x="106387" y="53194"/>
                </a:cubicBezTo>
                <a:cubicBezTo>
                  <a:pt x="106387" y="23795"/>
                  <a:pt x="82593" y="0"/>
                  <a:pt x="53194" y="0"/>
                </a:cubicBezTo>
                <a:cubicBezTo>
                  <a:pt x="23795" y="0"/>
                  <a:pt x="0" y="23795"/>
                  <a:pt x="0" y="53194"/>
                </a:cubicBezTo>
                <a:cubicBezTo>
                  <a:pt x="0" y="82593"/>
                  <a:pt x="23795" y="106387"/>
                  <a:pt x="53194" y="106387"/>
                </a:cubicBezTo>
                <a:cubicBezTo>
                  <a:pt x="59985" y="106387"/>
                  <a:pt x="66445" y="105105"/>
                  <a:pt x="72429" y="102825"/>
                </a:cubicBezTo>
                <a:lnTo>
                  <a:pt x="91189" y="121586"/>
                </a:lnTo>
                <a:close/>
                <a:moveTo>
                  <a:pt x="137686" y="168083"/>
                </a:moveTo>
                <a:lnTo>
                  <a:pt x="188458" y="218854"/>
                </a:lnTo>
                <a:cubicBezTo>
                  <a:pt x="201899" y="232295"/>
                  <a:pt x="223651" y="232295"/>
                  <a:pt x="237092" y="218854"/>
                </a:cubicBezTo>
                <a:cubicBezTo>
                  <a:pt x="240464" y="215482"/>
                  <a:pt x="240464" y="210068"/>
                  <a:pt x="237092" y="206696"/>
                </a:cubicBezTo>
                <a:lnTo>
                  <a:pt x="168083" y="137686"/>
                </a:lnTo>
                <a:lnTo>
                  <a:pt x="137686" y="168083"/>
                </a:lnTo>
                <a:close/>
                <a:moveTo>
                  <a:pt x="30396" y="53194"/>
                </a:moveTo>
                <a:cubicBezTo>
                  <a:pt x="30396" y="40612"/>
                  <a:pt x="40612" y="30396"/>
                  <a:pt x="53194" y="30396"/>
                </a:cubicBezTo>
                <a:cubicBezTo>
                  <a:pt x="65776" y="30396"/>
                  <a:pt x="75991" y="40612"/>
                  <a:pt x="75991" y="53194"/>
                </a:cubicBezTo>
                <a:cubicBezTo>
                  <a:pt x="75991" y="65776"/>
                  <a:pt x="65776" y="75991"/>
                  <a:pt x="53194" y="75991"/>
                </a:cubicBezTo>
                <a:cubicBezTo>
                  <a:pt x="40612" y="75991"/>
                  <a:pt x="30396" y="65776"/>
                  <a:pt x="30396" y="53194"/>
                </a:cubicBezTo>
                <a:close/>
                <a:moveTo>
                  <a:pt x="53194" y="167180"/>
                </a:moveTo>
                <a:cubicBezTo>
                  <a:pt x="65776" y="167180"/>
                  <a:pt x="75991" y="177395"/>
                  <a:pt x="75991" y="189978"/>
                </a:cubicBezTo>
                <a:cubicBezTo>
                  <a:pt x="75991" y="202560"/>
                  <a:pt x="65776" y="212775"/>
                  <a:pt x="53194" y="212775"/>
                </a:cubicBezTo>
                <a:cubicBezTo>
                  <a:pt x="40612" y="212775"/>
                  <a:pt x="30396" y="202560"/>
                  <a:pt x="30396" y="189978"/>
                </a:cubicBezTo>
                <a:cubicBezTo>
                  <a:pt x="30396" y="177395"/>
                  <a:pt x="40612" y="167180"/>
                  <a:pt x="53194" y="16718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28015" y="1750833"/>
            <a:ext cx="1775150" cy="34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1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拆分原理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8148" y="2237176"/>
            <a:ext cx="7295138" cy="583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采用</a:t>
            </a:r>
            <a:r>
              <a:rPr lang="en-US" sz="153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固定大小块拆分</a:t>
            </a:r>
            <a:r>
              <a:rPr lang="en-US" sz="153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策略，默认块大小为 128MB（Hadoop 2.x/3.x）。文件被逻辑上划分为多个等大小的块，最后一个块可能小于指定大小。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8148" y="2966690"/>
            <a:ext cx="729513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拆分示例：300MB 文件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8148" y="3355764"/>
            <a:ext cx="972685" cy="389074"/>
          </a:xfrm>
          <a:custGeom>
            <a:avLst/>
            <a:gdLst/>
            <a:ahLst/>
            <a:cxnLst/>
            <a:rect l="l" t="t" r="r" b="b"/>
            <a:pathLst>
              <a:path w="972685" h="389074">
                <a:moveTo>
                  <a:pt x="48634" y="0"/>
                </a:moveTo>
                <a:lnTo>
                  <a:pt x="924051" y="0"/>
                </a:lnTo>
                <a:cubicBezTo>
                  <a:pt x="950911" y="0"/>
                  <a:pt x="972685" y="21774"/>
                  <a:pt x="972685" y="48634"/>
                </a:cubicBezTo>
                <a:lnTo>
                  <a:pt x="972685" y="340440"/>
                </a:lnTo>
                <a:cubicBezTo>
                  <a:pt x="972685" y="367300"/>
                  <a:pt x="950911" y="389074"/>
                  <a:pt x="924051" y="389074"/>
                </a:cubicBezTo>
                <a:lnTo>
                  <a:pt x="48634" y="389074"/>
                </a:lnTo>
                <a:cubicBezTo>
                  <a:pt x="21792" y="389074"/>
                  <a:pt x="0" y="367282"/>
                  <a:pt x="0" y="340440"/>
                </a:cubicBezTo>
                <a:lnTo>
                  <a:pt x="0" y="48634"/>
                </a:lnTo>
                <a:cubicBezTo>
                  <a:pt x="0" y="21792"/>
                  <a:pt x="21792" y="0"/>
                  <a:pt x="48634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35593" y="3355764"/>
            <a:ext cx="1057795" cy="389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Block_1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848102" y="3404398"/>
            <a:ext cx="2954531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128MB, 偏移量: 0, 块ID: blk_1001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8148" y="3842106"/>
            <a:ext cx="972685" cy="389074"/>
          </a:xfrm>
          <a:custGeom>
            <a:avLst/>
            <a:gdLst/>
            <a:ahLst/>
            <a:cxnLst/>
            <a:rect l="l" t="t" r="r" b="b"/>
            <a:pathLst>
              <a:path w="972685" h="389074">
                <a:moveTo>
                  <a:pt x="48634" y="0"/>
                </a:moveTo>
                <a:lnTo>
                  <a:pt x="924051" y="0"/>
                </a:lnTo>
                <a:cubicBezTo>
                  <a:pt x="950911" y="0"/>
                  <a:pt x="972685" y="21774"/>
                  <a:pt x="972685" y="48634"/>
                </a:cubicBezTo>
                <a:lnTo>
                  <a:pt x="972685" y="340440"/>
                </a:lnTo>
                <a:cubicBezTo>
                  <a:pt x="972685" y="367300"/>
                  <a:pt x="950911" y="389074"/>
                  <a:pt x="924051" y="389074"/>
                </a:cubicBezTo>
                <a:lnTo>
                  <a:pt x="48634" y="389074"/>
                </a:lnTo>
                <a:cubicBezTo>
                  <a:pt x="21792" y="389074"/>
                  <a:pt x="0" y="367282"/>
                  <a:pt x="0" y="340440"/>
                </a:cubicBezTo>
                <a:lnTo>
                  <a:pt x="0" y="48634"/>
                </a:lnTo>
                <a:cubicBezTo>
                  <a:pt x="0" y="21792"/>
                  <a:pt x="21792" y="0"/>
                  <a:pt x="48634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735593" y="3842106"/>
            <a:ext cx="1057795" cy="389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Block_2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48102" y="3890740"/>
            <a:ext cx="3477349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128MB, 偏移量: 128MB, 块ID: blk_1002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8148" y="4328449"/>
            <a:ext cx="972685" cy="389074"/>
          </a:xfrm>
          <a:custGeom>
            <a:avLst/>
            <a:gdLst/>
            <a:ahLst/>
            <a:cxnLst/>
            <a:rect l="l" t="t" r="r" b="b"/>
            <a:pathLst>
              <a:path w="972685" h="389074">
                <a:moveTo>
                  <a:pt x="48634" y="0"/>
                </a:moveTo>
                <a:lnTo>
                  <a:pt x="924051" y="0"/>
                </a:lnTo>
                <a:cubicBezTo>
                  <a:pt x="950911" y="0"/>
                  <a:pt x="972685" y="21774"/>
                  <a:pt x="972685" y="48634"/>
                </a:cubicBezTo>
                <a:lnTo>
                  <a:pt x="972685" y="340440"/>
                </a:lnTo>
                <a:cubicBezTo>
                  <a:pt x="972685" y="367300"/>
                  <a:pt x="950911" y="389074"/>
                  <a:pt x="924051" y="389074"/>
                </a:cubicBezTo>
                <a:lnTo>
                  <a:pt x="48634" y="389074"/>
                </a:lnTo>
                <a:cubicBezTo>
                  <a:pt x="21792" y="389074"/>
                  <a:pt x="0" y="367282"/>
                  <a:pt x="0" y="340440"/>
                </a:cubicBezTo>
                <a:lnTo>
                  <a:pt x="0" y="48634"/>
                </a:lnTo>
                <a:cubicBezTo>
                  <a:pt x="0" y="21792"/>
                  <a:pt x="21792" y="0"/>
                  <a:pt x="48634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35593" y="4328449"/>
            <a:ext cx="1057795" cy="389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Block_3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48102" y="4377083"/>
            <a:ext cx="3428715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44MB, 偏移量: 256MB, 块ID: blk_1003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97460" y="1750833"/>
            <a:ext cx="48634" cy="3307129"/>
          </a:xfrm>
          <a:custGeom>
            <a:avLst/>
            <a:gdLst/>
            <a:ahLst/>
            <a:cxnLst/>
            <a:rect l="l" t="t" r="r" b="b"/>
            <a:pathLst>
              <a:path w="48634" h="3307129">
                <a:moveTo>
                  <a:pt x="0" y="0"/>
                </a:moveTo>
                <a:lnTo>
                  <a:pt x="48634" y="0"/>
                </a:lnTo>
                <a:lnTo>
                  <a:pt x="48634" y="3307129"/>
                </a:lnTo>
                <a:lnTo>
                  <a:pt x="0" y="3307129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625741" y="1799467"/>
            <a:ext cx="182378" cy="243171"/>
          </a:xfrm>
          <a:custGeom>
            <a:avLst/>
            <a:gdLst/>
            <a:ahLst/>
            <a:cxnLst/>
            <a:rect l="l" t="t" r="r" b="b"/>
            <a:pathLst>
              <a:path w="182378" h="243171">
                <a:moveTo>
                  <a:pt x="0" y="30396"/>
                </a:moveTo>
                <a:cubicBezTo>
                  <a:pt x="0" y="13631"/>
                  <a:pt x="13631" y="0"/>
                  <a:pt x="30396" y="0"/>
                </a:cubicBezTo>
                <a:lnTo>
                  <a:pt x="101401" y="0"/>
                </a:lnTo>
                <a:cubicBezTo>
                  <a:pt x="109475" y="0"/>
                  <a:pt x="117216" y="3182"/>
                  <a:pt x="122915" y="8881"/>
                </a:cubicBezTo>
                <a:lnTo>
                  <a:pt x="173497" y="59510"/>
                </a:lnTo>
                <a:cubicBezTo>
                  <a:pt x="179196" y="65210"/>
                  <a:pt x="182378" y="72951"/>
                  <a:pt x="182378" y="81025"/>
                </a:cubicBezTo>
                <a:lnTo>
                  <a:pt x="182378" y="212775"/>
                </a:lnTo>
                <a:cubicBezTo>
                  <a:pt x="182378" y="229540"/>
                  <a:pt x="168748" y="243171"/>
                  <a:pt x="151982" y="243171"/>
                </a:cubicBezTo>
                <a:lnTo>
                  <a:pt x="30396" y="243171"/>
                </a:lnTo>
                <a:cubicBezTo>
                  <a:pt x="13631" y="243171"/>
                  <a:pt x="0" y="229540"/>
                  <a:pt x="0" y="212775"/>
                </a:cubicBezTo>
                <a:lnTo>
                  <a:pt x="0" y="30396"/>
                </a:lnTo>
                <a:close/>
                <a:moveTo>
                  <a:pt x="98788" y="27784"/>
                </a:moveTo>
                <a:lnTo>
                  <a:pt x="98788" y="72191"/>
                </a:lnTo>
                <a:cubicBezTo>
                  <a:pt x="98788" y="78508"/>
                  <a:pt x="103870" y="83590"/>
                  <a:pt x="110187" y="83590"/>
                </a:cubicBezTo>
                <a:lnTo>
                  <a:pt x="154594" y="83590"/>
                </a:lnTo>
                <a:lnTo>
                  <a:pt x="98788" y="27784"/>
                </a:lnTo>
                <a:close/>
                <a:moveTo>
                  <a:pt x="73236" y="140393"/>
                </a:moveTo>
                <a:cubicBezTo>
                  <a:pt x="77321" y="135596"/>
                  <a:pt x="76798" y="128425"/>
                  <a:pt x="72001" y="124340"/>
                </a:cubicBezTo>
                <a:cubicBezTo>
                  <a:pt x="67205" y="120256"/>
                  <a:pt x="60033" y="120778"/>
                  <a:pt x="55948" y="125575"/>
                </a:cubicBezTo>
                <a:lnTo>
                  <a:pt x="33151" y="152172"/>
                </a:lnTo>
                <a:cubicBezTo>
                  <a:pt x="29494" y="156447"/>
                  <a:pt x="29494" y="162716"/>
                  <a:pt x="33151" y="166990"/>
                </a:cubicBezTo>
                <a:lnTo>
                  <a:pt x="55948" y="193587"/>
                </a:lnTo>
                <a:cubicBezTo>
                  <a:pt x="60033" y="198384"/>
                  <a:pt x="67252" y="198907"/>
                  <a:pt x="72001" y="194822"/>
                </a:cubicBezTo>
                <a:cubicBezTo>
                  <a:pt x="76751" y="190737"/>
                  <a:pt x="77321" y="183518"/>
                  <a:pt x="73236" y="178769"/>
                </a:cubicBezTo>
                <a:lnTo>
                  <a:pt x="56803" y="159581"/>
                </a:lnTo>
                <a:lnTo>
                  <a:pt x="73236" y="140393"/>
                </a:lnTo>
                <a:close/>
                <a:moveTo>
                  <a:pt x="126430" y="125575"/>
                </a:moveTo>
                <a:cubicBezTo>
                  <a:pt x="122346" y="120778"/>
                  <a:pt x="115126" y="120256"/>
                  <a:pt x="110377" y="124340"/>
                </a:cubicBezTo>
                <a:cubicBezTo>
                  <a:pt x="105628" y="128425"/>
                  <a:pt x="105058" y="135644"/>
                  <a:pt x="109142" y="140393"/>
                </a:cubicBezTo>
                <a:lnTo>
                  <a:pt x="125575" y="159581"/>
                </a:lnTo>
                <a:lnTo>
                  <a:pt x="109142" y="178769"/>
                </a:lnTo>
                <a:cubicBezTo>
                  <a:pt x="105058" y="183566"/>
                  <a:pt x="105580" y="190737"/>
                  <a:pt x="110377" y="194822"/>
                </a:cubicBezTo>
                <a:cubicBezTo>
                  <a:pt x="115174" y="198907"/>
                  <a:pt x="122346" y="198384"/>
                  <a:pt x="126430" y="193587"/>
                </a:cubicBezTo>
                <a:lnTo>
                  <a:pt x="149227" y="166990"/>
                </a:lnTo>
                <a:cubicBezTo>
                  <a:pt x="152884" y="162716"/>
                  <a:pt x="152884" y="156447"/>
                  <a:pt x="149227" y="152172"/>
                </a:cubicBezTo>
                <a:lnTo>
                  <a:pt x="126430" y="125575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014815" y="1750833"/>
            <a:ext cx="2018322" cy="34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1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元数据结构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64948" y="2237176"/>
            <a:ext cx="729513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每个逻辑块在 NameNode 中都维护着详细的元数据信息：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64948" y="2674884"/>
            <a:ext cx="729513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BlockInfo 关键字段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64948" y="3063958"/>
            <a:ext cx="729513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3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blockId</a:t>
            </a:r>
            <a:r>
              <a:rPr lang="en-US" sz="153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：块唯一标识符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64948" y="3404398"/>
            <a:ext cx="729513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3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numBytes</a:t>
            </a:r>
            <a:r>
              <a:rPr lang="en-US" sz="153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：块大小（字节）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64948" y="3744838"/>
            <a:ext cx="729513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3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generationStamp</a:t>
            </a:r>
            <a:r>
              <a:rPr lang="en-US" sz="153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：生成时间戳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64948" y="4085277"/>
            <a:ext cx="729513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3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offset</a:t>
            </a:r>
            <a:r>
              <a:rPr lang="en-US" sz="153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：在文件中的偏移量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64948" y="4425717"/>
            <a:ext cx="729513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3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storages</a:t>
            </a:r>
            <a:r>
              <a:rPr lang="en-US" sz="153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：存储该块的 DataNode 列表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64948" y="4766157"/>
            <a:ext cx="729513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3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ucState</a:t>
            </a:r>
            <a:r>
              <a:rPr lang="en-US" sz="153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：块状态（正在写入、已完成等）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10660" y="5301134"/>
            <a:ext cx="48634" cy="3355764"/>
          </a:xfrm>
          <a:custGeom>
            <a:avLst/>
            <a:gdLst/>
            <a:ahLst/>
            <a:cxnLst/>
            <a:rect l="l" t="t" r="r" b="b"/>
            <a:pathLst>
              <a:path w="48634" h="3355764">
                <a:moveTo>
                  <a:pt x="0" y="0"/>
                </a:moveTo>
                <a:lnTo>
                  <a:pt x="48634" y="0"/>
                </a:lnTo>
                <a:lnTo>
                  <a:pt x="48634" y="3355764"/>
                </a:lnTo>
                <a:lnTo>
                  <a:pt x="0" y="3355764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38941" y="5349768"/>
            <a:ext cx="182378" cy="243171"/>
          </a:xfrm>
          <a:custGeom>
            <a:avLst/>
            <a:gdLst/>
            <a:ahLst/>
            <a:cxnLst/>
            <a:rect l="l" t="t" r="r" b="b"/>
            <a:pathLst>
              <a:path w="182378" h="243171">
                <a:moveTo>
                  <a:pt x="0" y="30396"/>
                </a:moveTo>
                <a:cubicBezTo>
                  <a:pt x="0" y="13631"/>
                  <a:pt x="13631" y="0"/>
                  <a:pt x="30396" y="0"/>
                </a:cubicBezTo>
                <a:lnTo>
                  <a:pt x="101401" y="0"/>
                </a:lnTo>
                <a:cubicBezTo>
                  <a:pt x="109475" y="0"/>
                  <a:pt x="117216" y="3182"/>
                  <a:pt x="122915" y="8881"/>
                </a:cubicBezTo>
                <a:lnTo>
                  <a:pt x="173497" y="59510"/>
                </a:lnTo>
                <a:cubicBezTo>
                  <a:pt x="179196" y="65210"/>
                  <a:pt x="182378" y="72951"/>
                  <a:pt x="182378" y="81025"/>
                </a:cubicBezTo>
                <a:lnTo>
                  <a:pt x="182378" y="212775"/>
                </a:lnTo>
                <a:cubicBezTo>
                  <a:pt x="182378" y="229540"/>
                  <a:pt x="168748" y="243171"/>
                  <a:pt x="151982" y="243171"/>
                </a:cubicBezTo>
                <a:lnTo>
                  <a:pt x="30396" y="243171"/>
                </a:lnTo>
                <a:cubicBezTo>
                  <a:pt x="13631" y="243171"/>
                  <a:pt x="0" y="229540"/>
                  <a:pt x="0" y="212775"/>
                </a:cubicBezTo>
                <a:lnTo>
                  <a:pt x="0" y="30396"/>
                </a:lnTo>
                <a:close/>
                <a:moveTo>
                  <a:pt x="98788" y="27784"/>
                </a:moveTo>
                <a:lnTo>
                  <a:pt x="98788" y="72191"/>
                </a:lnTo>
                <a:cubicBezTo>
                  <a:pt x="98788" y="78508"/>
                  <a:pt x="103870" y="83590"/>
                  <a:pt x="110187" y="83590"/>
                </a:cubicBezTo>
                <a:lnTo>
                  <a:pt x="154594" y="83590"/>
                </a:lnTo>
                <a:lnTo>
                  <a:pt x="98788" y="27784"/>
                </a:lnTo>
                <a:close/>
                <a:moveTo>
                  <a:pt x="56993" y="121586"/>
                </a:moveTo>
                <a:cubicBezTo>
                  <a:pt x="50677" y="121586"/>
                  <a:pt x="45595" y="126668"/>
                  <a:pt x="45595" y="132984"/>
                </a:cubicBezTo>
                <a:cubicBezTo>
                  <a:pt x="45595" y="139301"/>
                  <a:pt x="50677" y="144383"/>
                  <a:pt x="56993" y="144383"/>
                </a:cubicBezTo>
                <a:lnTo>
                  <a:pt x="125385" y="144383"/>
                </a:lnTo>
                <a:cubicBezTo>
                  <a:pt x="131702" y="144383"/>
                  <a:pt x="136784" y="139301"/>
                  <a:pt x="136784" y="132984"/>
                </a:cubicBezTo>
                <a:cubicBezTo>
                  <a:pt x="136784" y="126668"/>
                  <a:pt x="131702" y="121586"/>
                  <a:pt x="125385" y="121586"/>
                </a:cubicBezTo>
                <a:lnTo>
                  <a:pt x="56993" y="121586"/>
                </a:lnTo>
                <a:close/>
                <a:moveTo>
                  <a:pt x="56993" y="167180"/>
                </a:moveTo>
                <a:cubicBezTo>
                  <a:pt x="50677" y="167180"/>
                  <a:pt x="45595" y="172262"/>
                  <a:pt x="45595" y="178579"/>
                </a:cubicBezTo>
                <a:cubicBezTo>
                  <a:pt x="45595" y="184896"/>
                  <a:pt x="50677" y="189978"/>
                  <a:pt x="56993" y="189978"/>
                </a:cubicBezTo>
                <a:lnTo>
                  <a:pt x="125385" y="189978"/>
                </a:lnTo>
                <a:cubicBezTo>
                  <a:pt x="131702" y="189978"/>
                  <a:pt x="136784" y="184896"/>
                  <a:pt x="136784" y="178579"/>
                </a:cubicBezTo>
                <a:cubicBezTo>
                  <a:pt x="136784" y="172262"/>
                  <a:pt x="131702" y="167180"/>
                  <a:pt x="125385" y="167180"/>
                </a:cubicBezTo>
                <a:lnTo>
                  <a:pt x="56993" y="16718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228015" y="5301134"/>
            <a:ext cx="1823785" cy="34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1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小文件处理机制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78148" y="5787476"/>
            <a:ext cx="729513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小文件问题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78148" y="6176550"/>
            <a:ext cx="729513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NameNode 内存压力：每个文件都需要元数据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78148" y="6516990"/>
            <a:ext cx="729513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空间浪费：小文件无法充分利用 Block 空间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78148" y="6857430"/>
            <a:ext cx="729513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处理效率低：MapReduce 处理小文件性能下降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78148" y="7295138"/>
            <a:ext cx="729513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解决方案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78148" y="7684212"/>
            <a:ext cx="729513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HDFS Archive (HAR)：将小文件打包成大文件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78148" y="8024652"/>
            <a:ext cx="729513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SequenceFile：合并为键值对格式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78148" y="8365092"/>
            <a:ext cx="729513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CombineFileInputFormat：计算层合并小文件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97460" y="5301134"/>
            <a:ext cx="48634" cy="3355764"/>
          </a:xfrm>
          <a:custGeom>
            <a:avLst/>
            <a:gdLst/>
            <a:ahLst/>
            <a:cxnLst/>
            <a:rect l="l" t="t" r="r" b="b"/>
            <a:pathLst>
              <a:path w="48634" h="3355764">
                <a:moveTo>
                  <a:pt x="0" y="0"/>
                </a:moveTo>
                <a:lnTo>
                  <a:pt x="48634" y="0"/>
                </a:lnTo>
                <a:lnTo>
                  <a:pt x="48634" y="3355764"/>
                </a:lnTo>
                <a:lnTo>
                  <a:pt x="0" y="3355764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8595345" y="5349768"/>
            <a:ext cx="243171" cy="243171"/>
          </a:xfrm>
          <a:custGeom>
            <a:avLst/>
            <a:gdLst/>
            <a:ahLst/>
            <a:cxnLst/>
            <a:rect l="l" t="t" r="r" b="b"/>
            <a:pathLst>
              <a:path w="243171" h="243171">
                <a:moveTo>
                  <a:pt x="30396" y="30396"/>
                </a:moveTo>
                <a:cubicBezTo>
                  <a:pt x="30396" y="21990"/>
                  <a:pt x="23605" y="15198"/>
                  <a:pt x="15198" y="15198"/>
                </a:cubicBezTo>
                <a:cubicBezTo>
                  <a:pt x="6792" y="15198"/>
                  <a:pt x="0" y="21990"/>
                  <a:pt x="0" y="30396"/>
                </a:cubicBezTo>
                <a:lnTo>
                  <a:pt x="0" y="189978"/>
                </a:lnTo>
                <a:cubicBezTo>
                  <a:pt x="0" y="210970"/>
                  <a:pt x="17003" y="227973"/>
                  <a:pt x="37996" y="227973"/>
                </a:cubicBezTo>
                <a:lnTo>
                  <a:pt x="227973" y="227973"/>
                </a:lnTo>
                <a:cubicBezTo>
                  <a:pt x="236380" y="227973"/>
                  <a:pt x="243171" y="221181"/>
                  <a:pt x="243171" y="212775"/>
                </a:cubicBezTo>
                <a:cubicBezTo>
                  <a:pt x="243171" y="204368"/>
                  <a:pt x="236380" y="197577"/>
                  <a:pt x="227973" y="197577"/>
                </a:cubicBezTo>
                <a:lnTo>
                  <a:pt x="37996" y="197577"/>
                </a:lnTo>
                <a:cubicBezTo>
                  <a:pt x="33816" y="197577"/>
                  <a:pt x="30396" y="194157"/>
                  <a:pt x="30396" y="189978"/>
                </a:cubicBezTo>
                <a:lnTo>
                  <a:pt x="30396" y="30396"/>
                </a:lnTo>
                <a:close/>
                <a:moveTo>
                  <a:pt x="223509" y="71527"/>
                </a:moveTo>
                <a:cubicBezTo>
                  <a:pt x="229445" y="65590"/>
                  <a:pt x="229445" y="55948"/>
                  <a:pt x="223509" y="50012"/>
                </a:cubicBezTo>
                <a:cubicBezTo>
                  <a:pt x="217572" y="44075"/>
                  <a:pt x="207930" y="44075"/>
                  <a:pt x="201994" y="50012"/>
                </a:cubicBezTo>
                <a:lnTo>
                  <a:pt x="151982" y="100071"/>
                </a:lnTo>
                <a:lnTo>
                  <a:pt x="124720" y="72856"/>
                </a:lnTo>
                <a:cubicBezTo>
                  <a:pt x="118783" y="66920"/>
                  <a:pt x="109142" y="66920"/>
                  <a:pt x="103205" y="72856"/>
                </a:cubicBezTo>
                <a:lnTo>
                  <a:pt x="57611" y="118451"/>
                </a:lnTo>
                <a:cubicBezTo>
                  <a:pt x="51674" y="124388"/>
                  <a:pt x="51674" y="134029"/>
                  <a:pt x="57611" y="139966"/>
                </a:cubicBezTo>
                <a:cubicBezTo>
                  <a:pt x="63547" y="145903"/>
                  <a:pt x="73189" y="145903"/>
                  <a:pt x="79126" y="139966"/>
                </a:cubicBezTo>
                <a:lnTo>
                  <a:pt x="113987" y="105105"/>
                </a:lnTo>
                <a:lnTo>
                  <a:pt x="141248" y="132367"/>
                </a:lnTo>
                <a:cubicBezTo>
                  <a:pt x="147185" y="138304"/>
                  <a:pt x="156826" y="138304"/>
                  <a:pt x="162763" y="132367"/>
                </a:cubicBezTo>
                <a:lnTo>
                  <a:pt x="223556" y="71574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9014815" y="5301134"/>
            <a:ext cx="3234178" cy="34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1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拆分对读写流程的影响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64948" y="5787476"/>
            <a:ext cx="729513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读取流程优化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564948" y="6176550"/>
            <a:ext cx="729513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并行读取不同块，单个块损坏只影响文件一部分，每个块独立选择最优 DataNode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564948" y="6614259"/>
            <a:ext cx="7295138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写入流程优化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564948" y="7003333"/>
            <a:ext cx="7295138" cy="583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3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不同块可以并行写入不同 DataNode 组，新块可以选择空间充足的 DataNode，支持大文件的逐步写入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6023" y="506023"/>
            <a:ext cx="15332507" cy="253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kern="0" spc="7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REPLICATION STRATEGY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6023" y="860240"/>
            <a:ext cx="15471664" cy="506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86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副本机制与放置策略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6023" y="1518070"/>
            <a:ext cx="1214456" cy="50602"/>
          </a:xfrm>
          <a:custGeom>
            <a:avLst/>
            <a:gdLst/>
            <a:ahLst/>
            <a:cxnLst/>
            <a:rect l="l" t="t" r="r" b="b"/>
            <a:pathLst>
              <a:path w="1214456" h="50602">
                <a:moveTo>
                  <a:pt x="0" y="0"/>
                </a:moveTo>
                <a:lnTo>
                  <a:pt x="1214456" y="0"/>
                </a:lnTo>
                <a:lnTo>
                  <a:pt x="1214456" y="50602"/>
                </a:lnTo>
                <a:lnTo>
                  <a:pt x="0" y="50602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1325" y="1821684"/>
            <a:ext cx="50602" cy="5047583"/>
          </a:xfrm>
          <a:custGeom>
            <a:avLst/>
            <a:gdLst/>
            <a:ahLst/>
            <a:cxnLst/>
            <a:rect l="l" t="t" r="r" b="b"/>
            <a:pathLst>
              <a:path w="50602" h="5047583">
                <a:moveTo>
                  <a:pt x="0" y="0"/>
                </a:moveTo>
                <a:lnTo>
                  <a:pt x="50602" y="0"/>
                </a:lnTo>
                <a:lnTo>
                  <a:pt x="50602" y="5047583"/>
                </a:lnTo>
                <a:lnTo>
                  <a:pt x="0" y="5047583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72890" y="1872286"/>
            <a:ext cx="189759" cy="253012"/>
          </a:xfrm>
          <a:custGeom>
            <a:avLst/>
            <a:gdLst/>
            <a:ahLst/>
            <a:cxnLst/>
            <a:rect l="l" t="t" r="r" b="b"/>
            <a:pathLst>
              <a:path w="189759" h="253012">
                <a:moveTo>
                  <a:pt x="31626" y="0"/>
                </a:moveTo>
                <a:cubicBezTo>
                  <a:pt x="14182" y="0"/>
                  <a:pt x="0" y="14182"/>
                  <a:pt x="0" y="31626"/>
                </a:cubicBezTo>
                <a:lnTo>
                  <a:pt x="0" y="221385"/>
                </a:lnTo>
                <a:cubicBezTo>
                  <a:pt x="0" y="238829"/>
                  <a:pt x="14182" y="253012"/>
                  <a:pt x="31626" y="253012"/>
                </a:cubicBezTo>
                <a:lnTo>
                  <a:pt x="158132" y="253012"/>
                </a:lnTo>
                <a:cubicBezTo>
                  <a:pt x="175576" y="253012"/>
                  <a:pt x="189759" y="238829"/>
                  <a:pt x="189759" y="221385"/>
                </a:cubicBezTo>
                <a:lnTo>
                  <a:pt x="189759" y="31626"/>
                </a:lnTo>
                <a:cubicBezTo>
                  <a:pt x="189759" y="14182"/>
                  <a:pt x="175576" y="0"/>
                  <a:pt x="158132" y="0"/>
                </a:cubicBezTo>
                <a:lnTo>
                  <a:pt x="31626" y="0"/>
                </a:lnTo>
                <a:close/>
                <a:moveTo>
                  <a:pt x="47440" y="31626"/>
                </a:moveTo>
                <a:lnTo>
                  <a:pt x="142319" y="31626"/>
                </a:lnTo>
                <a:cubicBezTo>
                  <a:pt x="151066" y="31626"/>
                  <a:pt x="158132" y="38693"/>
                  <a:pt x="158132" y="47440"/>
                </a:cubicBezTo>
                <a:lnTo>
                  <a:pt x="158132" y="63253"/>
                </a:lnTo>
                <a:cubicBezTo>
                  <a:pt x="158132" y="72000"/>
                  <a:pt x="151066" y="79066"/>
                  <a:pt x="142319" y="79066"/>
                </a:cubicBezTo>
                <a:lnTo>
                  <a:pt x="47440" y="79066"/>
                </a:lnTo>
                <a:cubicBezTo>
                  <a:pt x="38693" y="79066"/>
                  <a:pt x="31626" y="72000"/>
                  <a:pt x="31626" y="63253"/>
                </a:cubicBezTo>
                <a:lnTo>
                  <a:pt x="31626" y="47440"/>
                </a:lnTo>
                <a:cubicBezTo>
                  <a:pt x="31626" y="38693"/>
                  <a:pt x="38693" y="31626"/>
                  <a:pt x="47440" y="31626"/>
                </a:cubicBezTo>
                <a:close/>
                <a:moveTo>
                  <a:pt x="55346" y="114646"/>
                </a:moveTo>
                <a:cubicBezTo>
                  <a:pt x="55346" y="121192"/>
                  <a:pt x="50032" y="126506"/>
                  <a:pt x="43486" y="126506"/>
                </a:cubicBezTo>
                <a:cubicBezTo>
                  <a:pt x="36941" y="126506"/>
                  <a:pt x="31626" y="121192"/>
                  <a:pt x="31626" y="114646"/>
                </a:cubicBezTo>
                <a:cubicBezTo>
                  <a:pt x="31626" y="108100"/>
                  <a:pt x="36941" y="102786"/>
                  <a:pt x="43486" y="102786"/>
                </a:cubicBezTo>
                <a:cubicBezTo>
                  <a:pt x="50032" y="102786"/>
                  <a:pt x="55346" y="108100"/>
                  <a:pt x="55346" y="114646"/>
                </a:cubicBezTo>
                <a:close/>
                <a:moveTo>
                  <a:pt x="94879" y="126506"/>
                </a:moveTo>
                <a:cubicBezTo>
                  <a:pt x="88334" y="126506"/>
                  <a:pt x="83019" y="121192"/>
                  <a:pt x="83019" y="114646"/>
                </a:cubicBezTo>
                <a:cubicBezTo>
                  <a:pt x="83019" y="108100"/>
                  <a:pt x="88334" y="102786"/>
                  <a:pt x="94879" y="102786"/>
                </a:cubicBezTo>
                <a:cubicBezTo>
                  <a:pt x="101425" y="102786"/>
                  <a:pt x="106739" y="108100"/>
                  <a:pt x="106739" y="114646"/>
                </a:cubicBezTo>
                <a:cubicBezTo>
                  <a:pt x="106739" y="121192"/>
                  <a:pt x="101425" y="126506"/>
                  <a:pt x="94879" y="126506"/>
                </a:cubicBezTo>
                <a:close/>
                <a:moveTo>
                  <a:pt x="158132" y="114646"/>
                </a:moveTo>
                <a:cubicBezTo>
                  <a:pt x="158132" y="121192"/>
                  <a:pt x="152818" y="126506"/>
                  <a:pt x="146272" y="126506"/>
                </a:cubicBezTo>
                <a:cubicBezTo>
                  <a:pt x="139727" y="126506"/>
                  <a:pt x="134412" y="121192"/>
                  <a:pt x="134412" y="114646"/>
                </a:cubicBezTo>
                <a:cubicBezTo>
                  <a:pt x="134412" y="108100"/>
                  <a:pt x="139727" y="102786"/>
                  <a:pt x="146272" y="102786"/>
                </a:cubicBezTo>
                <a:cubicBezTo>
                  <a:pt x="152818" y="102786"/>
                  <a:pt x="158132" y="108100"/>
                  <a:pt x="158132" y="114646"/>
                </a:cubicBezTo>
                <a:close/>
                <a:moveTo>
                  <a:pt x="43486" y="173946"/>
                </a:moveTo>
                <a:cubicBezTo>
                  <a:pt x="36941" y="173946"/>
                  <a:pt x="31626" y="168631"/>
                  <a:pt x="31626" y="162086"/>
                </a:cubicBezTo>
                <a:cubicBezTo>
                  <a:pt x="31626" y="155540"/>
                  <a:pt x="36941" y="150226"/>
                  <a:pt x="43486" y="150226"/>
                </a:cubicBezTo>
                <a:cubicBezTo>
                  <a:pt x="50032" y="150226"/>
                  <a:pt x="55346" y="155540"/>
                  <a:pt x="55346" y="162086"/>
                </a:cubicBezTo>
                <a:cubicBezTo>
                  <a:pt x="55346" y="168631"/>
                  <a:pt x="50032" y="173946"/>
                  <a:pt x="43486" y="173946"/>
                </a:cubicBezTo>
                <a:close/>
                <a:moveTo>
                  <a:pt x="106739" y="162086"/>
                </a:moveTo>
                <a:cubicBezTo>
                  <a:pt x="106739" y="168631"/>
                  <a:pt x="101425" y="173946"/>
                  <a:pt x="94879" y="173946"/>
                </a:cubicBezTo>
                <a:cubicBezTo>
                  <a:pt x="88334" y="173946"/>
                  <a:pt x="83019" y="168631"/>
                  <a:pt x="83019" y="162086"/>
                </a:cubicBezTo>
                <a:cubicBezTo>
                  <a:pt x="83019" y="155540"/>
                  <a:pt x="88334" y="150226"/>
                  <a:pt x="94879" y="150226"/>
                </a:cubicBezTo>
                <a:cubicBezTo>
                  <a:pt x="101425" y="150226"/>
                  <a:pt x="106739" y="155540"/>
                  <a:pt x="106739" y="162086"/>
                </a:cubicBezTo>
                <a:close/>
                <a:moveTo>
                  <a:pt x="146272" y="173946"/>
                </a:moveTo>
                <a:cubicBezTo>
                  <a:pt x="139727" y="173946"/>
                  <a:pt x="134412" y="168631"/>
                  <a:pt x="134412" y="162086"/>
                </a:cubicBezTo>
                <a:cubicBezTo>
                  <a:pt x="134412" y="155540"/>
                  <a:pt x="139727" y="150226"/>
                  <a:pt x="146272" y="150226"/>
                </a:cubicBezTo>
                <a:cubicBezTo>
                  <a:pt x="152818" y="150226"/>
                  <a:pt x="158132" y="155540"/>
                  <a:pt x="158132" y="162086"/>
                </a:cubicBezTo>
                <a:cubicBezTo>
                  <a:pt x="158132" y="168631"/>
                  <a:pt x="152818" y="173946"/>
                  <a:pt x="146272" y="173946"/>
                </a:cubicBezTo>
                <a:close/>
                <a:moveTo>
                  <a:pt x="31626" y="209525"/>
                </a:moveTo>
                <a:cubicBezTo>
                  <a:pt x="31626" y="202953"/>
                  <a:pt x="36914" y="197665"/>
                  <a:pt x="43486" y="197665"/>
                </a:cubicBezTo>
                <a:lnTo>
                  <a:pt x="98833" y="197665"/>
                </a:lnTo>
                <a:cubicBezTo>
                  <a:pt x="105405" y="197665"/>
                  <a:pt x="110693" y="202953"/>
                  <a:pt x="110693" y="209525"/>
                </a:cubicBezTo>
                <a:cubicBezTo>
                  <a:pt x="110693" y="216098"/>
                  <a:pt x="105405" y="221385"/>
                  <a:pt x="98833" y="221385"/>
                </a:cubicBezTo>
                <a:lnTo>
                  <a:pt x="43486" y="221385"/>
                </a:lnTo>
                <a:cubicBezTo>
                  <a:pt x="36914" y="221385"/>
                  <a:pt x="31626" y="216098"/>
                  <a:pt x="31626" y="209525"/>
                </a:cubicBezTo>
                <a:close/>
                <a:moveTo>
                  <a:pt x="146272" y="197665"/>
                </a:moveTo>
                <a:cubicBezTo>
                  <a:pt x="152845" y="197665"/>
                  <a:pt x="158132" y="202953"/>
                  <a:pt x="158132" y="209525"/>
                </a:cubicBezTo>
                <a:cubicBezTo>
                  <a:pt x="158132" y="216098"/>
                  <a:pt x="152845" y="221385"/>
                  <a:pt x="146272" y="221385"/>
                </a:cubicBezTo>
                <a:cubicBezTo>
                  <a:pt x="139700" y="221385"/>
                  <a:pt x="134412" y="216098"/>
                  <a:pt x="134412" y="209525"/>
                </a:cubicBezTo>
                <a:cubicBezTo>
                  <a:pt x="134412" y="202953"/>
                  <a:pt x="139700" y="197665"/>
                  <a:pt x="146272" y="197665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77709" y="1821684"/>
            <a:ext cx="2150599" cy="354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9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副本机制理论分析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637" y="2327707"/>
            <a:ext cx="7274086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可靠性计算公式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3734" y="2934935"/>
            <a:ext cx="7324688" cy="4048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391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 = 1 - (1-r)</a:t>
            </a:r>
            <a:r>
              <a:rPr lang="en-US" sz="179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9035" y="3440959"/>
            <a:ext cx="7274086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4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 = 单节点可靠性，n = 副本数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9637" y="4098789"/>
            <a:ext cx="7274086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成本效益分析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637" y="5015956"/>
            <a:ext cx="7172881" cy="12651"/>
          </a:xfrm>
          <a:custGeom>
            <a:avLst/>
            <a:gdLst/>
            <a:ahLst/>
            <a:cxnLst/>
            <a:rect l="l" t="t" r="r" b="b"/>
            <a:pathLst>
              <a:path w="7172881" h="12651">
                <a:moveTo>
                  <a:pt x="0" y="0"/>
                </a:moveTo>
                <a:lnTo>
                  <a:pt x="7172881" y="0"/>
                </a:lnTo>
                <a:lnTo>
                  <a:pt x="7172881" y="12651"/>
                </a:lnTo>
                <a:lnTo>
                  <a:pt x="0" y="12651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09637" y="4604812"/>
            <a:ext cx="645180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 副本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05637" y="4604812"/>
            <a:ext cx="1176504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99% 可靠性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9637" y="5635835"/>
            <a:ext cx="7172881" cy="12651"/>
          </a:xfrm>
          <a:custGeom>
            <a:avLst/>
            <a:gdLst/>
            <a:ahLst/>
            <a:cxnLst/>
            <a:rect l="l" t="t" r="r" b="b"/>
            <a:pathLst>
              <a:path w="7172881" h="12651">
                <a:moveTo>
                  <a:pt x="0" y="0"/>
                </a:moveTo>
                <a:lnTo>
                  <a:pt x="7172881" y="0"/>
                </a:lnTo>
                <a:lnTo>
                  <a:pt x="7172881" y="12651"/>
                </a:lnTo>
                <a:lnTo>
                  <a:pt x="0" y="12651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09637" y="5224691"/>
            <a:ext cx="683132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 副本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11511" y="5224691"/>
            <a:ext cx="1467468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99.99% 可靠性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9637" y="6255714"/>
            <a:ext cx="7172881" cy="12651"/>
          </a:xfrm>
          <a:custGeom>
            <a:avLst/>
            <a:gdLst/>
            <a:ahLst/>
            <a:cxnLst/>
            <a:rect l="l" t="t" r="r" b="b"/>
            <a:pathLst>
              <a:path w="7172881" h="12651">
                <a:moveTo>
                  <a:pt x="0" y="0"/>
                </a:moveTo>
                <a:lnTo>
                  <a:pt x="7172881" y="0"/>
                </a:lnTo>
                <a:lnTo>
                  <a:pt x="7172881" y="12651"/>
                </a:lnTo>
                <a:lnTo>
                  <a:pt x="0" y="12651"/>
                </a:lnTo>
                <a:lnTo>
                  <a:pt x="0" y="0"/>
                </a:lnTo>
                <a:close/>
              </a:path>
            </a:pathLst>
          </a:custGeom>
          <a:solidFill>
            <a:srgbClr val="5E8B7E">
              <a:alpha val="5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09637" y="5844570"/>
            <a:ext cx="1265058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 副本 (默认)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70656" y="5844570"/>
            <a:ext cx="1707829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99.9999% 可靠性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9637" y="6464448"/>
            <a:ext cx="809637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4+ 副本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63812" y="6464448"/>
            <a:ext cx="1315661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边际收益递减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07184" y="1821684"/>
            <a:ext cx="50602" cy="5047583"/>
          </a:xfrm>
          <a:custGeom>
            <a:avLst/>
            <a:gdLst/>
            <a:ahLst/>
            <a:cxnLst/>
            <a:rect l="l" t="t" r="r" b="b"/>
            <a:pathLst>
              <a:path w="50602" h="5047583">
                <a:moveTo>
                  <a:pt x="0" y="0"/>
                </a:moveTo>
                <a:lnTo>
                  <a:pt x="50602" y="0"/>
                </a:lnTo>
                <a:lnTo>
                  <a:pt x="50602" y="5047583"/>
                </a:lnTo>
                <a:lnTo>
                  <a:pt x="0" y="5047583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617123" y="1872286"/>
            <a:ext cx="253012" cy="253012"/>
          </a:xfrm>
          <a:custGeom>
            <a:avLst/>
            <a:gdLst/>
            <a:ahLst/>
            <a:cxnLst/>
            <a:rect l="l" t="t" r="r" b="b"/>
            <a:pathLst>
              <a:path w="253012" h="253012">
                <a:moveTo>
                  <a:pt x="94879" y="31626"/>
                </a:moveTo>
                <a:cubicBezTo>
                  <a:pt x="94879" y="22880"/>
                  <a:pt x="101946" y="15813"/>
                  <a:pt x="110693" y="15813"/>
                </a:cubicBezTo>
                <a:lnTo>
                  <a:pt x="142319" y="15813"/>
                </a:lnTo>
                <a:cubicBezTo>
                  <a:pt x="151066" y="15813"/>
                  <a:pt x="158132" y="22880"/>
                  <a:pt x="158132" y="31626"/>
                </a:cubicBezTo>
                <a:lnTo>
                  <a:pt x="158132" y="63253"/>
                </a:lnTo>
                <a:cubicBezTo>
                  <a:pt x="158132" y="72000"/>
                  <a:pt x="151066" y="79066"/>
                  <a:pt x="142319" y="79066"/>
                </a:cubicBezTo>
                <a:lnTo>
                  <a:pt x="138366" y="79066"/>
                </a:lnTo>
                <a:lnTo>
                  <a:pt x="138366" y="110693"/>
                </a:lnTo>
                <a:lnTo>
                  <a:pt x="197665" y="110693"/>
                </a:lnTo>
                <a:cubicBezTo>
                  <a:pt x="217333" y="110693"/>
                  <a:pt x="233245" y="126605"/>
                  <a:pt x="233245" y="146272"/>
                </a:cubicBezTo>
                <a:lnTo>
                  <a:pt x="233245" y="173946"/>
                </a:lnTo>
                <a:lnTo>
                  <a:pt x="237198" y="173946"/>
                </a:lnTo>
                <a:cubicBezTo>
                  <a:pt x="245945" y="173946"/>
                  <a:pt x="253012" y="181012"/>
                  <a:pt x="253012" y="189759"/>
                </a:cubicBezTo>
                <a:lnTo>
                  <a:pt x="253012" y="221385"/>
                </a:lnTo>
                <a:cubicBezTo>
                  <a:pt x="253012" y="230132"/>
                  <a:pt x="245945" y="237198"/>
                  <a:pt x="237198" y="237198"/>
                </a:cubicBezTo>
                <a:lnTo>
                  <a:pt x="205572" y="237198"/>
                </a:lnTo>
                <a:cubicBezTo>
                  <a:pt x="196825" y="237198"/>
                  <a:pt x="189759" y="230132"/>
                  <a:pt x="189759" y="221385"/>
                </a:cubicBezTo>
                <a:lnTo>
                  <a:pt x="189759" y="189759"/>
                </a:lnTo>
                <a:cubicBezTo>
                  <a:pt x="189759" y="181012"/>
                  <a:pt x="196825" y="173946"/>
                  <a:pt x="205572" y="173946"/>
                </a:cubicBezTo>
                <a:lnTo>
                  <a:pt x="209525" y="173946"/>
                </a:lnTo>
                <a:lnTo>
                  <a:pt x="209525" y="146272"/>
                </a:lnTo>
                <a:cubicBezTo>
                  <a:pt x="209525" y="139700"/>
                  <a:pt x="204238" y="134412"/>
                  <a:pt x="197665" y="134412"/>
                </a:cubicBezTo>
                <a:lnTo>
                  <a:pt x="138366" y="134412"/>
                </a:lnTo>
                <a:lnTo>
                  <a:pt x="138366" y="173946"/>
                </a:lnTo>
                <a:lnTo>
                  <a:pt x="142319" y="173946"/>
                </a:lnTo>
                <a:cubicBezTo>
                  <a:pt x="151066" y="173946"/>
                  <a:pt x="158132" y="181012"/>
                  <a:pt x="158132" y="189759"/>
                </a:cubicBezTo>
                <a:lnTo>
                  <a:pt x="158132" y="221385"/>
                </a:lnTo>
                <a:cubicBezTo>
                  <a:pt x="158132" y="230132"/>
                  <a:pt x="151066" y="237198"/>
                  <a:pt x="142319" y="237198"/>
                </a:cubicBezTo>
                <a:lnTo>
                  <a:pt x="110693" y="237198"/>
                </a:lnTo>
                <a:cubicBezTo>
                  <a:pt x="101946" y="237198"/>
                  <a:pt x="94879" y="230132"/>
                  <a:pt x="94879" y="221385"/>
                </a:cubicBezTo>
                <a:lnTo>
                  <a:pt x="94879" y="189759"/>
                </a:lnTo>
                <a:cubicBezTo>
                  <a:pt x="94879" y="181012"/>
                  <a:pt x="101946" y="173946"/>
                  <a:pt x="110693" y="173946"/>
                </a:cubicBezTo>
                <a:lnTo>
                  <a:pt x="114646" y="173946"/>
                </a:lnTo>
                <a:lnTo>
                  <a:pt x="114646" y="134412"/>
                </a:lnTo>
                <a:lnTo>
                  <a:pt x="55346" y="134412"/>
                </a:lnTo>
                <a:cubicBezTo>
                  <a:pt x="48774" y="134412"/>
                  <a:pt x="43486" y="139700"/>
                  <a:pt x="43486" y="146272"/>
                </a:cubicBezTo>
                <a:lnTo>
                  <a:pt x="43486" y="173946"/>
                </a:lnTo>
                <a:lnTo>
                  <a:pt x="47440" y="173946"/>
                </a:lnTo>
                <a:cubicBezTo>
                  <a:pt x="56186" y="173946"/>
                  <a:pt x="63253" y="181012"/>
                  <a:pt x="63253" y="189759"/>
                </a:cubicBezTo>
                <a:lnTo>
                  <a:pt x="63253" y="221385"/>
                </a:lnTo>
                <a:cubicBezTo>
                  <a:pt x="63253" y="230132"/>
                  <a:pt x="56186" y="237198"/>
                  <a:pt x="47440" y="237198"/>
                </a:cubicBezTo>
                <a:lnTo>
                  <a:pt x="15813" y="237198"/>
                </a:lnTo>
                <a:cubicBezTo>
                  <a:pt x="7067" y="237198"/>
                  <a:pt x="0" y="230132"/>
                  <a:pt x="0" y="221385"/>
                </a:cubicBezTo>
                <a:lnTo>
                  <a:pt x="0" y="189759"/>
                </a:lnTo>
                <a:cubicBezTo>
                  <a:pt x="0" y="181012"/>
                  <a:pt x="7067" y="173946"/>
                  <a:pt x="15813" y="173946"/>
                </a:cubicBezTo>
                <a:lnTo>
                  <a:pt x="19767" y="173946"/>
                </a:lnTo>
                <a:lnTo>
                  <a:pt x="19767" y="146272"/>
                </a:lnTo>
                <a:cubicBezTo>
                  <a:pt x="19767" y="126605"/>
                  <a:pt x="35679" y="110693"/>
                  <a:pt x="55346" y="110693"/>
                </a:cubicBezTo>
                <a:lnTo>
                  <a:pt x="114646" y="110693"/>
                </a:lnTo>
                <a:lnTo>
                  <a:pt x="114646" y="79066"/>
                </a:lnTo>
                <a:lnTo>
                  <a:pt x="110693" y="79066"/>
                </a:lnTo>
                <a:cubicBezTo>
                  <a:pt x="101946" y="79066"/>
                  <a:pt x="94879" y="72000"/>
                  <a:pt x="94879" y="63253"/>
                </a:cubicBezTo>
                <a:lnTo>
                  <a:pt x="94879" y="31626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053568" y="1821684"/>
            <a:ext cx="2150599" cy="354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9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机架感知放置策略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85496" y="2327707"/>
            <a:ext cx="7274086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块放置策略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85496" y="2732526"/>
            <a:ext cx="7274086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第一个副本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85496" y="3036140"/>
            <a:ext cx="7274086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在本地机架，减少网络传输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85496" y="3440959"/>
            <a:ext cx="7274086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第二个副本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85496" y="3744573"/>
            <a:ext cx="7274086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在不同机架，提高容错能力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85496" y="4149391"/>
            <a:ext cx="7274086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第三个副本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85496" y="4453005"/>
            <a:ext cx="7274086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在第二机架的其他节点，平衡负载和容错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85496" y="4857824"/>
            <a:ext cx="7274086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负载均衡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85496" y="5161438"/>
            <a:ext cx="7274086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优先选择磁盘空间充足的节点，避免热点问题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31325" y="7122279"/>
            <a:ext cx="50602" cy="1518070"/>
          </a:xfrm>
          <a:custGeom>
            <a:avLst/>
            <a:gdLst/>
            <a:ahLst/>
            <a:cxnLst/>
            <a:rect l="l" t="t" r="r" b="b"/>
            <a:pathLst>
              <a:path w="50602" h="1518070">
                <a:moveTo>
                  <a:pt x="0" y="0"/>
                </a:moveTo>
                <a:lnTo>
                  <a:pt x="50602" y="0"/>
                </a:lnTo>
                <a:lnTo>
                  <a:pt x="50602" y="1518070"/>
                </a:lnTo>
                <a:lnTo>
                  <a:pt x="0" y="151807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841264" y="7172881"/>
            <a:ext cx="253012" cy="253012"/>
          </a:xfrm>
          <a:custGeom>
            <a:avLst/>
            <a:gdLst/>
            <a:ahLst/>
            <a:cxnLst/>
            <a:rect l="l" t="t" r="r" b="b"/>
            <a:pathLst>
              <a:path w="253012" h="253012">
                <a:moveTo>
                  <a:pt x="32565" y="112916"/>
                </a:moveTo>
                <a:cubicBezTo>
                  <a:pt x="39138" y="66959"/>
                  <a:pt x="78720" y="31626"/>
                  <a:pt x="126506" y="31626"/>
                </a:cubicBezTo>
                <a:cubicBezTo>
                  <a:pt x="152696" y="31626"/>
                  <a:pt x="176416" y="42251"/>
                  <a:pt x="193613" y="59398"/>
                </a:cubicBezTo>
                <a:cubicBezTo>
                  <a:pt x="193712" y="59497"/>
                  <a:pt x="193811" y="59596"/>
                  <a:pt x="193910" y="59695"/>
                </a:cubicBezTo>
                <a:lnTo>
                  <a:pt x="197665" y="63253"/>
                </a:lnTo>
                <a:lnTo>
                  <a:pt x="173995" y="63253"/>
                </a:lnTo>
                <a:cubicBezTo>
                  <a:pt x="165248" y="63253"/>
                  <a:pt x="158182" y="70319"/>
                  <a:pt x="158182" y="79066"/>
                </a:cubicBezTo>
                <a:cubicBezTo>
                  <a:pt x="158182" y="87813"/>
                  <a:pt x="165248" y="94879"/>
                  <a:pt x="173995" y="94879"/>
                </a:cubicBezTo>
                <a:lnTo>
                  <a:pt x="237248" y="94879"/>
                </a:lnTo>
                <a:cubicBezTo>
                  <a:pt x="245995" y="94879"/>
                  <a:pt x="253061" y="87813"/>
                  <a:pt x="253061" y="79066"/>
                </a:cubicBezTo>
                <a:lnTo>
                  <a:pt x="253061" y="15813"/>
                </a:lnTo>
                <a:cubicBezTo>
                  <a:pt x="253061" y="7067"/>
                  <a:pt x="245995" y="0"/>
                  <a:pt x="237248" y="0"/>
                </a:cubicBezTo>
                <a:cubicBezTo>
                  <a:pt x="228501" y="0"/>
                  <a:pt x="221435" y="7067"/>
                  <a:pt x="221435" y="15813"/>
                </a:cubicBezTo>
                <a:lnTo>
                  <a:pt x="221435" y="42202"/>
                </a:lnTo>
                <a:lnTo>
                  <a:pt x="215851" y="36914"/>
                </a:lnTo>
                <a:cubicBezTo>
                  <a:pt x="192971" y="14133"/>
                  <a:pt x="161344" y="0"/>
                  <a:pt x="126506" y="0"/>
                </a:cubicBezTo>
                <a:cubicBezTo>
                  <a:pt x="62759" y="0"/>
                  <a:pt x="10032" y="47143"/>
                  <a:pt x="1285" y="108469"/>
                </a:cubicBezTo>
                <a:cubicBezTo>
                  <a:pt x="49" y="117117"/>
                  <a:pt x="6029" y="125122"/>
                  <a:pt x="14677" y="126358"/>
                </a:cubicBezTo>
                <a:cubicBezTo>
                  <a:pt x="23325" y="127593"/>
                  <a:pt x="31330" y="121564"/>
                  <a:pt x="32565" y="112966"/>
                </a:cubicBezTo>
                <a:close/>
                <a:moveTo>
                  <a:pt x="251727" y="144543"/>
                </a:moveTo>
                <a:cubicBezTo>
                  <a:pt x="252962" y="135895"/>
                  <a:pt x="246933" y="127889"/>
                  <a:pt x="238335" y="126654"/>
                </a:cubicBezTo>
                <a:cubicBezTo>
                  <a:pt x="229737" y="125419"/>
                  <a:pt x="221682" y="131447"/>
                  <a:pt x="220446" y="140046"/>
                </a:cubicBezTo>
                <a:cubicBezTo>
                  <a:pt x="213874" y="186003"/>
                  <a:pt x="174291" y="221336"/>
                  <a:pt x="126506" y="221336"/>
                </a:cubicBezTo>
                <a:cubicBezTo>
                  <a:pt x="100315" y="221336"/>
                  <a:pt x="76595" y="210711"/>
                  <a:pt x="59398" y="193564"/>
                </a:cubicBezTo>
                <a:cubicBezTo>
                  <a:pt x="59300" y="193465"/>
                  <a:pt x="59201" y="193366"/>
                  <a:pt x="59102" y="193267"/>
                </a:cubicBezTo>
                <a:lnTo>
                  <a:pt x="55346" y="189709"/>
                </a:lnTo>
                <a:lnTo>
                  <a:pt x="79017" y="189709"/>
                </a:lnTo>
                <a:cubicBezTo>
                  <a:pt x="87763" y="189709"/>
                  <a:pt x="94830" y="182643"/>
                  <a:pt x="94830" y="173896"/>
                </a:cubicBezTo>
                <a:cubicBezTo>
                  <a:pt x="94830" y="165149"/>
                  <a:pt x="87763" y="158083"/>
                  <a:pt x="79017" y="158083"/>
                </a:cubicBezTo>
                <a:lnTo>
                  <a:pt x="15813" y="158132"/>
                </a:lnTo>
                <a:cubicBezTo>
                  <a:pt x="11613" y="158132"/>
                  <a:pt x="7561" y="159812"/>
                  <a:pt x="4596" y="162827"/>
                </a:cubicBezTo>
                <a:cubicBezTo>
                  <a:pt x="1631" y="165841"/>
                  <a:pt x="-49" y="169844"/>
                  <a:pt x="0" y="174094"/>
                </a:cubicBezTo>
                <a:lnTo>
                  <a:pt x="494" y="236853"/>
                </a:lnTo>
                <a:cubicBezTo>
                  <a:pt x="544" y="245599"/>
                  <a:pt x="7709" y="252616"/>
                  <a:pt x="16456" y="252518"/>
                </a:cubicBezTo>
                <a:cubicBezTo>
                  <a:pt x="25202" y="252419"/>
                  <a:pt x="32219" y="245303"/>
                  <a:pt x="32121" y="236556"/>
                </a:cubicBezTo>
                <a:lnTo>
                  <a:pt x="31923" y="211107"/>
                </a:lnTo>
                <a:lnTo>
                  <a:pt x="37211" y="216098"/>
                </a:lnTo>
                <a:cubicBezTo>
                  <a:pt x="60090" y="238879"/>
                  <a:pt x="91667" y="253012"/>
                  <a:pt x="126506" y="253012"/>
                </a:cubicBezTo>
                <a:cubicBezTo>
                  <a:pt x="190253" y="253012"/>
                  <a:pt x="242980" y="205868"/>
                  <a:pt x="251727" y="144543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277709" y="7122279"/>
            <a:ext cx="2656623" cy="354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9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副本的动态管理和恢复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09637" y="7628302"/>
            <a:ext cx="4908426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副本不足检测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09637" y="8033121"/>
            <a:ext cx="4908426" cy="607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 定期检测副本数量，当副本数低于配置值时触发副本重建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875405" y="7628302"/>
            <a:ext cx="4908426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损坏块处理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875405" y="8033121"/>
            <a:ext cx="4908426" cy="607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DataNode 读取时发现损坏块，向 NameNode 报告，触发副本重建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41272" y="7628302"/>
            <a:ext cx="4908426" cy="30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负载均衡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941272" y="8033121"/>
            <a:ext cx="4908426" cy="607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4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Balancer 监控数据分布，将数据从高负载节点迁移到低负载节点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CONSISTENCY MODEL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数据一致性模型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24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828800"/>
            <a:ext cx="50800" cy="3048000"/>
          </a:xfrm>
          <a:custGeom>
            <a:avLst/>
            <a:gdLst/>
            <a:ahLst/>
            <a:cxnLst/>
            <a:rect l="l" t="t" r="r" b="b"/>
            <a:pathLst>
              <a:path w="50800" h="3048000">
                <a:moveTo>
                  <a:pt x="0" y="0"/>
                </a:moveTo>
                <a:lnTo>
                  <a:pt x="50800" y="0"/>
                </a:lnTo>
                <a:lnTo>
                  <a:pt x="50800" y="3048000"/>
                </a:lnTo>
                <a:lnTo>
                  <a:pt x="0" y="3048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60425" y="18796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82700" y="18288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元数据一致性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2336800"/>
            <a:ext cx="726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对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文件系统命名空间的操作实现强一致性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，所有元数据操作都通过 NameNode 串行化执行。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3098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强一致性保证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5052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采用写锁机制保证元数据操作的强一致性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860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文件属性、权限等信息的变更对所有客户端立即可见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42164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通过事务机制保证元数据操作的原子性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45720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EditLog 实时记录所有元数据修改操作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05800" y="1828800"/>
            <a:ext cx="50800" cy="3048000"/>
          </a:xfrm>
          <a:custGeom>
            <a:avLst/>
            <a:gdLst/>
            <a:ahLst/>
            <a:cxnLst/>
            <a:rect l="l" t="t" r="r" b="b"/>
            <a:pathLst>
              <a:path w="50800" h="3048000">
                <a:moveTo>
                  <a:pt x="0" y="0"/>
                </a:moveTo>
                <a:lnTo>
                  <a:pt x="50800" y="0"/>
                </a:lnTo>
                <a:lnTo>
                  <a:pt x="50800" y="3048000"/>
                </a:lnTo>
                <a:lnTo>
                  <a:pt x="0" y="30480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648700" y="18796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31750" y="0"/>
                </a:moveTo>
                <a:cubicBezTo>
                  <a:pt x="14238" y="0"/>
                  <a:pt x="0" y="14238"/>
                  <a:pt x="0" y="31750"/>
                </a:cubicBezTo>
                <a:lnTo>
                  <a:pt x="0" y="222250"/>
                </a:lnTo>
                <a:cubicBezTo>
                  <a:pt x="0" y="239762"/>
                  <a:pt x="14238" y="254000"/>
                  <a:pt x="31750" y="254000"/>
                </a:cubicBezTo>
                <a:lnTo>
                  <a:pt x="158750" y="254000"/>
                </a:lnTo>
                <a:cubicBezTo>
                  <a:pt x="176262" y="254000"/>
                  <a:pt x="190500" y="239762"/>
                  <a:pt x="190500" y="222250"/>
                </a:cubicBezTo>
                <a:lnTo>
                  <a:pt x="190500" y="84584"/>
                </a:lnTo>
                <a:cubicBezTo>
                  <a:pt x="190500" y="76150"/>
                  <a:pt x="187176" y="68064"/>
                  <a:pt x="181223" y="62111"/>
                </a:cubicBezTo>
                <a:lnTo>
                  <a:pt x="128339" y="9277"/>
                </a:lnTo>
                <a:cubicBezTo>
                  <a:pt x="122386" y="3324"/>
                  <a:pt x="114350" y="0"/>
                  <a:pt x="105916" y="0"/>
                </a:cubicBezTo>
                <a:lnTo>
                  <a:pt x="31750" y="0"/>
                </a:lnTo>
                <a:close/>
                <a:moveTo>
                  <a:pt x="161479" y="87313"/>
                </a:moveTo>
                <a:lnTo>
                  <a:pt x="115094" y="87313"/>
                </a:lnTo>
                <a:cubicBezTo>
                  <a:pt x="108496" y="87313"/>
                  <a:pt x="103188" y="82004"/>
                  <a:pt x="103188" y="75406"/>
                </a:cubicBezTo>
                <a:lnTo>
                  <a:pt x="103188" y="29021"/>
                </a:lnTo>
                <a:lnTo>
                  <a:pt x="161479" y="87313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055100" y="18288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数据一致性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85200" y="2336800"/>
            <a:ext cx="726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对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数据副本采用最终一致性模型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，通过单写者模式和异步复制来平衡性能与一致性。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85200" y="3098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最终一致性保证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85200" y="35052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单写者模型：同一时间只允许一个客户端写入文件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85200" y="3860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写后读一致性：文件关闭后，所有客户端都能看到完整数据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85200" y="42164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副本间通过异步复制达到最终一致性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85200" y="45720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读取操作可能返回略微滞后的数据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3400" y="5130800"/>
            <a:ext cx="50800" cy="3454400"/>
          </a:xfrm>
          <a:custGeom>
            <a:avLst/>
            <a:gdLst/>
            <a:ahLst/>
            <a:cxnLst/>
            <a:rect l="l" t="t" r="r" b="b"/>
            <a:pathLst>
              <a:path w="50800" h="3454400">
                <a:moveTo>
                  <a:pt x="0" y="0"/>
                </a:moveTo>
                <a:lnTo>
                  <a:pt x="50800" y="0"/>
                </a:lnTo>
                <a:lnTo>
                  <a:pt x="50800" y="3454400"/>
                </a:lnTo>
                <a:lnTo>
                  <a:pt x="0" y="34544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44550" y="5181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66688" y="174625"/>
                </a:moveTo>
                <a:cubicBezTo>
                  <a:pt x="214908" y="174625"/>
                  <a:pt x="254000" y="135533"/>
                  <a:pt x="254000" y="87313"/>
                </a:cubicBezTo>
                <a:cubicBezTo>
                  <a:pt x="254000" y="39092"/>
                  <a:pt x="214908" y="0"/>
                  <a:pt x="166688" y="0"/>
                </a:cubicBezTo>
                <a:cubicBezTo>
                  <a:pt x="118467" y="0"/>
                  <a:pt x="79375" y="39092"/>
                  <a:pt x="79375" y="87313"/>
                </a:cubicBezTo>
                <a:cubicBezTo>
                  <a:pt x="79375" y="96589"/>
                  <a:pt x="80814" y="105569"/>
                  <a:pt x="83493" y="113953"/>
                </a:cubicBezTo>
                <a:lnTo>
                  <a:pt x="3473" y="193973"/>
                </a:lnTo>
                <a:cubicBezTo>
                  <a:pt x="1240" y="196205"/>
                  <a:pt x="0" y="199231"/>
                  <a:pt x="0" y="202406"/>
                </a:cubicBezTo>
                <a:lnTo>
                  <a:pt x="0" y="242094"/>
                </a:lnTo>
                <a:cubicBezTo>
                  <a:pt x="0" y="248692"/>
                  <a:pt x="5308" y="254000"/>
                  <a:pt x="11906" y="254000"/>
                </a:cubicBezTo>
                <a:lnTo>
                  <a:pt x="51594" y="254000"/>
                </a:lnTo>
                <a:cubicBezTo>
                  <a:pt x="58192" y="254000"/>
                  <a:pt x="63500" y="248692"/>
                  <a:pt x="63500" y="242094"/>
                </a:cubicBezTo>
                <a:lnTo>
                  <a:pt x="63500" y="222250"/>
                </a:lnTo>
                <a:lnTo>
                  <a:pt x="83344" y="222250"/>
                </a:lnTo>
                <a:cubicBezTo>
                  <a:pt x="89942" y="222250"/>
                  <a:pt x="95250" y="216942"/>
                  <a:pt x="95250" y="210344"/>
                </a:cubicBezTo>
                <a:lnTo>
                  <a:pt x="95250" y="190500"/>
                </a:lnTo>
                <a:lnTo>
                  <a:pt x="115094" y="190500"/>
                </a:lnTo>
                <a:cubicBezTo>
                  <a:pt x="118269" y="190500"/>
                  <a:pt x="121295" y="189260"/>
                  <a:pt x="123527" y="187027"/>
                </a:cubicBezTo>
                <a:lnTo>
                  <a:pt x="140047" y="170507"/>
                </a:lnTo>
                <a:cubicBezTo>
                  <a:pt x="148431" y="173186"/>
                  <a:pt x="157411" y="174625"/>
                  <a:pt x="166688" y="174625"/>
                </a:cubicBezTo>
                <a:close/>
                <a:moveTo>
                  <a:pt x="186531" y="47625"/>
                </a:moveTo>
                <a:cubicBezTo>
                  <a:pt x="197483" y="47625"/>
                  <a:pt x="206375" y="56517"/>
                  <a:pt x="206375" y="67469"/>
                </a:cubicBezTo>
                <a:cubicBezTo>
                  <a:pt x="206375" y="78421"/>
                  <a:pt x="197483" y="87313"/>
                  <a:pt x="186531" y="87313"/>
                </a:cubicBezTo>
                <a:cubicBezTo>
                  <a:pt x="175579" y="87313"/>
                  <a:pt x="166688" y="78421"/>
                  <a:pt x="166688" y="67469"/>
                </a:cubicBezTo>
                <a:cubicBezTo>
                  <a:pt x="166688" y="56517"/>
                  <a:pt x="175579" y="47625"/>
                  <a:pt x="186531" y="47625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282700" y="5130800"/>
            <a:ext cx="205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租约机制 (Lease)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2800" y="5638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通过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租约机制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确保单写者模型，防止多个客户端同时写入同一文件。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2800" y="60960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租约管理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2800" y="6502400"/>
            <a:ext cx="726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软限制：60 秒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硬限制：1 小时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建议续约频率：约每 30 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12800" y="75692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租约恢复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2800" y="7975600"/>
            <a:ext cx="726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当客户端异常退出时，NameNode 检测到租约超时，自动恢复未完成的写入操作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05800" y="5130800"/>
            <a:ext cx="50800" cy="3454400"/>
          </a:xfrm>
          <a:custGeom>
            <a:avLst/>
            <a:gdLst/>
            <a:ahLst/>
            <a:cxnLst/>
            <a:rect l="l" t="t" r="r" b="b"/>
            <a:pathLst>
              <a:path w="50800" h="3454400">
                <a:moveTo>
                  <a:pt x="0" y="0"/>
                </a:moveTo>
                <a:lnTo>
                  <a:pt x="50800" y="0"/>
                </a:lnTo>
                <a:lnTo>
                  <a:pt x="50800" y="3454400"/>
                </a:lnTo>
                <a:lnTo>
                  <a:pt x="0" y="34544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616950" y="5181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055100" y="5130800"/>
            <a:ext cx="292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故障场景下的数据一致性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85200" y="5638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写入过程中故障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85200" y="6045200"/>
            <a:ext cx="726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如果写入过程中 DataNode 故障，客户端会从新的 DataNode 继续写入，已写入的数据不会丢失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85200" y="68072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 故障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85200" y="72136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 机制保证 Standby NameNode 拥有最新的元数据，实现快速故障转移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85200" y="7670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数据损坏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85200" y="80772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校验和机制检测数据损坏，自动从其他副本恢复数据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4350" y="1797050"/>
            <a:ext cx="2070100" cy="571500"/>
          </a:xfrm>
          <a:custGeom>
            <a:avLst/>
            <a:gdLst/>
            <a:ahLst/>
            <a:cxnLst/>
            <a:rect l="l" t="t" r="r" b="b"/>
            <a:pathLst>
              <a:path w="2070100" h="571500">
                <a:moveTo>
                  <a:pt x="101601" y="0"/>
                </a:moveTo>
                <a:lnTo>
                  <a:pt x="1968499" y="0"/>
                </a:lnTo>
                <a:cubicBezTo>
                  <a:pt x="2024612" y="0"/>
                  <a:pt x="2070100" y="45488"/>
                  <a:pt x="2070100" y="101601"/>
                </a:cubicBezTo>
                <a:lnTo>
                  <a:pt x="2070100" y="469899"/>
                </a:lnTo>
                <a:cubicBezTo>
                  <a:pt x="2070100" y="526012"/>
                  <a:pt x="2024612" y="571500"/>
                  <a:pt x="1968499" y="571500"/>
                </a:cubicBezTo>
                <a:lnTo>
                  <a:pt x="101601" y="571500"/>
                </a:lnTo>
                <a:cubicBezTo>
                  <a:pt x="45488" y="571500"/>
                  <a:pt x="0" y="526012"/>
                  <a:pt x="0" y="4698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23900" y="1911350"/>
            <a:ext cx="1780084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1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679700"/>
            <a:ext cx="1562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HDFS 读取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流程详解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4889500"/>
            <a:ext cx="15392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从客户端到 DataNode 的数据获取全过程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理解分布式文件系统的高效数据访问机制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33400" y="64897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762000" y="6489700"/>
            <a:ext cx="353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7048500"/>
            <a:ext cx="344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获取文件信息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428034" y="64897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4656634" y="6489700"/>
            <a:ext cx="353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本地性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56634" y="7048500"/>
            <a:ext cx="344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选择最优节点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322667" y="64897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8551267" y="6489700"/>
            <a:ext cx="353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流水线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51267" y="7048500"/>
            <a:ext cx="344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高效数据传输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 PROCESS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读取流程概览与关键步骤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24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828800"/>
            <a:ext cx="50800" cy="2540000"/>
          </a:xfrm>
          <a:custGeom>
            <a:avLst/>
            <a:gdLst/>
            <a:ahLst/>
            <a:cxnLst/>
            <a:rect l="l" t="t" r="r" b="b"/>
            <a:pathLst>
              <a:path w="50800" h="2540000">
                <a:moveTo>
                  <a:pt x="0" y="0"/>
                </a:moveTo>
                <a:lnTo>
                  <a:pt x="50800" y="0"/>
                </a:lnTo>
                <a:lnTo>
                  <a:pt x="50800" y="2540000"/>
                </a:lnTo>
                <a:lnTo>
                  <a:pt x="0" y="25400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44550" y="1879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95250" y="31750"/>
                </a:moveTo>
                <a:cubicBezTo>
                  <a:pt x="95250" y="22969"/>
                  <a:pt x="102344" y="15875"/>
                  <a:pt x="111125" y="15875"/>
                </a:cubicBezTo>
                <a:lnTo>
                  <a:pt x="142875" y="15875"/>
                </a:lnTo>
                <a:cubicBezTo>
                  <a:pt x="151656" y="15875"/>
                  <a:pt x="158750" y="22969"/>
                  <a:pt x="158750" y="31750"/>
                </a:cubicBezTo>
                <a:lnTo>
                  <a:pt x="158750" y="63500"/>
                </a:lnTo>
                <a:cubicBezTo>
                  <a:pt x="158750" y="72281"/>
                  <a:pt x="151656" y="79375"/>
                  <a:pt x="142875" y="79375"/>
                </a:cubicBezTo>
                <a:lnTo>
                  <a:pt x="138906" y="79375"/>
                </a:lnTo>
                <a:lnTo>
                  <a:pt x="138906" y="111125"/>
                </a:lnTo>
                <a:lnTo>
                  <a:pt x="198438" y="111125"/>
                </a:lnTo>
                <a:cubicBezTo>
                  <a:pt x="218182" y="111125"/>
                  <a:pt x="234156" y="127099"/>
                  <a:pt x="234156" y="146844"/>
                </a:cubicBezTo>
                <a:lnTo>
                  <a:pt x="234156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lnTo>
                  <a:pt x="254000" y="222250"/>
                </a:lnTo>
                <a:cubicBezTo>
                  <a:pt x="254000" y="231031"/>
                  <a:pt x="246906" y="238125"/>
                  <a:pt x="238125" y="238125"/>
                </a:cubicBezTo>
                <a:lnTo>
                  <a:pt x="206375" y="238125"/>
                </a:lnTo>
                <a:cubicBezTo>
                  <a:pt x="197594" y="238125"/>
                  <a:pt x="190500" y="231031"/>
                  <a:pt x="190500" y="222250"/>
                </a:cubicBezTo>
                <a:lnTo>
                  <a:pt x="190500" y="190500"/>
                </a:lnTo>
                <a:cubicBezTo>
                  <a:pt x="190500" y="181719"/>
                  <a:pt x="197594" y="174625"/>
                  <a:pt x="206375" y="174625"/>
                </a:cubicBezTo>
                <a:lnTo>
                  <a:pt x="210344" y="174625"/>
                </a:lnTo>
                <a:lnTo>
                  <a:pt x="210344" y="146844"/>
                </a:lnTo>
                <a:cubicBezTo>
                  <a:pt x="210344" y="140246"/>
                  <a:pt x="205036" y="134938"/>
                  <a:pt x="198438" y="134938"/>
                </a:cubicBezTo>
                <a:lnTo>
                  <a:pt x="138906" y="134938"/>
                </a:lnTo>
                <a:lnTo>
                  <a:pt x="138906" y="174625"/>
                </a:lnTo>
                <a:lnTo>
                  <a:pt x="142875" y="174625"/>
                </a:lnTo>
                <a:cubicBezTo>
                  <a:pt x="151656" y="174625"/>
                  <a:pt x="158750" y="181719"/>
                  <a:pt x="158750" y="190500"/>
                </a:cubicBezTo>
                <a:lnTo>
                  <a:pt x="158750" y="222250"/>
                </a:lnTo>
                <a:cubicBezTo>
                  <a:pt x="158750" y="231031"/>
                  <a:pt x="151656" y="238125"/>
                  <a:pt x="142875" y="238125"/>
                </a:cubicBezTo>
                <a:lnTo>
                  <a:pt x="111125" y="238125"/>
                </a:lnTo>
                <a:cubicBezTo>
                  <a:pt x="102344" y="238125"/>
                  <a:pt x="95250" y="231031"/>
                  <a:pt x="95250" y="222250"/>
                </a:cubicBezTo>
                <a:lnTo>
                  <a:pt x="95250" y="190500"/>
                </a:lnTo>
                <a:cubicBezTo>
                  <a:pt x="95250" y="181719"/>
                  <a:pt x="102344" y="174625"/>
                  <a:pt x="111125" y="174625"/>
                </a:cubicBezTo>
                <a:lnTo>
                  <a:pt x="115094" y="174625"/>
                </a:lnTo>
                <a:lnTo>
                  <a:pt x="115094" y="134938"/>
                </a:lnTo>
                <a:lnTo>
                  <a:pt x="55563" y="134938"/>
                </a:lnTo>
                <a:cubicBezTo>
                  <a:pt x="48964" y="134938"/>
                  <a:pt x="43656" y="140246"/>
                  <a:pt x="43656" y="146844"/>
                </a:cubicBezTo>
                <a:lnTo>
                  <a:pt x="43656" y="174625"/>
                </a:lnTo>
                <a:lnTo>
                  <a:pt x="47625" y="174625"/>
                </a:lnTo>
                <a:cubicBezTo>
                  <a:pt x="56406" y="174625"/>
                  <a:pt x="63500" y="181719"/>
                  <a:pt x="63500" y="190500"/>
                </a:cubicBezTo>
                <a:lnTo>
                  <a:pt x="63500" y="222250"/>
                </a:lnTo>
                <a:cubicBezTo>
                  <a:pt x="63500" y="231031"/>
                  <a:pt x="56406" y="238125"/>
                  <a:pt x="47625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190500"/>
                </a:lnTo>
                <a:cubicBezTo>
                  <a:pt x="0" y="181719"/>
                  <a:pt x="7094" y="174625"/>
                  <a:pt x="15875" y="174625"/>
                </a:cubicBezTo>
                <a:lnTo>
                  <a:pt x="19844" y="174625"/>
                </a:lnTo>
                <a:lnTo>
                  <a:pt x="19844" y="146844"/>
                </a:lnTo>
                <a:cubicBezTo>
                  <a:pt x="19844" y="127099"/>
                  <a:pt x="35818" y="111125"/>
                  <a:pt x="55563" y="111125"/>
                </a:cubicBezTo>
                <a:lnTo>
                  <a:pt x="115094" y="111125"/>
                </a:lnTo>
                <a:lnTo>
                  <a:pt x="115094" y="79375"/>
                </a:lnTo>
                <a:lnTo>
                  <a:pt x="111125" y="79375"/>
                </a:lnTo>
                <a:cubicBezTo>
                  <a:pt x="102344" y="79375"/>
                  <a:pt x="95250" y="72281"/>
                  <a:pt x="95250" y="63500"/>
                </a:cubicBezTo>
                <a:lnTo>
                  <a:pt x="95250" y="3175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82700" y="1828800"/>
            <a:ext cx="264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读取流程时序图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18580" y="2387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755080" y="2387600"/>
            <a:ext cx="939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352800"/>
            <a:ext cx="292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获取文件元数据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759200"/>
            <a:ext cx="292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 → NameNode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getFileInfo()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46241" y="2387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782741" y="2387600"/>
            <a:ext cx="939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89660" y="3352800"/>
            <a:ext cx="292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查询块位置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89660" y="3759200"/>
            <a:ext cx="292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 → NameNode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getBlockLocations()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73901" y="2387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810401" y="2387600"/>
            <a:ext cx="939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17320" y="3352800"/>
            <a:ext cx="292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选择最优 DataNode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17320" y="3759200"/>
            <a:ext cx="292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机架感知算法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选择最近副本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901561" y="2387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838061" y="2387600"/>
            <a:ext cx="939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44980" y="3352800"/>
            <a:ext cx="292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建立数据连接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844980" y="3759200"/>
            <a:ext cx="292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 → DataNode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TCP 连接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3929221" y="2387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lnTo>
                  <a:pt x="406400" y="0"/>
                </a:lnTo>
                <a:cubicBezTo>
                  <a:pt x="630698" y="0"/>
                  <a:pt x="812800" y="182102"/>
                  <a:pt x="812800" y="406400"/>
                </a:cubicBezTo>
                <a:lnTo>
                  <a:pt x="812800" y="406400"/>
                </a:lnTo>
                <a:cubicBezTo>
                  <a:pt x="812800" y="630698"/>
                  <a:pt x="630698" y="812800"/>
                  <a:pt x="406400" y="812800"/>
                </a:cubicBezTo>
                <a:lnTo>
                  <a:pt x="406400" y="812800"/>
                </a:lnTo>
                <a:cubicBezTo>
                  <a:pt x="182102" y="812800"/>
                  <a:pt x="0" y="630698"/>
                  <a:pt x="0" y="406400"/>
                </a:cubicBezTo>
                <a:lnTo>
                  <a:pt x="0" y="406400"/>
                </a:lnTo>
                <a:cubicBezTo>
                  <a:pt x="0" y="182102"/>
                  <a:pt x="182102" y="0"/>
                  <a:pt x="4064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3865721" y="2387600"/>
            <a:ext cx="939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72641" y="3352800"/>
            <a:ext cx="292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传输与验证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72641" y="3759200"/>
            <a:ext cx="2921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数据包传输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校验和验证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3400" y="4622800"/>
            <a:ext cx="50800" cy="2032000"/>
          </a:xfrm>
          <a:custGeom>
            <a:avLst/>
            <a:gdLst/>
            <a:ahLst/>
            <a:cxnLst/>
            <a:rect l="l" t="t" r="r" b="b"/>
            <a:pathLst>
              <a:path w="50800" h="2032000">
                <a:moveTo>
                  <a:pt x="0" y="0"/>
                </a:moveTo>
                <a:lnTo>
                  <a:pt x="50800" y="0"/>
                </a:lnTo>
                <a:lnTo>
                  <a:pt x="50800" y="2032000"/>
                </a:lnTo>
                <a:lnTo>
                  <a:pt x="0" y="2032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25500" y="46736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0" y="31750"/>
                </a:moveTo>
                <a:cubicBezTo>
                  <a:pt x="0" y="14238"/>
                  <a:pt x="14238" y="0"/>
                  <a:pt x="31750" y="0"/>
                </a:cubicBezTo>
                <a:lnTo>
                  <a:pt x="105916" y="0"/>
                </a:lnTo>
                <a:cubicBezTo>
                  <a:pt x="114350" y="0"/>
                  <a:pt x="122436" y="3324"/>
                  <a:pt x="128389" y="9277"/>
                </a:cubicBezTo>
                <a:lnTo>
                  <a:pt x="181223" y="62161"/>
                </a:lnTo>
                <a:cubicBezTo>
                  <a:pt x="187176" y="68114"/>
                  <a:pt x="190500" y="76200"/>
                  <a:pt x="190500" y="84634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31750"/>
                </a:lnTo>
                <a:close/>
                <a:moveTo>
                  <a:pt x="103188" y="29021"/>
                </a:moveTo>
                <a:lnTo>
                  <a:pt x="103188" y="75406"/>
                </a:lnTo>
                <a:cubicBezTo>
                  <a:pt x="103188" y="82004"/>
                  <a:pt x="108496" y="87313"/>
                  <a:pt x="115094" y="87313"/>
                </a:cubicBezTo>
                <a:lnTo>
                  <a:pt x="161479" y="87313"/>
                </a:lnTo>
                <a:lnTo>
                  <a:pt x="103188" y="29021"/>
                </a:lnTo>
                <a:close/>
                <a:moveTo>
                  <a:pt x="59531" y="127000"/>
                </a:moveTo>
                <a:cubicBezTo>
                  <a:pt x="52933" y="127000"/>
                  <a:pt x="47625" y="132308"/>
                  <a:pt x="47625" y="138906"/>
                </a:cubicBezTo>
                <a:cubicBezTo>
                  <a:pt x="47625" y="145504"/>
                  <a:pt x="52933" y="150813"/>
                  <a:pt x="59531" y="150813"/>
                </a:cubicBezTo>
                <a:lnTo>
                  <a:pt x="130969" y="150813"/>
                </a:lnTo>
                <a:cubicBezTo>
                  <a:pt x="137567" y="150813"/>
                  <a:pt x="142875" y="145504"/>
                  <a:pt x="142875" y="138906"/>
                </a:cubicBezTo>
                <a:cubicBezTo>
                  <a:pt x="142875" y="132308"/>
                  <a:pt x="137567" y="127000"/>
                  <a:pt x="130969" y="127000"/>
                </a:cubicBezTo>
                <a:lnTo>
                  <a:pt x="59531" y="127000"/>
                </a:lnTo>
                <a:close/>
                <a:moveTo>
                  <a:pt x="59531" y="174625"/>
                </a:moveTo>
                <a:cubicBezTo>
                  <a:pt x="52933" y="174625"/>
                  <a:pt x="47625" y="179933"/>
                  <a:pt x="47625" y="186531"/>
                </a:cubicBezTo>
                <a:cubicBezTo>
                  <a:pt x="47625" y="193129"/>
                  <a:pt x="52933" y="198438"/>
                  <a:pt x="59531" y="198438"/>
                </a:cubicBezTo>
                <a:lnTo>
                  <a:pt x="130969" y="198438"/>
                </a:lnTo>
                <a:cubicBezTo>
                  <a:pt x="137567" y="198438"/>
                  <a:pt x="142875" y="193129"/>
                  <a:pt x="142875" y="186531"/>
                </a:cubicBezTo>
                <a:cubicBezTo>
                  <a:pt x="142875" y="179933"/>
                  <a:pt x="137567" y="174625"/>
                  <a:pt x="130969" y="174625"/>
                </a:cubicBezTo>
                <a:lnTo>
                  <a:pt x="59531" y="174625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181100" y="4622800"/>
            <a:ext cx="171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文件元数据获取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51308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客户端通过 RPC 调用 NameNode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" y="55372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NameNode 进行权限验证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000" y="59436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在内存目录树中查找文件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62000" y="63500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返回 LocatedBlocks 对象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698034" y="4622800"/>
            <a:ext cx="50800" cy="2032000"/>
          </a:xfrm>
          <a:custGeom>
            <a:avLst/>
            <a:gdLst/>
            <a:ahLst/>
            <a:cxnLst/>
            <a:rect l="l" t="t" r="r" b="b"/>
            <a:pathLst>
              <a:path w="50800" h="2032000">
                <a:moveTo>
                  <a:pt x="0" y="0"/>
                </a:moveTo>
                <a:lnTo>
                  <a:pt x="50800" y="0"/>
                </a:lnTo>
                <a:lnTo>
                  <a:pt x="50800" y="2032000"/>
                </a:lnTo>
                <a:lnTo>
                  <a:pt x="0" y="20320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5990134" y="46736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0" y="93563"/>
                </a:moveTo>
                <a:cubicBezTo>
                  <a:pt x="0" y="41870"/>
                  <a:pt x="42664" y="0"/>
                  <a:pt x="95250" y="0"/>
                </a:cubicBezTo>
                <a:cubicBezTo>
                  <a:pt x="147836" y="0"/>
                  <a:pt x="190500" y="41870"/>
                  <a:pt x="190500" y="93563"/>
                </a:cubicBezTo>
                <a:cubicBezTo>
                  <a:pt x="190500" y="152747"/>
                  <a:pt x="130870" y="223689"/>
                  <a:pt x="105966" y="250726"/>
                </a:cubicBezTo>
                <a:cubicBezTo>
                  <a:pt x="100112" y="257076"/>
                  <a:pt x="90339" y="257076"/>
                  <a:pt x="84485" y="250726"/>
                </a:cubicBezTo>
                <a:cubicBezTo>
                  <a:pt x="59581" y="223689"/>
                  <a:pt x="-50" y="152747"/>
                  <a:pt x="-50" y="93563"/>
                </a:cubicBezTo>
                <a:close/>
                <a:moveTo>
                  <a:pt x="95250" y="127000"/>
                </a:moveTo>
                <a:cubicBezTo>
                  <a:pt x="112773" y="127000"/>
                  <a:pt x="127000" y="112773"/>
                  <a:pt x="127000" y="95250"/>
                </a:cubicBezTo>
                <a:cubicBezTo>
                  <a:pt x="127000" y="77727"/>
                  <a:pt x="112773" y="63500"/>
                  <a:pt x="95250" y="63500"/>
                </a:cubicBezTo>
                <a:cubicBezTo>
                  <a:pt x="77727" y="63500"/>
                  <a:pt x="63500" y="77727"/>
                  <a:pt x="63500" y="95250"/>
                </a:cubicBezTo>
                <a:cubicBezTo>
                  <a:pt x="63500" y="112773"/>
                  <a:pt x="77727" y="127000"/>
                  <a:pt x="95250" y="12700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6345734" y="4622800"/>
            <a:ext cx="222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最优 DataNode 选择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926634" y="51308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本地 DataNode 优先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926634" y="55372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同机架 DataNode 其次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926634" y="59436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考虑负载均衡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926634" y="63500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计算网络拓扑距离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862667" y="4622800"/>
            <a:ext cx="50800" cy="2032000"/>
          </a:xfrm>
          <a:custGeom>
            <a:avLst/>
            <a:gdLst/>
            <a:ahLst/>
            <a:cxnLst/>
            <a:rect l="l" t="t" r="r" b="b"/>
            <a:pathLst>
              <a:path w="50800" h="2032000">
                <a:moveTo>
                  <a:pt x="0" y="0"/>
                </a:moveTo>
                <a:lnTo>
                  <a:pt x="50800" y="0"/>
                </a:lnTo>
                <a:lnTo>
                  <a:pt x="50800" y="2032000"/>
                </a:lnTo>
                <a:lnTo>
                  <a:pt x="0" y="2032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11154767" y="46736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23974" y="33139"/>
                </a:moveTo>
                <a:cubicBezTo>
                  <a:pt x="129133" y="26045"/>
                  <a:pt x="127546" y="16123"/>
                  <a:pt x="120452" y="10964"/>
                </a:cubicBezTo>
                <a:cubicBezTo>
                  <a:pt x="113357" y="5804"/>
                  <a:pt x="103436" y="7392"/>
                  <a:pt x="98276" y="14486"/>
                </a:cubicBezTo>
                <a:lnTo>
                  <a:pt x="45690" y="86767"/>
                </a:lnTo>
                <a:lnTo>
                  <a:pt x="27087" y="68163"/>
                </a:lnTo>
                <a:cubicBezTo>
                  <a:pt x="20886" y="61962"/>
                  <a:pt x="10815" y="61962"/>
                  <a:pt x="4614" y="68163"/>
                </a:cubicBezTo>
                <a:cubicBezTo>
                  <a:pt x="-1587" y="74364"/>
                  <a:pt x="-1587" y="84435"/>
                  <a:pt x="4614" y="90636"/>
                </a:cubicBezTo>
                <a:lnTo>
                  <a:pt x="36364" y="122386"/>
                </a:lnTo>
                <a:cubicBezTo>
                  <a:pt x="39638" y="125661"/>
                  <a:pt x="44202" y="127347"/>
                  <a:pt x="48816" y="127000"/>
                </a:cubicBezTo>
                <a:cubicBezTo>
                  <a:pt x="53429" y="126653"/>
                  <a:pt x="57696" y="124271"/>
                  <a:pt x="60424" y="120501"/>
                </a:cubicBezTo>
                <a:lnTo>
                  <a:pt x="123924" y="33189"/>
                </a:lnTo>
                <a:close/>
                <a:moveTo>
                  <a:pt x="187474" y="100608"/>
                </a:moveTo>
                <a:cubicBezTo>
                  <a:pt x="192633" y="93514"/>
                  <a:pt x="191046" y="83592"/>
                  <a:pt x="183952" y="78432"/>
                </a:cubicBezTo>
                <a:cubicBezTo>
                  <a:pt x="176857" y="73273"/>
                  <a:pt x="166936" y="74861"/>
                  <a:pt x="161776" y="81955"/>
                </a:cubicBezTo>
                <a:lnTo>
                  <a:pt x="77440" y="197892"/>
                </a:lnTo>
                <a:lnTo>
                  <a:pt x="42962" y="163413"/>
                </a:lnTo>
                <a:cubicBezTo>
                  <a:pt x="36761" y="157212"/>
                  <a:pt x="26690" y="157212"/>
                  <a:pt x="20489" y="163413"/>
                </a:cubicBezTo>
                <a:cubicBezTo>
                  <a:pt x="14287" y="169614"/>
                  <a:pt x="14287" y="179685"/>
                  <a:pt x="20489" y="185886"/>
                </a:cubicBezTo>
                <a:lnTo>
                  <a:pt x="68114" y="233511"/>
                </a:lnTo>
                <a:cubicBezTo>
                  <a:pt x="71388" y="236786"/>
                  <a:pt x="75952" y="238472"/>
                  <a:pt x="80566" y="238125"/>
                </a:cubicBezTo>
                <a:cubicBezTo>
                  <a:pt x="85179" y="237778"/>
                  <a:pt x="89446" y="235396"/>
                  <a:pt x="92174" y="231626"/>
                </a:cubicBezTo>
                <a:lnTo>
                  <a:pt x="187424" y="100657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1510367" y="4622800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数据块读取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091267" y="51308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建立 TCP 连接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091267" y="55372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使用 DataTransferProtocol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091267" y="59436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基于数据包传输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1091267" y="63500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实时校验和验证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2813" y="452813"/>
            <a:ext cx="15429616" cy="226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48" b="1" kern="0" spc="62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LOCALITY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2813" y="769783"/>
            <a:ext cx="15554139" cy="452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209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最优 DataNode 选择与数据本地性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2813" y="1358440"/>
            <a:ext cx="1086752" cy="45281"/>
          </a:xfrm>
          <a:custGeom>
            <a:avLst/>
            <a:gdLst/>
            <a:ahLst/>
            <a:cxnLst/>
            <a:rect l="l" t="t" r="r" b="b"/>
            <a:pathLst>
              <a:path w="1086752" h="45281">
                <a:moveTo>
                  <a:pt x="0" y="0"/>
                </a:moveTo>
                <a:lnTo>
                  <a:pt x="1086752" y="0"/>
                </a:lnTo>
                <a:lnTo>
                  <a:pt x="1086752" y="45281"/>
                </a:lnTo>
                <a:lnTo>
                  <a:pt x="0" y="45281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75454" y="1630128"/>
            <a:ext cx="45281" cy="3939476"/>
          </a:xfrm>
          <a:custGeom>
            <a:avLst/>
            <a:gdLst/>
            <a:ahLst/>
            <a:cxnLst/>
            <a:rect l="l" t="t" r="r" b="b"/>
            <a:pathLst>
              <a:path w="45281" h="3939476">
                <a:moveTo>
                  <a:pt x="0" y="0"/>
                </a:moveTo>
                <a:lnTo>
                  <a:pt x="45281" y="0"/>
                </a:lnTo>
                <a:lnTo>
                  <a:pt x="45281" y="3939476"/>
                </a:lnTo>
                <a:lnTo>
                  <a:pt x="0" y="3939476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38652" y="1675409"/>
            <a:ext cx="254708" cy="226407"/>
          </a:xfrm>
          <a:custGeom>
            <a:avLst/>
            <a:gdLst/>
            <a:ahLst/>
            <a:cxnLst/>
            <a:rect l="l" t="t" r="r" b="b"/>
            <a:pathLst>
              <a:path w="254708" h="226407">
                <a:moveTo>
                  <a:pt x="109666" y="38914"/>
                </a:moveTo>
                <a:lnTo>
                  <a:pt x="145042" y="38914"/>
                </a:lnTo>
                <a:lnTo>
                  <a:pt x="145042" y="60139"/>
                </a:lnTo>
                <a:lnTo>
                  <a:pt x="109666" y="60139"/>
                </a:lnTo>
                <a:lnTo>
                  <a:pt x="109666" y="38914"/>
                </a:lnTo>
                <a:close/>
                <a:moveTo>
                  <a:pt x="106128" y="14150"/>
                </a:moveTo>
                <a:cubicBezTo>
                  <a:pt x="94410" y="14150"/>
                  <a:pt x="84903" y="23658"/>
                  <a:pt x="84903" y="35376"/>
                </a:cubicBezTo>
                <a:lnTo>
                  <a:pt x="84903" y="63677"/>
                </a:lnTo>
                <a:cubicBezTo>
                  <a:pt x="84903" y="75395"/>
                  <a:pt x="94410" y="84903"/>
                  <a:pt x="106128" y="84903"/>
                </a:cubicBezTo>
                <a:lnTo>
                  <a:pt x="113203" y="84903"/>
                </a:lnTo>
                <a:lnTo>
                  <a:pt x="113203" y="99053"/>
                </a:lnTo>
                <a:lnTo>
                  <a:pt x="14150" y="99053"/>
                </a:lnTo>
                <a:cubicBezTo>
                  <a:pt x="6323" y="99053"/>
                  <a:pt x="0" y="105376"/>
                  <a:pt x="0" y="113203"/>
                </a:cubicBezTo>
                <a:cubicBezTo>
                  <a:pt x="0" y="121030"/>
                  <a:pt x="6323" y="127354"/>
                  <a:pt x="14150" y="127354"/>
                </a:cubicBezTo>
                <a:lnTo>
                  <a:pt x="56602" y="127354"/>
                </a:lnTo>
                <a:lnTo>
                  <a:pt x="56602" y="141504"/>
                </a:lnTo>
                <a:lnTo>
                  <a:pt x="49526" y="141504"/>
                </a:lnTo>
                <a:cubicBezTo>
                  <a:pt x="37808" y="141504"/>
                  <a:pt x="28301" y="151011"/>
                  <a:pt x="28301" y="162730"/>
                </a:cubicBezTo>
                <a:lnTo>
                  <a:pt x="28301" y="191031"/>
                </a:lnTo>
                <a:cubicBezTo>
                  <a:pt x="28301" y="202749"/>
                  <a:pt x="37808" y="212256"/>
                  <a:pt x="49526" y="212256"/>
                </a:cubicBezTo>
                <a:lnTo>
                  <a:pt x="91978" y="212256"/>
                </a:lnTo>
                <a:cubicBezTo>
                  <a:pt x="103696" y="212256"/>
                  <a:pt x="113203" y="202749"/>
                  <a:pt x="113203" y="191031"/>
                </a:cubicBezTo>
                <a:lnTo>
                  <a:pt x="113203" y="162730"/>
                </a:lnTo>
                <a:cubicBezTo>
                  <a:pt x="113203" y="151011"/>
                  <a:pt x="103696" y="141504"/>
                  <a:pt x="91978" y="141504"/>
                </a:cubicBezTo>
                <a:lnTo>
                  <a:pt x="84903" y="141504"/>
                </a:lnTo>
                <a:lnTo>
                  <a:pt x="84903" y="127354"/>
                </a:lnTo>
                <a:lnTo>
                  <a:pt x="169805" y="127354"/>
                </a:lnTo>
                <a:lnTo>
                  <a:pt x="169805" y="141504"/>
                </a:lnTo>
                <a:lnTo>
                  <a:pt x="162730" y="141504"/>
                </a:lnTo>
                <a:cubicBezTo>
                  <a:pt x="151011" y="141504"/>
                  <a:pt x="141504" y="151011"/>
                  <a:pt x="141504" y="162730"/>
                </a:cubicBezTo>
                <a:lnTo>
                  <a:pt x="141504" y="191031"/>
                </a:lnTo>
                <a:cubicBezTo>
                  <a:pt x="141504" y="202749"/>
                  <a:pt x="151011" y="212256"/>
                  <a:pt x="162730" y="212256"/>
                </a:cubicBezTo>
                <a:lnTo>
                  <a:pt x="205181" y="212256"/>
                </a:lnTo>
                <a:cubicBezTo>
                  <a:pt x="216899" y="212256"/>
                  <a:pt x="226407" y="202749"/>
                  <a:pt x="226407" y="191031"/>
                </a:cubicBezTo>
                <a:lnTo>
                  <a:pt x="226407" y="162730"/>
                </a:lnTo>
                <a:cubicBezTo>
                  <a:pt x="226407" y="151011"/>
                  <a:pt x="216899" y="141504"/>
                  <a:pt x="205181" y="141504"/>
                </a:cubicBezTo>
                <a:lnTo>
                  <a:pt x="198106" y="141504"/>
                </a:lnTo>
                <a:lnTo>
                  <a:pt x="198106" y="127354"/>
                </a:lnTo>
                <a:lnTo>
                  <a:pt x="240557" y="127354"/>
                </a:lnTo>
                <a:cubicBezTo>
                  <a:pt x="248384" y="127354"/>
                  <a:pt x="254708" y="121030"/>
                  <a:pt x="254708" y="113203"/>
                </a:cubicBezTo>
                <a:cubicBezTo>
                  <a:pt x="254708" y="105376"/>
                  <a:pt x="248384" y="99053"/>
                  <a:pt x="240557" y="99053"/>
                </a:cubicBezTo>
                <a:lnTo>
                  <a:pt x="141504" y="99053"/>
                </a:lnTo>
                <a:lnTo>
                  <a:pt x="141504" y="84903"/>
                </a:lnTo>
                <a:lnTo>
                  <a:pt x="148579" y="84903"/>
                </a:lnTo>
                <a:cubicBezTo>
                  <a:pt x="160298" y="84903"/>
                  <a:pt x="169805" y="75395"/>
                  <a:pt x="169805" y="63677"/>
                </a:cubicBezTo>
                <a:lnTo>
                  <a:pt x="169805" y="35376"/>
                </a:lnTo>
                <a:cubicBezTo>
                  <a:pt x="169805" y="23658"/>
                  <a:pt x="160298" y="14150"/>
                  <a:pt x="148579" y="14150"/>
                </a:cubicBezTo>
                <a:lnTo>
                  <a:pt x="106128" y="14150"/>
                </a:lnTo>
                <a:close/>
                <a:moveTo>
                  <a:pt x="198106" y="166267"/>
                </a:moveTo>
                <a:lnTo>
                  <a:pt x="201643" y="166267"/>
                </a:lnTo>
                <a:lnTo>
                  <a:pt x="201643" y="187493"/>
                </a:lnTo>
                <a:lnTo>
                  <a:pt x="166267" y="187493"/>
                </a:lnTo>
                <a:lnTo>
                  <a:pt x="166267" y="166267"/>
                </a:lnTo>
                <a:lnTo>
                  <a:pt x="198106" y="166267"/>
                </a:lnTo>
                <a:close/>
                <a:moveTo>
                  <a:pt x="84903" y="166267"/>
                </a:moveTo>
                <a:lnTo>
                  <a:pt x="88440" y="166267"/>
                </a:lnTo>
                <a:lnTo>
                  <a:pt x="88440" y="187493"/>
                </a:lnTo>
                <a:lnTo>
                  <a:pt x="53064" y="187493"/>
                </a:lnTo>
                <a:lnTo>
                  <a:pt x="53064" y="166267"/>
                </a:lnTo>
                <a:lnTo>
                  <a:pt x="84903" y="166267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43354" y="1630128"/>
            <a:ext cx="1471643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机架感知策略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4501" y="2082942"/>
            <a:ext cx="7358217" cy="543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采用</a:t>
            </a:r>
            <a:r>
              <a:rPr lang="en-US" sz="1426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机架感知</a:t>
            </a:r>
            <a:r>
              <a:rPr lang="en-US" sz="142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的数据本地性优化策略选择最优的 DataNode，以减少网络传输开销，提高读取性能。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4501" y="2762162"/>
            <a:ext cx="7358217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选择优先级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4501" y="3124412"/>
            <a:ext cx="7358217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本地 DataNode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4501" y="3396100"/>
            <a:ext cx="7358217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如果客户端运行在 DataNode 上，优先选择本地副本，避免网络传输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4501" y="3758351"/>
            <a:ext cx="7358217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同机架 DataNode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4501" y="4030039"/>
            <a:ext cx="7358217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选择同一机架内的 DataNode，减少网络跳数，带宽更高、延迟更低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4501" y="4392290"/>
            <a:ext cx="7358217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负载均衡考虑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4501" y="4663978"/>
            <a:ext cx="7358217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避免选择当前负载过高的 DataNode，确保读取性能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4501" y="5026228"/>
            <a:ext cx="7358217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网络拓扑距离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4501" y="5297916"/>
            <a:ext cx="7358217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根据网络拓扑计算选择网络距离最近的副本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88961" y="1630128"/>
            <a:ext cx="45281" cy="3939476"/>
          </a:xfrm>
          <a:custGeom>
            <a:avLst/>
            <a:gdLst/>
            <a:ahLst/>
            <a:cxnLst/>
            <a:rect l="l" t="t" r="r" b="b"/>
            <a:pathLst>
              <a:path w="45281" h="3939476">
                <a:moveTo>
                  <a:pt x="0" y="0"/>
                </a:moveTo>
                <a:lnTo>
                  <a:pt x="45281" y="0"/>
                </a:lnTo>
                <a:lnTo>
                  <a:pt x="45281" y="3939476"/>
                </a:lnTo>
                <a:lnTo>
                  <a:pt x="0" y="3939476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566309" y="1675409"/>
            <a:ext cx="226407" cy="226407"/>
          </a:xfrm>
          <a:custGeom>
            <a:avLst/>
            <a:gdLst/>
            <a:ahLst/>
            <a:cxnLst/>
            <a:rect l="l" t="t" r="r" b="b"/>
            <a:pathLst>
              <a:path w="226407" h="226407">
                <a:moveTo>
                  <a:pt x="226407" y="42451"/>
                </a:moveTo>
                <a:cubicBezTo>
                  <a:pt x="226407" y="64650"/>
                  <a:pt x="200273" y="97771"/>
                  <a:pt x="188997" y="110992"/>
                </a:cubicBezTo>
                <a:cubicBezTo>
                  <a:pt x="187316" y="112938"/>
                  <a:pt x="184840" y="113690"/>
                  <a:pt x="182585" y="113203"/>
                </a:cubicBezTo>
                <a:lnTo>
                  <a:pt x="141504" y="113203"/>
                </a:lnTo>
                <a:cubicBezTo>
                  <a:pt x="133677" y="113203"/>
                  <a:pt x="127354" y="119527"/>
                  <a:pt x="127354" y="127354"/>
                </a:cubicBezTo>
                <a:cubicBezTo>
                  <a:pt x="127354" y="135181"/>
                  <a:pt x="133677" y="141504"/>
                  <a:pt x="141504" y="141504"/>
                </a:cubicBezTo>
                <a:lnTo>
                  <a:pt x="183955" y="141504"/>
                </a:lnTo>
                <a:cubicBezTo>
                  <a:pt x="207392" y="141504"/>
                  <a:pt x="226407" y="160519"/>
                  <a:pt x="226407" y="183955"/>
                </a:cubicBezTo>
                <a:cubicBezTo>
                  <a:pt x="226407" y="207392"/>
                  <a:pt x="207392" y="226407"/>
                  <a:pt x="183955" y="226407"/>
                </a:cubicBezTo>
                <a:lnTo>
                  <a:pt x="61731" y="226407"/>
                </a:lnTo>
                <a:cubicBezTo>
                  <a:pt x="65578" y="222029"/>
                  <a:pt x="70266" y="216413"/>
                  <a:pt x="74997" y="210134"/>
                </a:cubicBezTo>
                <a:cubicBezTo>
                  <a:pt x="77783" y="206419"/>
                  <a:pt x="80657" y="202351"/>
                  <a:pt x="83399" y="198106"/>
                </a:cubicBezTo>
                <a:lnTo>
                  <a:pt x="183955" y="198106"/>
                </a:lnTo>
                <a:cubicBezTo>
                  <a:pt x="191782" y="198106"/>
                  <a:pt x="198106" y="191782"/>
                  <a:pt x="198106" y="183955"/>
                </a:cubicBezTo>
                <a:cubicBezTo>
                  <a:pt x="198106" y="176128"/>
                  <a:pt x="191782" y="169805"/>
                  <a:pt x="183955" y="169805"/>
                </a:cubicBezTo>
                <a:lnTo>
                  <a:pt x="141504" y="169805"/>
                </a:lnTo>
                <a:cubicBezTo>
                  <a:pt x="118068" y="169805"/>
                  <a:pt x="99053" y="150790"/>
                  <a:pt x="99053" y="127354"/>
                </a:cubicBezTo>
                <a:cubicBezTo>
                  <a:pt x="99053" y="103917"/>
                  <a:pt x="118068" y="84903"/>
                  <a:pt x="141504" y="84903"/>
                </a:cubicBezTo>
                <a:lnTo>
                  <a:pt x="159104" y="84903"/>
                </a:lnTo>
                <a:cubicBezTo>
                  <a:pt x="149818" y="70973"/>
                  <a:pt x="141504" y="54966"/>
                  <a:pt x="141504" y="42451"/>
                </a:cubicBezTo>
                <a:cubicBezTo>
                  <a:pt x="141504" y="19015"/>
                  <a:pt x="160519" y="0"/>
                  <a:pt x="183955" y="0"/>
                </a:cubicBezTo>
                <a:cubicBezTo>
                  <a:pt x="207392" y="0"/>
                  <a:pt x="226407" y="19015"/>
                  <a:pt x="226407" y="42451"/>
                </a:cubicBezTo>
                <a:close/>
                <a:moveTo>
                  <a:pt x="51782" y="216280"/>
                </a:moveTo>
                <a:cubicBezTo>
                  <a:pt x="50101" y="218182"/>
                  <a:pt x="48598" y="219862"/>
                  <a:pt x="47315" y="221277"/>
                </a:cubicBezTo>
                <a:lnTo>
                  <a:pt x="46519" y="222162"/>
                </a:lnTo>
                <a:lnTo>
                  <a:pt x="46431" y="222073"/>
                </a:lnTo>
                <a:cubicBezTo>
                  <a:pt x="43778" y="224107"/>
                  <a:pt x="39975" y="223842"/>
                  <a:pt x="37587" y="221277"/>
                </a:cubicBezTo>
                <a:cubicBezTo>
                  <a:pt x="26444" y="209161"/>
                  <a:pt x="0" y="177986"/>
                  <a:pt x="0" y="155655"/>
                </a:cubicBezTo>
                <a:cubicBezTo>
                  <a:pt x="0" y="132218"/>
                  <a:pt x="19015" y="113203"/>
                  <a:pt x="42451" y="113203"/>
                </a:cubicBezTo>
                <a:cubicBezTo>
                  <a:pt x="65888" y="113203"/>
                  <a:pt x="84903" y="132218"/>
                  <a:pt x="84903" y="155655"/>
                </a:cubicBezTo>
                <a:cubicBezTo>
                  <a:pt x="84903" y="168921"/>
                  <a:pt x="75572" y="185282"/>
                  <a:pt x="65667" y="198946"/>
                </a:cubicBezTo>
                <a:cubicBezTo>
                  <a:pt x="60935" y="205446"/>
                  <a:pt x="56071" y="211328"/>
                  <a:pt x="52047" y="215971"/>
                </a:cubicBezTo>
                <a:lnTo>
                  <a:pt x="51782" y="216280"/>
                </a:lnTo>
                <a:close/>
                <a:moveTo>
                  <a:pt x="56602" y="155655"/>
                </a:moveTo>
                <a:cubicBezTo>
                  <a:pt x="56602" y="147845"/>
                  <a:pt x="50261" y="141504"/>
                  <a:pt x="42451" y="141504"/>
                </a:cubicBezTo>
                <a:cubicBezTo>
                  <a:pt x="34641" y="141504"/>
                  <a:pt x="28301" y="147845"/>
                  <a:pt x="28301" y="155655"/>
                </a:cubicBezTo>
                <a:cubicBezTo>
                  <a:pt x="28301" y="163464"/>
                  <a:pt x="34641" y="169805"/>
                  <a:pt x="42451" y="169805"/>
                </a:cubicBezTo>
                <a:cubicBezTo>
                  <a:pt x="50261" y="169805"/>
                  <a:pt x="56602" y="163464"/>
                  <a:pt x="56602" y="155655"/>
                </a:cubicBezTo>
                <a:close/>
                <a:moveTo>
                  <a:pt x="183955" y="56602"/>
                </a:moveTo>
                <a:cubicBezTo>
                  <a:pt x="191765" y="56602"/>
                  <a:pt x="198106" y="50261"/>
                  <a:pt x="198106" y="42451"/>
                </a:cubicBezTo>
                <a:cubicBezTo>
                  <a:pt x="198106" y="34641"/>
                  <a:pt x="191765" y="28301"/>
                  <a:pt x="183955" y="28301"/>
                </a:cubicBezTo>
                <a:cubicBezTo>
                  <a:pt x="176146" y="28301"/>
                  <a:pt x="169805" y="34641"/>
                  <a:pt x="169805" y="42451"/>
                </a:cubicBezTo>
                <a:cubicBezTo>
                  <a:pt x="169805" y="50261"/>
                  <a:pt x="176146" y="56602"/>
                  <a:pt x="183955" y="56602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956861" y="1630128"/>
            <a:ext cx="1924457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网络拓扑距离计算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38008" y="2082942"/>
            <a:ext cx="7358217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距离计算算法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38008" y="2445192"/>
            <a:ext cx="7358217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基于机架、交换机层级等因素计算两个节点在网络拓扑中的距离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38008" y="2852724"/>
            <a:ext cx="7358217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距离示例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38008" y="3673448"/>
            <a:ext cx="7267655" cy="11320"/>
          </a:xfrm>
          <a:custGeom>
            <a:avLst/>
            <a:gdLst/>
            <a:ahLst/>
            <a:cxnLst/>
            <a:rect l="l" t="t" r="r" b="b"/>
            <a:pathLst>
              <a:path w="7267655" h="11320">
                <a:moveTo>
                  <a:pt x="0" y="0"/>
                </a:moveTo>
                <a:lnTo>
                  <a:pt x="7267655" y="0"/>
                </a:lnTo>
                <a:lnTo>
                  <a:pt x="7267655" y="11320"/>
                </a:lnTo>
                <a:lnTo>
                  <a:pt x="0" y="11320"/>
                </a:lnTo>
                <a:lnTo>
                  <a:pt x="0" y="0"/>
                </a:ln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538008" y="3305538"/>
            <a:ext cx="815064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同一节点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118572" y="3305538"/>
            <a:ext cx="781103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距离 = 0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38008" y="4228145"/>
            <a:ext cx="7267655" cy="11320"/>
          </a:xfrm>
          <a:custGeom>
            <a:avLst/>
            <a:gdLst/>
            <a:ahLst/>
            <a:cxnLst/>
            <a:rect l="l" t="t" r="r" b="b"/>
            <a:pathLst>
              <a:path w="7267655" h="11320">
                <a:moveTo>
                  <a:pt x="0" y="0"/>
                </a:moveTo>
                <a:lnTo>
                  <a:pt x="7267655" y="0"/>
                </a:lnTo>
                <a:lnTo>
                  <a:pt x="7267655" y="11320"/>
                </a:lnTo>
                <a:lnTo>
                  <a:pt x="0" y="11320"/>
                </a:lnTo>
                <a:lnTo>
                  <a:pt x="0" y="0"/>
                </a:ln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538008" y="3860234"/>
            <a:ext cx="815064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同一机架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130334" y="3860234"/>
            <a:ext cx="769783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距离 = 2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38008" y="4782841"/>
            <a:ext cx="7267655" cy="11320"/>
          </a:xfrm>
          <a:custGeom>
            <a:avLst/>
            <a:gdLst/>
            <a:ahLst/>
            <a:cxnLst/>
            <a:rect l="l" t="t" r="r" b="b"/>
            <a:pathLst>
              <a:path w="7267655" h="11320">
                <a:moveTo>
                  <a:pt x="0" y="0"/>
                </a:moveTo>
                <a:lnTo>
                  <a:pt x="7267655" y="0"/>
                </a:lnTo>
                <a:lnTo>
                  <a:pt x="7267655" y="11320"/>
                </a:lnTo>
                <a:lnTo>
                  <a:pt x="0" y="11320"/>
                </a:lnTo>
                <a:lnTo>
                  <a:pt x="0" y="0"/>
                </a:lnTo>
                <a:close/>
              </a:path>
            </a:pathLst>
          </a:custGeom>
          <a:solidFill>
            <a:srgbClr val="5E8B7E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538008" y="4414930"/>
            <a:ext cx="815064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不同机架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126001" y="4414930"/>
            <a:ext cx="769783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距离 = 4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75454" y="5796011"/>
            <a:ext cx="45281" cy="2898006"/>
          </a:xfrm>
          <a:custGeom>
            <a:avLst/>
            <a:gdLst/>
            <a:ahLst/>
            <a:cxnLst/>
            <a:rect l="l" t="t" r="r" b="b"/>
            <a:pathLst>
              <a:path w="45281" h="2898006">
                <a:moveTo>
                  <a:pt x="0" y="0"/>
                </a:moveTo>
                <a:lnTo>
                  <a:pt x="45281" y="0"/>
                </a:lnTo>
                <a:lnTo>
                  <a:pt x="45281" y="2898006"/>
                </a:lnTo>
                <a:lnTo>
                  <a:pt x="0" y="2898006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752802" y="5841292"/>
            <a:ext cx="226407" cy="226407"/>
          </a:xfrm>
          <a:custGeom>
            <a:avLst/>
            <a:gdLst/>
            <a:ahLst/>
            <a:cxnLst/>
            <a:rect l="l" t="t" r="r" b="b"/>
            <a:pathLst>
              <a:path w="226407" h="226407">
                <a:moveTo>
                  <a:pt x="56602" y="141504"/>
                </a:moveTo>
                <a:lnTo>
                  <a:pt x="10834" y="141504"/>
                </a:lnTo>
                <a:cubicBezTo>
                  <a:pt x="-177" y="141504"/>
                  <a:pt x="-6943" y="129521"/>
                  <a:pt x="-1282" y="120057"/>
                </a:cubicBezTo>
                <a:lnTo>
                  <a:pt x="22110" y="81055"/>
                </a:lnTo>
                <a:cubicBezTo>
                  <a:pt x="25957" y="74643"/>
                  <a:pt x="32856" y="70752"/>
                  <a:pt x="40329" y="70752"/>
                </a:cubicBezTo>
                <a:lnTo>
                  <a:pt x="82338" y="70752"/>
                </a:lnTo>
                <a:cubicBezTo>
                  <a:pt x="115989" y="13752"/>
                  <a:pt x="166179" y="10878"/>
                  <a:pt x="199742" y="15787"/>
                </a:cubicBezTo>
                <a:cubicBezTo>
                  <a:pt x="205402" y="16627"/>
                  <a:pt x="209824" y="21049"/>
                  <a:pt x="210620" y="26665"/>
                </a:cubicBezTo>
                <a:cubicBezTo>
                  <a:pt x="215529" y="60228"/>
                  <a:pt x="212654" y="110417"/>
                  <a:pt x="155655" y="144069"/>
                </a:cubicBezTo>
                <a:lnTo>
                  <a:pt x="155655" y="186078"/>
                </a:lnTo>
                <a:cubicBezTo>
                  <a:pt x="155655" y="193551"/>
                  <a:pt x="151763" y="200450"/>
                  <a:pt x="145351" y="204297"/>
                </a:cubicBezTo>
                <a:lnTo>
                  <a:pt x="106349" y="227689"/>
                </a:lnTo>
                <a:cubicBezTo>
                  <a:pt x="96930" y="233349"/>
                  <a:pt x="84903" y="226539"/>
                  <a:pt x="84903" y="215573"/>
                </a:cubicBezTo>
                <a:lnTo>
                  <a:pt x="84903" y="169805"/>
                </a:lnTo>
                <a:cubicBezTo>
                  <a:pt x="84903" y="154195"/>
                  <a:pt x="72211" y="141504"/>
                  <a:pt x="56602" y="141504"/>
                </a:cubicBezTo>
                <a:lnTo>
                  <a:pt x="56557" y="141504"/>
                </a:lnTo>
                <a:close/>
                <a:moveTo>
                  <a:pt x="176880" y="70752"/>
                </a:moveTo>
                <a:cubicBezTo>
                  <a:pt x="176880" y="59037"/>
                  <a:pt x="167369" y="49526"/>
                  <a:pt x="155655" y="49526"/>
                </a:cubicBezTo>
                <a:cubicBezTo>
                  <a:pt x="143940" y="49526"/>
                  <a:pt x="134429" y="59037"/>
                  <a:pt x="134429" y="70752"/>
                </a:cubicBezTo>
                <a:cubicBezTo>
                  <a:pt x="134429" y="82467"/>
                  <a:pt x="143940" y="91978"/>
                  <a:pt x="155655" y="91978"/>
                </a:cubicBezTo>
                <a:cubicBezTo>
                  <a:pt x="167369" y="91978"/>
                  <a:pt x="176880" y="82467"/>
                  <a:pt x="176880" y="70752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143354" y="5796011"/>
            <a:ext cx="3158373" cy="3169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83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短路读取 (Short-Circuit Read)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4501" y="6294106"/>
            <a:ext cx="7494061" cy="543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当客户端与 DataNode 在同一节点时，</a:t>
            </a:r>
            <a:r>
              <a:rPr lang="en-US" sz="1426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短路读取允许客户端直接读取本地文件</a:t>
            </a:r>
            <a:r>
              <a:rPr lang="en-US" sz="142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，绕过网络传输，显著提高读取性能。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24501" y="6973326"/>
            <a:ext cx="7494061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优势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4501" y="7335577"/>
            <a:ext cx="7494061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避免网络传输开销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4501" y="7652546"/>
            <a:ext cx="7494061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降低 CPU 消耗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24501" y="7969515"/>
            <a:ext cx="7494061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减少内存复制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24501" y="8286485"/>
            <a:ext cx="7494061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提高读取吞吐量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02164" y="6294106"/>
            <a:ext cx="7494061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实现原理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02164" y="6656357"/>
            <a:ext cx="7494061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客户端向 NameNode 请求块位置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02164" y="7018607"/>
            <a:ext cx="7494061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NameNode 返回包含本地 DataNode 的列表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402164" y="7380858"/>
            <a:ext cx="7494061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客户端检测到本地副本可用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402164" y="7743109"/>
            <a:ext cx="7494061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直接读取本地文件系统，绕过网络协议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424805" y="8150641"/>
            <a:ext cx="7380858" cy="543376"/>
          </a:xfrm>
          <a:custGeom>
            <a:avLst/>
            <a:gdLst/>
            <a:ahLst/>
            <a:cxnLst/>
            <a:rect l="l" t="t" r="r" b="b"/>
            <a:pathLst>
              <a:path w="7380858" h="543376">
                <a:moveTo>
                  <a:pt x="45280" y="0"/>
                </a:moveTo>
                <a:lnTo>
                  <a:pt x="7335578" y="0"/>
                </a:lnTo>
                <a:cubicBezTo>
                  <a:pt x="7360586" y="0"/>
                  <a:pt x="7380858" y="20272"/>
                  <a:pt x="7380858" y="45280"/>
                </a:cubicBezTo>
                <a:lnTo>
                  <a:pt x="7380858" y="498097"/>
                </a:lnTo>
                <a:cubicBezTo>
                  <a:pt x="7380858" y="523104"/>
                  <a:pt x="7360586" y="543376"/>
                  <a:pt x="7335578" y="543376"/>
                </a:cubicBezTo>
                <a:lnTo>
                  <a:pt x="45280" y="543376"/>
                </a:lnTo>
                <a:cubicBezTo>
                  <a:pt x="20272" y="543376"/>
                  <a:pt x="0" y="523104"/>
                  <a:pt x="0" y="498097"/>
                </a:cubicBezTo>
                <a:lnTo>
                  <a:pt x="0" y="45280"/>
                </a:lnTo>
                <a:cubicBezTo>
                  <a:pt x="0" y="20289"/>
                  <a:pt x="20289" y="0"/>
                  <a:pt x="45280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8424805" y="8150641"/>
            <a:ext cx="45281" cy="543376"/>
          </a:xfrm>
          <a:custGeom>
            <a:avLst/>
            <a:gdLst/>
            <a:ahLst/>
            <a:cxnLst/>
            <a:rect l="l" t="t" r="r" b="b"/>
            <a:pathLst>
              <a:path w="45281" h="543376">
                <a:moveTo>
                  <a:pt x="45281" y="0"/>
                </a:moveTo>
                <a:lnTo>
                  <a:pt x="45281" y="0"/>
                </a:lnTo>
                <a:lnTo>
                  <a:pt x="45281" y="543376"/>
                </a:lnTo>
                <a:lnTo>
                  <a:pt x="45281" y="543376"/>
                </a:lnTo>
                <a:cubicBezTo>
                  <a:pt x="20273" y="543376"/>
                  <a:pt x="0" y="523103"/>
                  <a:pt x="0" y="498095"/>
                </a:cubicBezTo>
                <a:lnTo>
                  <a:pt x="0" y="45281"/>
                </a:lnTo>
                <a:cubicBezTo>
                  <a:pt x="0" y="20273"/>
                  <a:pt x="20273" y="0"/>
                  <a:pt x="45281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583290" y="8286485"/>
            <a:ext cx="7177092" cy="2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2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性能提升：可达 </a:t>
            </a:r>
            <a:r>
              <a:rPr lang="en-US" sz="1426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2-3 倍</a:t>
            </a:r>
            <a:r>
              <a:rPr lang="en-US" sz="142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读取吞吐量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FAULT TOLERANCE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错误处理与故障恢复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24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828800"/>
            <a:ext cx="50800" cy="3911600"/>
          </a:xfrm>
          <a:custGeom>
            <a:avLst/>
            <a:gdLst/>
            <a:ahLst/>
            <a:cxnLst/>
            <a:rect l="l" t="t" r="r" b="b"/>
            <a:pathLst>
              <a:path w="50800" h="3911600">
                <a:moveTo>
                  <a:pt x="0" y="0"/>
                </a:moveTo>
                <a:lnTo>
                  <a:pt x="50800" y="0"/>
                </a:lnTo>
                <a:lnTo>
                  <a:pt x="50800" y="3911600"/>
                </a:lnTo>
                <a:lnTo>
                  <a:pt x="0" y="39116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44550" y="1879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82700" y="1828800"/>
            <a:ext cx="2387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DataNode 故障检测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2336800"/>
            <a:ext cx="726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客户端实现了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智能的故障检测和自动重试机制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，当某个 DataNode 无法访问时，系统会自动尝试其他副本。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3098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故障检测机制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5052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读取超时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：设置合理的超时时间（默认 60 秒）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860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连接失败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：TCP 连接失败立即触发重试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42164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校验和错误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：数据校验失败表明数据损坏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45720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IO 异常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：读写过程中的 IO 错误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50292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自动重试策略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" y="54356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遍历该块的所有 DataNode 副本，逐个尝试，直到成功读取或所有副本都失败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05800" y="1828800"/>
            <a:ext cx="50800" cy="3911600"/>
          </a:xfrm>
          <a:custGeom>
            <a:avLst/>
            <a:gdLst/>
            <a:ahLst/>
            <a:cxnLst/>
            <a:rect l="l" t="t" r="r" b="b"/>
            <a:pathLst>
              <a:path w="50800" h="3911600">
                <a:moveTo>
                  <a:pt x="0" y="0"/>
                </a:moveTo>
                <a:lnTo>
                  <a:pt x="50800" y="0"/>
                </a:lnTo>
                <a:lnTo>
                  <a:pt x="50800" y="3911600"/>
                </a:lnTo>
                <a:lnTo>
                  <a:pt x="0" y="39116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601075" y="18796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11175" y="48171"/>
                </a:moveTo>
                <a:lnTo>
                  <a:pt x="111175" y="72777"/>
                </a:lnTo>
                <a:lnTo>
                  <a:pt x="111423" y="73025"/>
                </a:lnTo>
                <a:cubicBezTo>
                  <a:pt x="114647" y="32147"/>
                  <a:pt x="148828" y="0"/>
                  <a:pt x="190550" y="0"/>
                </a:cubicBezTo>
                <a:cubicBezTo>
                  <a:pt x="200521" y="0"/>
                  <a:pt x="210096" y="1836"/>
                  <a:pt x="218877" y="5209"/>
                </a:cubicBezTo>
                <a:cubicBezTo>
                  <a:pt x="223838" y="7094"/>
                  <a:pt x="224730" y="13395"/>
                  <a:pt x="221010" y="17165"/>
                </a:cubicBezTo>
                <a:lnTo>
                  <a:pt x="177006" y="61168"/>
                </a:lnTo>
                <a:cubicBezTo>
                  <a:pt x="175518" y="62657"/>
                  <a:pt x="174675" y="64691"/>
                  <a:pt x="174675" y="66774"/>
                </a:cubicBezTo>
                <a:lnTo>
                  <a:pt x="174675" y="87313"/>
                </a:lnTo>
                <a:cubicBezTo>
                  <a:pt x="174675" y="91678"/>
                  <a:pt x="178246" y="95250"/>
                  <a:pt x="182612" y="95250"/>
                </a:cubicBezTo>
                <a:lnTo>
                  <a:pt x="203150" y="95250"/>
                </a:lnTo>
                <a:cubicBezTo>
                  <a:pt x="205234" y="95250"/>
                  <a:pt x="207268" y="94407"/>
                  <a:pt x="208756" y="92918"/>
                </a:cubicBezTo>
                <a:lnTo>
                  <a:pt x="252760" y="48915"/>
                </a:lnTo>
                <a:cubicBezTo>
                  <a:pt x="256530" y="45145"/>
                  <a:pt x="262830" y="46087"/>
                  <a:pt x="264716" y="51048"/>
                </a:cubicBezTo>
                <a:cubicBezTo>
                  <a:pt x="268089" y="59829"/>
                  <a:pt x="269925" y="69404"/>
                  <a:pt x="269925" y="79375"/>
                </a:cubicBezTo>
                <a:cubicBezTo>
                  <a:pt x="269925" y="109438"/>
                  <a:pt x="253206" y="135632"/>
                  <a:pt x="228501" y="149076"/>
                </a:cubicBezTo>
                <a:lnTo>
                  <a:pt x="268932" y="189508"/>
                </a:lnTo>
                <a:cubicBezTo>
                  <a:pt x="278209" y="198785"/>
                  <a:pt x="278209" y="213866"/>
                  <a:pt x="268932" y="223193"/>
                </a:cubicBezTo>
                <a:lnTo>
                  <a:pt x="239117" y="253008"/>
                </a:lnTo>
                <a:cubicBezTo>
                  <a:pt x="229840" y="262285"/>
                  <a:pt x="214759" y="262285"/>
                  <a:pt x="205432" y="253008"/>
                </a:cubicBezTo>
                <a:lnTo>
                  <a:pt x="142925" y="190500"/>
                </a:lnTo>
                <a:cubicBezTo>
                  <a:pt x="129332" y="176907"/>
                  <a:pt x="126256" y="156815"/>
                  <a:pt x="133747" y="140246"/>
                </a:cubicBezTo>
                <a:lnTo>
                  <a:pt x="88751" y="95250"/>
                </a:lnTo>
                <a:lnTo>
                  <a:pt x="64145" y="95250"/>
                </a:lnTo>
                <a:cubicBezTo>
                  <a:pt x="58837" y="95250"/>
                  <a:pt x="53876" y="92621"/>
                  <a:pt x="50949" y="88205"/>
                </a:cubicBezTo>
                <a:lnTo>
                  <a:pt x="11609" y="29220"/>
                </a:lnTo>
                <a:cubicBezTo>
                  <a:pt x="9525" y="26095"/>
                  <a:pt x="9922" y="21878"/>
                  <a:pt x="12601" y="19199"/>
                </a:cubicBezTo>
                <a:lnTo>
                  <a:pt x="35123" y="-3324"/>
                </a:lnTo>
                <a:cubicBezTo>
                  <a:pt x="37802" y="-6003"/>
                  <a:pt x="41970" y="-6400"/>
                  <a:pt x="45145" y="-4316"/>
                </a:cubicBezTo>
                <a:lnTo>
                  <a:pt x="104130" y="34975"/>
                </a:lnTo>
                <a:cubicBezTo>
                  <a:pt x="108545" y="37902"/>
                  <a:pt x="111175" y="42863"/>
                  <a:pt x="111175" y="48171"/>
                </a:cubicBezTo>
                <a:close/>
                <a:moveTo>
                  <a:pt x="106958" y="147141"/>
                </a:moveTo>
                <a:cubicBezTo>
                  <a:pt x="103832" y="165497"/>
                  <a:pt x="108148" y="184894"/>
                  <a:pt x="120055" y="200422"/>
                </a:cubicBezTo>
                <a:lnTo>
                  <a:pt x="72926" y="247501"/>
                </a:lnTo>
                <a:cubicBezTo>
                  <a:pt x="58986" y="261441"/>
                  <a:pt x="36364" y="261441"/>
                  <a:pt x="22423" y="247501"/>
                </a:cubicBezTo>
                <a:cubicBezTo>
                  <a:pt x="8483" y="233561"/>
                  <a:pt x="8483" y="210939"/>
                  <a:pt x="22423" y="196999"/>
                </a:cubicBezTo>
                <a:lnTo>
                  <a:pt x="89595" y="129828"/>
                </a:lnTo>
                <a:lnTo>
                  <a:pt x="106958" y="147191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055100" y="18288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故障恢复策略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85200" y="2336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自动重试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85200" y="27432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检测到 DataNode 故障时自动尝试其他副本，对应用透明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85200" y="32004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黑名单机制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85200" y="3606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将频繁失败的 DataNode 加入临时黑名单，避免重复尝试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85200" y="40640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NameNode 报告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85200" y="44704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向 NameNode 报告损坏的块信息，触发副本重建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85200" y="49276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客户端缓存更新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85200" y="53340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更新本地缓存的块位置信息，下次读取时避开故障节点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3400" y="5994400"/>
            <a:ext cx="50800" cy="1574800"/>
          </a:xfrm>
          <a:custGeom>
            <a:avLst/>
            <a:gdLst/>
            <a:ahLst/>
            <a:cxnLst/>
            <a:rect l="l" t="t" r="r" b="b"/>
            <a:pathLst>
              <a:path w="50800" h="1574800">
                <a:moveTo>
                  <a:pt x="0" y="0"/>
                </a:moveTo>
                <a:lnTo>
                  <a:pt x="50800" y="0"/>
                </a:lnTo>
                <a:lnTo>
                  <a:pt x="50800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44550" y="6045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282700" y="5994400"/>
            <a:ext cx="215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读取性能优化策略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2800" y="65532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预读取机制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12800" y="6959600"/>
            <a:ext cx="4914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客户端实现智能预读取，根据访问模式预测下一个需要读取的块，提前获取数据，减少等待时间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875834" y="65532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数据缓存策略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875834" y="6959600"/>
            <a:ext cx="4914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客户端缓存块位置信息，避免重复向 NameNode 查询。操作系统页缓存加速频繁访问的数据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38867" y="65532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并行读取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938867" y="6959600"/>
            <a:ext cx="4914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 等计算框架可以并行读取不同块，大幅提升读取吞吐量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PERFORMANCE OPTIMIZATION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读取性能优化策略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24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828800"/>
            <a:ext cx="50800" cy="3556000"/>
          </a:xfrm>
          <a:custGeom>
            <a:avLst/>
            <a:gdLst/>
            <a:ahLst/>
            <a:cxnLst/>
            <a:rect l="l" t="t" r="r" b="b"/>
            <a:pathLst>
              <a:path w="50800" h="3556000">
                <a:moveTo>
                  <a:pt x="0" y="0"/>
                </a:moveTo>
                <a:lnTo>
                  <a:pt x="50800" y="0"/>
                </a:lnTo>
                <a:lnTo>
                  <a:pt x="50800" y="3556000"/>
                </a:lnTo>
                <a:lnTo>
                  <a:pt x="0" y="3556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28675" y="18796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84398" y="21382"/>
                </a:moveTo>
                <a:cubicBezTo>
                  <a:pt x="178643" y="15875"/>
                  <a:pt x="170160" y="14337"/>
                  <a:pt x="162868" y="17463"/>
                </a:cubicBezTo>
                <a:cubicBezTo>
                  <a:pt x="155575" y="20588"/>
                  <a:pt x="150813" y="27781"/>
                  <a:pt x="150813" y="35719"/>
                </a:cubicBezTo>
                <a:lnTo>
                  <a:pt x="150813" y="103336"/>
                </a:lnTo>
                <a:lnTo>
                  <a:pt x="65336" y="21431"/>
                </a:lnTo>
                <a:cubicBezTo>
                  <a:pt x="59581" y="15875"/>
                  <a:pt x="51098" y="14337"/>
                  <a:pt x="43805" y="17463"/>
                </a:cubicBezTo>
                <a:cubicBezTo>
                  <a:pt x="36513" y="20588"/>
                  <a:pt x="31750" y="27781"/>
                  <a:pt x="31750" y="35719"/>
                </a:cubicBezTo>
                <a:lnTo>
                  <a:pt x="31750" y="218281"/>
                </a:lnTo>
                <a:cubicBezTo>
                  <a:pt x="31750" y="226219"/>
                  <a:pt x="36513" y="233412"/>
                  <a:pt x="43805" y="236538"/>
                </a:cubicBezTo>
                <a:cubicBezTo>
                  <a:pt x="51098" y="239663"/>
                  <a:pt x="59581" y="238125"/>
                  <a:pt x="65336" y="232618"/>
                </a:cubicBezTo>
                <a:lnTo>
                  <a:pt x="150813" y="150664"/>
                </a:lnTo>
                <a:lnTo>
                  <a:pt x="150813" y="218281"/>
                </a:lnTo>
                <a:cubicBezTo>
                  <a:pt x="150813" y="226219"/>
                  <a:pt x="155575" y="233412"/>
                  <a:pt x="162868" y="236538"/>
                </a:cubicBezTo>
                <a:cubicBezTo>
                  <a:pt x="170160" y="239663"/>
                  <a:pt x="178643" y="238125"/>
                  <a:pt x="184398" y="232618"/>
                </a:cubicBezTo>
                <a:lnTo>
                  <a:pt x="279648" y="141337"/>
                </a:lnTo>
                <a:cubicBezTo>
                  <a:pt x="283567" y="137616"/>
                  <a:pt x="285750" y="132407"/>
                  <a:pt x="285750" y="127000"/>
                </a:cubicBezTo>
                <a:cubicBezTo>
                  <a:pt x="285750" y="121593"/>
                  <a:pt x="283518" y="116433"/>
                  <a:pt x="279648" y="112663"/>
                </a:cubicBezTo>
                <a:lnTo>
                  <a:pt x="184398" y="21382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82700" y="18288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预读取机制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2336800"/>
            <a:ext cx="726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客户端实现了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智能预读取机制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，根据访问模式预测下一个需要读取的块，提前获取数据，减少等待时间。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3098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预读取策略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5052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顺序预读取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：顺序访问时提前获取下一个块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860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自适应调整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：根据读取模式动态调整预读取策略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42164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缓冲管理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：合理使用内存缓冲区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46736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性能提升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50800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对于顺序读取场景，预读取可以减少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30-50%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的读取延迟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05800" y="1828800"/>
            <a:ext cx="50800" cy="3556000"/>
          </a:xfrm>
          <a:custGeom>
            <a:avLst/>
            <a:gdLst/>
            <a:ahLst/>
            <a:cxnLst/>
            <a:rect l="l" t="t" r="r" b="b"/>
            <a:pathLst>
              <a:path w="50800" h="3556000">
                <a:moveTo>
                  <a:pt x="0" y="0"/>
                </a:moveTo>
                <a:lnTo>
                  <a:pt x="50800" y="0"/>
                </a:lnTo>
                <a:lnTo>
                  <a:pt x="50800" y="3556000"/>
                </a:lnTo>
                <a:lnTo>
                  <a:pt x="0" y="35560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616950" y="1879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14238" y="31750"/>
                  <a:pt x="0" y="45988"/>
                  <a:pt x="0" y="63500"/>
                </a:cubicBezTo>
                <a:lnTo>
                  <a:pt x="0" y="67171"/>
                </a:lnTo>
                <a:cubicBezTo>
                  <a:pt x="0" y="70545"/>
                  <a:pt x="2183" y="73422"/>
                  <a:pt x="5011" y="75257"/>
                </a:cubicBezTo>
                <a:cubicBezTo>
                  <a:pt x="11559" y="79524"/>
                  <a:pt x="15875" y="86866"/>
                  <a:pt x="15875" y="95250"/>
                </a:cubicBezTo>
                <a:cubicBezTo>
                  <a:pt x="15875" y="103634"/>
                  <a:pt x="11559" y="110976"/>
                  <a:pt x="5011" y="115243"/>
                </a:cubicBezTo>
                <a:cubicBezTo>
                  <a:pt x="2183" y="117078"/>
                  <a:pt x="0" y="119955"/>
                  <a:pt x="0" y="123329"/>
                </a:cubicBezTo>
                <a:lnTo>
                  <a:pt x="0" y="150813"/>
                </a:lnTo>
                <a:lnTo>
                  <a:pt x="254000" y="150813"/>
                </a:lnTo>
                <a:lnTo>
                  <a:pt x="254000" y="123329"/>
                </a:lnTo>
                <a:cubicBezTo>
                  <a:pt x="254000" y="119955"/>
                  <a:pt x="251817" y="117078"/>
                  <a:pt x="248989" y="115243"/>
                </a:cubicBezTo>
                <a:cubicBezTo>
                  <a:pt x="242441" y="110976"/>
                  <a:pt x="238125" y="103634"/>
                  <a:pt x="238125" y="95250"/>
                </a:cubicBezTo>
                <a:cubicBezTo>
                  <a:pt x="238125" y="86866"/>
                  <a:pt x="242441" y="79524"/>
                  <a:pt x="248989" y="75257"/>
                </a:cubicBezTo>
                <a:cubicBezTo>
                  <a:pt x="251817" y="73422"/>
                  <a:pt x="254000" y="70545"/>
                  <a:pt x="254000" y="67171"/>
                </a:cubicBezTo>
                <a:lnTo>
                  <a:pt x="254000" y="63500"/>
                </a:lnTo>
                <a:cubicBezTo>
                  <a:pt x="254000" y="45988"/>
                  <a:pt x="239762" y="31750"/>
                  <a:pt x="222250" y="31750"/>
                </a:cubicBezTo>
                <a:lnTo>
                  <a:pt x="31750" y="31750"/>
                </a:lnTo>
                <a:close/>
                <a:moveTo>
                  <a:pt x="254000" y="206375"/>
                </a:moveTo>
                <a:lnTo>
                  <a:pt x="254000" y="174625"/>
                </a:lnTo>
                <a:lnTo>
                  <a:pt x="0" y="174625"/>
                </a:lnTo>
                <a:lnTo>
                  <a:pt x="0" y="206375"/>
                </a:lnTo>
                <a:cubicBezTo>
                  <a:pt x="0" y="215156"/>
                  <a:pt x="7094" y="222250"/>
                  <a:pt x="15875" y="222250"/>
                </a:cubicBezTo>
                <a:lnTo>
                  <a:pt x="47625" y="222250"/>
                </a:lnTo>
                <a:lnTo>
                  <a:pt x="47625" y="210344"/>
                </a:lnTo>
                <a:cubicBezTo>
                  <a:pt x="47625" y="203746"/>
                  <a:pt x="52933" y="198438"/>
                  <a:pt x="59531" y="198438"/>
                </a:cubicBezTo>
                <a:cubicBezTo>
                  <a:pt x="66129" y="198438"/>
                  <a:pt x="71438" y="203746"/>
                  <a:pt x="71438" y="210344"/>
                </a:cubicBezTo>
                <a:lnTo>
                  <a:pt x="71438" y="222250"/>
                </a:lnTo>
                <a:lnTo>
                  <a:pt x="115094" y="222250"/>
                </a:lnTo>
                <a:lnTo>
                  <a:pt x="115094" y="210344"/>
                </a:lnTo>
                <a:cubicBezTo>
                  <a:pt x="115094" y="203746"/>
                  <a:pt x="120402" y="198438"/>
                  <a:pt x="127000" y="198438"/>
                </a:cubicBezTo>
                <a:cubicBezTo>
                  <a:pt x="133598" y="198438"/>
                  <a:pt x="138906" y="203746"/>
                  <a:pt x="138906" y="210344"/>
                </a:cubicBezTo>
                <a:lnTo>
                  <a:pt x="138906" y="222250"/>
                </a:lnTo>
                <a:lnTo>
                  <a:pt x="182563" y="222250"/>
                </a:lnTo>
                <a:lnTo>
                  <a:pt x="182563" y="210344"/>
                </a:lnTo>
                <a:cubicBezTo>
                  <a:pt x="182563" y="203746"/>
                  <a:pt x="187871" y="198438"/>
                  <a:pt x="194469" y="198438"/>
                </a:cubicBezTo>
                <a:cubicBezTo>
                  <a:pt x="201067" y="198438"/>
                  <a:pt x="206375" y="203746"/>
                  <a:pt x="206375" y="210344"/>
                </a:cubicBezTo>
                <a:lnTo>
                  <a:pt x="206375" y="222250"/>
                </a:lnTo>
                <a:lnTo>
                  <a:pt x="238125" y="222250"/>
                </a:lnTo>
                <a:cubicBezTo>
                  <a:pt x="246906" y="222250"/>
                  <a:pt x="254000" y="215156"/>
                  <a:pt x="254000" y="206375"/>
                </a:cubicBezTo>
                <a:close/>
                <a:moveTo>
                  <a:pt x="79375" y="79375"/>
                </a:moveTo>
                <a:lnTo>
                  <a:pt x="79375" y="111125"/>
                </a:lnTo>
                <a:cubicBezTo>
                  <a:pt x="79375" y="119906"/>
                  <a:pt x="72281" y="127000"/>
                  <a:pt x="63500" y="127000"/>
                </a:cubicBezTo>
                <a:cubicBezTo>
                  <a:pt x="54719" y="127000"/>
                  <a:pt x="47625" y="119906"/>
                  <a:pt x="47625" y="111125"/>
                </a:cubicBezTo>
                <a:lnTo>
                  <a:pt x="47625" y="79375"/>
                </a:lnTo>
                <a:cubicBezTo>
                  <a:pt x="47625" y="70594"/>
                  <a:pt x="54719" y="63500"/>
                  <a:pt x="63500" y="63500"/>
                </a:cubicBezTo>
                <a:cubicBezTo>
                  <a:pt x="72281" y="63500"/>
                  <a:pt x="79375" y="70594"/>
                  <a:pt x="79375" y="79375"/>
                </a:cubicBezTo>
                <a:close/>
                <a:moveTo>
                  <a:pt x="142875" y="79375"/>
                </a:moveTo>
                <a:lnTo>
                  <a:pt x="142875" y="111125"/>
                </a:lnTo>
                <a:cubicBezTo>
                  <a:pt x="142875" y="119906"/>
                  <a:pt x="135781" y="127000"/>
                  <a:pt x="127000" y="127000"/>
                </a:cubicBezTo>
                <a:cubicBezTo>
                  <a:pt x="118219" y="127000"/>
                  <a:pt x="111125" y="119906"/>
                  <a:pt x="111125" y="111125"/>
                </a:cubicBezTo>
                <a:lnTo>
                  <a:pt x="111125" y="79375"/>
                </a:lnTo>
                <a:cubicBezTo>
                  <a:pt x="111125" y="70594"/>
                  <a:pt x="118219" y="63500"/>
                  <a:pt x="127000" y="63500"/>
                </a:cubicBezTo>
                <a:cubicBezTo>
                  <a:pt x="135781" y="63500"/>
                  <a:pt x="142875" y="70594"/>
                  <a:pt x="142875" y="79375"/>
                </a:cubicBezTo>
                <a:close/>
                <a:moveTo>
                  <a:pt x="206375" y="79375"/>
                </a:moveTo>
                <a:lnTo>
                  <a:pt x="206375" y="111125"/>
                </a:lnTo>
                <a:cubicBezTo>
                  <a:pt x="206375" y="119906"/>
                  <a:pt x="199281" y="127000"/>
                  <a:pt x="190500" y="127000"/>
                </a:cubicBezTo>
                <a:cubicBezTo>
                  <a:pt x="181719" y="127000"/>
                  <a:pt x="174625" y="119906"/>
                  <a:pt x="174625" y="111125"/>
                </a:cubicBezTo>
                <a:lnTo>
                  <a:pt x="174625" y="79375"/>
                </a:lnTo>
                <a:cubicBezTo>
                  <a:pt x="174625" y="70594"/>
                  <a:pt x="181719" y="63500"/>
                  <a:pt x="190500" y="63500"/>
                </a:cubicBezTo>
                <a:cubicBezTo>
                  <a:pt x="199281" y="63500"/>
                  <a:pt x="206375" y="70594"/>
                  <a:pt x="206375" y="79375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055100" y="18288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数据缓存策略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85200" y="2336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客户端缓存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85200" y="27432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块位置缓存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：缓存块位置信息，避免重复查询 NameNode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85200" y="3098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元数据缓存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：缓存文件元数据，减少 RPC 调用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85200" y="35560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操作系统缓存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85200" y="39624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页缓存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：依赖操作系统页缓存加速频繁访问的数据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85200" y="43180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零拷贝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：使用零拷贝技术减少内存复制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3400" y="5638800"/>
            <a:ext cx="50800" cy="2743200"/>
          </a:xfrm>
          <a:custGeom>
            <a:avLst/>
            <a:gdLst/>
            <a:ahLst/>
            <a:cxnLst/>
            <a:rect l="l" t="t" r="r" b="b"/>
            <a:pathLst>
              <a:path w="50800" h="2743200">
                <a:moveTo>
                  <a:pt x="0" y="0"/>
                </a:moveTo>
                <a:lnTo>
                  <a:pt x="50800" y="0"/>
                </a:lnTo>
                <a:lnTo>
                  <a:pt x="50800" y="2743200"/>
                </a:lnTo>
                <a:lnTo>
                  <a:pt x="0" y="27432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44550" y="5689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42875" y="47625"/>
                </a:moveTo>
                <a:cubicBezTo>
                  <a:pt x="142875" y="38863"/>
                  <a:pt x="135762" y="31750"/>
                  <a:pt x="127000" y="31750"/>
                </a:cubicBezTo>
                <a:cubicBezTo>
                  <a:pt x="118238" y="31750"/>
                  <a:pt x="111125" y="38863"/>
                  <a:pt x="111125" y="47625"/>
                </a:cubicBezTo>
                <a:cubicBezTo>
                  <a:pt x="111125" y="56387"/>
                  <a:pt x="118238" y="63500"/>
                  <a:pt x="127000" y="63500"/>
                </a:cubicBezTo>
                <a:cubicBezTo>
                  <a:pt x="135762" y="63500"/>
                  <a:pt x="142875" y="56387"/>
                  <a:pt x="142875" y="47625"/>
                </a:cubicBezTo>
                <a:close/>
                <a:moveTo>
                  <a:pt x="127000" y="206375"/>
                </a:moveTo>
                <a:cubicBezTo>
                  <a:pt x="144512" y="206375"/>
                  <a:pt x="158750" y="192137"/>
                  <a:pt x="158750" y="174625"/>
                </a:cubicBezTo>
                <a:cubicBezTo>
                  <a:pt x="158750" y="166588"/>
                  <a:pt x="155773" y="159196"/>
                  <a:pt x="150813" y="153640"/>
                </a:cubicBezTo>
                <a:lnTo>
                  <a:pt x="185291" y="84733"/>
                </a:lnTo>
                <a:cubicBezTo>
                  <a:pt x="188218" y="78829"/>
                  <a:pt x="185837" y="71686"/>
                  <a:pt x="179983" y="68759"/>
                </a:cubicBezTo>
                <a:cubicBezTo>
                  <a:pt x="174129" y="65832"/>
                  <a:pt x="166936" y="68213"/>
                  <a:pt x="164009" y="74067"/>
                </a:cubicBezTo>
                <a:lnTo>
                  <a:pt x="129530" y="142974"/>
                </a:lnTo>
                <a:cubicBezTo>
                  <a:pt x="128687" y="142925"/>
                  <a:pt x="127843" y="142875"/>
                  <a:pt x="127000" y="142875"/>
                </a:cubicBezTo>
                <a:cubicBezTo>
                  <a:pt x="109488" y="142875"/>
                  <a:pt x="95250" y="157113"/>
                  <a:pt x="95250" y="174625"/>
                </a:cubicBezTo>
                <a:cubicBezTo>
                  <a:pt x="95250" y="192137"/>
                  <a:pt x="109488" y="206375"/>
                  <a:pt x="127000" y="206375"/>
                </a:cubicBezTo>
                <a:close/>
                <a:moveTo>
                  <a:pt x="87313" y="71438"/>
                </a:moveTo>
                <a:cubicBezTo>
                  <a:pt x="87313" y="62676"/>
                  <a:pt x="80199" y="55563"/>
                  <a:pt x="71438" y="55563"/>
                </a:cubicBezTo>
                <a:cubicBezTo>
                  <a:pt x="62676" y="55563"/>
                  <a:pt x="55563" y="62676"/>
                  <a:pt x="55563" y="71438"/>
                </a:cubicBezTo>
                <a:cubicBezTo>
                  <a:pt x="55563" y="80199"/>
                  <a:pt x="62676" y="87313"/>
                  <a:pt x="71438" y="87313"/>
                </a:cubicBezTo>
                <a:cubicBezTo>
                  <a:pt x="80199" y="87313"/>
                  <a:pt x="87313" y="80199"/>
                  <a:pt x="87313" y="71438"/>
                </a:cubicBezTo>
                <a:close/>
                <a:moveTo>
                  <a:pt x="47625" y="142875"/>
                </a:moveTo>
                <a:cubicBezTo>
                  <a:pt x="56387" y="142875"/>
                  <a:pt x="63500" y="135762"/>
                  <a:pt x="63500" y="127000"/>
                </a:cubicBezTo>
                <a:cubicBezTo>
                  <a:pt x="63500" y="118238"/>
                  <a:pt x="56387" y="111125"/>
                  <a:pt x="47625" y="111125"/>
                </a:cubicBezTo>
                <a:cubicBezTo>
                  <a:pt x="38863" y="111125"/>
                  <a:pt x="31750" y="118238"/>
                  <a:pt x="31750" y="127000"/>
                </a:cubicBezTo>
                <a:cubicBezTo>
                  <a:pt x="31750" y="135762"/>
                  <a:pt x="38863" y="142875"/>
                  <a:pt x="47625" y="142875"/>
                </a:cubicBezTo>
                <a:close/>
                <a:moveTo>
                  <a:pt x="222250" y="127000"/>
                </a:moveTo>
                <a:cubicBezTo>
                  <a:pt x="222250" y="118238"/>
                  <a:pt x="215137" y="111125"/>
                  <a:pt x="206375" y="111125"/>
                </a:cubicBezTo>
                <a:cubicBezTo>
                  <a:pt x="197613" y="111125"/>
                  <a:pt x="190500" y="118238"/>
                  <a:pt x="190500" y="127000"/>
                </a:cubicBezTo>
                <a:cubicBezTo>
                  <a:pt x="190500" y="135762"/>
                  <a:pt x="197613" y="142875"/>
                  <a:pt x="206375" y="142875"/>
                </a:cubicBezTo>
                <a:cubicBezTo>
                  <a:pt x="215137" y="142875"/>
                  <a:pt x="222250" y="135762"/>
                  <a:pt x="222250" y="12700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282700" y="5638800"/>
            <a:ext cx="266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并行读取与吞吐量优化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2800" y="61976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 并行读取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2800" y="6604000"/>
            <a:ext cx="4914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MapReduce 等计算框架可以并行读取不同块，每个 Map 任务独立读取自己处理的数据块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2800" y="7366000"/>
            <a:ext cx="4813300" cy="1016000"/>
          </a:xfrm>
          <a:custGeom>
            <a:avLst/>
            <a:gdLst/>
            <a:ahLst/>
            <a:cxnLst/>
            <a:rect l="l" t="t" r="r" b="b"/>
            <a:pathLst>
              <a:path w="4813300" h="1016000">
                <a:moveTo>
                  <a:pt x="50800" y="0"/>
                </a:moveTo>
                <a:lnTo>
                  <a:pt x="4762500" y="0"/>
                </a:lnTo>
                <a:cubicBezTo>
                  <a:pt x="4790537" y="0"/>
                  <a:pt x="4813300" y="22763"/>
                  <a:pt x="4813300" y="50800"/>
                </a:cubicBezTo>
                <a:lnTo>
                  <a:pt x="4813300" y="965200"/>
                </a:lnTo>
                <a:cubicBezTo>
                  <a:pt x="4813300" y="993237"/>
                  <a:pt x="4790537" y="1016000"/>
                  <a:pt x="47625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736600" y="7518400"/>
            <a:ext cx="4965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10-100倍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79248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吞吐量提升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875834" y="61976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数据本地性优化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875834" y="6604000"/>
            <a:ext cx="4914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计算框架调度器优先将任务调度到包含数据的节点，实现数据本地计算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75834" y="7366000"/>
            <a:ext cx="4813300" cy="1016000"/>
          </a:xfrm>
          <a:custGeom>
            <a:avLst/>
            <a:gdLst/>
            <a:ahLst/>
            <a:cxnLst/>
            <a:rect l="l" t="t" r="r" b="b"/>
            <a:pathLst>
              <a:path w="4813300" h="1016000">
                <a:moveTo>
                  <a:pt x="50800" y="0"/>
                </a:moveTo>
                <a:lnTo>
                  <a:pt x="4762500" y="0"/>
                </a:lnTo>
                <a:cubicBezTo>
                  <a:pt x="4790537" y="0"/>
                  <a:pt x="4813300" y="22763"/>
                  <a:pt x="4813300" y="50800"/>
                </a:cubicBezTo>
                <a:lnTo>
                  <a:pt x="4813300" y="965200"/>
                </a:lnTo>
                <a:cubicBezTo>
                  <a:pt x="4813300" y="993237"/>
                  <a:pt x="4790537" y="1016000"/>
                  <a:pt x="47625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799634" y="7518400"/>
            <a:ext cx="4965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90%+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825034" y="79248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本地命中率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938867" y="61976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网络优化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938867" y="6604000"/>
            <a:ext cx="4914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通过机架感知、带宽优化、数据压缩等技术，最大化网络传输效率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938867" y="7366000"/>
            <a:ext cx="4813300" cy="1016000"/>
          </a:xfrm>
          <a:custGeom>
            <a:avLst/>
            <a:gdLst/>
            <a:ahLst/>
            <a:cxnLst/>
            <a:rect l="l" t="t" r="r" b="b"/>
            <a:pathLst>
              <a:path w="4813300" h="1016000">
                <a:moveTo>
                  <a:pt x="50800" y="0"/>
                </a:moveTo>
                <a:lnTo>
                  <a:pt x="4762500" y="0"/>
                </a:lnTo>
                <a:cubicBezTo>
                  <a:pt x="4790537" y="0"/>
                  <a:pt x="4813300" y="22763"/>
                  <a:pt x="4813300" y="50800"/>
                </a:cubicBezTo>
                <a:lnTo>
                  <a:pt x="4813300" y="965200"/>
                </a:lnTo>
                <a:cubicBezTo>
                  <a:pt x="4813300" y="993237"/>
                  <a:pt x="4790537" y="1016000"/>
                  <a:pt x="47625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0862667" y="7518400"/>
            <a:ext cx="49657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40-60%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888067" y="79248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带宽节省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4350" y="1797050"/>
            <a:ext cx="2070100" cy="571500"/>
          </a:xfrm>
          <a:custGeom>
            <a:avLst/>
            <a:gdLst/>
            <a:ahLst/>
            <a:cxnLst/>
            <a:rect l="l" t="t" r="r" b="b"/>
            <a:pathLst>
              <a:path w="2070100" h="571500">
                <a:moveTo>
                  <a:pt x="101601" y="0"/>
                </a:moveTo>
                <a:lnTo>
                  <a:pt x="1968499" y="0"/>
                </a:lnTo>
                <a:cubicBezTo>
                  <a:pt x="2024612" y="0"/>
                  <a:pt x="2070100" y="45488"/>
                  <a:pt x="2070100" y="101601"/>
                </a:cubicBezTo>
                <a:lnTo>
                  <a:pt x="2070100" y="469899"/>
                </a:lnTo>
                <a:cubicBezTo>
                  <a:pt x="2070100" y="526012"/>
                  <a:pt x="2024612" y="571500"/>
                  <a:pt x="1968499" y="571500"/>
                </a:cubicBezTo>
                <a:lnTo>
                  <a:pt x="101601" y="571500"/>
                </a:lnTo>
                <a:cubicBezTo>
                  <a:pt x="45488" y="571500"/>
                  <a:pt x="0" y="526012"/>
                  <a:pt x="0" y="4698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23900" y="1911350"/>
            <a:ext cx="1782862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10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05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679700"/>
            <a:ext cx="1562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HDFS 写入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流程详解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4889500"/>
            <a:ext cx="15392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管道写入、副本同步与一致性保证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探索分布式环境下数据写入的复杂机制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33400" y="64897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762000" y="6489700"/>
            <a:ext cx="353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管道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7048500"/>
            <a:ext cx="344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流水线写入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428034" y="64897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4656634" y="6489700"/>
            <a:ext cx="353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56634" y="7048500"/>
            <a:ext cx="344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单写者保证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322667" y="64897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8551267" y="6489700"/>
            <a:ext cx="353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ACK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51267" y="7048500"/>
            <a:ext cx="344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端到端确认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WRITE PROCESS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写入流程概览与核心挑战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24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828800"/>
            <a:ext cx="50800" cy="1574800"/>
          </a:xfrm>
          <a:custGeom>
            <a:avLst/>
            <a:gdLst/>
            <a:ahLst/>
            <a:cxnLst/>
            <a:rect l="l" t="t" r="r" b="b"/>
            <a:pathLst>
              <a:path w="50800" h="1574800">
                <a:moveTo>
                  <a:pt x="0" y="0"/>
                </a:moveTo>
                <a:lnTo>
                  <a:pt x="50800" y="0"/>
                </a:lnTo>
                <a:lnTo>
                  <a:pt x="50800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44550" y="1879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27000" y="67469"/>
                </a:moveTo>
                <a:cubicBezTo>
                  <a:pt x="133598" y="67469"/>
                  <a:pt x="138906" y="72777"/>
                  <a:pt x="138906" y="79375"/>
                </a:cubicBezTo>
                <a:lnTo>
                  <a:pt x="138906" y="134938"/>
                </a:lnTo>
                <a:cubicBezTo>
                  <a:pt x="138906" y="141536"/>
                  <a:pt x="133598" y="146844"/>
                  <a:pt x="127000" y="146844"/>
                </a:cubicBezTo>
                <a:cubicBezTo>
                  <a:pt x="120402" y="146844"/>
                  <a:pt x="115094" y="141536"/>
                  <a:pt x="115094" y="134938"/>
                </a:cubicBezTo>
                <a:lnTo>
                  <a:pt x="115094" y="79375"/>
                </a:lnTo>
                <a:cubicBezTo>
                  <a:pt x="115094" y="72777"/>
                  <a:pt x="120402" y="67469"/>
                  <a:pt x="127000" y="67469"/>
                </a:cubicBezTo>
                <a:close/>
                <a:moveTo>
                  <a:pt x="113754" y="174625"/>
                </a:moveTo>
                <a:cubicBezTo>
                  <a:pt x="113453" y="169708"/>
                  <a:pt x="115905" y="165031"/>
                  <a:pt x="120120" y="162481"/>
                </a:cubicBezTo>
                <a:cubicBezTo>
                  <a:pt x="124334" y="159932"/>
                  <a:pt x="129616" y="159932"/>
                  <a:pt x="133831" y="162481"/>
                </a:cubicBezTo>
                <a:cubicBezTo>
                  <a:pt x="138045" y="165031"/>
                  <a:pt x="140497" y="169708"/>
                  <a:pt x="140196" y="174625"/>
                </a:cubicBezTo>
                <a:cubicBezTo>
                  <a:pt x="140497" y="179542"/>
                  <a:pt x="138045" y="184219"/>
                  <a:pt x="133831" y="186769"/>
                </a:cubicBezTo>
                <a:cubicBezTo>
                  <a:pt x="129616" y="189318"/>
                  <a:pt x="124334" y="189318"/>
                  <a:pt x="120120" y="186769"/>
                </a:cubicBezTo>
                <a:cubicBezTo>
                  <a:pt x="115905" y="184219"/>
                  <a:pt x="113453" y="179542"/>
                  <a:pt x="113754" y="174625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82700" y="18288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写入操作的核心挑战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23876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数据一致性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27940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如何确保所有副本的数据是一致的？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97400" y="23876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故障处理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7400" y="27940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写入过程中某个节点故障怎么办？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82000" y="23876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性能平衡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2000" y="2794000"/>
            <a:ext cx="368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如何在数据可靠性和写入性能之间取得平衡？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166600" y="23876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网络效率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166600" y="27940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如何最小化网络传输开销？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3657600"/>
            <a:ext cx="50800" cy="2641600"/>
          </a:xfrm>
          <a:custGeom>
            <a:avLst/>
            <a:gdLst/>
            <a:ahLst/>
            <a:cxnLst/>
            <a:rect l="l" t="t" r="r" b="b"/>
            <a:pathLst>
              <a:path w="50800" h="2641600">
                <a:moveTo>
                  <a:pt x="0" y="0"/>
                </a:moveTo>
                <a:lnTo>
                  <a:pt x="50800" y="0"/>
                </a:lnTo>
                <a:lnTo>
                  <a:pt x="50800" y="2641600"/>
                </a:lnTo>
                <a:lnTo>
                  <a:pt x="0" y="26416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44550" y="3708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95250" y="31750"/>
                </a:moveTo>
                <a:cubicBezTo>
                  <a:pt x="95250" y="22969"/>
                  <a:pt x="102344" y="15875"/>
                  <a:pt x="111125" y="15875"/>
                </a:cubicBezTo>
                <a:lnTo>
                  <a:pt x="142875" y="15875"/>
                </a:lnTo>
                <a:cubicBezTo>
                  <a:pt x="151656" y="15875"/>
                  <a:pt x="158750" y="22969"/>
                  <a:pt x="158750" y="31750"/>
                </a:cubicBezTo>
                <a:lnTo>
                  <a:pt x="158750" y="63500"/>
                </a:lnTo>
                <a:cubicBezTo>
                  <a:pt x="158750" y="72281"/>
                  <a:pt x="151656" y="79375"/>
                  <a:pt x="142875" y="79375"/>
                </a:cubicBezTo>
                <a:lnTo>
                  <a:pt x="138906" y="79375"/>
                </a:lnTo>
                <a:lnTo>
                  <a:pt x="138906" y="111125"/>
                </a:lnTo>
                <a:lnTo>
                  <a:pt x="198438" y="111125"/>
                </a:lnTo>
                <a:cubicBezTo>
                  <a:pt x="218182" y="111125"/>
                  <a:pt x="234156" y="127099"/>
                  <a:pt x="234156" y="146844"/>
                </a:cubicBezTo>
                <a:lnTo>
                  <a:pt x="234156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lnTo>
                  <a:pt x="254000" y="222250"/>
                </a:lnTo>
                <a:cubicBezTo>
                  <a:pt x="254000" y="231031"/>
                  <a:pt x="246906" y="238125"/>
                  <a:pt x="238125" y="238125"/>
                </a:cubicBezTo>
                <a:lnTo>
                  <a:pt x="206375" y="238125"/>
                </a:lnTo>
                <a:cubicBezTo>
                  <a:pt x="197594" y="238125"/>
                  <a:pt x="190500" y="231031"/>
                  <a:pt x="190500" y="222250"/>
                </a:cubicBezTo>
                <a:lnTo>
                  <a:pt x="190500" y="190500"/>
                </a:lnTo>
                <a:cubicBezTo>
                  <a:pt x="190500" y="181719"/>
                  <a:pt x="197594" y="174625"/>
                  <a:pt x="206375" y="174625"/>
                </a:cubicBezTo>
                <a:lnTo>
                  <a:pt x="210344" y="174625"/>
                </a:lnTo>
                <a:lnTo>
                  <a:pt x="210344" y="146844"/>
                </a:lnTo>
                <a:cubicBezTo>
                  <a:pt x="210344" y="140246"/>
                  <a:pt x="205036" y="134938"/>
                  <a:pt x="198438" y="134938"/>
                </a:cubicBezTo>
                <a:lnTo>
                  <a:pt x="138906" y="134938"/>
                </a:lnTo>
                <a:lnTo>
                  <a:pt x="138906" y="174625"/>
                </a:lnTo>
                <a:lnTo>
                  <a:pt x="142875" y="174625"/>
                </a:lnTo>
                <a:cubicBezTo>
                  <a:pt x="151656" y="174625"/>
                  <a:pt x="158750" y="181719"/>
                  <a:pt x="158750" y="190500"/>
                </a:cubicBezTo>
                <a:lnTo>
                  <a:pt x="158750" y="222250"/>
                </a:lnTo>
                <a:cubicBezTo>
                  <a:pt x="158750" y="231031"/>
                  <a:pt x="151656" y="238125"/>
                  <a:pt x="142875" y="238125"/>
                </a:cubicBezTo>
                <a:lnTo>
                  <a:pt x="111125" y="238125"/>
                </a:lnTo>
                <a:cubicBezTo>
                  <a:pt x="102344" y="238125"/>
                  <a:pt x="95250" y="231031"/>
                  <a:pt x="95250" y="222250"/>
                </a:cubicBezTo>
                <a:lnTo>
                  <a:pt x="95250" y="190500"/>
                </a:lnTo>
                <a:cubicBezTo>
                  <a:pt x="95250" y="181719"/>
                  <a:pt x="102344" y="174625"/>
                  <a:pt x="111125" y="174625"/>
                </a:cubicBezTo>
                <a:lnTo>
                  <a:pt x="115094" y="174625"/>
                </a:lnTo>
                <a:lnTo>
                  <a:pt x="115094" y="134938"/>
                </a:lnTo>
                <a:lnTo>
                  <a:pt x="55563" y="134938"/>
                </a:lnTo>
                <a:cubicBezTo>
                  <a:pt x="48964" y="134938"/>
                  <a:pt x="43656" y="140246"/>
                  <a:pt x="43656" y="146844"/>
                </a:cubicBezTo>
                <a:lnTo>
                  <a:pt x="43656" y="174625"/>
                </a:lnTo>
                <a:lnTo>
                  <a:pt x="47625" y="174625"/>
                </a:lnTo>
                <a:cubicBezTo>
                  <a:pt x="56406" y="174625"/>
                  <a:pt x="63500" y="181719"/>
                  <a:pt x="63500" y="190500"/>
                </a:cubicBezTo>
                <a:lnTo>
                  <a:pt x="63500" y="222250"/>
                </a:lnTo>
                <a:cubicBezTo>
                  <a:pt x="63500" y="231031"/>
                  <a:pt x="56406" y="238125"/>
                  <a:pt x="47625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190500"/>
                </a:lnTo>
                <a:cubicBezTo>
                  <a:pt x="0" y="181719"/>
                  <a:pt x="7094" y="174625"/>
                  <a:pt x="15875" y="174625"/>
                </a:cubicBezTo>
                <a:lnTo>
                  <a:pt x="19844" y="174625"/>
                </a:lnTo>
                <a:lnTo>
                  <a:pt x="19844" y="146844"/>
                </a:lnTo>
                <a:cubicBezTo>
                  <a:pt x="19844" y="127099"/>
                  <a:pt x="35818" y="111125"/>
                  <a:pt x="55563" y="111125"/>
                </a:cubicBezTo>
                <a:lnTo>
                  <a:pt x="115094" y="111125"/>
                </a:lnTo>
                <a:lnTo>
                  <a:pt x="115094" y="79375"/>
                </a:lnTo>
                <a:lnTo>
                  <a:pt x="111125" y="79375"/>
                </a:lnTo>
                <a:cubicBezTo>
                  <a:pt x="102344" y="79375"/>
                  <a:pt x="95250" y="72281"/>
                  <a:pt x="95250" y="63500"/>
                </a:cubicBezTo>
                <a:lnTo>
                  <a:pt x="95250" y="3175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282700" y="3657600"/>
            <a:ext cx="264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写入流程时序图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638300" y="4216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581150" y="4216400"/>
            <a:ext cx="8255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5029200"/>
            <a:ext cx="246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文件创建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5384800"/>
            <a:ext cx="2463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 → NameNode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create()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152900" y="4216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095750" y="4216400"/>
            <a:ext cx="8255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76600" y="5029200"/>
            <a:ext cx="246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块分配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276600" y="5384800"/>
            <a:ext cx="2463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 → NameNode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addBlock()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667500" y="4216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6610350" y="4216400"/>
            <a:ext cx="8255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91200" y="5029200"/>
            <a:ext cx="246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管道建立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91200" y="5384800"/>
            <a:ext cx="2463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 → DN1 → DN2 → DN3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182100" y="4216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124950" y="4216400"/>
            <a:ext cx="8255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305800" y="5029200"/>
            <a:ext cx="246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数据传输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05800" y="5384800"/>
            <a:ext cx="2463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流水线式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数据包传输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696700" y="4216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1639550" y="4216400"/>
            <a:ext cx="8255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820400" y="5029200"/>
            <a:ext cx="246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确认机制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820400" y="5384800"/>
            <a:ext cx="2463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端到端 ACK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DN3 → DN2 → DN1 → Client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4211300" y="4216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600" y="0"/>
                </a:moveTo>
                <a:lnTo>
                  <a:pt x="355600" y="0"/>
                </a:lnTo>
                <a:cubicBezTo>
                  <a:pt x="551861" y="0"/>
                  <a:pt x="711200" y="159339"/>
                  <a:pt x="711200" y="355600"/>
                </a:cubicBezTo>
                <a:lnTo>
                  <a:pt x="711200" y="355600"/>
                </a:lnTo>
                <a:cubicBezTo>
                  <a:pt x="711200" y="551861"/>
                  <a:pt x="551861" y="711200"/>
                  <a:pt x="355600" y="711200"/>
                </a:cubicBezTo>
                <a:lnTo>
                  <a:pt x="355600" y="711200"/>
                </a:lnTo>
                <a:cubicBezTo>
                  <a:pt x="159339" y="711200"/>
                  <a:pt x="0" y="551861"/>
                  <a:pt x="0" y="355600"/>
                </a:cubicBezTo>
                <a:lnTo>
                  <a:pt x="0" y="355600"/>
                </a:lnTo>
                <a:cubicBezTo>
                  <a:pt x="0" y="159339"/>
                  <a:pt x="159339" y="0"/>
                  <a:pt x="355600" y="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4154150" y="4216400"/>
            <a:ext cx="8255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3335000" y="5029200"/>
            <a:ext cx="246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完成写入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3335000" y="5384800"/>
            <a:ext cx="2463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 → NameNode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complete()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33400" y="6553200"/>
            <a:ext cx="50800" cy="1524000"/>
          </a:xfrm>
          <a:custGeom>
            <a:avLst/>
            <a:gdLst/>
            <a:ahLst/>
            <a:cxnLst/>
            <a:rect l="l" t="t" r="r" b="b"/>
            <a:pathLst>
              <a:path w="50800" h="1524000">
                <a:moveTo>
                  <a:pt x="0" y="0"/>
                </a:moveTo>
                <a:lnTo>
                  <a:pt x="50800" y="0"/>
                </a:lnTo>
                <a:lnTo>
                  <a:pt x="508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793750" y="6604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66688" y="174625"/>
                </a:moveTo>
                <a:cubicBezTo>
                  <a:pt x="214908" y="174625"/>
                  <a:pt x="254000" y="135533"/>
                  <a:pt x="254000" y="87313"/>
                </a:cubicBezTo>
                <a:cubicBezTo>
                  <a:pt x="254000" y="39092"/>
                  <a:pt x="214908" y="0"/>
                  <a:pt x="166688" y="0"/>
                </a:cubicBezTo>
                <a:cubicBezTo>
                  <a:pt x="118467" y="0"/>
                  <a:pt x="79375" y="39092"/>
                  <a:pt x="79375" y="87313"/>
                </a:cubicBezTo>
                <a:cubicBezTo>
                  <a:pt x="79375" y="96589"/>
                  <a:pt x="80814" y="105569"/>
                  <a:pt x="83493" y="113953"/>
                </a:cubicBezTo>
                <a:lnTo>
                  <a:pt x="3473" y="193973"/>
                </a:lnTo>
                <a:cubicBezTo>
                  <a:pt x="1240" y="196205"/>
                  <a:pt x="0" y="199231"/>
                  <a:pt x="0" y="202406"/>
                </a:cubicBezTo>
                <a:lnTo>
                  <a:pt x="0" y="242094"/>
                </a:lnTo>
                <a:cubicBezTo>
                  <a:pt x="0" y="248692"/>
                  <a:pt x="5308" y="254000"/>
                  <a:pt x="11906" y="254000"/>
                </a:cubicBezTo>
                <a:lnTo>
                  <a:pt x="51594" y="254000"/>
                </a:lnTo>
                <a:cubicBezTo>
                  <a:pt x="58192" y="254000"/>
                  <a:pt x="63500" y="248692"/>
                  <a:pt x="63500" y="242094"/>
                </a:cubicBezTo>
                <a:lnTo>
                  <a:pt x="63500" y="222250"/>
                </a:lnTo>
                <a:lnTo>
                  <a:pt x="83344" y="222250"/>
                </a:lnTo>
                <a:cubicBezTo>
                  <a:pt x="89942" y="222250"/>
                  <a:pt x="95250" y="216942"/>
                  <a:pt x="95250" y="210344"/>
                </a:cubicBezTo>
                <a:lnTo>
                  <a:pt x="95250" y="190500"/>
                </a:lnTo>
                <a:lnTo>
                  <a:pt x="115094" y="190500"/>
                </a:lnTo>
                <a:cubicBezTo>
                  <a:pt x="118269" y="190500"/>
                  <a:pt x="121295" y="189260"/>
                  <a:pt x="123527" y="187027"/>
                </a:cubicBezTo>
                <a:lnTo>
                  <a:pt x="140047" y="170507"/>
                </a:lnTo>
                <a:cubicBezTo>
                  <a:pt x="148431" y="173186"/>
                  <a:pt x="157411" y="174625"/>
                  <a:pt x="166688" y="174625"/>
                </a:cubicBezTo>
                <a:close/>
                <a:moveTo>
                  <a:pt x="186531" y="47625"/>
                </a:moveTo>
                <a:cubicBezTo>
                  <a:pt x="197483" y="47625"/>
                  <a:pt x="206375" y="56517"/>
                  <a:pt x="206375" y="67469"/>
                </a:cubicBezTo>
                <a:cubicBezTo>
                  <a:pt x="206375" y="78421"/>
                  <a:pt x="197483" y="87313"/>
                  <a:pt x="186531" y="87313"/>
                </a:cubicBezTo>
                <a:cubicBezTo>
                  <a:pt x="175579" y="87313"/>
                  <a:pt x="166688" y="78421"/>
                  <a:pt x="166688" y="67469"/>
                </a:cubicBezTo>
                <a:cubicBezTo>
                  <a:pt x="166688" y="56517"/>
                  <a:pt x="175579" y="47625"/>
                  <a:pt x="186531" y="47625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181100" y="65532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租约机制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62000" y="70612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防止多个客户端同时写入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62000" y="74168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软限制 60 秒，硬限制 1 小时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62000" y="77724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客户端定期续约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698034" y="6553200"/>
            <a:ext cx="50800" cy="1524000"/>
          </a:xfrm>
          <a:custGeom>
            <a:avLst/>
            <a:gdLst/>
            <a:ahLst/>
            <a:cxnLst/>
            <a:rect l="l" t="t" r="r" b="b"/>
            <a:pathLst>
              <a:path w="50800" h="1524000">
                <a:moveTo>
                  <a:pt x="0" y="0"/>
                </a:moveTo>
                <a:lnTo>
                  <a:pt x="50800" y="0"/>
                </a:lnTo>
                <a:lnTo>
                  <a:pt x="508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5958384" y="6604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95250" y="31750"/>
                </a:moveTo>
                <a:cubicBezTo>
                  <a:pt x="95250" y="22969"/>
                  <a:pt x="102344" y="15875"/>
                  <a:pt x="111125" y="15875"/>
                </a:cubicBezTo>
                <a:lnTo>
                  <a:pt x="142875" y="15875"/>
                </a:lnTo>
                <a:cubicBezTo>
                  <a:pt x="151656" y="15875"/>
                  <a:pt x="158750" y="22969"/>
                  <a:pt x="158750" y="31750"/>
                </a:cubicBezTo>
                <a:lnTo>
                  <a:pt x="158750" y="63500"/>
                </a:lnTo>
                <a:cubicBezTo>
                  <a:pt x="158750" y="72281"/>
                  <a:pt x="151656" y="79375"/>
                  <a:pt x="142875" y="79375"/>
                </a:cubicBezTo>
                <a:lnTo>
                  <a:pt x="138906" y="79375"/>
                </a:lnTo>
                <a:lnTo>
                  <a:pt x="138906" y="111125"/>
                </a:lnTo>
                <a:lnTo>
                  <a:pt x="198438" y="111125"/>
                </a:lnTo>
                <a:cubicBezTo>
                  <a:pt x="218182" y="111125"/>
                  <a:pt x="234156" y="127099"/>
                  <a:pt x="234156" y="146844"/>
                </a:cubicBezTo>
                <a:lnTo>
                  <a:pt x="234156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lnTo>
                  <a:pt x="254000" y="222250"/>
                </a:lnTo>
                <a:cubicBezTo>
                  <a:pt x="254000" y="231031"/>
                  <a:pt x="246906" y="238125"/>
                  <a:pt x="238125" y="238125"/>
                </a:cubicBezTo>
                <a:lnTo>
                  <a:pt x="206375" y="238125"/>
                </a:lnTo>
                <a:cubicBezTo>
                  <a:pt x="197594" y="238125"/>
                  <a:pt x="190500" y="231031"/>
                  <a:pt x="190500" y="222250"/>
                </a:cubicBezTo>
                <a:lnTo>
                  <a:pt x="190500" y="190500"/>
                </a:lnTo>
                <a:cubicBezTo>
                  <a:pt x="190500" y="181719"/>
                  <a:pt x="197594" y="174625"/>
                  <a:pt x="206375" y="174625"/>
                </a:cubicBezTo>
                <a:lnTo>
                  <a:pt x="210344" y="174625"/>
                </a:lnTo>
                <a:lnTo>
                  <a:pt x="210344" y="146844"/>
                </a:lnTo>
                <a:cubicBezTo>
                  <a:pt x="210344" y="140246"/>
                  <a:pt x="205036" y="134938"/>
                  <a:pt x="198438" y="134938"/>
                </a:cubicBezTo>
                <a:lnTo>
                  <a:pt x="138906" y="134938"/>
                </a:lnTo>
                <a:lnTo>
                  <a:pt x="138906" y="174625"/>
                </a:lnTo>
                <a:lnTo>
                  <a:pt x="142875" y="174625"/>
                </a:lnTo>
                <a:cubicBezTo>
                  <a:pt x="151656" y="174625"/>
                  <a:pt x="158750" y="181719"/>
                  <a:pt x="158750" y="190500"/>
                </a:cubicBezTo>
                <a:lnTo>
                  <a:pt x="158750" y="222250"/>
                </a:lnTo>
                <a:cubicBezTo>
                  <a:pt x="158750" y="231031"/>
                  <a:pt x="151656" y="238125"/>
                  <a:pt x="142875" y="238125"/>
                </a:cubicBezTo>
                <a:lnTo>
                  <a:pt x="111125" y="238125"/>
                </a:lnTo>
                <a:cubicBezTo>
                  <a:pt x="102344" y="238125"/>
                  <a:pt x="95250" y="231031"/>
                  <a:pt x="95250" y="222250"/>
                </a:cubicBezTo>
                <a:lnTo>
                  <a:pt x="95250" y="190500"/>
                </a:lnTo>
                <a:cubicBezTo>
                  <a:pt x="95250" y="181719"/>
                  <a:pt x="102344" y="174625"/>
                  <a:pt x="111125" y="174625"/>
                </a:cubicBezTo>
                <a:lnTo>
                  <a:pt x="115094" y="174625"/>
                </a:lnTo>
                <a:lnTo>
                  <a:pt x="115094" y="134938"/>
                </a:lnTo>
                <a:lnTo>
                  <a:pt x="55563" y="134938"/>
                </a:lnTo>
                <a:cubicBezTo>
                  <a:pt x="48964" y="134938"/>
                  <a:pt x="43656" y="140246"/>
                  <a:pt x="43656" y="146844"/>
                </a:cubicBezTo>
                <a:lnTo>
                  <a:pt x="43656" y="174625"/>
                </a:lnTo>
                <a:lnTo>
                  <a:pt x="47625" y="174625"/>
                </a:lnTo>
                <a:cubicBezTo>
                  <a:pt x="56406" y="174625"/>
                  <a:pt x="63500" y="181719"/>
                  <a:pt x="63500" y="190500"/>
                </a:cubicBezTo>
                <a:lnTo>
                  <a:pt x="63500" y="222250"/>
                </a:lnTo>
                <a:cubicBezTo>
                  <a:pt x="63500" y="231031"/>
                  <a:pt x="56406" y="238125"/>
                  <a:pt x="47625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190500"/>
                </a:lnTo>
                <a:cubicBezTo>
                  <a:pt x="0" y="181719"/>
                  <a:pt x="7094" y="174625"/>
                  <a:pt x="15875" y="174625"/>
                </a:cubicBezTo>
                <a:lnTo>
                  <a:pt x="19844" y="174625"/>
                </a:lnTo>
                <a:lnTo>
                  <a:pt x="19844" y="146844"/>
                </a:lnTo>
                <a:cubicBezTo>
                  <a:pt x="19844" y="127099"/>
                  <a:pt x="35818" y="111125"/>
                  <a:pt x="55563" y="111125"/>
                </a:cubicBezTo>
                <a:lnTo>
                  <a:pt x="115094" y="111125"/>
                </a:lnTo>
                <a:lnTo>
                  <a:pt x="115094" y="79375"/>
                </a:lnTo>
                <a:lnTo>
                  <a:pt x="111125" y="79375"/>
                </a:lnTo>
                <a:cubicBezTo>
                  <a:pt x="102344" y="79375"/>
                  <a:pt x="95250" y="72281"/>
                  <a:pt x="95250" y="63500"/>
                </a:cubicBezTo>
                <a:lnTo>
                  <a:pt x="95250" y="3175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6345734" y="65532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管道写入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926634" y="70612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数据像流水一样在节点间传递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926634" y="74168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逐跳传输，降低网络开销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926634" y="77724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支持并行写入多个块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0862667" y="6553200"/>
            <a:ext cx="50800" cy="1524000"/>
          </a:xfrm>
          <a:custGeom>
            <a:avLst/>
            <a:gdLst/>
            <a:ahLst/>
            <a:cxnLst/>
            <a:rect l="l" t="t" r="r" b="b"/>
            <a:pathLst>
              <a:path w="50800" h="1524000">
                <a:moveTo>
                  <a:pt x="0" y="0"/>
                </a:moveTo>
                <a:lnTo>
                  <a:pt x="50800" y="0"/>
                </a:lnTo>
                <a:lnTo>
                  <a:pt x="508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11154767" y="66040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23974" y="33139"/>
                </a:moveTo>
                <a:cubicBezTo>
                  <a:pt x="129133" y="26045"/>
                  <a:pt x="127546" y="16123"/>
                  <a:pt x="120452" y="10964"/>
                </a:cubicBezTo>
                <a:cubicBezTo>
                  <a:pt x="113357" y="5804"/>
                  <a:pt x="103436" y="7392"/>
                  <a:pt x="98276" y="14486"/>
                </a:cubicBezTo>
                <a:lnTo>
                  <a:pt x="45690" y="86767"/>
                </a:lnTo>
                <a:lnTo>
                  <a:pt x="27087" y="68163"/>
                </a:lnTo>
                <a:cubicBezTo>
                  <a:pt x="20886" y="61962"/>
                  <a:pt x="10815" y="61962"/>
                  <a:pt x="4614" y="68163"/>
                </a:cubicBezTo>
                <a:cubicBezTo>
                  <a:pt x="-1587" y="74364"/>
                  <a:pt x="-1587" y="84435"/>
                  <a:pt x="4614" y="90636"/>
                </a:cubicBezTo>
                <a:lnTo>
                  <a:pt x="36364" y="122386"/>
                </a:lnTo>
                <a:cubicBezTo>
                  <a:pt x="39638" y="125661"/>
                  <a:pt x="44202" y="127347"/>
                  <a:pt x="48816" y="127000"/>
                </a:cubicBezTo>
                <a:cubicBezTo>
                  <a:pt x="53429" y="126653"/>
                  <a:pt x="57696" y="124271"/>
                  <a:pt x="60424" y="120501"/>
                </a:cubicBezTo>
                <a:lnTo>
                  <a:pt x="123924" y="33189"/>
                </a:lnTo>
                <a:close/>
                <a:moveTo>
                  <a:pt x="187474" y="100608"/>
                </a:moveTo>
                <a:cubicBezTo>
                  <a:pt x="192633" y="93514"/>
                  <a:pt x="191046" y="83592"/>
                  <a:pt x="183952" y="78432"/>
                </a:cubicBezTo>
                <a:cubicBezTo>
                  <a:pt x="176857" y="73273"/>
                  <a:pt x="166936" y="74861"/>
                  <a:pt x="161776" y="81955"/>
                </a:cubicBezTo>
                <a:lnTo>
                  <a:pt x="77440" y="197892"/>
                </a:lnTo>
                <a:lnTo>
                  <a:pt x="42962" y="163413"/>
                </a:lnTo>
                <a:cubicBezTo>
                  <a:pt x="36761" y="157212"/>
                  <a:pt x="26690" y="157212"/>
                  <a:pt x="20489" y="163413"/>
                </a:cubicBezTo>
                <a:cubicBezTo>
                  <a:pt x="14287" y="169614"/>
                  <a:pt x="14287" y="179685"/>
                  <a:pt x="20489" y="185886"/>
                </a:cubicBezTo>
                <a:lnTo>
                  <a:pt x="68114" y="233511"/>
                </a:lnTo>
                <a:cubicBezTo>
                  <a:pt x="71388" y="236786"/>
                  <a:pt x="75952" y="238472"/>
                  <a:pt x="80566" y="238125"/>
                </a:cubicBezTo>
                <a:cubicBezTo>
                  <a:pt x="85179" y="237778"/>
                  <a:pt x="89446" y="235396"/>
                  <a:pt x="92174" y="231626"/>
                </a:cubicBezTo>
                <a:lnTo>
                  <a:pt x="187424" y="100657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1510367" y="6553200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端到端确认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091267" y="70612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确保数据成功写入所有副本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091267" y="74168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ACK 从管道末端逐级返回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091267" y="77724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保证数据一致性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LEASE MECHANISM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文件创建与租约机制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24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828800"/>
            <a:ext cx="50800" cy="4724400"/>
          </a:xfrm>
          <a:custGeom>
            <a:avLst/>
            <a:gdLst/>
            <a:ahLst/>
            <a:cxnLst/>
            <a:rect l="l" t="t" r="r" b="b"/>
            <a:pathLst>
              <a:path w="50800" h="4724400">
                <a:moveTo>
                  <a:pt x="0" y="0"/>
                </a:moveTo>
                <a:lnTo>
                  <a:pt x="50800" y="0"/>
                </a:lnTo>
                <a:lnTo>
                  <a:pt x="50800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44550" y="1879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2693" y="113357"/>
                </a:moveTo>
                <a:cubicBezTo>
                  <a:pt x="39291" y="67221"/>
                  <a:pt x="79028" y="31750"/>
                  <a:pt x="127000" y="31750"/>
                </a:cubicBezTo>
                <a:cubicBezTo>
                  <a:pt x="153293" y="31750"/>
                  <a:pt x="177105" y="42416"/>
                  <a:pt x="194370" y="59630"/>
                </a:cubicBezTo>
                <a:cubicBezTo>
                  <a:pt x="194469" y="59730"/>
                  <a:pt x="194568" y="59829"/>
                  <a:pt x="194667" y="59928"/>
                </a:cubicBezTo>
                <a:lnTo>
                  <a:pt x="198438" y="63500"/>
                </a:lnTo>
                <a:lnTo>
                  <a:pt x="174675" y="63500"/>
                </a:lnTo>
                <a:cubicBezTo>
                  <a:pt x="165894" y="63500"/>
                  <a:pt x="158800" y="70594"/>
                  <a:pt x="158800" y="79375"/>
                </a:cubicBezTo>
                <a:cubicBezTo>
                  <a:pt x="158800" y="88156"/>
                  <a:pt x="165894" y="95250"/>
                  <a:pt x="174675" y="95250"/>
                </a:cubicBezTo>
                <a:lnTo>
                  <a:pt x="238175" y="95250"/>
                </a:lnTo>
                <a:cubicBezTo>
                  <a:pt x="246955" y="95250"/>
                  <a:pt x="254050" y="88156"/>
                  <a:pt x="254050" y="79375"/>
                </a:cubicBezTo>
                <a:lnTo>
                  <a:pt x="254050" y="15875"/>
                </a:lnTo>
                <a:cubicBezTo>
                  <a:pt x="254050" y="7094"/>
                  <a:pt x="246955" y="0"/>
                  <a:pt x="238175" y="0"/>
                </a:cubicBezTo>
                <a:cubicBezTo>
                  <a:pt x="229394" y="0"/>
                  <a:pt x="222300" y="7094"/>
                  <a:pt x="222300" y="15875"/>
                </a:cubicBezTo>
                <a:lnTo>
                  <a:pt x="222300" y="42366"/>
                </a:lnTo>
                <a:lnTo>
                  <a:pt x="216694" y="37058"/>
                </a:lnTo>
                <a:cubicBezTo>
                  <a:pt x="193725" y="14188"/>
                  <a:pt x="161975" y="0"/>
                  <a:pt x="127000" y="0"/>
                </a:cubicBezTo>
                <a:cubicBezTo>
                  <a:pt x="63004" y="0"/>
                  <a:pt x="10071" y="47327"/>
                  <a:pt x="1290" y="108893"/>
                </a:cubicBezTo>
                <a:cubicBezTo>
                  <a:pt x="50" y="117574"/>
                  <a:pt x="6052" y="125611"/>
                  <a:pt x="14734" y="126851"/>
                </a:cubicBezTo>
                <a:cubicBezTo>
                  <a:pt x="23416" y="128091"/>
                  <a:pt x="31452" y="122039"/>
                  <a:pt x="32693" y="113407"/>
                </a:cubicBezTo>
                <a:close/>
                <a:moveTo>
                  <a:pt x="252710" y="145107"/>
                </a:moveTo>
                <a:cubicBezTo>
                  <a:pt x="253950" y="136426"/>
                  <a:pt x="247898" y="128389"/>
                  <a:pt x="239266" y="127149"/>
                </a:cubicBezTo>
                <a:cubicBezTo>
                  <a:pt x="230634" y="125909"/>
                  <a:pt x="222548" y="131961"/>
                  <a:pt x="221307" y="140593"/>
                </a:cubicBezTo>
                <a:cubicBezTo>
                  <a:pt x="214709" y="186730"/>
                  <a:pt x="174972" y="222200"/>
                  <a:pt x="127000" y="222200"/>
                </a:cubicBezTo>
                <a:cubicBezTo>
                  <a:pt x="100707" y="222200"/>
                  <a:pt x="76895" y="211534"/>
                  <a:pt x="59630" y="194320"/>
                </a:cubicBezTo>
                <a:cubicBezTo>
                  <a:pt x="59531" y="194221"/>
                  <a:pt x="59432" y="194121"/>
                  <a:pt x="59333" y="194022"/>
                </a:cubicBezTo>
                <a:lnTo>
                  <a:pt x="55562" y="190450"/>
                </a:lnTo>
                <a:lnTo>
                  <a:pt x="79325" y="190450"/>
                </a:lnTo>
                <a:cubicBezTo>
                  <a:pt x="88106" y="190450"/>
                  <a:pt x="95200" y="183356"/>
                  <a:pt x="95200" y="174575"/>
                </a:cubicBezTo>
                <a:cubicBezTo>
                  <a:pt x="95200" y="165795"/>
                  <a:pt x="88106" y="158700"/>
                  <a:pt x="79325" y="158700"/>
                </a:cubicBezTo>
                <a:lnTo>
                  <a:pt x="15875" y="158750"/>
                </a:lnTo>
                <a:cubicBezTo>
                  <a:pt x="11658" y="158750"/>
                  <a:pt x="7590" y="160437"/>
                  <a:pt x="4614" y="163463"/>
                </a:cubicBezTo>
                <a:cubicBezTo>
                  <a:pt x="1637" y="166489"/>
                  <a:pt x="-50" y="170507"/>
                  <a:pt x="0" y="174774"/>
                </a:cubicBezTo>
                <a:lnTo>
                  <a:pt x="496" y="237778"/>
                </a:lnTo>
                <a:cubicBezTo>
                  <a:pt x="546" y="246559"/>
                  <a:pt x="7739" y="253603"/>
                  <a:pt x="16520" y="253504"/>
                </a:cubicBezTo>
                <a:cubicBezTo>
                  <a:pt x="25301" y="253405"/>
                  <a:pt x="32345" y="246261"/>
                  <a:pt x="32246" y="237480"/>
                </a:cubicBezTo>
                <a:lnTo>
                  <a:pt x="32048" y="211931"/>
                </a:lnTo>
                <a:lnTo>
                  <a:pt x="37356" y="216942"/>
                </a:lnTo>
                <a:cubicBezTo>
                  <a:pt x="60325" y="239812"/>
                  <a:pt x="92025" y="254000"/>
                  <a:pt x="127000" y="254000"/>
                </a:cubicBezTo>
                <a:cubicBezTo>
                  <a:pt x="190996" y="254000"/>
                  <a:pt x="243929" y="206673"/>
                  <a:pt x="252710" y="145107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82700" y="18288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文件创建阶段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2336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客户端发起请求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27432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客户端通过 FileSystem.create() 方法发起文件创建请求，指定文件路径和权限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2004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 处理流程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606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权限验证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：检查客户端在父目录的写入权限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39624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命名空间检查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：确认文件不存在（或允许覆盖）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43180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配额检查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：验证用户/目录配额是否超限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46736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元数据创建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：在内存中创建文件 inode 对象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" y="5130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文件元数据结构 (INodeFile)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55372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文件唯一标识、文件名、权限信息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" y="5892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修改时间、访问时间、块信息数组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800" y="62484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是否正在写入标志 (underConstruction)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05800" y="1828800"/>
            <a:ext cx="50800" cy="4724400"/>
          </a:xfrm>
          <a:custGeom>
            <a:avLst/>
            <a:gdLst/>
            <a:ahLst/>
            <a:cxnLst/>
            <a:rect l="l" t="t" r="r" b="b"/>
            <a:pathLst>
              <a:path w="50800" h="4724400">
                <a:moveTo>
                  <a:pt x="0" y="0"/>
                </a:moveTo>
                <a:lnTo>
                  <a:pt x="50800" y="0"/>
                </a:lnTo>
                <a:lnTo>
                  <a:pt x="50800" y="4724400"/>
                </a:ln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616950" y="1879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66688" y="174625"/>
                </a:moveTo>
                <a:cubicBezTo>
                  <a:pt x="214908" y="174625"/>
                  <a:pt x="254000" y="135533"/>
                  <a:pt x="254000" y="87313"/>
                </a:cubicBezTo>
                <a:cubicBezTo>
                  <a:pt x="254000" y="39092"/>
                  <a:pt x="214908" y="0"/>
                  <a:pt x="166688" y="0"/>
                </a:cubicBezTo>
                <a:cubicBezTo>
                  <a:pt x="118467" y="0"/>
                  <a:pt x="79375" y="39092"/>
                  <a:pt x="79375" y="87313"/>
                </a:cubicBezTo>
                <a:cubicBezTo>
                  <a:pt x="79375" y="96589"/>
                  <a:pt x="80814" y="105569"/>
                  <a:pt x="83493" y="113953"/>
                </a:cubicBezTo>
                <a:lnTo>
                  <a:pt x="3473" y="193973"/>
                </a:lnTo>
                <a:cubicBezTo>
                  <a:pt x="1240" y="196205"/>
                  <a:pt x="0" y="199231"/>
                  <a:pt x="0" y="202406"/>
                </a:cubicBezTo>
                <a:lnTo>
                  <a:pt x="0" y="242094"/>
                </a:lnTo>
                <a:cubicBezTo>
                  <a:pt x="0" y="248692"/>
                  <a:pt x="5308" y="254000"/>
                  <a:pt x="11906" y="254000"/>
                </a:cubicBezTo>
                <a:lnTo>
                  <a:pt x="51594" y="254000"/>
                </a:lnTo>
                <a:cubicBezTo>
                  <a:pt x="58192" y="254000"/>
                  <a:pt x="63500" y="248692"/>
                  <a:pt x="63500" y="242094"/>
                </a:cubicBezTo>
                <a:lnTo>
                  <a:pt x="63500" y="222250"/>
                </a:lnTo>
                <a:lnTo>
                  <a:pt x="83344" y="222250"/>
                </a:lnTo>
                <a:cubicBezTo>
                  <a:pt x="89942" y="222250"/>
                  <a:pt x="95250" y="216942"/>
                  <a:pt x="95250" y="210344"/>
                </a:cubicBezTo>
                <a:lnTo>
                  <a:pt x="95250" y="190500"/>
                </a:lnTo>
                <a:lnTo>
                  <a:pt x="115094" y="190500"/>
                </a:lnTo>
                <a:cubicBezTo>
                  <a:pt x="118269" y="190500"/>
                  <a:pt x="121295" y="189260"/>
                  <a:pt x="123527" y="187027"/>
                </a:cubicBezTo>
                <a:lnTo>
                  <a:pt x="140047" y="170507"/>
                </a:lnTo>
                <a:cubicBezTo>
                  <a:pt x="148431" y="173186"/>
                  <a:pt x="157411" y="174625"/>
                  <a:pt x="166688" y="174625"/>
                </a:cubicBezTo>
                <a:close/>
                <a:moveTo>
                  <a:pt x="186531" y="47625"/>
                </a:moveTo>
                <a:cubicBezTo>
                  <a:pt x="197483" y="47625"/>
                  <a:pt x="206375" y="56517"/>
                  <a:pt x="206375" y="67469"/>
                </a:cubicBezTo>
                <a:cubicBezTo>
                  <a:pt x="206375" y="78421"/>
                  <a:pt x="197483" y="87313"/>
                  <a:pt x="186531" y="87313"/>
                </a:cubicBezTo>
                <a:cubicBezTo>
                  <a:pt x="175579" y="87313"/>
                  <a:pt x="166688" y="78421"/>
                  <a:pt x="166688" y="67469"/>
                </a:cubicBezTo>
                <a:cubicBezTo>
                  <a:pt x="166688" y="56517"/>
                  <a:pt x="175579" y="47625"/>
                  <a:pt x="186531" y="47625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055100" y="1828800"/>
            <a:ext cx="205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租约机制 (Lease)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85200" y="2336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通过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租约机制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确保单写者模型，防止多个客户端同时写入同一文件。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85200" y="27940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租约管理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85200" y="32004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软限制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85200" y="35052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60 秒，超过后其他客户端可以强行获取租约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85200" y="39116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硬限制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85200" y="42164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 小时，超过后 NameNode 自动恢复租约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85200" y="4622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续约频率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85200" y="49276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约每 30 秒，确保在软限制前续期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33400" y="6807200"/>
            <a:ext cx="50800" cy="1574800"/>
          </a:xfrm>
          <a:custGeom>
            <a:avLst/>
            <a:gdLst/>
            <a:ahLst/>
            <a:cxnLst/>
            <a:rect l="l" t="t" r="r" b="b"/>
            <a:pathLst>
              <a:path w="50800" h="1574800">
                <a:moveTo>
                  <a:pt x="0" y="0"/>
                </a:moveTo>
                <a:lnTo>
                  <a:pt x="50800" y="0"/>
                </a:lnTo>
                <a:lnTo>
                  <a:pt x="50800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44550" y="6858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31750"/>
                </a:moveTo>
                <a:cubicBezTo>
                  <a:pt x="98822" y="31750"/>
                  <a:pt x="73471" y="44004"/>
                  <a:pt x="56009" y="63500"/>
                </a:cubicBezTo>
                <a:lnTo>
                  <a:pt x="79375" y="63500"/>
                </a:lnTo>
                <a:cubicBezTo>
                  <a:pt x="88156" y="63500"/>
                  <a:pt x="95250" y="70594"/>
                  <a:pt x="95250" y="79375"/>
                </a:cubicBezTo>
                <a:cubicBezTo>
                  <a:pt x="95250" y="88156"/>
                  <a:pt x="88156" y="95250"/>
                  <a:pt x="79375" y="95250"/>
                </a:cubicBezTo>
                <a:lnTo>
                  <a:pt x="15875" y="95250"/>
                </a:lnTo>
                <a:cubicBezTo>
                  <a:pt x="7094" y="95250"/>
                  <a:pt x="0" y="88156"/>
                  <a:pt x="0" y="79375"/>
                </a:cubicBezTo>
                <a:lnTo>
                  <a:pt x="0" y="15875"/>
                </a:lnTo>
                <a:cubicBezTo>
                  <a:pt x="0" y="7094"/>
                  <a:pt x="7094" y="0"/>
                  <a:pt x="15875" y="0"/>
                </a:cubicBezTo>
                <a:cubicBezTo>
                  <a:pt x="24656" y="0"/>
                  <a:pt x="31750" y="7094"/>
                  <a:pt x="31750" y="15875"/>
                </a:cubicBezTo>
                <a:lnTo>
                  <a:pt x="31750" y="43011"/>
                </a:lnTo>
                <a:cubicBezTo>
                  <a:pt x="55017" y="16669"/>
                  <a:pt x="89049" y="0"/>
                  <a:pt x="127000" y="0"/>
                </a:cubicBezTo>
                <a:cubicBezTo>
                  <a:pt x="197148" y="0"/>
                  <a:pt x="254000" y="56852"/>
                  <a:pt x="254000" y="127000"/>
                </a:cubicBezTo>
                <a:cubicBezTo>
                  <a:pt x="254000" y="197148"/>
                  <a:pt x="197148" y="254000"/>
                  <a:pt x="127000" y="254000"/>
                </a:cubicBezTo>
                <a:cubicBezTo>
                  <a:pt x="83840" y="254000"/>
                  <a:pt x="45690" y="232470"/>
                  <a:pt x="22771" y="199579"/>
                </a:cubicBezTo>
                <a:cubicBezTo>
                  <a:pt x="17760" y="192385"/>
                  <a:pt x="19496" y="182513"/>
                  <a:pt x="26690" y="177453"/>
                </a:cubicBezTo>
                <a:cubicBezTo>
                  <a:pt x="33883" y="172393"/>
                  <a:pt x="43755" y="174179"/>
                  <a:pt x="48816" y="181372"/>
                </a:cubicBezTo>
                <a:cubicBezTo>
                  <a:pt x="66080" y="206077"/>
                  <a:pt x="94655" y="222200"/>
                  <a:pt x="127000" y="222200"/>
                </a:cubicBezTo>
                <a:cubicBezTo>
                  <a:pt x="179586" y="222200"/>
                  <a:pt x="222250" y="179536"/>
                  <a:pt x="222250" y="126950"/>
                </a:cubicBezTo>
                <a:cubicBezTo>
                  <a:pt x="222250" y="74364"/>
                  <a:pt x="179586" y="31750"/>
                  <a:pt x="127000" y="3175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282700" y="68072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租约恢复机制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2800" y="73660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检测租约超时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2800" y="7772400"/>
            <a:ext cx="3683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LeaseManager 检测软限制或硬限制超时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97400" y="73660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获取块信息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97400" y="77724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 确定需要恢复的块列表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82000" y="73660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恢复写入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382000" y="77724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将未完成的块标记为完成状态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166600" y="73660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释放租约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2166600" y="77724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释放租约，允许其他客户端写入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4103" y="494103"/>
            <a:ext cx="15354261" cy="247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kern="0" spc="68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PIPELINE WRITING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94103" y="839976"/>
            <a:ext cx="15490140" cy="494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02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数据块分配与管道建立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4103" y="1482310"/>
            <a:ext cx="1185848" cy="49410"/>
          </a:xfrm>
          <a:custGeom>
            <a:avLst/>
            <a:gdLst/>
            <a:ahLst/>
            <a:cxnLst/>
            <a:rect l="l" t="t" r="r" b="b"/>
            <a:pathLst>
              <a:path w="1185848" h="49410">
                <a:moveTo>
                  <a:pt x="0" y="0"/>
                </a:moveTo>
                <a:lnTo>
                  <a:pt x="1185848" y="0"/>
                </a:lnTo>
                <a:lnTo>
                  <a:pt x="1185848" y="49410"/>
                </a:lnTo>
                <a:lnTo>
                  <a:pt x="0" y="4941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18809" y="1778772"/>
            <a:ext cx="49410" cy="3606954"/>
          </a:xfrm>
          <a:custGeom>
            <a:avLst/>
            <a:gdLst/>
            <a:ahLst/>
            <a:cxnLst/>
            <a:rect l="l" t="t" r="r" b="b"/>
            <a:pathLst>
              <a:path w="49410" h="3606954">
                <a:moveTo>
                  <a:pt x="0" y="0"/>
                </a:moveTo>
                <a:lnTo>
                  <a:pt x="49410" y="0"/>
                </a:lnTo>
                <a:lnTo>
                  <a:pt x="49410" y="3606954"/>
                </a:lnTo>
                <a:lnTo>
                  <a:pt x="0" y="3606954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21447" y="1828182"/>
            <a:ext cx="247052" cy="247052"/>
          </a:xfrm>
          <a:custGeom>
            <a:avLst/>
            <a:gdLst/>
            <a:ahLst/>
            <a:cxnLst/>
            <a:rect l="l" t="t" r="r" b="b"/>
            <a:pathLst>
              <a:path w="247052" h="247052">
                <a:moveTo>
                  <a:pt x="92644" y="30881"/>
                </a:moveTo>
                <a:cubicBezTo>
                  <a:pt x="92644" y="22341"/>
                  <a:pt x="99544" y="15441"/>
                  <a:pt x="108085" y="15441"/>
                </a:cubicBezTo>
                <a:lnTo>
                  <a:pt x="138967" y="15441"/>
                </a:lnTo>
                <a:cubicBezTo>
                  <a:pt x="147507" y="15441"/>
                  <a:pt x="154407" y="22341"/>
                  <a:pt x="154407" y="30881"/>
                </a:cubicBezTo>
                <a:lnTo>
                  <a:pt x="154407" y="61763"/>
                </a:lnTo>
                <a:cubicBezTo>
                  <a:pt x="154407" y="70304"/>
                  <a:pt x="147507" y="77204"/>
                  <a:pt x="138967" y="77204"/>
                </a:cubicBezTo>
                <a:lnTo>
                  <a:pt x="135106" y="77204"/>
                </a:lnTo>
                <a:lnTo>
                  <a:pt x="135106" y="108085"/>
                </a:lnTo>
                <a:lnTo>
                  <a:pt x="193009" y="108085"/>
                </a:lnTo>
                <a:cubicBezTo>
                  <a:pt x="212214" y="108085"/>
                  <a:pt x="227751" y="123622"/>
                  <a:pt x="227751" y="142827"/>
                </a:cubicBezTo>
                <a:lnTo>
                  <a:pt x="227751" y="169848"/>
                </a:lnTo>
                <a:lnTo>
                  <a:pt x="231611" y="169848"/>
                </a:lnTo>
                <a:cubicBezTo>
                  <a:pt x="240152" y="169848"/>
                  <a:pt x="247052" y="176748"/>
                  <a:pt x="247052" y="185289"/>
                </a:cubicBezTo>
                <a:lnTo>
                  <a:pt x="247052" y="216170"/>
                </a:lnTo>
                <a:cubicBezTo>
                  <a:pt x="247052" y="224711"/>
                  <a:pt x="240152" y="231611"/>
                  <a:pt x="231611" y="231611"/>
                </a:cubicBezTo>
                <a:lnTo>
                  <a:pt x="200729" y="231611"/>
                </a:lnTo>
                <a:cubicBezTo>
                  <a:pt x="192189" y="231611"/>
                  <a:pt x="185289" y="224711"/>
                  <a:pt x="185289" y="216170"/>
                </a:cubicBezTo>
                <a:lnTo>
                  <a:pt x="185289" y="185289"/>
                </a:lnTo>
                <a:cubicBezTo>
                  <a:pt x="185289" y="176748"/>
                  <a:pt x="192189" y="169848"/>
                  <a:pt x="200729" y="169848"/>
                </a:cubicBezTo>
                <a:lnTo>
                  <a:pt x="204590" y="169848"/>
                </a:lnTo>
                <a:lnTo>
                  <a:pt x="204590" y="142827"/>
                </a:lnTo>
                <a:cubicBezTo>
                  <a:pt x="204590" y="136409"/>
                  <a:pt x="199427" y="131246"/>
                  <a:pt x="193009" y="131246"/>
                </a:cubicBezTo>
                <a:lnTo>
                  <a:pt x="135106" y="131246"/>
                </a:lnTo>
                <a:lnTo>
                  <a:pt x="135106" y="169848"/>
                </a:lnTo>
                <a:lnTo>
                  <a:pt x="138967" y="169848"/>
                </a:lnTo>
                <a:cubicBezTo>
                  <a:pt x="147507" y="169848"/>
                  <a:pt x="154407" y="176748"/>
                  <a:pt x="154407" y="185289"/>
                </a:cubicBezTo>
                <a:lnTo>
                  <a:pt x="154407" y="216170"/>
                </a:lnTo>
                <a:cubicBezTo>
                  <a:pt x="154407" y="224711"/>
                  <a:pt x="147507" y="231611"/>
                  <a:pt x="138967" y="231611"/>
                </a:cubicBezTo>
                <a:lnTo>
                  <a:pt x="108085" y="231611"/>
                </a:lnTo>
                <a:cubicBezTo>
                  <a:pt x="99544" y="231611"/>
                  <a:pt x="92644" y="224711"/>
                  <a:pt x="92644" y="216170"/>
                </a:cubicBezTo>
                <a:lnTo>
                  <a:pt x="92644" y="185289"/>
                </a:lnTo>
                <a:cubicBezTo>
                  <a:pt x="92644" y="176748"/>
                  <a:pt x="99544" y="169848"/>
                  <a:pt x="108085" y="169848"/>
                </a:cubicBezTo>
                <a:lnTo>
                  <a:pt x="111945" y="169848"/>
                </a:lnTo>
                <a:lnTo>
                  <a:pt x="111945" y="131246"/>
                </a:lnTo>
                <a:lnTo>
                  <a:pt x="54043" y="131246"/>
                </a:lnTo>
                <a:cubicBezTo>
                  <a:pt x="47625" y="131246"/>
                  <a:pt x="42462" y="136409"/>
                  <a:pt x="42462" y="142827"/>
                </a:cubicBezTo>
                <a:lnTo>
                  <a:pt x="42462" y="169848"/>
                </a:lnTo>
                <a:lnTo>
                  <a:pt x="46322" y="169848"/>
                </a:lnTo>
                <a:cubicBezTo>
                  <a:pt x="54863" y="169848"/>
                  <a:pt x="61763" y="176748"/>
                  <a:pt x="61763" y="185289"/>
                </a:cubicBezTo>
                <a:lnTo>
                  <a:pt x="61763" y="216170"/>
                </a:lnTo>
                <a:cubicBezTo>
                  <a:pt x="61763" y="224711"/>
                  <a:pt x="54863" y="231611"/>
                  <a:pt x="46322" y="231611"/>
                </a:cubicBezTo>
                <a:lnTo>
                  <a:pt x="15441" y="231611"/>
                </a:lnTo>
                <a:cubicBezTo>
                  <a:pt x="6900" y="231611"/>
                  <a:pt x="0" y="224711"/>
                  <a:pt x="0" y="216170"/>
                </a:cubicBezTo>
                <a:lnTo>
                  <a:pt x="0" y="185289"/>
                </a:lnTo>
                <a:cubicBezTo>
                  <a:pt x="0" y="176748"/>
                  <a:pt x="6900" y="169848"/>
                  <a:pt x="15441" y="169848"/>
                </a:cubicBezTo>
                <a:lnTo>
                  <a:pt x="19301" y="169848"/>
                </a:lnTo>
                <a:lnTo>
                  <a:pt x="19301" y="142827"/>
                </a:lnTo>
                <a:cubicBezTo>
                  <a:pt x="19301" y="123622"/>
                  <a:pt x="34838" y="108085"/>
                  <a:pt x="54043" y="108085"/>
                </a:cubicBezTo>
                <a:lnTo>
                  <a:pt x="111945" y="108085"/>
                </a:lnTo>
                <a:lnTo>
                  <a:pt x="111945" y="77204"/>
                </a:lnTo>
                <a:lnTo>
                  <a:pt x="108085" y="77204"/>
                </a:lnTo>
                <a:cubicBezTo>
                  <a:pt x="99544" y="77204"/>
                  <a:pt x="92644" y="70304"/>
                  <a:pt x="92644" y="61763"/>
                </a:cubicBezTo>
                <a:lnTo>
                  <a:pt x="92644" y="30881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47611" y="1778772"/>
            <a:ext cx="1358784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块分配策略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0565" y="2272875"/>
            <a:ext cx="7288024" cy="592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当客户端写入数据达到块大小时，NameNode 为新块选择存储位置，采用</a:t>
            </a:r>
            <a:r>
              <a:rPr lang="en-US" sz="1556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机架感知的块放置策略</a:t>
            </a:r>
            <a:r>
              <a:rPr lang="en-US" sz="155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0565" y="3014030"/>
            <a:ext cx="728802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块放置策略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0565" y="3409313"/>
            <a:ext cx="728802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第一个副本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90565" y="3705775"/>
            <a:ext cx="728802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在本地机架，减少网络传输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0565" y="4101058"/>
            <a:ext cx="728802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第二个副本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0565" y="4397520"/>
            <a:ext cx="728802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在不同机架，提高容错能力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0565" y="4792802"/>
            <a:ext cx="728802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第三个副本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0565" y="5089264"/>
            <a:ext cx="728802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在第二机架的其他节点，平衡负载和容错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98138" y="1778772"/>
            <a:ext cx="49410" cy="3606954"/>
          </a:xfrm>
          <a:custGeom>
            <a:avLst/>
            <a:gdLst/>
            <a:ahLst/>
            <a:cxnLst/>
            <a:rect l="l" t="t" r="r" b="b"/>
            <a:pathLst>
              <a:path w="49410" h="3606954">
                <a:moveTo>
                  <a:pt x="0" y="0"/>
                </a:moveTo>
                <a:lnTo>
                  <a:pt x="49410" y="0"/>
                </a:lnTo>
                <a:lnTo>
                  <a:pt x="49410" y="3606954"/>
                </a:lnTo>
                <a:lnTo>
                  <a:pt x="0" y="3606954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600776" y="1828182"/>
            <a:ext cx="247052" cy="247052"/>
          </a:xfrm>
          <a:custGeom>
            <a:avLst/>
            <a:gdLst/>
            <a:ahLst/>
            <a:cxnLst/>
            <a:rect l="l" t="t" r="r" b="b"/>
            <a:pathLst>
              <a:path w="247052" h="247052">
                <a:moveTo>
                  <a:pt x="194843" y="16599"/>
                </a:moveTo>
                <a:cubicBezTo>
                  <a:pt x="200633" y="14186"/>
                  <a:pt x="207244" y="15537"/>
                  <a:pt x="211683" y="19928"/>
                </a:cubicBezTo>
                <a:lnTo>
                  <a:pt x="242564" y="50810"/>
                </a:lnTo>
                <a:cubicBezTo>
                  <a:pt x="245459" y="53705"/>
                  <a:pt x="247100" y="57613"/>
                  <a:pt x="247100" y="61715"/>
                </a:cubicBezTo>
                <a:cubicBezTo>
                  <a:pt x="247100" y="65816"/>
                  <a:pt x="245459" y="69725"/>
                  <a:pt x="242564" y="72620"/>
                </a:cubicBezTo>
                <a:lnTo>
                  <a:pt x="211683" y="103501"/>
                </a:lnTo>
                <a:cubicBezTo>
                  <a:pt x="207244" y="107940"/>
                  <a:pt x="200633" y="109243"/>
                  <a:pt x="194843" y="106831"/>
                </a:cubicBezTo>
                <a:cubicBezTo>
                  <a:pt x="189052" y="104418"/>
                  <a:pt x="185289" y="98869"/>
                  <a:pt x="185289" y="92644"/>
                </a:cubicBezTo>
                <a:lnTo>
                  <a:pt x="185289" y="77204"/>
                </a:lnTo>
                <a:lnTo>
                  <a:pt x="169848" y="77204"/>
                </a:lnTo>
                <a:cubicBezTo>
                  <a:pt x="164975" y="77204"/>
                  <a:pt x="160391" y="79472"/>
                  <a:pt x="157495" y="83380"/>
                </a:cubicBezTo>
                <a:lnTo>
                  <a:pt x="141862" y="104225"/>
                </a:lnTo>
                <a:lnTo>
                  <a:pt x="122561" y="78506"/>
                </a:lnTo>
                <a:lnTo>
                  <a:pt x="132790" y="64851"/>
                </a:lnTo>
                <a:cubicBezTo>
                  <a:pt x="141524" y="53174"/>
                  <a:pt x="155276" y="46322"/>
                  <a:pt x="169848" y="46322"/>
                </a:cubicBezTo>
                <a:lnTo>
                  <a:pt x="185289" y="46322"/>
                </a:lnTo>
                <a:lnTo>
                  <a:pt x="185289" y="30881"/>
                </a:lnTo>
                <a:cubicBezTo>
                  <a:pt x="185289" y="24657"/>
                  <a:pt x="189052" y="19011"/>
                  <a:pt x="194843" y="16599"/>
                </a:cubicBezTo>
                <a:close/>
                <a:moveTo>
                  <a:pt x="74309" y="142827"/>
                </a:moveTo>
                <a:lnTo>
                  <a:pt x="93609" y="168545"/>
                </a:lnTo>
                <a:lnTo>
                  <a:pt x="83380" y="182201"/>
                </a:lnTo>
                <a:cubicBezTo>
                  <a:pt x="74646" y="193878"/>
                  <a:pt x="60894" y="200729"/>
                  <a:pt x="46322" y="200729"/>
                </a:cubicBezTo>
                <a:lnTo>
                  <a:pt x="15441" y="200729"/>
                </a:lnTo>
                <a:cubicBezTo>
                  <a:pt x="6900" y="200729"/>
                  <a:pt x="0" y="193829"/>
                  <a:pt x="0" y="185289"/>
                </a:cubicBezTo>
                <a:cubicBezTo>
                  <a:pt x="0" y="176748"/>
                  <a:pt x="6900" y="169848"/>
                  <a:pt x="15441" y="169848"/>
                </a:cubicBezTo>
                <a:lnTo>
                  <a:pt x="46322" y="169848"/>
                </a:lnTo>
                <a:cubicBezTo>
                  <a:pt x="51196" y="169848"/>
                  <a:pt x="55780" y="167580"/>
                  <a:pt x="58675" y="163672"/>
                </a:cubicBezTo>
                <a:lnTo>
                  <a:pt x="74309" y="142827"/>
                </a:lnTo>
                <a:close/>
                <a:moveTo>
                  <a:pt x="211634" y="227075"/>
                </a:moveTo>
                <a:cubicBezTo>
                  <a:pt x="207195" y="231514"/>
                  <a:pt x="200585" y="232817"/>
                  <a:pt x="194794" y="230405"/>
                </a:cubicBezTo>
                <a:cubicBezTo>
                  <a:pt x="189004" y="227992"/>
                  <a:pt x="185289" y="222395"/>
                  <a:pt x="185289" y="216170"/>
                </a:cubicBezTo>
                <a:lnTo>
                  <a:pt x="185289" y="200729"/>
                </a:lnTo>
                <a:lnTo>
                  <a:pt x="169848" y="200729"/>
                </a:lnTo>
                <a:cubicBezTo>
                  <a:pt x="155276" y="200729"/>
                  <a:pt x="141524" y="193878"/>
                  <a:pt x="132790" y="182201"/>
                </a:cubicBezTo>
                <a:lnTo>
                  <a:pt x="58675" y="83380"/>
                </a:lnTo>
                <a:cubicBezTo>
                  <a:pt x="55780" y="79472"/>
                  <a:pt x="51196" y="77204"/>
                  <a:pt x="46322" y="77204"/>
                </a:cubicBezTo>
                <a:lnTo>
                  <a:pt x="15441" y="77204"/>
                </a:lnTo>
                <a:cubicBezTo>
                  <a:pt x="6900" y="77204"/>
                  <a:pt x="0" y="70304"/>
                  <a:pt x="0" y="61763"/>
                </a:cubicBezTo>
                <a:cubicBezTo>
                  <a:pt x="0" y="53222"/>
                  <a:pt x="6900" y="46322"/>
                  <a:pt x="15441" y="46322"/>
                </a:cubicBezTo>
                <a:lnTo>
                  <a:pt x="46322" y="46322"/>
                </a:lnTo>
                <a:cubicBezTo>
                  <a:pt x="60894" y="46322"/>
                  <a:pt x="74646" y="53174"/>
                  <a:pt x="83380" y="64851"/>
                </a:cubicBezTo>
                <a:lnTo>
                  <a:pt x="157495" y="163672"/>
                </a:lnTo>
                <a:cubicBezTo>
                  <a:pt x="160391" y="167580"/>
                  <a:pt x="164975" y="169848"/>
                  <a:pt x="169848" y="169848"/>
                </a:cubicBezTo>
                <a:lnTo>
                  <a:pt x="185289" y="169848"/>
                </a:lnTo>
                <a:lnTo>
                  <a:pt x="185289" y="154407"/>
                </a:lnTo>
                <a:cubicBezTo>
                  <a:pt x="185289" y="148183"/>
                  <a:pt x="189052" y="142537"/>
                  <a:pt x="194843" y="140125"/>
                </a:cubicBezTo>
                <a:cubicBezTo>
                  <a:pt x="200633" y="137712"/>
                  <a:pt x="207244" y="139063"/>
                  <a:pt x="211683" y="143454"/>
                </a:cubicBezTo>
                <a:lnTo>
                  <a:pt x="242564" y="174335"/>
                </a:lnTo>
                <a:cubicBezTo>
                  <a:pt x="245459" y="177231"/>
                  <a:pt x="247100" y="181139"/>
                  <a:pt x="247100" y="185241"/>
                </a:cubicBezTo>
                <a:cubicBezTo>
                  <a:pt x="247100" y="189342"/>
                  <a:pt x="245459" y="193250"/>
                  <a:pt x="242564" y="196146"/>
                </a:cubicBezTo>
                <a:lnTo>
                  <a:pt x="211683" y="227027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026940" y="1778772"/>
            <a:ext cx="1605836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管道写入机制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69894" y="2272875"/>
            <a:ext cx="728802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采用</a:t>
            </a:r>
            <a:r>
              <a:rPr lang="en-US" sz="1556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流水线式</a:t>
            </a:r>
            <a:r>
              <a:rPr lang="en-US" sz="155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的数据传输，数据在管道中逐跳传输，降低网络开销。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69894" y="2717568"/>
            <a:ext cx="728802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数据传输流程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69894" y="3112851"/>
            <a:ext cx="728802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 → DataNode1 → DataNode2 → DataNode3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69894" y="3557544"/>
            <a:ext cx="728802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客户端向第一个 DataNode 发送数据包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69894" y="3903416"/>
            <a:ext cx="728802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第一个 DataNode 将数据包转发给第二个 DataNode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69894" y="4249289"/>
            <a:ext cx="728802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依次类推，直到管道末端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69894" y="4595161"/>
            <a:ext cx="7288024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每个 DataNode 同时将数据写入本地存储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8809" y="5632778"/>
            <a:ext cx="49410" cy="3014030"/>
          </a:xfrm>
          <a:custGeom>
            <a:avLst/>
            <a:gdLst/>
            <a:ahLst/>
            <a:cxnLst/>
            <a:rect l="l" t="t" r="r" b="b"/>
            <a:pathLst>
              <a:path w="49410" h="3014030">
                <a:moveTo>
                  <a:pt x="0" y="0"/>
                </a:moveTo>
                <a:lnTo>
                  <a:pt x="49410" y="0"/>
                </a:lnTo>
                <a:lnTo>
                  <a:pt x="49410" y="3014030"/>
                </a:lnTo>
                <a:lnTo>
                  <a:pt x="0" y="301403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52328" y="5682188"/>
            <a:ext cx="185289" cy="247052"/>
          </a:xfrm>
          <a:custGeom>
            <a:avLst/>
            <a:gdLst/>
            <a:ahLst/>
            <a:cxnLst/>
            <a:rect l="l" t="t" r="r" b="b"/>
            <a:pathLst>
              <a:path w="185289" h="247052">
                <a:moveTo>
                  <a:pt x="120582" y="32233"/>
                </a:moveTo>
                <a:cubicBezTo>
                  <a:pt x="125601" y="25332"/>
                  <a:pt x="124057" y="15682"/>
                  <a:pt x="117157" y="10664"/>
                </a:cubicBezTo>
                <a:cubicBezTo>
                  <a:pt x="110256" y="5646"/>
                  <a:pt x="100606" y="7190"/>
                  <a:pt x="95588" y="14090"/>
                </a:cubicBezTo>
                <a:lnTo>
                  <a:pt x="44440" y="84393"/>
                </a:lnTo>
                <a:lnTo>
                  <a:pt x="26346" y="66299"/>
                </a:lnTo>
                <a:cubicBezTo>
                  <a:pt x="20314" y="60267"/>
                  <a:pt x="10519" y="60267"/>
                  <a:pt x="4487" y="66299"/>
                </a:cubicBezTo>
                <a:cubicBezTo>
                  <a:pt x="-1544" y="72330"/>
                  <a:pt x="-1544" y="82125"/>
                  <a:pt x="4487" y="88157"/>
                </a:cubicBezTo>
                <a:lnTo>
                  <a:pt x="35369" y="119038"/>
                </a:lnTo>
                <a:cubicBezTo>
                  <a:pt x="38554" y="122223"/>
                  <a:pt x="42993" y="123864"/>
                  <a:pt x="47480" y="123526"/>
                </a:cubicBezTo>
                <a:cubicBezTo>
                  <a:pt x="51968" y="123188"/>
                  <a:pt x="56117" y="120872"/>
                  <a:pt x="58771" y="117205"/>
                </a:cubicBezTo>
                <a:lnTo>
                  <a:pt x="120534" y="32281"/>
                </a:lnTo>
                <a:close/>
                <a:moveTo>
                  <a:pt x="182345" y="97856"/>
                </a:moveTo>
                <a:cubicBezTo>
                  <a:pt x="187364" y="90956"/>
                  <a:pt x="185820" y="81305"/>
                  <a:pt x="178919" y="76287"/>
                </a:cubicBezTo>
                <a:cubicBezTo>
                  <a:pt x="172019" y="71269"/>
                  <a:pt x="162369" y="72813"/>
                  <a:pt x="157351" y="79713"/>
                </a:cubicBezTo>
                <a:lnTo>
                  <a:pt x="75322" y="192478"/>
                </a:lnTo>
                <a:lnTo>
                  <a:pt x="41786" y="158943"/>
                </a:lnTo>
                <a:cubicBezTo>
                  <a:pt x="35755" y="152911"/>
                  <a:pt x="25960" y="152911"/>
                  <a:pt x="19928" y="158943"/>
                </a:cubicBezTo>
                <a:cubicBezTo>
                  <a:pt x="13897" y="164975"/>
                  <a:pt x="13897" y="174770"/>
                  <a:pt x="19928" y="180801"/>
                </a:cubicBezTo>
                <a:lnTo>
                  <a:pt x="66250" y="227123"/>
                </a:lnTo>
                <a:cubicBezTo>
                  <a:pt x="69435" y="230308"/>
                  <a:pt x="73874" y="231949"/>
                  <a:pt x="78362" y="231611"/>
                </a:cubicBezTo>
                <a:cubicBezTo>
                  <a:pt x="82849" y="231273"/>
                  <a:pt x="86999" y="228957"/>
                  <a:pt x="89653" y="225290"/>
                </a:cubicBezTo>
                <a:lnTo>
                  <a:pt x="182297" y="97904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247611" y="5632778"/>
            <a:ext cx="1852888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4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端到端确认机制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90565" y="6176292"/>
            <a:ext cx="7436255" cy="592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采用</a:t>
            </a:r>
            <a:r>
              <a:rPr lang="en-US" sz="1556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端到端确认</a:t>
            </a:r>
            <a:r>
              <a:rPr lang="en-US" sz="155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机制，确保数据成功写入所有副本。ACK 从管道末端逐级返回，直到客户端。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90565" y="6917447"/>
            <a:ext cx="7436255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确认流程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90565" y="7312729"/>
            <a:ext cx="7436255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DN3 收到数据包后发送 ACK 给 DN2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90565" y="7658602"/>
            <a:ext cx="7436255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DN2 收到 ACK 后转发给 DN1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90565" y="8004474"/>
            <a:ext cx="7436255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DN1 收到 ACK 后转发给 Client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90565" y="8350347"/>
            <a:ext cx="7436255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客户端收到 ACK 后才发送下一个数据包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21663" y="6176292"/>
            <a:ext cx="7436255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数据包格式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21663" y="6571574"/>
            <a:ext cx="7436255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写入流程中的数据包结构：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21663" y="7016267"/>
            <a:ext cx="7436255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基础字段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21663" y="7312729"/>
            <a:ext cx="7436255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packetLen、offset、seqno、dataLen、data、checksum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21663" y="7708012"/>
            <a:ext cx="7436255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写入特有字段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21663" y="8004474"/>
            <a:ext cx="7436255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56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ackSeqno：确认序列号，用于端到端确认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FAULT TOLERANCE IN WRITING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写入流程容错机制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24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828800"/>
            <a:ext cx="50800" cy="4419600"/>
          </a:xfrm>
          <a:custGeom>
            <a:avLst/>
            <a:gdLst/>
            <a:ahLst/>
            <a:cxnLst/>
            <a:rect l="l" t="t" r="r" b="b"/>
            <a:pathLst>
              <a:path w="50800" h="4419600">
                <a:moveTo>
                  <a:pt x="0" y="0"/>
                </a:moveTo>
                <a:lnTo>
                  <a:pt x="50800" y="0"/>
                </a:lnTo>
                <a:lnTo>
                  <a:pt x="50800" y="4419600"/>
                </a:lnTo>
                <a:lnTo>
                  <a:pt x="0" y="44196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60425" y="18796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79375"/>
                </a:lnTo>
                <a:cubicBezTo>
                  <a:pt x="0" y="96887"/>
                  <a:pt x="14238" y="111125"/>
                  <a:pt x="31750" y="111125"/>
                </a:cubicBezTo>
                <a:lnTo>
                  <a:pt x="190500" y="111125"/>
                </a:lnTo>
                <a:cubicBezTo>
                  <a:pt x="208012" y="111125"/>
                  <a:pt x="222250" y="96887"/>
                  <a:pt x="222250" y="79375"/>
                </a:cubicBezTo>
                <a:lnTo>
                  <a:pt x="222250" y="47625"/>
                </a:lnTo>
                <a:cubicBezTo>
                  <a:pt x="222250" y="30113"/>
                  <a:pt x="208012" y="15875"/>
                  <a:pt x="190500" y="15875"/>
                </a:cubicBezTo>
                <a:lnTo>
                  <a:pt x="31750" y="15875"/>
                </a:lnTo>
                <a:close/>
                <a:moveTo>
                  <a:pt x="138906" y="51594"/>
                </a:moveTo>
                <a:cubicBezTo>
                  <a:pt x="145477" y="51594"/>
                  <a:pt x="150813" y="56929"/>
                  <a:pt x="150813" y="63500"/>
                </a:cubicBezTo>
                <a:cubicBezTo>
                  <a:pt x="150813" y="70071"/>
                  <a:pt x="145477" y="75406"/>
                  <a:pt x="138906" y="75406"/>
                </a:cubicBezTo>
                <a:cubicBezTo>
                  <a:pt x="132335" y="75406"/>
                  <a:pt x="127000" y="70071"/>
                  <a:pt x="127000" y="63500"/>
                </a:cubicBezTo>
                <a:cubicBezTo>
                  <a:pt x="127000" y="56929"/>
                  <a:pt x="132335" y="51594"/>
                  <a:pt x="138906" y="51594"/>
                </a:cubicBezTo>
                <a:close/>
                <a:moveTo>
                  <a:pt x="166688" y="63500"/>
                </a:moveTo>
                <a:cubicBezTo>
                  <a:pt x="166688" y="56929"/>
                  <a:pt x="172023" y="51594"/>
                  <a:pt x="178594" y="51594"/>
                </a:cubicBezTo>
                <a:cubicBezTo>
                  <a:pt x="185165" y="51594"/>
                  <a:pt x="190500" y="56929"/>
                  <a:pt x="190500" y="63500"/>
                </a:cubicBezTo>
                <a:cubicBezTo>
                  <a:pt x="190500" y="70071"/>
                  <a:pt x="185165" y="75406"/>
                  <a:pt x="178594" y="75406"/>
                </a:cubicBezTo>
                <a:cubicBezTo>
                  <a:pt x="172023" y="75406"/>
                  <a:pt x="166688" y="70071"/>
                  <a:pt x="166688" y="63500"/>
                </a:cubicBezTo>
                <a:close/>
                <a:moveTo>
                  <a:pt x="31750" y="142875"/>
                </a:moveTo>
                <a:cubicBezTo>
                  <a:pt x="14238" y="142875"/>
                  <a:pt x="0" y="157113"/>
                  <a:pt x="0" y="174625"/>
                </a:cubicBezTo>
                <a:lnTo>
                  <a:pt x="0" y="206375"/>
                </a:lnTo>
                <a:cubicBezTo>
                  <a:pt x="0" y="223887"/>
                  <a:pt x="14238" y="238125"/>
                  <a:pt x="31750" y="238125"/>
                </a:cubicBezTo>
                <a:lnTo>
                  <a:pt x="190500" y="238125"/>
                </a:lnTo>
                <a:cubicBezTo>
                  <a:pt x="208012" y="238125"/>
                  <a:pt x="222250" y="223887"/>
                  <a:pt x="222250" y="206375"/>
                </a:cubicBezTo>
                <a:lnTo>
                  <a:pt x="222250" y="174625"/>
                </a:lnTo>
                <a:cubicBezTo>
                  <a:pt x="222250" y="157113"/>
                  <a:pt x="208012" y="142875"/>
                  <a:pt x="190500" y="142875"/>
                </a:cubicBezTo>
                <a:lnTo>
                  <a:pt x="31750" y="142875"/>
                </a:lnTo>
                <a:close/>
                <a:moveTo>
                  <a:pt x="138906" y="178594"/>
                </a:moveTo>
                <a:cubicBezTo>
                  <a:pt x="145477" y="178594"/>
                  <a:pt x="150813" y="183929"/>
                  <a:pt x="150813" y="190500"/>
                </a:cubicBezTo>
                <a:cubicBezTo>
                  <a:pt x="150813" y="197071"/>
                  <a:pt x="145477" y="202406"/>
                  <a:pt x="138906" y="202406"/>
                </a:cubicBezTo>
                <a:cubicBezTo>
                  <a:pt x="132335" y="202406"/>
                  <a:pt x="127000" y="197071"/>
                  <a:pt x="127000" y="190500"/>
                </a:cubicBezTo>
                <a:cubicBezTo>
                  <a:pt x="127000" y="183929"/>
                  <a:pt x="132335" y="178594"/>
                  <a:pt x="138906" y="178594"/>
                </a:cubicBezTo>
                <a:close/>
                <a:moveTo>
                  <a:pt x="166688" y="190500"/>
                </a:moveTo>
                <a:cubicBezTo>
                  <a:pt x="166688" y="183929"/>
                  <a:pt x="172023" y="178594"/>
                  <a:pt x="178594" y="178594"/>
                </a:cubicBezTo>
                <a:cubicBezTo>
                  <a:pt x="185165" y="178594"/>
                  <a:pt x="190500" y="183929"/>
                  <a:pt x="190500" y="190500"/>
                </a:cubicBezTo>
                <a:cubicBezTo>
                  <a:pt x="190500" y="197071"/>
                  <a:pt x="185165" y="202406"/>
                  <a:pt x="178594" y="202406"/>
                </a:cubicBezTo>
                <a:cubicBezTo>
                  <a:pt x="172023" y="202406"/>
                  <a:pt x="166688" y="197071"/>
                  <a:pt x="166688" y="190500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82700" y="1828800"/>
            <a:ext cx="2387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DataNode 故障处理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2336800"/>
            <a:ext cx="726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当管道中的某个 DataNode 发生故障时，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系统自动进行恢复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，确保数据写入的可靠性。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3098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管道恢复流程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5052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检测故障节点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8100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通过超时或连接失败检测故障 DataNode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42164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向 NameNode 报告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45212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报告损坏的块，触发副本重建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49276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获取新的 DataNode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" y="52324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 分配新的 DataNode 替换故障节点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5638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重建管道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" y="59436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从故障点重建数据管道，继续数据传输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05800" y="1828800"/>
            <a:ext cx="50800" cy="4419600"/>
          </a:xfrm>
          <a:custGeom>
            <a:avLst/>
            <a:gdLst/>
            <a:ahLst/>
            <a:cxnLst/>
            <a:rect l="l" t="t" r="r" b="b"/>
            <a:pathLst>
              <a:path w="50800" h="4419600">
                <a:moveTo>
                  <a:pt x="0" y="0"/>
                </a:moveTo>
                <a:lnTo>
                  <a:pt x="50800" y="0"/>
                </a:lnTo>
                <a:lnTo>
                  <a:pt x="50800" y="4419600"/>
                </a:lnTo>
                <a:lnTo>
                  <a:pt x="0" y="44196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616950" y="1879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31750"/>
                </a:moveTo>
                <a:cubicBezTo>
                  <a:pt x="98822" y="31750"/>
                  <a:pt x="73471" y="44004"/>
                  <a:pt x="56009" y="63500"/>
                </a:cubicBezTo>
                <a:lnTo>
                  <a:pt x="79375" y="63500"/>
                </a:lnTo>
                <a:cubicBezTo>
                  <a:pt x="88156" y="63500"/>
                  <a:pt x="95250" y="70594"/>
                  <a:pt x="95250" y="79375"/>
                </a:cubicBezTo>
                <a:cubicBezTo>
                  <a:pt x="95250" y="88156"/>
                  <a:pt x="88156" y="95250"/>
                  <a:pt x="79375" y="95250"/>
                </a:cubicBezTo>
                <a:lnTo>
                  <a:pt x="15875" y="95250"/>
                </a:lnTo>
                <a:cubicBezTo>
                  <a:pt x="7094" y="95250"/>
                  <a:pt x="0" y="88156"/>
                  <a:pt x="0" y="79375"/>
                </a:cubicBezTo>
                <a:lnTo>
                  <a:pt x="0" y="15875"/>
                </a:lnTo>
                <a:cubicBezTo>
                  <a:pt x="0" y="7094"/>
                  <a:pt x="7094" y="0"/>
                  <a:pt x="15875" y="0"/>
                </a:cubicBezTo>
                <a:cubicBezTo>
                  <a:pt x="24656" y="0"/>
                  <a:pt x="31750" y="7094"/>
                  <a:pt x="31750" y="15875"/>
                </a:cubicBezTo>
                <a:lnTo>
                  <a:pt x="31750" y="43011"/>
                </a:lnTo>
                <a:cubicBezTo>
                  <a:pt x="55017" y="16669"/>
                  <a:pt x="89049" y="0"/>
                  <a:pt x="127000" y="0"/>
                </a:cubicBezTo>
                <a:cubicBezTo>
                  <a:pt x="197148" y="0"/>
                  <a:pt x="254000" y="56852"/>
                  <a:pt x="254000" y="127000"/>
                </a:cubicBezTo>
                <a:cubicBezTo>
                  <a:pt x="254000" y="197148"/>
                  <a:pt x="197148" y="254000"/>
                  <a:pt x="127000" y="254000"/>
                </a:cubicBezTo>
                <a:cubicBezTo>
                  <a:pt x="83840" y="254000"/>
                  <a:pt x="45690" y="232470"/>
                  <a:pt x="22771" y="199579"/>
                </a:cubicBezTo>
                <a:cubicBezTo>
                  <a:pt x="17760" y="192385"/>
                  <a:pt x="19496" y="182513"/>
                  <a:pt x="26690" y="177453"/>
                </a:cubicBezTo>
                <a:cubicBezTo>
                  <a:pt x="33883" y="172393"/>
                  <a:pt x="43755" y="174179"/>
                  <a:pt x="48816" y="181372"/>
                </a:cubicBezTo>
                <a:cubicBezTo>
                  <a:pt x="66080" y="206077"/>
                  <a:pt x="94655" y="222200"/>
                  <a:pt x="127000" y="222200"/>
                </a:cubicBezTo>
                <a:cubicBezTo>
                  <a:pt x="179586" y="222200"/>
                  <a:pt x="222250" y="179536"/>
                  <a:pt x="222250" y="126950"/>
                </a:cubicBezTo>
                <a:cubicBezTo>
                  <a:pt x="222250" y="74364"/>
                  <a:pt x="179586" y="31750"/>
                  <a:pt x="127000" y="3175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055100" y="18288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租约恢复机制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85200" y="2336800"/>
            <a:ext cx="726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当客户端异常退出时，</a:t>
            </a: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 需要恢复未完成的写入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，释放租约，允许其他客户端写入。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85200" y="3098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租约恢复流程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85200" y="35052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检测租约超时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85200" y="38100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LeaseManager 检测软限制或硬限制超时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85200" y="42164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获取块信息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85200" y="45212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 确定需要恢复的块列表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85200" y="49276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恢复写入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85200" y="52324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将未完成的块标记为完成状态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85200" y="5638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释放租约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85200" y="59436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释放租约，允许其他客户端写入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3400" y="6502400"/>
            <a:ext cx="50800" cy="1574800"/>
          </a:xfrm>
          <a:custGeom>
            <a:avLst/>
            <a:gdLst/>
            <a:ahLst/>
            <a:cxnLst/>
            <a:rect l="l" t="t" r="r" b="b"/>
            <a:pathLst>
              <a:path w="50800" h="1574800">
                <a:moveTo>
                  <a:pt x="0" y="0"/>
                </a:moveTo>
                <a:lnTo>
                  <a:pt x="50800" y="0"/>
                </a:lnTo>
                <a:lnTo>
                  <a:pt x="50800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44550" y="655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282700" y="65024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脑裂防护机制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2800" y="70612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Fencing 机制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12800" y="7467600"/>
            <a:ext cx="4914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防止多个 Active NameNode 同时存在，通过共享存储锁实现互斥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875834" y="70612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共享存储锁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875834" y="7467600"/>
            <a:ext cx="4914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通过共享存储实现互斥，同一时间只有一个 NameNode 能写入 EditLog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938867" y="7061200"/>
            <a:ext cx="491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网络隔离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938867" y="7467600"/>
            <a:ext cx="4914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在网络分区时保证数据一致性，避免脑裂导致的数据不一致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"/>
          <p:cNvSpPr/>
          <p:nvPr/>
        </p:nvSpPr>
        <p:spPr>
          <a:xfrm>
            <a:off x="514350" y="1797050"/>
            <a:ext cx="2070100" cy="571500"/>
          </a:xfrm>
          <a:custGeom>
            <a:avLst/>
            <a:gdLst/>
            <a:ahLst/>
            <a:cxnLst/>
            <a:rect l="l" t="t" r="r" b="b"/>
            <a:pathLst>
              <a:path w="2070100" h="571500">
                <a:moveTo>
                  <a:pt x="101601" y="0"/>
                </a:moveTo>
                <a:lnTo>
                  <a:pt x="1968499" y="0"/>
                </a:lnTo>
                <a:cubicBezTo>
                  <a:pt x="2024612" y="0"/>
                  <a:pt x="2070100" y="45488"/>
                  <a:pt x="2070100" y="101601"/>
                </a:cubicBezTo>
                <a:lnTo>
                  <a:pt x="2070100" y="469899"/>
                </a:lnTo>
                <a:cubicBezTo>
                  <a:pt x="2070100" y="526012"/>
                  <a:pt x="2024612" y="571500"/>
                  <a:pt x="1968499" y="571500"/>
                </a:cubicBezTo>
                <a:lnTo>
                  <a:pt x="101601" y="571500"/>
                </a:lnTo>
                <a:cubicBezTo>
                  <a:pt x="45488" y="571500"/>
                  <a:pt x="0" y="526012"/>
                  <a:pt x="0" y="469899"/>
                </a:cubicBezTo>
                <a:lnTo>
                  <a:pt x="0" y="101601"/>
                </a:lnTo>
                <a:cubicBezTo>
                  <a:pt x="0" y="45488"/>
                  <a:pt x="45488" y="0"/>
                  <a:pt x="1016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23900" y="1911350"/>
            <a:ext cx="1783854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kern="0" spc="1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679700"/>
            <a:ext cx="1562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性能优化与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最佳实践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4889500"/>
            <a:ext cx="153924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提升 HDFS 性能的关键技术与实践建议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掌握生产环境中的调优技巧与运维经验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33400" y="64897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762000" y="6489700"/>
            <a:ext cx="353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Federation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7048500"/>
            <a:ext cx="344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水平扩展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428034" y="64897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4656634" y="6489700"/>
            <a:ext cx="353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56634" y="7048500"/>
            <a:ext cx="344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高可用性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322667" y="64897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8551267" y="6489700"/>
            <a:ext cx="353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51267" y="7048500"/>
            <a:ext cx="344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纠删码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TECHNOLOGY INNOVATION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HDFS 版本演进与技术革新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24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828800"/>
            <a:ext cx="50800" cy="3048000"/>
          </a:xfrm>
          <a:custGeom>
            <a:avLst/>
            <a:gdLst/>
            <a:ahLst/>
            <a:cxnLst/>
            <a:rect l="l" t="t" r="r" b="b"/>
            <a:pathLst>
              <a:path w="50800" h="3048000">
                <a:moveTo>
                  <a:pt x="0" y="0"/>
                </a:moveTo>
                <a:lnTo>
                  <a:pt x="50800" y="0"/>
                </a:lnTo>
                <a:lnTo>
                  <a:pt x="50800" y="3048000"/>
                </a:lnTo>
                <a:lnTo>
                  <a:pt x="0" y="30480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19150" y="18542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00013" y="19050"/>
                </a:moveTo>
                <a:lnTo>
                  <a:pt x="14288" y="19050"/>
                </a:lnTo>
                <a:cubicBezTo>
                  <a:pt x="6370" y="19050"/>
                  <a:pt x="0" y="25420"/>
                  <a:pt x="0" y="33338"/>
                </a:cubicBezTo>
                <a:lnTo>
                  <a:pt x="0" y="119062"/>
                </a:lnTo>
                <a:cubicBezTo>
                  <a:pt x="0" y="124837"/>
                  <a:pt x="3453" y="130076"/>
                  <a:pt x="8811" y="132278"/>
                </a:cubicBezTo>
                <a:cubicBezTo>
                  <a:pt x="14168" y="134481"/>
                  <a:pt x="20300" y="133231"/>
                  <a:pt x="24408" y="129183"/>
                </a:cubicBezTo>
                <a:lnTo>
                  <a:pt x="48220" y="105370"/>
                </a:lnTo>
                <a:lnTo>
                  <a:pt x="95250" y="152400"/>
                </a:lnTo>
                <a:lnTo>
                  <a:pt x="48220" y="199430"/>
                </a:lnTo>
                <a:lnTo>
                  <a:pt x="24408" y="175617"/>
                </a:lnTo>
                <a:cubicBezTo>
                  <a:pt x="20300" y="171510"/>
                  <a:pt x="14168" y="170319"/>
                  <a:pt x="8811" y="172522"/>
                </a:cubicBezTo>
                <a:cubicBezTo>
                  <a:pt x="3453" y="174724"/>
                  <a:pt x="0" y="179963"/>
                  <a:pt x="0" y="185738"/>
                </a:cubicBezTo>
                <a:lnTo>
                  <a:pt x="0" y="271463"/>
                </a:lnTo>
                <a:cubicBezTo>
                  <a:pt x="0" y="279380"/>
                  <a:pt x="6370" y="285750"/>
                  <a:pt x="14288" y="285750"/>
                </a:cubicBezTo>
                <a:lnTo>
                  <a:pt x="100013" y="285750"/>
                </a:lnTo>
                <a:cubicBezTo>
                  <a:pt x="105787" y="285750"/>
                  <a:pt x="111026" y="282297"/>
                  <a:pt x="113228" y="276939"/>
                </a:cubicBezTo>
                <a:cubicBezTo>
                  <a:pt x="115431" y="271582"/>
                  <a:pt x="114240" y="265450"/>
                  <a:pt x="110133" y="261342"/>
                </a:cubicBezTo>
                <a:lnTo>
                  <a:pt x="86320" y="237530"/>
                </a:lnTo>
                <a:lnTo>
                  <a:pt x="133350" y="190500"/>
                </a:lnTo>
                <a:lnTo>
                  <a:pt x="180380" y="237530"/>
                </a:lnTo>
                <a:lnTo>
                  <a:pt x="156567" y="261342"/>
                </a:lnTo>
                <a:cubicBezTo>
                  <a:pt x="152460" y="265450"/>
                  <a:pt x="151269" y="271582"/>
                  <a:pt x="153472" y="276939"/>
                </a:cubicBezTo>
                <a:cubicBezTo>
                  <a:pt x="155674" y="282297"/>
                  <a:pt x="160913" y="285750"/>
                  <a:pt x="166688" y="285750"/>
                </a:cubicBezTo>
                <a:lnTo>
                  <a:pt x="252413" y="285750"/>
                </a:lnTo>
                <a:cubicBezTo>
                  <a:pt x="260330" y="285750"/>
                  <a:pt x="266700" y="279380"/>
                  <a:pt x="266700" y="271463"/>
                </a:cubicBezTo>
                <a:lnTo>
                  <a:pt x="266700" y="185738"/>
                </a:lnTo>
                <a:cubicBezTo>
                  <a:pt x="266700" y="179963"/>
                  <a:pt x="263247" y="174724"/>
                  <a:pt x="257889" y="172522"/>
                </a:cubicBezTo>
                <a:cubicBezTo>
                  <a:pt x="252532" y="170319"/>
                  <a:pt x="246400" y="171510"/>
                  <a:pt x="242292" y="175617"/>
                </a:cubicBezTo>
                <a:lnTo>
                  <a:pt x="218480" y="199430"/>
                </a:lnTo>
                <a:lnTo>
                  <a:pt x="171450" y="152400"/>
                </a:lnTo>
                <a:lnTo>
                  <a:pt x="218480" y="105370"/>
                </a:lnTo>
                <a:lnTo>
                  <a:pt x="242292" y="129183"/>
                </a:lnTo>
                <a:cubicBezTo>
                  <a:pt x="246400" y="133290"/>
                  <a:pt x="252532" y="134481"/>
                  <a:pt x="257889" y="132278"/>
                </a:cubicBezTo>
                <a:cubicBezTo>
                  <a:pt x="263247" y="130076"/>
                  <a:pt x="266700" y="124837"/>
                  <a:pt x="266700" y="119062"/>
                </a:cubicBezTo>
                <a:lnTo>
                  <a:pt x="266700" y="33338"/>
                </a:lnTo>
                <a:cubicBezTo>
                  <a:pt x="266700" y="25420"/>
                  <a:pt x="260330" y="19050"/>
                  <a:pt x="252413" y="19050"/>
                </a:cubicBezTo>
                <a:lnTo>
                  <a:pt x="166688" y="19050"/>
                </a:lnTo>
                <a:cubicBezTo>
                  <a:pt x="160913" y="19050"/>
                  <a:pt x="155674" y="22503"/>
                  <a:pt x="153472" y="27861"/>
                </a:cubicBezTo>
                <a:cubicBezTo>
                  <a:pt x="151269" y="33218"/>
                  <a:pt x="152519" y="39350"/>
                  <a:pt x="156567" y="43458"/>
                </a:cubicBezTo>
                <a:lnTo>
                  <a:pt x="180380" y="67270"/>
                </a:lnTo>
                <a:lnTo>
                  <a:pt x="133350" y="114300"/>
                </a:lnTo>
                <a:lnTo>
                  <a:pt x="86320" y="67270"/>
                </a:lnTo>
                <a:lnTo>
                  <a:pt x="110133" y="43458"/>
                </a:lnTo>
                <a:cubicBezTo>
                  <a:pt x="114240" y="39350"/>
                  <a:pt x="115431" y="33218"/>
                  <a:pt x="113228" y="27861"/>
                </a:cubicBezTo>
                <a:cubicBezTo>
                  <a:pt x="111026" y="22503"/>
                  <a:pt x="105787" y="19050"/>
                  <a:pt x="100013" y="1905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44600" y="1828800"/>
            <a:ext cx="2120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Federation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336800"/>
            <a:ext cx="476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水平扩展能力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：通过多个独立的 NameNode 并行工作，突破单点限制。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0988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核心特性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5052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独立命名空间管理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8608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共享 DataNode 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42164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命名空间完全隔离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5720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自动命名空间路由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98034" y="1828800"/>
            <a:ext cx="50800" cy="3048000"/>
          </a:xfrm>
          <a:custGeom>
            <a:avLst/>
            <a:gdLst/>
            <a:ahLst/>
            <a:cxnLst/>
            <a:rect l="l" t="t" r="r" b="b"/>
            <a:pathLst>
              <a:path w="50800" h="3048000">
                <a:moveTo>
                  <a:pt x="0" y="0"/>
                </a:moveTo>
                <a:lnTo>
                  <a:pt x="50800" y="0"/>
                </a:lnTo>
                <a:lnTo>
                  <a:pt x="50800" y="3048000"/>
                </a:lnTo>
                <a:lnTo>
                  <a:pt x="0" y="3048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5964734" y="185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409234" y="1828800"/>
            <a:ext cx="1854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 HA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26634" y="2336800"/>
            <a:ext cx="476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高可用性保证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：Active-Standby 架构，消除 NameNode 单点故障。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26634" y="30988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实现机制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26634" y="35052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QJM 共享存储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26634" y="38608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ZooKeeper 协调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26634" y="42164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自动故障转移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26634" y="45720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脑裂防护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862667" y="1828800"/>
            <a:ext cx="50800" cy="3048000"/>
          </a:xfrm>
          <a:custGeom>
            <a:avLst/>
            <a:gdLst/>
            <a:ahLst/>
            <a:cxnLst/>
            <a:rect l="l" t="t" r="r" b="b"/>
            <a:pathLst>
              <a:path w="50800" h="3048000">
                <a:moveTo>
                  <a:pt x="0" y="0"/>
                </a:moveTo>
                <a:lnTo>
                  <a:pt x="50800" y="0"/>
                </a:lnTo>
                <a:lnTo>
                  <a:pt x="50800" y="3048000"/>
                </a:lnTo>
                <a:lnTo>
                  <a:pt x="0" y="30480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1129367" y="185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61640" y="4167"/>
                </a:moveTo>
                <a:cubicBezTo>
                  <a:pt x="267236" y="-1429"/>
                  <a:pt x="276285" y="-1429"/>
                  <a:pt x="281821" y="4167"/>
                </a:cubicBezTo>
                <a:lnTo>
                  <a:pt x="300871" y="23217"/>
                </a:lnTo>
                <a:cubicBezTo>
                  <a:pt x="306467" y="28813"/>
                  <a:pt x="306467" y="37862"/>
                  <a:pt x="300871" y="43398"/>
                </a:cubicBezTo>
                <a:lnTo>
                  <a:pt x="249079" y="95190"/>
                </a:lnTo>
                <a:lnTo>
                  <a:pt x="272296" y="118408"/>
                </a:lnTo>
                <a:cubicBezTo>
                  <a:pt x="276404" y="122515"/>
                  <a:pt x="277594" y="128647"/>
                  <a:pt x="275392" y="134005"/>
                </a:cubicBezTo>
                <a:cubicBezTo>
                  <a:pt x="273189" y="139363"/>
                  <a:pt x="268010" y="142875"/>
                  <a:pt x="262235" y="142875"/>
                </a:cubicBezTo>
                <a:lnTo>
                  <a:pt x="176510" y="142875"/>
                </a:lnTo>
                <a:cubicBezTo>
                  <a:pt x="168592" y="142875"/>
                  <a:pt x="162223" y="136505"/>
                  <a:pt x="162223" y="128588"/>
                </a:cubicBezTo>
                <a:lnTo>
                  <a:pt x="162223" y="42863"/>
                </a:lnTo>
                <a:cubicBezTo>
                  <a:pt x="162223" y="37088"/>
                  <a:pt x="165675" y="31849"/>
                  <a:pt x="171033" y="29647"/>
                </a:cubicBezTo>
                <a:cubicBezTo>
                  <a:pt x="176391" y="27444"/>
                  <a:pt x="182523" y="28635"/>
                  <a:pt x="186630" y="32742"/>
                </a:cubicBezTo>
                <a:lnTo>
                  <a:pt x="209848" y="55959"/>
                </a:lnTo>
                <a:lnTo>
                  <a:pt x="261640" y="4167"/>
                </a:lnTo>
                <a:close/>
                <a:moveTo>
                  <a:pt x="43160" y="161925"/>
                </a:moveTo>
                <a:lnTo>
                  <a:pt x="128885" y="161925"/>
                </a:lnTo>
                <a:cubicBezTo>
                  <a:pt x="136803" y="161925"/>
                  <a:pt x="143173" y="168295"/>
                  <a:pt x="143173" y="176212"/>
                </a:cubicBezTo>
                <a:lnTo>
                  <a:pt x="143173" y="261937"/>
                </a:lnTo>
                <a:cubicBezTo>
                  <a:pt x="143173" y="267712"/>
                  <a:pt x="139720" y="272951"/>
                  <a:pt x="134362" y="275153"/>
                </a:cubicBezTo>
                <a:cubicBezTo>
                  <a:pt x="129004" y="277356"/>
                  <a:pt x="122872" y="276165"/>
                  <a:pt x="118765" y="272058"/>
                </a:cubicBezTo>
                <a:lnTo>
                  <a:pt x="95548" y="248841"/>
                </a:lnTo>
                <a:lnTo>
                  <a:pt x="43755" y="300633"/>
                </a:lnTo>
                <a:cubicBezTo>
                  <a:pt x="38160" y="306229"/>
                  <a:pt x="29111" y="306229"/>
                  <a:pt x="23574" y="300633"/>
                </a:cubicBezTo>
                <a:lnTo>
                  <a:pt x="4524" y="281583"/>
                </a:lnTo>
                <a:cubicBezTo>
                  <a:pt x="-1072" y="275987"/>
                  <a:pt x="-1072" y="266938"/>
                  <a:pt x="4524" y="261402"/>
                </a:cubicBezTo>
                <a:lnTo>
                  <a:pt x="56317" y="209610"/>
                </a:lnTo>
                <a:lnTo>
                  <a:pt x="33099" y="186392"/>
                </a:lnTo>
                <a:cubicBezTo>
                  <a:pt x="28992" y="182285"/>
                  <a:pt x="27801" y="176153"/>
                  <a:pt x="30004" y="170795"/>
                </a:cubicBezTo>
                <a:cubicBezTo>
                  <a:pt x="32206" y="165437"/>
                  <a:pt x="37386" y="161925"/>
                  <a:pt x="43160" y="161925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1573867" y="1828800"/>
            <a:ext cx="2908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纠删码 (Erasure Coding)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91267" y="2336800"/>
            <a:ext cx="476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存储效率提升</a:t>
            </a: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：相比三副本，存储开销从 200% 降低到 50%。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091267" y="30988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技术方案对比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091267" y="35052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传统三副本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747081" y="3505200"/>
            <a:ext cx="110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200% 开销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091267" y="3860800"/>
            <a:ext cx="143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RS(6,3) 纠删码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867434" y="38608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50% 开销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091267" y="42164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RS(10,4) 纠删码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869616" y="4216400"/>
            <a:ext cx="977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40% 开销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33400" y="5130800"/>
            <a:ext cx="50800" cy="3505200"/>
          </a:xfrm>
          <a:custGeom>
            <a:avLst/>
            <a:gdLst/>
            <a:ahLst/>
            <a:cxnLst/>
            <a:rect l="l" t="t" r="r" b="b"/>
            <a:pathLst>
              <a:path w="50800" h="3505200">
                <a:moveTo>
                  <a:pt x="0" y="0"/>
                </a:moveTo>
                <a:lnTo>
                  <a:pt x="50800" y="0"/>
                </a:lnTo>
                <a:lnTo>
                  <a:pt x="50800" y="3505200"/>
                </a:lnTo>
                <a:lnTo>
                  <a:pt x="0" y="35052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28675" y="51816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0" y="166688"/>
                </a:moveTo>
                <a:cubicBezTo>
                  <a:pt x="0" y="206127"/>
                  <a:pt x="31998" y="238125"/>
                  <a:pt x="71438" y="238125"/>
                </a:cubicBezTo>
                <a:lnTo>
                  <a:pt x="222250" y="238125"/>
                </a:lnTo>
                <a:cubicBezTo>
                  <a:pt x="257324" y="238125"/>
                  <a:pt x="285750" y="209699"/>
                  <a:pt x="285750" y="174625"/>
                </a:cubicBezTo>
                <a:cubicBezTo>
                  <a:pt x="285750" y="149027"/>
                  <a:pt x="270619" y="126950"/>
                  <a:pt x="248791" y="116929"/>
                </a:cubicBezTo>
                <a:cubicBezTo>
                  <a:pt x="252115" y="110430"/>
                  <a:pt x="254000" y="103039"/>
                  <a:pt x="254000" y="95250"/>
                </a:cubicBezTo>
                <a:cubicBezTo>
                  <a:pt x="254000" y="68957"/>
                  <a:pt x="232668" y="47625"/>
                  <a:pt x="206375" y="47625"/>
                </a:cubicBezTo>
                <a:cubicBezTo>
                  <a:pt x="197594" y="47625"/>
                  <a:pt x="189409" y="50006"/>
                  <a:pt x="182364" y="54124"/>
                </a:cubicBezTo>
                <a:cubicBezTo>
                  <a:pt x="170408" y="31403"/>
                  <a:pt x="146546" y="15875"/>
                  <a:pt x="119063" y="15875"/>
                </a:cubicBezTo>
                <a:cubicBezTo>
                  <a:pt x="79623" y="15875"/>
                  <a:pt x="47625" y="47873"/>
                  <a:pt x="47625" y="87313"/>
                </a:cubicBezTo>
                <a:cubicBezTo>
                  <a:pt x="47625" y="91281"/>
                  <a:pt x="47972" y="95200"/>
                  <a:pt x="48568" y="98971"/>
                </a:cubicBezTo>
                <a:cubicBezTo>
                  <a:pt x="20340" y="108496"/>
                  <a:pt x="0" y="135235"/>
                  <a:pt x="0" y="166688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282700" y="51308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云原生与容器化支持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12800" y="5638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Kubernetes 集成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12800" y="60452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HDFS on K8s：在 Kubernetes 上部署 HDFS 集群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12800" y="6400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弹性伸缩：根据负载自动扩展 DataNode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12800" y="67564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存储编排：与 K8s 存储系统集成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12800" y="72136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容器支持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12800" y="76200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官方 Docker 镜像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12800" y="79756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快速部署和测试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12800" y="83312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开发环境友好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05800" y="5130800"/>
            <a:ext cx="50800" cy="3505200"/>
          </a:xfrm>
          <a:custGeom>
            <a:avLst/>
            <a:gdLst/>
            <a:ahLst/>
            <a:cxnLst/>
            <a:rect l="l" t="t" r="r" b="b"/>
            <a:pathLst>
              <a:path w="50800" h="3505200">
                <a:moveTo>
                  <a:pt x="0" y="0"/>
                </a:moveTo>
                <a:lnTo>
                  <a:pt x="50800" y="0"/>
                </a:lnTo>
                <a:lnTo>
                  <a:pt x="50800" y="3505200"/>
                </a:lnTo>
                <a:lnTo>
                  <a:pt x="0" y="35052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8632825" y="51816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129034"/>
                </a:lnTo>
                <a:cubicBezTo>
                  <a:pt x="8979" y="122734"/>
                  <a:pt x="19943" y="119063"/>
                  <a:pt x="31750" y="119063"/>
                </a:cubicBezTo>
                <a:lnTo>
                  <a:pt x="190500" y="119063"/>
                </a:lnTo>
                <a:cubicBezTo>
                  <a:pt x="202307" y="119063"/>
                  <a:pt x="213271" y="122734"/>
                  <a:pt x="222250" y="129034"/>
                </a:cubicBezTo>
                <a:lnTo>
                  <a:pt x="222250" y="47625"/>
                </a:lnTo>
                <a:cubicBezTo>
                  <a:pt x="222250" y="30113"/>
                  <a:pt x="208012" y="15875"/>
                  <a:pt x="190500" y="15875"/>
                </a:cubicBezTo>
                <a:lnTo>
                  <a:pt x="31750" y="15875"/>
                </a:lnTo>
                <a:close/>
                <a:moveTo>
                  <a:pt x="222250" y="174625"/>
                </a:moveTo>
                <a:cubicBezTo>
                  <a:pt x="222250" y="157113"/>
                  <a:pt x="208012" y="142875"/>
                  <a:pt x="190500" y="142875"/>
                </a:cubicBezTo>
                <a:lnTo>
                  <a:pt x="31750" y="142875"/>
                </a:lnTo>
                <a:cubicBezTo>
                  <a:pt x="14238" y="142875"/>
                  <a:pt x="0" y="157113"/>
                  <a:pt x="0" y="174625"/>
                </a:cubicBezTo>
                <a:lnTo>
                  <a:pt x="0" y="206375"/>
                </a:lnTo>
                <a:cubicBezTo>
                  <a:pt x="0" y="223887"/>
                  <a:pt x="14238" y="238125"/>
                  <a:pt x="31750" y="238125"/>
                </a:cubicBezTo>
                <a:lnTo>
                  <a:pt x="190500" y="238125"/>
                </a:lnTo>
                <a:cubicBezTo>
                  <a:pt x="208012" y="238125"/>
                  <a:pt x="222250" y="223887"/>
                  <a:pt x="222250" y="206375"/>
                </a:cubicBezTo>
                <a:lnTo>
                  <a:pt x="222250" y="174625"/>
                </a:lnTo>
                <a:close/>
                <a:moveTo>
                  <a:pt x="111125" y="190500"/>
                </a:moveTo>
                <a:cubicBezTo>
                  <a:pt x="111125" y="181738"/>
                  <a:pt x="118238" y="174625"/>
                  <a:pt x="127000" y="174625"/>
                </a:cubicBezTo>
                <a:cubicBezTo>
                  <a:pt x="135762" y="174625"/>
                  <a:pt x="142875" y="181738"/>
                  <a:pt x="142875" y="190500"/>
                </a:cubicBezTo>
                <a:cubicBezTo>
                  <a:pt x="142875" y="199262"/>
                  <a:pt x="135762" y="206375"/>
                  <a:pt x="127000" y="206375"/>
                </a:cubicBezTo>
                <a:cubicBezTo>
                  <a:pt x="118238" y="206375"/>
                  <a:pt x="111125" y="199262"/>
                  <a:pt x="111125" y="190500"/>
                </a:cubicBezTo>
                <a:close/>
                <a:moveTo>
                  <a:pt x="174625" y="174625"/>
                </a:moveTo>
                <a:cubicBezTo>
                  <a:pt x="183387" y="174625"/>
                  <a:pt x="190500" y="181738"/>
                  <a:pt x="190500" y="190500"/>
                </a:cubicBezTo>
                <a:cubicBezTo>
                  <a:pt x="190500" y="199262"/>
                  <a:pt x="183387" y="206375"/>
                  <a:pt x="174625" y="206375"/>
                </a:cubicBezTo>
                <a:cubicBezTo>
                  <a:pt x="165863" y="206375"/>
                  <a:pt x="158750" y="199262"/>
                  <a:pt x="158750" y="190500"/>
                </a:cubicBezTo>
                <a:cubicBezTo>
                  <a:pt x="158750" y="181738"/>
                  <a:pt x="165863" y="174625"/>
                  <a:pt x="174625" y="174625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9055100" y="51308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异构存储支持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585200" y="5638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存储类型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585200" y="60452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SSD：高速缓存，存储热数据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585200" y="64008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HDD：大容量存储，存储温数据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585200" y="67564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ARCHIVE：冷数据归档存储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585200" y="72136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智能管理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585200" y="76200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基于策略的数据放置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585200" y="79756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自动数据迁移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585200" y="8331200"/>
            <a:ext cx="726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冷热数据分层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5526" y="435526"/>
            <a:ext cx="15461165" cy="217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kern="0" spc="6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35526" y="740394"/>
            <a:ext cx="15580935" cy="4355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86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性能调优最佳实践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35526" y="1306577"/>
            <a:ext cx="1045262" cy="43553"/>
          </a:xfrm>
          <a:custGeom>
            <a:avLst/>
            <a:gdLst/>
            <a:ahLst/>
            <a:cxnLst/>
            <a:rect l="l" t="t" r="r" b="b"/>
            <a:pathLst>
              <a:path w="1045262" h="43553">
                <a:moveTo>
                  <a:pt x="0" y="0"/>
                </a:moveTo>
                <a:lnTo>
                  <a:pt x="1045262" y="0"/>
                </a:lnTo>
                <a:lnTo>
                  <a:pt x="1045262" y="43553"/>
                </a:lnTo>
                <a:lnTo>
                  <a:pt x="0" y="43553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7302" y="1567893"/>
            <a:ext cx="43553" cy="3005128"/>
          </a:xfrm>
          <a:custGeom>
            <a:avLst/>
            <a:gdLst/>
            <a:ahLst/>
            <a:cxnLst/>
            <a:rect l="l" t="t" r="r" b="b"/>
            <a:pathLst>
              <a:path w="43553" h="3005128">
                <a:moveTo>
                  <a:pt x="0" y="0"/>
                </a:moveTo>
                <a:lnTo>
                  <a:pt x="43553" y="0"/>
                </a:lnTo>
                <a:lnTo>
                  <a:pt x="43553" y="3005128"/>
                </a:lnTo>
                <a:lnTo>
                  <a:pt x="0" y="3005128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53289" y="1589669"/>
            <a:ext cx="326644" cy="261315"/>
          </a:xfrm>
          <a:custGeom>
            <a:avLst/>
            <a:gdLst/>
            <a:ahLst/>
            <a:cxnLst/>
            <a:rect l="l" t="t" r="r" b="b"/>
            <a:pathLst>
              <a:path w="326644" h="261315">
                <a:moveTo>
                  <a:pt x="212268" y="107435"/>
                </a:moveTo>
                <a:cubicBezTo>
                  <a:pt x="218494" y="105751"/>
                  <a:pt x="225027" y="108711"/>
                  <a:pt x="227834" y="114479"/>
                </a:cubicBezTo>
                <a:lnTo>
                  <a:pt x="237328" y="133669"/>
                </a:lnTo>
                <a:cubicBezTo>
                  <a:pt x="242584" y="134384"/>
                  <a:pt x="247739" y="135813"/>
                  <a:pt x="252588" y="137803"/>
                </a:cubicBezTo>
                <a:lnTo>
                  <a:pt x="270451" y="125911"/>
                </a:lnTo>
                <a:cubicBezTo>
                  <a:pt x="275810" y="122339"/>
                  <a:pt x="282905" y="123053"/>
                  <a:pt x="287447" y="127595"/>
                </a:cubicBezTo>
                <a:lnTo>
                  <a:pt x="297246" y="137395"/>
                </a:lnTo>
                <a:cubicBezTo>
                  <a:pt x="301789" y="141937"/>
                  <a:pt x="302503" y="149083"/>
                  <a:pt x="298931" y="154390"/>
                </a:cubicBezTo>
                <a:lnTo>
                  <a:pt x="287039" y="172203"/>
                </a:lnTo>
                <a:cubicBezTo>
                  <a:pt x="288008" y="174602"/>
                  <a:pt x="288876" y="177102"/>
                  <a:pt x="289591" y="179705"/>
                </a:cubicBezTo>
                <a:cubicBezTo>
                  <a:pt x="290305" y="182308"/>
                  <a:pt x="290765" y="184860"/>
                  <a:pt x="291122" y="187463"/>
                </a:cubicBezTo>
                <a:lnTo>
                  <a:pt x="310363" y="196956"/>
                </a:lnTo>
                <a:cubicBezTo>
                  <a:pt x="316130" y="199814"/>
                  <a:pt x="319091" y="206347"/>
                  <a:pt x="317406" y="212523"/>
                </a:cubicBezTo>
                <a:lnTo>
                  <a:pt x="313834" y="225895"/>
                </a:lnTo>
                <a:cubicBezTo>
                  <a:pt x="312149" y="232071"/>
                  <a:pt x="306382" y="236256"/>
                  <a:pt x="299951" y="235847"/>
                </a:cubicBezTo>
                <a:lnTo>
                  <a:pt x="278515" y="234469"/>
                </a:lnTo>
                <a:cubicBezTo>
                  <a:pt x="275300" y="238603"/>
                  <a:pt x="271574" y="242431"/>
                  <a:pt x="267338" y="245698"/>
                </a:cubicBezTo>
                <a:lnTo>
                  <a:pt x="268716" y="267083"/>
                </a:lnTo>
                <a:cubicBezTo>
                  <a:pt x="269124" y="273514"/>
                  <a:pt x="264939" y="279332"/>
                  <a:pt x="258764" y="280965"/>
                </a:cubicBezTo>
                <a:lnTo>
                  <a:pt x="245392" y="284538"/>
                </a:lnTo>
                <a:cubicBezTo>
                  <a:pt x="239165" y="286222"/>
                  <a:pt x="232683" y="283262"/>
                  <a:pt x="229825" y="277495"/>
                </a:cubicBezTo>
                <a:lnTo>
                  <a:pt x="220332" y="258304"/>
                </a:lnTo>
                <a:cubicBezTo>
                  <a:pt x="215075" y="257590"/>
                  <a:pt x="209920" y="256161"/>
                  <a:pt x="205071" y="254170"/>
                </a:cubicBezTo>
                <a:lnTo>
                  <a:pt x="187208" y="266062"/>
                </a:lnTo>
                <a:cubicBezTo>
                  <a:pt x="181849" y="269635"/>
                  <a:pt x="174755" y="268920"/>
                  <a:pt x="170212" y="264378"/>
                </a:cubicBezTo>
                <a:lnTo>
                  <a:pt x="160413" y="254578"/>
                </a:lnTo>
                <a:cubicBezTo>
                  <a:pt x="155871" y="250036"/>
                  <a:pt x="155156" y="242942"/>
                  <a:pt x="158729" y="237583"/>
                </a:cubicBezTo>
                <a:lnTo>
                  <a:pt x="170621" y="219719"/>
                </a:lnTo>
                <a:cubicBezTo>
                  <a:pt x="169651" y="217321"/>
                  <a:pt x="168783" y="214820"/>
                  <a:pt x="168069" y="212217"/>
                </a:cubicBezTo>
                <a:cubicBezTo>
                  <a:pt x="167354" y="209614"/>
                  <a:pt x="166895" y="207011"/>
                  <a:pt x="166538" y="204459"/>
                </a:cubicBezTo>
                <a:lnTo>
                  <a:pt x="147296" y="194966"/>
                </a:lnTo>
                <a:cubicBezTo>
                  <a:pt x="141529" y="192108"/>
                  <a:pt x="138620" y="185575"/>
                  <a:pt x="140253" y="179399"/>
                </a:cubicBezTo>
                <a:lnTo>
                  <a:pt x="143826" y="166027"/>
                </a:lnTo>
                <a:cubicBezTo>
                  <a:pt x="145510" y="159852"/>
                  <a:pt x="151277" y="155666"/>
                  <a:pt x="157708" y="156075"/>
                </a:cubicBezTo>
                <a:lnTo>
                  <a:pt x="179093" y="157453"/>
                </a:lnTo>
                <a:cubicBezTo>
                  <a:pt x="182308" y="153319"/>
                  <a:pt x="186034" y="149491"/>
                  <a:pt x="190270" y="146224"/>
                </a:cubicBezTo>
                <a:lnTo>
                  <a:pt x="188892" y="124890"/>
                </a:lnTo>
                <a:cubicBezTo>
                  <a:pt x="188484" y="118460"/>
                  <a:pt x="192669" y="112641"/>
                  <a:pt x="198845" y="111008"/>
                </a:cubicBezTo>
                <a:lnTo>
                  <a:pt x="212217" y="107435"/>
                </a:lnTo>
                <a:close/>
                <a:moveTo>
                  <a:pt x="228855" y="173530"/>
                </a:moveTo>
                <a:cubicBezTo>
                  <a:pt x="216461" y="173544"/>
                  <a:pt x="206410" y="183618"/>
                  <a:pt x="206424" y="196012"/>
                </a:cubicBezTo>
                <a:cubicBezTo>
                  <a:pt x="206438" y="208406"/>
                  <a:pt x="216512" y="218457"/>
                  <a:pt x="228906" y="218443"/>
                </a:cubicBezTo>
                <a:cubicBezTo>
                  <a:pt x="241300" y="218429"/>
                  <a:pt x="251352" y="208355"/>
                  <a:pt x="251338" y="195961"/>
                </a:cubicBezTo>
                <a:cubicBezTo>
                  <a:pt x="251323" y="183567"/>
                  <a:pt x="241249" y="173516"/>
                  <a:pt x="228855" y="173530"/>
                </a:cubicBezTo>
                <a:close/>
                <a:moveTo>
                  <a:pt x="114785" y="-23222"/>
                </a:moveTo>
                <a:lnTo>
                  <a:pt x="128157" y="-19650"/>
                </a:lnTo>
                <a:cubicBezTo>
                  <a:pt x="134332" y="-17965"/>
                  <a:pt x="138518" y="-12147"/>
                  <a:pt x="138109" y="-5767"/>
                </a:cubicBezTo>
                <a:lnTo>
                  <a:pt x="136731" y="15567"/>
                </a:lnTo>
                <a:cubicBezTo>
                  <a:pt x="140967" y="18833"/>
                  <a:pt x="144693" y="22610"/>
                  <a:pt x="147909" y="26795"/>
                </a:cubicBezTo>
                <a:lnTo>
                  <a:pt x="169345" y="25417"/>
                </a:lnTo>
                <a:cubicBezTo>
                  <a:pt x="175724" y="25009"/>
                  <a:pt x="181543" y="29194"/>
                  <a:pt x="183227" y="35369"/>
                </a:cubicBezTo>
                <a:lnTo>
                  <a:pt x="186800" y="48741"/>
                </a:lnTo>
                <a:cubicBezTo>
                  <a:pt x="188433" y="54917"/>
                  <a:pt x="185524" y="61450"/>
                  <a:pt x="179756" y="64308"/>
                </a:cubicBezTo>
                <a:lnTo>
                  <a:pt x="160515" y="73801"/>
                </a:lnTo>
                <a:cubicBezTo>
                  <a:pt x="160158" y="76404"/>
                  <a:pt x="159647" y="79007"/>
                  <a:pt x="158984" y="81559"/>
                </a:cubicBezTo>
                <a:cubicBezTo>
                  <a:pt x="158320" y="84111"/>
                  <a:pt x="157402" y="86663"/>
                  <a:pt x="156432" y="89062"/>
                </a:cubicBezTo>
                <a:lnTo>
                  <a:pt x="168324" y="106925"/>
                </a:lnTo>
                <a:cubicBezTo>
                  <a:pt x="171897" y="112284"/>
                  <a:pt x="171182" y="119378"/>
                  <a:pt x="166640" y="123921"/>
                </a:cubicBezTo>
                <a:lnTo>
                  <a:pt x="156840" y="133720"/>
                </a:lnTo>
                <a:cubicBezTo>
                  <a:pt x="152298" y="138262"/>
                  <a:pt x="145204" y="138977"/>
                  <a:pt x="139845" y="135404"/>
                </a:cubicBezTo>
                <a:lnTo>
                  <a:pt x="121981" y="123512"/>
                </a:lnTo>
                <a:cubicBezTo>
                  <a:pt x="117133" y="125503"/>
                  <a:pt x="111978" y="126932"/>
                  <a:pt x="106721" y="127646"/>
                </a:cubicBezTo>
                <a:lnTo>
                  <a:pt x="97228" y="146837"/>
                </a:lnTo>
                <a:cubicBezTo>
                  <a:pt x="94370" y="152604"/>
                  <a:pt x="87837" y="155513"/>
                  <a:pt x="81661" y="153880"/>
                </a:cubicBezTo>
                <a:lnTo>
                  <a:pt x="68289" y="150307"/>
                </a:lnTo>
                <a:cubicBezTo>
                  <a:pt x="62062" y="148623"/>
                  <a:pt x="57928" y="142805"/>
                  <a:pt x="58337" y="136425"/>
                </a:cubicBezTo>
                <a:lnTo>
                  <a:pt x="59715" y="115040"/>
                </a:lnTo>
                <a:cubicBezTo>
                  <a:pt x="55478" y="111774"/>
                  <a:pt x="51753" y="107997"/>
                  <a:pt x="48537" y="103812"/>
                </a:cubicBezTo>
                <a:lnTo>
                  <a:pt x="27101" y="105190"/>
                </a:lnTo>
                <a:cubicBezTo>
                  <a:pt x="20722" y="105598"/>
                  <a:pt x="14903" y="101413"/>
                  <a:pt x="13219" y="95237"/>
                </a:cubicBezTo>
                <a:lnTo>
                  <a:pt x="9646" y="81865"/>
                </a:lnTo>
                <a:cubicBezTo>
                  <a:pt x="8013" y="75690"/>
                  <a:pt x="10922" y="69157"/>
                  <a:pt x="16689" y="66299"/>
                </a:cubicBezTo>
                <a:lnTo>
                  <a:pt x="35931" y="56805"/>
                </a:lnTo>
                <a:cubicBezTo>
                  <a:pt x="36288" y="54203"/>
                  <a:pt x="36799" y="51651"/>
                  <a:pt x="37462" y="49048"/>
                </a:cubicBezTo>
                <a:cubicBezTo>
                  <a:pt x="38177" y="46445"/>
                  <a:pt x="38993" y="43944"/>
                  <a:pt x="40014" y="41545"/>
                </a:cubicBezTo>
                <a:lnTo>
                  <a:pt x="28122" y="23733"/>
                </a:lnTo>
                <a:cubicBezTo>
                  <a:pt x="24549" y="18374"/>
                  <a:pt x="25264" y="11279"/>
                  <a:pt x="29806" y="6737"/>
                </a:cubicBezTo>
                <a:lnTo>
                  <a:pt x="39606" y="-3062"/>
                </a:lnTo>
                <a:cubicBezTo>
                  <a:pt x="44148" y="-7605"/>
                  <a:pt x="51242" y="-8319"/>
                  <a:pt x="56601" y="-4747"/>
                </a:cubicBezTo>
                <a:lnTo>
                  <a:pt x="74465" y="7145"/>
                </a:lnTo>
                <a:cubicBezTo>
                  <a:pt x="79313" y="5155"/>
                  <a:pt x="84468" y="3726"/>
                  <a:pt x="89725" y="3011"/>
                </a:cubicBezTo>
                <a:lnTo>
                  <a:pt x="99218" y="-16179"/>
                </a:lnTo>
                <a:cubicBezTo>
                  <a:pt x="102076" y="-21946"/>
                  <a:pt x="108558" y="-24856"/>
                  <a:pt x="114785" y="-23222"/>
                </a:cubicBezTo>
                <a:close/>
                <a:moveTo>
                  <a:pt x="98197" y="42872"/>
                </a:moveTo>
                <a:cubicBezTo>
                  <a:pt x="85803" y="42872"/>
                  <a:pt x="75741" y="52935"/>
                  <a:pt x="75741" y="65329"/>
                </a:cubicBezTo>
                <a:cubicBezTo>
                  <a:pt x="75741" y="77723"/>
                  <a:pt x="85803" y="87786"/>
                  <a:pt x="98197" y="87786"/>
                </a:cubicBezTo>
                <a:cubicBezTo>
                  <a:pt x="110592" y="87786"/>
                  <a:pt x="120654" y="77723"/>
                  <a:pt x="120654" y="65329"/>
                </a:cubicBezTo>
                <a:cubicBezTo>
                  <a:pt x="120654" y="52935"/>
                  <a:pt x="110592" y="42872"/>
                  <a:pt x="98197" y="42872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67038" y="1567893"/>
            <a:ext cx="979933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1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配置优化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3289" y="2003419"/>
            <a:ext cx="485611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块大小配置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289" y="2351839"/>
            <a:ext cx="485611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大文件：256MB-512MB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3289" y="2656707"/>
            <a:ext cx="485611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中等文件：128MB（默认）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289" y="2961575"/>
            <a:ext cx="485611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小文件：64MB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289" y="3353549"/>
            <a:ext cx="485611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副本因子选择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289" y="3701969"/>
            <a:ext cx="485611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重要数据：3 副本（默认）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289" y="4006837"/>
            <a:ext cx="485611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一般数据：2 副本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3289" y="4311705"/>
            <a:ext cx="485611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临时数据：1 副本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59368" y="1567893"/>
            <a:ext cx="43553" cy="3005128"/>
          </a:xfrm>
          <a:custGeom>
            <a:avLst/>
            <a:gdLst/>
            <a:ahLst/>
            <a:cxnLst/>
            <a:rect l="l" t="t" r="r" b="b"/>
            <a:pathLst>
              <a:path w="43553" h="3005128">
                <a:moveTo>
                  <a:pt x="0" y="0"/>
                </a:moveTo>
                <a:lnTo>
                  <a:pt x="43553" y="0"/>
                </a:lnTo>
                <a:lnTo>
                  <a:pt x="43553" y="3005128"/>
                </a:lnTo>
                <a:lnTo>
                  <a:pt x="0" y="3005128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871687" y="1589669"/>
            <a:ext cx="293980" cy="261315"/>
          </a:xfrm>
          <a:custGeom>
            <a:avLst/>
            <a:gdLst/>
            <a:ahLst/>
            <a:cxnLst/>
            <a:rect l="l" t="t" r="r" b="b"/>
            <a:pathLst>
              <a:path w="293980" h="261315">
                <a:moveTo>
                  <a:pt x="126575" y="44914"/>
                </a:moveTo>
                <a:lnTo>
                  <a:pt x="167405" y="44914"/>
                </a:lnTo>
                <a:lnTo>
                  <a:pt x="167405" y="69412"/>
                </a:lnTo>
                <a:lnTo>
                  <a:pt x="126575" y="69412"/>
                </a:lnTo>
                <a:lnTo>
                  <a:pt x="126575" y="44914"/>
                </a:lnTo>
                <a:close/>
                <a:moveTo>
                  <a:pt x="122492" y="16332"/>
                </a:moveTo>
                <a:cubicBezTo>
                  <a:pt x="108967" y="16332"/>
                  <a:pt x="97993" y="27305"/>
                  <a:pt x="97993" y="40831"/>
                </a:cubicBezTo>
                <a:lnTo>
                  <a:pt x="97993" y="73495"/>
                </a:lnTo>
                <a:cubicBezTo>
                  <a:pt x="97993" y="87020"/>
                  <a:pt x="108967" y="97993"/>
                  <a:pt x="122492" y="97993"/>
                </a:cubicBezTo>
                <a:lnTo>
                  <a:pt x="130658" y="97993"/>
                </a:lnTo>
                <a:lnTo>
                  <a:pt x="130658" y="114326"/>
                </a:lnTo>
                <a:lnTo>
                  <a:pt x="16332" y="114326"/>
                </a:lnTo>
                <a:cubicBezTo>
                  <a:pt x="7298" y="114326"/>
                  <a:pt x="0" y="121624"/>
                  <a:pt x="0" y="130658"/>
                </a:cubicBezTo>
                <a:cubicBezTo>
                  <a:pt x="0" y="139691"/>
                  <a:pt x="7298" y="146990"/>
                  <a:pt x="16332" y="146990"/>
                </a:cubicBezTo>
                <a:lnTo>
                  <a:pt x="65329" y="146990"/>
                </a:lnTo>
                <a:lnTo>
                  <a:pt x="65329" y="163322"/>
                </a:lnTo>
                <a:lnTo>
                  <a:pt x="57163" y="163322"/>
                </a:lnTo>
                <a:cubicBezTo>
                  <a:pt x="43638" y="163322"/>
                  <a:pt x="32664" y="174295"/>
                  <a:pt x="32664" y="187820"/>
                </a:cubicBezTo>
                <a:lnTo>
                  <a:pt x="32664" y="220485"/>
                </a:lnTo>
                <a:cubicBezTo>
                  <a:pt x="32664" y="234010"/>
                  <a:pt x="43638" y="244983"/>
                  <a:pt x="57163" y="244983"/>
                </a:cubicBezTo>
                <a:lnTo>
                  <a:pt x="106159" y="244983"/>
                </a:lnTo>
                <a:cubicBezTo>
                  <a:pt x="119685" y="244983"/>
                  <a:pt x="130658" y="234010"/>
                  <a:pt x="130658" y="220485"/>
                </a:cubicBezTo>
                <a:lnTo>
                  <a:pt x="130658" y="187820"/>
                </a:lnTo>
                <a:cubicBezTo>
                  <a:pt x="130658" y="174295"/>
                  <a:pt x="119685" y="163322"/>
                  <a:pt x="106159" y="163322"/>
                </a:cubicBezTo>
                <a:lnTo>
                  <a:pt x="97993" y="163322"/>
                </a:lnTo>
                <a:lnTo>
                  <a:pt x="97993" y="146990"/>
                </a:lnTo>
                <a:lnTo>
                  <a:pt x="195987" y="146990"/>
                </a:lnTo>
                <a:lnTo>
                  <a:pt x="195987" y="163322"/>
                </a:lnTo>
                <a:lnTo>
                  <a:pt x="187820" y="163322"/>
                </a:lnTo>
                <a:cubicBezTo>
                  <a:pt x="174295" y="163322"/>
                  <a:pt x="163322" y="174295"/>
                  <a:pt x="163322" y="187820"/>
                </a:cubicBezTo>
                <a:lnTo>
                  <a:pt x="163322" y="220485"/>
                </a:lnTo>
                <a:cubicBezTo>
                  <a:pt x="163322" y="234010"/>
                  <a:pt x="174295" y="244983"/>
                  <a:pt x="187820" y="244983"/>
                </a:cubicBezTo>
                <a:lnTo>
                  <a:pt x="236817" y="244983"/>
                </a:lnTo>
                <a:cubicBezTo>
                  <a:pt x="250342" y="244983"/>
                  <a:pt x="261315" y="234010"/>
                  <a:pt x="261315" y="220485"/>
                </a:cubicBezTo>
                <a:lnTo>
                  <a:pt x="261315" y="187820"/>
                </a:lnTo>
                <a:cubicBezTo>
                  <a:pt x="261315" y="174295"/>
                  <a:pt x="250342" y="163322"/>
                  <a:pt x="236817" y="163322"/>
                </a:cubicBezTo>
                <a:lnTo>
                  <a:pt x="228651" y="163322"/>
                </a:lnTo>
                <a:lnTo>
                  <a:pt x="228651" y="146990"/>
                </a:lnTo>
                <a:lnTo>
                  <a:pt x="277648" y="146990"/>
                </a:lnTo>
                <a:cubicBezTo>
                  <a:pt x="286681" y="146990"/>
                  <a:pt x="293980" y="139691"/>
                  <a:pt x="293980" y="130658"/>
                </a:cubicBezTo>
                <a:cubicBezTo>
                  <a:pt x="293980" y="121624"/>
                  <a:pt x="286681" y="114326"/>
                  <a:pt x="277648" y="114326"/>
                </a:cubicBezTo>
                <a:lnTo>
                  <a:pt x="163322" y="114326"/>
                </a:lnTo>
                <a:lnTo>
                  <a:pt x="163322" y="97993"/>
                </a:lnTo>
                <a:lnTo>
                  <a:pt x="171488" y="97993"/>
                </a:lnTo>
                <a:cubicBezTo>
                  <a:pt x="185013" y="97993"/>
                  <a:pt x="195987" y="87020"/>
                  <a:pt x="195987" y="73495"/>
                </a:cubicBezTo>
                <a:lnTo>
                  <a:pt x="195987" y="40831"/>
                </a:lnTo>
                <a:cubicBezTo>
                  <a:pt x="195987" y="27305"/>
                  <a:pt x="185013" y="16332"/>
                  <a:pt x="171488" y="16332"/>
                </a:cubicBezTo>
                <a:lnTo>
                  <a:pt x="122492" y="16332"/>
                </a:lnTo>
                <a:close/>
                <a:moveTo>
                  <a:pt x="228651" y="191904"/>
                </a:moveTo>
                <a:lnTo>
                  <a:pt x="232734" y="191904"/>
                </a:lnTo>
                <a:lnTo>
                  <a:pt x="232734" y="216402"/>
                </a:lnTo>
                <a:lnTo>
                  <a:pt x="191904" y="216402"/>
                </a:lnTo>
                <a:lnTo>
                  <a:pt x="191904" y="191904"/>
                </a:lnTo>
                <a:lnTo>
                  <a:pt x="228651" y="191904"/>
                </a:lnTo>
                <a:close/>
                <a:moveTo>
                  <a:pt x="97993" y="191904"/>
                </a:moveTo>
                <a:lnTo>
                  <a:pt x="102076" y="191904"/>
                </a:lnTo>
                <a:lnTo>
                  <a:pt x="102076" y="216402"/>
                </a:lnTo>
                <a:lnTo>
                  <a:pt x="61246" y="216402"/>
                </a:lnTo>
                <a:lnTo>
                  <a:pt x="61246" y="191904"/>
                </a:lnTo>
                <a:lnTo>
                  <a:pt x="97993" y="191904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269104" y="1567893"/>
            <a:ext cx="979933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1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网络优化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55355" y="2003419"/>
            <a:ext cx="485611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机架感知配置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55355" y="2351839"/>
            <a:ext cx="485611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配置机架拓扑脚本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55355" y="2656707"/>
            <a:ext cx="485611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优化副本放置策略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55355" y="2961575"/>
            <a:ext cx="485611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减少跨机架传输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55355" y="3353549"/>
            <a:ext cx="485611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带宽优化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55355" y="3701969"/>
            <a:ext cx="485611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限制副本复制带宽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55355" y="4006837"/>
            <a:ext cx="485611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配置均衡器带宽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55355" y="4311705"/>
            <a:ext cx="485611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网络 QoS 配置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861435" y="1567893"/>
            <a:ext cx="43553" cy="3005128"/>
          </a:xfrm>
          <a:custGeom>
            <a:avLst/>
            <a:gdLst/>
            <a:ahLst/>
            <a:cxnLst/>
            <a:rect l="l" t="t" r="r" b="b"/>
            <a:pathLst>
              <a:path w="43553" h="3005128">
                <a:moveTo>
                  <a:pt x="0" y="0"/>
                </a:moveTo>
                <a:lnTo>
                  <a:pt x="43553" y="0"/>
                </a:lnTo>
                <a:lnTo>
                  <a:pt x="43553" y="3005128"/>
                </a:lnTo>
                <a:lnTo>
                  <a:pt x="0" y="3005128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11090086" y="1589669"/>
            <a:ext cx="261315" cy="261315"/>
          </a:xfrm>
          <a:custGeom>
            <a:avLst/>
            <a:gdLst/>
            <a:ahLst/>
            <a:cxnLst/>
            <a:rect l="l" t="t" r="r" b="b"/>
            <a:pathLst>
              <a:path w="261315" h="261315">
                <a:moveTo>
                  <a:pt x="32664" y="32664"/>
                </a:moveTo>
                <a:cubicBezTo>
                  <a:pt x="14648" y="32664"/>
                  <a:pt x="0" y="47312"/>
                  <a:pt x="0" y="65329"/>
                </a:cubicBezTo>
                <a:lnTo>
                  <a:pt x="0" y="69106"/>
                </a:lnTo>
                <a:cubicBezTo>
                  <a:pt x="0" y="72576"/>
                  <a:pt x="2246" y="75537"/>
                  <a:pt x="5155" y="77425"/>
                </a:cubicBezTo>
                <a:cubicBezTo>
                  <a:pt x="11892" y="81814"/>
                  <a:pt x="16332" y="89368"/>
                  <a:pt x="16332" y="97993"/>
                </a:cubicBezTo>
                <a:cubicBezTo>
                  <a:pt x="16332" y="106619"/>
                  <a:pt x="11892" y="114172"/>
                  <a:pt x="5155" y="118562"/>
                </a:cubicBezTo>
                <a:cubicBezTo>
                  <a:pt x="2246" y="120450"/>
                  <a:pt x="0" y="123410"/>
                  <a:pt x="0" y="126881"/>
                </a:cubicBezTo>
                <a:lnTo>
                  <a:pt x="0" y="155156"/>
                </a:lnTo>
                <a:lnTo>
                  <a:pt x="261315" y="155156"/>
                </a:lnTo>
                <a:lnTo>
                  <a:pt x="261315" y="126881"/>
                </a:lnTo>
                <a:cubicBezTo>
                  <a:pt x="261315" y="123410"/>
                  <a:pt x="259070" y="120450"/>
                  <a:pt x="256161" y="118562"/>
                </a:cubicBezTo>
                <a:cubicBezTo>
                  <a:pt x="249424" y="114172"/>
                  <a:pt x="244983" y="106619"/>
                  <a:pt x="244983" y="97993"/>
                </a:cubicBezTo>
                <a:cubicBezTo>
                  <a:pt x="244983" y="89368"/>
                  <a:pt x="249424" y="81814"/>
                  <a:pt x="256161" y="77425"/>
                </a:cubicBezTo>
                <a:cubicBezTo>
                  <a:pt x="259070" y="75537"/>
                  <a:pt x="261315" y="72576"/>
                  <a:pt x="261315" y="69106"/>
                </a:cubicBezTo>
                <a:lnTo>
                  <a:pt x="261315" y="65329"/>
                </a:lnTo>
                <a:cubicBezTo>
                  <a:pt x="261315" y="47312"/>
                  <a:pt x="246668" y="32664"/>
                  <a:pt x="228651" y="32664"/>
                </a:cubicBezTo>
                <a:lnTo>
                  <a:pt x="32664" y="32664"/>
                </a:lnTo>
                <a:close/>
                <a:moveTo>
                  <a:pt x="261315" y="212319"/>
                </a:moveTo>
                <a:lnTo>
                  <a:pt x="261315" y="179654"/>
                </a:lnTo>
                <a:lnTo>
                  <a:pt x="0" y="179654"/>
                </a:lnTo>
                <a:lnTo>
                  <a:pt x="0" y="212319"/>
                </a:lnTo>
                <a:cubicBezTo>
                  <a:pt x="0" y="221353"/>
                  <a:pt x="7298" y="228651"/>
                  <a:pt x="16332" y="228651"/>
                </a:cubicBezTo>
                <a:lnTo>
                  <a:pt x="48997" y="228651"/>
                </a:lnTo>
                <a:lnTo>
                  <a:pt x="48997" y="216402"/>
                </a:lnTo>
                <a:cubicBezTo>
                  <a:pt x="48997" y="209614"/>
                  <a:pt x="54458" y="204153"/>
                  <a:pt x="61246" y="204153"/>
                </a:cubicBezTo>
                <a:cubicBezTo>
                  <a:pt x="68034" y="204153"/>
                  <a:pt x="73495" y="209614"/>
                  <a:pt x="73495" y="216402"/>
                </a:cubicBezTo>
                <a:lnTo>
                  <a:pt x="73495" y="228651"/>
                </a:lnTo>
                <a:lnTo>
                  <a:pt x="118409" y="228651"/>
                </a:lnTo>
                <a:lnTo>
                  <a:pt x="118409" y="216402"/>
                </a:lnTo>
                <a:cubicBezTo>
                  <a:pt x="118409" y="209614"/>
                  <a:pt x="123870" y="204153"/>
                  <a:pt x="130658" y="204153"/>
                </a:cubicBezTo>
                <a:cubicBezTo>
                  <a:pt x="137446" y="204153"/>
                  <a:pt x="142907" y="209614"/>
                  <a:pt x="142907" y="216402"/>
                </a:cubicBezTo>
                <a:lnTo>
                  <a:pt x="142907" y="228651"/>
                </a:lnTo>
                <a:lnTo>
                  <a:pt x="187820" y="228651"/>
                </a:lnTo>
                <a:lnTo>
                  <a:pt x="187820" y="216402"/>
                </a:lnTo>
                <a:cubicBezTo>
                  <a:pt x="187820" y="209614"/>
                  <a:pt x="193282" y="204153"/>
                  <a:pt x="200070" y="204153"/>
                </a:cubicBezTo>
                <a:cubicBezTo>
                  <a:pt x="206858" y="204153"/>
                  <a:pt x="212319" y="209614"/>
                  <a:pt x="212319" y="216402"/>
                </a:cubicBezTo>
                <a:lnTo>
                  <a:pt x="212319" y="228651"/>
                </a:lnTo>
                <a:lnTo>
                  <a:pt x="244983" y="228651"/>
                </a:lnTo>
                <a:cubicBezTo>
                  <a:pt x="254017" y="228651"/>
                  <a:pt x="261315" y="221353"/>
                  <a:pt x="261315" y="212319"/>
                </a:cubicBezTo>
                <a:close/>
                <a:moveTo>
                  <a:pt x="81661" y="81661"/>
                </a:moveTo>
                <a:lnTo>
                  <a:pt x="81661" y="114326"/>
                </a:lnTo>
                <a:cubicBezTo>
                  <a:pt x="81661" y="123359"/>
                  <a:pt x="74363" y="130658"/>
                  <a:pt x="65329" y="130658"/>
                </a:cubicBezTo>
                <a:cubicBezTo>
                  <a:pt x="56295" y="130658"/>
                  <a:pt x="48997" y="123359"/>
                  <a:pt x="48997" y="114326"/>
                </a:cubicBezTo>
                <a:lnTo>
                  <a:pt x="48997" y="81661"/>
                </a:lnTo>
                <a:cubicBezTo>
                  <a:pt x="48997" y="72627"/>
                  <a:pt x="56295" y="65329"/>
                  <a:pt x="65329" y="65329"/>
                </a:cubicBezTo>
                <a:cubicBezTo>
                  <a:pt x="74363" y="65329"/>
                  <a:pt x="81661" y="72627"/>
                  <a:pt x="81661" y="81661"/>
                </a:cubicBezTo>
                <a:close/>
                <a:moveTo>
                  <a:pt x="146990" y="81661"/>
                </a:moveTo>
                <a:lnTo>
                  <a:pt x="146990" y="114326"/>
                </a:lnTo>
                <a:cubicBezTo>
                  <a:pt x="146990" y="123359"/>
                  <a:pt x="139691" y="130658"/>
                  <a:pt x="130658" y="130658"/>
                </a:cubicBezTo>
                <a:cubicBezTo>
                  <a:pt x="121624" y="130658"/>
                  <a:pt x="114326" y="123359"/>
                  <a:pt x="114326" y="114326"/>
                </a:cubicBezTo>
                <a:lnTo>
                  <a:pt x="114326" y="81661"/>
                </a:lnTo>
                <a:cubicBezTo>
                  <a:pt x="114326" y="72627"/>
                  <a:pt x="121624" y="65329"/>
                  <a:pt x="130658" y="65329"/>
                </a:cubicBezTo>
                <a:cubicBezTo>
                  <a:pt x="139691" y="65329"/>
                  <a:pt x="146990" y="72627"/>
                  <a:pt x="146990" y="81661"/>
                </a:cubicBezTo>
                <a:close/>
                <a:moveTo>
                  <a:pt x="212319" y="81661"/>
                </a:moveTo>
                <a:lnTo>
                  <a:pt x="212319" y="114326"/>
                </a:lnTo>
                <a:cubicBezTo>
                  <a:pt x="212319" y="123359"/>
                  <a:pt x="205020" y="130658"/>
                  <a:pt x="195987" y="130658"/>
                </a:cubicBezTo>
                <a:cubicBezTo>
                  <a:pt x="186953" y="130658"/>
                  <a:pt x="179654" y="123359"/>
                  <a:pt x="179654" y="114326"/>
                </a:cubicBezTo>
                <a:lnTo>
                  <a:pt x="179654" y="81661"/>
                </a:lnTo>
                <a:cubicBezTo>
                  <a:pt x="179654" y="72627"/>
                  <a:pt x="186953" y="65329"/>
                  <a:pt x="195987" y="65329"/>
                </a:cubicBezTo>
                <a:cubicBezTo>
                  <a:pt x="205020" y="65329"/>
                  <a:pt x="212319" y="72627"/>
                  <a:pt x="212319" y="81661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1471171" y="1567893"/>
            <a:ext cx="979933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1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内存管理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057421" y="2003419"/>
            <a:ext cx="485611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 内存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057421" y="2351839"/>
            <a:ext cx="485611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配置足够内存（64GB+）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057421" y="2656707"/>
            <a:ext cx="485611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启用 JVM 调优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057421" y="2961575"/>
            <a:ext cx="485611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监控 GC 性能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057421" y="3353549"/>
            <a:ext cx="485611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DataNode 内存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057421" y="3701969"/>
            <a:ext cx="485611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配置块缓存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057421" y="4006837"/>
            <a:ext cx="485611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优化数据传输缓冲区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057421" y="4311705"/>
            <a:ext cx="4856113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监控内存使用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7302" y="4790784"/>
            <a:ext cx="43553" cy="3919732"/>
          </a:xfrm>
          <a:custGeom>
            <a:avLst/>
            <a:gdLst/>
            <a:ahLst/>
            <a:cxnLst/>
            <a:rect l="l" t="t" r="r" b="b"/>
            <a:pathLst>
              <a:path w="43553" h="3919732">
                <a:moveTo>
                  <a:pt x="0" y="0"/>
                </a:moveTo>
                <a:lnTo>
                  <a:pt x="43553" y="0"/>
                </a:lnTo>
                <a:lnTo>
                  <a:pt x="43553" y="3919732"/>
                </a:lnTo>
                <a:lnTo>
                  <a:pt x="0" y="3919732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724062" y="4834336"/>
            <a:ext cx="217763" cy="217763"/>
          </a:xfrm>
          <a:custGeom>
            <a:avLst/>
            <a:gdLst/>
            <a:ahLst/>
            <a:cxnLst/>
            <a:rect l="l" t="t" r="r" b="b"/>
            <a:pathLst>
              <a:path w="217763" h="217763">
                <a:moveTo>
                  <a:pt x="27220" y="27220"/>
                </a:moveTo>
                <a:cubicBezTo>
                  <a:pt x="27220" y="19692"/>
                  <a:pt x="21138" y="13610"/>
                  <a:pt x="13610" y="13610"/>
                </a:cubicBezTo>
                <a:cubicBezTo>
                  <a:pt x="6082" y="13610"/>
                  <a:pt x="0" y="19692"/>
                  <a:pt x="0" y="27220"/>
                </a:cubicBezTo>
                <a:lnTo>
                  <a:pt x="0" y="170127"/>
                </a:lnTo>
                <a:cubicBezTo>
                  <a:pt x="0" y="188926"/>
                  <a:pt x="15226" y="204153"/>
                  <a:pt x="34025" y="204153"/>
                </a:cubicBezTo>
                <a:lnTo>
                  <a:pt x="204153" y="204153"/>
                </a:lnTo>
                <a:cubicBezTo>
                  <a:pt x="211681" y="204153"/>
                  <a:pt x="217763" y="198071"/>
                  <a:pt x="217763" y="190543"/>
                </a:cubicBezTo>
                <a:cubicBezTo>
                  <a:pt x="217763" y="183014"/>
                  <a:pt x="211681" y="176932"/>
                  <a:pt x="204153" y="176932"/>
                </a:cubicBezTo>
                <a:lnTo>
                  <a:pt x="34025" y="176932"/>
                </a:lnTo>
                <a:cubicBezTo>
                  <a:pt x="30283" y="176932"/>
                  <a:pt x="27220" y="173870"/>
                  <a:pt x="27220" y="170127"/>
                </a:cubicBezTo>
                <a:lnTo>
                  <a:pt x="27220" y="27220"/>
                </a:lnTo>
                <a:close/>
                <a:moveTo>
                  <a:pt x="200155" y="64053"/>
                </a:moveTo>
                <a:cubicBezTo>
                  <a:pt x="205471" y="58736"/>
                  <a:pt x="205471" y="50102"/>
                  <a:pt x="200155" y="44786"/>
                </a:cubicBezTo>
                <a:cubicBezTo>
                  <a:pt x="194838" y="39470"/>
                  <a:pt x="186204" y="39470"/>
                  <a:pt x="180888" y="44786"/>
                </a:cubicBezTo>
                <a:lnTo>
                  <a:pt x="136102" y="89615"/>
                </a:lnTo>
                <a:lnTo>
                  <a:pt x="111689" y="65244"/>
                </a:lnTo>
                <a:cubicBezTo>
                  <a:pt x="106372" y="59927"/>
                  <a:pt x="97738" y="59927"/>
                  <a:pt x="92422" y="65244"/>
                </a:cubicBezTo>
                <a:lnTo>
                  <a:pt x="51591" y="106074"/>
                </a:lnTo>
                <a:cubicBezTo>
                  <a:pt x="46275" y="111391"/>
                  <a:pt x="46275" y="120025"/>
                  <a:pt x="51591" y="125341"/>
                </a:cubicBezTo>
                <a:cubicBezTo>
                  <a:pt x="56908" y="130658"/>
                  <a:pt x="65542" y="130658"/>
                  <a:pt x="70858" y="125341"/>
                </a:cubicBezTo>
                <a:lnTo>
                  <a:pt x="102076" y="94123"/>
                </a:lnTo>
                <a:lnTo>
                  <a:pt x="126490" y="118536"/>
                </a:lnTo>
                <a:cubicBezTo>
                  <a:pt x="131806" y="123853"/>
                  <a:pt x="140440" y="123853"/>
                  <a:pt x="145757" y="118536"/>
                </a:cubicBezTo>
                <a:lnTo>
                  <a:pt x="200197" y="64095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099703" y="4790784"/>
            <a:ext cx="1197696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1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监控与运维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6841" y="5226309"/>
            <a:ext cx="7393050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关键监控指标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6841" y="5574730"/>
            <a:ext cx="7393050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NameNode 内存使用率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6841" y="5879598"/>
            <a:ext cx="7393050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DataNode 磁盘使用率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96841" y="6184466"/>
            <a:ext cx="7393050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块丢失/损坏数量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96841" y="6489334"/>
            <a:ext cx="7393050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读写吞吐量与延迟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6841" y="6794202"/>
            <a:ext cx="7393050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副本同步状态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96841" y="7186175"/>
            <a:ext cx="7393050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运维工具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96841" y="7534596"/>
            <a:ext cx="7393050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HDFS Web UI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96841" y="7839464"/>
            <a:ext cx="7393050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hdfs dfsadmin 命令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96841" y="8144332"/>
            <a:ext cx="7393050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fsck 文件系统检查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96841" y="8449200"/>
            <a:ext cx="7393050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balancer 数据均衡器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82220" y="4790784"/>
            <a:ext cx="43553" cy="3919732"/>
          </a:xfrm>
          <a:custGeom>
            <a:avLst/>
            <a:gdLst/>
            <a:ahLst/>
            <a:cxnLst/>
            <a:rect l="l" t="t" r="r" b="b"/>
            <a:pathLst>
              <a:path w="43553" h="3919732">
                <a:moveTo>
                  <a:pt x="0" y="0"/>
                </a:moveTo>
                <a:lnTo>
                  <a:pt x="43553" y="0"/>
                </a:lnTo>
                <a:lnTo>
                  <a:pt x="43553" y="3919732"/>
                </a:lnTo>
                <a:lnTo>
                  <a:pt x="0" y="3919732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8548980" y="4834336"/>
            <a:ext cx="217763" cy="217763"/>
          </a:xfrm>
          <a:custGeom>
            <a:avLst/>
            <a:gdLst/>
            <a:ahLst/>
            <a:cxnLst/>
            <a:rect l="l" t="t" r="r" b="b"/>
            <a:pathLst>
              <a:path w="217763" h="217763">
                <a:moveTo>
                  <a:pt x="108881" y="0"/>
                </a:moveTo>
                <a:cubicBezTo>
                  <a:pt x="115134" y="0"/>
                  <a:pt x="120875" y="3445"/>
                  <a:pt x="123853" y="8932"/>
                </a:cubicBezTo>
                <a:lnTo>
                  <a:pt x="215721" y="179059"/>
                </a:lnTo>
                <a:cubicBezTo>
                  <a:pt x="218571" y="184333"/>
                  <a:pt x="218443" y="190713"/>
                  <a:pt x="215381" y="195859"/>
                </a:cubicBezTo>
                <a:cubicBezTo>
                  <a:pt x="212319" y="201005"/>
                  <a:pt x="206747" y="204153"/>
                  <a:pt x="200750" y="204153"/>
                </a:cubicBezTo>
                <a:lnTo>
                  <a:pt x="17013" y="204153"/>
                </a:lnTo>
                <a:cubicBezTo>
                  <a:pt x="11016" y="204153"/>
                  <a:pt x="5487" y="201005"/>
                  <a:pt x="2382" y="195859"/>
                </a:cubicBezTo>
                <a:cubicBezTo>
                  <a:pt x="-723" y="190713"/>
                  <a:pt x="-808" y="184333"/>
                  <a:pt x="2042" y="179059"/>
                </a:cubicBezTo>
                <a:lnTo>
                  <a:pt x="93910" y="8932"/>
                </a:lnTo>
                <a:cubicBezTo>
                  <a:pt x="96887" y="3445"/>
                  <a:pt x="102629" y="0"/>
                  <a:pt x="108881" y="0"/>
                </a:cubicBezTo>
                <a:close/>
                <a:moveTo>
                  <a:pt x="108881" y="71453"/>
                </a:moveTo>
                <a:cubicBezTo>
                  <a:pt x="103225" y="71453"/>
                  <a:pt x="98674" y="76004"/>
                  <a:pt x="98674" y="81661"/>
                </a:cubicBezTo>
                <a:lnTo>
                  <a:pt x="98674" y="129297"/>
                </a:lnTo>
                <a:cubicBezTo>
                  <a:pt x="98674" y="134953"/>
                  <a:pt x="103225" y="139504"/>
                  <a:pt x="108881" y="139504"/>
                </a:cubicBezTo>
                <a:cubicBezTo>
                  <a:pt x="114538" y="139504"/>
                  <a:pt x="119089" y="134953"/>
                  <a:pt x="119089" y="129297"/>
                </a:cubicBezTo>
                <a:lnTo>
                  <a:pt x="119089" y="81661"/>
                </a:lnTo>
                <a:cubicBezTo>
                  <a:pt x="119089" y="76004"/>
                  <a:pt x="114538" y="71453"/>
                  <a:pt x="108881" y="71453"/>
                </a:cubicBezTo>
                <a:close/>
                <a:moveTo>
                  <a:pt x="120237" y="163322"/>
                </a:moveTo>
                <a:cubicBezTo>
                  <a:pt x="120496" y="159107"/>
                  <a:pt x="118394" y="155097"/>
                  <a:pt x="114780" y="152911"/>
                </a:cubicBezTo>
                <a:cubicBezTo>
                  <a:pt x="111167" y="150725"/>
                  <a:pt x="106639" y="150725"/>
                  <a:pt x="103025" y="152911"/>
                </a:cubicBezTo>
                <a:cubicBezTo>
                  <a:pt x="99412" y="155097"/>
                  <a:pt x="97310" y="159107"/>
                  <a:pt x="97568" y="163322"/>
                </a:cubicBezTo>
                <a:cubicBezTo>
                  <a:pt x="97310" y="167537"/>
                  <a:pt x="99412" y="171548"/>
                  <a:pt x="103025" y="173734"/>
                </a:cubicBezTo>
                <a:cubicBezTo>
                  <a:pt x="106639" y="175919"/>
                  <a:pt x="111167" y="175919"/>
                  <a:pt x="114780" y="173734"/>
                </a:cubicBezTo>
                <a:cubicBezTo>
                  <a:pt x="118394" y="171548"/>
                  <a:pt x="120496" y="167537"/>
                  <a:pt x="120237" y="163322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8924621" y="4790784"/>
            <a:ext cx="2504273" cy="304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15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常见性能问题与解决方案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521760" y="5226309"/>
            <a:ext cx="7393050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小文件问题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521760" y="5574730"/>
            <a:ext cx="7393050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 HAR、SequenceFile 或 CombineFileInputFormat 合并小文件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521760" y="5966703"/>
            <a:ext cx="7393050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NameNode 内存不足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521760" y="6315124"/>
            <a:ext cx="7393050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考虑 HDFS Federation，增加 NameNode 内存，清理无用文件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521760" y="6707097"/>
            <a:ext cx="7393050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数据倾斜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521760" y="7055518"/>
            <a:ext cx="7393050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使用均衡器重新分布数据，检查数据放置策略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521760" y="7447491"/>
            <a:ext cx="7393050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网络拥塞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521760" y="7795912"/>
            <a:ext cx="7393050" cy="261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72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优化机架感知配置，限制副本复制带宽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kern="0" spc="70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ECOSYSTEM &amp; APPLICATIONS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863600"/>
            <a:ext cx="1546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HDFS 应用场景与生态系统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24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828800"/>
            <a:ext cx="50800" cy="2032000"/>
          </a:xfrm>
          <a:custGeom>
            <a:avLst/>
            <a:gdLst/>
            <a:ahLst/>
            <a:cxnLst/>
            <a:rect l="l" t="t" r="r" b="b"/>
            <a:pathLst>
              <a:path w="50800" h="2032000">
                <a:moveTo>
                  <a:pt x="0" y="0"/>
                </a:moveTo>
                <a:lnTo>
                  <a:pt x="50800" y="0"/>
                </a:lnTo>
                <a:lnTo>
                  <a:pt x="50800" y="2032000"/>
                </a:lnTo>
                <a:lnTo>
                  <a:pt x="0" y="20320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00100" y="185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76200" y="57150"/>
                </a:moveTo>
                <a:cubicBezTo>
                  <a:pt x="76200" y="46613"/>
                  <a:pt x="84713" y="38100"/>
                  <a:pt x="95250" y="38100"/>
                </a:cubicBezTo>
                <a:lnTo>
                  <a:pt x="209550" y="38100"/>
                </a:lnTo>
                <a:cubicBezTo>
                  <a:pt x="220087" y="38100"/>
                  <a:pt x="228600" y="46613"/>
                  <a:pt x="228600" y="57150"/>
                </a:cubicBezTo>
                <a:cubicBezTo>
                  <a:pt x="228600" y="67687"/>
                  <a:pt x="220087" y="76200"/>
                  <a:pt x="209550" y="76200"/>
                </a:cubicBezTo>
                <a:lnTo>
                  <a:pt x="95250" y="76200"/>
                </a:lnTo>
                <a:cubicBezTo>
                  <a:pt x="84713" y="76200"/>
                  <a:pt x="76200" y="67687"/>
                  <a:pt x="76200" y="57150"/>
                </a:cubicBezTo>
                <a:close/>
                <a:moveTo>
                  <a:pt x="95250" y="104775"/>
                </a:moveTo>
                <a:lnTo>
                  <a:pt x="171450" y="104775"/>
                </a:lnTo>
                <a:cubicBezTo>
                  <a:pt x="181987" y="104775"/>
                  <a:pt x="190500" y="113288"/>
                  <a:pt x="190500" y="123825"/>
                </a:cubicBezTo>
                <a:cubicBezTo>
                  <a:pt x="190500" y="134362"/>
                  <a:pt x="181987" y="142875"/>
                  <a:pt x="171450" y="142875"/>
                </a:cubicBezTo>
                <a:lnTo>
                  <a:pt x="95250" y="142875"/>
                </a:lnTo>
                <a:cubicBezTo>
                  <a:pt x="84713" y="142875"/>
                  <a:pt x="76200" y="134362"/>
                  <a:pt x="76200" y="123825"/>
                </a:cubicBezTo>
                <a:cubicBezTo>
                  <a:pt x="76200" y="113288"/>
                  <a:pt x="84713" y="104775"/>
                  <a:pt x="95250" y="104775"/>
                </a:cubicBezTo>
                <a:close/>
                <a:moveTo>
                  <a:pt x="95250" y="171450"/>
                </a:moveTo>
                <a:lnTo>
                  <a:pt x="247650" y="171450"/>
                </a:lnTo>
                <a:cubicBezTo>
                  <a:pt x="258187" y="171450"/>
                  <a:pt x="266700" y="179963"/>
                  <a:pt x="266700" y="190500"/>
                </a:cubicBezTo>
                <a:cubicBezTo>
                  <a:pt x="266700" y="201037"/>
                  <a:pt x="258187" y="209550"/>
                  <a:pt x="247650" y="209550"/>
                </a:cubicBezTo>
                <a:lnTo>
                  <a:pt x="95250" y="209550"/>
                </a:lnTo>
                <a:cubicBezTo>
                  <a:pt x="84713" y="209550"/>
                  <a:pt x="76200" y="201037"/>
                  <a:pt x="76200" y="190500"/>
                </a:cubicBezTo>
                <a:cubicBezTo>
                  <a:pt x="76200" y="179963"/>
                  <a:pt x="84713" y="171450"/>
                  <a:pt x="95250" y="171450"/>
                </a:cubicBez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44600" y="1828800"/>
            <a:ext cx="1397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大数据分析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3368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数据湖存储：企业级数据湖的核心存储系统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7432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ETL 处理：海量数据提取、转换、加载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1496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实时分析：支持 Spark、Flink 等实时计算框架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5560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机器学习：存储训练数据和模型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98034" y="1828800"/>
            <a:ext cx="50800" cy="2032000"/>
          </a:xfrm>
          <a:custGeom>
            <a:avLst/>
            <a:gdLst/>
            <a:ahLst/>
            <a:cxnLst/>
            <a:rect l="l" t="t" r="r" b="b"/>
            <a:pathLst>
              <a:path w="50800" h="2032000">
                <a:moveTo>
                  <a:pt x="0" y="0"/>
                </a:moveTo>
                <a:lnTo>
                  <a:pt x="50800" y="0"/>
                </a:lnTo>
                <a:lnTo>
                  <a:pt x="50800" y="2032000"/>
                </a:lnTo>
                <a:lnTo>
                  <a:pt x="0" y="20320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983784" y="18542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409234" y="1828800"/>
            <a:ext cx="88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26634" y="23368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统一存储：结构化、半结构化、非结构化数据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26634" y="27432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数据治理：数据质量、数据血缘、元数据管理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26634" y="31496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多租户隔离：支持不同业务线的数据隔离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26634" y="35560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数据版本控制：支持数据快照和时间旅行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862667" y="1828800"/>
            <a:ext cx="50800" cy="2032000"/>
          </a:xfrm>
          <a:custGeom>
            <a:avLst/>
            <a:gdLst/>
            <a:ahLst/>
            <a:cxnLst/>
            <a:rect l="l" t="t" r="r" b="b"/>
            <a:pathLst>
              <a:path w="50800" h="2032000">
                <a:moveTo>
                  <a:pt x="0" y="0"/>
                </a:moveTo>
                <a:lnTo>
                  <a:pt x="50800" y="0"/>
                </a:lnTo>
                <a:lnTo>
                  <a:pt x="50800" y="2032000"/>
                </a:lnTo>
                <a:lnTo>
                  <a:pt x="0" y="20320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11129367" y="1854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38100"/>
                </a:moveTo>
                <a:cubicBezTo>
                  <a:pt x="0" y="27563"/>
                  <a:pt x="8513" y="19050"/>
                  <a:pt x="19050" y="19050"/>
                </a:cubicBezTo>
                <a:lnTo>
                  <a:pt x="285750" y="19050"/>
                </a:lnTo>
                <a:cubicBezTo>
                  <a:pt x="296287" y="19050"/>
                  <a:pt x="304800" y="27563"/>
                  <a:pt x="304800" y="38100"/>
                </a:cubicBezTo>
                <a:lnTo>
                  <a:pt x="304800" y="57150"/>
                </a:lnTo>
                <a:cubicBezTo>
                  <a:pt x="304800" y="67687"/>
                  <a:pt x="296287" y="76200"/>
                  <a:pt x="285750" y="76200"/>
                </a:cubicBezTo>
                <a:lnTo>
                  <a:pt x="19050" y="76200"/>
                </a:lnTo>
                <a:cubicBezTo>
                  <a:pt x="8513" y="76200"/>
                  <a:pt x="0" y="67687"/>
                  <a:pt x="0" y="57150"/>
                </a:cubicBezTo>
                <a:lnTo>
                  <a:pt x="0" y="38100"/>
                </a:lnTo>
                <a:close/>
                <a:moveTo>
                  <a:pt x="19050" y="104775"/>
                </a:moveTo>
                <a:lnTo>
                  <a:pt x="285750" y="104775"/>
                </a:lnTo>
                <a:lnTo>
                  <a:pt x="285750" y="247650"/>
                </a:lnTo>
                <a:cubicBezTo>
                  <a:pt x="285750" y="268665"/>
                  <a:pt x="268665" y="285750"/>
                  <a:pt x="247650" y="285750"/>
                </a:cubicBezTo>
                <a:lnTo>
                  <a:pt x="57150" y="285750"/>
                </a:lnTo>
                <a:cubicBezTo>
                  <a:pt x="36135" y="285750"/>
                  <a:pt x="19050" y="268665"/>
                  <a:pt x="19050" y="247650"/>
                </a:cubicBezTo>
                <a:lnTo>
                  <a:pt x="19050" y="104775"/>
                </a:lnTo>
                <a:close/>
                <a:moveTo>
                  <a:pt x="109537" y="142875"/>
                </a:moveTo>
                <a:cubicBezTo>
                  <a:pt x="101620" y="142875"/>
                  <a:pt x="95250" y="149245"/>
                  <a:pt x="95250" y="157163"/>
                </a:cubicBezTo>
                <a:cubicBezTo>
                  <a:pt x="95250" y="165080"/>
                  <a:pt x="101620" y="171450"/>
                  <a:pt x="109537" y="171450"/>
                </a:cubicBezTo>
                <a:lnTo>
                  <a:pt x="195263" y="171450"/>
                </a:lnTo>
                <a:cubicBezTo>
                  <a:pt x="203180" y="171450"/>
                  <a:pt x="209550" y="165080"/>
                  <a:pt x="209550" y="157163"/>
                </a:cubicBezTo>
                <a:cubicBezTo>
                  <a:pt x="209550" y="149245"/>
                  <a:pt x="203180" y="142875"/>
                  <a:pt x="195263" y="142875"/>
                </a:cubicBezTo>
                <a:lnTo>
                  <a:pt x="109537" y="142875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1573867" y="18288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备份归档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91267" y="23368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数据备份：企业关键数据备份存储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91267" y="27432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历史归档：长期历史数据归档保存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091267" y="31496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灾难恢复：跨区域数据复制和恢复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091267" y="35560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合规存储：满足法规要求的数据保留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3400" y="4114800"/>
            <a:ext cx="50800" cy="2336800"/>
          </a:xfrm>
          <a:custGeom>
            <a:avLst/>
            <a:gdLst/>
            <a:ahLst/>
            <a:cxnLst/>
            <a:rect l="l" t="t" r="r" b="b"/>
            <a:pathLst>
              <a:path w="50800" h="2336800">
                <a:moveTo>
                  <a:pt x="0" y="0"/>
                </a:moveTo>
                <a:lnTo>
                  <a:pt x="50800" y="0"/>
                </a:lnTo>
                <a:lnTo>
                  <a:pt x="50800" y="2336800"/>
                </a:lnTo>
                <a:lnTo>
                  <a:pt x="0" y="23368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844550" y="4165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39688"/>
                </a:moveTo>
                <a:cubicBezTo>
                  <a:pt x="0" y="26541"/>
                  <a:pt x="10666" y="15875"/>
                  <a:pt x="23812" y="15875"/>
                </a:cubicBezTo>
                <a:lnTo>
                  <a:pt x="71438" y="15875"/>
                </a:lnTo>
                <a:cubicBezTo>
                  <a:pt x="84584" y="15875"/>
                  <a:pt x="95250" y="26541"/>
                  <a:pt x="95250" y="39688"/>
                </a:cubicBezTo>
                <a:lnTo>
                  <a:pt x="95250" y="47625"/>
                </a:lnTo>
                <a:lnTo>
                  <a:pt x="158750" y="47625"/>
                </a:lnTo>
                <a:lnTo>
                  <a:pt x="158750" y="39688"/>
                </a:lnTo>
                <a:cubicBezTo>
                  <a:pt x="158750" y="26541"/>
                  <a:pt x="169416" y="15875"/>
                  <a:pt x="182563" y="15875"/>
                </a:cubicBezTo>
                <a:lnTo>
                  <a:pt x="230188" y="15875"/>
                </a:lnTo>
                <a:cubicBezTo>
                  <a:pt x="243334" y="15875"/>
                  <a:pt x="254000" y="26541"/>
                  <a:pt x="254000" y="39688"/>
                </a:cubicBezTo>
                <a:lnTo>
                  <a:pt x="254000" y="87313"/>
                </a:lnTo>
                <a:cubicBezTo>
                  <a:pt x="254000" y="100459"/>
                  <a:pt x="243334" y="111125"/>
                  <a:pt x="230188" y="111125"/>
                </a:cubicBezTo>
                <a:lnTo>
                  <a:pt x="182563" y="111125"/>
                </a:lnTo>
                <a:cubicBezTo>
                  <a:pt x="169416" y="111125"/>
                  <a:pt x="158750" y="100459"/>
                  <a:pt x="158750" y="87313"/>
                </a:cubicBezTo>
                <a:lnTo>
                  <a:pt x="158750" y="79375"/>
                </a:lnTo>
                <a:lnTo>
                  <a:pt x="95250" y="79375"/>
                </a:lnTo>
                <a:lnTo>
                  <a:pt x="95250" y="87313"/>
                </a:lnTo>
                <a:cubicBezTo>
                  <a:pt x="95250" y="90934"/>
                  <a:pt x="94407" y="94407"/>
                  <a:pt x="92968" y="97482"/>
                </a:cubicBezTo>
                <a:lnTo>
                  <a:pt x="127000" y="142875"/>
                </a:lnTo>
                <a:lnTo>
                  <a:pt x="166688" y="142875"/>
                </a:lnTo>
                <a:cubicBezTo>
                  <a:pt x="179834" y="142875"/>
                  <a:pt x="190500" y="153541"/>
                  <a:pt x="190500" y="166688"/>
                </a:cubicBezTo>
                <a:lnTo>
                  <a:pt x="190500" y="214313"/>
                </a:lnTo>
                <a:cubicBezTo>
                  <a:pt x="190500" y="227459"/>
                  <a:pt x="179834" y="238125"/>
                  <a:pt x="166688" y="238125"/>
                </a:cubicBezTo>
                <a:lnTo>
                  <a:pt x="119063" y="238125"/>
                </a:lnTo>
                <a:cubicBezTo>
                  <a:pt x="105916" y="238125"/>
                  <a:pt x="95250" y="227459"/>
                  <a:pt x="95250" y="214313"/>
                </a:cubicBezTo>
                <a:lnTo>
                  <a:pt x="95250" y="166688"/>
                </a:lnTo>
                <a:cubicBezTo>
                  <a:pt x="95250" y="163066"/>
                  <a:pt x="96093" y="159593"/>
                  <a:pt x="97532" y="156518"/>
                </a:cubicBezTo>
                <a:lnTo>
                  <a:pt x="63500" y="111125"/>
                </a:lnTo>
                <a:lnTo>
                  <a:pt x="23812" y="111125"/>
                </a:lnTo>
                <a:cubicBezTo>
                  <a:pt x="10666" y="111125"/>
                  <a:pt x="0" y="100459"/>
                  <a:pt x="0" y="87313"/>
                </a:cubicBezTo>
                <a:lnTo>
                  <a:pt x="0" y="39688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282700" y="4114800"/>
            <a:ext cx="2641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Hadoop 生态系统集成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12800" y="46736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计算框架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12800" y="50800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MapReduce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12800" y="54356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Apache Spark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12800" y="57912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Apache Flink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2800" y="61468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Tez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97400" y="46736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SQL 引擎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97400" y="50800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Apache Hive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97400" y="54356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Apache Impala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97400" y="57912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Presto/Trino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97400" y="61468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Drill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82000" y="46736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NoSQL 数据库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82000" y="50800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Apache HBase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82000" y="54356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Cassandra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382000" y="57912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MongoDB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82000" y="61468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Redis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166600" y="46736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其他组件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166600" y="50800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Apache Kafka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166600" y="54356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Apache Sqoop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2166600" y="57912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Apache Flume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2166600" y="6146800"/>
            <a:ext cx="368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Airflow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6032500" y="1822450"/>
            <a:ext cx="4191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E0E2E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62200" y="3181350"/>
            <a:ext cx="11531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 作为</a:t>
            </a:r>
            <a:r>
              <a:rPr lang="en-US" sz="24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大数据存储的基石</a:t>
            </a:r>
            <a:r>
              <a:rPr lang="en-US" sz="24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，通过分布式架构、容错机制和性能优化，成功解决了 PB 级数据存储的挑战。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362200" y="4476750"/>
            <a:ext cx="11531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 GFS 论文的开源实现，到 Hadoop 生态系统的核心组件，HDFS 持续演进，</a:t>
            </a:r>
            <a:r>
              <a:rPr lang="en-US" sz="24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向云原生、智能化和更高性能方向发展</a:t>
            </a:r>
            <a:r>
              <a:rPr lang="en-US" sz="24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93865" y="607695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0" y="14224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4373265" y="6076950"/>
            <a:ext cx="2362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2006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373265" y="6737350"/>
            <a:ext cx="224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项目启动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373265" y="7194550"/>
            <a:ext cx="223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 GFS 论文到开源实现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935688" y="607695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0" y="14224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7215088" y="6076950"/>
            <a:ext cx="2362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PB级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215088" y="6737350"/>
            <a:ext cx="224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存储规模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215088" y="7194550"/>
            <a:ext cx="223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支持海量数据存储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777512" y="607695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0" y="1422400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10056912" y="6076950"/>
            <a:ext cx="2362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5E8B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未来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056912" y="6737350"/>
            <a:ext cx="224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持续演进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056912" y="7194550"/>
            <a:ext cx="2235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7D8A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云原生与智能化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2732</Words>
  <Application>Microsoft Macintosh PowerPoint</Application>
  <PresentationFormat>自定义</PresentationFormat>
  <Paragraphs>899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4" baseType="lpstr">
      <vt:lpstr>Noto Sans SC</vt:lpstr>
      <vt:lpstr>MiSans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HDFS 分布式文件系统原理与架构</dc:title>
  <dc:subject>HDFS 分布式文件系统原理与架构</dc:subject>
  <dc:creator>Kimi</dc:creator>
  <cp:lastModifiedBy>王 天青</cp:lastModifiedBy>
  <cp:revision>2</cp:revision>
  <dcterms:created xsi:type="dcterms:W3CDTF">2025-12-20T06:35:52Z</dcterms:created>
  <dcterms:modified xsi:type="dcterms:W3CDTF">2025-12-20T06:39:01Z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{"Label":"HDFS 分布式文件系统原理与架构","ContentProducer":"001191110108MACG2KBH8F10000","ProduceID":"19b3a6f0-9de2-80ac-8000-00003f67a6cc","ReservedCode1":"","ContentPropagator":"001191110108MACG2KBH8F20000","PropagateID":"19b3a6f0-9de2-80ac-8000-00003f67a6cc","ReservedCode2":""}</vt:lpwstr>
  </property>
</Properties>
</file>