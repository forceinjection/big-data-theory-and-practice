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6256000" cy="9144000"/>
  <p:notesSz cx="9144000" cy="16256000"/>
  <p:embeddedFontLst>
    <p:embeddedFont>
      <p:font typeface="得意黑" pitchFamily="2" charset="-122"/>
      <p:regular r:id="rId32"/>
      <p:italic r:id="rId33"/>
    </p:embeddedFont>
    <p:embeddedFont>
      <p:font typeface="KaiTi" panose="02010609060101010101" pitchFamily="49" charset="-122"/>
      <p:regular r:id="rId34"/>
    </p:embeddedFont>
    <p:embeddedFont>
      <p:font typeface="微软雅黑" panose="020B0503020204020204" pitchFamily="34" charset="-122"/>
      <p:regular r:id="rId35"/>
      <p:bold r:id="rId36"/>
    </p:embeddedFont>
    <p:embeddedFont>
      <p:font typeface="MiSans" pitchFamily="2" charset="-122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0" d="100"/>
          <a:sy n="80" d="100"/>
        </p:scale>
        <p:origin x="9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64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508000"/>
            <a:ext cx="5041900" cy="558800"/>
          </a:xfrm>
          <a:custGeom>
            <a:avLst/>
            <a:gdLst/>
            <a:ahLst/>
            <a:cxnLst/>
            <a:rect l="l" t="t" r="r" b="b"/>
            <a:pathLst>
              <a:path w="5041900" h="558800">
                <a:moveTo>
                  <a:pt x="0" y="0"/>
                </a:moveTo>
                <a:lnTo>
                  <a:pt x="5041900" y="0"/>
                </a:lnTo>
                <a:lnTo>
                  <a:pt x="50419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5080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609600"/>
            <a:ext cx="452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COMPUTING ENGINE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1473200"/>
            <a:ext cx="6680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33020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3657600"/>
            <a:ext cx="6375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7D8A99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设计与实现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4724400"/>
            <a:ext cx="622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分布式计算引擎的架构原理与实践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4350" y="7270750"/>
            <a:ext cx="4864100" cy="1358900"/>
          </a:xfrm>
          <a:custGeom>
            <a:avLst/>
            <a:gdLst/>
            <a:ahLst/>
            <a:cxnLst/>
            <a:rect l="l" t="t" r="r" b="b"/>
            <a:pathLst>
              <a:path w="4864100" h="1358900">
                <a:moveTo>
                  <a:pt x="101605" y="0"/>
                </a:moveTo>
                <a:lnTo>
                  <a:pt x="4762495" y="0"/>
                </a:lnTo>
                <a:cubicBezTo>
                  <a:pt x="4818610" y="0"/>
                  <a:pt x="4864100" y="45490"/>
                  <a:pt x="4864100" y="101605"/>
                </a:cubicBezTo>
                <a:lnTo>
                  <a:pt x="4864100" y="1257295"/>
                </a:lnTo>
                <a:cubicBezTo>
                  <a:pt x="4864100" y="1313410"/>
                  <a:pt x="4818610" y="1358900"/>
                  <a:pt x="47624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12800" y="755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308100" y="7531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内存计算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4700" y="8039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比传统框架快 10-100 倍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95950" y="7270750"/>
            <a:ext cx="4864100" cy="1358900"/>
          </a:xfrm>
          <a:custGeom>
            <a:avLst/>
            <a:gdLst/>
            <a:ahLst/>
            <a:cxnLst/>
            <a:rect l="l" t="t" r="r" b="b"/>
            <a:pathLst>
              <a:path w="4864100" h="1358900">
                <a:moveTo>
                  <a:pt x="101605" y="0"/>
                </a:moveTo>
                <a:lnTo>
                  <a:pt x="4762495" y="0"/>
                </a:lnTo>
                <a:cubicBezTo>
                  <a:pt x="4818610" y="0"/>
                  <a:pt x="4864100" y="45490"/>
                  <a:pt x="4864100" y="101605"/>
                </a:cubicBezTo>
                <a:lnTo>
                  <a:pt x="4864100" y="1257295"/>
                </a:lnTo>
                <a:cubicBezTo>
                  <a:pt x="4864100" y="1313410"/>
                  <a:pt x="4818610" y="1358900"/>
                  <a:pt x="47624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994400" y="755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489700" y="7531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统一架构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56300" y="8039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批处理、流计算、机器学习一体化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877550" y="7270750"/>
            <a:ext cx="4864100" cy="1358900"/>
          </a:xfrm>
          <a:custGeom>
            <a:avLst/>
            <a:gdLst/>
            <a:ahLst/>
            <a:cxnLst/>
            <a:rect l="l" t="t" r="r" b="b"/>
            <a:pathLst>
              <a:path w="4864100" h="1358900">
                <a:moveTo>
                  <a:pt x="101605" y="0"/>
                </a:moveTo>
                <a:lnTo>
                  <a:pt x="4762495" y="0"/>
                </a:lnTo>
                <a:cubicBezTo>
                  <a:pt x="4818610" y="0"/>
                  <a:pt x="4864100" y="45490"/>
                  <a:pt x="4864100" y="101605"/>
                </a:cubicBezTo>
                <a:lnTo>
                  <a:pt x="4864100" y="1257295"/>
                </a:lnTo>
                <a:cubicBezTo>
                  <a:pt x="4864100" y="1313410"/>
                  <a:pt x="4818610" y="1358900"/>
                  <a:pt x="47624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1156950" y="755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1671300" y="7531100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简洁 API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137900" y="8039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函数式编程，代码量降低 90%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219200"/>
            <a:ext cx="160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2184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641600"/>
            <a:ext cx="7442200" cy="3251200"/>
          </a:xfrm>
          <a:custGeom>
            <a:avLst/>
            <a:gdLst/>
            <a:ahLst/>
            <a:cxnLst/>
            <a:rect l="l" t="t" r="r" b="b"/>
            <a:pathLst>
              <a:path w="7442200" h="3251200">
                <a:moveTo>
                  <a:pt x="50800" y="0"/>
                </a:moveTo>
                <a:lnTo>
                  <a:pt x="7289784" y="0"/>
                </a:lnTo>
                <a:cubicBezTo>
                  <a:pt x="7373961" y="0"/>
                  <a:pt x="7442200" y="68239"/>
                  <a:pt x="7442200" y="152416"/>
                </a:cubicBezTo>
                <a:lnTo>
                  <a:pt x="7442200" y="3098784"/>
                </a:lnTo>
                <a:cubicBezTo>
                  <a:pt x="7442200" y="3182961"/>
                  <a:pt x="7373961" y="3251200"/>
                  <a:pt x="7289784" y="3251200"/>
                </a:cubicBezTo>
                <a:lnTo>
                  <a:pt x="50800" y="3251200"/>
                </a:lnTo>
                <a:cubicBezTo>
                  <a:pt x="22763" y="3251200"/>
                  <a:pt x="0" y="3228437"/>
                  <a:pt x="0" y="320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641600"/>
            <a:ext cx="50800" cy="3251200"/>
          </a:xfrm>
          <a:custGeom>
            <a:avLst/>
            <a:gdLst/>
            <a:ahLst/>
            <a:cxnLst/>
            <a:rect l="l" t="t" r="r" b="b"/>
            <a:pathLst>
              <a:path w="50800" h="3251200">
                <a:moveTo>
                  <a:pt x="50800" y="0"/>
                </a:moveTo>
                <a:lnTo>
                  <a:pt x="50800" y="0"/>
                </a:lnTo>
                <a:lnTo>
                  <a:pt x="50800" y="3251200"/>
                </a:lnTo>
                <a:lnTo>
                  <a:pt x="50800" y="3251200"/>
                </a:lnTo>
                <a:cubicBezTo>
                  <a:pt x="22763" y="3251200"/>
                  <a:pt x="0" y="3228437"/>
                  <a:pt x="0" y="320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946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22164" y="3124200"/>
            <a:ext cx="48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2971800"/>
            <a:ext cx="2552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概览与核心概念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9600" y="34290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4250" y="406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08100" y="3962400"/>
            <a:ext cx="2514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发展历程与设计目标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425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08100" y="4394200"/>
            <a:ext cx="2959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MapReduce 的全面对比分析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4250" y="4927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308100" y="4826000"/>
            <a:ext cx="241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核心概念与操作实战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4250" y="535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08100" y="5257800"/>
            <a:ext cx="2019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Shell 快速体验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05800" y="2641600"/>
            <a:ext cx="7442200" cy="3251200"/>
          </a:xfrm>
          <a:custGeom>
            <a:avLst/>
            <a:gdLst/>
            <a:ahLst/>
            <a:cxnLst/>
            <a:rect l="l" t="t" r="r" b="b"/>
            <a:pathLst>
              <a:path w="7442200" h="3251200">
                <a:moveTo>
                  <a:pt x="50800" y="0"/>
                </a:moveTo>
                <a:lnTo>
                  <a:pt x="7289784" y="0"/>
                </a:lnTo>
                <a:cubicBezTo>
                  <a:pt x="7373961" y="0"/>
                  <a:pt x="7442200" y="68239"/>
                  <a:pt x="7442200" y="152416"/>
                </a:cubicBezTo>
                <a:lnTo>
                  <a:pt x="7442200" y="3098784"/>
                </a:lnTo>
                <a:cubicBezTo>
                  <a:pt x="7442200" y="3182961"/>
                  <a:pt x="7373961" y="3251200"/>
                  <a:pt x="7289784" y="3251200"/>
                </a:cubicBezTo>
                <a:lnTo>
                  <a:pt x="50800" y="3251200"/>
                </a:lnTo>
                <a:cubicBezTo>
                  <a:pt x="22763" y="3251200"/>
                  <a:pt x="0" y="3228437"/>
                  <a:pt x="0" y="320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305800" y="2641600"/>
            <a:ext cx="50800" cy="3251200"/>
          </a:xfrm>
          <a:custGeom>
            <a:avLst/>
            <a:gdLst/>
            <a:ahLst/>
            <a:cxnLst/>
            <a:rect l="l" t="t" r="r" b="b"/>
            <a:pathLst>
              <a:path w="50800" h="3251200">
                <a:moveTo>
                  <a:pt x="50800" y="0"/>
                </a:moveTo>
                <a:lnTo>
                  <a:pt x="50800" y="0"/>
                </a:lnTo>
                <a:lnTo>
                  <a:pt x="50800" y="3251200"/>
                </a:lnTo>
                <a:lnTo>
                  <a:pt x="50800" y="3251200"/>
                </a:lnTo>
                <a:cubicBezTo>
                  <a:pt x="22763" y="3251200"/>
                  <a:pt x="0" y="3228437"/>
                  <a:pt x="0" y="320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636000" y="2946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69759" y="31242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C303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52000" y="2971800"/>
            <a:ext cx="303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集群架构与执行机制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52000" y="3429000"/>
            <a:ext cx="298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56650" y="406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080500" y="3962400"/>
            <a:ext cx="279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Master-Worker 架构深度解析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5665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080500" y="4394200"/>
            <a:ext cx="26797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与 Executor 核心机制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56650" y="4927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080500" y="4826000"/>
            <a:ext cx="2590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作业执行流程与 Stage 划分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56650" y="535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080500" y="5257800"/>
            <a:ext cx="213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多模式部署与实战案例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630555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101597" y="0"/>
                </a:moveTo>
                <a:lnTo>
                  <a:pt x="4826003" y="0"/>
                </a:lnTo>
                <a:cubicBezTo>
                  <a:pt x="4882076" y="0"/>
                  <a:pt x="4927600" y="45524"/>
                  <a:pt x="4927600" y="101597"/>
                </a:cubicBezTo>
                <a:lnTo>
                  <a:pt x="4927600" y="1511303"/>
                </a:lnTo>
                <a:cubicBezTo>
                  <a:pt x="4927600" y="1567376"/>
                  <a:pt x="4882076" y="1612900"/>
                  <a:pt x="48260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769096" y="6515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6750" y="69977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 + 实践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100" y="74041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系统化教学体系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62017" y="630555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101597" y="0"/>
                </a:moveTo>
                <a:lnTo>
                  <a:pt x="4826003" y="0"/>
                </a:lnTo>
                <a:cubicBezTo>
                  <a:pt x="4882076" y="0"/>
                  <a:pt x="4927600" y="45524"/>
                  <a:pt x="4927600" y="101597"/>
                </a:cubicBezTo>
                <a:lnTo>
                  <a:pt x="4927600" y="1511303"/>
                </a:lnTo>
                <a:cubicBezTo>
                  <a:pt x="4927600" y="1567376"/>
                  <a:pt x="4882076" y="1612900"/>
                  <a:pt x="48260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916763" y="6515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814417" y="69977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代码实战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20767" y="74041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丰富的示例演示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09784" y="6305550"/>
            <a:ext cx="4927600" cy="1612900"/>
          </a:xfrm>
          <a:custGeom>
            <a:avLst/>
            <a:gdLst/>
            <a:ahLst/>
            <a:cxnLst/>
            <a:rect l="l" t="t" r="r" b="b"/>
            <a:pathLst>
              <a:path w="4927600" h="1612900">
                <a:moveTo>
                  <a:pt x="101597" y="0"/>
                </a:moveTo>
                <a:lnTo>
                  <a:pt x="4826003" y="0"/>
                </a:lnTo>
                <a:cubicBezTo>
                  <a:pt x="4882076" y="0"/>
                  <a:pt x="4927600" y="45524"/>
                  <a:pt x="4927600" y="101597"/>
                </a:cubicBezTo>
                <a:lnTo>
                  <a:pt x="4927600" y="1511303"/>
                </a:lnTo>
                <a:cubicBezTo>
                  <a:pt x="4927600" y="1567376"/>
                  <a:pt x="4882076" y="1612900"/>
                  <a:pt x="48260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3088342" y="651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962184" y="6997700"/>
            <a:ext cx="462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架构剖析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968534" y="74041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深入底层原理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612775"/>
            <a:ext cx="2095500" cy="711200"/>
          </a:xfrm>
          <a:custGeom>
            <a:avLst/>
            <a:gdLst/>
            <a:ahLst/>
            <a:cxnLst/>
            <a:rect l="l" t="t" r="r" b="b"/>
            <a:pathLst>
              <a:path w="2095500" h="711200">
                <a:moveTo>
                  <a:pt x="0" y="0"/>
                </a:moveTo>
                <a:lnTo>
                  <a:pt x="2095500" y="0"/>
                </a:lnTo>
                <a:lnTo>
                  <a:pt x="20955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B8A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612775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765175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D4A373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1730375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概览与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422775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4930775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Spark 的设计理念、技术演进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RDD 核心抽象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6988175"/>
            <a:ext cx="3581400" cy="1536700"/>
          </a:xfrm>
          <a:custGeom>
            <a:avLst/>
            <a:gdLst/>
            <a:ahLst/>
            <a:cxnLst/>
            <a:rect l="l" t="t" r="r" b="b"/>
            <a:pathLst>
              <a:path w="3581400" h="1536700">
                <a:moveTo>
                  <a:pt x="101607" y="0"/>
                </a:moveTo>
                <a:lnTo>
                  <a:pt x="3479793" y="0"/>
                </a:lnTo>
                <a:cubicBezTo>
                  <a:pt x="3535909" y="0"/>
                  <a:pt x="3581400" y="45491"/>
                  <a:pt x="3581400" y="101607"/>
                </a:cubicBezTo>
                <a:lnTo>
                  <a:pt x="3581400" y="1435093"/>
                </a:lnTo>
                <a:cubicBezTo>
                  <a:pt x="3581400" y="1491209"/>
                  <a:pt x="3535909" y="1536700"/>
                  <a:pt x="34797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19150" y="7566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444129" y="7248525"/>
            <a:ext cx="251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44129" y="7654925"/>
            <a:ext cx="248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从内存计算到统一分析引擎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08984" y="6988175"/>
            <a:ext cx="3581400" cy="1536700"/>
          </a:xfrm>
          <a:custGeom>
            <a:avLst/>
            <a:gdLst/>
            <a:ahLst/>
            <a:cxnLst/>
            <a:rect l="l" t="t" r="r" b="b"/>
            <a:pathLst>
              <a:path w="3581400" h="1536700">
                <a:moveTo>
                  <a:pt x="101607" y="0"/>
                </a:moveTo>
                <a:lnTo>
                  <a:pt x="3479793" y="0"/>
                </a:lnTo>
                <a:cubicBezTo>
                  <a:pt x="3535909" y="0"/>
                  <a:pt x="3581400" y="45491"/>
                  <a:pt x="3581400" y="101607"/>
                </a:cubicBezTo>
                <a:lnTo>
                  <a:pt x="3581400" y="1435093"/>
                </a:lnTo>
                <a:cubicBezTo>
                  <a:pt x="3581400" y="1491209"/>
                  <a:pt x="3535909" y="1536700"/>
                  <a:pt x="34797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720134" y="7566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348784" y="7400925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抽象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48784" y="7807325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弹性分布式数据集的核心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03617" y="6988175"/>
            <a:ext cx="3581400" cy="1536700"/>
          </a:xfrm>
          <a:custGeom>
            <a:avLst/>
            <a:gdLst/>
            <a:ahLst/>
            <a:cxnLst/>
            <a:rect l="l" t="t" r="r" b="b"/>
            <a:pathLst>
              <a:path w="3581400" h="1536700">
                <a:moveTo>
                  <a:pt x="101607" y="0"/>
                </a:moveTo>
                <a:lnTo>
                  <a:pt x="3479793" y="0"/>
                </a:lnTo>
                <a:cubicBezTo>
                  <a:pt x="3535909" y="0"/>
                  <a:pt x="3581400" y="45491"/>
                  <a:pt x="3581400" y="101607"/>
                </a:cubicBezTo>
                <a:lnTo>
                  <a:pt x="3581400" y="1435093"/>
                </a:lnTo>
                <a:cubicBezTo>
                  <a:pt x="3581400" y="1491209"/>
                  <a:pt x="3535909" y="1536700"/>
                  <a:pt x="34797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8590955" y="7566025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243417" y="7400925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代码实战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43417" y="7807325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Shell 交互式体验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0" y="0"/>
                </a:moveTo>
                <a:lnTo>
                  <a:pt x="101600" y="0"/>
                </a:lnTo>
                <a:lnTo>
                  <a:pt x="101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270000"/>
            <a:ext cx="150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Spark 的核心概念与实践能力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197100"/>
            <a:ext cx="7391400" cy="1955800"/>
          </a:xfrm>
          <a:custGeom>
            <a:avLst/>
            <a:gdLst/>
            <a:ahLst/>
            <a:cxnLst/>
            <a:rect l="l" t="t" r="r" b="b"/>
            <a:pathLst>
              <a:path w="7391400" h="19558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803404"/>
                </a:lnTo>
                <a:cubicBezTo>
                  <a:pt x="7391400" y="1887570"/>
                  <a:pt x="7323170" y="1955800"/>
                  <a:pt x="7239004" y="1955800"/>
                </a:cubicBezTo>
                <a:lnTo>
                  <a:pt x="50800" y="1955800"/>
                </a:lnTo>
                <a:cubicBezTo>
                  <a:pt x="22744" y="1955800"/>
                  <a:pt x="0" y="1933056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20000"/>
                </a:srgbClr>
              </a:gs>
              <a:gs pos="100000">
                <a:srgbClr val="4A6B8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197100"/>
            <a:ext cx="50800" cy="1955800"/>
          </a:xfrm>
          <a:custGeom>
            <a:avLst/>
            <a:gdLst/>
            <a:ahLst/>
            <a:cxnLst/>
            <a:rect l="l" t="t" r="r" b="b"/>
            <a:pathLst>
              <a:path w="50800" h="1955800">
                <a:moveTo>
                  <a:pt x="50800" y="0"/>
                </a:moveTo>
                <a:lnTo>
                  <a:pt x="50800" y="0"/>
                </a:lnTo>
                <a:lnTo>
                  <a:pt x="50800" y="1955800"/>
                </a:lnTo>
                <a:lnTo>
                  <a:pt x="50800" y="1955800"/>
                </a:lnTo>
                <a:cubicBezTo>
                  <a:pt x="22763" y="1955800"/>
                  <a:pt x="0" y="1933037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2451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67594" y="25781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5600" y="24511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理解技术演进脉络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25600" y="2908300"/>
            <a:ext cx="614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Spark 从诞生到成为大数据处理标准的发展历程，理解其设计目标和技术定位。深入理解 Spark 相对于 MapReduce 的根本性改进，以及在现代大数据生态系统中的核心地位。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2197100"/>
            <a:ext cx="7391400" cy="1955800"/>
          </a:xfrm>
          <a:custGeom>
            <a:avLst/>
            <a:gdLst/>
            <a:ahLst/>
            <a:cxnLst/>
            <a:rect l="l" t="t" r="r" b="b"/>
            <a:pathLst>
              <a:path w="7391400" h="19558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803404"/>
                </a:lnTo>
                <a:cubicBezTo>
                  <a:pt x="7391400" y="1887570"/>
                  <a:pt x="7323170" y="1955800"/>
                  <a:pt x="7239004" y="1955800"/>
                </a:cubicBezTo>
                <a:lnTo>
                  <a:pt x="50800" y="1955800"/>
                </a:lnTo>
                <a:cubicBezTo>
                  <a:pt x="22744" y="1955800"/>
                  <a:pt x="0" y="1933056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20000"/>
                </a:srgbClr>
              </a:gs>
              <a:gs pos="100000">
                <a:srgbClr val="4A6B8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56600" y="2197100"/>
            <a:ext cx="50800" cy="1955800"/>
          </a:xfrm>
          <a:custGeom>
            <a:avLst/>
            <a:gdLst/>
            <a:ahLst/>
            <a:cxnLst/>
            <a:rect l="l" t="t" r="r" b="b"/>
            <a:pathLst>
              <a:path w="50800" h="1955800">
                <a:moveTo>
                  <a:pt x="50800" y="0"/>
                </a:moveTo>
                <a:lnTo>
                  <a:pt x="50800" y="0"/>
                </a:lnTo>
                <a:lnTo>
                  <a:pt x="50800" y="1955800"/>
                </a:lnTo>
                <a:lnTo>
                  <a:pt x="50800" y="1955800"/>
                </a:lnTo>
                <a:cubicBezTo>
                  <a:pt x="22763" y="1955800"/>
                  <a:pt x="0" y="1933037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36000" y="2451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69363" y="2578100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48800" y="24511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掌握核心技术优势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48800" y="2908300"/>
            <a:ext cx="614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Spark 相比 MapReduce 在编程模型、执行效率、适用场景等方面的根本性改进。理解内存计算、DAG 执行引擎、RDD 抽象等技术如何带来 10-100 倍的性能提升。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457700"/>
            <a:ext cx="7391400" cy="1955800"/>
          </a:xfrm>
          <a:custGeom>
            <a:avLst/>
            <a:gdLst/>
            <a:ahLst/>
            <a:cxnLst/>
            <a:rect l="l" t="t" r="r" b="b"/>
            <a:pathLst>
              <a:path w="7391400" h="19558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803404"/>
                </a:lnTo>
                <a:cubicBezTo>
                  <a:pt x="7391400" y="1887570"/>
                  <a:pt x="7323170" y="1955800"/>
                  <a:pt x="7239004" y="1955800"/>
                </a:cubicBezTo>
                <a:lnTo>
                  <a:pt x="50800" y="1955800"/>
                </a:lnTo>
                <a:cubicBezTo>
                  <a:pt x="22744" y="1955800"/>
                  <a:pt x="0" y="1933056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4457700"/>
            <a:ext cx="50800" cy="1955800"/>
          </a:xfrm>
          <a:custGeom>
            <a:avLst/>
            <a:gdLst/>
            <a:ahLst/>
            <a:cxnLst/>
            <a:rect l="l" t="t" r="r" b="b"/>
            <a:pathLst>
              <a:path w="50800" h="1955800">
                <a:moveTo>
                  <a:pt x="50800" y="0"/>
                </a:moveTo>
                <a:lnTo>
                  <a:pt x="50800" y="0"/>
                </a:lnTo>
                <a:lnTo>
                  <a:pt x="50800" y="1955800"/>
                </a:lnTo>
                <a:lnTo>
                  <a:pt x="50800" y="1955800"/>
                </a:lnTo>
                <a:cubicBezTo>
                  <a:pt x="22763" y="1955800"/>
                  <a:pt x="0" y="1933037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12800" y="471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2888" y="48387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25600" y="47117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 RDD 核心概念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5600" y="5168900"/>
            <a:ext cx="614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全面掌握 RDD 的设计理念、核心特性和操作模式，理解其在分布式计算中的重要作用。深入理解 RDD 的不可变性、惰性求值、分区策略、血缘关系等核心概念，以及如何实现高效的分布式计算。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4457700"/>
            <a:ext cx="7391400" cy="1955800"/>
          </a:xfrm>
          <a:custGeom>
            <a:avLst/>
            <a:gdLst/>
            <a:ahLst/>
            <a:cxnLst/>
            <a:rect l="l" t="t" r="r" b="b"/>
            <a:pathLst>
              <a:path w="7391400" h="19558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803404"/>
                </a:lnTo>
                <a:cubicBezTo>
                  <a:pt x="7391400" y="1887570"/>
                  <a:pt x="7323170" y="1955800"/>
                  <a:pt x="7239004" y="1955800"/>
                </a:cubicBezTo>
                <a:lnTo>
                  <a:pt x="50800" y="1955800"/>
                </a:lnTo>
                <a:cubicBezTo>
                  <a:pt x="22744" y="1955800"/>
                  <a:pt x="0" y="1933056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56600" y="4457700"/>
            <a:ext cx="50800" cy="1955800"/>
          </a:xfrm>
          <a:custGeom>
            <a:avLst/>
            <a:gdLst/>
            <a:ahLst/>
            <a:cxnLst/>
            <a:rect l="l" t="t" r="r" b="b"/>
            <a:pathLst>
              <a:path w="50800" h="1955800">
                <a:moveTo>
                  <a:pt x="50800" y="0"/>
                </a:moveTo>
                <a:lnTo>
                  <a:pt x="50800" y="0"/>
                </a:lnTo>
                <a:lnTo>
                  <a:pt x="50800" y="1955800"/>
                </a:lnTo>
                <a:lnTo>
                  <a:pt x="50800" y="1955800"/>
                </a:lnTo>
                <a:cubicBezTo>
                  <a:pt x="22763" y="1955800"/>
                  <a:pt x="0" y="1933037"/>
                  <a:pt x="0" y="190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0" y="471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66287" y="48387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47117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认识生态系统架构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48800" y="5168900"/>
            <a:ext cx="614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了解 Spark 生态系统的组件构成，理解各组件的功能定位和协作关系。掌握 Spark Core、Spark SQL、Spark Streaming、MLlib、GraphX 等核心组件的作用，以及如何构建端到端的数据处理管道。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6724650"/>
            <a:ext cx="15227300" cy="1638300"/>
          </a:xfrm>
          <a:custGeom>
            <a:avLst/>
            <a:gdLst/>
            <a:ahLst/>
            <a:cxnLst/>
            <a:rect l="l" t="t" r="r" b="b"/>
            <a:pathLst>
              <a:path w="15227300" h="1638300">
                <a:moveTo>
                  <a:pt x="152395" y="0"/>
                </a:moveTo>
                <a:lnTo>
                  <a:pt x="15074905" y="0"/>
                </a:lnTo>
                <a:cubicBezTo>
                  <a:pt x="15159071" y="0"/>
                  <a:pt x="15227300" y="68229"/>
                  <a:pt x="15227300" y="152395"/>
                </a:cubicBezTo>
                <a:lnTo>
                  <a:pt x="15227300" y="1485905"/>
                </a:lnTo>
                <a:cubicBezTo>
                  <a:pt x="15227300" y="1570071"/>
                  <a:pt x="15159071" y="1638300"/>
                  <a:pt x="1507490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74700" y="698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03598" y="71120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87500" y="6985000"/>
            <a:ext cx="140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建立实践基础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87500" y="7442200"/>
            <a:ext cx="13995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RDD 的创建方式、缓存策略和与分布式文件系统的协作机制。通过 Spark Shell 进行交互式编程实践，能够快速上手开发 Spark 应用，理解性能优化的基本策略，为后续学习高级组件奠定基础。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237" y="555761"/>
            <a:ext cx="101047" cy="505237"/>
          </a:xfrm>
          <a:custGeom>
            <a:avLst/>
            <a:gdLst/>
            <a:ahLst/>
            <a:cxnLst/>
            <a:rect l="l" t="t" r="r" b="b"/>
            <a:pathLst>
              <a:path w="101047" h="505237">
                <a:moveTo>
                  <a:pt x="0" y="0"/>
                </a:moveTo>
                <a:lnTo>
                  <a:pt x="101047" y="0"/>
                </a:lnTo>
                <a:lnTo>
                  <a:pt x="101047" y="505237"/>
                </a:lnTo>
                <a:lnTo>
                  <a:pt x="0" y="50523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08379" y="505237"/>
            <a:ext cx="3625075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74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发展历程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2740" y="608454"/>
            <a:ext cx="4720884" cy="399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从内存计算到统一分析引擎的演进之路</a:t>
            </a:r>
            <a:endParaRPr lang="en-US" sz="1600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2B7DA678-3461-9CBF-B621-6EE69A40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37" y="1082944"/>
            <a:ext cx="14391527" cy="8032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0" y="0"/>
                </a:moveTo>
                <a:lnTo>
                  <a:pt x="101600" y="0"/>
                </a:lnTo>
                <a:lnTo>
                  <a:pt x="101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5105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的核心设计目标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371600"/>
            <a:ext cx="150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六大设计原则构建现代化计算引擎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9812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50800" y="0"/>
                </a:moveTo>
                <a:lnTo>
                  <a:pt x="4737115" y="0"/>
                </a:lnTo>
                <a:cubicBezTo>
                  <a:pt x="4821275" y="0"/>
                  <a:pt x="4889500" y="68225"/>
                  <a:pt x="4889500" y="152385"/>
                </a:cubicBezTo>
                <a:lnTo>
                  <a:pt x="4889500" y="3200415"/>
                </a:lnTo>
                <a:cubicBezTo>
                  <a:pt x="4889500" y="3284575"/>
                  <a:pt x="4821275" y="3352800"/>
                  <a:pt x="47371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981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8213" y="2298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92250" y="22860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速度优先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2895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基于内存的 RDD 抽象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，避免传统 MapReduce 频繁的磁盘 I/O 操作，实现比 Hadoop MapReduce 快 </a:t>
            </a:r>
            <a:r>
              <a:rPr lang="en-US" sz="16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10-100 倍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的处理性能。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4038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性能提升不仅来自内存计算，更得益于 Catalyst 查询优化器的智能优化和 Tungsten 执行引擎的底层性能调优。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55880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50800" y="0"/>
                </a:moveTo>
                <a:lnTo>
                  <a:pt x="4737115" y="0"/>
                </a:lnTo>
                <a:cubicBezTo>
                  <a:pt x="4821275" y="0"/>
                  <a:pt x="4889500" y="68225"/>
                  <a:pt x="4889500" y="152385"/>
                </a:cubicBezTo>
                <a:lnTo>
                  <a:pt x="4889500" y="3200415"/>
                </a:lnTo>
                <a:cubicBezTo>
                  <a:pt x="4889500" y="3284575"/>
                  <a:pt x="4821275" y="3352800"/>
                  <a:pt x="47371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33400" y="55880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90588" y="5905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7625" y="95250"/>
                </a:moveTo>
                <a:cubicBezTo>
                  <a:pt x="47625" y="49251"/>
                  <a:pt x="84970" y="11906"/>
                  <a:pt x="130969" y="11906"/>
                </a:cubicBezTo>
                <a:cubicBezTo>
                  <a:pt x="176967" y="11906"/>
                  <a:pt x="214313" y="49251"/>
                  <a:pt x="214313" y="95250"/>
                </a:cubicBezTo>
                <a:cubicBezTo>
                  <a:pt x="214313" y="141249"/>
                  <a:pt x="176967" y="178594"/>
                  <a:pt x="130969" y="178594"/>
                </a:cubicBezTo>
                <a:cubicBezTo>
                  <a:pt x="84970" y="178594"/>
                  <a:pt x="47625" y="141249"/>
                  <a:pt x="47625" y="95250"/>
                </a:cubicBezTo>
                <a:close/>
                <a:moveTo>
                  <a:pt x="0" y="345281"/>
                </a:moveTo>
                <a:cubicBezTo>
                  <a:pt x="0" y="272951"/>
                  <a:pt x="58638" y="214313"/>
                  <a:pt x="130969" y="214313"/>
                </a:cubicBezTo>
                <a:cubicBezTo>
                  <a:pt x="203299" y="214313"/>
                  <a:pt x="261938" y="272951"/>
                  <a:pt x="261938" y="345281"/>
                </a:cubicBezTo>
                <a:lnTo>
                  <a:pt x="261938" y="349746"/>
                </a:lnTo>
                <a:cubicBezTo>
                  <a:pt x="261938" y="367010"/>
                  <a:pt x="247948" y="381000"/>
                  <a:pt x="230684" y="381000"/>
                </a:cubicBezTo>
                <a:lnTo>
                  <a:pt x="31254" y="381000"/>
                </a:lnTo>
                <a:cubicBezTo>
                  <a:pt x="13990" y="381000"/>
                  <a:pt x="0" y="367010"/>
                  <a:pt x="0" y="349746"/>
                </a:cubicBezTo>
                <a:lnTo>
                  <a:pt x="0" y="345281"/>
                </a:lnTo>
                <a:close/>
                <a:moveTo>
                  <a:pt x="321469" y="47625"/>
                </a:moveTo>
                <a:cubicBezTo>
                  <a:pt x="360896" y="47625"/>
                  <a:pt x="392906" y="79635"/>
                  <a:pt x="392906" y="119063"/>
                </a:cubicBezTo>
                <a:cubicBezTo>
                  <a:pt x="392906" y="158490"/>
                  <a:pt x="360896" y="190500"/>
                  <a:pt x="321469" y="190500"/>
                </a:cubicBezTo>
                <a:cubicBezTo>
                  <a:pt x="282041" y="190500"/>
                  <a:pt x="250031" y="158490"/>
                  <a:pt x="250031" y="119063"/>
                </a:cubicBezTo>
                <a:cubicBezTo>
                  <a:pt x="250031" y="79635"/>
                  <a:pt x="282041" y="47625"/>
                  <a:pt x="321469" y="47625"/>
                </a:cubicBezTo>
                <a:close/>
                <a:moveTo>
                  <a:pt x="321469" y="226219"/>
                </a:moveTo>
                <a:cubicBezTo>
                  <a:pt x="380628" y="226219"/>
                  <a:pt x="428625" y="274216"/>
                  <a:pt x="428625" y="333375"/>
                </a:cubicBezTo>
                <a:lnTo>
                  <a:pt x="428625" y="350044"/>
                </a:lnTo>
                <a:cubicBezTo>
                  <a:pt x="428625" y="367159"/>
                  <a:pt x="414784" y="381000"/>
                  <a:pt x="397669" y="381000"/>
                </a:cubicBezTo>
                <a:lnTo>
                  <a:pt x="289917" y="381000"/>
                </a:lnTo>
                <a:cubicBezTo>
                  <a:pt x="294829" y="371698"/>
                  <a:pt x="297656" y="361057"/>
                  <a:pt x="297656" y="349746"/>
                </a:cubicBezTo>
                <a:lnTo>
                  <a:pt x="297656" y="345281"/>
                </a:lnTo>
                <a:cubicBezTo>
                  <a:pt x="297656" y="306958"/>
                  <a:pt x="284708" y="271686"/>
                  <a:pt x="263054" y="243557"/>
                </a:cubicBezTo>
                <a:cubicBezTo>
                  <a:pt x="279871" y="232618"/>
                  <a:pt x="299963" y="226219"/>
                  <a:pt x="321469" y="226219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492250" y="58928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易用性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599" y="6502400"/>
            <a:ext cx="452804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 </a:t>
            </a: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Scala、Java、Python、R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等多种语言的统一 API，让不同技术背景的开发者都能快速上手。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" y="76454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丰富的算子使原本需要数百行 MapReduce 代码的任务可用几行 Spark 代码完成，开发效率提升 90% 以上。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98034" y="19812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50800" y="0"/>
                </a:moveTo>
                <a:lnTo>
                  <a:pt x="4737115" y="0"/>
                </a:lnTo>
                <a:cubicBezTo>
                  <a:pt x="4821275" y="0"/>
                  <a:pt x="4889500" y="68225"/>
                  <a:pt x="4889500" y="152385"/>
                </a:cubicBezTo>
                <a:lnTo>
                  <a:pt x="4889500" y="3200415"/>
                </a:lnTo>
                <a:cubicBezTo>
                  <a:pt x="4889500" y="3284575"/>
                  <a:pt x="4821275" y="3352800"/>
                  <a:pt x="47371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698034" y="1981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079034" y="229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56884" y="22860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通用性架构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28234" y="2895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单一平台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上支持批处理、流处理、机器学习、图计算等多种工作负载，避免企业维护多套技术栈的复杂性。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28234" y="4038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不同组件间的无缝集成让数据能够在各种处理模式间高效流转，为构建端到端的数据处理管道提供强大支撑。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98034" y="5588000"/>
            <a:ext cx="4889500" cy="3022600"/>
          </a:xfrm>
          <a:custGeom>
            <a:avLst/>
            <a:gdLst/>
            <a:ahLst/>
            <a:cxnLst/>
            <a:rect l="l" t="t" r="r" b="b"/>
            <a:pathLst>
              <a:path w="4889500" h="3022600">
                <a:moveTo>
                  <a:pt x="50800" y="0"/>
                </a:moveTo>
                <a:lnTo>
                  <a:pt x="4737101" y="0"/>
                </a:lnTo>
                <a:cubicBezTo>
                  <a:pt x="4821268" y="0"/>
                  <a:pt x="4889500" y="68232"/>
                  <a:pt x="4889500" y="152399"/>
                </a:cubicBezTo>
                <a:lnTo>
                  <a:pt x="4889500" y="2870201"/>
                </a:lnTo>
                <a:cubicBezTo>
                  <a:pt x="4889500" y="2954368"/>
                  <a:pt x="4821268" y="3022600"/>
                  <a:pt x="4737101" y="3022600"/>
                </a:cubicBezTo>
                <a:lnTo>
                  <a:pt x="50800" y="3022600"/>
                </a:lnTo>
                <a:cubicBezTo>
                  <a:pt x="22763" y="3022600"/>
                  <a:pt x="0" y="2999837"/>
                  <a:pt x="0" y="2971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698034" y="5588000"/>
            <a:ext cx="50800" cy="3022600"/>
          </a:xfrm>
          <a:custGeom>
            <a:avLst/>
            <a:gdLst/>
            <a:ahLst/>
            <a:cxnLst/>
            <a:rect l="l" t="t" r="r" b="b"/>
            <a:pathLst>
              <a:path w="50800" h="3022600">
                <a:moveTo>
                  <a:pt x="50800" y="0"/>
                </a:moveTo>
                <a:lnTo>
                  <a:pt x="50800" y="0"/>
                </a:lnTo>
                <a:lnTo>
                  <a:pt x="50800" y="3022600"/>
                </a:lnTo>
                <a:lnTo>
                  <a:pt x="50800" y="3022600"/>
                </a:lnTo>
                <a:cubicBezTo>
                  <a:pt x="22763" y="3022600"/>
                  <a:pt x="0" y="2999837"/>
                  <a:pt x="0" y="2971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55221" y="5905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84547" y="65484"/>
                </a:moveTo>
                <a:lnTo>
                  <a:pt x="244078" y="65484"/>
                </a:lnTo>
                <a:lnTo>
                  <a:pt x="244078" y="101203"/>
                </a:lnTo>
                <a:lnTo>
                  <a:pt x="184547" y="101203"/>
                </a:lnTo>
                <a:lnTo>
                  <a:pt x="184547" y="65484"/>
                </a:lnTo>
                <a:close/>
                <a:moveTo>
                  <a:pt x="178594" y="23812"/>
                </a:moveTo>
                <a:cubicBezTo>
                  <a:pt x="158874" y="23812"/>
                  <a:pt x="142875" y="39812"/>
                  <a:pt x="142875" y="59531"/>
                </a:cubicBezTo>
                <a:lnTo>
                  <a:pt x="142875" y="107156"/>
                </a:lnTo>
                <a:cubicBezTo>
                  <a:pt x="142875" y="126876"/>
                  <a:pt x="158874" y="142875"/>
                  <a:pt x="178594" y="142875"/>
                </a:cubicBezTo>
                <a:lnTo>
                  <a:pt x="190500" y="142875"/>
                </a:lnTo>
                <a:lnTo>
                  <a:pt x="190500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95250" y="214313"/>
                </a:lnTo>
                <a:lnTo>
                  <a:pt x="95250" y="238125"/>
                </a:lnTo>
                <a:lnTo>
                  <a:pt x="83344" y="238125"/>
                </a:lnTo>
                <a:cubicBezTo>
                  <a:pt x="63624" y="238125"/>
                  <a:pt x="47625" y="254124"/>
                  <a:pt x="47625" y="273844"/>
                </a:cubicBezTo>
                <a:lnTo>
                  <a:pt x="47625" y="321469"/>
                </a:lnTo>
                <a:cubicBezTo>
                  <a:pt x="47625" y="341188"/>
                  <a:pt x="63624" y="357188"/>
                  <a:pt x="83344" y="357188"/>
                </a:cubicBezTo>
                <a:lnTo>
                  <a:pt x="154781" y="357188"/>
                </a:lnTo>
                <a:cubicBezTo>
                  <a:pt x="174501" y="357188"/>
                  <a:pt x="190500" y="341188"/>
                  <a:pt x="190500" y="321469"/>
                </a:cubicBezTo>
                <a:lnTo>
                  <a:pt x="190500" y="273844"/>
                </a:lnTo>
                <a:cubicBezTo>
                  <a:pt x="190500" y="254124"/>
                  <a:pt x="174501" y="238125"/>
                  <a:pt x="154781" y="238125"/>
                </a:cubicBezTo>
                <a:lnTo>
                  <a:pt x="142875" y="238125"/>
                </a:lnTo>
                <a:lnTo>
                  <a:pt x="142875" y="214313"/>
                </a:lnTo>
                <a:lnTo>
                  <a:pt x="285750" y="214313"/>
                </a:lnTo>
                <a:lnTo>
                  <a:pt x="285750" y="238125"/>
                </a:lnTo>
                <a:lnTo>
                  <a:pt x="273844" y="238125"/>
                </a:lnTo>
                <a:cubicBezTo>
                  <a:pt x="254124" y="238125"/>
                  <a:pt x="238125" y="254124"/>
                  <a:pt x="238125" y="273844"/>
                </a:cubicBezTo>
                <a:lnTo>
                  <a:pt x="238125" y="321469"/>
                </a:lnTo>
                <a:cubicBezTo>
                  <a:pt x="238125" y="341188"/>
                  <a:pt x="254124" y="357188"/>
                  <a:pt x="273844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273844"/>
                </a:lnTo>
                <a:cubicBezTo>
                  <a:pt x="381000" y="254124"/>
                  <a:pt x="365001" y="238125"/>
                  <a:pt x="345281" y="238125"/>
                </a:cubicBezTo>
                <a:lnTo>
                  <a:pt x="333375" y="238125"/>
                </a:lnTo>
                <a:lnTo>
                  <a:pt x="333375" y="214313"/>
                </a:lnTo>
                <a:lnTo>
                  <a:pt x="404813" y="214313"/>
                </a:lnTo>
                <a:cubicBezTo>
                  <a:pt x="417984" y="214313"/>
                  <a:pt x="428625" y="203671"/>
                  <a:pt x="428625" y="190500"/>
                </a:cubicBezTo>
                <a:cubicBezTo>
                  <a:pt x="428625" y="177329"/>
                  <a:pt x="417984" y="166688"/>
                  <a:pt x="404813" y="166688"/>
                </a:cubicBezTo>
                <a:lnTo>
                  <a:pt x="238125" y="166688"/>
                </a:lnTo>
                <a:lnTo>
                  <a:pt x="238125" y="142875"/>
                </a:lnTo>
                <a:lnTo>
                  <a:pt x="250031" y="142875"/>
                </a:lnTo>
                <a:cubicBezTo>
                  <a:pt x="269751" y="142875"/>
                  <a:pt x="285750" y="126876"/>
                  <a:pt x="285750" y="107156"/>
                </a:cubicBezTo>
                <a:lnTo>
                  <a:pt x="285750" y="59531"/>
                </a:lnTo>
                <a:cubicBezTo>
                  <a:pt x="285750" y="39812"/>
                  <a:pt x="269751" y="23812"/>
                  <a:pt x="250031" y="23812"/>
                </a:cubicBezTo>
                <a:lnTo>
                  <a:pt x="178594" y="23812"/>
                </a:lnTo>
                <a:close/>
                <a:moveTo>
                  <a:pt x="333375" y="279797"/>
                </a:moveTo>
                <a:lnTo>
                  <a:pt x="339328" y="279797"/>
                </a:lnTo>
                <a:lnTo>
                  <a:pt x="339328" y="315516"/>
                </a:lnTo>
                <a:lnTo>
                  <a:pt x="279797" y="315516"/>
                </a:lnTo>
                <a:lnTo>
                  <a:pt x="279797" y="279797"/>
                </a:lnTo>
                <a:lnTo>
                  <a:pt x="333375" y="279797"/>
                </a:lnTo>
                <a:close/>
                <a:moveTo>
                  <a:pt x="142875" y="279797"/>
                </a:moveTo>
                <a:lnTo>
                  <a:pt x="148828" y="279797"/>
                </a:lnTo>
                <a:lnTo>
                  <a:pt x="148828" y="315516"/>
                </a:lnTo>
                <a:lnTo>
                  <a:pt x="89297" y="315516"/>
                </a:lnTo>
                <a:lnTo>
                  <a:pt x="89297" y="279797"/>
                </a:lnTo>
                <a:lnTo>
                  <a:pt x="142875" y="279797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84" y="58928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广泛兼容性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28234" y="6502400"/>
            <a:ext cx="4356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可运行在 </a:t>
            </a: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YARN、Kubernetes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等多种集群管理器上，提供灵活的部署模式。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28233" y="7315200"/>
            <a:ext cx="447724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良好的生态兼容性使得 Spark 能够与现有的大数据技术栈无缝集成，降低技术迁移的成本和风险。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62667" y="19812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50800" y="0"/>
                </a:moveTo>
                <a:lnTo>
                  <a:pt x="4737115" y="0"/>
                </a:lnTo>
                <a:cubicBezTo>
                  <a:pt x="4821275" y="0"/>
                  <a:pt x="4889500" y="68225"/>
                  <a:pt x="4889500" y="152385"/>
                </a:cubicBezTo>
                <a:lnTo>
                  <a:pt x="4889500" y="3200415"/>
                </a:lnTo>
                <a:cubicBezTo>
                  <a:pt x="4889500" y="3284575"/>
                  <a:pt x="4821275" y="3352800"/>
                  <a:pt x="47371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862667" y="1981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243667" y="229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821517" y="22860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可靠容错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92867" y="2895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</a:t>
            </a: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的血缘关系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实现自动故障恢复。RDD 的不可变性和完整的血缘信息确保了数据处理过程的可靠性。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192867" y="40386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当节点发生故障时，系统能够根据血缘关系自动重建丢失的数据分区，实现细粒度的容错恢复。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62667" y="55880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50800" y="0"/>
                </a:moveTo>
                <a:lnTo>
                  <a:pt x="4737115" y="0"/>
                </a:lnTo>
                <a:cubicBezTo>
                  <a:pt x="4821275" y="0"/>
                  <a:pt x="4889500" y="68225"/>
                  <a:pt x="4889500" y="152385"/>
                </a:cubicBezTo>
                <a:lnTo>
                  <a:pt x="4889500" y="3200415"/>
                </a:lnTo>
                <a:cubicBezTo>
                  <a:pt x="4889500" y="3284575"/>
                  <a:pt x="4821275" y="3352800"/>
                  <a:pt x="47371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862667" y="55880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267480" y="5905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25016" y="23812"/>
                </a:moveTo>
                <a:lnTo>
                  <a:pt x="17859" y="23812"/>
                </a:lnTo>
                <a:cubicBezTo>
                  <a:pt x="7962" y="23812"/>
                  <a:pt x="0" y="31775"/>
                  <a:pt x="0" y="41672"/>
                </a:cubicBezTo>
                <a:lnTo>
                  <a:pt x="0" y="148828"/>
                </a:lnTo>
                <a:cubicBezTo>
                  <a:pt x="0" y="156046"/>
                  <a:pt x="4316" y="162595"/>
                  <a:pt x="11013" y="165348"/>
                </a:cubicBezTo>
                <a:cubicBezTo>
                  <a:pt x="17711" y="168101"/>
                  <a:pt x="25375" y="166539"/>
                  <a:pt x="30510" y="161479"/>
                </a:cubicBezTo>
                <a:lnTo>
                  <a:pt x="60275" y="131713"/>
                </a:lnTo>
                <a:lnTo>
                  <a:pt x="119063" y="190500"/>
                </a:lnTo>
                <a:lnTo>
                  <a:pt x="60275" y="249287"/>
                </a:lnTo>
                <a:lnTo>
                  <a:pt x="30510" y="219521"/>
                </a:lnTo>
                <a:cubicBezTo>
                  <a:pt x="25375" y="214387"/>
                  <a:pt x="17711" y="212899"/>
                  <a:pt x="11013" y="215652"/>
                </a:cubicBezTo>
                <a:cubicBezTo>
                  <a:pt x="4316" y="218405"/>
                  <a:pt x="0" y="224954"/>
                  <a:pt x="0" y="232172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lnTo>
                  <a:pt x="125016" y="357188"/>
                </a:lnTo>
                <a:cubicBezTo>
                  <a:pt x="132234" y="357188"/>
                  <a:pt x="138782" y="352871"/>
                  <a:pt x="141536" y="346174"/>
                </a:cubicBezTo>
                <a:cubicBezTo>
                  <a:pt x="144289" y="339477"/>
                  <a:pt x="142801" y="331812"/>
                  <a:pt x="137666" y="326678"/>
                </a:cubicBezTo>
                <a:lnTo>
                  <a:pt x="107900" y="296912"/>
                </a:lnTo>
                <a:lnTo>
                  <a:pt x="166688" y="238125"/>
                </a:lnTo>
                <a:lnTo>
                  <a:pt x="225475" y="296912"/>
                </a:lnTo>
                <a:lnTo>
                  <a:pt x="195709" y="326678"/>
                </a:lnTo>
                <a:cubicBezTo>
                  <a:pt x="190574" y="331812"/>
                  <a:pt x="189086" y="339477"/>
                  <a:pt x="191839" y="346174"/>
                </a:cubicBezTo>
                <a:cubicBezTo>
                  <a:pt x="194593" y="352871"/>
                  <a:pt x="201141" y="357188"/>
                  <a:pt x="208359" y="357188"/>
                </a:cubicBezTo>
                <a:lnTo>
                  <a:pt x="315516" y="357188"/>
                </a:lnTo>
                <a:cubicBezTo>
                  <a:pt x="325413" y="357188"/>
                  <a:pt x="333375" y="349225"/>
                  <a:pt x="333375" y="339328"/>
                </a:cubicBezTo>
                <a:lnTo>
                  <a:pt x="333375" y="232172"/>
                </a:lnTo>
                <a:cubicBezTo>
                  <a:pt x="333375" y="224954"/>
                  <a:pt x="329059" y="218405"/>
                  <a:pt x="322362" y="215652"/>
                </a:cubicBezTo>
                <a:cubicBezTo>
                  <a:pt x="315664" y="212899"/>
                  <a:pt x="308000" y="214387"/>
                  <a:pt x="302865" y="219521"/>
                </a:cubicBezTo>
                <a:lnTo>
                  <a:pt x="273100" y="249287"/>
                </a:lnTo>
                <a:lnTo>
                  <a:pt x="214313" y="190500"/>
                </a:lnTo>
                <a:lnTo>
                  <a:pt x="273100" y="131713"/>
                </a:lnTo>
                <a:lnTo>
                  <a:pt x="302865" y="161479"/>
                </a:lnTo>
                <a:cubicBezTo>
                  <a:pt x="308000" y="166613"/>
                  <a:pt x="315664" y="168101"/>
                  <a:pt x="322362" y="165348"/>
                </a:cubicBezTo>
                <a:cubicBezTo>
                  <a:pt x="329059" y="162595"/>
                  <a:pt x="333375" y="156046"/>
                  <a:pt x="333375" y="148828"/>
                </a:cubicBezTo>
                <a:lnTo>
                  <a:pt x="333375" y="41672"/>
                </a:lnTo>
                <a:cubicBezTo>
                  <a:pt x="333375" y="31775"/>
                  <a:pt x="325413" y="23812"/>
                  <a:pt x="315516" y="23812"/>
                </a:cubicBezTo>
                <a:lnTo>
                  <a:pt x="208359" y="23812"/>
                </a:lnTo>
                <a:cubicBezTo>
                  <a:pt x="201141" y="23812"/>
                  <a:pt x="194593" y="28129"/>
                  <a:pt x="191839" y="34826"/>
                </a:cubicBezTo>
                <a:cubicBezTo>
                  <a:pt x="189086" y="41523"/>
                  <a:pt x="190649" y="49188"/>
                  <a:pt x="195709" y="54322"/>
                </a:cubicBezTo>
                <a:lnTo>
                  <a:pt x="225475" y="84088"/>
                </a:lnTo>
                <a:lnTo>
                  <a:pt x="166688" y="142875"/>
                </a:lnTo>
                <a:lnTo>
                  <a:pt x="107900" y="84088"/>
                </a:lnTo>
                <a:lnTo>
                  <a:pt x="137666" y="54322"/>
                </a:lnTo>
                <a:cubicBezTo>
                  <a:pt x="142801" y="49188"/>
                  <a:pt x="144289" y="41523"/>
                  <a:pt x="141536" y="34826"/>
                </a:cubicBezTo>
                <a:cubicBezTo>
                  <a:pt x="138782" y="28129"/>
                  <a:pt x="132234" y="23812"/>
                  <a:pt x="125016" y="23812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821517" y="58928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线性扩展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92867" y="65024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支持从</a:t>
            </a: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单机环境扩展到数千节点</a:t>
            </a: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的大规模集群。自适应的资源管理和智能的任务调度确保计算资源的高效利用。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92867" y="7645400"/>
            <a:ext cx="435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动态资源分配功能能够根据工作负载的实际需求自动调整资源配置，在保证性能的同时提高集群资源利用率。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5482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vs MapReduce：编程复杂度对比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82027" y="444499"/>
            <a:ext cx="4223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 WordCount 为例看代码量的数量级差异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880523"/>
            <a:ext cx="7556500" cy="8263477"/>
          </a:xfrm>
          <a:custGeom>
            <a:avLst/>
            <a:gdLst/>
            <a:ahLst/>
            <a:cxnLst/>
            <a:rect l="l" t="t" r="r" b="b"/>
            <a:pathLst>
              <a:path w="7556500" h="8720667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8593642"/>
                </a:lnTo>
                <a:cubicBezTo>
                  <a:pt x="7556500" y="8663796"/>
                  <a:pt x="7499629" y="8720667"/>
                  <a:pt x="7429475" y="8720667"/>
                </a:cubicBezTo>
                <a:lnTo>
                  <a:pt x="42333" y="8720667"/>
                </a:lnTo>
                <a:cubicBezTo>
                  <a:pt x="18953" y="8720667"/>
                  <a:pt x="0" y="8701713"/>
                  <a:pt x="0" y="867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880523"/>
            <a:ext cx="45719" cy="8263477"/>
          </a:xfrm>
          <a:custGeom>
            <a:avLst/>
            <a:gdLst/>
            <a:ahLst/>
            <a:cxnLst/>
            <a:rect l="l" t="t" r="r" b="b"/>
            <a:pathLst>
              <a:path w="42333" h="8720667">
                <a:moveTo>
                  <a:pt x="42333" y="0"/>
                </a:moveTo>
                <a:lnTo>
                  <a:pt x="42333" y="0"/>
                </a:lnTo>
                <a:lnTo>
                  <a:pt x="42333" y="8720667"/>
                </a:lnTo>
                <a:lnTo>
                  <a:pt x="42333" y="8720667"/>
                </a:lnTo>
                <a:cubicBezTo>
                  <a:pt x="18953" y="8720667"/>
                  <a:pt x="0" y="8701713"/>
                  <a:pt x="0" y="867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D8A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9667" y="122977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317500"/>
                </a:moveTo>
                <a:cubicBezTo>
                  <a:pt x="246367" y="317500"/>
                  <a:pt x="317500" y="246367"/>
                  <a:pt x="317500" y="158750"/>
                </a:cubicBezTo>
                <a:cubicBezTo>
                  <a:pt x="317500" y="71133"/>
                  <a:pt x="246367" y="0"/>
                  <a:pt x="158750" y="0"/>
                </a:cubicBezTo>
                <a:cubicBezTo>
                  <a:pt x="71133" y="0"/>
                  <a:pt x="0" y="71133"/>
                  <a:pt x="0" y="158750"/>
                </a:cubicBezTo>
                <a:cubicBezTo>
                  <a:pt x="0" y="246367"/>
                  <a:pt x="71133" y="317500"/>
                  <a:pt x="158750" y="317500"/>
                </a:cubicBezTo>
                <a:close/>
                <a:moveTo>
                  <a:pt x="103560" y="103560"/>
                </a:moveTo>
                <a:cubicBezTo>
                  <a:pt x="109389" y="97730"/>
                  <a:pt x="118814" y="97730"/>
                  <a:pt x="124582" y="103560"/>
                </a:cubicBezTo>
                <a:lnTo>
                  <a:pt x="158688" y="137666"/>
                </a:lnTo>
                <a:lnTo>
                  <a:pt x="192794" y="103560"/>
                </a:lnTo>
                <a:cubicBezTo>
                  <a:pt x="198624" y="97730"/>
                  <a:pt x="208049" y="97730"/>
                  <a:pt x="213816" y="103560"/>
                </a:cubicBezTo>
                <a:cubicBezTo>
                  <a:pt x="219583" y="109389"/>
                  <a:pt x="219646" y="118814"/>
                  <a:pt x="213816" y="124582"/>
                </a:cubicBezTo>
                <a:lnTo>
                  <a:pt x="179710" y="158688"/>
                </a:lnTo>
                <a:lnTo>
                  <a:pt x="213816" y="192794"/>
                </a:lnTo>
                <a:cubicBezTo>
                  <a:pt x="219646" y="198624"/>
                  <a:pt x="219646" y="208049"/>
                  <a:pt x="213816" y="213816"/>
                </a:cubicBezTo>
                <a:cubicBezTo>
                  <a:pt x="207987" y="219583"/>
                  <a:pt x="198562" y="219646"/>
                  <a:pt x="192794" y="213816"/>
                </a:cubicBezTo>
                <a:lnTo>
                  <a:pt x="158688" y="179710"/>
                </a:lnTo>
                <a:lnTo>
                  <a:pt x="124582" y="213816"/>
                </a:lnTo>
                <a:cubicBezTo>
                  <a:pt x="118752" y="219646"/>
                  <a:pt x="109327" y="219646"/>
                  <a:pt x="103560" y="213816"/>
                </a:cubicBezTo>
                <a:cubicBezTo>
                  <a:pt x="97792" y="207987"/>
                  <a:pt x="97730" y="198562"/>
                  <a:pt x="103560" y="192794"/>
                </a:cubicBezTo>
                <a:lnTo>
                  <a:pt x="137666" y="158688"/>
                </a:lnTo>
                <a:lnTo>
                  <a:pt x="103560" y="124582"/>
                </a:lnTo>
                <a:cubicBezTo>
                  <a:pt x="97730" y="118752"/>
                  <a:pt x="97730" y="109327"/>
                  <a:pt x="103560" y="103560"/>
                </a:cubicBezTo>
                <a:close/>
              </a:path>
            </a:pathLst>
          </a:custGeom>
          <a:solidFill>
            <a:srgbClr val="7D8A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01208" y="1092190"/>
            <a:ext cx="2497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MapReduce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1208" y="1430857"/>
            <a:ext cx="245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~100 行代码，需要 3 个类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7333" y="1697026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Mapper 类：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7333" y="2035693"/>
            <a:ext cx="7112000" cy="1947333"/>
          </a:xfrm>
          <a:custGeom>
            <a:avLst/>
            <a:gdLst/>
            <a:ahLst/>
            <a:cxnLst/>
            <a:rect l="l" t="t" r="r" b="b"/>
            <a:pathLst>
              <a:path w="7112000" h="1947333">
                <a:moveTo>
                  <a:pt x="42335" y="0"/>
                </a:moveTo>
                <a:lnTo>
                  <a:pt x="7069665" y="0"/>
                </a:lnTo>
                <a:cubicBezTo>
                  <a:pt x="7093046" y="0"/>
                  <a:pt x="7112000" y="18954"/>
                  <a:pt x="7112000" y="42335"/>
                </a:cubicBezTo>
                <a:lnTo>
                  <a:pt x="7112000" y="1904998"/>
                </a:lnTo>
                <a:cubicBezTo>
                  <a:pt x="7112000" y="1928379"/>
                  <a:pt x="7093046" y="1947333"/>
                  <a:pt x="7069665" y="1947333"/>
                </a:cubicBezTo>
                <a:lnTo>
                  <a:pt x="42335" y="1947333"/>
                </a:lnTo>
                <a:cubicBezTo>
                  <a:pt x="18954" y="1947333"/>
                  <a:pt x="0" y="1928379"/>
                  <a:pt x="0" y="1904998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7333" y="2178568"/>
            <a:ext cx="7112001" cy="165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public class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WordCountMapper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extends Mapper&lt;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LongWritable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 Text, Text,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&gt; {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public void map(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LongWritable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key, Text value, Context context)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    throws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IOException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InterruptedException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{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b="0" i="1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b="0" i="1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分词处理</a:t>
            </a:r>
            <a:endParaRPr lang="zh-CN" altLang="en-US" sz="1200" b="0" i="0" dirty="0">
              <a:solidFill>
                <a:schemeClr val="bg1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buNone/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String[] words =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value.toString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().split(" ");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for (String word : words) {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context.write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(new Text(word), new </a:t>
            </a:r>
            <a:r>
              <a:rPr lang="en-US" altLang="zh-CN" sz="1200" b="0" i="0" dirty="0" err="1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(1));  </a:t>
            </a:r>
            <a:r>
              <a:rPr lang="en-US" altLang="zh-CN" sz="1200" b="0" i="1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b="0" i="1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输出 </a:t>
            </a:r>
            <a:r>
              <a:rPr lang="en-US" altLang="zh-CN" sz="1200" b="0" i="1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(word, 1)</a:t>
            </a:r>
            <a:endParaRPr lang="en-US" altLang="zh-CN" sz="1200" b="0" i="0" dirty="0">
              <a:solidFill>
                <a:schemeClr val="bg1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   }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}</a:t>
            </a:r>
          </a:p>
          <a:p>
            <a:pPr algn="l">
              <a:buNone/>
            </a:pPr>
            <a:r>
              <a:rPr lang="en-US" altLang="zh-CN" sz="1200" b="0" i="0" dirty="0">
                <a:solidFill>
                  <a:schemeClr val="bg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13" name="Text 11"/>
          <p:cNvSpPr/>
          <p:nvPr/>
        </p:nvSpPr>
        <p:spPr>
          <a:xfrm>
            <a:off x="677333" y="4110026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 类：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333" y="4448693"/>
            <a:ext cx="7112000" cy="2159000"/>
          </a:xfrm>
          <a:custGeom>
            <a:avLst/>
            <a:gdLst/>
            <a:ahLst/>
            <a:cxnLst/>
            <a:rect l="l" t="t" r="r" b="b"/>
            <a:pathLst>
              <a:path w="7112000" h="2159000">
                <a:moveTo>
                  <a:pt x="42338" y="0"/>
                </a:moveTo>
                <a:lnTo>
                  <a:pt x="7069662" y="0"/>
                </a:lnTo>
                <a:cubicBezTo>
                  <a:pt x="7093045" y="0"/>
                  <a:pt x="7112000" y="18955"/>
                  <a:pt x="7112000" y="42338"/>
                </a:cubicBezTo>
                <a:lnTo>
                  <a:pt x="7112000" y="2116662"/>
                </a:lnTo>
                <a:cubicBezTo>
                  <a:pt x="7112000" y="2140045"/>
                  <a:pt x="7093045" y="2159000"/>
                  <a:pt x="7069662" y="2159000"/>
                </a:cubicBezTo>
                <a:lnTo>
                  <a:pt x="42338" y="2159000"/>
                </a:lnTo>
                <a:cubicBezTo>
                  <a:pt x="18955" y="2159000"/>
                  <a:pt x="0" y="2140045"/>
                  <a:pt x="0" y="21166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4375" y="4506901"/>
            <a:ext cx="7074959" cy="210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public class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WordCountReducer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extends Reducer&lt;Text,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Text,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&gt;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public void reduce(Text key,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Iterable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&lt;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&gt; values, Context context)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throws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IOException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InterruptedException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int sum = 0;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累加相同单词的计数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for 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: values)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sum +=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val.get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context.write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(key, new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IntWritable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(sum));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输出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(word, count)</a:t>
            </a:r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16" name="Text 14"/>
          <p:cNvSpPr/>
          <p:nvPr/>
        </p:nvSpPr>
        <p:spPr>
          <a:xfrm>
            <a:off x="677333" y="6734693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类：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333" y="7073359"/>
            <a:ext cx="7112000" cy="1913477"/>
          </a:xfrm>
          <a:custGeom>
            <a:avLst/>
            <a:gdLst/>
            <a:ahLst/>
            <a:cxnLst/>
            <a:rect l="l" t="t" r="r" b="b"/>
            <a:pathLst>
              <a:path w="7112000" h="2159000">
                <a:moveTo>
                  <a:pt x="42338" y="0"/>
                </a:moveTo>
                <a:lnTo>
                  <a:pt x="7069662" y="0"/>
                </a:lnTo>
                <a:cubicBezTo>
                  <a:pt x="7093045" y="0"/>
                  <a:pt x="7112000" y="18955"/>
                  <a:pt x="7112000" y="42338"/>
                </a:cubicBezTo>
                <a:lnTo>
                  <a:pt x="7112000" y="2116662"/>
                </a:lnTo>
                <a:cubicBezTo>
                  <a:pt x="7112000" y="2140045"/>
                  <a:pt x="7093045" y="2159000"/>
                  <a:pt x="7069662" y="2159000"/>
                </a:cubicBezTo>
                <a:lnTo>
                  <a:pt x="42338" y="2159000"/>
                </a:lnTo>
                <a:cubicBezTo>
                  <a:pt x="18955" y="2159000"/>
                  <a:pt x="0" y="2140045"/>
                  <a:pt x="0" y="21166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8501" y="7216234"/>
            <a:ext cx="6325034" cy="161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public class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WordCountDriver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public static void main(String[]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args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 throws Exception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Job job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Job.getInstance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(new Configuration(), "word count");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job.setJarByClass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WordCountDriver.class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job.setMapperClass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WordCountMapper.class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job.setReducerClass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WordCountReducer.class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FileInputFormat.addInputPath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(job, new Path(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args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[0]));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FileOutputFormat.setOutputPath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(job, new Path(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args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[1]));}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76167" y="937677"/>
            <a:ext cx="7556500" cy="8206323"/>
          </a:xfrm>
          <a:custGeom>
            <a:avLst/>
            <a:gdLst/>
            <a:ahLst/>
            <a:cxnLst/>
            <a:rect l="l" t="t" r="r" b="b"/>
            <a:pathLst>
              <a:path w="7556500" h="8720667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8593642"/>
                </a:lnTo>
                <a:cubicBezTo>
                  <a:pt x="7556500" y="8663796"/>
                  <a:pt x="7499629" y="8720667"/>
                  <a:pt x="7429475" y="8720667"/>
                </a:cubicBezTo>
                <a:lnTo>
                  <a:pt x="42333" y="8720667"/>
                </a:lnTo>
                <a:cubicBezTo>
                  <a:pt x="18953" y="8720667"/>
                  <a:pt x="0" y="8701713"/>
                  <a:pt x="0" y="867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76167" y="937677"/>
            <a:ext cx="45719" cy="8206323"/>
          </a:xfrm>
          <a:custGeom>
            <a:avLst/>
            <a:gdLst/>
            <a:ahLst/>
            <a:cxnLst/>
            <a:rect l="l" t="t" r="r" b="b"/>
            <a:pathLst>
              <a:path w="42333" h="8720667">
                <a:moveTo>
                  <a:pt x="42333" y="0"/>
                </a:moveTo>
                <a:lnTo>
                  <a:pt x="42333" y="0"/>
                </a:lnTo>
                <a:lnTo>
                  <a:pt x="42333" y="8720667"/>
                </a:lnTo>
                <a:lnTo>
                  <a:pt x="42333" y="8720667"/>
                </a:lnTo>
                <a:cubicBezTo>
                  <a:pt x="18953" y="8720667"/>
                  <a:pt x="0" y="8701713"/>
                  <a:pt x="0" y="867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51333" y="12869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317500"/>
                </a:moveTo>
                <a:cubicBezTo>
                  <a:pt x="246367" y="317500"/>
                  <a:pt x="317500" y="246367"/>
                  <a:pt x="317500" y="158750"/>
                </a:cubicBezTo>
                <a:cubicBezTo>
                  <a:pt x="317500" y="71133"/>
                  <a:pt x="246367" y="0"/>
                  <a:pt x="158750" y="0"/>
                </a:cubicBezTo>
                <a:cubicBezTo>
                  <a:pt x="71133" y="0"/>
                  <a:pt x="0" y="71133"/>
                  <a:pt x="0" y="158750"/>
                </a:cubicBezTo>
                <a:cubicBezTo>
                  <a:pt x="0" y="246367"/>
                  <a:pt x="71133" y="317500"/>
                  <a:pt x="158750" y="317500"/>
                </a:cubicBezTo>
                <a:close/>
                <a:moveTo>
                  <a:pt x="211088" y="131899"/>
                </a:moveTo>
                <a:lnTo>
                  <a:pt x="161479" y="211274"/>
                </a:lnTo>
                <a:cubicBezTo>
                  <a:pt x="158874" y="215429"/>
                  <a:pt x="154409" y="218033"/>
                  <a:pt x="149510" y="218281"/>
                </a:cubicBezTo>
                <a:cubicBezTo>
                  <a:pt x="144611" y="218529"/>
                  <a:pt x="139898" y="216297"/>
                  <a:pt x="136984" y="212328"/>
                </a:cubicBezTo>
                <a:lnTo>
                  <a:pt x="107218" y="172641"/>
                </a:lnTo>
                <a:cubicBezTo>
                  <a:pt x="102257" y="166067"/>
                  <a:pt x="103622" y="156766"/>
                  <a:pt x="110195" y="151805"/>
                </a:cubicBezTo>
                <a:cubicBezTo>
                  <a:pt x="116768" y="146844"/>
                  <a:pt x="126070" y="148208"/>
                  <a:pt x="131031" y="154781"/>
                </a:cubicBezTo>
                <a:lnTo>
                  <a:pt x="147774" y="177105"/>
                </a:lnTo>
                <a:lnTo>
                  <a:pt x="185849" y="116148"/>
                </a:lnTo>
                <a:cubicBezTo>
                  <a:pt x="190190" y="109203"/>
                  <a:pt x="199368" y="107032"/>
                  <a:pt x="206375" y="111435"/>
                </a:cubicBezTo>
                <a:cubicBezTo>
                  <a:pt x="213382" y="115838"/>
                  <a:pt x="215491" y="124954"/>
                  <a:pt x="211088" y="13196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32875" y="1149344"/>
            <a:ext cx="1852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32875" y="1488011"/>
            <a:ext cx="180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 5 行代码，简洁优雅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1911344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 实现：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2250011"/>
            <a:ext cx="7112000" cy="2201333"/>
          </a:xfrm>
          <a:custGeom>
            <a:avLst/>
            <a:gdLst/>
            <a:ahLst/>
            <a:cxnLst/>
            <a:rect l="l" t="t" r="r" b="b"/>
            <a:pathLst>
              <a:path w="7112000" h="2201333">
                <a:moveTo>
                  <a:pt x="42332" y="0"/>
                </a:moveTo>
                <a:lnTo>
                  <a:pt x="7069668" y="0"/>
                </a:lnTo>
                <a:cubicBezTo>
                  <a:pt x="7093047" y="0"/>
                  <a:pt x="7112000" y="18953"/>
                  <a:pt x="7112000" y="42332"/>
                </a:cubicBezTo>
                <a:lnTo>
                  <a:pt x="7112000" y="2159002"/>
                </a:lnTo>
                <a:cubicBezTo>
                  <a:pt x="7112000" y="2182381"/>
                  <a:pt x="7093047" y="2201333"/>
                  <a:pt x="7069668" y="2201333"/>
                </a:cubicBezTo>
                <a:lnTo>
                  <a:pt x="42332" y="2201333"/>
                </a:lnTo>
                <a:cubicBezTo>
                  <a:pt x="18953" y="2201333"/>
                  <a:pt x="0" y="2182381"/>
                  <a:pt x="0" y="2159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78333" y="2461677"/>
            <a:ext cx="4568197" cy="1764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textFile = sc.textFile("input.txt") val wordCounts = textFile .flatMap(_.split(" ")) .map((_, 1)) .reduceByKey(_ + _) wordCounts.collect().foreach(println)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9000" y="4615386"/>
            <a:ext cx="2286000" cy="931333"/>
          </a:xfrm>
          <a:custGeom>
            <a:avLst/>
            <a:gdLst/>
            <a:ahLst/>
            <a:cxnLst/>
            <a:rect l="l" t="t" r="r" b="b"/>
            <a:pathLst>
              <a:path w="2286000" h="931333">
                <a:moveTo>
                  <a:pt x="42329" y="0"/>
                </a:moveTo>
                <a:lnTo>
                  <a:pt x="2243671" y="0"/>
                </a:lnTo>
                <a:cubicBezTo>
                  <a:pt x="2267049" y="0"/>
                  <a:pt x="2286000" y="18951"/>
                  <a:pt x="2286000" y="42329"/>
                </a:cubicBezTo>
                <a:lnTo>
                  <a:pt x="2286000" y="889004"/>
                </a:lnTo>
                <a:cubicBezTo>
                  <a:pt x="2286000" y="912382"/>
                  <a:pt x="2267049" y="931333"/>
                  <a:pt x="2243671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56625" y="4742386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3667" y="5165719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代码量减少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22000" y="4615386"/>
            <a:ext cx="2286000" cy="931333"/>
          </a:xfrm>
          <a:custGeom>
            <a:avLst/>
            <a:gdLst/>
            <a:ahLst/>
            <a:cxnLst/>
            <a:rect l="l" t="t" r="r" b="b"/>
            <a:pathLst>
              <a:path w="2286000" h="931333">
                <a:moveTo>
                  <a:pt x="42329" y="0"/>
                </a:moveTo>
                <a:lnTo>
                  <a:pt x="2243671" y="0"/>
                </a:lnTo>
                <a:cubicBezTo>
                  <a:pt x="2267049" y="0"/>
                  <a:pt x="2286000" y="18951"/>
                  <a:pt x="2286000" y="42329"/>
                </a:cubicBezTo>
                <a:lnTo>
                  <a:pt x="2286000" y="889004"/>
                </a:lnTo>
                <a:cubicBezTo>
                  <a:pt x="2286000" y="912382"/>
                  <a:pt x="2267049" y="931333"/>
                  <a:pt x="2243671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969625" y="4742386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06667" y="5165719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开发效率提升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335000" y="4615386"/>
            <a:ext cx="2286000" cy="931333"/>
          </a:xfrm>
          <a:custGeom>
            <a:avLst/>
            <a:gdLst/>
            <a:ahLst/>
            <a:cxnLst/>
            <a:rect l="l" t="t" r="r" b="b"/>
            <a:pathLst>
              <a:path w="2286000" h="931333">
                <a:moveTo>
                  <a:pt x="42329" y="0"/>
                </a:moveTo>
                <a:lnTo>
                  <a:pt x="2243671" y="0"/>
                </a:lnTo>
                <a:cubicBezTo>
                  <a:pt x="2267049" y="0"/>
                  <a:pt x="2286000" y="18951"/>
                  <a:pt x="2286000" y="42329"/>
                </a:cubicBezTo>
                <a:lnTo>
                  <a:pt x="2286000" y="889004"/>
                </a:lnTo>
                <a:cubicBezTo>
                  <a:pt x="2286000" y="912382"/>
                  <a:pt x="2267049" y="931333"/>
                  <a:pt x="2243671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3382625" y="4742386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419667" y="5165719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样板代码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09000" y="5716052"/>
            <a:ext cx="7112000" cy="1989667"/>
          </a:xfrm>
          <a:custGeom>
            <a:avLst/>
            <a:gdLst/>
            <a:ahLst/>
            <a:cxnLst/>
            <a:rect l="l" t="t" r="r" b="b"/>
            <a:pathLst>
              <a:path w="7112000" h="1989667">
                <a:moveTo>
                  <a:pt x="42340" y="0"/>
                </a:moveTo>
                <a:lnTo>
                  <a:pt x="7069660" y="0"/>
                </a:lnTo>
                <a:cubicBezTo>
                  <a:pt x="7093044" y="0"/>
                  <a:pt x="7112000" y="18956"/>
                  <a:pt x="7112000" y="42340"/>
                </a:cubicBezTo>
                <a:lnTo>
                  <a:pt x="7112000" y="1947327"/>
                </a:lnTo>
                <a:cubicBezTo>
                  <a:pt x="7112000" y="1970710"/>
                  <a:pt x="7093044" y="1989667"/>
                  <a:pt x="7069660" y="1989667"/>
                </a:cubicBezTo>
                <a:lnTo>
                  <a:pt x="42340" y="1989667"/>
                </a:lnTo>
                <a:cubicBezTo>
                  <a:pt x="18956" y="1989667"/>
                  <a:pt x="0" y="1970710"/>
                  <a:pt x="0" y="1947327"/>
                </a:cubicBezTo>
                <a:lnTo>
                  <a:pt x="0" y="42340"/>
                </a:lnTo>
                <a:cubicBezTo>
                  <a:pt x="0" y="18956"/>
                  <a:pt x="18956" y="0"/>
                  <a:pt x="42340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78333" y="5885386"/>
            <a:ext cx="6868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727281" y="6308719"/>
            <a:ext cx="92604" cy="148167"/>
          </a:xfrm>
          <a:custGeom>
            <a:avLst/>
            <a:gdLst/>
            <a:ahLst/>
            <a:cxnLst/>
            <a:rect l="l" t="t" r="r" b="b"/>
            <a:pathLst>
              <a:path w="92604" h="148167">
                <a:moveTo>
                  <a:pt x="90029" y="67543"/>
                </a:moveTo>
                <a:cubicBezTo>
                  <a:pt x="93646" y="71161"/>
                  <a:pt x="93646" y="77035"/>
                  <a:pt x="90029" y="80652"/>
                </a:cubicBezTo>
                <a:lnTo>
                  <a:pt x="34466" y="136215"/>
                </a:lnTo>
                <a:cubicBezTo>
                  <a:pt x="30849" y="139832"/>
                  <a:pt x="24974" y="139832"/>
                  <a:pt x="21357" y="136215"/>
                </a:cubicBezTo>
                <a:cubicBezTo>
                  <a:pt x="17739" y="132598"/>
                  <a:pt x="17739" y="126723"/>
                  <a:pt x="21357" y="123106"/>
                </a:cubicBezTo>
                <a:lnTo>
                  <a:pt x="70379" y="74083"/>
                </a:lnTo>
                <a:lnTo>
                  <a:pt x="21386" y="25061"/>
                </a:lnTo>
                <a:cubicBezTo>
                  <a:pt x="17768" y="21444"/>
                  <a:pt x="17768" y="15569"/>
                  <a:pt x="21386" y="11952"/>
                </a:cubicBezTo>
                <a:cubicBezTo>
                  <a:pt x="25003" y="8334"/>
                  <a:pt x="30878" y="8334"/>
                  <a:pt x="34495" y="11952"/>
                </a:cubicBezTo>
                <a:lnTo>
                  <a:pt x="90058" y="67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948208" y="6266386"/>
            <a:ext cx="296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函数式编程：</a:t>
            </a: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接近自然语言的表达方式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727281" y="6647386"/>
            <a:ext cx="92604" cy="148167"/>
          </a:xfrm>
          <a:custGeom>
            <a:avLst/>
            <a:gdLst/>
            <a:ahLst/>
            <a:cxnLst/>
            <a:rect l="l" t="t" r="r" b="b"/>
            <a:pathLst>
              <a:path w="92604" h="148167">
                <a:moveTo>
                  <a:pt x="90029" y="67543"/>
                </a:moveTo>
                <a:cubicBezTo>
                  <a:pt x="93646" y="71161"/>
                  <a:pt x="93646" y="77035"/>
                  <a:pt x="90029" y="80652"/>
                </a:cubicBezTo>
                <a:lnTo>
                  <a:pt x="34466" y="136215"/>
                </a:lnTo>
                <a:cubicBezTo>
                  <a:pt x="30849" y="139832"/>
                  <a:pt x="24974" y="139832"/>
                  <a:pt x="21357" y="136215"/>
                </a:cubicBezTo>
                <a:cubicBezTo>
                  <a:pt x="17739" y="132598"/>
                  <a:pt x="17739" y="126723"/>
                  <a:pt x="21357" y="123106"/>
                </a:cubicBezTo>
                <a:lnTo>
                  <a:pt x="70379" y="74083"/>
                </a:lnTo>
                <a:lnTo>
                  <a:pt x="21386" y="25061"/>
                </a:lnTo>
                <a:cubicBezTo>
                  <a:pt x="17768" y="21444"/>
                  <a:pt x="17768" y="15569"/>
                  <a:pt x="21386" y="11952"/>
                </a:cubicBezTo>
                <a:cubicBezTo>
                  <a:pt x="25003" y="8334"/>
                  <a:pt x="30878" y="8334"/>
                  <a:pt x="34495" y="11952"/>
                </a:cubicBezTo>
                <a:lnTo>
                  <a:pt x="90058" y="67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948208" y="6605052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丰富的算子：</a:t>
            </a: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map、filter、reduceByKey 等高级操作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727281" y="6986052"/>
            <a:ext cx="92604" cy="148167"/>
          </a:xfrm>
          <a:custGeom>
            <a:avLst/>
            <a:gdLst/>
            <a:ahLst/>
            <a:cxnLst/>
            <a:rect l="l" t="t" r="r" b="b"/>
            <a:pathLst>
              <a:path w="92604" h="148167">
                <a:moveTo>
                  <a:pt x="90029" y="67543"/>
                </a:moveTo>
                <a:cubicBezTo>
                  <a:pt x="93646" y="71161"/>
                  <a:pt x="93646" y="77035"/>
                  <a:pt x="90029" y="80652"/>
                </a:cubicBezTo>
                <a:lnTo>
                  <a:pt x="34466" y="136215"/>
                </a:lnTo>
                <a:cubicBezTo>
                  <a:pt x="30849" y="139832"/>
                  <a:pt x="24974" y="139832"/>
                  <a:pt x="21357" y="136215"/>
                </a:cubicBezTo>
                <a:cubicBezTo>
                  <a:pt x="17739" y="132598"/>
                  <a:pt x="17739" y="126723"/>
                  <a:pt x="21357" y="123106"/>
                </a:cubicBezTo>
                <a:lnTo>
                  <a:pt x="70379" y="74083"/>
                </a:lnTo>
                <a:lnTo>
                  <a:pt x="21386" y="25061"/>
                </a:lnTo>
                <a:cubicBezTo>
                  <a:pt x="17768" y="21444"/>
                  <a:pt x="17768" y="15569"/>
                  <a:pt x="21386" y="11952"/>
                </a:cubicBezTo>
                <a:cubicBezTo>
                  <a:pt x="25003" y="8334"/>
                  <a:pt x="30878" y="8334"/>
                  <a:pt x="34495" y="11952"/>
                </a:cubicBezTo>
                <a:lnTo>
                  <a:pt x="90058" y="67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948208" y="6943719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类型安全：</a:t>
            </a: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编译时检查错误，提高代码质量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27281" y="7324719"/>
            <a:ext cx="92604" cy="148167"/>
          </a:xfrm>
          <a:custGeom>
            <a:avLst/>
            <a:gdLst/>
            <a:ahLst/>
            <a:cxnLst/>
            <a:rect l="l" t="t" r="r" b="b"/>
            <a:pathLst>
              <a:path w="92604" h="148167">
                <a:moveTo>
                  <a:pt x="90029" y="67543"/>
                </a:moveTo>
                <a:cubicBezTo>
                  <a:pt x="93646" y="71161"/>
                  <a:pt x="93646" y="77035"/>
                  <a:pt x="90029" y="80652"/>
                </a:cubicBezTo>
                <a:lnTo>
                  <a:pt x="34466" y="136215"/>
                </a:lnTo>
                <a:cubicBezTo>
                  <a:pt x="30849" y="139832"/>
                  <a:pt x="24974" y="139832"/>
                  <a:pt x="21357" y="136215"/>
                </a:cubicBezTo>
                <a:cubicBezTo>
                  <a:pt x="17739" y="132598"/>
                  <a:pt x="17739" y="126723"/>
                  <a:pt x="21357" y="123106"/>
                </a:cubicBezTo>
                <a:lnTo>
                  <a:pt x="70379" y="74083"/>
                </a:lnTo>
                <a:lnTo>
                  <a:pt x="21386" y="25061"/>
                </a:lnTo>
                <a:cubicBezTo>
                  <a:pt x="17768" y="21444"/>
                  <a:pt x="17768" y="15569"/>
                  <a:pt x="21386" y="11952"/>
                </a:cubicBezTo>
                <a:cubicBezTo>
                  <a:pt x="25003" y="8334"/>
                  <a:pt x="30878" y="8334"/>
                  <a:pt x="34495" y="11952"/>
                </a:cubicBezTo>
                <a:lnTo>
                  <a:pt x="90058" y="67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948208" y="7282386"/>
            <a:ext cx="296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易于测试：</a:t>
            </a: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纯函数易于单元测试和调试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201" y="429201"/>
            <a:ext cx="85840" cy="429201"/>
          </a:xfrm>
          <a:custGeom>
            <a:avLst/>
            <a:gdLst/>
            <a:ahLst/>
            <a:cxnLst/>
            <a:rect l="l" t="t" r="r" b="b"/>
            <a:pathLst>
              <a:path w="85840" h="429201">
                <a:moveTo>
                  <a:pt x="0" y="0"/>
                </a:moveTo>
                <a:lnTo>
                  <a:pt x="85840" y="0"/>
                </a:lnTo>
                <a:lnTo>
                  <a:pt x="85840" y="429201"/>
                </a:lnTo>
                <a:lnTo>
                  <a:pt x="0" y="429201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6722" y="429201"/>
            <a:ext cx="5246986" cy="42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42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vs MapReduce：执行效率对比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6722" y="1073003"/>
            <a:ext cx="15236647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内存计算 + DAG 优化带来数量级性能提升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0661" y="1588045"/>
            <a:ext cx="7543213" cy="7124742"/>
          </a:xfrm>
          <a:custGeom>
            <a:avLst/>
            <a:gdLst/>
            <a:ahLst/>
            <a:cxnLst/>
            <a:rect l="l" t="t" r="r" b="b"/>
            <a:pathLst>
              <a:path w="7543213" h="7124742">
                <a:moveTo>
                  <a:pt x="42920" y="0"/>
                </a:moveTo>
                <a:lnTo>
                  <a:pt x="7414469" y="0"/>
                </a:lnTo>
                <a:cubicBezTo>
                  <a:pt x="7485573" y="0"/>
                  <a:pt x="7543213" y="57641"/>
                  <a:pt x="7543213" y="128744"/>
                </a:cubicBezTo>
                <a:lnTo>
                  <a:pt x="7543213" y="6995998"/>
                </a:lnTo>
                <a:cubicBezTo>
                  <a:pt x="7543213" y="7067101"/>
                  <a:pt x="7485573" y="7124742"/>
                  <a:pt x="7414469" y="7124742"/>
                </a:cubicBezTo>
                <a:lnTo>
                  <a:pt x="42920" y="7124742"/>
                </a:lnTo>
                <a:cubicBezTo>
                  <a:pt x="19216" y="7124742"/>
                  <a:pt x="0" y="7105526"/>
                  <a:pt x="0" y="7081822"/>
                </a:cubicBezTo>
                <a:lnTo>
                  <a:pt x="0" y="42920"/>
                </a:lnTo>
                <a:cubicBezTo>
                  <a:pt x="0" y="19232"/>
                  <a:pt x="19232" y="0"/>
                  <a:pt x="42920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0661" y="1588045"/>
            <a:ext cx="42920" cy="7124742"/>
          </a:xfrm>
          <a:custGeom>
            <a:avLst/>
            <a:gdLst/>
            <a:ahLst/>
            <a:cxnLst/>
            <a:rect l="l" t="t" r="r" b="b"/>
            <a:pathLst>
              <a:path w="42920" h="7124742">
                <a:moveTo>
                  <a:pt x="42920" y="0"/>
                </a:moveTo>
                <a:lnTo>
                  <a:pt x="42920" y="0"/>
                </a:lnTo>
                <a:lnTo>
                  <a:pt x="42920" y="7124742"/>
                </a:lnTo>
                <a:lnTo>
                  <a:pt x="42920" y="7124742"/>
                </a:lnTo>
                <a:cubicBezTo>
                  <a:pt x="19216" y="7124742"/>
                  <a:pt x="0" y="7105526"/>
                  <a:pt x="0" y="7081822"/>
                </a:cubicBezTo>
                <a:lnTo>
                  <a:pt x="0" y="42920"/>
                </a:lnTo>
                <a:cubicBezTo>
                  <a:pt x="0" y="19232"/>
                  <a:pt x="19232" y="0"/>
                  <a:pt x="42920" y="0"/>
                </a:cubicBezTo>
                <a:close/>
              </a:path>
            </a:pathLst>
          </a:custGeom>
          <a:solidFill>
            <a:srgbClr val="7D8A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8912" y="1845566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257521"/>
                </a:moveTo>
                <a:cubicBezTo>
                  <a:pt x="199825" y="257521"/>
                  <a:pt x="257521" y="199825"/>
                  <a:pt x="257521" y="128760"/>
                </a:cubicBezTo>
                <a:cubicBezTo>
                  <a:pt x="257521" y="57696"/>
                  <a:pt x="199825" y="0"/>
                  <a:pt x="128760" y="0"/>
                </a:cubicBezTo>
                <a:cubicBezTo>
                  <a:pt x="57696" y="0"/>
                  <a:pt x="0" y="57696"/>
                  <a:pt x="0" y="128760"/>
                </a:cubicBezTo>
                <a:cubicBezTo>
                  <a:pt x="0" y="199825"/>
                  <a:pt x="57696" y="257521"/>
                  <a:pt x="128760" y="257521"/>
                </a:cubicBezTo>
                <a:close/>
                <a:moveTo>
                  <a:pt x="83996" y="83996"/>
                </a:moveTo>
                <a:cubicBezTo>
                  <a:pt x="88724" y="79268"/>
                  <a:pt x="96369" y="79268"/>
                  <a:pt x="101047" y="83996"/>
                </a:cubicBezTo>
                <a:lnTo>
                  <a:pt x="128710" y="111659"/>
                </a:lnTo>
                <a:lnTo>
                  <a:pt x="156373" y="83996"/>
                </a:lnTo>
                <a:cubicBezTo>
                  <a:pt x="161101" y="79268"/>
                  <a:pt x="168747" y="79268"/>
                  <a:pt x="173424" y="83996"/>
                </a:cubicBezTo>
                <a:cubicBezTo>
                  <a:pt x="178102" y="88724"/>
                  <a:pt x="178152" y="96369"/>
                  <a:pt x="173424" y="101047"/>
                </a:cubicBezTo>
                <a:lnTo>
                  <a:pt x="145761" y="128710"/>
                </a:lnTo>
                <a:lnTo>
                  <a:pt x="173424" y="156373"/>
                </a:lnTo>
                <a:cubicBezTo>
                  <a:pt x="178152" y="161101"/>
                  <a:pt x="178152" y="168747"/>
                  <a:pt x="173424" y="173424"/>
                </a:cubicBezTo>
                <a:cubicBezTo>
                  <a:pt x="168696" y="178102"/>
                  <a:pt x="161051" y="178152"/>
                  <a:pt x="156373" y="173424"/>
                </a:cubicBezTo>
                <a:lnTo>
                  <a:pt x="128710" y="145761"/>
                </a:lnTo>
                <a:lnTo>
                  <a:pt x="101047" y="173424"/>
                </a:lnTo>
                <a:cubicBezTo>
                  <a:pt x="96319" y="178152"/>
                  <a:pt x="88674" y="178152"/>
                  <a:pt x="83996" y="173424"/>
                </a:cubicBezTo>
                <a:cubicBezTo>
                  <a:pt x="79318" y="168696"/>
                  <a:pt x="79268" y="161051"/>
                  <a:pt x="83996" y="156373"/>
                </a:cubicBezTo>
                <a:lnTo>
                  <a:pt x="111659" y="128710"/>
                </a:lnTo>
                <a:lnTo>
                  <a:pt x="83996" y="101047"/>
                </a:lnTo>
                <a:cubicBezTo>
                  <a:pt x="79268" y="96319"/>
                  <a:pt x="79268" y="88674"/>
                  <a:pt x="83996" y="83996"/>
                </a:cubicBezTo>
                <a:close/>
              </a:path>
            </a:pathLst>
          </a:custGeom>
          <a:solidFill>
            <a:srgbClr val="7D8A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37383" y="1802646"/>
            <a:ext cx="2639588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2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执行模型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6722" y="2317687"/>
            <a:ext cx="7092552" cy="2060166"/>
          </a:xfrm>
          <a:custGeom>
            <a:avLst/>
            <a:gdLst/>
            <a:ahLst/>
            <a:cxnLst/>
            <a:rect l="l" t="t" r="r" b="b"/>
            <a:pathLst>
              <a:path w="7092552" h="2060166">
                <a:moveTo>
                  <a:pt x="85847" y="0"/>
                </a:moveTo>
                <a:lnTo>
                  <a:pt x="7006705" y="0"/>
                </a:lnTo>
                <a:cubicBezTo>
                  <a:pt x="7054117" y="0"/>
                  <a:pt x="7092552" y="38435"/>
                  <a:pt x="7092552" y="85847"/>
                </a:cubicBezTo>
                <a:lnTo>
                  <a:pt x="7092552" y="1974319"/>
                </a:lnTo>
                <a:cubicBezTo>
                  <a:pt x="7092552" y="2021731"/>
                  <a:pt x="7054117" y="2060166"/>
                  <a:pt x="7006705" y="2060166"/>
                </a:cubicBezTo>
                <a:lnTo>
                  <a:pt x="85847" y="2060166"/>
                </a:lnTo>
                <a:cubicBezTo>
                  <a:pt x="38435" y="2060166"/>
                  <a:pt x="0" y="2021731"/>
                  <a:pt x="0" y="1974319"/>
                </a:cubicBezTo>
                <a:lnTo>
                  <a:pt x="0" y="85847"/>
                </a:lnTo>
                <a:cubicBezTo>
                  <a:pt x="0" y="38435"/>
                  <a:pt x="38435" y="0"/>
                  <a:pt x="858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8403" y="2489368"/>
            <a:ext cx="6845761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 I/O 密集型计算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8403" y="2918569"/>
            <a:ext cx="343361" cy="343361"/>
          </a:xfrm>
          <a:custGeom>
            <a:avLst/>
            <a:gdLst/>
            <a:ahLst/>
            <a:cxnLst/>
            <a:rect l="l" t="t" r="r" b="b"/>
            <a:pathLst>
              <a:path w="343361" h="343361">
                <a:moveTo>
                  <a:pt x="171681" y="0"/>
                </a:moveTo>
                <a:lnTo>
                  <a:pt x="171681" y="0"/>
                </a:lnTo>
                <a:cubicBezTo>
                  <a:pt x="266434" y="0"/>
                  <a:pt x="343361" y="76927"/>
                  <a:pt x="343361" y="171681"/>
                </a:cubicBezTo>
                <a:lnTo>
                  <a:pt x="343361" y="171681"/>
                </a:lnTo>
                <a:cubicBezTo>
                  <a:pt x="343361" y="266434"/>
                  <a:pt x="266434" y="343361"/>
                  <a:pt x="171681" y="343361"/>
                </a:cubicBezTo>
                <a:lnTo>
                  <a:pt x="171681" y="343361"/>
                </a:lnTo>
                <a:cubicBezTo>
                  <a:pt x="76927" y="343361"/>
                  <a:pt x="0" y="266434"/>
                  <a:pt x="0" y="171681"/>
                </a:cubicBezTo>
                <a:lnTo>
                  <a:pt x="0" y="171681"/>
                </a:lnTo>
                <a:cubicBezTo>
                  <a:pt x="0" y="76927"/>
                  <a:pt x="76927" y="0"/>
                  <a:pt x="171681" y="0"/>
                </a:cubicBezTo>
                <a:close/>
              </a:path>
            </a:pathLst>
          </a:custGeom>
          <a:solidFill>
            <a:srgbClr val="7D8A99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00492" y="2982949"/>
            <a:ext cx="139490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0524" y="2961489"/>
            <a:ext cx="2371337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阶段：</a:t>
            </a: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输出写入本地磁盘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8403" y="3390690"/>
            <a:ext cx="343361" cy="343361"/>
          </a:xfrm>
          <a:custGeom>
            <a:avLst/>
            <a:gdLst/>
            <a:ahLst/>
            <a:cxnLst/>
            <a:rect l="l" t="t" r="r" b="b"/>
            <a:pathLst>
              <a:path w="343361" h="343361">
                <a:moveTo>
                  <a:pt x="171681" y="0"/>
                </a:moveTo>
                <a:lnTo>
                  <a:pt x="171681" y="0"/>
                </a:lnTo>
                <a:cubicBezTo>
                  <a:pt x="266434" y="0"/>
                  <a:pt x="343361" y="76927"/>
                  <a:pt x="343361" y="171681"/>
                </a:cubicBezTo>
                <a:lnTo>
                  <a:pt x="343361" y="171681"/>
                </a:lnTo>
                <a:cubicBezTo>
                  <a:pt x="343361" y="266434"/>
                  <a:pt x="266434" y="343361"/>
                  <a:pt x="171681" y="343361"/>
                </a:cubicBezTo>
                <a:lnTo>
                  <a:pt x="171681" y="343361"/>
                </a:lnTo>
                <a:cubicBezTo>
                  <a:pt x="76927" y="343361"/>
                  <a:pt x="0" y="266434"/>
                  <a:pt x="0" y="171681"/>
                </a:cubicBezTo>
                <a:lnTo>
                  <a:pt x="0" y="171681"/>
                </a:lnTo>
                <a:cubicBezTo>
                  <a:pt x="0" y="76927"/>
                  <a:pt x="76927" y="0"/>
                  <a:pt x="171681" y="0"/>
                </a:cubicBezTo>
                <a:close/>
              </a:path>
            </a:pathLst>
          </a:custGeom>
          <a:solidFill>
            <a:srgbClr val="7D8A99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87834" y="3455071"/>
            <a:ext cx="160950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0524" y="3433611"/>
            <a:ext cx="327266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 阶段：</a:t>
            </a: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从磁盘读取并通过网络传输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8403" y="3862812"/>
            <a:ext cx="343361" cy="343361"/>
          </a:xfrm>
          <a:custGeom>
            <a:avLst/>
            <a:gdLst/>
            <a:ahLst/>
            <a:cxnLst/>
            <a:rect l="l" t="t" r="r" b="b"/>
            <a:pathLst>
              <a:path w="343361" h="343361">
                <a:moveTo>
                  <a:pt x="171681" y="0"/>
                </a:moveTo>
                <a:lnTo>
                  <a:pt x="171681" y="0"/>
                </a:lnTo>
                <a:cubicBezTo>
                  <a:pt x="266434" y="0"/>
                  <a:pt x="343361" y="76927"/>
                  <a:pt x="343361" y="171681"/>
                </a:cubicBezTo>
                <a:lnTo>
                  <a:pt x="343361" y="171681"/>
                </a:lnTo>
                <a:cubicBezTo>
                  <a:pt x="343361" y="266434"/>
                  <a:pt x="266434" y="343361"/>
                  <a:pt x="171681" y="343361"/>
                </a:cubicBezTo>
                <a:lnTo>
                  <a:pt x="171681" y="343361"/>
                </a:lnTo>
                <a:cubicBezTo>
                  <a:pt x="76927" y="343361"/>
                  <a:pt x="0" y="266434"/>
                  <a:pt x="0" y="171681"/>
                </a:cubicBezTo>
                <a:lnTo>
                  <a:pt x="0" y="171681"/>
                </a:lnTo>
                <a:cubicBezTo>
                  <a:pt x="0" y="76927"/>
                  <a:pt x="76927" y="0"/>
                  <a:pt x="171681" y="0"/>
                </a:cubicBezTo>
                <a:close/>
              </a:path>
            </a:pathLst>
          </a:custGeom>
          <a:solidFill>
            <a:srgbClr val="7D8A99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5906" y="3927192"/>
            <a:ext cx="160950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0524" y="3905732"/>
            <a:ext cx="2789809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阶段：</a:t>
            </a: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再次从磁盘读取数据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6722" y="4549534"/>
            <a:ext cx="7092552" cy="2360607"/>
          </a:xfrm>
          <a:custGeom>
            <a:avLst/>
            <a:gdLst/>
            <a:ahLst/>
            <a:cxnLst/>
            <a:rect l="l" t="t" r="r" b="b"/>
            <a:pathLst>
              <a:path w="7092552" h="2360607">
                <a:moveTo>
                  <a:pt x="85832" y="0"/>
                </a:moveTo>
                <a:lnTo>
                  <a:pt x="7006720" y="0"/>
                </a:lnTo>
                <a:cubicBezTo>
                  <a:pt x="7054124" y="0"/>
                  <a:pt x="7092552" y="38428"/>
                  <a:pt x="7092552" y="85832"/>
                </a:cubicBezTo>
                <a:lnTo>
                  <a:pt x="7092552" y="2274776"/>
                </a:lnTo>
                <a:cubicBezTo>
                  <a:pt x="7092552" y="2322179"/>
                  <a:pt x="7054124" y="2360607"/>
                  <a:pt x="7006720" y="2360607"/>
                </a:cubicBezTo>
                <a:lnTo>
                  <a:pt x="85832" y="2360607"/>
                </a:lnTo>
                <a:cubicBezTo>
                  <a:pt x="38428" y="2360607"/>
                  <a:pt x="0" y="2322179"/>
                  <a:pt x="0" y="2274776"/>
                </a:cubicBezTo>
                <a:lnTo>
                  <a:pt x="0" y="85832"/>
                </a:lnTo>
                <a:cubicBezTo>
                  <a:pt x="0" y="38460"/>
                  <a:pt x="38460" y="0"/>
                  <a:pt x="858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8403" y="4721215"/>
            <a:ext cx="6845761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迭代计算的性能瓶颈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403" y="5150416"/>
            <a:ext cx="6835031" cy="55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对于机器学习等需要多轮迭代的算法，MapReduce 每次迭代都要重新从 HDFS 读取数据，性能极其低下。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8403" y="5837138"/>
            <a:ext cx="6749191" cy="901323"/>
          </a:xfrm>
          <a:custGeom>
            <a:avLst/>
            <a:gdLst/>
            <a:ahLst/>
            <a:cxnLst/>
            <a:rect l="l" t="t" r="r" b="b"/>
            <a:pathLst>
              <a:path w="6749191" h="901323">
                <a:moveTo>
                  <a:pt x="42921" y="0"/>
                </a:moveTo>
                <a:lnTo>
                  <a:pt x="6706270" y="0"/>
                </a:lnTo>
                <a:cubicBezTo>
                  <a:pt x="6729974" y="0"/>
                  <a:pt x="6749191" y="19216"/>
                  <a:pt x="6749191" y="42921"/>
                </a:cubicBezTo>
                <a:lnTo>
                  <a:pt x="6749191" y="858402"/>
                </a:lnTo>
                <a:cubicBezTo>
                  <a:pt x="6749191" y="882106"/>
                  <a:pt x="6729974" y="901323"/>
                  <a:pt x="670627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44243" y="5965898"/>
            <a:ext cx="657751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迭代计算场景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6688" y="6223419"/>
            <a:ext cx="6652620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3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性能下降 50-80%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6722" y="7081822"/>
            <a:ext cx="3487261" cy="901323"/>
          </a:xfrm>
          <a:custGeom>
            <a:avLst/>
            <a:gdLst/>
            <a:ahLst/>
            <a:cxnLst/>
            <a:rect l="l" t="t" r="r" b="b"/>
            <a:pathLst>
              <a:path w="3487261" h="901323">
                <a:moveTo>
                  <a:pt x="42921" y="0"/>
                </a:moveTo>
                <a:lnTo>
                  <a:pt x="3444340" y="0"/>
                </a:lnTo>
                <a:cubicBezTo>
                  <a:pt x="3468044" y="0"/>
                  <a:pt x="3487261" y="19216"/>
                  <a:pt x="3487261" y="42921"/>
                </a:cubicBezTo>
                <a:lnTo>
                  <a:pt x="3487261" y="858402"/>
                </a:lnTo>
                <a:cubicBezTo>
                  <a:pt x="3487261" y="882106"/>
                  <a:pt x="3468044" y="901323"/>
                  <a:pt x="344434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51102" y="7210582"/>
            <a:ext cx="3358500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28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2562" y="7596863"/>
            <a:ext cx="331558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磁盘读写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99139" y="7081822"/>
            <a:ext cx="3487261" cy="901323"/>
          </a:xfrm>
          <a:custGeom>
            <a:avLst/>
            <a:gdLst/>
            <a:ahLst/>
            <a:cxnLst/>
            <a:rect l="l" t="t" r="r" b="b"/>
            <a:pathLst>
              <a:path w="3487261" h="901323">
                <a:moveTo>
                  <a:pt x="42921" y="0"/>
                </a:moveTo>
                <a:lnTo>
                  <a:pt x="3444340" y="0"/>
                </a:lnTo>
                <a:cubicBezTo>
                  <a:pt x="3468044" y="0"/>
                  <a:pt x="3487261" y="19216"/>
                  <a:pt x="3487261" y="42921"/>
                </a:cubicBezTo>
                <a:lnTo>
                  <a:pt x="3487261" y="858402"/>
                </a:lnTo>
                <a:cubicBezTo>
                  <a:pt x="3487261" y="882106"/>
                  <a:pt x="3468044" y="901323"/>
                  <a:pt x="344434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363519" y="7210582"/>
            <a:ext cx="3358500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28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4979" y="7596863"/>
            <a:ext cx="331558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网络开销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6376" y="1588045"/>
            <a:ext cx="7543213" cy="7124742"/>
          </a:xfrm>
          <a:custGeom>
            <a:avLst/>
            <a:gdLst/>
            <a:ahLst/>
            <a:cxnLst/>
            <a:rect l="l" t="t" r="r" b="b"/>
            <a:pathLst>
              <a:path w="7543213" h="7124742">
                <a:moveTo>
                  <a:pt x="42920" y="0"/>
                </a:moveTo>
                <a:lnTo>
                  <a:pt x="7414469" y="0"/>
                </a:lnTo>
                <a:cubicBezTo>
                  <a:pt x="7485573" y="0"/>
                  <a:pt x="7543213" y="57641"/>
                  <a:pt x="7543213" y="128744"/>
                </a:cubicBezTo>
                <a:lnTo>
                  <a:pt x="7543213" y="6995998"/>
                </a:lnTo>
                <a:cubicBezTo>
                  <a:pt x="7543213" y="7067101"/>
                  <a:pt x="7485573" y="7124742"/>
                  <a:pt x="7414469" y="7124742"/>
                </a:cubicBezTo>
                <a:lnTo>
                  <a:pt x="42920" y="7124742"/>
                </a:lnTo>
                <a:cubicBezTo>
                  <a:pt x="19216" y="7124742"/>
                  <a:pt x="0" y="7105526"/>
                  <a:pt x="0" y="7081822"/>
                </a:cubicBezTo>
                <a:lnTo>
                  <a:pt x="0" y="42920"/>
                </a:lnTo>
                <a:cubicBezTo>
                  <a:pt x="0" y="19232"/>
                  <a:pt x="19232" y="0"/>
                  <a:pt x="4292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76376" y="1588045"/>
            <a:ext cx="42920" cy="7124742"/>
          </a:xfrm>
          <a:custGeom>
            <a:avLst/>
            <a:gdLst/>
            <a:ahLst/>
            <a:cxnLst/>
            <a:rect l="l" t="t" r="r" b="b"/>
            <a:pathLst>
              <a:path w="42920" h="7124742">
                <a:moveTo>
                  <a:pt x="42920" y="0"/>
                </a:moveTo>
                <a:lnTo>
                  <a:pt x="42920" y="0"/>
                </a:lnTo>
                <a:lnTo>
                  <a:pt x="42920" y="7124742"/>
                </a:lnTo>
                <a:lnTo>
                  <a:pt x="42920" y="7124742"/>
                </a:lnTo>
                <a:cubicBezTo>
                  <a:pt x="19216" y="7124742"/>
                  <a:pt x="0" y="7105526"/>
                  <a:pt x="0" y="7081822"/>
                </a:cubicBezTo>
                <a:lnTo>
                  <a:pt x="0" y="42920"/>
                </a:lnTo>
                <a:cubicBezTo>
                  <a:pt x="0" y="19232"/>
                  <a:pt x="19232" y="0"/>
                  <a:pt x="4292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44627" y="1845566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128760" y="257521"/>
                </a:moveTo>
                <a:cubicBezTo>
                  <a:pt x="199825" y="257521"/>
                  <a:pt x="257521" y="199825"/>
                  <a:pt x="257521" y="128760"/>
                </a:cubicBezTo>
                <a:cubicBezTo>
                  <a:pt x="257521" y="57696"/>
                  <a:pt x="199825" y="0"/>
                  <a:pt x="128760" y="0"/>
                </a:cubicBezTo>
                <a:cubicBezTo>
                  <a:pt x="57696" y="0"/>
                  <a:pt x="0" y="57696"/>
                  <a:pt x="0" y="128760"/>
                </a:cubicBezTo>
                <a:cubicBezTo>
                  <a:pt x="0" y="199825"/>
                  <a:pt x="57696" y="257521"/>
                  <a:pt x="128760" y="257521"/>
                </a:cubicBezTo>
                <a:close/>
                <a:moveTo>
                  <a:pt x="171211" y="106982"/>
                </a:moveTo>
                <a:lnTo>
                  <a:pt x="130973" y="171362"/>
                </a:lnTo>
                <a:cubicBezTo>
                  <a:pt x="128861" y="174732"/>
                  <a:pt x="125240" y="176844"/>
                  <a:pt x="121266" y="177046"/>
                </a:cubicBezTo>
                <a:cubicBezTo>
                  <a:pt x="117293" y="177247"/>
                  <a:pt x="113470" y="175436"/>
                  <a:pt x="111106" y="172217"/>
                </a:cubicBezTo>
                <a:lnTo>
                  <a:pt x="86964" y="140027"/>
                </a:lnTo>
                <a:cubicBezTo>
                  <a:pt x="82940" y="134695"/>
                  <a:pt x="84046" y="127151"/>
                  <a:pt x="89378" y="123127"/>
                </a:cubicBezTo>
                <a:cubicBezTo>
                  <a:pt x="94709" y="119103"/>
                  <a:pt x="102254" y="120210"/>
                  <a:pt x="106278" y="125541"/>
                </a:cubicBezTo>
                <a:lnTo>
                  <a:pt x="119858" y="143648"/>
                </a:lnTo>
                <a:lnTo>
                  <a:pt x="150740" y="94206"/>
                </a:lnTo>
                <a:cubicBezTo>
                  <a:pt x="154261" y="88573"/>
                  <a:pt x="161705" y="86813"/>
                  <a:pt x="167389" y="90384"/>
                </a:cubicBezTo>
                <a:cubicBezTo>
                  <a:pt x="173072" y="93955"/>
                  <a:pt x="174782" y="101349"/>
                  <a:pt x="171211" y="10703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63098" y="1802646"/>
            <a:ext cx="1909946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2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执行模型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12437" y="2317687"/>
            <a:ext cx="7092552" cy="2575208"/>
          </a:xfrm>
          <a:custGeom>
            <a:avLst/>
            <a:gdLst/>
            <a:ahLst/>
            <a:cxnLst/>
            <a:rect l="l" t="t" r="r" b="b"/>
            <a:pathLst>
              <a:path w="7092552" h="2575208">
                <a:moveTo>
                  <a:pt x="85832" y="0"/>
                </a:moveTo>
                <a:lnTo>
                  <a:pt x="7006720" y="0"/>
                </a:lnTo>
                <a:cubicBezTo>
                  <a:pt x="7054124" y="0"/>
                  <a:pt x="7092552" y="38428"/>
                  <a:pt x="7092552" y="85832"/>
                </a:cubicBezTo>
                <a:lnTo>
                  <a:pt x="7092552" y="2489376"/>
                </a:lnTo>
                <a:cubicBezTo>
                  <a:pt x="7092552" y="2536780"/>
                  <a:pt x="7054124" y="2575208"/>
                  <a:pt x="7006720" y="2575208"/>
                </a:cubicBezTo>
                <a:lnTo>
                  <a:pt x="85832" y="2575208"/>
                </a:lnTo>
                <a:cubicBezTo>
                  <a:pt x="38428" y="2575208"/>
                  <a:pt x="0" y="2536780"/>
                  <a:pt x="0" y="2489376"/>
                </a:cubicBezTo>
                <a:lnTo>
                  <a:pt x="0" y="85832"/>
                </a:lnTo>
                <a:cubicBezTo>
                  <a:pt x="0" y="38460"/>
                  <a:pt x="38460" y="0"/>
                  <a:pt x="858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84117" y="2489368"/>
            <a:ext cx="6845761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内存优先计算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710943" y="2961489"/>
            <a:ext cx="214601" cy="214601"/>
          </a:xfrm>
          <a:custGeom>
            <a:avLst/>
            <a:gdLst/>
            <a:ahLst/>
            <a:cxnLst/>
            <a:rect l="l" t="t" r="r" b="b"/>
            <a:pathLst>
              <a:path w="214601" h="214601">
                <a:moveTo>
                  <a:pt x="26825" y="26825"/>
                </a:moveTo>
                <a:cubicBezTo>
                  <a:pt x="12029" y="26825"/>
                  <a:pt x="0" y="38854"/>
                  <a:pt x="0" y="53650"/>
                </a:cubicBezTo>
                <a:lnTo>
                  <a:pt x="0" y="56752"/>
                </a:lnTo>
                <a:cubicBezTo>
                  <a:pt x="0" y="59602"/>
                  <a:pt x="1844" y="62033"/>
                  <a:pt x="4233" y="63584"/>
                </a:cubicBezTo>
                <a:cubicBezTo>
                  <a:pt x="9766" y="67188"/>
                  <a:pt x="13413" y="73392"/>
                  <a:pt x="13413" y="80475"/>
                </a:cubicBezTo>
                <a:cubicBezTo>
                  <a:pt x="13413" y="87559"/>
                  <a:pt x="9766" y="93762"/>
                  <a:pt x="4233" y="97367"/>
                </a:cubicBezTo>
                <a:cubicBezTo>
                  <a:pt x="1844" y="98917"/>
                  <a:pt x="0" y="101349"/>
                  <a:pt x="0" y="104199"/>
                </a:cubicBezTo>
                <a:lnTo>
                  <a:pt x="0" y="127419"/>
                </a:lnTo>
                <a:lnTo>
                  <a:pt x="214601" y="127419"/>
                </a:lnTo>
                <a:lnTo>
                  <a:pt x="214601" y="104199"/>
                </a:lnTo>
                <a:cubicBezTo>
                  <a:pt x="214601" y="101349"/>
                  <a:pt x="212756" y="98917"/>
                  <a:pt x="210367" y="97367"/>
                </a:cubicBezTo>
                <a:cubicBezTo>
                  <a:pt x="204835" y="93762"/>
                  <a:pt x="201188" y="87559"/>
                  <a:pt x="201188" y="80475"/>
                </a:cubicBezTo>
                <a:cubicBezTo>
                  <a:pt x="201188" y="73392"/>
                  <a:pt x="204835" y="67188"/>
                  <a:pt x="210367" y="63584"/>
                </a:cubicBezTo>
                <a:cubicBezTo>
                  <a:pt x="212756" y="62033"/>
                  <a:pt x="214601" y="59602"/>
                  <a:pt x="214601" y="56752"/>
                </a:cubicBezTo>
                <a:lnTo>
                  <a:pt x="214601" y="53650"/>
                </a:lnTo>
                <a:cubicBezTo>
                  <a:pt x="214601" y="38854"/>
                  <a:pt x="202571" y="26825"/>
                  <a:pt x="187776" y="26825"/>
                </a:cubicBezTo>
                <a:lnTo>
                  <a:pt x="26825" y="26825"/>
                </a:lnTo>
                <a:close/>
                <a:moveTo>
                  <a:pt x="214601" y="174363"/>
                </a:moveTo>
                <a:lnTo>
                  <a:pt x="214601" y="147538"/>
                </a:lnTo>
                <a:lnTo>
                  <a:pt x="0" y="147538"/>
                </a:lnTo>
                <a:lnTo>
                  <a:pt x="0" y="174363"/>
                </a:lnTo>
                <a:cubicBezTo>
                  <a:pt x="0" y="181782"/>
                  <a:pt x="5994" y="187776"/>
                  <a:pt x="13413" y="187776"/>
                </a:cubicBezTo>
                <a:lnTo>
                  <a:pt x="40238" y="187776"/>
                </a:lnTo>
                <a:lnTo>
                  <a:pt x="40238" y="177716"/>
                </a:lnTo>
                <a:cubicBezTo>
                  <a:pt x="40238" y="172142"/>
                  <a:pt x="44722" y="167657"/>
                  <a:pt x="50297" y="167657"/>
                </a:cubicBezTo>
                <a:cubicBezTo>
                  <a:pt x="55872" y="167657"/>
                  <a:pt x="60356" y="172142"/>
                  <a:pt x="60356" y="177716"/>
                </a:cubicBezTo>
                <a:lnTo>
                  <a:pt x="60356" y="187776"/>
                </a:lnTo>
                <a:lnTo>
                  <a:pt x="97241" y="187776"/>
                </a:lnTo>
                <a:lnTo>
                  <a:pt x="97241" y="177716"/>
                </a:lnTo>
                <a:cubicBezTo>
                  <a:pt x="97241" y="172142"/>
                  <a:pt x="101726" y="167657"/>
                  <a:pt x="107300" y="167657"/>
                </a:cubicBezTo>
                <a:cubicBezTo>
                  <a:pt x="112875" y="167657"/>
                  <a:pt x="117360" y="172142"/>
                  <a:pt x="117360" y="177716"/>
                </a:cubicBezTo>
                <a:lnTo>
                  <a:pt x="117360" y="187776"/>
                </a:lnTo>
                <a:lnTo>
                  <a:pt x="154244" y="187776"/>
                </a:lnTo>
                <a:lnTo>
                  <a:pt x="154244" y="177716"/>
                </a:lnTo>
                <a:cubicBezTo>
                  <a:pt x="154244" y="172142"/>
                  <a:pt x="158729" y="167657"/>
                  <a:pt x="164304" y="167657"/>
                </a:cubicBezTo>
                <a:cubicBezTo>
                  <a:pt x="169878" y="167657"/>
                  <a:pt x="174363" y="172142"/>
                  <a:pt x="174363" y="177716"/>
                </a:cubicBezTo>
                <a:lnTo>
                  <a:pt x="174363" y="187776"/>
                </a:lnTo>
                <a:lnTo>
                  <a:pt x="201188" y="187776"/>
                </a:lnTo>
                <a:cubicBezTo>
                  <a:pt x="208607" y="187776"/>
                  <a:pt x="214601" y="181782"/>
                  <a:pt x="214601" y="174363"/>
                </a:cubicBezTo>
                <a:close/>
                <a:moveTo>
                  <a:pt x="67063" y="67063"/>
                </a:moveTo>
                <a:lnTo>
                  <a:pt x="67063" y="93888"/>
                </a:lnTo>
                <a:cubicBezTo>
                  <a:pt x="67063" y="101307"/>
                  <a:pt x="61069" y="107300"/>
                  <a:pt x="53650" y="107300"/>
                </a:cubicBezTo>
                <a:cubicBezTo>
                  <a:pt x="46231" y="107300"/>
                  <a:pt x="40238" y="101307"/>
                  <a:pt x="40238" y="93888"/>
                </a:cubicBezTo>
                <a:lnTo>
                  <a:pt x="40238" y="67063"/>
                </a:lnTo>
                <a:cubicBezTo>
                  <a:pt x="40238" y="59644"/>
                  <a:pt x="46231" y="53650"/>
                  <a:pt x="53650" y="53650"/>
                </a:cubicBezTo>
                <a:cubicBezTo>
                  <a:pt x="61069" y="53650"/>
                  <a:pt x="67063" y="59644"/>
                  <a:pt x="67063" y="67063"/>
                </a:cubicBezTo>
                <a:close/>
                <a:moveTo>
                  <a:pt x="120713" y="67063"/>
                </a:moveTo>
                <a:lnTo>
                  <a:pt x="120713" y="93888"/>
                </a:lnTo>
                <a:cubicBezTo>
                  <a:pt x="120713" y="101307"/>
                  <a:pt x="114719" y="107300"/>
                  <a:pt x="107300" y="107300"/>
                </a:cubicBezTo>
                <a:cubicBezTo>
                  <a:pt x="99882" y="107300"/>
                  <a:pt x="93888" y="101307"/>
                  <a:pt x="93888" y="93888"/>
                </a:cubicBezTo>
                <a:lnTo>
                  <a:pt x="93888" y="67063"/>
                </a:lnTo>
                <a:cubicBezTo>
                  <a:pt x="93888" y="59644"/>
                  <a:pt x="99882" y="53650"/>
                  <a:pt x="107300" y="53650"/>
                </a:cubicBezTo>
                <a:cubicBezTo>
                  <a:pt x="114719" y="53650"/>
                  <a:pt x="120713" y="59644"/>
                  <a:pt x="120713" y="67063"/>
                </a:cubicBezTo>
                <a:close/>
                <a:moveTo>
                  <a:pt x="174363" y="67063"/>
                </a:moveTo>
                <a:lnTo>
                  <a:pt x="174363" y="93888"/>
                </a:lnTo>
                <a:cubicBezTo>
                  <a:pt x="174363" y="101307"/>
                  <a:pt x="168369" y="107300"/>
                  <a:pt x="160950" y="107300"/>
                </a:cubicBezTo>
                <a:cubicBezTo>
                  <a:pt x="153532" y="107300"/>
                  <a:pt x="147538" y="101307"/>
                  <a:pt x="147538" y="93888"/>
                </a:cubicBezTo>
                <a:lnTo>
                  <a:pt x="147538" y="67063"/>
                </a:lnTo>
                <a:cubicBezTo>
                  <a:pt x="147538" y="59644"/>
                  <a:pt x="153532" y="53650"/>
                  <a:pt x="160950" y="53650"/>
                </a:cubicBezTo>
                <a:cubicBezTo>
                  <a:pt x="168369" y="53650"/>
                  <a:pt x="174363" y="59644"/>
                  <a:pt x="174363" y="670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081129" y="2918569"/>
            <a:ext cx="2832729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缓存机制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81129" y="3176090"/>
            <a:ext cx="2832729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数据可缓存在内存中，避免重复计算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710943" y="3605291"/>
            <a:ext cx="214601" cy="214601"/>
          </a:xfrm>
          <a:custGeom>
            <a:avLst/>
            <a:gdLst/>
            <a:ahLst/>
            <a:cxnLst/>
            <a:rect l="l" t="t" r="r" b="b"/>
            <a:pathLst>
              <a:path w="214601" h="214601">
                <a:moveTo>
                  <a:pt x="0" y="33531"/>
                </a:moveTo>
                <a:cubicBezTo>
                  <a:pt x="0" y="22424"/>
                  <a:pt x="9012" y="13413"/>
                  <a:pt x="20119" y="13413"/>
                </a:cubicBezTo>
                <a:lnTo>
                  <a:pt x="60356" y="13413"/>
                </a:lnTo>
                <a:cubicBezTo>
                  <a:pt x="71464" y="13413"/>
                  <a:pt x="80475" y="22424"/>
                  <a:pt x="80475" y="33531"/>
                </a:cubicBezTo>
                <a:lnTo>
                  <a:pt x="80475" y="40238"/>
                </a:lnTo>
                <a:lnTo>
                  <a:pt x="134125" y="40238"/>
                </a:lnTo>
                <a:lnTo>
                  <a:pt x="134125" y="33531"/>
                </a:lnTo>
                <a:cubicBezTo>
                  <a:pt x="134125" y="22424"/>
                  <a:pt x="143137" y="13413"/>
                  <a:pt x="154244" y="13413"/>
                </a:cubicBezTo>
                <a:lnTo>
                  <a:pt x="194482" y="13413"/>
                </a:lnTo>
                <a:cubicBezTo>
                  <a:pt x="205589" y="13413"/>
                  <a:pt x="214601" y="22424"/>
                  <a:pt x="214601" y="33531"/>
                </a:cubicBezTo>
                <a:lnTo>
                  <a:pt x="214601" y="73769"/>
                </a:lnTo>
                <a:cubicBezTo>
                  <a:pt x="214601" y="84876"/>
                  <a:pt x="205589" y="93888"/>
                  <a:pt x="194482" y="93888"/>
                </a:cubicBezTo>
                <a:lnTo>
                  <a:pt x="154244" y="93888"/>
                </a:lnTo>
                <a:cubicBezTo>
                  <a:pt x="143137" y="93888"/>
                  <a:pt x="134125" y="84876"/>
                  <a:pt x="134125" y="73769"/>
                </a:cubicBezTo>
                <a:lnTo>
                  <a:pt x="134125" y="67063"/>
                </a:lnTo>
                <a:lnTo>
                  <a:pt x="80475" y="67063"/>
                </a:lnTo>
                <a:lnTo>
                  <a:pt x="80475" y="73769"/>
                </a:lnTo>
                <a:cubicBezTo>
                  <a:pt x="80475" y="76829"/>
                  <a:pt x="79763" y="79763"/>
                  <a:pt x="78547" y="82361"/>
                </a:cubicBezTo>
                <a:lnTo>
                  <a:pt x="107300" y="120713"/>
                </a:lnTo>
                <a:lnTo>
                  <a:pt x="140832" y="120713"/>
                </a:lnTo>
                <a:cubicBezTo>
                  <a:pt x="151939" y="120713"/>
                  <a:pt x="160950" y="129724"/>
                  <a:pt x="160950" y="140832"/>
                </a:cubicBezTo>
                <a:lnTo>
                  <a:pt x="160950" y="181069"/>
                </a:lnTo>
                <a:cubicBezTo>
                  <a:pt x="160950" y="192177"/>
                  <a:pt x="151939" y="201188"/>
                  <a:pt x="140832" y="201188"/>
                </a:cubicBezTo>
                <a:lnTo>
                  <a:pt x="100594" y="201188"/>
                </a:lnTo>
                <a:cubicBezTo>
                  <a:pt x="89487" y="201188"/>
                  <a:pt x="80475" y="192177"/>
                  <a:pt x="80475" y="181069"/>
                </a:cubicBezTo>
                <a:lnTo>
                  <a:pt x="80475" y="140832"/>
                </a:lnTo>
                <a:cubicBezTo>
                  <a:pt x="80475" y="137772"/>
                  <a:pt x="81188" y="134838"/>
                  <a:pt x="82403" y="132239"/>
                </a:cubicBezTo>
                <a:lnTo>
                  <a:pt x="53650" y="93888"/>
                </a:lnTo>
                <a:lnTo>
                  <a:pt x="20119" y="93888"/>
                </a:lnTo>
                <a:cubicBezTo>
                  <a:pt x="9012" y="93888"/>
                  <a:pt x="0" y="84876"/>
                  <a:pt x="0" y="73769"/>
                </a:cubicBezTo>
                <a:lnTo>
                  <a:pt x="0" y="3353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081129" y="3562371"/>
            <a:ext cx="2832729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DAG 执行引擎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81129" y="3819892"/>
            <a:ext cx="2832729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优化多阶段计算，减少中间结果写入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10943" y="4249093"/>
            <a:ext cx="214601" cy="214601"/>
          </a:xfrm>
          <a:custGeom>
            <a:avLst/>
            <a:gdLst/>
            <a:ahLst/>
            <a:cxnLst/>
            <a:rect l="l" t="t" r="r" b="b"/>
            <a:pathLst>
              <a:path w="214601" h="214601">
                <a:moveTo>
                  <a:pt x="50297" y="23472"/>
                </a:moveTo>
                <a:cubicBezTo>
                  <a:pt x="50297" y="10520"/>
                  <a:pt x="60817" y="0"/>
                  <a:pt x="73769" y="0"/>
                </a:cubicBezTo>
                <a:lnTo>
                  <a:pt x="83828" y="0"/>
                </a:lnTo>
                <a:cubicBezTo>
                  <a:pt x="91247" y="0"/>
                  <a:pt x="97241" y="5994"/>
                  <a:pt x="97241" y="13413"/>
                </a:cubicBezTo>
                <a:lnTo>
                  <a:pt x="97241" y="201188"/>
                </a:lnTo>
                <a:cubicBezTo>
                  <a:pt x="97241" y="208607"/>
                  <a:pt x="91247" y="214601"/>
                  <a:pt x="83828" y="214601"/>
                </a:cubicBezTo>
                <a:lnTo>
                  <a:pt x="70416" y="214601"/>
                </a:lnTo>
                <a:cubicBezTo>
                  <a:pt x="57925" y="214601"/>
                  <a:pt x="47405" y="206050"/>
                  <a:pt x="44429" y="194482"/>
                </a:cubicBezTo>
                <a:cubicBezTo>
                  <a:pt x="44136" y="194482"/>
                  <a:pt x="43884" y="194482"/>
                  <a:pt x="43591" y="194482"/>
                </a:cubicBezTo>
                <a:cubicBezTo>
                  <a:pt x="25065" y="194482"/>
                  <a:pt x="10059" y="179477"/>
                  <a:pt x="10059" y="160950"/>
                </a:cubicBezTo>
                <a:cubicBezTo>
                  <a:pt x="10059" y="153406"/>
                  <a:pt x="12574" y="146448"/>
                  <a:pt x="16766" y="140832"/>
                </a:cubicBezTo>
                <a:cubicBezTo>
                  <a:pt x="8634" y="134712"/>
                  <a:pt x="3353" y="124988"/>
                  <a:pt x="3353" y="114007"/>
                </a:cubicBezTo>
                <a:cubicBezTo>
                  <a:pt x="3353" y="101055"/>
                  <a:pt x="10730" y="89780"/>
                  <a:pt x="21460" y="84206"/>
                </a:cubicBezTo>
                <a:cubicBezTo>
                  <a:pt x="18484" y="79176"/>
                  <a:pt x="16766" y="73308"/>
                  <a:pt x="16766" y="67063"/>
                </a:cubicBezTo>
                <a:cubicBezTo>
                  <a:pt x="16766" y="48537"/>
                  <a:pt x="31771" y="33531"/>
                  <a:pt x="50297" y="33531"/>
                </a:cubicBezTo>
                <a:lnTo>
                  <a:pt x="50297" y="23472"/>
                </a:lnTo>
                <a:close/>
                <a:moveTo>
                  <a:pt x="164304" y="23472"/>
                </a:moveTo>
                <a:lnTo>
                  <a:pt x="164304" y="33531"/>
                </a:lnTo>
                <a:cubicBezTo>
                  <a:pt x="182830" y="33531"/>
                  <a:pt x="197835" y="48537"/>
                  <a:pt x="197835" y="67063"/>
                </a:cubicBezTo>
                <a:cubicBezTo>
                  <a:pt x="197835" y="73350"/>
                  <a:pt x="196117" y="79218"/>
                  <a:pt x="193141" y="84206"/>
                </a:cubicBezTo>
                <a:cubicBezTo>
                  <a:pt x="203913" y="89780"/>
                  <a:pt x="211248" y="101013"/>
                  <a:pt x="211248" y="114007"/>
                </a:cubicBezTo>
                <a:cubicBezTo>
                  <a:pt x="211248" y="124988"/>
                  <a:pt x="205966" y="134712"/>
                  <a:pt x="197835" y="140832"/>
                </a:cubicBezTo>
                <a:cubicBezTo>
                  <a:pt x="202026" y="146448"/>
                  <a:pt x="204541" y="153406"/>
                  <a:pt x="204541" y="160950"/>
                </a:cubicBezTo>
                <a:cubicBezTo>
                  <a:pt x="204541" y="179477"/>
                  <a:pt x="189536" y="194482"/>
                  <a:pt x="171010" y="194482"/>
                </a:cubicBezTo>
                <a:cubicBezTo>
                  <a:pt x="170717" y="194482"/>
                  <a:pt x="170465" y="194482"/>
                  <a:pt x="170172" y="194482"/>
                </a:cubicBezTo>
                <a:cubicBezTo>
                  <a:pt x="167196" y="206050"/>
                  <a:pt x="156675" y="214601"/>
                  <a:pt x="144185" y="214601"/>
                </a:cubicBezTo>
                <a:lnTo>
                  <a:pt x="130772" y="214601"/>
                </a:lnTo>
                <a:cubicBezTo>
                  <a:pt x="123353" y="214601"/>
                  <a:pt x="117360" y="208607"/>
                  <a:pt x="117360" y="201188"/>
                </a:cubicBezTo>
                <a:lnTo>
                  <a:pt x="117360" y="13413"/>
                </a:lnTo>
                <a:cubicBezTo>
                  <a:pt x="117360" y="5994"/>
                  <a:pt x="123353" y="0"/>
                  <a:pt x="130772" y="0"/>
                </a:cubicBezTo>
                <a:lnTo>
                  <a:pt x="140832" y="0"/>
                </a:lnTo>
                <a:cubicBezTo>
                  <a:pt x="153783" y="0"/>
                  <a:pt x="164304" y="10520"/>
                  <a:pt x="164304" y="2347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081129" y="4206173"/>
            <a:ext cx="2661048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Catalyst 优化器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81129" y="4463694"/>
            <a:ext cx="2661048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智能优化查询计划，提升执行效率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12437" y="5064576"/>
            <a:ext cx="7092552" cy="2360607"/>
          </a:xfrm>
          <a:custGeom>
            <a:avLst/>
            <a:gdLst/>
            <a:ahLst/>
            <a:cxnLst/>
            <a:rect l="l" t="t" r="r" b="b"/>
            <a:pathLst>
              <a:path w="7092552" h="2360607">
                <a:moveTo>
                  <a:pt x="85832" y="0"/>
                </a:moveTo>
                <a:lnTo>
                  <a:pt x="7006720" y="0"/>
                </a:lnTo>
                <a:cubicBezTo>
                  <a:pt x="7054124" y="0"/>
                  <a:pt x="7092552" y="38428"/>
                  <a:pt x="7092552" y="85832"/>
                </a:cubicBezTo>
                <a:lnTo>
                  <a:pt x="7092552" y="2274776"/>
                </a:lnTo>
                <a:cubicBezTo>
                  <a:pt x="7092552" y="2322179"/>
                  <a:pt x="7054124" y="2360607"/>
                  <a:pt x="7006720" y="2360607"/>
                </a:cubicBezTo>
                <a:lnTo>
                  <a:pt x="85832" y="2360607"/>
                </a:lnTo>
                <a:cubicBezTo>
                  <a:pt x="38428" y="2360607"/>
                  <a:pt x="0" y="2322179"/>
                  <a:pt x="0" y="2274776"/>
                </a:cubicBezTo>
                <a:lnTo>
                  <a:pt x="0" y="85832"/>
                </a:lnTo>
                <a:cubicBezTo>
                  <a:pt x="0" y="38460"/>
                  <a:pt x="38460" y="0"/>
                  <a:pt x="858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684117" y="5236256"/>
            <a:ext cx="6845761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迭代计算的优势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84117" y="5665457"/>
            <a:ext cx="6835031" cy="55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对于机器学习算法，Spark 可以将中间数据缓存在内存中，每次迭代直接从内存读取，避免重复的磁盘 I/O。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84117" y="6352180"/>
            <a:ext cx="6749191" cy="901323"/>
          </a:xfrm>
          <a:custGeom>
            <a:avLst/>
            <a:gdLst/>
            <a:ahLst/>
            <a:cxnLst/>
            <a:rect l="l" t="t" r="r" b="b"/>
            <a:pathLst>
              <a:path w="6749191" h="901323">
                <a:moveTo>
                  <a:pt x="42921" y="0"/>
                </a:moveTo>
                <a:lnTo>
                  <a:pt x="6706270" y="0"/>
                </a:lnTo>
                <a:cubicBezTo>
                  <a:pt x="6729974" y="0"/>
                  <a:pt x="6749191" y="19216"/>
                  <a:pt x="6749191" y="42921"/>
                </a:cubicBezTo>
                <a:lnTo>
                  <a:pt x="6749191" y="858402"/>
                </a:lnTo>
                <a:cubicBezTo>
                  <a:pt x="6749191" y="882106"/>
                  <a:pt x="6729974" y="901323"/>
                  <a:pt x="670627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769958" y="6480940"/>
            <a:ext cx="657751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机器学习场景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32403" y="6738461"/>
            <a:ext cx="6652620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3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 100x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12437" y="7596863"/>
            <a:ext cx="3487261" cy="901323"/>
          </a:xfrm>
          <a:custGeom>
            <a:avLst/>
            <a:gdLst/>
            <a:ahLst/>
            <a:cxnLst/>
            <a:rect l="l" t="t" r="r" b="b"/>
            <a:pathLst>
              <a:path w="3487261" h="901323">
                <a:moveTo>
                  <a:pt x="42921" y="0"/>
                </a:moveTo>
                <a:lnTo>
                  <a:pt x="3444340" y="0"/>
                </a:lnTo>
                <a:cubicBezTo>
                  <a:pt x="3468044" y="0"/>
                  <a:pt x="3487261" y="19216"/>
                  <a:pt x="3487261" y="42921"/>
                </a:cubicBezTo>
                <a:lnTo>
                  <a:pt x="3487261" y="858402"/>
                </a:lnTo>
                <a:cubicBezTo>
                  <a:pt x="3487261" y="882106"/>
                  <a:pt x="3468044" y="901323"/>
                  <a:pt x="344434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576817" y="7725624"/>
            <a:ext cx="3358500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2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98277" y="8111905"/>
            <a:ext cx="331558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强制磁盘 I/O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124853" y="7596863"/>
            <a:ext cx="3487261" cy="901323"/>
          </a:xfrm>
          <a:custGeom>
            <a:avLst/>
            <a:gdLst/>
            <a:ahLst/>
            <a:cxnLst/>
            <a:rect l="l" t="t" r="r" b="b"/>
            <a:pathLst>
              <a:path w="3487261" h="901323">
                <a:moveTo>
                  <a:pt x="42921" y="0"/>
                </a:moveTo>
                <a:lnTo>
                  <a:pt x="3444340" y="0"/>
                </a:lnTo>
                <a:cubicBezTo>
                  <a:pt x="3468044" y="0"/>
                  <a:pt x="3487261" y="19216"/>
                  <a:pt x="3487261" y="42921"/>
                </a:cubicBezTo>
                <a:lnTo>
                  <a:pt x="3487261" y="858402"/>
                </a:lnTo>
                <a:cubicBezTo>
                  <a:pt x="3487261" y="882106"/>
                  <a:pt x="3468044" y="901323"/>
                  <a:pt x="3444340" y="901323"/>
                </a:cubicBezTo>
                <a:lnTo>
                  <a:pt x="42921" y="901323"/>
                </a:lnTo>
                <a:cubicBezTo>
                  <a:pt x="19216" y="901323"/>
                  <a:pt x="0" y="882106"/>
                  <a:pt x="0" y="858402"/>
                </a:cubicBezTo>
                <a:lnTo>
                  <a:pt x="0" y="42921"/>
                </a:lnTo>
                <a:cubicBezTo>
                  <a:pt x="0" y="19232"/>
                  <a:pt x="19232" y="0"/>
                  <a:pt x="4292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189234" y="7725624"/>
            <a:ext cx="3358500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2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210694" y="8111905"/>
            <a:ext cx="3315580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网络开销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0" y="0"/>
                </a:moveTo>
                <a:lnTo>
                  <a:pt x="101600" y="0"/>
                </a:lnTo>
                <a:lnTo>
                  <a:pt x="101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全方位技术对比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270000"/>
            <a:ext cx="150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从10个维度深入分析 Spark 的技术优势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15227300" cy="6826252"/>
          </a:xfrm>
          <a:custGeom>
            <a:avLst/>
            <a:gdLst/>
            <a:ahLst/>
            <a:cxnLst/>
            <a:rect l="l" t="t" r="r" b="b"/>
            <a:pathLst>
              <a:path w="15227300" h="4762500">
                <a:moveTo>
                  <a:pt x="152400" y="0"/>
                </a:moveTo>
                <a:lnTo>
                  <a:pt x="15074900" y="0"/>
                </a:lnTo>
                <a:cubicBezTo>
                  <a:pt x="15159012" y="0"/>
                  <a:pt x="15227300" y="68288"/>
                  <a:pt x="15227300" y="152400"/>
                </a:cubicBezTo>
                <a:lnTo>
                  <a:pt x="15227300" y="4610100"/>
                </a:lnTo>
                <a:cubicBezTo>
                  <a:pt x="15227300" y="4694212"/>
                  <a:pt x="15159012" y="4762500"/>
                  <a:pt x="150749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B8A">
              <a:alpha val="10196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0205D2EC-97EC-9325-E3E2-511019151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468135"/>
              </p:ext>
            </p:extLst>
          </p:nvPr>
        </p:nvGraphicFramePr>
        <p:xfrm>
          <a:off x="520700" y="1892300"/>
          <a:ext cx="15214600" cy="6819901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99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Hadoop MapReduce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Apache Spark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优势说明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计算模型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Map-Reduce 两阶段计算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 RDD 的 DAG 计算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支持复杂的多阶段计算流水线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数据存储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磁盘存储，每次都需要读写 HDFS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内存优先，支持多种存储级别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避免重复 I/O，提升迭代性能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执行速度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 I/O 密集，速度较慢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内存计算快 10-100 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内存计算 + DAG 优化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编程复杂度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需要实现 Map 和 Reduce 函数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高级 API，代码简洁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函数式编程，接近自然语言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~100 行（包含 3 个类）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 行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大幅减少样板代码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容错机制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基于数据复制的容错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基于血缘关系的快速恢复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更高效的容错恢复机制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批处理、ETL 作业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迭代算法、交互式查询、流处理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更广泛的应用场景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资源利用率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磁盘和网络 I/O 成为瓶颈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高效的内存和 CPU 利用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更好的集群资源利用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开发效率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开发周期长，调试困难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快速原型开发和迭代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提升开发和调试效率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9991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学习成本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需要理解 MapReduce 编程范式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接近自然语言的函数式编程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7D8A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降低学习门槛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929" y="496022"/>
            <a:ext cx="90186" cy="450929"/>
          </a:xfrm>
          <a:custGeom>
            <a:avLst/>
            <a:gdLst/>
            <a:ahLst/>
            <a:cxnLst/>
            <a:rect l="l" t="t" r="r" b="b"/>
            <a:pathLst>
              <a:path w="90186" h="450929">
                <a:moveTo>
                  <a:pt x="0" y="0"/>
                </a:moveTo>
                <a:lnTo>
                  <a:pt x="90186" y="0"/>
                </a:lnTo>
                <a:lnTo>
                  <a:pt x="90186" y="450929"/>
                </a:lnTo>
                <a:lnTo>
                  <a:pt x="0" y="450929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1487" y="450929"/>
            <a:ext cx="4092183" cy="541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61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生态系统架构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487" y="1217509"/>
            <a:ext cx="15196316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统一平台支持批处理、流计算、机器学习、图计算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6566" y="1764261"/>
            <a:ext cx="10743390" cy="7175412"/>
          </a:xfrm>
          <a:custGeom>
            <a:avLst/>
            <a:gdLst/>
            <a:ahLst/>
            <a:cxnLst/>
            <a:rect l="l" t="t" r="r" b="b"/>
            <a:pathLst>
              <a:path w="10743390" h="5850807">
                <a:moveTo>
                  <a:pt x="135271" y="0"/>
                </a:moveTo>
                <a:lnTo>
                  <a:pt x="10608119" y="0"/>
                </a:lnTo>
                <a:cubicBezTo>
                  <a:pt x="10682827" y="0"/>
                  <a:pt x="10743390" y="60563"/>
                  <a:pt x="10743390" y="135271"/>
                </a:cubicBezTo>
                <a:lnTo>
                  <a:pt x="10743390" y="5715537"/>
                </a:lnTo>
                <a:cubicBezTo>
                  <a:pt x="10743390" y="5790244"/>
                  <a:pt x="10682827" y="5850807"/>
                  <a:pt x="10608119" y="5850807"/>
                </a:cubicBezTo>
                <a:lnTo>
                  <a:pt x="135271" y="5850807"/>
                </a:lnTo>
                <a:cubicBezTo>
                  <a:pt x="60563" y="5850807"/>
                  <a:pt x="0" y="5790244"/>
                  <a:pt x="0" y="5715537"/>
                </a:cubicBezTo>
                <a:lnTo>
                  <a:pt x="0" y="135271"/>
                </a:lnTo>
                <a:cubicBezTo>
                  <a:pt x="0" y="60563"/>
                  <a:pt x="60563" y="0"/>
                  <a:pt x="13527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65121" y="2040455"/>
            <a:ext cx="10326280" cy="360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层次化架构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4033" y="2683029"/>
            <a:ext cx="10168455" cy="3156505"/>
          </a:xfrm>
          <a:custGeom>
            <a:avLst/>
            <a:gdLst/>
            <a:ahLst/>
            <a:cxnLst/>
            <a:rect l="l" t="t" r="r" b="b"/>
            <a:pathLst>
              <a:path w="10168455" h="3156505">
                <a:moveTo>
                  <a:pt x="135288" y="0"/>
                </a:moveTo>
                <a:lnTo>
                  <a:pt x="10033167" y="0"/>
                </a:lnTo>
                <a:cubicBezTo>
                  <a:pt x="10107885" y="0"/>
                  <a:pt x="10168455" y="60570"/>
                  <a:pt x="10168455" y="135288"/>
                </a:cubicBezTo>
                <a:lnTo>
                  <a:pt x="10168455" y="3021217"/>
                </a:lnTo>
                <a:cubicBezTo>
                  <a:pt x="10168455" y="3095934"/>
                  <a:pt x="10107885" y="3156505"/>
                  <a:pt x="10033167" y="3156505"/>
                </a:cubicBezTo>
                <a:lnTo>
                  <a:pt x="135288" y="3156505"/>
                </a:lnTo>
                <a:cubicBezTo>
                  <a:pt x="60570" y="3156505"/>
                  <a:pt x="0" y="3095934"/>
                  <a:pt x="0" y="3021217"/>
                </a:cubicBezTo>
                <a:lnTo>
                  <a:pt x="0" y="135288"/>
                </a:lnTo>
                <a:cubicBezTo>
                  <a:pt x="0" y="60570"/>
                  <a:pt x="60570" y="0"/>
                  <a:pt x="135288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08954" y="2964860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102384" y="2290"/>
                </a:moveTo>
                <a:cubicBezTo>
                  <a:pt x="108945" y="-749"/>
                  <a:pt x="116519" y="-749"/>
                  <a:pt x="123081" y="2290"/>
                </a:cubicBezTo>
                <a:lnTo>
                  <a:pt x="219344" y="46766"/>
                </a:lnTo>
                <a:cubicBezTo>
                  <a:pt x="223087" y="48484"/>
                  <a:pt x="225465" y="52227"/>
                  <a:pt x="225465" y="56366"/>
                </a:cubicBezTo>
                <a:cubicBezTo>
                  <a:pt x="225465" y="60506"/>
                  <a:pt x="223087" y="64249"/>
                  <a:pt x="219344" y="65966"/>
                </a:cubicBezTo>
                <a:lnTo>
                  <a:pt x="123081" y="110442"/>
                </a:lnTo>
                <a:cubicBezTo>
                  <a:pt x="116519" y="113481"/>
                  <a:pt x="108945" y="113481"/>
                  <a:pt x="102384" y="110442"/>
                </a:cubicBezTo>
                <a:lnTo>
                  <a:pt x="6121" y="65966"/>
                </a:lnTo>
                <a:cubicBezTo>
                  <a:pt x="2378" y="64205"/>
                  <a:pt x="0" y="60462"/>
                  <a:pt x="0" y="56366"/>
                </a:cubicBezTo>
                <a:cubicBezTo>
                  <a:pt x="0" y="52271"/>
                  <a:pt x="2378" y="48484"/>
                  <a:pt x="6121" y="46766"/>
                </a:cubicBezTo>
                <a:lnTo>
                  <a:pt x="102384" y="2290"/>
                </a:lnTo>
                <a:close/>
                <a:moveTo>
                  <a:pt x="21181" y="96175"/>
                </a:moveTo>
                <a:lnTo>
                  <a:pt x="93533" y="129598"/>
                </a:lnTo>
                <a:cubicBezTo>
                  <a:pt x="105731" y="135235"/>
                  <a:pt x="119778" y="135235"/>
                  <a:pt x="131976" y="129598"/>
                </a:cubicBezTo>
                <a:lnTo>
                  <a:pt x="204327" y="96175"/>
                </a:lnTo>
                <a:lnTo>
                  <a:pt x="219344" y="103132"/>
                </a:lnTo>
                <a:cubicBezTo>
                  <a:pt x="223087" y="104850"/>
                  <a:pt x="225465" y="108593"/>
                  <a:pt x="225465" y="112732"/>
                </a:cubicBezTo>
                <a:cubicBezTo>
                  <a:pt x="225465" y="116872"/>
                  <a:pt x="223087" y="120615"/>
                  <a:pt x="219344" y="122332"/>
                </a:cubicBezTo>
                <a:lnTo>
                  <a:pt x="123081" y="166809"/>
                </a:lnTo>
                <a:cubicBezTo>
                  <a:pt x="116519" y="169847"/>
                  <a:pt x="108945" y="169847"/>
                  <a:pt x="102384" y="166809"/>
                </a:cubicBezTo>
                <a:lnTo>
                  <a:pt x="6121" y="122332"/>
                </a:lnTo>
                <a:cubicBezTo>
                  <a:pt x="2378" y="120571"/>
                  <a:pt x="0" y="116828"/>
                  <a:pt x="0" y="112732"/>
                </a:cubicBezTo>
                <a:cubicBezTo>
                  <a:pt x="0" y="108637"/>
                  <a:pt x="2378" y="104850"/>
                  <a:pt x="6121" y="103132"/>
                </a:cubicBezTo>
                <a:lnTo>
                  <a:pt x="21137" y="96175"/>
                </a:lnTo>
                <a:close/>
                <a:moveTo>
                  <a:pt x="6121" y="159499"/>
                </a:moveTo>
                <a:lnTo>
                  <a:pt x="21137" y="152541"/>
                </a:lnTo>
                <a:lnTo>
                  <a:pt x="93489" y="185964"/>
                </a:lnTo>
                <a:cubicBezTo>
                  <a:pt x="105687" y="191601"/>
                  <a:pt x="119734" y="191601"/>
                  <a:pt x="131932" y="185964"/>
                </a:cubicBezTo>
                <a:lnTo>
                  <a:pt x="204283" y="152541"/>
                </a:lnTo>
                <a:lnTo>
                  <a:pt x="219300" y="159499"/>
                </a:lnTo>
                <a:cubicBezTo>
                  <a:pt x="223043" y="161216"/>
                  <a:pt x="225421" y="164959"/>
                  <a:pt x="225421" y="169098"/>
                </a:cubicBezTo>
                <a:cubicBezTo>
                  <a:pt x="225421" y="173238"/>
                  <a:pt x="223043" y="176981"/>
                  <a:pt x="219300" y="178698"/>
                </a:cubicBezTo>
                <a:lnTo>
                  <a:pt x="123037" y="223175"/>
                </a:lnTo>
                <a:cubicBezTo>
                  <a:pt x="116475" y="226213"/>
                  <a:pt x="108901" y="226213"/>
                  <a:pt x="102340" y="223175"/>
                </a:cubicBezTo>
                <a:lnTo>
                  <a:pt x="6121" y="178698"/>
                </a:lnTo>
                <a:cubicBezTo>
                  <a:pt x="2378" y="176937"/>
                  <a:pt x="0" y="173194"/>
                  <a:pt x="0" y="169098"/>
                </a:cubicBezTo>
                <a:cubicBezTo>
                  <a:pt x="0" y="165003"/>
                  <a:pt x="2378" y="161216"/>
                  <a:pt x="6121" y="15949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62602" y="2919767"/>
            <a:ext cx="9525881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Applications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0771" y="3370696"/>
            <a:ext cx="4779850" cy="1048411"/>
          </a:xfrm>
          <a:custGeom>
            <a:avLst/>
            <a:gdLst/>
            <a:ahLst/>
            <a:cxnLst/>
            <a:rect l="l" t="t" r="r" b="b"/>
            <a:pathLst>
              <a:path w="4779850" h="1048411">
                <a:moveTo>
                  <a:pt x="45092" y="0"/>
                </a:moveTo>
                <a:lnTo>
                  <a:pt x="4734758" y="0"/>
                </a:lnTo>
                <a:cubicBezTo>
                  <a:pt x="4759662" y="0"/>
                  <a:pt x="4779850" y="20188"/>
                  <a:pt x="4779850" y="45092"/>
                </a:cubicBezTo>
                <a:lnTo>
                  <a:pt x="4779850" y="1003318"/>
                </a:lnTo>
                <a:cubicBezTo>
                  <a:pt x="4779850" y="1028222"/>
                  <a:pt x="4759662" y="1048411"/>
                  <a:pt x="4734758" y="1048411"/>
                </a:cubicBezTo>
                <a:lnTo>
                  <a:pt x="45092" y="1048411"/>
                </a:lnTo>
                <a:cubicBezTo>
                  <a:pt x="20188" y="1048411"/>
                  <a:pt x="0" y="1028222"/>
                  <a:pt x="0" y="1003318"/>
                </a:cubicBezTo>
                <a:lnTo>
                  <a:pt x="0" y="45092"/>
                </a:lnTo>
                <a:cubicBezTo>
                  <a:pt x="0" y="20188"/>
                  <a:pt x="20188" y="0"/>
                  <a:pt x="450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71351" y="3517248"/>
            <a:ext cx="197282" cy="225465"/>
          </a:xfrm>
          <a:custGeom>
            <a:avLst/>
            <a:gdLst/>
            <a:ahLst/>
            <a:cxnLst/>
            <a:rect l="l" t="t" r="r" b="b"/>
            <a:pathLst>
              <a:path w="197282" h="225465">
                <a:moveTo>
                  <a:pt x="197282" y="90626"/>
                </a:moveTo>
                <a:cubicBezTo>
                  <a:pt x="190764" y="94942"/>
                  <a:pt x="183278" y="98421"/>
                  <a:pt x="175484" y="101195"/>
                </a:cubicBezTo>
                <a:cubicBezTo>
                  <a:pt x="154787" y="108593"/>
                  <a:pt x="127617" y="112732"/>
                  <a:pt x="98641" y="112732"/>
                </a:cubicBezTo>
                <a:cubicBezTo>
                  <a:pt x="69665" y="112732"/>
                  <a:pt x="42451" y="108549"/>
                  <a:pt x="21798" y="101195"/>
                </a:cubicBezTo>
                <a:cubicBezTo>
                  <a:pt x="14048" y="98421"/>
                  <a:pt x="6517" y="94942"/>
                  <a:pt x="0" y="90626"/>
                </a:cubicBezTo>
                <a:lnTo>
                  <a:pt x="0" y="126824"/>
                </a:lnTo>
                <a:cubicBezTo>
                  <a:pt x="0" y="146288"/>
                  <a:pt x="44168" y="162053"/>
                  <a:pt x="98641" y="162053"/>
                </a:cubicBezTo>
                <a:cubicBezTo>
                  <a:pt x="153113" y="162053"/>
                  <a:pt x="197282" y="146288"/>
                  <a:pt x="197282" y="126824"/>
                </a:cubicBezTo>
                <a:lnTo>
                  <a:pt x="197282" y="90626"/>
                </a:lnTo>
                <a:close/>
                <a:moveTo>
                  <a:pt x="197282" y="56366"/>
                </a:moveTo>
                <a:lnTo>
                  <a:pt x="197282" y="35229"/>
                </a:lnTo>
                <a:cubicBezTo>
                  <a:pt x="197282" y="15765"/>
                  <a:pt x="153113" y="0"/>
                  <a:pt x="98641" y="0"/>
                </a:cubicBezTo>
                <a:cubicBezTo>
                  <a:pt x="44168" y="0"/>
                  <a:pt x="0" y="15765"/>
                  <a:pt x="0" y="35229"/>
                </a:cubicBezTo>
                <a:lnTo>
                  <a:pt x="0" y="56366"/>
                </a:lnTo>
                <a:cubicBezTo>
                  <a:pt x="0" y="75830"/>
                  <a:pt x="44168" y="91595"/>
                  <a:pt x="98641" y="91595"/>
                </a:cubicBezTo>
                <a:cubicBezTo>
                  <a:pt x="153113" y="91595"/>
                  <a:pt x="197282" y="75830"/>
                  <a:pt x="197282" y="56366"/>
                </a:cubicBezTo>
                <a:close/>
                <a:moveTo>
                  <a:pt x="175484" y="171653"/>
                </a:moveTo>
                <a:cubicBezTo>
                  <a:pt x="154831" y="179007"/>
                  <a:pt x="127661" y="183190"/>
                  <a:pt x="98641" y="183190"/>
                </a:cubicBezTo>
                <a:cubicBezTo>
                  <a:pt x="69621" y="183190"/>
                  <a:pt x="42451" y="179007"/>
                  <a:pt x="21798" y="171653"/>
                </a:cubicBezTo>
                <a:cubicBezTo>
                  <a:pt x="14048" y="168878"/>
                  <a:pt x="6517" y="165399"/>
                  <a:pt x="0" y="161084"/>
                </a:cubicBezTo>
                <a:lnTo>
                  <a:pt x="0" y="190236"/>
                </a:lnTo>
                <a:cubicBezTo>
                  <a:pt x="0" y="209700"/>
                  <a:pt x="44168" y="225465"/>
                  <a:pt x="98641" y="225465"/>
                </a:cubicBezTo>
                <a:cubicBezTo>
                  <a:pt x="153113" y="225465"/>
                  <a:pt x="197282" y="209700"/>
                  <a:pt x="197282" y="190236"/>
                </a:cubicBezTo>
                <a:lnTo>
                  <a:pt x="197282" y="161084"/>
                </a:lnTo>
                <a:cubicBezTo>
                  <a:pt x="190764" y="165399"/>
                  <a:pt x="183278" y="168878"/>
                  <a:pt x="175484" y="171653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70957" y="3787806"/>
            <a:ext cx="4599479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6594" y="4058363"/>
            <a:ext cx="458820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结构化数据处理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4579" y="3370696"/>
            <a:ext cx="4779850" cy="1048411"/>
          </a:xfrm>
          <a:custGeom>
            <a:avLst/>
            <a:gdLst/>
            <a:ahLst/>
            <a:cxnLst/>
            <a:rect l="l" t="t" r="r" b="b"/>
            <a:pathLst>
              <a:path w="4779850" h="1048411">
                <a:moveTo>
                  <a:pt x="45092" y="0"/>
                </a:moveTo>
                <a:lnTo>
                  <a:pt x="4734758" y="0"/>
                </a:lnTo>
                <a:cubicBezTo>
                  <a:pt x="4759662" y="0"/>
                  <a:pt x="4779850" y="20188"/>
                  <a:pt x="4779850" y="45092"/>
                </a:cubicBezTo>
                <a:lnTo>
                  <a:pt x="4779850" y="1003318"/>
                </a:lnTo>
                <a:cubicBezTo>
                  <a:pt x="4779850" y="1028222"/>
                  <a:pt x="4759662" y="1048411"/>
                  <a:pt x="4734758" y="1048411"/>
                </a:cubicBezTo>
                <a:lnTo>
                  <a:pt x="45092" y="1048411"/>
                </a:lnTo>
                <a:cubicBezTo>
                  <a:pt x="20188" y="1048411"/>
                  <a:pt x="0" y="1028222"/>
                  <a:pt x="0" y="1003318"/>
                </a:cubicBezTo>
                <a:lnTo>
                  <a:pt x="0" y="45092"/>
                </a:lnTo>
                <a:cubicBezTo>
                  <a:pt x="0" y="20188"/>
                  <a:pt x="20188" y="0"/>
                  <a:pt x="450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171155" y="3517248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0" y="42275"/>
                </a:moveTo>
                <a:cubicBezTo>
                  <a:pt x="0" y="34480"/>
                  <a:pt x="6297" y="28183"/>
                  <a:pt x="14092" y="28183"/>
                </a:cubicBezTo>
                <a:lnTo>
                  <a:pt x="183190" y="28183"/>
                </a:lnTo>
                <a:cubicBezTo>
                  <a:pt x="190984" y="28183"/>
                  <a:pt x="197282" y="34480"/>
                  <a:pt x="197282" y="42275"/>
                </a:cubicBezTo>
                <a:cubicBezTo>
                  <a:pt x="197282" y="50069"/>
                  <a:pt x="190984" y="56366"/>
                  <a:pt x="183190" y="56366"/>
                </a:cubicBezTo>
                <a:lnTo>
                  <a:pt x="14092" y="56366"/>
                </a:lnTo>
                <a:cubicBezTo>
                  <a:pt x="6297" y="56366"/>
                  <a:pt x="0" y="50069"/>
                  <a:pt x="0" y="42275"/>
                </a:cubicBezTo>
                <a:close/>
                <a:moveTo>
                  <a:pt x="28183" y="112732"/>
                </a:moveTo>
                <a:cubicBezTo>
                  <a:pt x="28183" y="104938"/>
                  <a:pt x="34480" y="98641"/>
                  <a:pt x="42275" y="98641"/>
                </a:cubicBezTo>
                <a:lnTo>
                  <a:pt x="211373" y="98641"/>
                </a:lnTo>
                <a:cubicBezTo>
                  <a:pt x="219167" y="98641"/>
                  <a:pt x="225465" y="104938"/>
                  <a:pt x="225465" y="112732"/>
                </a:cubicBezTo>
                <a:cubicBezTo>
                  <a:pt x="225465" y="120527"/>
                  <a:pt x="219167" y="126824"/>
                  <a:pt x="211373" y="126824"/>
                </a:cubicBezTo>
                <a:lnTo>
                  <a:pt x="42275" y="126824"/>
                </a:lnTo>
                <a:cubicBezTo>
                  <a:pt x="34480" y="126824"/>
                  <a:pt x="28183" y="120527"/>
                  <a:pt x="28183" y="112732"/>
                </a:cubicBezTo>
                <a:close/>
                <a:moveTo>
                  <a:pt x="197282" y="183190"/>
                </a:moveTo>
                <a:cubicBezTo>
                  <a:pt x="197282" y="190984"/>
                  <a:pt x="190984" y="197282"/>
                  <a:pt x="183190" y="197282"/>
                </a:cubicBezTo>
                <a:lnTo>
                  <a:pt x="14092" y="197282"/>
                </a:lnTo>
                <a:cubicBezTo>
                  <a:pt x="6297" y="197282"/>
                  <a:pt x="0" y="190984"/>
                  <a:pt x="0" y="183190"/>
                </a:cubicBezTo>
                <a:cubicBezTo>
                  <a:pt x="0" y="175396"/>
                  <a:pt x="6297" y="169098"/>
                  <a:pt x="14092" y="169098"/>
                </a:cubicBezTo>
                <a:lnTo>
                  <a:pt x="183190" y="169098"/>
                </a:lnTo>
                <a:cubicBezTo>
                  <a:pt x="190984" y="169098"/>
                  <a:pt x="197282" y="175396"/>
                  <a:pt x="197282" y="18319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84765" y="3787806"/>
            <a:ext cx="4599479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Streaming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90402" y="4058363"/>
            <a:ext cx="458820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实时流处理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0771" y="4554386"/>
            <a:ext cx="4779850" cy="1048411"/>
          </a:xfrm>
          <a:custGeom>
            <a:avLst/>
            <a:gdLst/>
            <a:ahLst/>
            <a:cxnLst/>
            <a:rect l="l" t="t" r="r" b="b"/>
            <a:pathLst>
              <a:path w="4779850" h="1048411">
                <a:moveTo>
                  <a:pt x="45092" y="0"/>
                </a:moveTo>
                <a:lnTo>
                  <a:pt x="4734758" y="0"/>
                </a:lnTo>
                <a:cubicBezTo>
                  <a:pt x="4759662" y="0"/>
                  <a:pt x="4779850" y="20188"/>
                  <a:pt x="4779850" y="45092"/>
                </a:cubicBezTo>
                <a:lnTo>
                  <a:pt x="4779850" y="1003318"/>
                </a:lnTo>
                <a:cubicBezTo>
                  <a:pt x="4779850" y="1028222"/>
                  <a:pt x="4759662" y="1048411"/>
                  <a:pt x="4734758" y="1048411"/>
                </a:cubicBezTo>
                <a:lnTo>
                  <a:pt x="45092" y="1048411"/>
                </a:lnTo>
                <a:cubicBezTo>
                  <a:pt x="20188" y="1048411"/>
                  <a:pt x="0" y="1028222"/>
                  <a:pt x="0" y="1003318"/>
                </a:cubicBezTo>
                <a:lnTo>
                  <a:pt x="0" y="45092"/>
                </a:lnTo>
                <a:cubicBezTo>
                  <a:pt x="0" y="20188"/>
                  <a:pt x="20188" y="0"/>
                  <a:pt x="450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57259" y="4700938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52843" y="24660"/>
                </a:moveTo>
                <a:cubicBezTo>
                  <a:pt x="52843" y="11053"/>
                  <a:pt x="63896" y="0"/>
                  <a:pt x="77503" y="0"/>
                </a:cubicBezTo>
                <a:lnTo>
                  <a:pt x="88072" y="0"/>
                </a:lnTo>
                <a:cubicBezTo>
                  <a:pt x="95867" y="0"/>
                  <a:pt x="102164" y="6297"/>
                  <a:pt x="102164" y="14092"/>
                </a:cubicBezTo>
                <a:lnTo>
                  <a:pt x="102164" y="211373"/>
                </a:lnTo>
                <a:cubicBezTo>
                  <a:pt x="102164" y="219167"/>
                  <a:pt x="95867" y="225465"/>
                  <a:pt x="88072" y="225465"/>
                </a:cubicBezTo>
                <a:lnTo>
                  <a:pt x="73981" y="225465"/>
                </a:lnTo>
                <a:cubicBezTo>
                  <a:pt x="60858" y="225465"/>
                  <a:pt x="49805" y="216481"/>
                  <a:pt x="46678" y="204327"/>
                </a:cubicBezTo>
                <a:cubicBezTo>
                  <a:pt x="46370" y="204327"/>
                  <a:pt x="46106" y="204327"/>
                  <a:pt x="45798" y="204327"/>
                </a:cubicBezTo>
                <a:cubicBezTo>
                  <a:pt x="26334" y="204327"/>
                  <a:pt x="10569" y="188562"/>
                  <a:pt x="10569" y="169098"/>
                </a:cubicBezTo>
                <a:cubicBezTo>
                  <a:pt x="10569" y="161172"/>
                  <a:pt x="13211" y="153862"/>
                  <a:pt x="17614" y="147961"/>
                </a:cubicBezTo>
                <a:cubicBezTo>
                  <a:pt x="9071" y="141532"/>
                  <a:pt x="3523" y="131316"/>
                  <a:pt x="3523" y="119778"/>
                </a:cubicBezTo>
                <a:cubicBezTo>
                  <a:pt x="3523" y="106171"/>
                  <a:pt x="11273" y="94325"/>
                  <a:pt x="22546" y="88468"/>
                </a:cubicBezTo>
                <a:cubicBezTo>
                  <a:pt x="19420" y="83184"/>
                  <a:pt x="17614" y="77019"/>
                  <a:pt x="17614" y="70458"/>
                </a:cubicBezTo>
                <a:cubicBezTo>
                  <a:pt x="17614" y="50994"/>
                  <a:pt x="33379" y="35229"/>
                  <a:pt x="52843" y="35229"/>
                </a:cubicBezTo>
                <a:lnTo>
                  <a:pt x="52843" y="24660"/>
                </a:lnTo>
                <a:close/>
                <a:moveTo>
                  <a:pt x="172621" y="24660"/>
                </a:moveTo>
                <a:lnTo>
                  <a:pt x="172621" y="35229"/>
                </a:lnTo>
                <a:cubicBezTo>
                  <a:pt x="192085" y="35229"/>
                  <a:pt x="207850" y="50994"/>
                  <a:pt x="207850" y="70458"/>
                </a:cubicBezTo>
                <a:cubicBezTo>
                  <a:pt x="207850" y="77063"/>
                  <a:pt x="206045" y="83228"/>
                  <a:pt x="202918" y="88468"/>
                </a:cubicBezTo>
                <a:cubicBezTo>
                  <a:pt x="214235" y="94325"/>
                  <a:pt x="221942" y="106127"/>
                  <a:pt x="221942" y="119778"/>
                </a:cubicBezTo>
                <a:cubicBezTo>
                  <a:pt x="221942" y="131316"/>
                  <a:pt x="216393" y="141532"/>
                  <a:pt x="207850" y="147961"/>
                </a:cubicBezTo>
                <a:cubicBezTo>
                  <a:pt x="212254" y="153862"/>
                  <a:pt x="214896" y="161172"/>
                  <a:pt x="214896" y="169098"/>
                </a:cubicBezTo>
                <a:cubicBezTo>
                  <a:pt x="214896" y="188562"/>
                  <a:pt x="199131" y="204327"/>
                  <a:pt x="179667" y="204327"/>
                </a:cubicBezTo>
                <a:cubicBezTo>
                  <a:pt x="179359" y="204327"/>
                  <a:pt x="179095" y="204327"/>
                  <a:pt x="178786" y="204327"/>
                </a:cubicBezTo>
                <a:cubicBezTo>
                  <a:pt x="175660" y="216481"/>
                  <a:pt x="164607" y="225465"/>
                  <a:pt x="151484" y="225465"/>
                </a:cubicBezTo>
                <a:lnTo>
                  <a:pt x="137393" y="225465"/>
                </a:lnTo>
                <a:cubicBezTo>
                  <a:pt x="129598" y="225465"/>
                  <a:pt x="123301" y="219167"/>
                  <a:pt x="123301" y="211373"/>
                </a:cubicBezTo>
                <a:lnTo>
                  <a:pt x="123301" y="14092"/>
                </a:lnTo>
                <a:cubicBezTo>
                  <a:pt x="123301" y="6297"/>
                  <a:pt x="129598" y="0"/>
                  <a:pt x="137393" y="0"/>
                </a:cubicBezTo>
                <a:lnTo>
                  <a:pt x="147961" y="0"/>
                </a:lnTo>
                <a:cubicBezTo>
                  <a:pt x="161568" y="0"/>
                  <a:pt x="172621" y="11053"/>
                  <a:pt x="172621" y="2466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70957" y="4971495"/>
            <a:ext cx="4599479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MLlib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6594" y="5242053"/>
            <a:ext cx="458820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94579" y="4554386"/>
            <a:ext cx="4779850" cy="1048411"/>
          </a:xfrm>
          <a:custGeom>
            <a:avLst/>
            <a:gdLst/>
            <a:ahLst/>
            <a:cxnLst/>
            <a:rect l="l" t="t" r="r" b="b"/>
            <a:pathLst>
              <a:path w="4779850" h="1048411">
                <a:moveTo>
                  <a:pt x="45092" y="0"/>
                </a:moveTo>
                <a:lnTo>
                  <a:pt x="4734758" y="0"/>
                </a:lnTo>
                <a:cubicBezTo>
                  <a:pt x="4759662" y="0"/>
                  <a:pt x="4779850" y="20188"/>
                  <a:pt x="4779850" y="45092"/>
                </a:cubicBezTo>
                <a:lnTo>
                  <a:pt x="4779850" y="1003318"/>
                </a:lnTo>
                <a:cubicBezTo>
                  <a:pt x="4779850" y="1028222"/>
                  <a:pt x="4759662" y="1048411"/>
                  <a:pt x="4734758" y="1048411"/>
                </a:cubicBezTo>
                <a:lnTo>
                  <a:pt x="45092" y="1048411"/>
                </a:lnTo>
                <a:cubicBezTo>
                  <a:pt x="20188" y="1048411"/>
                  <a:pt x="0" y="1028222"/>
                  <a:pt x="0" y="1003318"/>
                </a:cubicBezTo>
                <a:lnTo>
                  <a:pt x="0" y="45092"/>
                </a:lnTo>
                <a:cubicBezTo>
                  <a:pt x="0" y="20188"/>
                  <a:pt x="20188" y="0"/>
                  <a:pt x="450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171155" y="4700938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0" y="35229"/>
                </a:moveTo>
                <a:cubicBezTo>
                  <a:pt x="0" y="23559"/>
                  <a:pt x="9468" y="14092"/>
                  <a:pt x="21137" y="14092"/>
                </a:cubicBezTo>
                <a:lnTo>
                  <a:pt x="63412" y="14092"/>
                </a:lnTo>
                <a:cubicBezTo>
                  <a:pt x="75081" y="14092"/>
                  <a:pt x="84549" y="23559"/>
                  <a:pt x="84549" y="35229"/>
                </a:cubicBezTo>
                <a:lnTo>
                  <a:pt x="84549" y="42275"/>
                </a:lnTo>
                <a:lnTo>
                  <a:pt x="140915" y="42275"/>
                </a:lnTo>
                <a:lnTo>
                  <a:pt x="140915" y="35229"/>
                </a:lnTo>
                <a:cubicBezTo>
                  <a:pt x="140915" y="23559"/>
                  <a:pt x="150383" y="14092"/>
                  <a:pt x="162053" y="14092"/>
                </a:cubicBezTo>
                <a:lnTo>
                  <a:pt x="204327" y="14092"/>
                </a:lnTo>
                <a:cubicBezTo>
                  <a:pt x="215997" y="14092"/>
                  <a:pt x="225465" y="23559"/>
                  <a:pt x="225465" y="35229"/>
                </a:cubicBezTo>
                <a:lnTo>
                  <a:pt x="225465" y="77503"/>
                </a:lnTo>
                <a:cubicBezTo>
                  <a:pt x="225465" y="89173"/>
                  <a:pt x="215997" y="98641"/>
                  <a:pt x="204327" y="98641"/>
                </a:cubicBezTo>
                <a:lnTo>
                  <a:pt x="162053" y="98641"/>
                </a:lnTo>
                <a:cubicBezTo>
                  <a:pt x="150383" y="98641"/>
                  <a:pt x="140915" y="89173"/>
                  <a:pt x="140915" y="77503"/>
                </a:cubicBezTo>
                <a:lnTo>
                  <a:pt x="140915" y="70458"/>
                </a:lnTo>
                <a:lnTo>
                  <a:pt x="84549" y="70458"/>
                </a:lnTo>
                <a:lnTo>
                  <a:pt x="84549" y="77503"/>
                </a:lnTo>
                <a:cubicBezTo>
                  <a:pt x="84549" y="80718"/>
                  <a:pt x="83801" y="83801"/>
                  <a:pt x="82524" y="86531"/>
                </a:cubicBezTo>
                <a:lnTo>
                  <a:pt x="112732" y="126824"/>
                </a:lnTo>
                <a:lnTo>
                  <a:pt x="147961" y="126824"/>
                </a:lnTo>
                <a:cubicBezTo>
                  <a:pt x="159631" y="126824"/>
                  <a:pt x="169098" y="136292"/>
                  <a:pt x="169098" y="147961"/>
                </a:cubicBezTo>
                <a:lnTo>
                  <a:pt x="169098" y="190236"/>
                </a:lnTo>
                <a:cubicBezTo>
                  <a:pt x="169098" y="201905"/>
                  <a:pt x="159631" y="211373"/>
                  <a:pt x="147961" y="211373"/>
                </a:cubicBezTo>
                <a:lnTo>
                  <a:pt x="105687" y="211373"/>
                </a:lnTo>
                <a:cubicBezTo>
                  <a:pt x="94017" y="211373"/>
                  <a:pt x="84549" y="201905"/>
                  <a:pt x="84549" y="190236"/>
                </a:cubicBezTo>
                <a:lnTo>
                  <a:pt x="84549" y="147961"/>
                </a:lnTo>
                <a:cubicBezTo>
                  <a:pt x="84549" y="144747"/>
                  <a:pt x="85298" y="141664"/>
                  <a:pt x="86575" y="138934"/>
                </a:cubicBezTo>
                <a:lnTo>
                  <a:pt x="56366" y="98641"/>
                </a:lnTo>
                <a:lnTo>
                  <a:pt x="21137" y="98641"/>
                </a:lnTo>
                <a:cubicBezTo>
                  <a:pt x="9468" y="98641"/>
                  <a:pt x="0" y="89173"/>
                  <a:pt x="0" y="77503"/>
                </a:cubicBezTo>
                <a:lnTo>
                  <a:pt x="0" y="35229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84765" y="4971495"/>
            <a:ext cx="4599479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90402" y="5242053"/>
            <a:ext cx="458820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图计算框架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4033" y="6042452"/>
            <a:ext cx="10168455" cy="1217509"/>
          </a:xfrm>
          <a:custGeom>
            <a:avLst/>
            <a:gdLst/>
            <a:ahLst/>
            <a:cxnLst/>
            <a:rect l="l" t="t" r="r" b="b"/>
            <a:pathLst>
              <a:path w="10168455" h="1217509">
                <a:moveTo>
                  <a:pt x="135277" y="0"/>
                </a:moveTo>
                <a:lnTo>
                  <a:pt x="10033177" y="0"/>
                </a:lnTo>
                <a:cubicBezTo>
                  <a:pt x="10107889" y="0"/>
                  <a:pt x="10168455" y="60566"/>
                  <a:pt x="10168455" y="135277"/>
                </a:cubicBezTo>
                <a:lnTo>
                  <a:pt x="10168455" y="1082232"/>
                </a:lnTo>
                <a:cubicBezTo>
                  <a:pt x="10168455" y="1156943"/>
                  <a:pt x="10107889" y="1217509"/>
                  <a:pt x="10033177" y="1217509"/>
                </a:cubicBezTo>
                <a:lnTo>
                  <a:pt x="135277" y="1217509"/>
                </a:lnTo>
                <a:cubicBezTo>
                  <a:pt x="60566" y="1217509"/>
                  <a:pt x="0" y="1156943"/>
                  <a:pt x="0" y="1082232"/>
                </a:cubicBezTo>
                <a:lnTo>
                  <a:pt x="0" y="135277"/>
                </a:lnTo>
                <a:cubicBezTo>
                  <a:pt x="0" y="60616"/>
                  <a:pt x="60616" y="0"/>
                  <a:pt x="135277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 w="25400">
            <a:solidFill>
              <a:srgbClr val="4A6B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08954" y="6324283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98773" y="-1101"/>
                </a:moveTo>
                <a:cubicBezTo>
                  <a:pt x="107492" y="-6121"/>
                  <a:pt x="118237" y="-6121"/>
                  <a:pt x="126956" y="-1101"/>
                </a:cubicBezTo>
                <a:lnTo>
                  <a:pt x="204415" y="43596"/>
                </a:lnTo>
                <a:cubicBezTo>
                  <a:pt x="213135" y="48616"/>
                  <a:pt x="218507" y="57951"/>
                  <a:pt x="218507" y="67992"/>
                </a:cubicBezTo>
                <a:lnTo>
                  <a:pt x="218507" y="157385"/>
                </a:lnTo>
                <a:cubicBezTo>
                  <a:pt x="218507" y="167469"/>
                  <a:pt x="213135" y="176761"/>
                  <a:pt x="204415" y="181781"/>
                </a:cubicBezTo>
                <a:lnTo>
                  <a:pt x="126956" y="226566"/>
                </a:lnTo>
                <a:cubicBezTo>
                  <a:pt x="118237" y="231586"/>
                  <a:pt x="107492" y="231586"/>
                  <a:pt x="98773" y="226566"/>
                </a:cubicBezTo>
                <a:lnTo>
                  <a:pt x="21357" y="181869"/>
                </a:lnTo>
                <a:cubicBezTo>
                  <a:pt x="12638" y="176849"/>
                  <a:pt x="7266" y="167513"/>
                  <a:pt x="7266" y="157473"/>
                </a:cubicBezTo>
                <a:lnTo>
                  <a:pt x="7266" y="68080"/>
                </a:lnTo>
                <a:cubicBezTo>
                  <a:pt x="7266" y="57995"/>
                  <a:pt x="12638" y="48704"/>
                  <a:pt x="21357" y="43684"/>
                </a:cubicBezTo>
                <a:lnTo>
                  <a:pt x="98773" y="-1101"/>
                </a:lnTo>
                <a:close/>
                <a:moveTo>
                  <a:pt x="190280" y="157429"/>
                </a:moveTo>
                <a:lnTo>
                  <a:pt x="190280" y="84285"/>
                </a:lnTo>
                <a:lnTo>
                  <a:pt x="126956" y="120835"/>
                </a:lnTo>
                <a:lnTo>
                  <a:pt x="126956" y="193979"/>
                </a:lnTo>
                <a:lnTo>
                  <a:pt x="190280" y="15742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62602" y="6279190"/>
            <a:ext cx="9525881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0771" y="6730119"/>
            <a:ext cx="9785165" cy="29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 </a:t>
            </a: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抽象</a:t>
            </a: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内存计算</a:t>
            </a: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能力，包含任务调度器、内存管理器等核心组件，是整个生态系统的基础。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4033" y="7462879"/>
            <a:ext cx="10168455" cy="1375334"/>
          </a:xfrm>
          <a:custGeom>
            <a:avLst/>
            <a:gdLst/>
            <a:ahLst/>
            <a:cxnLst/>
            <a:rect l="l" t="t" r="r" b="b"/>
            <a:pathLst>
              <a:path w="10168455" h="1375334">
                <a:moveTo>
                  <a:pt x="135278" y="0"/>
                </a:moveTo>
                <a:lnTo>
                  <a:pt x="10033177" y="0"/>
                </a:lnTo>
                <a:cubicBezTo>
                  <a:pt x="10107889" y="0"/>
                  <a:pt x="10168455" y="60566"/>
                  <a:pt x="10168455" y="135278"/>
                </a:cubicBezTo>
                <a:lnTo>
                  <a:pt x="10168455" y="1240056"/>
                </a:lnTo>
                <a:cubicBezTo>
                  <a:pt x="10168455" y="1314768"/>
                  <a:pt x="10107889" y="1375334"/>
                  <a:pt x="10033177" y="1375334"/>
                </a:cubicBezTo>
                <a:lnTo>
                  <a:pt x="135278" y="1375334"/>
                </a:lnTo>
                <a:cubicBezTo>
                  <a:pt x="60566" y="1375334"/>
                  <a:pt x="0" y="1314768"/>
                  <a:pt x="0" y="1240056"/>
                </a:cubicBezTo>
                <a:lnTo>
                  <a:pt x="0" y="135278"/>
                </a:lnTo>
                <a:cubicBezTo>
                  <a:pt x="0" y="60616"/>
                  <a:pt x="60616" y="0"/>
                  <a:pt x="135278" y="0"/>
                </a:cubicBezTo>
                <a:close/>
              </a:path>
            </a:pathLst>
          </a:custGeom>
          <a:solidFill>
            <a:srgbClr val="7D8A99">
              <a:alpha val="30196"/>
            </a:srgbClr>
          </a:solidFill>
          <a:ln w="25400">
            <a:solidFill>
              <a:srgbClr val="7D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23046" y="7744710"/>
            <a:ext cx="197282" cy="225465"/>
          </a:xfrm>
          <a:custGeom>
            <a:avLst/>
            <a:gdLst/>
            <a:ahLst/>
            <a:cxnLst/>
            <a:rect l="l" t="t" r="r" b="b"/>
            <a:pathLst>
              <a:path w="197282" h="225465">
                <a:moveTo>
                  <a:pt x="28183" y="14092"/>
                </a:moveTo>
                <a:cubicBezTo>
                  <a:pt x="12638" y="14092"/>
                  <a:pt x="0" y="26730"/>
                  <a:pt x="0" y="42275"/>
                </a:cubicBezTo>
                <a:lnTo>
                  <a:pt x="0" y="70458"/>
                </a:lnTo>
                <a:cubicBezTo>
                  <a:pt x="0" y="86002"/>
                  <a:pt x="12638" y="98641"/>
                  <a:pt x="28183" y="98641"/>
                </a:cubicBezTo>
                <a:lnTo>
                  <a:pt x="169098" y="98641"/>
                </a:lnTo>
                <a:cubicBezTo>
                  <a:pt x="184643" y="98641"/>
                  <a:pt x="197282" y="86002"/>
                  <a:pt x="197282" y="70458"/>
                </a:cubicBezTo>
                <a:lnTo>
                  <a:pt x="197282" y="42275"/>
                </a:lnTo>
                <a:cubicBezTo>
                  <a:pt x="197282" y="26730"/>
                  <a:pt x="184643" y="14092"/>
                  <a:pt x="169098" y="14092"/>
                </a:cubicBezTo>
                <a:lnTo>
                  <a:pt x="28183" y="14092"/>
                </a:lnTo>
                <a:close/>
                <a:moveTo>
                  <a:pt x="123301" y="45798"/>
                </a:moveTo>
                <a:cubicBezTo>
                  <a:pt x="129134" y="45798"/>
                  <a:pt x="133870" y="50533"/>
                  <a:pt x="133870" y="56366"/>
                </a:cubicBezTo>
                <a:cubicBezTo>
                  <a:pt x="133870" y="62199"/>
                  <a:pt x="129134" y="66935"/>
                  <a:pt x="123301" y="66935"/>
                </a:cubicBezTo>
                <a:cubicBezTo>
                  <a:pt x="117468" y="66935"/>
                  <a:pt x="112732" y="62199"/>
                  <a:pt x="112732" y="56366"/>
                </a:cubicBezTo>
                <a:cubicBezTo>
                  <a:pt x="112732" y="50533"/>
                  <a:pt x="117468" y="45798"/>
                  <a:pt x="123301" y="45798"/>
                </a:cubicBezTo>
                <a:close/>
                <a:moveTo>
                  <a:pt x="147961" y="56366"/>
                </a:moveTo>
                <a:cubicBezTo>
                  <a:pt x="147961" y="50533"/>
                  <a:pt x="152697" y="45798"/>
                  <a:pt x="158530" y="45798"/>
                </a:cubicBezTo>
                <a:cubicBezTo>
                  <a:pt x="164363" y="45798"/>
                  <a:pt x="169098" y="50533"/>
                  <a:pt x="169098" y="56366"/>
                </a:cubicBezTo>
                <a:cubicBezTo>
                  <a:pt x="169098" y="62199"/>
                  <a:pt x="164363" y="66935"/>
                  <a:pt x="158530" y="66935"/>
                </a:cubicBezTo>
                <a:cubicBezTo>
                  <a:pt x="152697" y="66935"/>
                  <a:pt x="147961" y="62199"/>
                  <a:pt x="147961" y="56366"/>
                </a:cubicBezTo>
                <a:close/>
                <a:moveTo>
                  <a:pt x="28183" y="126824"/>
                </a:moveTo>
                <a:cubicBezTo>
                  <a:pt x="12638" y="126824"/>
                  <a:pt x="0" y="139462"/>
                  <a:pt x="0" y="155007"/>
                </a:cubicBezTo>
                <a:lnTo>
                  <a:pt x="0" y="183190"/>
                </a:lnTo>
                <a:cubicBezTo>
                  <a:pt x="0" y="198735"/>
                  <a:pt x="12638" y="211373"/>
                  <a:pt x="28183" y="211373"/>
                </a:cubicBezTo>
                <a:lnTo>
                  <a:pt x="169098" y="211373"/>
                </a:lnTo>
                <a:cubicBezTo>
                  <a:pt x="184643" y="211373"/>
                  <a:pt x="197282" y="198735"/>
                  <a:pt x="197282" y="183190"/>
                </a:cubicBezTo>
                <a:lnTo>
                  <a:pt x="197282" y="155007"/>
                </a:lnTo>
                <a:cubicBezTo>
                  <a:pt x="197282" y="139462"/>
                  <a:pt x="184643" y="126824"/>
                  <a:pt x="169098" y="126824"/>
                </a:cubicBezTo>
                <a:lnTo>
                  <a:pt x="28183" y="126824"/>
                </a:lnTo>
                <a:close/>
                <a:moveTo>
                  <a:pt x="123301" y="158530"/>
                </a:moveTo>
                <a:cubicBezTo>
                  <a:pt x="129134" y="158530"/>
                  <a:pt x="133870" y="163265"/>
                  <a:pt x="133870" y="169098"/>
                </a:cubicBezTo>
                <a:cubicBezTo>
                  <a:pt x="133870" y="174931"/>
                  <a:pt x="129134" y="179667"/>
                  <a:pt x="123301" y="179667"/>
                </a:cubicBezTo>
                <a:cubicBezTo>
                  <a:pt x="117468" y="179667"/>
                  <a:pt x="112732" y="174931"/>
                  <a:pt x="112732" y="169098"/>
                </a:cubicBezTo>
                <a:cubicBezTo>
                  <a:pt x="112732" y="163265"/>
                  <a:pt x="117468" y="158530"/>
                  <a:pt x="123301" y="158530"/>
                </a:cubicBezTo>
                <a:close/>
                <a:moveTo>
                  <a:pt x="147961" y="169098"/>
                </a:moveTo>
                <a:cubicBezTo>
                  <a:pt x="147961" y="163265"/>
                  <a:pt x="152697" y="158530"/>
                  <a:pt x="158530" y="158530"/>
                </a:cubicBezTo>
                <a:cubicBezTo>
                  <a:pt x="164363" y="158530"/>
                  <a:pt x="169098" y="163265"/>
                  <a:pt x="169098" y="169098"/>
                </a:cubicBezTo>
                <a:cubicBezTo>
                  <a:pt x="169098" y="174931"/>
                  <a:pt x="164363" y="179667"/>
                  <a:pt x="158530" y="179667"/>
                </a:cubicBezTo>
                <a:cubicBezTo>
                  <a:pt x="152697" y="179667"/>
                  <a:pt x="147961" y="174931"/>
                  <a:pt x="147961" y="16909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62602" y="7699617"/>
            <a:ext cx="9525881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Managers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80771" y="8150546"/>
            <a:ext cx="3167778" cy="450929"/>
          </a:xfrm>
          <a:custGeom>
            <a:avLst/>
            <a:gdLst/>
            <a:ahLst/>
            <a:cxnLst/>
            <a:rect l="l" t="t" r="r" b="b"/>
            <a:pathLst>
              <a:path w="3167778" h="450929">
                <a:moveTo>
                  <a:pt x="45093" y="0"/>
                </a:moveTo>
                <a:lnTo>
                  <a:pt x="3122685" y="0"/>
                </a:lnTo>
                <a:cubicBezTo>
                  <a:pt x="3147589" y="0"/>
                  <a:pt x="3167778" y="20189"/>
                  <a:pt x="3167778" y="45093"/>
                </a:cubicBezTo>
                <a:lnTo>
                  <a:pt x="3167778" y="405836"/>
                </a:lnTo>
                <a:cubicBezTo>
                  <a:pt x="3167778" y="430740"/>
                  <a:pt x="3147589" y="450929"/>
                  <a:pt x="3122685" y="450929"/>
                </a:cubicBezTo>
                <a:lnTo>
                  <a:pt x="45093" y="450929"/>
                </a:lnTo>
                <a:cubicBezTo>
                  <a:pt x="20189" y="450929"/>
                  <a:pt x="0" y="430740"/>
                  <a:pt x="0" y="405836"/>
                </a:cubicBezTo>
                <a:lnTo>
                  <a:pt x="0" y="45093"/>
                </a:lnTo>
                <a:cubicBezTo>
                  <a:pt x="0" y="20205"/>
                  <a:pt x="20205" y="0"/>
                  <a:pt x="450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25864" y="8240732"/>
            <a:ext cx="3077592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41641" y="8150546"/>
            <a:ext cx="3167778" cy="450929"/>
          </a:xfrm>
          <a:custGeom>
            <a:avLst/>
            <a:gdLst/>
            <a:ahLst/>
            <a:cxnLst/>
            <a:rect l="l" t="t" r="r" b="b"/>
            <a:pathLst>
              <a:path w="3167778" h="450929">
                <a:moveTo>
                  <a:pt x="45093" y="0"/>
                </a:moveTo>
                <a:lnTo>
                  <a:pt x="3122685" y="0"/>
                </a:lnTo>
                <a:cubicBezTo>
                  <a:pt x="3147589" y="0"/>
                  <a:pt x="3167778" y="20189"/>
                  <a:pt x="3167778" y="45093"/>
                </a:cubicBezTo>
                <a:lnTo>
                  <a:pt x="3167778" y="405836"/>
                </a:lnTo>
                <a:cubicBezTo>
                  <a:pt x="3167778" y="430740"/>
                  <a:pt x="3147589" y="450929"/>
                  <a:pt x="3122685" y="450929"/>
                </a:cubicBezTo>
                <a:lnTo>
                  <a:pt x="45093" y="450929"/>
                </a:lnTo>
                <a:cubicBezTo>
                  <a:pt x="20189" y="450929"/>
                  <a:pt x="0" y="430740"/>
                  <a:pt x="0" y="405836"/>
                </a:cubicBezTo>
                <a:lnTo>
                  <a:pt x="0" y="45093"/>
                </a:lnTo>
                <a:cubicBezTo>
                  <a:pt x="0" y="20205"/>
                  <a:pt x="20205" y="0"/>
                  <a:pt x="450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286734" y="8240732"/>
            <a:ext cx="3077592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02512" y="8150546"/>
            <a:ext cx="3167778" cy="450929"/>
          </a:xfrm>
          <a:custGeom>
            <a:avLst/>
            <a:gdLst/>
            <a:ahLst/>
            <a:cxnLst/>
            <a:rect l="l" t="t" r="r" b="b"/>
            <a:pathLst>
              <a:path w="3167778" h="450929">
                <a:moveTo>
                  <a:pt x="45093" y="0"/>
                </a:moveTo>
                <a:lnTo>
                  <a:pt x="3122685" y="0"/>
                </a:lnTo>
                <a:cubicBezTo>
                  <a:pt x="3147589" y="0"/>
                  <a:pt x="3167778" y="20189"/>
                  <a:pt x="3167778" y="45093"/>
                </a:cubicBezTo>
                <a:lnTo>
                  <a:pt x="3167778" y="405836"/>
                </a:lnTo>
                <a:cubicBezTo>
                  <a:pt x="3167778" y="430740"/>
                  <a:pt x="3147589" y="450929"/>
                  <a:pt x="3122685" y="450929"/>
                </a:cubicBezTo>
                <a:lnTo>
                  <a:pt x="45093" y="450929"/>
                </a:lnTo>
                <a:cubicBezTo>
                  <a:pt x="20189" y="450929"/>
                  <a:pt x="0" y="430740"/>
                  <a:pt x="0" y="405836"/>
                </a:cubicBezTo>
                <a:lnTo>
                  <a:pt x="0" y="45093"/>
                </a:lnTo>
                <a:cubicBezTo>
                  <a:pt x="0" y="20205"/>
                  <a:pt x="20205" y="0"/>
                  <a:pt x="450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547605" y="8240732"/>
            <a:ext cx="3077592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479232" y="1764261"/>
            <a:ext cx="4317648" cy="5399878"/>
          </a:xfrm>
          <a:custGeom>
            <a:avLst/>
            <a:gdLst/>
            <a:ahLst/>
            <a:cxnLst/>
            <a:rect l="l" t="t" r="r" b="b"/>
            <a:pathLst>
              <a:path w="4317648" h="5399878">
                <a:moveTo>
                  <a:pt x="135272" y="0"/>
                </a:moveTo>
                <a:lnTo>
                  <a:pt x="4182376" y="0"/>
                </a:lnTo>
                <a:cubicBezTo>
                  <a:pt x="4257084" y="0"/>
                  <a:pt x="4317648" y="60563"/>
                  <a:pt x="4317648" y="135272"/>
                </a:cubicBezTo>
                <a:lnTo>
                  <a:pt x="4317648" y="5264606"/>
                </a:lnTo>
                <a:cubicBezTo>
                  <a:pt x="4317648" y="5339315"/>
                  <a:pt x="4257084" y="5399878"/>
                  <a:pt x="4182376" y="5399878"/>
                </a:cubicBezTo>
                <a:lnTo>
                  <a:pt x="135272" y="5399878"/>
                </a:lnTo>
                <a:cubicBezTo>
                  <a:pt x="60563" y="5399878"/>
                  <a:pt x="0" y="5339315"/>
                  <a:pt x="0" y="5264606"/>
                </a:cubicBezTo>
                <a:lnTo>
                  <a:pt x="0" y="135272"/>
                </a:lnTo>
                <a:cubicBezTo>
                  <a:pt x="0" y="60563"/>
                  <a:pt x="60563" y="0"/>
                  <a:pt x="135272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738517" y="2040455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112732" y="225465"/>
                </a:moveTo>
                <a:cubicBezTo>
                  <a:pt x="174951" y="225465"/>
                  <a:pt x="225465" y="174951"/>
                  <a:pt x="225465" y="112732"/>
                </a:cubicBezTo>
                <a:cubicBezTo>
                  <a:pt x="225465" y="50514"/>
                  <a:pt x="174951" y="0"/>
                  <a:pt x="112732" y="0"/>
                </a:cubicBezTo>
                <a:cubicBezTo>
                  <a:pt x="50514" y="0"/>
                  <a:pt x="0" y="50514"/>
                  <a:pt x="0" y="112732"/>
                </a:cubicBezTo>
                <a:cubicBezTo>
                  <a:pt x="0" y="174951"/>
                  <a:pt x="50514" y="225465"/>
                  <a:pt x="112732" y="225465"/>
                </a:cubicBezTo>
                <a:close/>
                <a:moveTo>
                  <a:pt x="98641" y="70458"/>
                </a:moveTo>
                <a:cubicBezTo>
                  <a:pt x="98641" y="62680"/>
                  <a:pt x="104955" y="56366"/>
                  <a:pt x="112732" y="56366"/>
                </a:cubicBezTo>
                <a:cubicBezTo>
                  <a:pt x="120510" y="56366"/>
                  <a:pt x="126824" y="62680"/>
                  <a:pt x="126824" y="70458"/>
                </a:cubicBezTo>
                <a:cubicBezTo>
                  <a:pt x="126824" y="78235"/>
                  <a:pt x="120510" y="84549"/>
                  <a:pt x="112732" y="84549"/>
                </a:cubicBezTo>
                <a:cubicBezTo>
                  <a:pt x="104955" y="84549"/>
                  <a:pt x="98641" y="78235"/>
                  <a:pt x="98641" y="70458"/>
                </a:cubicBezTo>
                <a:close/>
                <a:moveTo>
                  <a:pt x="95118" y="98641"/>
                </a:moveTo>
                <a:lnTo>
                  <a:pt x="116255" y="98641"/>
                </a:lnTo>
                <a:cubicBezTo>
                  <a:pt x="122112" y="98641"/>
                  <a:pt x="126824" y="103353"/>
                  <a:pt x="126824" y="109209"/>
                </a:cubicBezTo>
                <a:lnTo>
                  <a:pt x="126824" y="147961"/>
                </a:lnTo>
                <a:lnTo>
                  <a:pt x="130347" y="147961"/>
                </a:lnTo>
                <a:cubicBezTo>
                  <a:pt x="136204" y="147961"/>
                  <a:pt x="140915" y="152673"/>
                  <a:pt x="140915" y="158530"/>
                </a:cubicBezTo>
                <a:cubicBezTo>
                  <a:pt x="140915" y="164387"/>
                  <a:pt x="136204" y="169098"/>
                  <a:pt x="130347" y="169098"/>
                </a:cubicBezTo>
                <a:lnTo>
                  <a:pt x="95118" y="169098"/>
                </a:lnTo>
                <a:cubicBezTo>
                  <a:pt x="89261" y="169098"/>
                  <a:pt x="84549" y="164387"/>
                  <a:pt x="84549" y="158530"/>
                </a:cubicBezTo>
                <a:cubicBezTo>
                  <a:pt x="84549" y="152673"/>
                  <a:pt x="89261" y="147961"/>
                  <a:pt x="95118" y="147961"/>
                </a:cubicBezTo>
                <a:lnTo>
                  <a:pt x="105687" y="147961"/>
                </a:lnTo>
                <a:lnTo>
                  <a:pt x="105687" y="119778"/>
                </a:lnTo>
                <a:lnTo>
                  <a:pt x="95118" y="119778"/>
                </a:lnTo>
                <a:cubicBezTo>
                  <a:pt x="89261" y="119778"/>
                  <a:pt x="84549" y="115066"/>
                  <a:pt x="84549" y="109209"/>
                </a:cubicBezTo>
                <a:cubicBezTo>
                  <a:pt x="84549" y="103353"/>
                  <a:pt x="89261" y="98641"/>
                  <a:pt x="95118" y="9864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992164" y="1995362"/>
            <a:ext cx="3686347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组件功能详解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710334" y="2446291"/>
            <a:ext cx="395690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SQL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710334" y="2807035"/>
            <a:ext cx="3945631" cy="87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结构化数据处理引擎，支持 SQL 查询和 DataFrame/Dataset API。支持 Parquet、JSON、Hive、JDBC 等多种数据源。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710334" y="3821626"/>
            <a:ext cx="395690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Streaming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710334" y="4182369"/>
            <a:ext cx="3945631" cy="58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实时流数据处理框架，基于微批处理模型。支持 Kafka、Flume、TCP Socket 等多种数据源。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710334" y="4903856"/>
            <a:ext cx="395690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MLlib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710334" y="5264599"/>
            <a:ext cx="3945631" cy="58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分布式机器学习库，提供分类、回归、聚类等常用算法，支持特征工程和模型评估功能。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710334" y="5986086"/>
            <a:ext cx="395690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710334" y="6346829"/>
            <a:ext cx="3945631" cy="58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图计算框架，支持大规模图数据处理和分析，内置 PageRank、连通分量等常用图算法。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479232" y="7355784"/>
            <a:ext cx="4317648" cy="1769897"/>
          </a:xfrm>
          <a:custGeom>
            <a:avLst/>
            <a:gdLst/>
            <a:ahLst/>
            <a:cxnLst/>
            <a:rect l="l" t="t" r="r" b="b"/>
            <a:pathLst>
              <a:path w="4317648" h="1769897">
                <a:moveTo>
                  <a:pt x="135273" y="0"/>
                </a:moveTo>
                <a:lnTo>
                  <a:pt x="4182374" y="0"/>
                </a:lnTo>
                <a:cubicBezTo>
                  <a:pt x="4257084" y="0"/>
                  <a:pt x="4317648" y="60564"/>
                  <a:pt x="4317648" y="135273"/>
                </a:cubicBezTo>
                <a:lnTo>
                  <a:pt x="4317648" y="1634624"/>
                </a:lnTo>
                <a:cubicBezTo>
                  <a:pt x="4317648" y="1709333"/>
                  <a:pt x="4257084" y="1769897"/>
                  <a:pt x="4182374" y="1769897"/>
                </a:cubicBezTo>
                <a:lnTo>
                  <a:pt x="135273" y="1769897"/>
                </a:lnTo>
                <a:cubicBezTo>
                  <a:pt x="60564" y="1769897"/>
                  <a:pt x="0" y="1709333"/>
                  <a:pt x="0" y="1634624"/>
                </a:cubicBezTo>
                <a:lnTo>
                  <a:pt x="0" y="135273"/>
                </a:lnTo>
                <a:cubicBezTo>
                  <a:pt x="0" y="60564"/>
                  <a:pt x="60564" y="0"/>
                  <a:pt x="13527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718788" y="7598158"/>
            <a:ext cx="152189" cy="202918"/>
          </a:xfrm>
          <a:custGeom>
            <a:avLst/>
            <a:gdLst/>
            <a:ahLst/>
            <a:cxnLst/>
            <a:rect l="l" t="t" r="r" b="b"/>
            <a:pathLst>
              <a:path w="152189" h="202918">
                <a:moveTo>
                  <a:pt x="116083" y="152189"/>
                </a:moveTo>
                <a:cubicBezTo>
                  <a:pt x="118977" y="143351"/>
                  <a:pt x="124763" y="135345"/>
                  <a:pt x="131302" y="128449"/>
                </a:cubicBezTo>
                <a:cubicBezTo>
                  <a:pt x="144262" y="114815"/>
                  <a:pt x="152189" y="96386"/>
                  <a:pt x="152189" y="76094"/>
                </a:cubicBezTo>
                <a:cubicBezTo>
                  <a:pt x="152189" y="34084"/>
                  <a:pt x="118105" y="0"/>
                  <a:pt x="76094" y="0"/>
                </a:cubicBezTo>
                <a:cubicBezTo>
                  <a:pt x="34084" y="0"/>
                  <a:pt x="0" y="34084"/>
                  <a:pt x="0" y="76094"/>
                </a:cubicBezTo>
                <a:cubicBezTo>
                  <a:pt x="0" y="96386"/>
                  <a:pt x="7926" y="114815"/>
                  <a:pt x="20886" y="128449"/>
                </a:cubicBezTo>
                <a:cubicBezTo>
                  <a:pt x="27426" y="135345"/>
                  <a:pt x="33252" y="143351"/>
                  <a:pt x="36105" y="152189"/>
                </a:cubicBezTo>
                <a:lnTo>
                  <a:pt x="116044" y="152189"/>
                </a:lnTo>
                <a:close/>
                <a:moveTo>
                  <a:pt x="114141" y="171212"/>
                </a:moveTo>
                <a:lnTo>
                  <a:pt x="38047" y="171212"/>
                </a:lnTo>
                <a:lnTo>
                  <a:pt x="38047" y="177553"/>
                </a:lnTo>
                <a:cubicBezTo>
                  <a:pt x="38047" y="195071"/>
                  <a:pt x="52236" y="209259"/>
                  <a:pt x="69753" y="209259"/>
                </a:cubicBezTo>
                <a:lnTo>
                  <a:pt x="82436" y="209259"/>
                </a:lnTo>
                <a:cubicBezTo>
                  <a:pt x="99953" y="209259"/>
                  <a:pt x="114141" y="195071"/>
                  <a:pt x="114141" y="177553"/>
                </a:cubicBezTo>
                <a:lnTo>
                  <a:pt x="114141" y="171212"/>
                </a:lnTo>
                <a:close/>
                <a:moveTo>
                  <a:pt x="72924" y="44388"/>
                </a:moveTo>
                <a:cubicBezTo>
                  <a:pt x="57150" y="44388"/>
                  <a:pt x="44388" y="57150"/>
                  <a:pt x="44388" y="72924"/>
                </a:cubicBezTo>
                <a:cubicBezTo>
                  <a:pt x="44388" y="78195"/>
                  <a:pt x="40148" y="82436"/>
                  <a:pt x="34877" y="82436"/>
                </a:cubicBezTo>
                <a:cubicBezTo>
                  <a:pt x="29605" y="82436"/>
                  <a:pt x="25365" y="78195"/>
                  <a:pt x="25365" y="72924"/>
                </a:cubicBezTo>
                <a:cubicBezTo>
                  <a:pt x="25365" y="46647"/>
                  <a:pt x="46647" y="25365"/>
                  <a:pt x="72924" y="25365"/>
                </a:cubicBezTo>
                <a:cubicBezTo>
                  <a:pt x="78195" y="25365"/>
                  <a:pt x="82436" y="29605"/>
                  <a:pt x="82436" y="34877"/>
                </a:cubicBezTo>
                <a:cubicBezTo>
                  <a:pt x="82436" y="40148"/>
                  <a:pt x="78195" y="44388"/>
                  <a:pt x="72924" y="4438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924525" y="7541792"/>
            <a:ext cx="3787806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统一平台优势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699060" y="7992721"/>
            <a:ext cx="157825" cy="180372"/>
          </a:xfrm>
          <a:custGeom>
            <a:avLst/>
            <a:gdLst/>
            <a:ahLst/>
            <a:cxnLst/>
            <a:rect l="l" t="t" r="r" b="b"/>
            <a:pathLst>
              <a:path w="157825" h="180372">
                <a:moveTo>
                  <a:pt x="153175" y="24695"/>
                </a:moveTo>
                <a:cubicBezTo>
                  <a:pt x="158213" y="28359"/>
                  <a:pt x="159340" y="35405"/>
                  <a:pt x="155676" y="40443"/>
                </a:cubicBezTo>
                <a:lnTo>
                  <a:pt x="65490" y="164448"/>
                </a:lnTo>
                <a:cubicBezTo>
                  <a:pt x="63553" y="167126"/>
                  <a:pt x="60558" y="168781"/>
                  <a:pt x="57247" y="169063"/>
                </a:cubicBezTo>
                <a:cubicBezTo>
                  <a:pt x="53935" y="169345"/>
                  <a:pt x="50730" y="168112"/>
                  <a:pt x="48404" y="165787"/>
                </a:cubicBezTo>
                <a:lnTo>
                  <a:pt x="3312" y="120694"/>
                </a:lnTo>
                <a:cubicBezTo>
                  <a:pt x="-1092" y="116290"/>
                  <a:pt x="-1092" y="109139"/>
                  <a:pt x="3312" y="104735"/>
                </a:cubicBezTo>
                <a:cubicBezTo>
                  <a:pt x="7715" y="100332"/>
                  <a:pt x="14867" y="100332"/>
                  <a:pt x="19270" y="104735"/>
                </a:cubicBezTo>
                <a:lnTo>
                  <a:pt x="55027" y="140493"/>
                </a:lnTo>
                <a:lnTo>
                  <a:pt x="137463" y="27161"/>
                </a:lnTo>
                <a:cubicBezTo>
                  <a:pt x="141127" y="22124"/>
                  <a:pt x="148173" y="20996"/>
                  <a:pt x="153210" y="2466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980891" y="7947628"/>
            <a:ext cx="2435018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一套技术栈处理多种工作负载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699060" y="8353465"/>
            <a:ext cx="157825" cy="180372"/>
          </a:xfrm>
          <a:custGeom>
            <a:avLst/>
            <a:gdLst/>
            <a:ahLst/>
            <a:cxnLst/>
            <a:rect l="l" t="t" r="r" b="b"/>
            <a:pathLst>
              <a:path w="157825" h="180372">
                <a:moveTo>
                  <a:pt x="153175" y="24695"/>
                </a:moveTo>
                <a:cubicBezTo>
                  <a:pt x="158213" y="28359"/>
                  <a:pt x="159340" y="35405"/>
                  <a:pt x="155676" y="40443"/>
                </a:cubicBezTo>
                <a:lnTo>
                  <a:pt x="65490" y="164448"/>
                </a:lnTo>
                <a:cubicBezTo>
                  <a:pt x="63553" y="167126"/>
                  <a:pt x="60558" y="168781"/>
                  <a:pt x="57247" y="169063"/>
                </a:cubicBezTo>
                <a:cubicBezTo>
                  <a:pt x="53935" y="169345"/>
                  <a:pt x="50730" y="168112"/>
                  <a:pt x="48404" y="165787"/>
                </a:cubicBezTo>
                <a:lnTo>
                  <a:pt x="3312" y="120694"/>
                </a:lnTo>
                <a:cubicBezTo>
                  <a:pt x="-1092" y="116290"/>
                  <a:pt x="-1092" y="109139"/>
                  <a:pt x="3312" y="104735"/>
                </a:cubicBezTo>
                <a:cubicBezTo>
                  <a:pt x="7715" y="100332"/>
                  <a:pt x="14867" y="100332"/>
                  <a:pt x="19270" y="104735"/>
                </a:cubicBezTo>
                <a:lnTo>
                  <a:pt x="55027" y="140493"/>
                </a:lnTo>
                <a:lnTo>
                  <a:pt x="137463" y="27161"/>
                </a:lnTo>
                <a:cubicBezTo>
                  <a:pt x="141127" y="22124"/>
                  <a:pt x="148173" y="20996"/>
                  <a:pt x="153210" y="2466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980891" y="8308372"/>
            <a:ext cx="2615390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组件间无缝集成，数据高效流转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699060" y="8714208"/>
            <a:ext cx="157825" cy="180372"/>
          </a:xfrm>
          <a:custGeom>
            <a:avLst/>
            <a:gdLst/>
            <a:ahLst/>
            <a:cxnLst/>
            <a:rect l="l" t="t" r="r" b="b"/>
            <a:pathLst>
              <a:path w="157825" h="180372">
                <a:moveTo>
                  <a:pt x="153175" y="24695"/>
                </a:moveTo>
                <a:cubicBezTo>
                  <a:pt x="158213" y="28359"/>
                  <a:pt x="159340" y="35405"/>
                  <a:pt x="155676" y="40443"/>
                </a:cubicBezTo>
                <a:lnTo>
                  <a:pt x="65490" y="164448"/>
                </a:lnTo>
                <a:cubicBezTo>
                  <a:pt x="63553" y="167126"/>
                  <a:pt x="60558" y="168781"/>
                  <a:pt x="57247" y="169063"/>
                </a:cubicBezTo>
                <a:cubicBezTo>
                  <a:pt x="53935" y="169345"/>
                  <a:pt x="50730" y="168112"/>
                  <a:pt x="48404" y="165787"/>
                </a:cubicBezTo>
                <a:lnTo>
                  <a:pt x="3312" y="120694"/>
                </a:lnTo>
                <a:cubicBezTo>
                  <a:pt x="-1092" y="116290"/>
                  <a:pt x="-1092" y="109139"/>
                  <a:pt x="3312" y="104735"/>
                </a:cubicBezTo>
                <a:cubicBezTo>
                  <a:pt x="7715" y="100332"/>
                  <a:pt x="14867" y="100332"/>
                  <a:pt x="19270" y="104735"/>
                </a:cubicBezTo>
                <a:lnTo>
                  <a:pt x="55027" y="140493"/>
                </a:lnTo>
                <a:lnTo>
                  <a:pt x="137463" y="27161"/>
                </a:lnTo>
                <a:cubicBezTo>
                  <a:pt x="141127" y="22124"/>
                  <a:pt x="148173" y="20996"/>
                  <a:pt x="153210" y="2466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980891" y="8669115"/>
            <a:ext cx="1713531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降低开发和运维成本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577" y="481335"/>
            <a:ext cx="87515" cy="437577"/>
          </a:xfrm>
          <a:custGeom>
            <a:avLst/>
            <a:gdLst/>
            <a:ahLst/>
            <a:cxnLst/>
            <a:rect l="l" t="t" r="r" b="b"/>
            <a:pathLst>
              <a:path w="87515" h="437577">
                <a:moveTo>
                  <a:pt x="0" y="0"/>
                </a:moveTo>
                <a:lnTo>
                  <a:pt x="87515" y="0"/>
                </a:lnTo>
                <a:lnTo>
                  <a:pt x="87515" y="437577"/>
                </a:lnTo>
                <a:lnTo>
                  <a:pt x="0" y="43757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0124" y="437577"/>
            <a:ext cx="4835230" cy="52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35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RDD：弹性分布式数据集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00124" y="1181459"/>
            <a:ext cx="15227693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核心抽象的设计理念与哲学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9456" y="1706552"/>
            <a:ext cx="4933685" cy="2100371"/>
          </a:xfrm>
          <a:custGeom>
            <a:avLst/>
            <a:gdLst/>
            <a:ahLst/>
            <a:cxnLst/>
            <a:rect l="l" t="t" r="r" b="b"/>
            <a:pathLst>
              <a:path w="4933685" h="2100371">
                <a:moveTo>
                  <a:pt x="43758" y="0"/>
                </a:moveTo>
                <a:lnTo>
                  <a:pt x="4802412" y="0"/>
                </a:lnTo>
                <a:cubicBezTo>
                  <a:pt x="4874912" y="0"/>
                  <a:pt x="4933685" y="58773"/>
                  <a:pt x="4933685" y="131273"/>
                </a:cubicBezTo>
                <a:lnTo>
                  <a:pt x="4933685" y="1969098"/>
                </a:lnTo>
                <a:cubicBezTo>
                  <a:pt x="4933685" y="2041598"/>
                  <a:pt x="4874912" y="2100371"/>
                  <a:pt x="4802412" y="2100371"/>
                </a:cubicBez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591"/>
                  <a:pt x="19591" y="0"/>
                  <a:pt x="4375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9456" y="1706552"/>
            <a:ext cx="43758" cy="2100371"/>
          </a:xfrm>
          <a:custGeom>
            <a:avLst/>
            <a:gdLst/>
            <a:ahLst/>
            <a:cxnLst/>
            <a:rect l="l" t="t" r="r" b="b"/>
            <a:pathLst>
              <a:path w="43758" h="2100371">
                <a:moveTo>
                  <a:pt x="43758" y="0"/>
                </a:moveTo>
                <a:lnTo>
                  <a:pt x="43758" y="0"/>
                </a:lnTo>
                <a:lnTo>
                  <a:pt x="43758" y="2100371"/>
                </a:ln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0124" y="1925341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262546" y="0"/>
                </a:moveTo>
                <a:lnTo>
                  <a:pt x="262546" y="0"/>
                </a:lnTo>
                <a:cubicBezTo>
                  <a:pt x="407547" y="0"/>
                  <a:pt x="525093" y="117546"/>
                  <a:pt x="525093" y="262546"/>
                </a:cubicBezTo>
                <a:lnTo>
                  <a:pt x="525093" y="262546"/>
                </a:lnTo>
                <a:cubicBezTo>
                  <a:pt x="525093" y="407547"/>
                  <a:pt x="407547" y="525093"/>
                  <a:pt x="262546" y="525093"/>
                </a:cubicBezTo>
                <a:lnTo>
                  <a:pt x="262546" y="525093"/>
                </a:lnTo>
                <a:cubicBezTo>
                  <a:pt x="117546" y="525093"/>
                  <a:pt x="0" y="407547"/>
                  <a:pt x="0" y="262546"/>
                </a:cubicBezTo>
                <a:lnTo>
                  <a:pt x="0" y="262546"/>
                </a:lnTo>
                <a:cubicBezTo>
                  <a:pt x="0" y="117546"/>
                  <a:pt x="117546" y="0"/>
                  <a:pt x="26254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80026" y="2012856"/>
            <a:ext cx="295365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6490" y="2012856"/>
            <a:ext cx="1148641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0124" y="2581707"/>
            <a:ext cx="4583623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 / 容错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0124" y="3019284"/>
            <a:ext cx="4561744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，当节点失败时可以通过血缘关系（Lineage）自动重建丢失的数据分区，无需数据复制。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9456" y="4025712"/>
            <a:ext cx="4933685" cy="2100371"/>
          </a:xfrm>
          <a:custGeom>
            <a:avLst/>
            <a:gdLst/>
            <a:ahLst/>
            <a:cxnLst/>
            <a:rect l="l" t="t" r="r" b="b"/>
            <a:pathLst>
              <a:path w="4933685" h="2100371">
                <a:moveTo>
                  <a:pt x="43758" y="0"/>
                </a:moveTo>
                <a:lnTo>
                  <a:pt x="4802412" y="0"/>
                </a:lnTo>
                <a:cubicBezTo>
                  <a:pt x="4874912" y="0"/>
                  <a:pt x="4933685" y="58773"/>
                  <a:pt x="4933685" y="131273"/>
                </a:cubicBezTo>
                <a:lnTo>
                  <a:pt x="4933685" y="1969098"/>
                </a:lnTo>
                <a:cubicBezTo>
                  <a:pt x="4933685" y="2041598"/>
                  <a:pt x="4874912" y="2100371"/>
                  <a:pt x="4802412" y="2100371"/>
                </a:cubicBez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591"/>
                  <a:pt x="19591" y="0"/>
                  <a:pt x="4375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9456" y="4025712"/>
            <a:ext cx="43758" cy="2100371"/>
          </a:xfrm>
          <a:custGeom>
            <a:avLst/>
            <a:gdLst/>
            <a:ahLst/>
            <a:cxnLst/>
            <a:rect l="l" t="t" r="r" b="b"/>
            <a:pathLst>
              <a:path w="43758" h="2100371">
                <a:moveTo>
                  <a:pt x="43758" y="0"/>
                </a:moveTo>
                <a:lnTo>
                  <a:pt x="43758" y="0"/>
                </a:lnTo>
                <a:lnTo>
                  <a:pt x="43758" y="2100371"/>
                </a:ln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00124" y="4244501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262546" y="0"/>
                </a:moveTo>
                <a:lnTo>
                  <a:pt x="262546" y="0"/>
                </a:lnTo>
                <a:cubicBezTo>
                  <a:pt x="407547" y="0"/>
                  <a:pt x="525093" y="117546"/>
                  <a:pt x="525093" y="262546"/>
                </a:cubicBezTo>
                <a:lnTo>
                  <a:pt x="525093" y="262546"/>
                </a:lnTo>
                <a:cubicBezTo>
                  <a:pt x="525093" y="407547"/>
                  <a:pt x="407547" y="525093"/>
                  <a:pt x="262546" y="525093"/>
                </a:cubicBezTo>
                <a:lnTo>
                  <a:pt x="262546" y="525093"/>
                </a:lnTo>
                <a:cubicBezTo>
                  <a:pt x="117546" y="525093"/>
                  <a:pt x="0" y="407547"/>
                  <a:pt x="0" y="262546"/>
                </a:cubicBezTo>
                <a:lnTo>
                  <a:pt x="0" y="262546"/>
                </a:lnTo>
                <a:cubicBezTo>
                  <a:pt x="0" y="117546"/>
                  <a:pt x="117546" y="0"/>
                  <a:pt x="26254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65326" y="4332016"/>
            <a:ext cx="328183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56490" y="4332016"/>
            <a:ext cx="1465884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0124" y="4900867"/>
            <a:ext cx="4583623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124" y="5338444"/>
            <a:ext cx="4561744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数据分布在集群的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多个节点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上，支持并行计算。每个分区可以在不同的节点上独立处理。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74661" y="1706552"/>
            <a:ext cx="4933685" cy="7001238"/>
          </a:xfrm>
          <a:custGeom>
            <a:avLst/>
            <a:gdLst/>
            <a:ahLst/>
            <a:cxnLst/>
            <a:rect l="l" t="t" r="r" b="b"/>
            <a:pathLst>
              <a:path w="4933685" h="7001238">
                <a:moveTo>
                  <a:pt x="43758" y="0"/>
                </a:moveTo>
                <a:lnTo>
                  <a:pt x="4802400" y="0"/>
                </a:lnTo>
                <a:cubicBezTo>
                  <a:pt x="4874907" y="0"/>
                  <a:pt x="4933685" y="58778"/>
                  <a:pt x="4933685" y="131285"/>
                </a:cubicBezTo>
                <a:lnTo>
                  <a:pt x="4933685" y="6869953"/>
                </a:lnTo>
                <a:cubicBezTo>
                  <a:pt x="4933685" y="6942460"/>
                  <a:pt x="4874907" y="7001238"/>
                  <a:pt x="4802400" y="7001238"/>
                </a:cubicBez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74661" y="1706552"/>
            <a:ext cx="43758" cy="7001238"/>
          </a:xfrm>
          <a:custGeom>
            <a:avLst/>
            <a:gdLst/>
            <a:ahLst/>
            <a:cxnLst/>
            <a:rect l="l" t="t" r="r" b="b"/>
            <a:pathLst>
              <a:path w="43758" h="7001238">
                <a:moveTo>
                  <a:pt x="43758" y="0"/>
                </a:moveTo>
                <a:lnTo>
                  <a:pt x="43758" y="0"/>
                </a:lnTo>
                <a:lnTo>
                  <a:pt x="43758" y="7001238"/>
                </a:ln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15328" y="1925341"/>
            <a:ext cx="4605502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与 Java Collections 对比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5328" y="2450433"/>
            <a:ext cx="4572684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Collections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15328" y="2888011"/>
            <a:ext cx="4474229" cy="1356490"/>
          </a:xfrm>
          <a:custGeom>
            <a:avLst/>
            <a:gdLst/>
            <a:ahLst/>
            <a:cxnLst/>
            <a:rect l="l" t="t" r="r" b="b"/>
            <a:pathLst>
              <a:path w="4474229" h="1356490">
                <a:moveTo>
                  <a:pt x="43760" y="0"/>
                </a:moveTo>
                <a:lnTo>
                  <a:pt x="4430468" y="0"/>
                </a:lnTo>
                <a:cubicBezTo>
                  <a:pt x="4454637" y="0"/>
                  <a:pt x="4474229" y="19592"/>
                  <a:pt x="4474229" y="43760"/>
                </a:cubicBezTo>
                <a:lnTo>
                  <a:pt x="4474229" y="1312730"/>
                </a:lnTo>
                <a:cubicBezTo>
                  <a:pt x="4474229" y="1336898"/>
                  <a:pt x="4454637" y="1356490"/>
                  <a:pt x="4430468" y="1356490"/>
                </a:cubicBezTo>
                <a:lnTo>
                  <a:pt x="43760" y="1356490"/>
                </a:lnTo>
                <a:cubicBezTo>
                  <a:pt x="19592" y="1356490"/>
                  <a:pt x="0" y="1336898"/>
                  <a:pt x="0" y="1312730"/>
                </a:cubicBezTo>
                <a:lnTo>
                  <a:pt x="0" y="43760"/>
                </a:lnTo>
                <a:cubicBezTo>
                  <a:pt x="0" y="19608"/>
                  <a:pt x="19608" y="0"/>
                  <a:pt x="437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46602" y="3035693"/>
            <a:ext cx="4963512" cy="105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numbers = Arrays.asList(1, 2, 3, 4, 5); List doubled = numbers.stream() .map(x -&gt; x * 2) .filter(x -&gt; x &gt; 5) .collect(Collectors.toList());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15328" y="4419532"/>
            <a:ext cx="4572684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RDD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15328" y="4857109"/>
            <a:ext cx="4474229" cy="1356490"/>
          </a:xfrm>
          <a:custGeom>
            <a:avLst/>
            <a:gdLst/>
            <a:ahLst/>
            <a:cxnLst/>
            <a:rect l="l" t="t" r="r" b="b"/>
            <a:pathLst>
              <a:path w="4474229" h="1356490">
                <a:moveTo>
                  <a:pt x="43760" y="0"/>
                </a:moveTo>
                <a:lnTo>
                  <a:pt x="4430468" y="0"/>
                </a:lnTo>
                <a:cubicBezTo>
                  <a:pt x="4454637" y="0"/>
                  <a:pt x="4474229" y="19592"/>
                  <a:pt x="4474229" y="43760"/>
                </a:cubicBezTo>
                <a:lnTo>
                  <a:pt x="4474229" y="1312730"/>
                </a:lnTo>
                <a:cubicBezTo>
                  <a:pt x="4474229" y="1336898"/>
                  <a:pt x="4454637" y="1356490"/>
                  <a:pt x="4430468" y="1356490"/>
                </a:cubicBezTo>
                <a:lnTo>
                  <a:pt x="43760" y="1356490"/>
                </a:lnTo>
                <a:cubicBezTo>
                  <a:pt x="19592" y="1356490"/>
                  <a:pt x="0" y="1336898"/>
                  <a:pt x="0" y="1312730"/>
                </a:cubicBezTo>
                <a:lnTo>
                  <a:pt x="0" y="43760"/>
                </a:lnTo>
                <a:cubicBezTo>
                  <a:pt x="0" y="19608"/>
                  <a:pt x="19608" y="0"/>
                  <a:pt x="437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46602" y="5004791"/>
            <a:ext cx="4594648" cy="105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numbers = sc.parallelize(List(1, 2, 3, 4, 5)) val doubled = numbers .map(_ * 2) .filter(_ &gt; 5) .collect()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15328" y="6388630"/>
            <a:ext cx="4474229" cy="2100371"/>
          </a:xfrm>
          <a:custGeom>
            <a:avLst/>
            <a:gdLst/>
            <a:ahLst/>
            <a:cxnLst/>
            <a:rect l="l" t="t" r="r" b="b"/>
            <a:pathLst>
              <a:path w="4474229" h="2100371">
                <a:moveTo>
                  <a:pt x="43751" y="0"/>
                </a:moveTo>
                <a:lnTo>
                  <a:pt x="4430478" y="0"/>
                </a:lnTo>
                <a:cubicBezTo>
                  <a:pt x="4454641" y="0"/>
                  <a:pt x="4474229" y="19588"/>
                  <a:pt x="4474229" y="43751"/>
                </a:cubicBezTo>
                <a:lnTo>
                  <a:pt x="4474229" y="2056621"/>
                </a:lnTo>
                <a:cubicBezTo>
                  <a:pt x="4474229" y="2080784"/>
                  <a:pt x="4454641" y="2100371"/>
                  <a:pt x="4430478" y="2100371"/>
                </a:cubicBezTo>
                <a:lnTo>
                  <a:pt x="43751" y="2100371"/>
                </a:lnTo>
                <a:cubicBezTo>
                  <a:pt x="19588" y="2100371"/>
                  <a:pt x="0" y="2080784"/>
                  <a:pt x="0" y="2056621"/>
                </a:cubicBezTo>
                <a:lnTo>
                  <a:pt x="0" y="43751"/>
                </a:lnTo>
                <a:cubicBezTo>
                  <a:pt x="0" y="19604"/>
                  <a:pt x="19604" y="0"/>
                  <a:pt x="4375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090359" y="6563661"/>
            <a:ext cx="4222622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关键区别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12238" y="7044996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171817" y="95241"/>
                </a:moveTo>
                <a:cubicBezTo>
                  <a:pt x="176091" y="90968"/>
                  <a:pt x="176091" y="84029"/>
                  <a:pt x="171817" y="79755"/>
                </a:cubicBezTo>
                <a:lnTo>
                  <a:pt x="117120" y="25058"/>
                </a:lnTo>
                <a:cubicBezTo>
                  <a:pt x="112847" y="20785"/>
                  <a:pt x="105907" y="20785"/>
                  <a:pt x="101634" y="25058"/>
                </a:cubicBezTo>
                <a:cubicBezTo>
                  <a:pt x="97361" y="29331"/>
                  <a:pt x="97361" y="36271"/>
                  <a:pt x="101634" y="40544"/>
                </a:cubicBezTo>
                <a:lnTo>
                  <a:pt x="137666" y="76576"/>
                </a:lnTo>
                <a:lnTo>
                  <a:pt x="10939" y="76576"/>
                </a:lnTo>
                <a:cubicBezTo>
                  <a:pt x="4889" y="76576"/>
                  <a:pt x="0" y="81465"/>
                  <a:pt x="0" y="87515"/>
                </a:cubicBezTo>
                <a:cubicBezTo>
                  <a:pt x="0" y="93566"/>
                  <a:pt x="4889" y="98455"/>
                  <a:pt x="10939" y="98455"/>
                </a:cubicBezTo>
                <a:lnTo>
                  <a:pt x="137666" y="98455"/>
                </a:lnTo>
                <a:lnTo>
                  <a:pt x="101634" y="134487"/>
                </a:lnTo>
                <a:cubicBezTo>
                  <a:pt x="97361" y="138760"/>
                  <a:pt x="97361" y="145700"/>
                  <a:pt x="101634" y="149973"/>
                </a:cubicBezTo>
                <a:cubicBezTo>
                  <a:pt x="105907" y="154246"/>
                  <a:pt x="112847" y="154246"/>
                  <a:pt x="117120" y="149973"/>
                </a:cubicBezTo>
                <a:lnTo>
                  <a:pt x="171817" y="9527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396664" y="7001238"/>
            <a:ext cx="2001917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规模：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MB-GB vs TB-PB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12238" y="7395058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171817" y="95241"/>
                </a:moveTo>
                <a:cubicBezTo>
                  <a:pt x="176091" y="90968"/>
                  <a:pt x="176091" y="84029"/>
                  <a:pt x="171817" y="79755"/>
                </a:cubicBezTo>
                <a:lnTo>
                  <a:pt x="117120" y="25058"/>
                </a:lnTo>
                <a:cubicBezTo>
                  <a:pt x="112847" y="20785"/>
                  <a:pt x="105907" y="20785"/>
                  <a:pt x="101634" y="25058"/>
                </a:cubicBezTo>
                <a:cubicBezTo>
                  <a:pt x="97361" y="29331"/>
                  <a:pt x="97361" y="36271"/>
                  <a:pt x="101634" y="40544"/>
                </a:cubicBezTo>
                <a:lnTo>
                  <a:pt x="137666" y="76576"/>
                </a:lnTo>
                <a:lnTo>
                  <a:pt x="10939" y="76576"/>
                </a:lnTo>
                <a:cubicBezTo>
                  <a:pt x="4889" y="76576"/>
                  <a:pt x="0" y="81465"/>
                  <a:pt x="0" y="87515"/>
                </a:cubicBezTo>
                <a:cubicBezTo>
                  <a:pt x="0" y="93566"/>
                  <a:pt x="4889" y="98455"/>
                  <a:pt x="10939" y="98455"/>
                </a:cubicBezTo>
                <a:lnTo>
                  <a:pt x="137666" y="98455"/>
                </a:lnTo>
                <a:lnTo>
                  <a:pt x="101634" y="134487"/>
                </a:lnTo>
                <a:cubicBezTo>
                  <a:pt x="97361" y="138760"/>
                  <a:pt x="97361" y="145700"/>
                  <a:pt x="101634" y="149973"/>
                </a:cubicBezTo>
                <a:cubicBezTo>
                  <a:pt x="105907" y="154246"/>
                  <a:pt x="112847" y="154246"/>
                  <a:pt x="117120" y="149973"/>
                </a:cubicBezTo>
                <a:lnTo>
                  <a:pt x="171817" y="9527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96664" y="7351300"/>
            <a:ext cx="2286342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执行：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单机立即 vs 集群惰性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12238" y="7745120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171817" y="95241"/>
                </a:moveTo>
                <a:cubicBezTo>
                  <a:pt x="176091" y="90968"/>
                  <a:pt x="176091" y="84029"/>
                  <a:pt x="171817" y="79755"/>
                </a:cubicBezTo>
                <a:lnTo>
                  <a:pt x="117120" y="25058"/>
                </a:lnTo>
                <a:cubicBezTo>
                  <a:pt x="112847" y="20785"/>
                  <a:pt x="105907" y="20785"/>
                  <a:pt x="101634" y="25058"/>
                </a:cubicBezTo>
                <a:cubicBezTo>
                  <a:pt x="97361" y="29331"/>
                  <a:pt x="97361" y="36271"/>
                  <a:pt x="101634" y="40544"/>
                </a:cubicBezTo>
                <a:lnTo>
                  <a:pt x="137666" y="76576"/>
                </a:lnTo>
                <a:lnTo>
                  <a:pt x="10939" y="76576"/>
                </a:lnTo>
                <a:cubicBezTo>
                  <a:pt x="4889" y="76576"/>
                  <a:pt x="0" y="81465"/>
                  <a:pt x="0" y="87515"/>
                </a:cubicBezTo>
                <a:cubicBezTo>
                  <a:pt x="0" y="93566"/>
                  <a:pt x="4889" y="98455"/>
                  <a:pt x="10939" y="98455"/>
                </a:cubicBezTo>
                <a:lnTo>
                  <a:pt x="137666" y="98455"/>
                </a:lnTo>
                <a:lnTo>
                  <a:pt x="101634" y="134487"/>
                </a:lnTo>
                <a:cubicBezTo>
                  <a:pt x="97361" y="138760"/>
                  <a:pt x="97361" y="145700"/>
                  <a:pt x="101634" y="149973"/>
                </a:cubicBezTo>
                <a:cubicBezTo>
                  <a:pt x="105907" y="154246"/>
                  <a:pt x="112847" y="154246"/>
                  <a:pt x="117120" y="149973"/>
                </a:cubicBezTo>
                <a:lnTo>
                  <a:pt x="171817" y="9527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96664" y="7701362"/>
            <a:ext cx="2330100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容错：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JVM 异常 vs 血缘重建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12238" y="8095182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171817" y="95241"/>
                </a:moveTo>
                <a:cubicBezTo>
                  <a:pt x="176091" y="90968"/>
                  <a:pt x="176091" y="84029"/>
                  <a:pt x="171817" y="79755"/>
                </a:cubicBezTo>
                <a:lnTo>
                  <a:pt x="117120" y="25058"/>
                </a:lnTo>
                <a:cubicBezTo>
                  <a:pt x="112847" y="20785"/>
                  <a:pt x="105907" y="20785"/>
                  <a:pt x="101634" y="25058"/>
                </a:cubicBezTo>
                <a:cubicBezTo>
                  <a:pt x="97361" y="29331"/>
                  <a:pt x="97361" y="36271"/>
                  <a:pt x="101634" y="40544"/>
                </a:cubicBezTo>
                <a:lnTo>
                  <a:pt x="137666" y="76576"/>
                </a:lnTo>
                <a:lnTo>
                  <a:pt x="10939" y="76576"/>
                </a:lnTo>
                <a:cubicBezTo>
                  <a:pt x="4889" y="76576"/>
                  <a:pt x="0" y="81465"/>
                  <a:pt x="0" y="87515"/>
                </a:cubicBezTo>
                <a:cubicBezTo>
                  <a:pt x="0" y="93566"/>
                  <a:pt x="4889" y="98455"/>
                  <a:pt x="10939" y="98455"/>
                </a:cubicBezTo>
                <a:lnTo>
                  <a:pt x="137666" y="98455"/>
                </a:lnTo>
                <a:lnTo>
                  <a:pt x="101634" y="134487"/>
                </a:lnTo>
                <a:cubicBezTo>
                  <a:pt x="97361" y="138760"/>
                  <a:pt x="97361" y="145700"/>
                  <a:pt x="101634" y="149973"/>
                </a:cubicBezTo>
                <a:cubicBezTo>
                  <a:pt x="105907" y="154246"/>
                  <a:pt x="112847" y="154246"/>
                  <a:pt x="117120" y="149973"/>
                </a:cubicBezTo>
                <a:lnTo>
                  <a:pt x="171817" y="9527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396664" y="8051424"/>
            <a:ext cx="198003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并行：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 JVM vs 多节点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89951" y="1706552"/>
            <a:ext cx="4933685" cy="2100371"/>
          </a:xfrm>
          <a:custGeom>
            <a:avLst/>
            <a:gdLst/>
            <a:ahLst/>
            <a:cxnLst/>
            <a:rect l="l" t="t" r="r" b="b"/>
            <a:pathLst>
              <a:path w="4933685" h="2100371">
                <a:moveTo>
                  <a:pt x="43758" y="0"/>
                </a:moveTo>
                <a:lnTo>
                  <a:pt x="4802412" y="0"/>
                </a:lnTo>
                <a:cubicBezTo>
                  <a:pt x="4874912" y="0"/>
                  <a:pt x="4933685" y="58773"/>
                  <a:pt x="4933685" y="131273"/>
                </a:cubicBezTo>
                <a:lnTo>
                  <a:pt x="4933685" y="1969098"/>
                </a:lnTo>
                <a:cubicBezTo>
                  <a:pt x="4933685" y="2041598"/>
                  <a:pt x="4874912" y="2100371"/>
                  <a:pt x="4802412" y="2100371"/>
                </a:cubicBez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591"/>
                  <a:pt x="19591" y="0"/>
                  <a:pt x="4375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889951" y="1706552"/>
            <a:ext cx="43758" cy="2100371"/>
          </a:xfrm>
          <a:custGeom>
            <a:avLst/>
            <a:gdLst/>
            <a:ahLst/>
            <a:cxnLst/>
            <a:rect l="l" t="t" r="r" b="b"/>
            <a:pathLst>
              <a:path w="43758" h="2100371">
                <a:moveTo>
                  <a:pt x="43758" y="0"/>
                </a:moveTo>
                <a:lnTo>
                  <a:pt x="43758" y="0"/>
                </a:lnTo>
                <a:lnTo>
                  <a:pt x="43758" y="2100371"/>
                </a:lnTo>
                <a:lnTo>
                  <a:pt x="43758" y="2100371"/>
                </a:lnTo>
                <a:cubicBezTo>
                  <a:pt x="19591" y="2100371"/>
                  <a:pt x="0" y="2080780"/>
                  <a:pt x="0" y="2056614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130618" y="1925341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262546" y="0"/>
                </a:moveTo>
                <a:lnTo>
                  <a:pt x="262546" y="0"/>
                </a:lnTo>
                <a:cubicBezTo>
                  <a:pt x="407547" y="0"/>
                  <a:pt x="525093" y="117546"/>
                  <a:pt x="525093" y="262546"/>
                </a:cubicBezTo>
                <a:lnTo>
                  <a:pt x="525093" y="262546"/>
                </a:lnTo>
                <a:cubicBezTo>
                  <a:pt x="525093" y="407547"/>
                  <a:pt x="407547" y="525093"/>
                  <a:pt x="262546" y="525093"/>
                </a:cubicBezTo>
                <a:lnTo>
                  <a:pt x="262546" y="525093"/>
                </a:lnTo>
                <a:cubicBezTo>
                  <a:pt x="117546" y="525093"/>
                  <a:pt x="0" y="407547"/>
                  <a:pt x="0" y="262546"/>
                </a:cubicBezTo>
                <a:lnTo>
                  <a:pt x="0" y="262546"/>
                </a:lnTo>
                <a:cubicBezTo>
                  <a:pt x="0" y="117546"/>
                  <a:pt x="117546" y="0"/>
                  <a:pt x="26254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295821" y="2012856"/>
            <a:ext cx="328183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786985" y="2012856"/>
            <a:ext cx="1061125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30618" y="2581707"/>
            <a:ext cx="4583623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30618" y="3019284"/>
            <a:ext cx="4561744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提供类似集合的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操作接口</a:t>
            </a: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，如 map、filter、reduce 等，保持与传统集合类似的编程体验。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873542" y="4031182"/>
            <a:ext cx="4944624" cy="2264463"/>
          </a:xfrm>
          <a:custGeom>
            <a:avLst/>
            <a:gdLst/>
            <a:ahLst/>
            <a:cxnLst/>
            <a:rect l="l" t="t" r="r" b="b"/>
            <a:pathLst>
              <a:path w="4944624" h="2264463">
                <a:moveTo>
                  <a:pt x="131271" y="0"/>
                </a:moveTo>
                <a:lnTo>
                  <a:pt x="4813354" y="0"/>
                </a:lnTo>
                <a:cubicBezTo>
                  <a:pt x="4885853" y="0"/>
                  <a:pt x="4944624" y="58772"/>
                  <a:pt x="4944624" y="131271"/>
                </a:cubicBezTo>
                <a:lnTo>
                  <a:pt x="4944624" y="2133192"/>
                </a:lnTo>
                <a:cubicBezTo>
                  <a:pt x="4944624" y="2205691"/>
                  <a:pt x="4885853" y="2264463"/>
                  <a:pt x="4813354" y="2264463"/>
                </a:cubicBezTo>
                <a:lnTo>
                  <a:pt x="131271" y="2264463"/>
                </a:lnTo>
                <a:cubicBezTo>
                  <a:pt x="58772" y="2264463"/>
                  <a:pt x="0" y="2205691"/>
                  <a:pt x="0" y="2133192"/>
                </a:cubicBezTo>
                <a:lnTo>
                  <a:pt x="0" y="131271"/>
                </a:lnTo>
                <a:cubicBezTo>
                  <a:pt x="0" y="58821"/>
                  <a:pt x="58821" y="0"/>
                  <a:pt x="131271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149762" y="4310137"/>
            <a:ext cx="147682" cy="196910"/>
          </a:xfrm>
          <a:custGeom>
            <a:avLst/>
            <a:gdLst/>
            <a:ahLst/>
            <a:cxnLst/>
            <a:rect l="l" t="t" r="r" b="b"/>
            <a:pathLst>
              <a:path w="147682" h="196910">
                <a:moveTo>
                  <a:pt x="112646" y="147682"/>
                </a:moveTo>
                <a:cubicBezTo>
                  <a:pt x="115454" y="139106"/>
                  <a:pt x="121069" y="131337"/>
                  <a:pt x="127415" y="124645"/>
                </a:cubicBezTo>
                <a:cubicBezTo>
                  <a:pt x="139991" y="111416"/>
                  <a:pt x="147682" y="93532"/>
                  <a:pt x="147682" y="73841"/>
                </a:cubicBezTo>
                <a:cubicBezTo>
                  <a:pt x="147682" y="33075"/>
                  <a:pt x="114608" y="0"/>
                  <a:pt x="73841" y="0"/>
                </a:cubicBezTo>
                <a:cubicBezTo>
                  <a:pt x="33075" y="0"/>
                  <a:pt x="0" y="33075"/>
                  <a:pt x="0" y="73841"/>
                </a:cubicBezTo>
                <a:cubicBezTo>
                  <a:pt x="0" y="93532"/>
                  <a:pt x="7692" y="111416"/>
                  <a:pt x="20268" y="124645"/>
                </a:cubicBezTo>
                <a:cubicBezTo>
                  <a:pt x="26614" y="131337"/>
                  <a:pt x="32267" y="139106"/>
                  <a:pt x="35036" y="147682"/>
                </a:cubicBezTo>
                <a:lnTo>
                  <a:pt x="112608" y="147682"/>
                </a:lnTo>
                <a:close/>
                <a:moveTo>
                  <a:pt x="110762" y="166143"/>
                </a:moveTo>
                <a:lnTo>
                  <a:pt x="36921" y="166143"/>
                </a:lnTo>
                <a:lnTo>
                  <a:pt x="36921" y="172296"/>
                </a:lnTo>
                <a:cubicBezTo>
                  <a:pt x="36921" y="189295"/>
                  <a:pt x="50689" y="203063"/>
                  <a:pt x="67688" y="203063"/>
                </a:cubicBezTo>
                <a:lnTo>
                  <a:pt x="79995" y="203063"/>
                </a:lnTo>
                <a:cubicBezTo>
                  <a:pt x="96993" y="203063"/>
                  <a:pt x="110762" y="189295"/>
                  <a:pt x="110762" y="172296"/>
                </a:cubicBezTo>
                <a:lnTo>
                  <a:pt x="110762" y="166143"/>
                </a:lnTo>
                <a:close/>
                <a:moveTo>
                  <a:pt x="70764" y="43074"/>
                </a:moveTo>
                <a:cubicBezTo>
                  <a:pt x="55458" y="43074"/>
                  <a:pt x="43074" y="55458"/>
                  <a:pt x="43074" y="70764"/>
                </a:cubicBezTo>
                <a:cubicBezTo>
                  <a:pt x="43074" y="75880"/>
                  <a:pt x="38959" y="79995"/>
                  <a:pt x="33844" y="79995"/>
                </a:cubicBezTo>
                <a:cubicBezTo>
                  <a:pt x="28729" y="79995"/>
                  <a:pt x="24614" y="75880"/>
                  <a:pt x="24614" y="70764"/>
                </a:cubicBezTo>
                <a:cubicBezTo>
                  <a:pt x="24614" y="45266"/>
                  <a:pt x="45266" y="24614"/>
                  <a:pt x="70764" y="24614"/>
                </a:cubicBezTo>
                <a:cubicBezTo>
                  <a:pt x="75880" y="24614"/>
                  <a:pt x="79995" y="28729"/>
                  <a:pt x="79995" y="33844"/>
                </a:cubicBezTo>
                <a:cubicBezTo>
                  <a:pt x="79995" y="38959"/>
                  <a:pt x="75880" y="43074"/>
                  <a:pt x="70764" y="4307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349407" y="4255440"/>
            <a:ext cx="4342956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97800" y="4693017"/>
            <a:ext cx="4583623" cy="28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的三个核心理念体现了分布式计算系统的设计思想：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119679" y="5152474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87515" y="175031"/>
                </a:moveTo>
                <a:cubicBezTo>
                  <a:pt x="135817" y="175031"/>
                  <a:pt x="175031" y="135817"/>
                  <a:pt x="175031" y="87515"/>
                </a:cubicBezTo>
                <a:cubicBezTo>
                  <a:pt x="175031" y="39214"/>
                  <a:pt x="135817" y="0"/>
                  <a:pt x="87515" y="0"/>
                </a:cubicBezTo>
                <a:cubicBezTo>
                  <a:pt x="39214" y="0"/>
                  <a:pt x="0" y="39214"/>
                  <a:pt x="0" y="87515"/>
                </a:cubicBezTo>
                <a:cubicBezTo>
                  <a:pt x="0" y="135817"/>
                  <a:pt x="39214" y="175031"/>
                  <a:pt x="87515" y="175031"/>
                </a:cubicBezTo>
                <a:close/>
                <a:moveTo>
                  <a:pt x="116368" y="72713"/>
                </a:moveTo>
                <a:lnTo>
                  <a:pt x="89020" y="116471"/>
                </a:lnTo>
                <a:cubicBezTo>
                  <a:pt x="87584" y="118761"/>
                  <a:pt x="85122" y="120197"/>
                  <a:pt x="82422" y="120334"/>
                </a:cubicBezTo>
                <a:cubicBezTo>
                  <a:pt x="79721" y="120471"/>
                  <a:pt x="77123" y="119240"/>
                  <a:pt x="75516" y="117052"/>
                </a:cubicBezTo>
                <a:lnTo>
                  <a:pt x="59107" y="95173"/>
                </a:lnTo>
                <a:cubicBezTo>
                  <a:pt x="56372" y="91549"/>
                  <a:pt x="57124" y="86422"/>
                  <a:pt x="60748" y="83687"/>
                </a:cubicBezTo>
                <a:cubicBezTo>
                  <a:pt x="64372" y="80952"/>
                  <a:pt x="69500" y="81704"/>
                  <a:pt x="72234" y="85328"/>
                </a:cubicBezTo>
                <a:lnTo>
                  <a:pt x="81465" y="97634"/>
                </a:lnTo>
                <a:lnTo>
                  <a:pt x="102455" y="64030"/>
                </a:lnTo>
                <a:cubicBezTo>
                  <a:pt x="104848" y="60201"/>
                  <a:pt x="109907" y="59005"/>
                  <a:pt x="113770" y="61432"/>
                </a:cubicBezTo>
                <a:cubicBezTo>
                  <a:pt x="117633" y="63859"/>
                  <a:pt x="118795" y="68884"/>
                  <a:pt x="116368" y="7274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404104" y="5108716"/>
            <a:ext cx="166279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确保了容错能力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19679" y="5502536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87515" y="175031"/>
                </a:moveTo>
                <a:cubicBezTo>
                  <a:pt x="135817" y="175031"/>
                  <a:pt x="175031" y="135817"/>
                  <a:pt x="175031" y="87515"/>
                </a:cubicBezTo>
                <a:cubicBezTo>
                  <a:pt x="175031" y="39214"/>
                  <a:pt x="135817" y="0"/>
                  <a:pt x="87515" y="0"/>
                </a:cubicBezTo>
                <a:cubicBezTo>
                  <a:pt x="39214" y="0"/>
                  <a:pt x="0" y="39214"/>
                  <a:pt x="0" y="87515"/>
                </a:cubicBezTo>
                <a:cubicBezTo>
                  <a:pt x="0" y="135817"/>
                  <a:pt x="39214" y="175031"/>
                  <a:pt x="87515" y="175031"/>
                </a:cubicBezTo>
                <a:close/>
                <a:moveTo>
                  <a:pt x="116368" y="72713"/>
                </a:moveTo>
                <a:lnTo>
                  <a:pt x="89020" y="116471"/>
                </a:lnTo>
                <a:cubicBezTo>
                  <a:pt x="87584" y="118761"/>
                  <a:pt x="85122" y="120197"/>
                  <a:pt x="82422" y="120334"/>
                </a:cubicBezTo>
                <a:cubicBezTo>
                  <a:pt x="79721" y="120471"/>
                  <a:pt x="77123" y="119240"/>
                  <a:pt x="75516" y="117052"/>
                </a:cubicBezTo>
                <a:lnTo>
                  <a:pt x="59107" y="95173"/>
                </a:lnTo>
                <a:cubicBezTo>
                  <a:pt x="56372" y="91549"/>
                  <a:pt x="57124" y="86422"/>
                  <a:pt x="60748" y="83687"/>
                </a:cubicBezTo>
                <a:cubicBezTo>
                  <a:pt x="64372" y="80952"/>
                  <a:pt x="69500" y="81704"/>
                  <a:pt x="72234" y="85328"/>
                </a:cubicBezTo>
                <a:lnTo>
                  <a:pt x="81465" y="97634"/>
                </a:lnTo>
                <a:lnTo>
                  <a:pt x="102455" y="64030"/>
                </a:lnTo>
                <a:cubicBezTo>
                  <a:pt x="104848" y="60201"/>
                  <a:pt x="109907" y="59005"/>
                  <a:pt x="113770" y="61432"/>
                </a:cubicBezTo>
                <a:cubicBezTo>
                  <a:pt x="117633" y="63859"/>
                  <a:pt x="118795" y="68884"/>
                  <a:pt x="116368" y="7274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404104" y="5458778"/>
            <a:ext cx="1837825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强调了并行计算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119679" y="5852598"/>
            <a:ext cx="175031" cy="175031"/>
          </a:xfrm>
          <a:custGeom>
            <a:avLst/>
            <a:gdLst/>
            <a:ahLst/>
            <a:cxnLst/>
            <a:rect l="l" t="t" r="r" b="b"/>
            <a:pathLst>
              <a:path w="175031" h="175031">
                <a:moveTo>
                  <a:pt x="87515" y="175031"/>
                </a:moveTo>
                <a:cubicBezTo>
                  <a:pt x="135817" y="175031"/>
                  <a:pt x="175031" y="135817"/>
                  <a:pt x="175031" y="87515"/>
                </a:cubicBezTo>
                <a:cubicBezTo>
                  <a:pt x="175031" y="39214"/>
                  <a:pt x="135817" y="0"/>
                  <a:pt x="87515" y="0"/>
                </a:cubicBezTo>
                <a:cubicBezTo>
                  <a:pt x="39214" y="0"/>
                  <a:pt x="0" y="39214"/>
                  <a:pt x="0" y="87515"/>
                </a:cubicBezTo>
                <a:cubicBezTo>
                  <a:pt x="0" y="135817"/>
                  <a:pt x="39214" y="175031"/>
                  <a:pt x="87515" y="175031"/>
                </a:cubicBezTo>
                <a:close/>
                <a:moveTo>
                  <a:pt x="116368" y="72713"/>
                </a:moveTo>
                <a:lnTo>
                  <a:pt x="89020" y="116471"/>
                </a:lnTo>
                <a:cubicBezTo>
                  <a:pt x="87584" y="118761"/>
                  <a:pt x="85122" y="120197"/>
                  <a:pt x="82422" y="120334"/>
                </a:cubicBezTo>
                <a:cubicBezTo>
                  <a:pt x="79721" y="120471"/>
                  <a:pt x="77123" y="119240"/>
                  <a:pt x="75516" y="117052"/>
                </a:cubicBezTo>
                <a:lnTo>
                  <a:pt x="59107" y="95173"/>
                </a:lnTo>
                <a:cubicBezTo>
                  <a:pt x="56372" y="91549"/>
                  <a:pt x="57124" y="86422"/>
                  <a:pt x="60748" y="83687"/>
                </a:cubicBezTo>
                <a:cubicBezTo>
                  <a:pt x="64372" y="80952"/>
                  <a:pt x="69500" y="81704"/>
                  <a:pt x="72234" y="85328"/>
                </a:cubicBezTo>
                <a:lnTo>
                  <a:pt x="81465" y="97634"/>
                </a:lnTo>
                <a:lnTo>
                  <a:pt x="102455" y="64030"/>
                </a:lnTo>
                <a:cubicBezTo>
                  <a:pt x="104848" y="60201"/>
                  <a:pt x="109907" y="59005"/>
                  <a:pt x="113770" y="61432"/>
                </a:cubicBezTo>
                <a:cubicBezTo>
                  <a:pt x="117633" y="63859"/>
                  <a:pt x="118795" y="68884"/>
                  <a:pt x="116368" y="7274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404104" y="5808840"/>
            <a:ext cx="236291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数据集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保持了操作接口一致性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822" y="526704"/>
            <a:ext cx="95764" cy="478822"/>
          </a:xfrm>
          <a:custGeom>
            <a:avLst/>
            <a:gdLst/>
            <a:ahLst/>
            <a:cxnLst/>
            <a:rect l="l" t="t" r="r" b="b"/>
            <a:pathLst>
              <a:path w="95764" h="478822">
                <a:moveTo>
                  <a:pt x="0" y="0"/>
                </a:moveTo>
                <a:lnTo>
                  <a:pt x="95764" y="0"/>
                </a:lnTo>
                <a:lnTo>
                  <a:pt x="95764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6115" y="478822"/>
            <a:ext cx="3567222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24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的核心特性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6115" y="1292819"/>
            <a:ext cx="15130769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四大核心特性确保分布式计算的可靠性和性能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763" y="1867405"/>
            <a:ext cx="7481591" cy="3160224"/>
          </a:xfrm>
          <a:custGeom>
            <a:avLst/>
            <a:gdLst/>
            <a:ahLst/>
            <a:cxnLst/>
            <a:rect l="l" t="t" r="r" b="b"/>
            <a:pathLst>
              <a:path w="7481591" h="3160224">
                <a:moveTo>
                  <a:pt x="47882" y="0"/>
                </a:moveTo>
                <a:lnTo>
                  <a:pt x="7337958" y="0"/>
                </a:lnTo>
                <a:cubicBezTo>
                  <a:pt x="7417284" y="0"/>
                  <a:pt x="7481591" y="64306"/>
                  <a:pt x="7481591" y="143632"/>
                </a:cubicBezTo>
                <a:lnTo>
                  <a:pt x="7481591" y="3016592"/>
                </a:lnTo>
                <a:cubicBezTo>
                  <a:pt x="7481591" y="3095918"/>
                  <a:pt x="7417284" y="3160224"/>
                  <a:pt x="7337958" y="3160224"/>
                </a:cubicBezTo>
                <a:lnTo>
                  <a:pt x="47882" y="3160224"/>
                </a:lnTo>
                <a:cubicBezTo>
                  <a:pt x="21438" y="3160224"/>
                  <a:pt x="0" y="3138786"/>
                  <a:pt x="0" y="31123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763" y="1867405"/>
            <a:ext cx="47882" cy="3160224"/>
          </a:xfrm>
          <a:custGeom>
            <a:avLst/>
            <a:gdLst/>
            <a:ahLst/>
            <a:cxnLst/>
            <a:rect l="l" t="t" r="r" b="b"/>
            <a:pathLst>
              <a:path w="47882" h="3160224">
                <a:moveTo>
                  <a:pt x="47882" y="0"/>
                </a:moveTo>
                <a:lnTo>
                  <a:pt x="47882" y="0"/>
                </a:lnTo>
                <a:lnTo>
                  <a:pt x="47882" y="3160224"/>
                </a:lnTo>
                <a:lnTo>
                  <a:pt x="47882" y="3160224"/>
                </a:lnTo>
                <a:cubicBezTo>
                  <a:pt x="21438" y="3160224"/>
                  <a:pt x="0" y="3138786"/>
                  <a:pt x="0" y="31123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7938" y="2154698"/>
            <a:ext cx="215470" cy="287293"/>
          </a:xfrm>
          <a:custGeom>
            <a:avLst/>
            <a:gdLst/>
            <a:ahLst/>
            <a:cxnLst/>
            <a:rect l="l" t="t" r="r" b="b"/>
            <a:pathLst>
              <a:path w="215470" h="287293">
                <a:moveTo>
                  <a:pt x="71823" y="53867"/>
                </a:moveTo>
                <a:lnTo>
                  <a:pt x="71823" y="89779"/>
                </a:lnTo>
                <a:lnTo>
                  <a:pt x="143647" y="89779"/>
                </a:lnTo>
                <a:lnTo>
                  <a:pt x="143647" y="53867"/>
                </a:lnTo>
                <a:cubicBezTo>
                  <a:pt x="143647" y="34060"/>
                  <a:pt x="127542" y="17956"/>
                  <a:pt x="107735" y="17956"/>
                </a:cubicBezTo>
                <a:cubicBezTo>
                  <a:pt x="87927" y="17956"/>
                  <a:pt x="71823" y="34060"/>
                  <a:pt x="71823" y="53867"/>
                </a:cubicBezTo>
                <a:close/>
                <a:moveTo>
                  <a:pt x="35912" y="89779"/>
                </a:moveTo>
                <a:lnTo>
                  <a:pt x="35912" y="53867"/>
                </a:lnTo>
                <a:cubicBezTo>
                  <a:pt x="35912" y="14196"/>
                  <a:pt x="68064" y="-17956"/>
                  <a:pt x="107735" y="-17956"/>
                </a:cubicBezTo>
                <a:cubicBezTo>
                  <a:pt x="147406" y="-17956"/>
                  <a:pt x="179558" y="14196"/>
                  <a:pt x="179558" y="53867"/>
                </a:cubicBezTo>
                <a:lnTo>
                  <a:pt x="179558" y="89779"/>
                </a:lnTo>
                <a:cubicBezTo>
                  <a:pt x="199366" y="89779"/>
                  <a:pt x="215470" y="105883"/>
                  <a:pt x="215470" y="125691"/>
                </a:cubicBezTo>
                <a:lnTo>
                  <a:pt x="215470" y="251381"/>
                </a:lnTo>
                <a:cubicBezTo>
                  <a:pt x="215470" y="271189"/>
                  <a:pt x="199366" y="287293"/>
                  <a:pt x="179558" y="287293"/>
                </a:cubicBezTo>
                <a:lnTo>
                  <a:pt x="35912" y="287293"/>
                </a:lnTo>
                <a:cubicBezTo>
                  <a:pt x="16104" y="287293"/>
                  <a:pt x="0" y="271189"/>
                  <a:pt x="0" y="251381"/>
                </a:cubicBezTo>
                <a:lnTo>
                  <a:pt x="0" y="125691"/>
                </a:lnTo>
                <a:cubicBezTo>
                  <a:pt x="0" y="105883"/>
                  <a:pt x="16104" y="89779"/>
                  <a:pt x="35912" y="8977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68878" y="2106816"/>
            <a:ext cx="3758751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不可变性（Immutability）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6115" y="2633520"/>
            <a:ext cx="707459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一旦创建就不能修改，任何转换操作都会生成新的 RDD。这种设计简化了并发控制，避免了分布式环境下的数据一致性问题。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6115" y="3399635"/>
            <a:ext cx="6978828" cy="1005526"/>
          </a:xfrm>
          <a:custGeom>
            <a:avLst/>
            <a:gdLst/>
            <a:ahLst/>
            <a:cxnLst/>
            <a:rect l="l" t="t" r="r" b="b"/>
            <a:pathLst>
              <a:path w="6978828" h="1005526">
                <a:moveTo>
                  <a:pt x="47883" y="0"/>
                </a:moveTo>
                <a:lnTo>
                  <a:pt x="6930945" y="0"/>
                </a:lnTo>
                <a:cubicBezTo>
                  <a:pt x="6957390" y="0"/>
                  <a:pt x="6978828" y="21438"/>
                  <a:pt x="6978828" y="47883"/>
                </a:cubicBezTo>
                <a:lnTo>
                  <a:pt x="6978828" y="957643"/>
                </a:lnTo>
                <a:cubicBezTo>
                  <a:pt x="6978828" y="984088"/>
                  <a:pt x="6957390" y="1005526"/>
                  <a:pt x="6930945" y="1005526"/>
                </a:cubicBezTo>
                <a:lnTo>
                  <a:pt x="47883" y="1005526"/>
                </a:lnTo>
                <a:cubicBezTo>
                  <a:pt x="21438" y="1005526"/>
                  <a:pt x="0" y="984088"/>
                  <a:pt x="0" y="957643"/>
                </a:cubicBezTo>
                <a:lnTo>
                  <a:pt x="0" y="47883"/>
                </a:lnTo>
                <a:cubicBezTo>
                  <a:pt x="0" y="21456"/>
                  <a:pt x="21456" y="0"/>
                  <a:pt x="478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09761" y="3561237"/>
            <a:ext cx="5027722" cy="67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numbers = sc.parallelize(List(1, 2, 3, 4, 5)) val doubled = numbers.map(_ * 2) // numbers RDD 保持不变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997" y="4554792"/>
            <a:ext cx="143647" cy="191529"/>
          </a:xfrm>
          <a:custGeom>
            <a:avLst/>
            <a:gdLst/>
            <a:ahLst/>
            <a:cxnLst/>
            <a:rect l="l" t="t" r="r" b="b"/>
            <a:pathLst>
              <a:path w="143647" h="191529">
                <a:moveTo>
                  <a:pt x="109568" y="143647"/>
                </a:moveTo>
                <a:cubicBezTo>
                  <a:pt x="112299" y="135305"/>
                  <a:pt x="117760" y="127748"/>
                  <a:pt x="123933" y="121239"/>
                </a:cubicBezTo>
                <a:cubicBezTo>
                  <a:pt x="136165" y="108371"/>
                  <a:pt x="143647" y="90976"/>
                  <a:pt x="143647" y="71823"/>
                </a:cubicBezTo>
                <a:cubicBezTo>
                  <a:pt x="143647" y="32171"/>
                  <a:pt x="111476" y="0"/>
                  <a:pt x="71823" y="0"/>
                </a:cubicBezTo>
                <a:cubicBezTo>
                  <a:pt x="32171" y="0"/>
                  <a:pt x="0" y="32171"/>
                  <a:pt x="0" y="71823"/>
                </a:cubicBezTo>
                <a:cubicBezTo>
                  <a:pt x="0" y="90976"/>
                  <a:pt x="7482" y="108371"/>
                  <a:pt x="19714" y="121239"/>
                </a:cubicBezTo>
                <a:cubicBezTo>
                  <a:pt x="25886" y="127748"/>
                  <a:pt x="31385" y="135305"/>
                  <a:pt x="34079" y="143647"/>
                </a:cubicBezTo>
                <a:lnTo>
                  <a:pt x="109530" y="143647"/>
                </a:lnTo>
                <a:close/>
                <a:moveTo>
                  <a:pt x="107735" y="161602"/>
                </a:moveTo>
                <a:lnTo>
                  <a:pt x="35912" y="161602"/>
                </a:lnTo>
                <a:lnTo>
                  <a:pt x="35912" y="167588"/>
                </a:lnTo>
                <a:cubicBezTo>
                  <a:pt x="35912" y="184122"/>
                  <a:pt x="49304" y="197514"/>
                  <a:pt x="65838" y="197514"/>
                </a:cubicBezTo>
                <a:lnTo>
                  <a:pt x="77809" y="197514"/>
                </a:lnTo>
                <a:cubicBezTo>
                  <a:pt x="94343" y="197514"/>
                  <a:pt x="107735" y="184122"/>
                  <a:pt x="107735" y="167588"/>
                </a:cubicBezTo>
                <a:lnTo>
                  <a:pt x="107735" y="161602"/>
                </a:lnTo>
                <a:close/>
                <a:moveTo>
                  <a:pt x="68831" y="41897"/>
                </a:moveTo>
                <a:cubicBezTo>
                  <a:pt x="53942" y="41897"/>
                  <a:pt x="41897" y="53942"/>
                  <a:pt x="41897" y="68831"/>
                </a:cubicBezTo>
                <a:cubicBezTo>
                  <a:pt x="41897" y="73806"/>
                  <a:pt x="37894" y="77809"/>
                  <a:pt x="32919" y="77809"/>
                </a:cubicBezTo>
                <a:cubicBezTo>
                  <a:pt x="27944" y="77809"/>
                  <a:pt x="23941" y="73806"/>
                  <a:pt x="23941" y="68831"/>
                </a:cubicBezTo>
                <a:cubicBezTo>
                  <a:pt x="23941" y="44029"/>
                  <a:pt x="44029" y="23941"/>
                  <a:pt x="68831" y="23941"/>
                </a:cubicBezTo>
                <a:cubicBezTo>
                  <a:pt x="73806" y="23941"/>
                  <a:pt x="77809" y="27944"/>
                  <a:pt x="77809" y="32919"/>
                </a:cubicBezTo>
                <a:cubicBezTo>
                  <a:pt x="77809" y="37894"/>
                  <a:pt x="73806" y="41897"/>
                  <a:pt x="68831" y="4189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95790" y="4500925"/>
            <a:ext cx="674491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不可变性使得 RDD 可以安全地共享和缓存，无需担心数据被修改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763" y="5267040"/>
            <a:ext cx="7481591" cy="3399635"/>
          </a:xfrm>
          <a:custGeom>
            <a:avLst/>
            <a:gdLst/>
            <a:ahLst/>
            <a:cxnLst/>
            <a:rect l="l" t="t" r="r" b="b"/>
            <a:pathLst>
              <a:path w="7481591" h="3399635">
                <a:moveTo>
                  <a:pt x="47882" y="0"/>
                </a:moveTo>
                <a:lnTo>
                  <a:pt x="7337956" y="0"/>
                </a:lnTo>
                <a:cubicBezTo>
                  <a:pt x="7417283" y="0"/>
                  <a:pt x="7481591" y="64307"/>
                  <a:pt x="7481591" y="143635"/>
                </a:cubicBezTo>
                <a:lnTo>
                  <a:pt x="7481591" y="3256000"/>
                </a:lnTo>
                <a:cubicBezTo>
                  <a:pt x="7481591" y="3335327"/>
                  <a:pt x="7417283" y="3399635"/>
                  <a:pt x="7337956" y="3399635"/>
                </a:cubicBezTo>
                <a:lnTo>
                  <a:pt x="47882" y="3399635"/>
                </a:lnTo>
                <a:cubicBezTo>
                  <a:pt x="21438" y="3399635"/>
                  <a:pt x="0" y="3378197"/>
                  <a:pt x="0" y="3351753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763" y="5267040"/>
            <a:ext cx="47882" cy="3399635"/>
          </a:xfrm>
          <a:custGeom>
            <a:avLst/>
            <a:gdLst/>
            <a:ahLst/>
            <a:cxnLst/>
            <a:rect l="l" t="t" r="r" b="b"/>
            <a:pathLst>
              <a:path w="47882" h="3399635">
                <a:moveTo>
                  <a:pt x="47882" y="0"/>
                </a:moveTo>
                <a:lnTo>
                  <a:pt x="47882" y="0"/>
                </a:lnTo>
                <a:lnTo>
                  <a:pt x="47882" y="3399635"/>
                </a:lnTo>
                <a:lnTo>
                  <a:pt x="47882" y="3399635"/>
                </a:lnTo>
                <a:cubicBezTo>
                  <a:pt x="21438" y="3399635"/>
                  <a:pt x="0" y="3378197"/>
                  <a:pt x="0" y="3351753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2027" y="5554333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cubicBezTo>
                  <a:pt x="222927" y="0"/>
                  <a:pt x="287293" y="64366"/>
                  <a:pt x="287293" y="143647"/>
                </a:cubicBezTo>
                <a:cubicBezTo>
                  <a:pt x="287293" y="222927"/>
                  <a:pt x="222927" y="287293"/>
                  <a:pt x="143647" y="287293"/>
                </a:cubicBezTo>
                <a:cubicBezTo>
                  <a:pt x="64366" y="287293"/>
                  <a:pt x="0" y="222927"/>
                  <a:pt x="0" y="143647"/>
                </a:cubicBezTo>
                <a:cubicBezTo>
                  <a:pt x="0" y="64366"/>
                  <a:pt x="64366" y="0"/>
                  <a:pt x="143647" y="0"/>
                </a:cubicBezTo>
                <a:close/>
                <a:moveTo>
                  <a:pt x="130180" y="67334"/>
                </a:moveTo>
                <a:lnTo>
                  <a:pt x="130180" y="143647"/>
                </a:lnTo>
                <a:cubicBezTo>
                  <a:pt x="130180" y="148135"/>
                  <a:pt x="132424" y="152344"/>
                  <a:pt x="136184" y="154869"/>
                </a:cubicBezTo>
                <a:lnTo>
                  <a:pt x="190051" y="190781"/>
                </a:lnTo>
                <a:cubicBezTo>
                  <a:pt x="196223" y="194933"/>
                  <a:pt x="204584" y="193249"/>
                  <a:pt x="208736" y="187021"/>
                </a:cubicBezTo>
                <a:cubicBezTo>
                  <a:pt x="212889" y="180793"/>
                  <a:pt x="211205" y="172488"/>
                  <a:pt x="204977" y="168336"/>
                </a:cubicBezTo>
                <a:lnTo>
                  <a:pt x="157113" y="136464"/>
                </a:lnTo>
                <a:lnTo>
                  <a:pt x="157113" y="67334"/>
                </a:lnTo>
                <a:cubicBezTo>
                  <a:pt x="157113" y="59871"/>
                  <a:pt x="151109" y="53867"/>
                  <a:pt x="143647" y="53867"/>
                </a:cubicBezTo>
                <a:cubicBezTo>
                  <a:pt x="136184" y="53867"/>
                  <a:pt x="130180" y="59871"/>
                  <a:pt x="130180" y="67334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68878" y="5506451"/>
            <a:ext cx="422560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惰性求值（Lazy Evaluation）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6115" y="6033155"/>
            <a:ext cx="707459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转换操作不会立即执行，只有遇到行动操作时才触发实际计算。这种设计允许 Spark 进行全局优化。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6115" y="6799270"/>
            <a:ext cx="6978828" cy="1244937"/>
          </a:xfrm>
          <a:custGeom>
            <a:avLst/>
            <a:gdLst/>
            <a:ahLst/>
            <a:cxnLst/>
            <a:rect l="l" t="t" r="r" b="b"/>
            <a:pathLst>
              <a:path w="6978828" h="1244937">
                <a:moveTo>
                  <a:pt x="47880" y="0"/>
                </a:moveTo>
                <a:lnTo>
                  <a:pt x="6930947" y="0"/>
                </a:lnTo>
                <a:cubicBezTo>
                  <a:pt x="6957391" y="0"/>
                  <a:pt x="6978828" y="21437"/>
                  <a:pt x="6978828" y="47880"/>
                </a:cubicBezTo>
                <a:lnTo>
                  <a:pt x="6978828" y="1197056"/>
                </a:lnTo>
                <a:cubicBezTo>
                  <a:pt x="6978828" y="1223500"/>
                  <a:pt x="6957391" y="1244937"/>
                  <a:pt x="6930947" y="1244937"/>
                </a:cubicBezTo>
                <a:lnTo>
                  <a:pt x="47880" y="1244937"/>
                </a:lnTo>
                <a:cubicBezTo>
                  <a:pt x="21437" y="1244937"/>
                  <a:pt x="0" y="1223500"/>
                  <a:pt x="0" y="1197056"/>
                </a:cubicBezTo>
                <a:lnTo>
                  <a:pt x="0" y="47880"/>
                </a:lnTo>
                <a:cubicBezTo>
                  <a:pt x="0" y="21454"/>
                  <a:pt x="21454" y="0"/>
                  <a:pt x="4788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9761" y="6960872"/>
            <a:ext cx="6337655" cy="91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textFile = sc.textFile("input.txt") // 不执行 val words = textFile.flatMap(_.split(" ")) // 不执行 val wordCount = words.map((_, 1)).reduceByKey(_ + _) // 不执行 wordCount.collect() // 行动操作，触发计算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997" y="8193838"/>
            <a:ext cx="143647" cy="191529"/>
          </a:xfrm>
          <a:custGeom>
            <a:avLst/>
            <a:gdLst/>
            <a:ahLst/>
            <a:cxnLst/>
            <a:rect l="l" t="t" r="r" b="b"/>
            <a:pathLst>
              <a:path w="143647" h="191529">
                <a:moveTo>
                  <a:pt x="109568" y="143647"/>
                </a:moveTo>
                <a:cubicBezTo>
                  <a:pt x="112299" y="135305"/>
                  <a:pt x="117760" y="127748"/>
                  <a:pt x="123933" y="121239"/>
                </a:cubicBezTo>
                <a:cubicBezTo>
                  <a:pt x="136165" y="108371"/>
                  <a:pt x="143647" y="90976"/>
                  <a:pt x="143647" y="71823"/>
                </a:cubicBezTo>
                <a:cubicBezTo>
                  <a:pt x="143647" y="32171"/>
                  <a:pt x="111476" y="0"/>
                  <a:pt x="71823" y="0"/>
                </a:cubicBezTo>
                <a:cubicBezTo>
                  <a:pt x="32171" y="0"/>
                  <a:pt x="0" y="32171"/>
                  <a:pt x="0" y="71823"/>
                </a:cubicBezTo>
                <a:cubicBezTo>
                  <a:pt x="0" y="90976"/>
                  <a:pt x="7482" y="108371"/>
                  <a:pt x="19714" y="121239"/>
                </a:cubicBezTo>
                <a:cubicBezTo>
                  <a:pt x="25886" y="127748"/>
                  <a:pt x="31385" y="135305"/>
                  <a:pt x="34079" y="143647"/>
                </a:cubicBezTo>
                <a:lnTo>
                  <a:pt x="109530" y="143647"/>
                </a:lnTo>
                <a:close/>
                <a:moveTo>
                  <a:pt x="107735" y="161602"/>
                </a:moveTo>
                <a:lnTo>
                  <a:pt x="35912" y="161602"/>
                </a:lnTo>
                <a:lnTo>
                  <a:pt x="35912" y="167588"/>
                </a:lnTo>
                <a:cubicBezTo>
                  <a:pt x="35912" y="184122"/>
                  <a:pt x="49304" y="197514"/>
                  <a:pt x="65838" y="197514"/>
                </a:cubicBezTo>
                <a:lnTo>
                  <a:pt x="77809" y="197514"/>
                </a:lnTo>
                <a:cubicBezTo>
                  <a:pt x="94343" y="197514"/>
                  <a:pt x="107735" y="184122"/>
                  <a:pt x="107735" y="167588"/>
                </a:cubicBezTo>
                <a:lnTo>
                  <a:pt x="107735" y="161602"/>
                </a:lnTo>
                <a:close/>
                <a:moveTo>
                  <a:pt x="68831" y="41897"/>
                </a:moveTo>
                <a:cubicBezTo>
                  <a:pt x="53942" y="41897"/>
                  <a:pt x="41897" y="53942"/>
                  <a:pt x="41897" y="68831"/>
                </a:cubicBezTo>
                <a:cubicBezTo>
                  <a:pt x="41897" y="73806"/>
                  <a:pt x="37894" y="77809"/>
                  <a:pt x="32919" y="77809"/>
                </a:cubicBezTo>
                <a:cubicBezTo>
                  <a:pt x="27944" y="77809"/>
                  <a:pt x="23941" y="73806"/>
                  <a:pt x="23941" y="68831"/>
                </a:cubicBezTo>
                <a:cubicBezTo>
                  <a:pt x="23941" y="44029"/>
                  <a:pt x="44029" y="23941"/>
                  <a:pt x="68831" y="23941"/>
                </a:cubicBezTo>
                <a:cubicBezTo>
                  <a:pt x="73806" y="23941"/>
                  <a:pt x="77809" y="27944"/>
                  <a:pt x="77809" y="32919"/>
                </a:cubicBezTo>
                <a:cubicBezTo>
                  <a:pt x="77809" y="37894"/>
                  <a:pt x="73806" y="41897"/>
                  <a:pt x="68831" y="4189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95790" y="8139971"/>
            <a:ext cx="674491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惰性求值使得 Spark 可以构建优化的执行计划，如管道化执行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96897" y="1867405"/>
            <a:ext cx="7481591" cy="3160224"/>
          </a:xfrm>
          <a:custGeom>
            <a:avLst/>
            <a:gdLst/>
            <a:ahLst/>
            <a:cxnLst/>
            <a:rect l="l" t="t" r="r" b="b"/>
            <a:pathLst>
              <a:path w="7481591" h="3160224">
                <a:moveTo>
                  <a:pt x="47882" y="0"/>
                </a:moveTo>
                <a:lnTo>
                  <a:pt x="7337958" y="0"/>
                </a:lnTo>
                <a:cubicBezTo>
                  <a:pt x="7417284" y="0"/>
                  <a:pt x="7481591" y="64306"/>
                  <a:pt x="7481591" y="143632"/>
                </a:cubicBezTo>
                <a:lnTo>
                  <a:pt x="7481591" y="3016592"/>
                </a:lnTo>
                <a:cubicBezTo>
                  <a:pt x="7481591" y="3095918"/>
                  <a:pt x="7417284" y="3160224"/>
                  <a:pt x="7337958" y="3160224"/>
                </a:cubicBezTo>
                <a:lnTo>
                  <a:pt x="47882" y="3160224"/>
                </a:lnTo>
                <a:cubicBezTo>
                  <a:pt x="21438" y="3160224"/>
                  <a:pt x="0" y="3138786"/>
                  <a:pt x="0" y="31123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96897" y="1867405"/>
            <a:ext cx="47882" cy="3160224"/>
          </a:xfrm>
          <a:custGeom>
            <a:avLst/>
            <a:gdLst/>
            <a:ahLst/>
            <a:cxnLst/>
            <a:rect l="l" t="t" r="r" b="b"/>
            <a:pathLst>
              <a:path w="47882" h="3160224">
                <a:moveTo>
                  <a:pt x="47882" y="0"/>
                </a:moveTo>
                <a:lnTo>
                  <a:pt x="47882" y="0"/>
                </a:lnTo>
                <a:lnTo>
                  <a:pt x="47882" y="3160224"/>
                </a:lnTo>
                <a:lnTo>
                  <a:pt x="47882" y="3160224"/>
                </a:lnTo>
                <a:cubicBezTo>
                  <a:pt x="21438" y="3160224"/>
                  <a:pt x="0" y="3138786"/>
                  <a:pt x="0" y="31123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96161" y="2154698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07735" y="35912"/>
                </a:moveTo>
                <a:cubicBezTo>
                  <a:pt x="107735" y="25980"/>
                  <a:pt x="115759" y="17956"/>
                  <a:pt x="125691" y="17956"/>
                </a:cubicBezTo>
                <a:lnTo>
                  <a:pt x="161602" y="17956"/>
                </a:lnTo>
                <a:cubicBezTo>
                  <a:pt x="171534" y="17956"/>
                  <a:pt x="179558" y="25980"/>
                  <a:pt x="179558" y="35912"/>
                </a:cubicBezTo>
                <a:lnTo>
                  <a:pt x="179558" y="71823"/>
                </a:lnTo>
                <a:cubicBezTo>
                  <a:pt x="179558" y="81755"/>
                  <a:pt x="171534" y="89779"/>
                  <a:pt x="161602" y="89779"/>
                </a:cubicBezTo>
                <a:lnTo>
                  <a:pt x="157113" y="89779"/>
                </a:lnTo>
                <a:lnTo>
                  <a:pt x="157113" y="125691"/>
                </a:lnTo>
                <a:lnTo>
                  <a:pt x="224448" y="125691"/>
                </a:lnTo>
                <a:cubicBezTo>
                  <a:pt x="246780" y="125691"/>
                  <a:pt x="264848" y="143759"/>
                  <a:pt x="264848" y="166091"/>
                </a:cubicBezTo>
                <a:lnTo>
                  <a:pt x="264848" y="197514"/>
                </a:lnTo>
                <a:lnTo>
                  <a:pt x="269337" y="197514"/>
                </a:lnTo>
                <a:cubicBezTo>
                  <a:pt x="279269" y="197514"/>
                  <a:pt x="287293" y="205538"/>
                  <a:pt x="287293" y="215470"/>
                </a:cubicBezTo>
                <a:lnTo>
                  <a:pt x="287293" y="251381"/>
                </a:lnTo>
                <a:cubicBezTo>
                  <a:pt x="287293" y="261313"/>
                  <a:pt x="279269" y="269337"/>
                  <a:pt x="269337" y="269337"/>
                </a:cubicBezTo>
                <a:lnTo>
                  <a:pt x="233426" y="269337"/>
                </a:lnTo>
                <a:cubicBezTo>
                  <a:pt x="223494" y="269337"/>
                  <a:pt x="215470" y="261313"/>
                  <a:pt x="215470" y="251381"/>
                </a:cubicBezTo>
                <a:lnTo>
                  <a:pt x="215470" y="215470"/>
                </a:lnTo>
                <a:cubicBezTo>
                  <a:pt x="215470" y="205538"/>
                  <a:pt x="223494" y="197514"/>
                  <a:pt x="233426" y="197514"/>
                </a:cubicBezTo>
                <a:lnTo>
                  <a:pt x="237915" y="197514"/>
                </a:lnTo>
                <a:lnTo>
                  <a:pt x="237915" y="166091"/>
                </a:lnTo>
                <a:cubicBezTo>
                  <a:pt x="237915" y="158628"/>
                  <a:pt x="231911" y="152624"/>
                  <a:pt x="224448" y="152624"/>
                </a:cubicBezTo>
                <a:lnTo>
                  <a:pt x="157113" y="152624"/>
                </a:lnTo>
                <a:lnTo>
                  <a:pt x="157113" y="197514"/>
                </a:lnTo>
                <a:lnTo>
                  <a:pt x="161602" y="197514"/>
                </a:lnTo>
                <a:cubicBezTo>
                  <a:pt x="171534" y="197514"/>
                  <a:pt x="179558" y="205538"/>
                  <a:pt x="179558" y="215470"/>
                </a:cubicBezTo>
                <a:lnTo>
                  <a:pt x="179558" y="251381"/>
                </a:lnTo>
                <a:cubicBezTo>
                  <a:pt x="179558" y="261313"/>
                  <a:pt x="171534" y="269337"/>
                  <a:pt x="161602" y="269337"/>
                </a:cubicBezTo>
                <a:lnTo>
                  <a:pt x="125691" y="269337"/>
                </a:lnTo>
                <a:cubicBezTo>
                  <a:pt x="115759" y="269337"/>
                  <a:pt x="107735" y="261313"/>
                  <a:pt x="107735" y="251381"/>
                </a:cubicBezTo>
                <a:lnTo>
                  <a:pt x="107735" y="215470"/>
                </a:lnTo>
                <a:cubicBezTo>
                  <a:pt x="107735" y="205538"/>
                  <a:pt x="115759" y="197514"/>
                  <a:pt x="125691" y="197514"/>
                </a:cubicBezTo>
                <a:lnTo>
                  <a:pt x="130180" y="197514"/>
                </a:lnTo>
                <a:lnTo>
                  <a:pt x="130180" y="152624"/>
                </a:lnTo>
                <a:lnTo>
                  <a:pt x="62845" y="152624"/>
                </a:lnTo>
                <a:cubicBezTo>
                  <a:pt x="55382" y="152624"/>
                  <a:pt x="49378" y="158628"/>
                  <a:pt x="49378" y="166091"/>
                </a:cubicBezTo>
                <a:lnTo>
                  <a:pt x="49378" y="197514"/>
                </a:lnTo>
                <a:lnTo>
                  <a:pt x="53867" y="197514"/>
                </a:lnTo>
                <a:cubicBezTo>
                  <a:pt x="63799" y="197514"/>
                  <a:pt x="71823" y="205538"/>
                  <a:pt x="71823" y="215470"/>
                </a:cubicBezTo>
                <a:lnTo>
                  <a:pt x="71823" y="251381"/>
                </a:lnTo>
                <a:cubicBezTo>
                  <a:pt x="71823" y="261313"/>
                  <a:pt x="63799" y="269337"/>
                  <a:pt x="53867" y="269337"/>
                </a:cubicBezTo>
                <a:lnTo>
                  <a:pt x="17956" y="269337"/>
                </a:lnTo>
                <a:cubicBezTo>
                  <a:pt x="8024" y="269337"/>
                  <a:pt x="0" y="261313"/>
                  <a:pt x="0" y="251381"/>
                </a:cubicBezTo>
                <a:lnTo>
                  <a:pt x="0" y="215470"/>
                </a:lnTo>
                <a:cubicBezTo>
                  <a:pt x="0" y="205538"/>
                  <a:pt x="8024" y="197514"/>
                  <a:pt x="17956" y="197514"/>
                </a:cubicBezTo>
                <a:lnTo>
                  <a:pt x="22445" y="197514"/>
                </a:lnTo>
                <a:lnTo>
                  <a:pt x="22445" y="166091"/>
                </a:lnTo>
                <a:cubicBezTo>
                  <a:pt x="22445" y="143759"/>
                  <a:pt x="40513" y="125691"/>
                  <a:pt x="62845" y="125691"/>
                </a:cubicBezTo>
                <a:lnTo>
                  <a:pt x="130180" y="125691"/>
                </a:lnTo>
                <a:lnTo>
                  <a:pt x="130180" y="89779"/>
                </a:lnTo>
                <a:lnTo>
                  <a:pt x="125691" y="89779"/>
                </a:lnTo>
                <a:cubicBezTo>
                  <a:pt x="115759" y="89779"/>
                  <a:pt x="107735" y="81755"/>
                  <a:pt x="107735" y="71823"/>
                </a:cubicBezTo>
                <a:lnTo>
                  <a:pt x="107735" y="35912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063012" y="2106816"/>
            <a:ext cx="312431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分区（Partitioning）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60249" y="2633520"/>
            <a:ext cx="707459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的数据被分为多个分区，每个分区可以在不同的节点上并行处理。合理的分区策略对性能至关重要。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60249" y="3399635"/>
            <a:ext cx="6978828" cy="1005526"/>
          </a:xfrm>
          <a:custGeom>
            <a:avLst/>
            <a:gdLst/>
            <a:ahLst/>
            <a:cxnLst/>
            <a:rect l="l" t="t" r="r" b="b"/>
            <a:pathLst>
              <a:path w="6978828" h="1005526">
                <a:moveTo>
                  <a:pt x="47883" y="0"/>
                </a:moveTo>
                <a:lnTo>
                  <a:pt x="6930945" y="0"/>
                </a:lnTo>
                <a:cubicBezTo>
                  <a:pt x="6957390" y="0"/>
                  <a:pt x="6978828" y="21438"/>
                  <a:pt x="6978828" y="47883"/>
                </a:cubicBezTo>
                <a:lnTo>
                  <a:pt x="6978828" y="957643"/>
                </a:lnTo>
                <a:cubicBezTo>
                  <a:pt x="6978828" y="984088"/>
                  <a:pt x="6957390" y="1005526"/>
                  <a:pt x="6930945" y="1005526"/>
                </a:cubicBezTo>
                <a:lnTo>
                  <a:pt x="47883" y="1005526"/>
                </a:lnTo>
                <a:cubicBezTo>
                  <a:pt x="21438" y="1005526"/>
                  <a:pt x="0" y="984088"/>
                  <a:pt x="0" y="957643"/>
                </a:cubicBezTo>
                <a:lnTo>
                  <a:pt x="0" y="47883"/>
                </a:lnTo>
                <a:cubicBezTo>
                  <a:pt x="0" y="21456"/>
                  <a:pt x="21456" y="0"/>
                  <a:pt x="478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03895" y="3561237"/>
            <a:ext cx="5229538" cy="67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data = sc.parallelize(1 to 1000, numSlices = 4) println(s"分区数量: ${data.getNumPartitions}") // 输出：分区数量: 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08131" y="4554792"/>
            <a:ext cx="143647" cy="191529"/>
          </a:xfrm>
          <a:custGeom>
            <a:avLst/>
            <a:gdLst/>
            <a:ahLst/>
            <a:cxnLst/>
            <a:rect l="l" t="t" r="r" b="b"/>
            <a:pathLst>
              <a:path w="143647" h="191529">
                <a:moveTo>
                  <a:pt x="109568" y="143647"/>
                </a:moveTo>
                <a:cubicBezTo>
                  <a:pt x="112299" y="135305"/>
                  <a:pt x="117760" y="127748"/>
                  <a:pt x="123933" y="121239"/>
                </a:cubicBezTo>
                <a:cubicBezTo>
                  <a:pt x="136165" y="108371"/>
                  <a:pt x="143647" y="90976"/>
                  <a:pt x="143647" y="71823"/>
                </a:cubicBezTo>
                <a:cubicBezTo>
                  <a:pt x="143647" y="32171"/>
                  <a:pt x="111476" y="0"/>
                  <a:pt x="71823" y="0"/>
                </a:cubicBezTo>
                <a:cubicBezTo>
                  <a:pt x="32171" y="0"/>
                  <a:pt x="0" y="32171"/>
                  <a:pt x="0" y="71823"/>
                </a:cubicBezTo>
                <a:cubicBezTo>
                  <a:pt x="0" y="90976"/>
                  <a:pt x="7482" y="108371"/>
                  <a:pt x="19714" y="121239"/>
                </a:cubicBezTo>
                <a:cubicBezTo>
                  <a:pt x="25886" y="127748"/>
                  <a:pt x="31385" y="135305"/>
                  <a:pt x="34079" y="143647"/>
                </a:cubicBezTo>
                <a:lnTo>
                  <a:pt x="109530" y="143647"/>
                </a:lnTo>
                <a:close/>
                <a:moveTo>
                  <a:pt x="107735" y="161602"/>
                </a:moveTo>
                <a:lnTo>
                  <a:pt x="35912" y="161602"/>
                </a:lnTo>
                <a:lnTo>
                  <a:pt x="35912" y="167588"/>
                </a:lnTo>
                <a:cubicBezTo>
                  <a:pt x="35912" y="184122"/>
                  <a:pt x="49304" y="197514"/>
                  <a:pt x="65838" y="197514"/>
                </a:cubicBezTo>
                <a:lnTo>
                  <a:pt x="77809" y="197514"/>
                </a:lnTo>
                <a:cubicBezTo>
                  <a:pt x="94343" y="197514"/>
                  <a:pt x="107735" y="184122"/>
                  <a:pt x="107735" y="167588"/>
                </a:cubicBezTo>
                <a:lnTo>
                  <a:pt x="107735" y="161602"/>
                </a:lnTo>
                <a:close/>
                <a:moveTo>
                  <a:pt x="68831" y="41897"/>
                </a:moveTo>
                <a:cubicBezTo>
                  <a:pt x="53942" y="41897"/>
                  <a:pt x="41897" y="53942"/>
                  <a:pt x="41897" y="68831"/>
                </a:cubicBezTo>
                <a:cubicBezTo>
                  <a:pt x="41897" y="73806"/>
                  <a:pt x="37894" y="77809"/>
                  <a:pt x="32919" y="77809"/>
                </a:cubicBezTo>
                <a:cubicBezTo>
                  <a:pt x="27944" y="77809"/>
                  <a:pt x="23941" y="73806"/>
                  <a:pt x="23941" y="68831"/>
                </a:cubicBezTo>
                <a:cubicBezTo>
                  <a:pt x="23941" y="44029"/>
                  <a:pt x="44029" y="23941"/>
                  <a:pt x="68831" y="23941"/>
                </a:cubicBezTo>
                <a:cubicBezTo>
                  <a:pt x="73806" y="23941"/>
                  <a:pt x="77809" y="27944"/>
                  <a:pt x="77809" y="32919"/>
                </a:cubicBezTo>
                <a:cubicBezTo>
                  <a:pt x="77809" y="37894"/>
                  <a:pt x="73806" y="41897"/>
                  <a:pt x="68831" y="4189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89924" y="4500925"/>
            <a:ext cx="674491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分区数通常为 CPU 核心数的 2-4 倍，以最大化并行度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96897" y="5267040"/>
            <a:ext cx="7481591" cy="3399635"/>
          </a:xfrm>
          <a:custGeom>
            <a:avLst/>
            <a:gdLst/>
            <a:ahLst/>
            <a:cxnLst/>
            <a:rect l="l" t="t" r="r" b="b"/>
            <a:pathLst>
              <a:path w="7481591" h="3399635">
                <a:moveTo>
                  <a:pt x="47882" y="0"/>
                </a:moveTo>
                <a:lnTo>
                  <a:pt x="7337956" y="0"/>
                </a:lnTo>
                <a:cubicBezTo>
                  <a:pt x="7417283" y="0"/>
                  <a:pt x="7481591" y="64307"/>
                  <a:pt x="7481591" y="143635"/>
                </a:cubicBezTo>
                <a:lnTo>
                  <a:pt x="7481591" y="3256000"/>
                </a:lnTo>
                <a:cubicBezTo>
                  <a:pt x="7481591" y="3335327"/>
                  <a:pt x="7417283" y="3399635"/>
                  <a:pt x="7337956" y="3399635"/>
                </a:cubicBezTo>
                <a:lnTo>
                  <a:pt x="47882" y="3399635"/>
                </a:lnTo>
                <a:cubicBezTo>
                  <a:pt x="21438" y="3399635"/>
                  <a:pt x="0" y="3378197"/>
                  <a:pt x="0" y="3351753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96897" y="5267040"/>
            <a:ext cx="47882" cy="3399635"/>
          </a:xfrm>
          <a:custGeom>
            <a:avLst/>
            <a:gdLst/>
            <a:ahLst/>
            <a:cxnLst/>
            <a:rect l="l" t="t" r="r" b="b"/>
            <a:pathLst>
              <a:path w="47882" h="3399635">
                <a:moveTo>
                  <a:pt x="47882" y="0"/>
                </a:moveTo>
                <a:lnTo>
                  <a:pt x="47882" y="0"/>
                </a:lnTo>
                <a:lnTo>
                  <a:pt x="47882" y="3399635"/>
                </a:lnTo>
                <a:lnTo>
                  <a:pt x="47882" y="3399635"/>
                </a:lnTo>
                <a:cubicBezTo>
                  <a:pt x="21438" y="3399635"/>
                  <a:pt x="0" y="3378197"/>
                  <a:pt x="0" y="3351753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96161" y="5554333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0" y="44890"/>
                </a:moveTo>
                <a:cubicBezTo>
                  <a:pt x="0" y="30020"/>
                  <a:pt x="12064" y="17956"/>
                  <a:pt x="26934" y="17956"/>
                </a:cubicBezTo>
                <a:lnTo>
                  <a:pt x="80801" y="17956"/>
                </a:lnTo>
                <a:cubicBezTo>
                  <a:pt x="95671" y="17956"/>
                  <a:pt x="107735" y="30020"/>
                  <a:pt x="107735" y="44890"/>
                </a:cubicBezTo>
                <a:lnTo>
                  <a:pt x="107735" y="53867"/>
                </a:lnTo>
                <a:lnTo>
                  <a:pt x="179558" y="53867"/>
                </a:lnTo>
                <a:lnTo>
                  <a:pt x="179558" y="44890"/>
                </a:lnTo>
                <a:cubicBezTo>
                  <a:pt x="179558" y="30020"/>
                  <a:pt x="191622" y="17956"/>
                  <a:pt x="206492" y="17956"/>
                </a:cubicBezTo>
                <a:lnTo>
                  <a:pt x="260359" y="17956"/>
                </a:lnTo>
                <a:cubicBezTo>
                  <a:pt x="275229" y="17956"/>
                  <a:pt x="287293" y="30020"/>
                  <a:pt x="287293" y="44890"/>
                </a:cubicBezTo>
                <a:lnTo>
                  <a:pt x="287293" y="98757"/>
                </a:lnTo>
                <a:cubicBezTo>
                  <a:pt x="287293" y="113627"/>
                  <a:pt x="275229" y="125691"/>
                  <a:pt x="260359" y="125691"/>
                </a:cubicBezTo>
                <a:lnTo>
                  <a:pt x="206492" y="125691"/>
                </a:lnTo>
                <a:cubicBezTo>
                  <a:pt x="191622" y="125691"/>
                  <a:pt x="179558" y="113627"/>
                  <a:pt x="179558" y="98757"/>
                </a:cubicBezTo>
                <a:lnTo>
                  <a:pt x="179558" y="89779"/>
                </a:lnTo>
                <a:lnTo>
                  <a:pt x="107735" y="89779"/>
                </a:lnTo>
                <a:lnTo>
                  <a:pt x="107735" y="98757"/>
                </a:lnTo>
                <a:cubicBezTo>
                  <a:pt x="107735" y="102853"/>
                  <a:pt x="106781" y="106781"/>
                  <a:pt x="105154" y="110260"/>
                </a:cubicBezTo>
                <a:lnTo>
                  <a:pt x="143647" y="161602"/>
                </a:lnTo>
                <a:lnTo>
                  <a:pt x="188536" y="161602"/>
                </a:lnTo>
                <a:cubicBezTo>
                  <a:pt x="203406" y="161602"/>
                  <a:pt x="215470" y="173666"/>
                  <a:pt x="215470" y="188536"/>
                </a:cubicBezTo>
                <a:lnTo>
                  <a:pt x="215470" y="242404"/>
                </a:lnTo>
                <a:cubicBezTo>
                  <a:pt x="215470" y="257273"/>
                  <a:pt x="203406" y="269337"/>
                  <a:pt x="188536" y="269337"/>
                </a:cubicBezTo>
                <a:lnTo>
                  <a:pt x="134669" y="269337"/>
                </a:lnTo>
                <a:cubicBezTo>
                  <a:pt x="119799" y="269337"/>
                  <a:pt x="107735" y="257273"/>
                  <a:pt x="107735" y="242404"/>
                </a:cubicBezTo>
                <a:lnTo>
                  <a:pt x="107735" y="188536"/>
                </a:lnTo>
                <a:cubicBezTo>
                  <a:pt x="107735" y="184440"/>
                  <a:pt x="108689" y="180512"/>
                  <a:pt x="110316" y="177033"/>
                </a:cubicBezTo>
                <a:lnTo>
                  <a:pt x="71823" y="125691"/>
                </a:lnTo>
                <a:lnTo>
                  <a:pt x="26934" y="125691"/>
                </a:lnTo>
                <a:cubicBezTo>
                  <a:pt x="12064" y="125691"/>
                  <a:pt x="0" y="113627"/>
                  <a:pt x="0" y="98757"/>
                </a:cubicBezTo>
                <a:lnTo>
                  <a:pt x="0" y="44890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63012" y="5506451"/>
            <a:ext cx="3232047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血缘关系（Lineage）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60249" y="6033155"/>
            <a:ext cx="707459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维护着从原始数据到当前状态的完整转换路径。当数据丢失时，Spark 可以根据血缘关系从源头重新计算。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60249" y="6799270"/>
            <a:ext cx="6978828" cy="1244937"/>
          </a:xfrm>
          <a:custGeom>
            <a:avLst/>
            <a:gdLst/>
            <a:ahLst/>
            <a:cxnLst/>
            <a:rect l="l" t="t" r="r" b="b"/>
            <a:pathLst>
              <a:path w="6978828" h="1244937">
                <a:moveTo>
                  <a:pt x="47880" y="0"/>
                </a:moveTo>
                <a:lnTo>
                  <a:pt x="6930947" y="0"/>
                </a:lnTo>
                <a:cubicBezTo>
                  <a:pt x="6957391" y="0"/>
                  <a:pt x="6978828" y="21437"/>
                  <a:pt x="6978828" y="47880"/>
                </a:cubicBezTo>
                <a:lnTo>
                  <a:pt x="6978828" y="1197056"/>
                </a:lnTo>
                <a:cubicBezTo>
                  <a:pt x="6978828" y="1223500"/>
                  <a:pt x="6957391" y="1244937"/>
                  <a:pt x="6930947" y="1244937"/>
                </a:cubicBezTo>
                <a:lnTo>
                  <a:pt x="47880" y="1244937"/>
                </a:lnTo>
                <a:cubicBezTo>
                  <a:pt x="21437" y="1244937"/>
                  <a:pt x="0" y="1223500"/>
                  <a:pt x="0" y="1197056"/>
                </a:cubicBezTo>
                <a:lnTo>
                  <a:pt x="0" y="47880"/>
                </a:lnTo>
                <a:cubicBezTo>
                  <a:pt x="0" y="21454"/>
                  <a:pt x="21454" y="0"/>
                  <a:pt x="4788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03895" y="6960872"/>
            <a:ext cx="5294535" cy="91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textFile = sc.textFile("input.txt") val words = textFile.flatMap(_.split(" ")) val filtered = words.filter(_.length &gt; 3) // 血缘链：input.txt -&gt; textFile -&gt; words -&gt; filtered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08131" y="8193838"/>
            <a:ext cx="143647" cy="191529"/>
          </a:xfrm>
          <a:custGeom>
            <a:avLst/>
            <a:gdLst/>
            <a:ahLst/>
            <a:cxnLst/>
            <a:rect l="l" t="t" r="r" b="b"/>
            <a:pathLst>
              <a:path w="143647" h="191529">
                <a:moveTo>
                  <a:pt x="109568" y="143647"/>
                </a:moveTo>
                <a:cubicBezTo>
                  <a:pt x="112299" y="135305"/>
                  <a:pt x="117760" y="127748"/>
                  <a:pt x="123933" y="121239"/>
                </a:cubicBezTo>
                <a:cubicBezTo>
                  <a:pt x="136165" y="108371"/>
                  <a:pt x="143647" y="90976"/>
                  <a:pt x="143647" y="71823"/>
                </a:cubicBezTo>
                <a:cubicBezTo>
                  <a:pt x="143647" y="32171"/>
                  <a:pt x="111476" y="0"/>
                  <a:pt x="71823" y="0"/>
                </a:cubicBezTo>
                <a:cubicBezTo>
                  <a:pt x="32171" y="0"/>
                  <a:pt x="0" y="32171"/>
                  <a:pt x="0" y="71823"/>
                </a:cubicBezTo>
                <a:cubicBezTo>
                  <a:pt x="0" y="90976"/>
                  <a:pt x="7482" y="108371"/>
                  <a:pt x="19714" y="121239"/>
                </a:cubicBezTo>
                <a:cubicBezTo>
                  <a:pt x="25886" y="127748"/>
                  <a:pt x="31385" y="135305"/>
                  <a:pt x="34079" y="143647"/>
                </a:cubicBezTo>
                <a:lnTo>
                  <a:pt x="109530" y="143647"/>
                </a:lnTo>
                <a:close/>
                <a:moveTo>
                  <a:pt x="107735" y="161602"/>
                </a:moveTo>
                <a:lnTo>
                  <a:pt x="35912" y="161602"/>
                </a:lnTo>
                <a:lnTo>
                  <a:pt x="35912" y="167588"/>
                </a:lnTo>
                <a:cubicBezTo>
                  <a:pt x="35912" y="184122"/>
                  <a:pt x="49304" y="197514"/>
                  <a:pt x="65838" y="197514"/>
                </a:cubicBezTo>
                <a:lnTo>
                  <a:pt x="77809" y="197514"/>
                </a:lnTo>
                <a:cubicBezTo>
                  <a:pt x="94343" y="197514"/>
                  <a:pt x="107735" y="184122"/>
                  <a:pt x="107735" y="167588"/>
                </a:cubicBezTo>
                <a:lnTo>
                  <a:pt x="107735" y="161602"/>
                </a:lnTo>
                <a:close/>
                <a:moveTo>
                  <a:pt x="68831" y="41897"/>
                </a:moveTo>
                <a:cubicBezTo>
                  <a:pt x="53942" y="41897"/>
                  <a:pt x="41897" y="53942"/>
                  <a:pt x="41897" y="68831"/>
                </a:cubicBezTo>
                <a:cubicBezTo>
                  <a:pt x="41897" y="73806"/>
                  <a:pt x="37894" y="77809"/>
                  <a:pt x="32919" y="77809"/>
                </a:cubicBezTo>
                <a:cubicBezTo>
                  <a:pt x="27944" y="77809"/>
                  <a:pt x="23941" y="73806"/>
                  <a:pt x="23941" y="68831"/>
                </a:cubicBezTo>
                <a:cubicBezTo>
                  <a:pt x="23941" y="44029"/>
                  <a:pt x="44029" y="23941"/>
                  <a:pt x="68831" y="23941"/>
                </a:cubicBezTo>
                <a:cubicBezTo>
                  <a:pt x="73806" y="23941"/>
                  <a:pt x="77809" y="27944"/>
                  <a:pt x="77809" y="32919"/>
                </a:cubicBezTo>
                <a:cubicBezTo>
                  <a:pt x="77809" y="37894"/>
                  <a:pt x="73806" y="41897"/>
                  <a:pt x="68831" y="4189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889924" y="8139971"/>
            <a:ext cx="674491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血缘关系是 RDD "弹性" 特性的集中体现，实现了高效容错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87" y="469026"/>
            <a:ext cx="85277" cy="426387"/>
          </a:xfrm>
          <a:custGeom>
            <a:avLst/>
            <a:gdLst/>
            <a:ahLst/>
            <a:cxnLst/>
            <a:rect l="l" t="t" r="r" b="b"/>
            <a:pathLst>
              <a:path w="85277" h="426387">
                <a:moveTo>
                  <a:pt x="0" y="0"/>
                </a:moveTo>
                <a:lnTo>
                  <a:pt x="85277" y="0"/>
                </a:lnTo>
                <a:lnTo>
                  <a:pt x="85277" y="426387"/>
                </a:lnTo>
                <a:lnTo>
                  <a:pt x="0" y="42638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2219" y="426387"/>
            <a:ext cx="5223239" cy="51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29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操作类型：转换与行动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2219" y="1151245"/>
            <a:ext cx="15253991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79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理解惰性求值的执行模型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7706" y="1662909"/>
            <a:ext cx="7557708" cy="7056703"/>
          </a:xfrm>
          <a:custGeom>
            <a:avLst/>
            <a:gdLst/>
            <a:ahLst/>
            <a:cxnLst/>
            <a:rect l="l" t="t" r="r" b="b"/>
            <a:pathLst>
              <a:path w="7557708" h="7056703">
                <a:moveTo>
                  <a:pt x="42639" y="0"/>
                </a:moveTo>
                <a:lnTo>
                  <a:pt x="7429770" y="0"/>
                </a:lnTo>
                <a:cubicBezTo>
                  <a:pt x="7500428" y="0"/>
                  <a:pt x="7557708" y="57280"/>
                  <a:pt x="7557708" y="127938"/>
                </a:cubicBezTo>
                <a:lnTo>
                  <a:pt x="7557708" y="6928765"/>
                </a:lnTo>
                <a:cubicBezTo>
                  <a:pt x="7557708" y="6999423"/>
                  <a:pt x="7500428" y="7056703"/>
                  <a:pt x="7429770" y="7056703"/>
                </a:cubicBezTo>
                <a:lnTo>
                  <a:pt x="42639" y="7056703"/>
                </a:lnTo>
                <a:cubicBezTo>
                  <a:pt x="19090" y="7056703"/>
                  <a:pt x="0" y="7037613"/>
                  <a:pt x="0" y="7014064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7706" y="1662909"/>
            <a:ext cx="42639" cy="7056703"/>
          </a:xfrm>
          <a:custGeom>
            <a:avLst/>
            <a:gdLst/>
            <a:ahLst/>
            <a:cxnLst/>
            <a:rect l="l" t="t" r="r" b="b"/>
            <a:pathLst>
              <a:path w="42639" h="7056703">
                <a:moveTo>
                  <a:pt x="42639" y="0"/>
                </a:moveTo>
                <a:lnTo>
                  <a:pt x="42639" y="0"/>
                </a:lnTo>
                <a:lnTo>
                  <a:pt x="42639" y="7056703"/>
                </a:lnTo>
                <a:lnTo>
                  <a:pt x="42639" y="7056703"/>
                </a:lnTo>
                <a:cubicBezTo>
                  <a:pt x="19090" y="7056703"/>
                  <a:pt x="0" y="7037613"/>
                  <a:pt x="0" y="7014064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4198" y="1918741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251135" y="75251"/>
                </a:moveTo>
                <a:lnTo>
                  <a:pt x="203167" y="123219"/>
                </a:lnTo>
                <a:cubicBezTo>
                  <a:pt x="198570" y="127816"/>
                  <a:pt x="191724" y="129165"/>
                  <a:pt x="185728" y="126667"/>
                </a:cubicBezTo>
                <a:cubicBezTo>
                  <a:pt x="179732" y="124169"/>
                  <a:pt x="175885" y="118372"/>
                  <a:pt x="175885" y="111927"/>
                </a:cubicBezTo>
                <a:lnTo>
                  <a:pt x="175885" y="79948"/>
                </a:lnTo>
                <a:lnTo>
                  <a:pt x="15990" y="79948"/>
                </a:lnTo>
                <a:cubicBezTo>
                  <a:pt x="7145" y="79948"/>
                  <a:pt x="0" y="72802"/>
                  <a:pt x="0" y="63958"/>
                </a:cubicBezTo>
                <a:cubicBezTo>
                  <a:pt x="0" y="55114"/>
                  <a:pt x="7145" y="47969"/>
                  <a:pt x="15990" y="47969"/>
                </a:cubicBezTo>
                <a:lnTo>
                  <a:pt x="175885" y="47969"/>
                </a:lnTo>
                <a:lnTo>
                  <a:pt x="175885" y="15990"/>
                </a:lnTo>
                <a:cubicBezTo>
                  <a:pt x="175885" y="9544"/>
                  <a:pt x="179782" y="3698"/>
                  <a:pt x="185778" y="1199"/>
                </a:cubicBezTo>
                <a:cubicBezTo>
                  <a:pt x="191774" y="-1299"/>
                  <a:pt x="198620" y="100"/>
                  <a:pt x="203217" y="4647"/>
                </a:cubicBezTo>
                <a:lnTo>
                  <a:pt x="251185" y="52615"/>
                </a:lnTo>
                <a:cubicBezTo>
                  <a:pt x="257431" y="58861"/>
                  <a:pt x="257431" y="69005"/>
                  <a:pt x="251185" y="75251"/>
                </a:cubicBezTo>
                <a:close/>
                <a:moveTo>
                  <a:pt x="52615" y="251135"/>
                </a:moveTo>
                <a:lnTo>
                  <a:pt x="4647" y="203167"/>
                </a:lnTo>
                <a:cubicBezTo>
                  <a:pt x="-1599" y="196921"/>
                  <a:pt x="-1599" y="186777"/>
                  <a:pt x="4647" y="180532"/>
                </a:cubicBezTo>
                <a:lnTo>
                  <a:pt x="52615" y="132563"/>
                </a:lnTo>
                <a:cubicBezTo>
                  <a:pt x="57212" y="127966"/>
                  <a:pt x="64058" y="126617"/>
                  <a:pt x="70054" y="129115"/>
                </a:cubicBezTo>
                <a:cubicBezTo>
                  <a:pt x="76050" y="131614"/>
                  <a:pt x="79948" y="137460"/>
                  <a:pt x="79948" y="143906"/>
                </a:cubicBezTo>
                <a:lnTo>
                  <a:pt x="79948" y="175885"/>
                </a:lnTo>
                <a:lnTo>
                  <a:pt x="239843" y="175885"/>
                </a:lnTo>
                <a:cubicBezTo>
                  <a:pt x="248687" y="175885"/>
                  <a:pt x="255832" y="183030"/>
                  <a:pt x="255832" y="191874"/>
                </a:cubicBezTo>
                <a:cubicBezTo>
                  <a:pt x="255832" y="200718"/>
                  <a:pt x="248687" y="207864"/>
                  <a:pt x="239843" y="207864"/>
                </a:cubicBezTo>
                <a:lnTo>
                  <a:pt x="79948" y="207864"/>
                </a:lnTo>
                <a:lnTo>
                  <a:pt x="79948" y="239843"/>
                </a:lnTo>
                <a:cubicBezTo>
                  <a:pt x="79948" y="246288"/>
                  <a:pt x="76050" y="252135"/>
                  <a:pt x="70054" y="254633"/>
                </a:cubicBezTo>
                <a:cubicBezTo>
                  <a:pt x="64058" y="257131"/>
                  <a:pt x="57212" y="255732"/>
                  <a:pt x="52615" y="25118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9925" y="1876102"/>
            <a:ext cx="3570990" cy="34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1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转换操作（Transformations）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2219" y="2387767"/>
            <a:ext cx="7110001" cy="1044648"/>
          </a:xfrm>
          <a:custGeom>
            <a:avLst/>
            <a:gdLst/>
            <a:ahLst/>
            <a:cxnLst/>
            <a:rect l="l" t="t" r="r" b="b"/>
            <a:pathLst>
              <a:path w="7110001" h="1044648">
                <a:moveTo>
                  <a:pt x="85275" y="0"/>
                </a:moveTo>
                <a:lnTo>
                  <a:pt x="7024727" y="0"/>
                </a:lnTo>
                <a:cubicBezTo>
                  <a:pt x="7071823" y="0"/>
                  <a:pt x="7110001" y="38179"/>
                  <a:pt x="7110001" y="85275"/>
                </a:cubicBezTo>
                <a:lnTo>
                  <a:pt x="7110001" y="959373"/>
                </a:lnTo>
                <a:cubicBezTo>
                  <a:pt x="7110001" y="1006469"/>
                  <a:pt x="7071823" y="1044648"/>
                  <a:pt x="7024727" y="1044648"/>
                </a:cubicBezTo>
                <a:lnTo>
                  <a:pt x="85275" y="1044648"/>
                </a:lnTo>
                <a:cubicBezTo>
                  <a:pt x="38179" y="1044648"/>
                  <a:pt x="0" y="1006469"/>
                  <a:pt x="0" y="959373"/>
                </a:cubicBezTo>
                <a:lnTo>
                  <a:pt x="0" y="85275"/>
                </a:lnTo>
                <a:cubicBezTo>
                  <a:pt x="0" y="38210"/>
                  <a:pt x="38210" y="0"/>
                  <a:pt x="8527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2774" y="2558321"/>
            <a:ext cx="6864829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2774" y="2984708"/>
            <a:ext cx="6854169" cy="277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从现有 RDD 创建新的 RDD，采用</a:t>
            </a:r>
            <a:r>
              <a:rPr lang="en-US" sz="134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惰性求值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策略，不会立即触发实际计算。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2219" y="3602969"/>
            <a:ext cx="7205938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常用转换算子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2219" y="4029356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67496" y="4114633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map(func)：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对每个元素应用函数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2219" y="4541020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7496" y="4626298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filter(func)：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过滤满足条件的元素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2219" y="5052685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67496" y="5137962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flatMap(func)：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每个输入项映射到 0 或多个输出项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2219" y="5564349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7496" y="5649626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reduceByKey(func)：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 key 聚合值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2219" y="6161290"/>
            <a:ext cx="7110001" cy="1193883"/>
          </a:xfrm>
          <a:custGeom>
            <a:avLst/>
            <a:gdLst/>
            <a:ahLst/>
            <a:cxnLst/>
            <a:rect l="l" t="t" r="r" b="b"/>
            <a:pathLst>
              <a:path w="7110001" h="1193883">
                <a:moveTo>
                  <a:pt x="42634" y="0"/>
                </a:moveTo>
                <a:lnTo>
                  <a:pt x="7067368" y="0"/>
                </a:lnTo>
                <a:cubicBezTo>
                  <a:pt x="7090914" y="0"/>
                  <a:pt x="7110001" y="19088"/>
                  <a:pt x="7110001" y="42634"/>
                </a:cubicBezTo>
                <a:lnTo>
                  <a:pt x="7110001" y="1151250"/>
                </a:lnTo>
                <a:cubicBezTo>
                  <a:pt x="7110001" y="1174796"/>
                  <a:pt x="7090914" y="1193883"/>
                  <a:pt x="7067368" y="1193883"/>
                </a:cubicBezTo>
                <a:lnTo>
                  <a:pt x="42634" y="1193883"/>
                </a:lnTo>
                <a:cubicBezTo>
                  <a:pt x="19088" y="1193883"/>
                  <a:pt x="0" y="1174796"/>
                  <a:pt x="0" y="1151250"/>
                </a:cubicBezTo>
                <a:lnTo>
                  <a:pt x="0" y="42634"/>
                </a:lnTo>
                <a:cubicBezTo>
                  <a:pt x="0" y="19088"/>
                  <a:pt x="19088" y="0"/>
                  <a:pt x="426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2774" y="6347835"/>
            <a:ext cx="4477146" cy="81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numbers = sc.parallelize(List(1, 2, 3, 4, 5)) val evenNumbers = numbers.filter(_ % 2 == 0) val squared = evenNumbers.map(x =&gt; x * x) // 此时还没有实际计算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78984" y="1662909"/>
            <a:ext cx="7557708" cy="7056703"/>
          </a:xfrm>
          <a:custGeom>
            <a:avLst/>
            <a:gdLst/>
            <a:ahLst/>
            <a:cxnLst/>
            <a:rect l="l" t="t" r="r" b="b"/>
            <a:pathLst>
              <a:path w="7557708" h="7056703">
                <a:moveTo>
                  <a:pt x="42639" y="0"/>
                </a:moveTo>
                <a:lnTo>
                  <a:pt x="7429770" y="0"/>
                </a:lnTo>
                <a:cubicBezTo>
                  <a:pt x="7500428" y="0"/>
                  <a:pt x="7557708" y="57280"/>
                  <a:pt x="7557708" y="127938"/>
                </a:cubicBezTo>
                <a:lnTo>
                  <a:pt x="7557708" y="6928765"/>
                </a:lnTo>
                <a:cubicBezTo>
                  <a:pt x="7557708" y="6999423"/>
                  <a:pt x="7500428" y="7056703"/>
                  <a:pt x="7429770" y="7056703"/>
                </a:cubicBezTo>
                <a:lnTo>
                  <a:pt x="42639" y="7056703"/>
                </a:lnTo>
                <a:cubicBezTo>
                  <a:pt x="19090" y="7056703"/>
                  <a:pt x="0" y="7037613"/>
                  <a:pt x="0" y="7014064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78984" y="1662909"/>
            <a:ext cx="42639" cy="7056703"/>
          </a:xfrm>
          <a:custGeom>
            <a:avLst/>
            <a:gdLst/>
            <a:ahLst/>
            <a:cxnLst/>
            <a:rect l="l" t="t" r="r" b="b"/>
            <a:pathLst>
              <a:path w="42639" h="7056703">
                <a:moveTo>
                  <a:pt x="42639" y="0"/>
                </a:moveTo>
                <a:lnTo>
                  <a:pt x="42639" y="0"/>
                </a:lnTo>
                <a:lnTo>
                  <a:pt x="42639" y="7056703"/>
                </a:lnTo>
                <a:lnTo>
                  <a:pt x="42639" y="7056703"/>
                </a:lnTo>
                <a:cubicBezTo>
                  <a:pt x="19090" y="7056703"/>
                  <a:pt x="0" y="7037613"/>
                  <a:pt x="0" y="7014064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45476" y="1918741"/>
            <a:ext cx="255832" cy="255832"/>
          </a:xfrm>
          <a:custGeom>
            <a:avLst/>
            <a:gdLst/>
            <a:ahLst/>
            <a:cxnLst/>
            <a:rect l="l" t="t" r="r" b="b"/>
            <a:pathLst>
              <a:path w="255832" h="255832">
                <a:moveTo>
                  <a:pt x="0" y="127916"/>
                </a:moveTo>
                <a:cubicBezTo>
                  <a:pt x="0" y="57317"/>
                  <a:pt x="57317" y="0"/>
                  <a:pt x="127916" y="0"/>
                </a:cubicBezTo>
                <a:cubicBezTo>
                  <a:pt x="198515" y="0"/>
                  <a:pt x="255832" y="57317"/>
                  <a:pt x="255832" y="127916"/>
                </a:cubicBezTo>
                <a:cubicBezTo>
                  <a:pt x="255832" y="198515"/>
                  <a:pt x="198515" y="255832"/>
                  <a:pt x="127916" y="255832"/>
                </a:cubicBezTo>
                <a:cubicBezTo>
                  <a:pt x="57317" y="255832"/>
                  <a:pt x="0" y="198515"/>
                  <a:pt x="0" y="127916"/>
                </a:cubicBezTo>
                <a:close/>
                <a:moveTo>
                  <a:pt x="94088" y="73502"/>
                </a:moveTo>
                <a:cubicBezTo>
                  <a:pt x="90291" y="75600"/>
                  <a:pt x="87942" y="79648"/>
                  <a:pt x="87942" y="83945"/>
                </a:cubicBezTo>
                <a:lnTo>
                  <a:pt x="87942" y="171887"/>
                </a:lnTo>
                <a:cubicBezTo>
                  <a:pt x="87942" y="176234"/>
                  <a:pt x="90291" y="180232"/>
                  <a:pt x="94088" y="182330"/>
                </a:cubicBezTo>
                <a:cubicBezTo>
                  <a:pt x="97886" y="184429"/>
                  <a:pt x="102483" y="184379"/>
                  <a:pt x="106230" y="182081"/>
                </a:cubicBezTo>
                <a:lnTo>
                  <a:pt x="178183" y="138109"/>
                </a:lnTo>
                <a:cubicBezTo>
                  <a:pt x="181731" y="135911"/>
                  <a:pt x="183929" y="132063"/>
                  <a:pt x="183929" y="127866"/>
                </a:cubicBezTo>
                <a:cubicBezTo>
                  <a:pt x="183929" y="123669"/>
                  <a:pt x="181731" y="119821"/>
                  <a:pt x="178183" y="117623"/>
                </a:cubicBezTo>
                <a:lnTo>
                  <a:pt x="106230" y="73652"/>
                </a:lnTo>
                <a:cubicBezTo>
                  <a:pt x="102533" y="71403"/>
                  <a:pt x="97886" y="71303"/>
                  <a:pt x="94088" y="7340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61203" y="1876102"/>
            <a:ext cx="2537002" cy="34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1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行动操作（Actions）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13497" y="2387767"/>
            <a:ext cx="7110001" cy="1044648"/>
          </a:xfrm>
          <a:custGeom>
            <a:avLst/>
            <a:gdLst/>
            <a:ahLst/>
            <a:cxnLst/>
            <a:rect l="l" t="t" r="r" b="b"/>
            <a:pathLst>
              <a:path w="7110001" h="1044648">
                <a:moveTo>
                  <a:pt x="85275" y="0"/>
                </a:moveTo>
                <a:lnTo>
                  <a:pt x="7024727" y="0"/>
                </a:lnTo>
                <a:cubicBezTo>
                  <a:pt x="7071823" y="0"/>
                  <a:pt x="7110001" y="38179"/>
                  <a:pt x="7110001" y="85275"/>
                </a:cubicBezTo>
                <a:lnTo>
                  <a:pt x="7110001" y="959373"/>
                </a:lnTo>
                <a:cubicBezTo>
                  <a:pt x="7110001" y="1006469"/>
                  <a:pt x="7071823" y="1044648"/>
                  <a:pt x="7024727" y="1044648"/>
                </a:cubicBezTo>
                <a:lnTo>
                  <a:pt x="85275" y="1044648"/>
                </a:lnTo>
                <a:cubicBezTo>
                  <a:pt x="38179" y="1044648"/>
                  <a:pt x="0" y="1006469"/>
                  <a:pt x="0" y="959373"/>
                </a:cubicBezTo>
                <a:lnTo>
                  <a:pt x="0" y="85275"/>
                </a:lnTo>
                <a:cubicBezTo>
                  <a:pt x="0" y="38210"/>
                  <a:pt x="38210" y="0"/>
                  <a:pt x="8527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4052" y="2558321"/>
            <a:ext cx="6864829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4052" y="2984708"/>
            <a:ext cx="6854169" cy="277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触发实际计算并返回结果，触发</a:t>
            </a:r>
            <a:r>
              <a:rPr lang="en-US" sz="134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整个计算链的执行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13497" y="3602969"/>
            <a:ext cx="7205938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常用行动算子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13497" y="4029356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98774" y="4114633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collect()：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RDD 所有元素收集到 Driver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13497" y="4541020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8774" y="4626298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count()：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 RDD 中元素的数量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13497" y="5052685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98774" y="5137962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first()：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 RDD 的第一个元素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13497" y="5564349"/>
            <a:ext cx="7110001" cy="426387"/>
          </a:xfrm>
          <a:custGeom>
            <a:avLst/>
            <a:gdLst/>
            <a:ahLst/>
            <a:cxnLst/>
            <a:rect l="l" t="t" r="r" b="b"/>
            <a:pathLst>
              <a:path w="7110001" h="426387">
                <a:moveTo>
                  <a:pt x="42639" y="0"/>
                </a:moveTo>
                <a:lnTo>
                  <a:pt x="7067363" y="0"/>
                </a:lnTo>
                <a:cubicBezTo>
                  <a:pt x="7090911" y="0"/>
                  <a:pt x="7110001" y="19090"/>
                  <a:pt x="7110001" y="42639"/>
                </a:cubicBezTo>
                <a:lnTo>
                  <a:pt x="7110001" y="383748"/>
                </a:lnTo>
                <a:cubicBezTo>
                  <a:pt x="7110001" y="407297"/>
                  <a:pt x="7090911" y="426387"/>
                  <a:pt x="7067363" y="426387"/>
                </a:cubicBezTo>
                <a:lnTo>
                  <a:pt x="42639" y="426387"/>
                </a:lnTo>
                <a:cubicBezTo>
                  <a:pt x="19090" y="426387"/>
                  <a:pt x="0" y="407297"/>
                  <a:pt x="0" y="383748"/>
                </a:cubicBezTo>
                <a:lnTo>
                  <a:pt x="0" y="42639"/>
                </a:lnTo>
                <a:cubicBezTo>
                  <a:pt x="0" y="19106"/>
                  <a:pt x="19106" y="0"/>
                  <a:pt x="426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98774" y="5649626"/>
            <a:ext cx="70247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saveAsTextFile(path)：</a:t>
            </a:r>
            <a:r>
              <a:rPr lang="en-US" sz="134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RDD 保存到文件系统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13497" y="6161290"/>
            <a:ext cx="7110001" cy="980690"/>
          </a:xfrm>
          <a:custGeom>
            <a:avLst/>
            <a:gdLst/>
            <a:ahLst/>
            <a:cxnLst/>
            <a:rect l="l" t="t" r="r" b="b"/>
            <a:pathLst>
              <a:path w="7110001" h="980690">
                <a:moveTo>
                  <a:pt x="42640" y="0"/>
                </a:moveTo>
                <a:lnTo>
                  <a:pt x="7067361" y="0"/>
                </a:lnTo>
                <a:cubicBezTo>
                  <a:pt x="7090911" y="0"/>
                  <a:pt x="7110001" y="19091"/>
                  <a:pt x="7110001" y="42640"/>
                </a:cubicBezTo>
                <a:lnTo>
                  <a:pt x="7110001" y="938049"/>
                </a:lnTo>
                <a:cubicBezTo>
                  <a:pt x="7110001" y="961599"/>
                  <a:pt x="7090911" y="980690"/>
                  <a:pt x="7067361" y="980690"/>
                </a:cubicBezTo>
                <a:lnTo>
                  <a:pt x="42640" y="980690"/>
                </a:lnTo>
                <a:cubicBezTo>
                  <a:pt x="19091" y="980690"/>
                  <a:pt x="0" y="961599"/>
                  <a:pt x="0" y="938049"/>
                </a:cubicBezTo>
                <a:lnTo>
                  <a:pt x="0" y="42640"/>
                </a:lnTo>
                <a:cubicBezTo>
                  <a:pt x="0" y="19091"/>
                  <a:pt x="19091" y="0"/>
                  <a:pt x="4264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84052" y="6347835"/>
            <a:ext cx="3816246" cy="602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result = squared.collect() // 行动操作 println(s"结果: ${result.mkString(", ")}") // 此时触发实际计算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13497" y="7312535"/>
            <a:ext cx="7110001" cy="1193883"/>
          </a:xfrm>
          <a:custGeom>
            <a:avLst/>
            <a:gdLst/>
            <a:ahLst/>
            <a:cxnLst/>
            <a:rect l="l" t="t" r="r" b="b"/>
            <a:pathLst>
              <a:path w="7110001" h="1193883">
                <a:moveTo>
                  <a:pt x="42634" y="0"/>
                </a:moveTo>
                <a:lnTo>
                  <a:pt x="7067368" y="0"/>
                </a:lnTo>
                <a:cubicBezTo>
                  <a:pt x="7090914" y="0"/>
                  <a:pt x="7110001" y="19088"/>
                  <a:pt x="7110001" y="42634"/>
                </a:cubicBezTo>
                <a:lnTo>
                  <a:pt x="7110001" y="1151250"/>
                </a:lnTo>
                <a:cubicBezTo>
                  <a:pt x="7110001" y="1174796"/>
                  <a:pt x="7090914" y="1193883"/>
                  <a:pt x="7067368" y="1193883"/>
                </a:cubicBezTo>
                <a:lnTo>
                  <a:pt x="42634" y="1193883"/>
                </a:lnTo>
                <a:cubicBezTo>
                  <a:pt x="19088" y="1193883"/>
                  <a:pt x="0" y="1174796"/>
                  <a:pt x="0" y="1151250"/>
                </a:cubicBezTo>
                <a:lnTo>
                  <a:pt x="0" y="42634"/>
                </a:lnTo>
                <a:cubicBezTo>
                  <a:pt x="0" y="19088"/>
                  <a:pt x="19088" y="0"/>
                  <a:pt x="42634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41413" y="7440451"/>
            <a:ext cx="6950106" cy="29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执行流程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41413" y="7824199"/>
            <a:ext cx="6939447" cy="554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当调用行动操作时，Spark 会从最后一个 RDD 开始，根据血缘关系逆向构建完整的执行计划，然后将任务分发到集群执行。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9534" y="505487"/>
            <a:ext cx="91907" cy="459534"/>
          </a:xfrm>
          <a:custGeom>
            <a:avLst/>
            <a:gdLst/>
            <a:ahLst/>
            <a:cxnLst/>
            <a:rect l="l" t="t" r="r" b="b"/>
            <a:pathLst>
              <a:path w="91907" h="459534">
                <a:moveTo>
                  <a:pt x="0" y="0"/>
                </a:moveTo>
                <a:lnTo>
                  <a:pt x="91907" y="0"/>
                </a:lnTo>
                <a:lnTo>
                  <a:pt x="91907" y="459534"/>
                </a:lnTo>
                <a:lnTo>
                  <a:pt x="0" y="459534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5254" y="459534"/>
            <a:ext cx="3423525" cy="55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42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的创建方式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5254" y="1240741"/>
            <a:ext cx="15176096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三种灵活的创建方式适应不同的数据来源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2510" y="1792181"/>
            <a:ext cx="4939986" cy="6893004"/>
          </a:xfrm>
          <a:custGeom>
            <a:avLst/>
            <a:gdLst/>
            <a:ahLst/>
            <a:cxnLst/>
            <a:rect l="l" t="t" r="r" b="b"/>
            <a:pathLst>
              <a:path w="4939986" h="6893004">
                <a:moveTo>
                  <a:pt x="45953" y="0"/>
                </a:moveTo>
                <a:lnTo>
                  <a:pt x="4802111" y="0"/>
                </a:lnTo>
                <a:cubicBezTo>
                  <a:pt x="4878257" y="0"/>
                  <a:pt x="4939986" y="61729"/>
                  <a:pt x="4939986" y="137875"/>
                </a:cubicBezTo>
                <a:lnTo>
                  <a:pt x="4939986" y="6755129"/>
                </a:lnTo>
                <a:cubicBezTo>
                  <a:pt x="4939986" y="6831275"/>
                  <a:pt x="4878257" y="6893004"/>
                  <a:pt x="4802111" y="6893004"/>
                </a:cubicBez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82510" y="1792181"/>
            <a:ext cx="45953" cy="6893004"/>
          </a:xfrm>
          <a:custGeom>
            <a:avLst/>
            <a:gdLst/>
            <a:ahLst/>
            <a:cxnLst/>
            <a:rect l="l" t="t" r="r" b="b"/>
            <a:pathLst>
              <a:path w="45953" h="6893004">
                <a:moveTo>
                  <a:pt x="45953" y="0"/>
                </a:moveTo>
                <a:lnTo>
                  <a:pt x="45953" y="0"/>
                </a:lnTo>
                <a:lnTo>
                  <a:pt x="45953" y="6893004"/>
                </a:ln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5254" y="2021948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56763" y="2113854"/>
            <a:ext cx="241255" cy="36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4554" y="2136831"/>
            <a:ext cx="1263717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从集合创建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5254" y="2757201"/>
            <a:ext cx="4549382" cy="60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</a:t>
            </a:r>
            <a:r>
              <a:rPr lang="en-US" sz="1447" dirty="0">
                <a:solidFill>
                  <a:srgbClr val="D4A373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parallelize </a:t>
            </a: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方法从本地集合创建 RDD，适合测试和原型开发。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5254" y="3544153"/>
            <a:ext cx="4457476" cy="1941529"/>
          </a:xfrm>
          <a:custGeom>
            <a:avLst/>
            <a:gdLst/>
            <a:ahLst/>
            <a:cxnLst/>
            <a:rect l="l" t="t" r="r" b="b"/>
            <a:pathLst>
              <a:path w="4457476" h="1941529">
                <a:moveTo>
                  <a:pt x="45956" y="0"/>
                </a:moveTo>
                <a:lnTo>
                  <a:pt x="4411520" y="0"/>
                </a:lnTo>
                <a:cubicBezTo>
                  <a:pt x="4436900" y="0"/>
                  <a:pt x="4457476" y="20575"/>
                  <a:pt x="4457476" y="45956"/>
                </a:cubicBezTo>
                <a:lnTo>
                  <a:pt x="4457476" y="1895573"/>
                </a:lnTo>
                <a:cubicBezTo>
                  <a:pt x="4457476" y="1920954"/>
                  <a:pt x="4436900" y="1941529"/>
                  <a:pt x="4411520" y="1941529"/>
                </a:cubicBezTo>
                <a:lnTo>
                  <a:pt x="45956" y="1941529"/>
                </a:lnTo>
                <a:cubicBezTo>
                  <a:pt x="20575" y="1941529"/>
                  <a:pt x="0" y="1920954"/>
                  <a:pt x="0" y="1895573"/>
                </a:cubicBezTo>
                <a:lnTo>
                  <a:pt x="0" y="45956"/>
                </a:lnTo>
                <a:cubicBezTo>
                  <a:pt x="0" y="20575"/>
                  <a:pt x="20575" y="0"/>
                  <a:pt x="4595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9067" y="3762431"/>
            <a:ext cx="3663254" cy="1496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data = List(1, 2, 3, 4, 5) val rdd = sc.parallelize(data) // 指定分区数 val rddWithPartitions = sc.parallelize(data, numSlices = 4)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254" y="5663751"/>
            <a:ext cx="4457476" cy="1746228"/>
          </a:xfrm>
          <a:custGeom>
            <a:avLst/>
            <a:gdLst/>
            <a:ahLst/>
            <a:cxnLst/>
            <a:rect l="l" t="t" r="r" b="b"/>
            <a:pathLst>
              <a:path w="4457476" h="1746228">
                <a:moveTo>
                  <a:pt x="45961" y="0"/>
                </a:moveTo>
                <a:lnTo>
                  <a:pt x="4411515" y="0"/>
                </a:lnTo>
                <a:cubicBezTo>
                  <a:pt x="4436898" y="0"/>
                  <a:pt x="4457476" y="20577"/>
                  <a:pt x="4457476" y="45961"/>
                </a:cubicBezTo>
                <a:lnTo>
                  <a:pt x="4457476" y="1700267"/>
                </a:lnTo>
                <a:cubicBezTo>
                  <a:pt x="4457476" y="1725650"/>
                  <a:pt x="4436898" y="1746228"/>
                  <a:pt x="4411515" y="1746228"/>
                </a:cubicBezTo>
                <a:lnTo>
                  <a:pt x="45961" y="1746228"/>
                </a:lnTo>
                <a:cubicBezTo>
                  <a:pt x="20577" y="1746228"/>
                  <a:pt x="0" y="1725650"/>
                  <a:pt x="0" y="1700267"/>
                </a:cubicBezTo>
                <a:lnTo>
                  <a:pt x="0" y="45961"/>
                </a:lnTo>
                <a:cubicBezTo>
                  <a:pt x="0" y="20594"/>
                  <a:pt x="20594" y="0"/>
                  <a:pt x="45961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9067" y="5847565"/>
            <a:ext cx="418175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2096" y="6261145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12020" y="6215192"/>
            <a:ext cx="1746228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单元测试和集成测试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096" y="6628772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12020" y="6582818"/>
            <a:ext cx="1930041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小规模数据的原型开发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2096" y="6996399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12020" y="6950445"/>
            <a:ext cx="1930041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 Spark API 和调试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71829" y="1792181"/>
            <a:ext cx="4939986" cy="6893004"/>
          </a:xfrm>
          <a:custGeom>
            <a:avLst/>
            <a:gdLst/>
            <a:ahLst/>
            <a:cxnLst/>
            <a:rect l="l" t="t" r="r" b="b"/>
            <a:pathLst>
              <a:path w="4939986" h="6893004">
                <a:moveTo>
                  <a:pt x="45953" y="0"/>
                </a:moveTo>
                <a:lnTo>
                  <a:pt x="4802111" y="0"/>
                </a:lnTo>
                <a:cubicBezTo>
                  <a:pt x="4878257" y="0"/>
                  <a:pt x="4939986" y="61729"/>
                  <a:pt x="4939986" y="137875"/>
                </a:cubicBezTo>
                <a:lnTo>
                  <a:pt x="4939986" y="6755129"/>
                </a:lnTo>
                <a:cubicBezTo>
                  <a:pt x="4939986" y="6831275"/>
                  <a:pt x="4878257" y="6893004"/>
                  <a:pt x="4802111" y="6893004"/>
                </a:cubicBez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71829" y="1792181"/>
            <a:ext cx="45953" cy="6893004"/>
          </a:xfrm>
          <a:custGeom>
            <a:avLst/>
            <a:gdLst/>
            <a:ahLst/>
            <a:cxnLst/>
            <a:rect l="l" t="t" r="r" b="b"/>
            <a:pathLst>
              <a:path w="45953" h="6893004">
                <a:moveTo>
                  <a:pt x="45953" y="0"/>
                </a:moveTo>
                <a:lnTo>
                  <a:pt x="45953" y="0"/>
                </a:lnTo>
                <a:lnTo>
                  <a:pt x="45953" y="6893004"/>
                </a:ln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24572" y="2021948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122746" y="2113854"/>
            <a:ext cx="287208" cy="36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1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13873" y="2136831"/>
            <a:ext cx="1723251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从外部存储创建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24572" y="2757201"/>
            <a:ext cx="4549382" cy="60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</a:t>
            </a:r>
            <a:r>
              <a:rPr lang="en-US" sz="1447" dirty="0">
                <a:solidFill>
                  <a:srgbClr val="D4A373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textFile </a:t>
            </a: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等方法从外部存储系统读取数据，是生产环境最常用的方式。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24572" y="3544153"/>
            <a:ext cx="4457476" cy="2194273"/>
          </a:xfrm>
          <a:custGeom>
            <a:avLst/>
            <a:gdLst/>
            <a:ahLst/>
            <a:cxnLst/>
            <a:rect l="l" t="t" r="r" b="b"/>
            <a:pathLst>
              <a:path w="4457476" h="2194273">
                <a:moveTo>
                  <a:pt x="45948" y="0"/>
                </a:moveTo>
                <a:lnTo>
                  <a:pt x="4411528" y="0"/>
                </a:lnTo>
                <a:cubicBezTo>
                  <a:pt x="4436904" y="0"/>
                  <a:pt x="4457476" y="20572"/>
                  <a:pt x="4457476" y="45948"/>
                </a:cubicBezTo>
                <a:lnTo>
                  <a:pt x="4457476" y="2148325"/>
                </a:lnTo>
                <a:cubicBezTo>
                  <a:pt x="4457476" y="2173701"/>
                  <a:pt x="4436904" y="2194273"/>
                  <a:pt x="4411528" y="2194273"/>
                </a:cubicBezTo>
                <a:lnTo>
                  <a:pt x="45948" y="2194273"/>
                </a:lnTo>
                <a:cubicBezTo>
                  <a:pt x="20572" y="2194273"/>
                  <a:pt x="0" y="2173701"/>
                  <a:pt x="0" y="2148325"/>
                </a:cubicBezTo>
                <a:lnTo>
                  <a:pt x="0" y="45948"/>
                </a:lnTo>
                <a:cubicBezTo>
                  <a:pt x="0" y="20572"/>
                  <a:pt x="20572" y="0"/>
                  <a:pt x="459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108386" y="3762431"/>
            <a:ext cx="4147380" cy="175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从 HDFS 读取 val textRDD = sc.textFile( "hdfs://namenode:9000/path/to/file.txt") // 从本地文件系统读取 val jsonRDD = sc.textFile( "file:///local/path/data.json")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24572" y="5925111"/>
            <a:ext cx="4457476" cy="1746228"/>
          </a:xfrm>
          <a:custGeom>
            <a:avLst/>
            <a:gdLst/>
            <a:ahLst/>
            <a:cxnLst/>
            <a:rect l="l" t="t" r="r" b="b"/>
            <a:pathLst>
              <a:path w="4457476" h="1746228">
                <a:moveTo>
                  <a:pt x="45961" y="0"/>
                </a:moveTo>
                <a:lnTo>
                  <a:pt x="4411515" y="0"/>
                </a:lnTo>
                <a:cubicBezTo>
                  <a:pt x="4436898" y="0"/>
                  <a:pt x="4457476" y="20577"/>
                  <a:pt x="4457476" y="45961"/>
                </a:cubicBezTo>
                <a:lnTo>
                  <a:pt x="4457476" y="1700267"/>
                </a:lnTo>
                <a:cubicBezTo>
                  <a:pt x="4457476" y="1725650"/>
                  <a:pt x="4436898" y="1746228"/>
                  <a:pt x="4411515" y="1746228"/>
                </a:cubicBezTo>
                <a:lnTo>
                  <a:pt x="45961" y="1746228"/>
                </a:lnTo>
                <a:cubicBezTo>
                  <a:pt x="20577" y="1746228"/>
                  <a:pt x="0" y="1725650"/>
                  <a:pt x="0" y="1700267"/>
                </a:cubicBezTo>
                <a:lnTo>
                  <a:pt x="0" y="45961"/>
                </a:lnTo>
                <a:cubicBezTo>
                  <a:pt x="0" y="20594"/>
                  <a:pt x="20594" y="0"/>
                  <a:pt x="4596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108386" y="6108924"/>
            <a:ext cx="418175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支持的数据源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41415" y="6522505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01339" y="6476551"/>
            <a:ext cx="281464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HDFS、Amazon S3、Azure Blob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41415" y="6890131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1339" y="6844178"/>
            <a:ext cx="1723251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本地文件系统、NFS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41415" y="7257758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01339" y="7211805"/>
            <a:ext cx="235511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HBase、Cassandra、JDBC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61148" y="1792181"/>
            <a:ext cx="4939986" cy="6893004"/>
          </a:xfrm>
          <a:custGeom>
            <a:avLst/>
            <a:gdLst/>
            <a:ahLst/>
            <a:cxnLst/>
            <a:rect l="l" t="t" r="r" b="b"/>
            <a:pathLst>
              <a:path w="4939986" h="6893004">
                <a:moveTo>
                  <a:pt x="45953" y="0"/>
                </a:moveTo>
                <a:lnTo>
                  <a:pt x="4802111" y="0"/>
                </a:lnTo>
                <a:cubicBezTo>
                  <a:pt x="4878257" y="0"/>
                  <a:pt x="4939986" y="61729"/>
                  <a:pt x="4939986" y="137875"/>
                </a:cubicBezTo>
                <a:lnTo>
                  <a:pt x="4939986" y="6755129"/>
                </a:lnTo>
                <a:cubicBezTo>
                  <a:pt x="4939986" y="6831275"/>
                  <a:pt x="4878257" y="6893004"/>
                  <a:pt x="4802111" y="6893004"/>
                </a:cubicBez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4A6B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0861148" y="1792181"/>
            <a:ext cx="45953" cy="6893004"/>
          </a:xfrm>
          <a:custGeom>
            <a:avLst/>
            <a:gdLst/>
            <a:ahLst/>
            <a:cxnLst/>
            <a:rect l="l" t="t" r="r" b="b"/>
            <a:pathLst>
              <a:path w="45953" h="6893004">
                <a:moveTo>
                  <a:pt x="45953" y="0"/>
                </a:moveTo>
                <a:lnTo>
                  <a:pt x="45953" y="0"/>
                </a:lnTo>
                <a:lnTo>
                  <a:pt x="45953" y="6893004"/>
                </a:lnTo>
                <a:lnTo>
                  <a:pt x="45953" y="6893004"/>
                </a:lnTo>
                <a:cubicBezTo>
                  <a:pt x="20574" y="6893004"/>
                  <a:pt x="0" y="6872430"/>
                  <a:pt x="0" y="684705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1113891" y="2021948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308475" y="2113854"/>
            <a:ext cx="298697" cy="36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03192" y="2136831"/>
            <a:ext cx="1884088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从其他 RDD 转换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13891" y="2757201"/>
            <a:ext cx="4549382" cy="59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通过转换操作从已有的 RDD 创建新的 RDD，这是 Spark 编程中最常见的模式。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13891" y="3538408"/>
            <a:ext cx="4457476" cy="2986968"/>
          </a:xfrm>
          <a:custGeom>
            <a:avLst/>
            <a:gdLst/>
            <a:ahLst/>
            <a:cxnLst/>
            <a:rect l="l" t="t" r="r" b="b"/>
            <a:pathLst>
              <a:path w="4457476" h="2986968">
                <a:moveTo>
                  <a:pt x="45940" y="0"/>
                </a:moveTo>
                <a:lnTo>
                  <a:pt x="4411536" y="0"/>
                </a:lnTo>
                <a:cubicBezTo>
                  <a:pt x="4436908" y="0"/>
                  <a:pt x="4457476" y="20568"/>
                  <a:pt x="4457476" y="45940"/>
                </a:cubicBezTo>
                <a:lnTo>
                  <a:pt x="4457476" y="2941029"/>
                </a:lnTo>
                <a:cubicBezTo>
                  <a:pt x="4457476" y="2966400"/>
                  <a:pt x="4436908" y="2986968"/>
                  <a:pt x="4411536" y="2986968"/>
                </a:cubicBezTo>
                <a:lnTo>
                  <a:pt x="45940" y="2986968"/>
                </a:lnTo>
                <a:cubicBezTo>
                  <a:pt x="20568" y="2986968"/>
                  <a:pt x="0" y="2966400"/>
                  <a:pt x="0" y="2941029"/>
                </a:cubicBezTo>
                <a:lnTo>
                  <a:pt x="0" y="45940"/>
                </a:lnTo>
                <a:cubicBezTo>
                  <a:pt x="0" y="20568"/>
                  <a:pt x="20568" y="0"/>
                  <a:pt x="4594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97705" y="3756687"/>
            <a:ext cx="4341066" cy="254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textRDD = sc.textFile("data.txt") val wordsRDD = textRDD.flatMap(_.split(" ")) val pairsRDD = wordsRDD.map((_, 1)) // 多个转换操作的链式调用 val resultRDD = sc.textFile("data.txt") .flatMap(_.split(" ")) .filter(_.nonEmpty) .map((_, 1)) .reduceByKey(_ + _)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13891" y="6703446"/>
            <a:ext cx="4457476" cy="1746228"/>
          </a:xfrm>
          <a:custGeom>
            <a:avLst/>
            <a:gdLst/>
            <a:ahLst/>
            <a:cxnLst/>
            <a:rect l="l" t="t" r="r" b="b"/>
            <a:pathLst>
              <a:path w="4457476" h="1746228">
                <a:moveTo>
                  <a:pt x="45961" y="0"/>
                </a:moveTo>
                <a:lnTo>
                  <a:pt x="4411515" y="0"/>
                </a:lnTo>
                <a:cubicBezTo>
                  <a:pt x="4436898" y="0"/>
                  <a:pt x="4457476" y="20577"/>
                  <a:pt x="4457476" y="45961"/>
                </a:cubicBezTo>
                <a:lnTo>
                  <a:pt x="4457476" y="1700267"/>
                </a:lnTo>
                <a:cubicBezTo>
                  <a:pt x="4457476" y="1725650"/>
                  <a:pt x="4436898" y="1746228"/>
                  <a:pt x="4411515" y="1746228"/>
                </a:cubicBezTo>
                <a:lnTo>
                  <a:pt x="45961" y="1746228"/>
                </a:lnTo>
                <a:cubicBezTo>
                  <a:pt x="20577" y="1746228"/>
                  <a:pt x="0" y="1725650"/>
                  <a:pt x="0" y="1700267"/>
                </a:cubicBezTo>
                <a:lnTo>
                  <a:pt x="0" y="45961"/>
                </a:lnTo>
                <a:cubicBezTo>
                  <a:pt x="0" y="20594"/>
                  <a:pt x="20594" y="0"/>
                  <a:pt x="45961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297705" y="6887259"/>
            <a:ext cx="418175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330734" y="7300840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590657" y="7254886"/>
            <a:ext cx="321673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优先使用转换操作构建数据处理流水线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330734" y="7668466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590657" y="7622513"/>
            <a:ext cx="2297668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合理使用分区数优化并行度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330734" y="8036093"/>
            <a:ext cx="140732" cy="160837"/>
          </a:xfrm>
          <a:custGeom>
            <a:avLst/>
            <a:gdLst/>
            <a:ahLst/>
            <a:cxnLst/>
            <a:rect l="l" t="t" r="r" b="b"/>
            <a:pathLst>
              <a:path w="140732" h="160837">
                <a:moveTo>
                  <a:pt x="136586" y="22021"/>
                </a:moveTo>
                <a:cubicBezTo>
                  <a:pt x="141078" y="25288"/>
                  <a:pt x="142083" y="31570"/>
                  <a:pt x="138816" y="36063"/>
                </a:cubicBezTo>
                <a:lnTo>
                  <a:pt x="58398" y="146638"/>
                </a:lnTo>
                <a:cubicBezTo>
                  <a:pt x="56670" y="149025"/>
                  <a:pt x="54000" y="150502"/>
                  <a:pt x="51047" y="150753"/>
                </a:cubicBezTo>
                <a:cubicBezTo>
                  <a:pt x="48094" y="151004"/>
                  <a:pt x="45235" y="149905"/>
                  <a:pt x="43162" y="147832"/>
                </a:cubicBezTo>
                <a:lnTo>
                  <a:pt x="2953" y="107622"/>
                </a:lnTo>
                <a:cubicBezTo>
                  <a:pt x="-974" y="103696"/>
                  <a:pt x="-974" y="97319"/>
                  <a:pt x="2953" y="93392"/>
                </a:cubicBezTo>
                <a:cubicBezTo>
                  <a:pt x="6880" y="89465"/>
                  <a:pt x="13256" y="89465"/>
                  <a:pt x="17183" y="93392"/>
                </a:cubicBezTo>
                <a:lnTo>
                  <a:pt x="49068" y="125277"/>
                </a:lnTo>
                <a:lnTo>
                  <a:pt x="122575" y="24220"/>
                </a:lnTo>
                <a:cubicBezTo>
                  <a:pt x="125842" y="19728"/>
                  <a:pt x="132125" y="18722"/>
                  <a:pt x="136617" y="219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590657" y="7990140"/>
            <a:ext cx="242404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对重复使用的 RDD 进行缓存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437091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缓存与持久化策略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15434" y="489211"/>
            <a:ext cx="3523192" cy="376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避免重复计算，提升迭代算法性能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7050" y="1186127"/>
            <a:ext cx="9144000" cy="4397375"/>
          </a:xfrm>
          <a:custGeom>
            <a:avLst/>
            <a:gdLst/>
            <a:ahLst/>
            <a:cxnLst/>
            <a:rect l="l" t="t" r="r" b="b"/>
            <a:pathLst>
              <a:path w="9144000" h="5249333">
                <a:moveTo>
                  <a:pt x="42333" y="0"/>
                </a:moveTo>
                <a:lnTo>
                  <a:pt x="9017019" y="0"/>
                </a:lnTo>
                <a:cubicBezTo>
                  <a:pt x="9087149" y="0"/>
                  <a:pt x="9144000" y="56851"/>
                  <a:pt x="9144000" y="126981"/>
                </a:cubicBezTo>
                <a:lnTo>
                  <a:pt x="9144000" y="5122352"/>
                </a:lnTo>
                <a:cubicBezTo>
                  <a:pt x="9144000" y="5192482"/>
                  <a:pt x="9087149" y="5249333"/>
                  <a:pt x="9017019" y="5249333"/>
                </a:cubicBezTo>
                <a:lnTo>
                  <a:pt x="42333" y="5249333"/>
                </a:lnTo>
                <a:cubicBezTo>
                  <a:pt x="18953" y="5249333"/>
                  <a:pt x="0" y="5230380"/>
                  <a:pt x="0" y="520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17050" y="1186127"/>
            <a:ext cx="45719" cy="4397375"/>
          </a:xfrm>
          <a:custGeom>
            <a:avLst/>
            <a:gdLst/>
            <a:ahLst/>
            <a:cxnLst/>
            <a:rect l="l" t="t" r="r" b="b"/>
            <a:pathLst>
              <a:path w="42333" h="5249333">
                <a:moveTo>
                  <a:pt x="42333" y="0"/>
                </a:moveTo>
                <a:lnTo>
                  <a:pt x="42333" y="0"/>
                </a:lnTo>
                <a:lnTo>
                  <a:pt x="42333" y="5249333"/>
                </a:lnTo>
                <a:lnTo>
                  <a:pt x="42333" y="5249333"/>
                </a:lnTo>
                <a:cubicBezTo>
                  <a:pt x="18953" y="5249333"/>
                  <a:pt x="0" y="5230380"/>
                  <a:pt x="0" y="520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9883" y="1397794"/>
            <a:ext cx="8826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缓存的重要性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883" y="1905795"/>
            <a:ext cx="8699500" cy="2026708"/>
          </a:xfrm>
          <a:custGeom>
            <a:avLst/>
            <a:gdLst/>
            <a:ahLst/>
            <a:cxnLst/>
            <a:rect l="l" t="t" r="r" b="b"/>
            <a:pathLst>
              <a:path w="8699500" h="2751667">
                <a:moveTo>
                  <a:pt x="42321" y="0"/>
                </a:moveTo>
                <a:lnTo>
                  <a:pt x="8657179" y="0"/>
                </a:lnTo>
                <a:cubicBezTo>
                  <a:pt x="8680552" y="0"/>
                  <a:pt x="8699500" y="18948"/>
                  <a:pt x="8699500" y="42321"/>
                </a:cubicBezTo>
                <a:lnTo>
                  <a:pt x="8699500" y="2709346"/>
                </a:lnTo>
                <a:cubicBezTo>
                  <a:pt x="8699500" y="2732719"/>
                  <a:pt x="8680552" y="2751667"/>
                  <a:pt x="8657179" y="2751667"/>
                </a:cubicBezTo>
                <a:lnTo>
                  <a:pt x="42321" y="2751667"/>
                </a:lnTo>
                <a:cubicBezTo>
                  <a:pt x="18948" y="2751667"/>
                  <a:pt x="0" y="2732719"/>
                  <a:pt x="0" y="2709346"/>
                </a:cubicBezTo>
                <a:lnTo>
                  <a:pt x="0" y="42321"/>
                </a:lnTo>
                <a:cubicBezTo>
                  <a:pt x="0" y="18948"/>
                  <a:pt x="18948" y="0"/>
                  <a:pt x="423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19217" y="2106878"/>
            <a:ext cx="8140171" cy="165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importantData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sc.textFile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("large-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dataset.txt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.filter(_.contains("important"))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.cache() //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缓存到内存</a:t>
            </a:r>
          </a:p>
          <a:p>
            <a:b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</a:b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多次使用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importantData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时，无需重新计算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count1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importantData.count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count2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importantData.filter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(_.length &gt; 10).count()</a:t>
            </a:r>
          </a:p>
        </p:txBody>
      </p:sp>
      <p:sp>
        <p:nvSpPr>
          <p:cNvPr id="10" name="Shape 8"/>
          <p:cNvSpPr/>
          <p:nvPr/>
        </p:nvSpPr>
        <p:spPr>
          <a:xfrm>
            <a:off x="649883" y="4064259"/>
            <a:ext cx="4265083" cy="1397000"/>
          </a:xfrm>
          <a:custGeom>
            <a:avLst/>
            <a:gdLst/>
            <a:ahLst/>
            <a:cxnLst/>
            <a:rect l="l" t="t" r="r" b="b"/>
            <a:pathLst>
              <a:path w="4265083" h="1397000">
                <a:moveTo>
                  <a:pt x="42329" y="0"/>
                </a:moveTo>
                <a:lnTo>
                  <a:pt x="4222754" y="0"/>
                </a:lnTo>
                <a:cubicBezTo>
                  <a:pt x="4246132" y="0"/>
                  <a:pt x="4265083" y="18951"/>
                  <a:pt x="4265083" y="42329"/>
                </a:cubicBezTo>
                <a:lnTo>
                  <a:pt x="4265083" y="1354671"/>
                </a:lnTo>
                <a:cubicBezTo>
                  <a:pt x="4265083" y="1378049"/>
                  <a:pt x="4246132" y="1397000"/>
                  <a:pt x="4222754" y="1397000"/>
                </a:cubicBezTo>
                <a:lnTo>
                  <a:pt x="42329" y="1397000"/>
                </a:lnTo>
                <a:cubicBezTo>
                  <a:pt x="18951" y="1397000"/>
                  <a:pt x="0" y="1378049"/>
                  <a:pt x="0" y="1354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6883" y="4233592"/>
            <a:ext cx="4011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无缓存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9842" y="4572259"/>
            <a:ext cx="4085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6883" y="5037926"/>
            <a:ext cx="4011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每次都需要重新计算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2150" y="4064259"/>
            <a:ext cx="4265083" cy="1397000"/>
          </a:xfrm>
          <a:custGeom>
            <a:avLst/>
            <a:gdLst/>
            <a:ahLst/>
            <a:cxnLst/>
            <a:rect l="l" t="t" r="r" b="b"/>
            <a:pathLst>
              <a:path w="4265083" h="1397000">
                <a:moveTo>
                  <a:pt x="42329" y="0"/>
                </a:moveTo>
                <a:lnTo>
                  <a:pt x="4222754" y="0"/>
                </a:lnTo>
                <a:cubicBezTo>
                  <a:pt x="4246132" y="0"/>
                  <a:pt x="4265083" y="18951"/>
                  <a:pt x="4265083" y="42329"/>
                </a:cubicBezTo>
                <a:lnTo>
                  <a:pt x="4265083" y="1354671"/>
                </a:lnTo>
                <a:cubicBezTo>
                  <a:pt x="4265083" y="1378049"/>
                  <a:pt x="4246132" y="1397000"/>
                  <a:pt x="4222754" y="1397000"/>
                </a:cubicBezTo>
                <a:lnTo>
                  <a:pt x="42329" y="1397000"/>
                </a:lnTo>
                <a:cubicBezTo>
                  <a:pt x="18951" y="1397000"/>
                  <a:pt x="0" y="1378049"/>
                  <a:pt x="0" y="1354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209150" y="4233592"/>
            <a:ext cx="4011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有缓存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2109" y="4572259"/>
            <a:ext cx="4085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09150" y="5037926"/>
            <a:ext cx="4011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直接从内存读取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7050" y="5684566"/>
            <a:ext cx="9144000" cy="3166271"/>
          </a:xfrm>
          <a:custGeom>
            <a:avLst/>
            <a:gdLst/>
            <a:ahLst/>
            <a:cxnLst/>
            <a:rect l="l" t="t" r="r" b="b"/>
            <a:pathLst>
              <a:path w="9144000" h="3810000">
                <a:moveTo>
                  <a:pt x="42333" y="0"/>
                </a:moveTo>
                <a:lnTo>
                  <a:pt x="9017013" y="0"/>
                </a:lnTo>
                <a:cubicBezTo>
                  <a:pt x="9087146" y="0"/>
                  <a:pt x="9144000" y="56854"/>
                  <a:pt x="9144000" y="126987"/>
                </a:cubicBezTo>
                <a:lnTo>
                  <a:pt x="9144000" y="3683013"/>
                </a:lnTo>
                <a:cubicBezTo>
                  <a:pt x="9144000" y="3753146"/>
                  <a:pt x="9087146" y="3810000"/>
                  <a:pt x="9017013" y="3810000"/>
                </a:cubicBezTo>
                <a:lnTo>
                  <a:pt x="42333" y="3810000"/>
                </a:lnTo>
                <a:cubicBezTo>
                  <a:pt x="18953" y="3810000"/>
                  <a:pt x="0" y="3791047"/>
                  <a:pt x="0" y="3767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17050" y="5684566"/>
            <a:ext cx="45719" cy="3166271"/>
          </a:xfrm>
          <a:custGeom>
            <a:avLst/>
            <a:gdLst/>
            <a:ahLst/>
            <a:cxnLst/>
            <a:rect l="l" t="t" r="r" b="b"/>
            <a:pathLst>
              <a:path w="42333" h="3810000">
                <a:moveTo>
                  <a:pt x="42333" y="0"/>
                </a:moveTo>
                <a:lnTo>
                  <a:pt x="42333" y="0"/>
                </a:lnTo>
                <a:lnTo>
                  <a:pt x="42333" y="3810000"/>
                </a:lnTo>
                <a:lnTo>
                  <a:pt x="42333" y="3810000"/>
                </a:lnTo>
                <a:cubicBezTo>
                  <a:pt x="18953" y="3810000"/>
                  <a:pt x="0" y="3791047"/>
                  <a:pt x="0" y="3767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9883" y="5896233"/>
            <a:ext cx="8826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存储级别选择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883" y="6404233"/>
            <a:ext cx="4286250" cy="496359"/>
          </a:xfrm>
          <a:custGeom>
            <a:avLst/>
            <a:gdLst/>
            <a:ahLst/>
            <a:cxnLst/>
            <a:rect l="l" t="t" r="r" b="b"/>
            <a:pathLst>
              <a:path w="4286250" h="762000">
                <a:moveTo>
                  <a:pt x="42337" y="0"/>
                </a:moveTo>
                <a:lnTo>
                  <a:pt x="4243913" y="0"/>
                </a:lnTo>
                <a:cubicBezTo>
                  <a:pt x="4267295" y="0"/>
                  <a:pt x="4286250" y="18955"/>
                  <a:pt x="4286250" y="42337"/>
                </a:cubicBezTo>
                <a:lnTo>
                  <a:pt x="4286250" y="719663"/>
                </a:lnTo>
                <a:cubicBezTo>
                  <a:pt x="4286250" y="743045"/>
                  <a:pt x="4267295" y="762000"/>
                  <a:pt x="42439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6883" y="6541816"/>
            <a:ext cx="411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MEMORY_ONLY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77071" y="6541816"/>
            <a:ext cx="14245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仅内存存储（默认）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60984" y="6404233"/>
            <a:ext cx="4286250" cy="496359"/>
          </a:xfrm>
          <a:custGeom>
            <a:avLst/>
            <a:gdLst/>
            <a:ahLst/>
            <a:cxnLst/>
            <a:rect l="l" t="t" r="r" b="b"/>
            <a:pathLst>
              <a:path w="4286250" h="762000">
                <a:moveTo>
                  <a:pt x="42337" y="0"/>
                </a:moveTo>
                <a:lnTo>
                  <a:pt x="4243913" y="0"/>
                </a:lnTo>
                <a:cubicBezTo>
                  <a:pt x="4267295" y="0"/>
                  <a:pt x="4286250" y="18955"/>
                  <a:pt x="4286250" y="42337"/>
                </a:cubicBezTo>
                <a:lnTo>
                  <a:pt x="4286250" y="719663"/>
                </a:lnTo>
                <a:cubicBezTo>
                  <a:pt x="4286250" y="743045"/>
                  <a:pt x="4267295" y="762000"/>
                  <a:pt x="42439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187984" y="6541816"/>
            <a:ext cx="411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MEMORY_AND_DISK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54007" y="6541816"/>
            <a:ext cx="18854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内存优先，溢出到磁盘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883" y="6950329"/>
            <a:ext cx="4286250" cy="496359"/>
          </a:xfrm>
          <a:custGeom>
            <a:avLst/>
            <a:gdLst/>
            <a:ahLst/>
            <a:cxnLst/>
            <a:rect l="l" t="t" r="r" b="b"/>
            <a:pathLst>
              <a:path w="4286250" h="762000">
                <a:moveTo>
                  <a:pt x="42337" y="0"/>
                </a:moveTo>
                <a:lnTo>
                  <a:pt x="4243913" y="0"/>
                </a:lnTo>
                <a:cubicBezTo>
                  <a:pt x="4267295" y="0"/>
                  <a:pt x="4286250" y="18955"/>
                  <a:pt x="4286250" y="42337"/>
                </a:cubicBezTo>
                <a:lnTo>
                  <a:pt x="4286250" y="719663"/>
                </a:lnTo>
                <a:cubicBezTo>
                  <a:pt x="4286250" y="743045"/>
                  <a:pt x="4267295" y="762000"/>
                  <a:pt x="42439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76883" y="7085262"/>
            <a:ext cx="411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DISK_ONLY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05597" y="7106429"/>
            <a:ext cx="123878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仅磁盘存储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60984" y="6950329"/>
            <a:ext cx="4286250" cy="496359"/>
          </a:xfrm>
          <a:custGeom>
            <a:avLst/>
            <a:gdLst/>
            <a:ahLst/>
            <a:cxnLst/>
            <a:rect l="l" t="t" r="r" b="b"/>
            <a:pathLst>
              <a:path w="4286250" h="762000">
                <a:moveTo>
                  <a:pt x="42337" y="0"/>
                </a:moveTo>
                <a:lnTo>
                  <a:pt x="4243913" y="0"/>
                </a:lnTo>
                <a:cubicBezTo>
                  <a:pt x="4267295" y="0"/>
                  <a:pt x="4286250" y="18955"/>
                  <a:pt x="4286250" y="42337"/>
                </a:cubicBezTo>
                <a:lnTo>
                  <a:pt x="4286250" y="719663"/>
                </a:lnTo>
                <a:cubicBezTo>
                  <a:pt x="4286250" y="743045"/>
                  <a:pt x="4267295" y="762000"/>
                  <a:pt x="424391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87984" y="7085262"/>
            <a:ext cx="411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MEMORY_ONLY_SER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4537" y="7085262"/>
            <a:ext cx="15711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序列化后存储在内存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9883" y="7510715"/>
            <a:ext cx="8699500" cy="1100667"/>
          </a:xfrm>
          <a:custGeom>
            <a:avLst/>
            <a:gdLst/>
            <a:ahLst/>
            <a:cxnLst/>
            <a:rect l="l" t="t" r="r" b="b"/>
            <a:pathLst>
              <a:path w="8699500" h="1100667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1058335"/>
                </a:lnTo>
                <a:cubicBezTo>
                  <a:pt x="8699500" y="1081714"/>
                  <a:pt x="8680547" y="1100667"/>
                  <a:pt x="8657168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76883" y="7653590"/>
            <a:ext cx="399909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</a:t>
            </a:r>
            <a:r>
              <a:rPr lang="en-US" sz="1167" dirty="0" err="1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org.apache.spark.storage.StorageLevel</a:t>
            </a: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显式指定存储级别 data.persist(StorageLevel.MEMORY_AND_DISK_2)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01159" y="1199088"/>
            <a:ext cx="6021917" cy="3862917"/>
          </a:xfrm>
          <a:custGeom>
            <a:avLst/>
            <a:gdLst/>
            <a:ahLst/>
            <a:cxnLst/>
            <a:rect l="l" t="t" r="r" b="b"/>
            <a:pathLst>
              <a:path w="6021917" h="3862917">
                <a:moveTo>
                  <a:pt x="127013" y="0"/>
                </a:moveTo>
                <a:lnTo>
                  <a:pt x="5894904" y="0"/>
                </a:lnTo>
                <a:cubicBezTo>
                  <a:pt x="5965051" y="0"/>
                  <a:pt x="6021917" y="56866"/>
                  <a:pt x="6021917" y="127013"/>
                </a:cubicBezTo>
                <a:lnTo>
                  <a:pt x="6021917" y="3735904"/>
                </a:lnTo>
                <a:cubicBezTo>
                  <a:pt x="6021917" y="3806051"/>
                  <a:pt x="5965051" y="3862917"/>
                  <a:pt x="5894904" y="3862917"/>
                </a:cubicBezTo>
                <a:lnTo>
                  <a:pt x="127013" y="3862917"/>
                </a:lnTo>
                <a:cubicBezTo>
                  <a:pt x="56866" y="3862917"/>
                  <a:pt x="0" y="3806051"/>
                  <a:pt x="0" y="3735904"/>
                </a:cubicBezTo>
                <a:lnTo>
                  <a:pt x="0" y="127013"/>
                </a:lnTo>
                <a:cubicBezTo>
                  <a:pt x="0" y="56912"/>
                  <a:pt x="56912" y="0"/>
                  <a:pt x="12701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044576" y="145837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26458"/>
                </a:moveTo>
                <a:cubicBezTo>
                  <a:pt x="26458" y="19141"/>
                  <a:pt x="20547" y="13229"/>
                  <a:pt x="13229" y="13229"/>
                </a:cubicBezTo>
                <a:cubicBezTo>
                  <a:pt x="5912" y="13229"/>
                  <a:pt x="0" y="19141"/>
                  <a:pt x="0" y="26458"/>
                </a:cubicBezTo>
                <a:lnTo>
                  <a:pt x="0" y="165365"/>
                </a:lnTo>
                <a:cubicBezTo>
                  <a:pt x="0" y="183637"/>
                  <a:pt x="14800" y="198438"/>
                  <a:pt x="33073" y="198438"/>
                </a:cubicBezTo>
                <a:lnTo>
                  <a:pt x="198438" y="198438"/>
                </a:lnTo>
                <a:cubicBezTo>
                  <a:pt x="205755" y="198438"/>
                  <a:pt x="211667" y="192526"/>
                  <a:pt x="211667" y="185208"/>
                </a:cubicBezTo>
                <a:cubicBezTo>
                  <a:pt x="211667" y="177891"/>
                  <a:pt x="205755" y="171979"/>
                  <a:pt x="198438" y="171979"/>
                </a:cubicBezTo>
                <a:lnTo>
                  <a:pt x="33073" y="171979"/>
                </a:lnTo>
                <a:cubicBezTo>
                  <a:pt x="29435" y="171979"/>
                  <a:pt x="26458" y="169003"/>
                  <a:pt x="26458" y="165365"/>
                </a:cubicBezTo>
                <a:lnTo>
                  <a:pt x="26458" y="26458"/>
                </a:lnTo>
                <a:close/>
                <a:moveTo>
                  <a:pt x="194551" y="62260"/>
                </a:moveTo>
                <a:cubicBezTo>
                  <a:pt x="199719" y="57092"/>
                  <a:pt x="199719" y="48700"/>
                  <a:pt x="194551" y="43532"/>
                </a:cubicBezTo>
                <a:cubicBezTo>
                  <a:pt x="189384" y="38365"/>
                  <a:pt x="180992" y="38365"/>
                  <a:pt x="175824" y="43532"/>
                </a:cubicBezTo>
                <a:lnTo>
                  <a:pt x="132292" y="87106"/>
                </a:lnTo>
                <a:lnTo>
                  <a:pt x="108562" y="63417"/>
                </a:lnTo>
                <a:cubicBezTo>
                  <a:pt x="103394" y="58250"/>
                  <a:pt x="95002" y="58250"/>
                  <a:pt x="89834" y="63417"/>
                </a:cubicBezTo>
                <a:lnTo>
                  <a:pt x="50147" y="103105"/>
                </a:lnTo>
                <a:cubicBezTo>
                  <a:pt x="44979" y="108272"/>
                  <a:pt x="44979" y="116665"/>
                  <a:pt x="50147" y="121832"/>
                </a:cubicBezTo>
                <a:cubicBezTo>
                  <a:pt x="55314" y="127000"/>
                  <a:pt x="63707" y="127000"/>
                  <a:pt x="68874" y="121832"/>
                </a:cubicBezTo>
                <a:lnTo>
                  <a:pt x="99219" y="91488"/>
                </a:lnTo>
                <a:lnTo>
                  <a:pt x="122949" y="115218"/>
                </a:lnTo>
                <a:cubicBezTo>
                  <a:pt x="128116" y="120385"/>
                  <a:pt x="136508" y="120385"/>
                  <a:pt x="141676" y="115218"/>
                </a:cubicBezTo>
                <a:lnTo>
                  <a:pt x="194593" y="6230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282701" y="1416046"/>
            <a:ext cx="542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性能对比</a:t>
            </a:r>
            <a:endParaRPr lang="en-US" sz="1600" dirty="0"/>
          </a:p>
        </p:txBody>
      </p:sp>
      <p:pic>
        <p:nvPicPr>
          <p:cNvPr id="38" name="Image 0" descr="https://kimi-img.moonshot.cn/pub/slides/25-12-20-09:45:30-d52vvehg4pnoot346umg.png"/>
          <p:cNvPicPr>
            <a:picLocks noChangeAspect="1"/>
          </p:cNvPicPr>
          <p:nvPr/>
        </p:nvPicPr>
        <p:blipFill>
          <a:blip r:embed="rId3"/>
          <a:srcRect t="9659" b="9659"/>
          <a:stretch/>
        </p:blipFill>
        <p:spPr>
          <a:xfrm>
            <a:off x="10018117" y="1881713"/>
            <a:ext cx="5588000" cy="2963333"/>
          </a:xfrm>
          <a:prstGeom prst="roundRect">
            <a:avLst>
              <a:gd name="adj" fmla="val 0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9801159" y="5284254"/>
            <a:ext cx="6021917" cy="3566583"/>
          </a:xfrm>
          <a:custGeom>
            <a:avLst/>
            <a:gdLst/>
            <a:ahLst/>
            <a:cxnLst/>
            <a:rect l="l" t="t" r="r" b="b"/>
            <a:pathLst>
              <a:path w="6021917" h="3566583">
                <a:moveTo>
                  <a:pt x="127006" y="0"/>
                </a:moveTo>
                <a:lnTo>
                  <a:pt x="5894911" y="0"/>
                </a:lnTo>
                <a:cubicBezTo>
                  <a:pt x="5965054" y="0"/>
                  <a:pt x="6021917" y="56863"/>
                  <a:pt x="6021917" y="127006"/>
                </a:cubicBezTo>
                <a:lnTo>
                  <a:pt x="6021917" y="3439577"/>
                </a:lnTo>
                <a:cubicBezTo>
                  <a:pt x="6021917" y="3509721"/>
                  <a:pt x="5965054" y="3566583"/>
                  <a:pt x="5894911" y="3566583"/>
                </a:cubicBezTo>
                <a:lnTo>
                  <a:pt x="127006" y="3566583"/>
                </a:lnTo>
                <a:cubicBezTo>
                  <a:pt x="56863" y="3566583"/>
                  <a:pt x="0" y="3509721"/>
                  <a:pt x="0" y="3439577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7"/>
          <p:cNvSpPr/>
          <p:nvPr/>
        </p:nvSpPr>
        <p:spPr>
          <a:xfrm>
            <a:off x="10071034" y="5543546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10282701" y="5501213"/>
            <a:ext cx="542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缓存策略建议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018117" y="5966879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0145117" y="6093879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迭代算法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145117" y="6390213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必须缓存中间结果，避免重复计算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018117" y="6898213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10145117" y="7025213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频繁访问的数据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0145117" y="7321546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如参考数据、维度表等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018117" y="7829546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10145117" y="7956546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内存不足时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145117" y="8252879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MEMORY_AND_DISK 或序列化存储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850" y="443850"/>
            <a:ext cx="88770" cy="443850"/>
          </a:xfrm>
          <a:custGeom>
            <a:avLst/>
            <a:gdLst/>
            <a:ahLst/>
            <a:cxnLst/>
            <a:rect l="l" t="t" r="r" b="b"/>
            <a:pathLst>
              <a:path w="88770" h="443850">
                <a:moveTo>
                  <a:pt x="0" y="0"/>
                </a:moveTo>
                <a:lnTo>
                  <a:pt x="88770" y="0"/>
                </a:lnTo>
                <a:lnTo>
                  <a:pt x="88770" y="443850"/>
                </a:lnTo>
                <a:lnTo>
                  <a:pt x="0" y="4438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0160" y="443850"/>
            <a:ext cx="3717242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45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与 HDFS 的协作机制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0160" y="1109625"/>
            <a:ext cx="15201857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高效、可靠的分布式计算基础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042" y="1642244"/>
            <a:ext cx="7523255" cy="3417644"/>
          </a:xfrm>
          <a:custGeom>
            <a:avLst/>
            <a:gdLst/>
            <a:ahLst/>
            <a:cxnLst/>
            <a:rect l="l" t="t" r="r" b="b"/>
            <a:pathLst>
              <a:path w="7523255" h="3417644">
                <a:moveTo>
                  <a:pt x="44385" y="0"/>
                </a:moveTo>
                <a:lnTo>
                  <a:pt x="7390103" y="0"/>
                </a:lnTo>
                <a:cubicBezTo>
                  <a:pt x="7463641" y="0"/>
                  <a:pt x="7523255" y="59614"/>
                  <a:pt x="7523255" y="133151"/>
                </a:cubicBezTo>
                <a:lnTo>
                  <a:pt x="7523255" y="3284492"/>
                </a:lnTo>
                <a:cubicBezTo>
                  <a:pt x="7523255" y="3358030"/>
                  <a:pt x="7463641" y="3417644"/>
                  <a:pt x="7390103" y="3417644"/>
                </a:cubicBezTo>
                <a:lnTo>
                  <a:pt x="44385" y="3417644"/>
                </a:lnTo>
                <a:cubicBezTo>
                  <a:pt x="19872" y="3417644"/>
                  <a:pt x="0" y="3397772"/>
                  <a:pt x="0" y="3373259"/>
                </a:cubicBezTo>
                <a:lnTo>
                  <a:pt x="0" y="44385"/>
                </a:lnTo>
                <a:cubicBezTo>
                  <a:pt x="0" y="19872"/>
                  <a:pt x="19872" y="0"/>
                  <a:pt x="4438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66042" y="1642244"/>
            <a:ext cx="44385" cy="3417644"/>
          </a:xfrm>
          <a:custGeom>
            <a:avLst/>
            <a:gdLst/>
            <a:ahLst/>
            <a:cxnLst/>
            <a:rect l="l" t="t" r="r" b="b"/>
            <a:pathLst>
              <a:path w="44385" h="3417644">
                <a:moveTo>
                  <a:pt x="44385" y="0"/>
                </a:moveTo>
                <a:lnTo>
                  <a:pt x="44385" y="0"/>
                </a:lnTo>
                <a:lnTo>
                  <a:pt x="44385" y="3417644"/>
                </a:lnTo>
                <a:lnTo>
                  <a:pt x="44385" y="3417644"/>
                </a:lnTo>
                <a:cubicBezTo>
                  <a:pt x="19872" y="3417644"/>
                  <a:pt x="0" y="3397772"/>
                  <a:pt x="0" y="3373259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1771" y="1908554"/>
            <a:ext cx="194184" cy="221925"/>
          </a:xfrm>
          <a:custGeom>
            <a:avLst/>
            <a:gdLst/>
            <a:ahLst/>
            <a:cxnLst/>
            <a:rect l="l" t="t" r="r" b="b"/>
            <a:pathLst>
              <a:path w="194184" h="221925">
                <a:moveTo>
                  <a:pt x="194184" y="89203"/>
                </a:moveTo>
                <a:cubicBezTo>
                  <a:pt x="187769" y="93451"/>
                  <a:pt x="180401" y="96875"/>
                  <a:pt x="172729" y="99606"/>
                </a:cubicBezTo>
                <a:cubicBezTo>
                  <a:pt x="152357" y="106888"/>
                  <a:pt x="125613" y="110962"/>
                  <a:pt x="97092" y="110962"/>
                </a:cubicBezTo>
                <a:cubicBezTo>
                  <a:pt x="68571" y="110962"/>
                  <a:pt x="41784" y="106845"/>
                  <a:pt x="21456" y="99606"/>
                </a:cubicBezTo>
                <a:cubicBezTo>
                  <a:pt x="13827" y="96875"/>
                  <a:pt x="6415" y="93451"/>
                  <a:pt x="0" y="89203"/>
                </a:cubicBezTo>
                <a:lnTo>
                  <a:pt x="0" y="124833"/>
                </a:lnTo>
                <a:cubicBezTo>
                  <a:pt x="0" y="143991"/>
                  <a:pt x="43475" y="159509"/>
                  <a:pt x="97092" y="159509"/>
                </a:cubicBezTo>
                <a:cubicBezTo>
                  <a:pt x="150710" y="159509"/>
                  <a:pt x="194184" y="143991"/>
                  <a:pt x="194184" y="124833"/>
                </a:cubicBezTo>
                <a:lnTo>
                  <a:pt x="194184" y="89203"/>
                </a:lnTo>
                <a:close/>
                <a:moveTo>
                  <a:pt x="194184" y="55481"/>
                </a:moveTo>
                <a:lnTo>
                  <a:pt x="194184" y="34676"/>
                </a:lnTo>
                <a:cubicBezTo>
                  <a:pt x="194184" y="15517"/>
                  <a:pt x="150710" y="0"/>
                  <a:pt x="97092" y="0"/>
                </a:cubicBezTo>
                <a:cubicBezTo>
                  <a:pt x="43475" y="0"/>
                  <a:pt x="0" y="15517"/>
                  <a:pt x="0" y="34676"/>
                </a:cubicBezTo>
                <a:lnTo>
                  <a:pt x="0" y="55481"/>
                </a:lnTo>
                <a:cubicBezTo>
                  <a:pt x="0" y="74640"/>
                  <a:pt x="43475" y="90157"/>
                  <a:pt x="97092" y="90157"/>
                </a:cubicBezTo>
                <a:cubicBezTo>
                  <a:pt x="150710" y="90157"/>
                  <a:pt x="194184" y="74640"/>
                  <a:pt x="194184" y="55481"/>
                </a:cubicBezTo>
                <a:close/>
                <a:moveTo>
                  <a:pt x="172729" y="168958"/>
                </a:moveTo>
                <a:cubicBezTo>
                  <a:pt x="152400" y="176196"/>
                  <a:pt x="125656" y="180314"/>
                  <a:pt x="97092" y="180314"/>
                </a:cubicBezTo>
                <a:cubicBezTo>
                  <a:pt x="68528" y="180314"/>
                  <a:pt x="41784" y="176196"/>
                  <a:pt x="21456" y="168958"/>
                </a:cubicBezTo>
                <a:cubicBezTo>
                  <a:pt x="13827" y="166227"/>
                  <a:pt x="6415" y="162803"/>
                  <a:pt x="0" y="158555"/>
                </a:cubicBezTo>
                <a:lnTo>
                  <a:pt x="0" y="187249"/>
                </a:lnTo>
                <a:cubicBezTo>
                  <a:pt x="0" y="206408"/>
                  <a:pt x="43475" y="221925"/>
                  <a:pt x="97092" y="221925"/>
                </a:cubicBezTo>
                <a:cubicBezTo>
                  <a:pt x="150710" y="221925"/>
                  <a:pt x="194184" y="206408"/>
                  <a:pt x="194184" y="187249"/>
                </a:cubicBezTo>
                <a:lnTo>
                  <a:pt x="194184" y="158555"/>
                </a:lnTo>
                <a:cubicBezTo>
                  <a:pt x="187769" y="162803"/>
                  <a:pt x="180401" y="166227"/>
                  <a:pt x="172729" y="16895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7566" y="1864169"/>
            <a:ext cx="6890769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数据读取与分区策略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0160" y="2308019"/>
            <a:ext cx="7145982" cy="57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当从 HDFS 创建 RDD 时，Spark 会根据 HDFS 的数据块（Block）信息来决定 RDD 的分区。通常情况下，</a:t>
            </a:r>
            <a:r>
              <a:rPr lang="en-US" sz="139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 HDFS Block 对应一个 RDD Partition</a:t>
            </a: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，最大化数据本地性。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0160" y="3018179"/>
            <a:ext cx="7057212" cy="1819784"/>
          </a:xfrm>
          <a:custGeom>
            <a:avLst/>
            <a:gdLst/>
            <a:ahLst/>
            <a:cxnLst/>
            <a:rect l="l" t="t" r="r" b="b"/>
            <a:pathLst>
              <a:path w="7057212" h="1819784">
                <a:moveTo>
                  <a:pt x="44385" y="0"/>
                </a:moveTo>
                <a:lnTo>
                  <a:pt x="7012828" y="0"/>
                </a:lnTo>
                <a:cubicBezTo>
                  <a:pt x="7037341" y="0"/>
                  <a:pt x="7057212" y="19872"/>
                  <a:pt x="7057212" y="44385"/>
                </a:cubicBezTo>
                <a:lnTo>
                  <a:pt x="7057212" y="1775400"/>
                </a:lnTo>
                <a:cubicBezTo>
                  <a:pt x="7057212" y="1799913"/>
                  <a:pt x="7037341" y="1819784"/>
                  <a:pt x="7012828" y="1819784"/>
                </a:cubicBezTo>
                <a:lnTo>
                  <a:pt x="44385" y="1819784"/>
                </a:lnTo>
                <a:cubicBezTo>
                  <a:pt x="19872" y="1819784"/>
                  <a:pt x="0" y="1799913"/>
                  <a:pt x="0" y="1775400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3315" y="3167978"/>
            <a:ext cx="4005831" cy="151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hdfsRDD = sc.textFile( "hdfs://namenode:9000/data/input.txt") // 分区与数据块的对应关系： // HDFS Block 1 (128MB) -&gt; RDD Partition 1 // HDFS Block 2 (128MB) -&gt; RDD Partition 2 // HDFS Block 3 (64MB) -&gt; RDD Partition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042" y="5281813"/>
            <a:ext cx="7523255" cy="2751869"/>
          </a:xfrm>
          <a:custGeom>
            <a:avLst/>
            <a:gdLst/>
            <a:ahLst/>
            <a:cxnLst/>
            <a:rect l="l" t="t" r="r" b="b"/>
            <a:pathLst>
              <a:path w="7523255" h="2751869">
                <a:moveTo>
                  <a:pt x="44385" y="0"/>
                </a:moveTo>
                <a:lnTo>
                  <a:pt x="7390092" y="0"/>
                </a:lnTo>
                <a:cubicBezTo>
                  <a:pt x="7463636" y="0"/>
                  <a:pt x="7523255" y="59619"/>
                  <a:pt x="7523255" y="133163"/>
                </a:cubicBezTo>
                <a:lnTo>
                  <a:pt x="7523255" y="2618706"/>
                </a:lnTo>
                <a:cubicBezTo>
                  <a:pt x="7523255" y="2692250"/>
                  <a:pt x="7463636" y="2751869"/>
                  <a:pt x="7390092" y="2751869"/>
                </a:cubicBezTo>
                <a:lnTo>
                  <a:pt x="44385" y="2751869"/>
                </a:lnTo>
                <a:cubicBezTo>
                  <a:pt x="19872" y="2751869"/>
                  <a:pt x="0" y="2731997"/>
                  <a:pt x="0" y="2707484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66042" y="5281813"/>
            <a:ext cx="44385" cy="2751869"/>
          </a:xfrm>
          <a:custGeom>
            <a:avLst/>
            <a:gdLst/>
            <a:ahLst/>
            <a:cxnLst/>
            <a:rect l="l" t="t" r="r" b="b"/>
            <a:pathLst>
              <a:path w="44385" h="2751869">
                <a:moveTo>
                  <a:pt x="44385" y="0"/>
                </a:moveTo>
                <a:lnTo>
                  <a:pt x="44385" y="0"/>
                </a:lnTo>
                <a:lnTo>
                  <a:pt x="44385" y="2751869"/>
                </a:lnTo>
                <a:lnTo>
                  <a:pt x="44385" y="2751869"/>
                </a:lnTo>
                <a:cubicBezTo>
                  <a:pt x="19872" y="2751869"/>
                  <a:pt x="0" y="2731997"/>
                  <a:pt x="0" y="2707484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65641" y="5548123"/>
            <a:ext cx="166444" cy="221925"/>
          </a:xfrm>
          <a:custGeom>
            <a:avLst/>
            <a:gdLst/>
            <a:ahLst/>
            <a:cxnLst/>
            <a:rect l="l" t="t" r="r" b="b"/>
            <a:pathLst>
              <a:path w="166444" h="221925">
                <a:moveTo>
                  <a:pt x="0" y="81748"/>
                </a:moveTo>
                <a:cubicBezTo>
                  <a:pt x="0" y="36583"/>
                  <a:pt x="37276" y="0"/>
                  <a:pt x="83222" y="0"/>
                </a:cubicBezTo>
                <a:cubicBezTo>
                  <a:pt x="129167" y="0"/>
                  <a:pt x="166444" y="36583"/>
                  <a:pt x="166444" y="81748"/>
                </a:cubicBezTo>
                <a:cubicBezTo>
                  <a:pt x="166444" y="133458"/>
                  <a:pt x="114343" y="195441"/>
                  <a:pt x="92584" y="219064"/>
                </a:cubicBezTo>
                <a:cubicBezTo>
                  <a:pt x="87470" y="224612"/>
                  <a:pt x="78931" y="224612"/>
                  <a:pt x="73816" y="219064"/>
                </a:cubicBezTo>
                <a:cubicBezTo>
                  <a:pt x="52057" y="195441"/>
                  <a:pt x="-43" y="133458"/>
                  <a:pt x="-43" y="81748"/>
                </a:cubicBezTo>
                <a:close/>
                <a:moveTo>
                  <a:pt x="83222" y="110962"/>
                </a:moveTo>
                <a:cubicBezTo>
                  <a:pt x="98532" y="110962"/>
                  <a:pt x="110962" y="98532"/>
                  <a:pt x="110962" y="83222"/>
                </a:cubicBezTo>
                <a:cubicBezTo>
                  <a:pt x="110962" y="67911"/>
                  <a:pt x="98532" y="55481"/>
                  <a:pt x="83222" y="55481"/>
                </a:cubicBezTo>
                <a:cubicBezTo>
                  <a:pt x="67911" y="55481"/>
                  <a:pt x="55481" y="67911"/>
                  <a:pt x="55481" y="83222"/>
                </a:cubicBezTo>
                <a:cubicBezTo>
                  <a:pt x="55481" y="98532"/>
                  <a:pt x="67911" y="110962"/>
                  <a:pt x="83222" y="110962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87566" y="5503738"/>
            <a:ext cx="6890769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数据本地性调度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0160" y="5947588"/>
            <a:ext cx="7145982" cy="57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调度系统会尽可能地将计算任务分配到数据所在的节点上执行，这被称为</a:t>
            </a:r>
            <a:r>
              <a:rPr lang="en-US" sz="139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数据本地性（Data Locality）</a:t>
            </a: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，是 Spark 高性能的关键因素之一。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0160" y="6657747"/>
            <a:ext cx="7057212" cy="1154010"/>
          </a:xfrm>
          <a:custGeom>
            <a:avLst/>
            <a:gdLst/>
            <a:ahLst/>
            <a:cxnLst/>
            <a:rect l="l" t="t" r="r" b="b"/>
            <a:pathLst>
              <a:path w="7057212" h="1154010">
                <a:moveTo>
                  <a:pt x="44383" y="0"/>
                </a:moveTo>
                <a:lnTo>
                  <a:pt x="7012829" y="0"/>
                </a:lnTo>
                <a:cubicBezTo>
                  <a:pt x="7037341" y="0"/>
                  <a:pt x="7057212" y="19871"/>
                  <a:pt x="7057212" y="44383"/>
                </a:cubicBezTo>
                <a:lnTo>
                  <a:pt x="7057212" y="1109626"/>
                </a:lnTo>
                <a:cubicBezTo>
                  <a:pt x="7057212" y="1134139"/>
                  <a:pt x="7037341" y="1154010"/>
                  <a:pt x="7012829" y="1154010"/>
                </a:cubicBezTo>
                <a:lnTo>
                  <a:pt x="44383" y="1154010"/>
                </a:lnTo>
                <a:cubicBezTo>
                  <a:pt x="19871" y="1154010"/>
                  <a:pt x="0" y="1134139"/>
                  <a:pt x="0" y="1109626"/>
                </a:cubicBezTo>
                <a:lnTo>
                  <a:pt x="0" y="44383"/>
                </a:lnTo>
                <a:cubicBezTo>
                  <a:pt x="0" y="19887"/>
                  <a:pt x="19887" y="0"/>
                  <a:pt x="443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315" y="6807547"/>
            <a:ext cx="3070539" cy="848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processedRDD = hdfsRDD .map(line =&gt; line.toUpperCase) .filter(_.contains("ERROR")) // 尽可能在数据所在节点执行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2654" y="1642244"/>
            <a:ext cx="7523255" cy="3084756"/>
          </a:xfrm>
          <a:custGeom>
            <a:avLst/>
            <a:gdLst/>
            <a:ahLst/>
            <a:cxnLst/>
            <a:rect l="l" t="t" r="r" b="b"/>
            <a:pathLst>
              <a:path w="7523255" h="3084756">
                <a:moveTo>
                  <a:pt x="44385" y="0"/>
                </a:moveTo>
                <a:lnTo>
                  <a:pt x="7390086" y="0"/>
                </a:lnTo>
                <a:cubicBezTo>
                  <a:pt x="7463633" y="0"/>
                  <a:pt x="7523255" y="59622"/>
                  <a:pt x="7523255" y="133169"/>
                </a:cubicBezTo>
                <a:lnTo>
                  <a:pt x="7523255" y="2951587"/>
                </a:lnTo>
                <a:cubicBezTo>
                  <a:pt x="7523255" y="3025135"/>
                  <a:pt x="7463633" y="3084756"/>
                  <a:pt x="7390086" y="3084756"/>
                </a:cubicBezTo>
                <a:lnTo>
                  <a:pt x="44385" y="3084756"/>
                </a:lnTo>
                <a:cubicBezTo>
                  <a:pt x="19872" y="3084756"/>
                  <a:pt x="0" y="3064884"/>
                  <a:pt x="0" y="3040371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2654" y="1642244"/>
            <a:ext cx="44385" cy="3084756"/>
          </a:xfrm>
          <a:custGeom>
            <a:avLst/>
            <a:gdLst/>
            <a:ahLst/>
            <a:cxnLst/>
            <a:rect l="l" t="t" r="r" b="b"/>
            <a:pathLst>
              <a:path w="44385" h="3084756">
                <a:moveTo>
                  <a:pt x="44385" y="0"/>
                </a:moveTo>
                <a:lnTo>
                  <a:pt x="44385" y="0"/>
                </a:lnTo>
                <a:lnTo>
                  <a:pt x="44385" y="3084756"/>
                </a:lnTo>
                <a:lnTo>
                  <a:pt x="44385" y="3084756"/>
                </a:lnTo>
                <a:cubicBezTo>
                  <a:pt x="19872" y="3084756"/>
                  <a:pt x="0" y="3064884"/>
                  <a:pt x="0" y="3040371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54512" y="1908554"/>
            <a:ext cx="221925" cy="221925"/>
          </a:xfrm>
          <a:custGeom>
            <a:avLst/>
            <a:gdLst/>
            <a:ahLst/>
            <a:cxnLst/>
            <a:rect l="l" t="t" r="r" b="b"/>
            <a:pathLst>
              <a:path w="221925" h="221925">
                <a:moveTo>
                  <a:pt x="110962" y="0"/>
                </a:moveTo>
                <a:cubicBezTo>
                  <a:pt x="112956" y="0"/>
                  <a:pt x="114950" y="433"/>
                  <a:pt x="116771" y="1257"/>
                </a:cubicBezTo>
                <a:lnTo>
                  <a:pt x="198432" y="35889"/>
                </a:lnTo>
                <a:cubicBezTo>
                  <a:pt x="207968" y="39920"/>
                  <a:pt x="215076" y="49326"/>
                  <a:pt x="215033" y="60683"/>
                </a:cubicBezTo>
                <a:cubicBezTo>
                  <a:pt x="214816" y="103681"/>
                  <a:pt x="197132" y="182351"/>
                  <a:pt x="122449" y="218111"/>
                </a:cubicBezTo>
                <a:cubicBezTo>
                  <a:pt x="115210" y="221578"/>
                  <a:pt x="106801" y="221578"/>
                  <a:pt x="99563" y="218111"/>
                </a:cubicBezTo>
                <a:cubicBezTo>
                  <a:pt x="24837" y="182351"/>
                  <a:pt x="7195" y="103681"/>
                  <a:pt x="6978" y="60683"/>
                </a:cubicBezTo>
                <a:cubicBezTo>
                  <a:pt x="6935" y="49326"/>
                  <a:pt x="14044" y="39920"/>
                  <a:pt x="23580" y="35889"/>
                </a:cubicBezTo>
                <a:lnTo>
                  <a:pt x="105198" y="1257"/>
                </a:lnTo>
                <a:cubicBezTo>
                  <a:pt x="107018" y="433"/>
                  <a:pt x="108969" y="0"/>
                  <a:pt x="110962" y="0"/>
                </a:cubicBezTo>
                <a:close/>
                <a:moveTo>
                  <a:pt x="110962" y="28954"/>
                </a:moveTo>
                <a:lnTo>
                  <a:pt x="110962" y="192841"/>
                </a:lnTo>
                <a:cubicBezTo>
                  <a:pt x="170778" y="163886"/>
                  <a:pt x="186859" y="99736"/>
                  <a:pt x="187249" y="61333"/>
                </a:cubicBezTo>
                <a:lnTo>
                  <a:pt x="110962" y="28998"/>
                </a:lnTo>
                <a:lnTo>
                  <a:pt x="110962" y="2899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804177" y="1864169"/>
            <a:ext cx="6890769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容错机制的协同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6771" y="2308019"/>
            <a:ext cx="7145982" cy="28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的血缘容错与 HDFS 的副本机制形成了双重保障，确保端到端的计算可靠性。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26771" y="2729676"/>
            <a:ext cx="7057212" cy="1775399"/>
          </a:xfrm>
          <a:custGeom>
            <a:avLst/>
            <a:gdLst/>
            <a:ahLst/>
            <a:cxnLst/>
            <a:rect l="l" t="t" r="r" b="b"/>
            <a:pathLst>
              <a:path w="7057212" h="1775399">
                <a:moveTo>
                  <a:pt x="44385" y="0"/>
                </a:moveTo>
                <a:lnTo>
                  <a:pt x="7012827" y="0"/>
                </a:lnTo>
                <a:cubicBezTo>
                  <a:pt x="7037340" y="0"/>
                  <a:pt x="7057212" y="19872"/>
                  <a:pt x="7057212" y="44385"/>
                </a:cubicBezTo>
                <a:lnTo>
                  <a:pt x="7057212" y="1731014"/>
                </a:lnTo>
                <a:cubicBezTo>
                  <a:pt x="7057212" y="1755527"/>
                  <a:pt x="7037340" y="1775399"/>
                  <a:pt x="7012827" y="1775399"/>
                </a:cubicBezTo>
                <a:lnTo>
                  <a:pt x="44385" y="1775399"/>
                </a:lnTo>
                <a:cubicBezTo>
                  <a:pt x="19872" y="1775399"/>
                  <a:pt x="0" y="1755527"/>
                  <a:pt x="0" y="1731014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04311" y="2907216"/>
            <a:ext cx="6801999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容错恢复过程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04311" y="3351066"/>
            <a:ext cx="19973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05864" y="3351066"/>
            <a:ext cx="4205477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RDD 分区丢失 → Spark 通过血缘关系重新计算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04311" y="3706146"/>
            <a:ext cx="2330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35859" y="3706146"/>
            <a:ext cx="468261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HDFS 数据块损坏 → Spark 从 HDFS 的其他副本读取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04311" y="4061226"/>
            <a:ext cx="2330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40453" y="4061226"/>
            <a:ext cx="2929409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双重保障确保了端到端的计算可靠性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82654" y="4948926"/>
            <a:ext cx="7523255" cy="3462029"/>
          </a:xfrm>
          <a:custGeom>
            <a:avLst/>
            <a:gdLst/>
            <a:ahLst/>
            <a:cxnLst/>
            <a:rect l="l" t="t" r="r" b="b"/>
            <a:pathLst>
              <a:path w="7523255" h="3462029">
                <a:moveTo>
                  <a:pt x="44385" y="0"/>
                </a:moveTo>
                <a:lnTo>
                  <a:pt x="7390105" y="0"/>
                </a:lnTo>
                <a:cubicBezTo>
                  <a:pt x="7463641" y="0"/>
                  <a:pt x="7523255" y="59613"/>
                  <a:pt x="7523255" y="133150"/>
                </a:cubicBezTo>
                <a:lnTo>
                  <a:pt x="7523255" y="3328879"/>
                </a:lnTo>
                <a:cubicBezTo>
                  <a:pt x="7523255" y="3402416"/>
                  <a:pt x="7463641" y="3462029"/>
                  <a:pt x="7390105" y="3462029"/>
                </a:cubicBezTo>
                <a:lnTo>
                  <a:pt x="44385" y="3462029"/>
                </a:lnTo>
                <a:cubicBezTo>
                  <a:pt x="19872" y="3462029"/>
                  <a:pt x="0" y="3442157"/>
                  <a:pt x="0" y="3417644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82654" y="4948926"/>
            <a:ext cx="44385" cy="3462029"/>
          </a:xfrm>
          <a:custGeom>
            <a:avLst/>
            <a:gdLst/>
            <a:ahLst/>
            <a:cxnLst/>
            <a:rect l="l" t="t" r="r" b="b"/>
            <a:pathLst>
              <a:path w="44385" h="3462029">
                <a:moveTo>
                  <a:pt x="44385" y="0"/>
                </a:moveTo>
                <a:lnTo>
                  <a:pt x="44385" y="0"/>
                </a:lnTo>
                <a:lnTo>
                  <a:pt x="44385" y="3462029"/>
                </a:lnTo>
                <a:lnTo>
                  <a:pt x="44385" y="3462029"/>
                </a:lnTo>
                <a:cubicBezTo>
                  <a:pt x="19872" y="3462029"/>
                  <a:pt x="0" y="3442157"/>
                  <a:pt x="0" y="3417644"/>
                </a:cubicBezTo>
                <a:lnTo>
                  <a:pt x="0" y="44385"/>
                </a:lnTo>
                <a:cubicBezTo>
                  <a:pt x="0" y="19888"/>
                  <a:pt x="19888" y="0"/>
                  <a:pt x="44385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54512" y="5215235"/>
            <a:ext cx="221925" cy="221925"/>
          </a:xfrm>
          <a:custGeom>
            <a:avLst/>
            <a:gdLst/>
            <a:ahLst/>
            <a:cxnLst/>
            <a:rect l="l" t="t" r="r" b="b"/>
            <a:pathLst>
              <a:path w="221925" h="221925">
                <a:moveTo>
                  <a:pt x="55481" y="138703"/>
                </a:moveTo>
                <a:lnTo>
                  <a:pt x="10619" y="138703"/>
                </a:lnTo>
                <a:cubicBezTo>
                  <a:pt x="-173" y="138703"/>
                  <a:pt x="-6805" y="126957"/>
                  <a:pt x="-1257" y="117681"/>
                </a:cubicBezTo>
                <a:lnTo>
                  <a:pt x="21672" y="79451"/>
                </a:lnTo>
                <a:cubicBezTo>
                  <a:pt x="25443" y="73166"/>
                  <a:pt x="32205" y="69352"/>
                  <a:pt x="39530" y="69352"/>
                </a:cubicBezTo>
                <a:lnTo>
                  <a:pt x="80708" y="69352"/>
                </a:lnTo>
                <a:cubicBezTo>
                  <a:pt x="113693" y="13480"/>
                  <a:pt x="162889" y="10663"/>
                  <a:pt x="195788" y="15474"/>
                </a:cubicBezTo>
                <a:cubicBezTo>
                  <a:pt x="201336" y="16298"/>
                  <a:pt x="205671" y="20632"/>
                  <a:pt x="206451" y="26137"/>
                </a:cubicBezTo>
                <a:cubicBezTo>
                  <a:pt x="211262" y="59035"/>
                  <a:pt x="208445" y="108232"/>
                  <a:pt x="152573" y="141217"/>
                </a:cubicBezTo>
                <a:lnTo>
                  <a:pt x="152573" y="182395"/>
                </a:lnTo>
                <a:cubicBezTo>
                  <a:pt x="152573" y="189720"/>
                  <a:pt x="148759" y="196482"/>
                  <a:pt x="142474" y="200253"/>
                </a:cubicBezTo>
                <a:lnTo>
                  <a:pt x="104244" y="223182"/>
                </a:lnTo>
                <a:cubicBezTo>
                  <a:pt x="95012" y="228730"/>
                  <a:pt x="83222" y="222055"/>
                  <a:pt x="83222" y="211305"/>
                </a:cubicBezTo>
                <a:lnTo>
                  <a:pt x="83222" y="166444"/>
                </a:lnTo>
                <a:cubicBezTo>
                  <a:pt x="83222" y="151143"/>
                  <a:pt x="70782" y="138703"/>
                  <a:pt x="55481" y="138703"/>
                </a:cubicBezTo>
                <a:lnTo>
                  <a:pt x="55438" y="138703"/>
                </a:lnTo>
                <a:close/>
                <a:moveTo>
                  <a:pt x="173379" y="69352"/>
                </a:moveTo>
                <a:cubicBezTo>
                  <a:pt x="173379" y="57869"/>
                  <a:pt x="164056" y="48546"/>
                  <a:pt x="152573" y="48546"/>
                </a:cubicBezTo>
                <a:cubicBezTo>
                  <a:pt x="141091" y="48546"/>
                  <a:pt x="131768" y="57869"/>
                  <a:pt x="131768" y="69352"/>
                </a:cubicBezTo>
                <a:cubicBezTo>
                  <a:pt x="131768" y="80834"/>
                  <a:pt x="141091" y="90157"/>
                  <a:pt x="152573" y="90157"/>
                </a:cubicBezTo>
                <a:cubicBezTo>
                  <a:pt x="164056" y="90157"/>
                  <a:pt x="173379" y="80834"/>
                  <a:pt x="173379" y="69352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04177" y="5170851"/>
            <a:ext cx="6890769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性能优化建议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26771" y="5614700"/>
            <a:ext cx="7057212" cy="798930"/>
          </a:xfrm>
          <a:custGeom>
            <a:avLst/>
            <a:gdLst/>
            <a:ahLst/>
            <a:cxnLst/>
            <a:rect l="l" t="t" r="r" b="b"/>
            <a:pathLst>
              <a:path w="7057212" h="798930">
                <a:moveTo>
                  <a:pt x="44389" y="0"/>
                </a:moveTo>
                <a:lnTo>
                  <a:pt x="7012824" y="0"/>
                </a:lnTo>
                <a:cubicBezTo>
                  <a:pt x="7037339" y="0"/>
                  <a:pt x="7057212" y="19873"/>
                  <a:pt x="7057212" y="44389"/>
                </a:cubicBezTo>
                <a:lnTo>
                  <a:pt x="7057212" y="754541"/>
                </a:lnTo>
                <a:cubicBezTo>
                  <a:pt x="7057212" y="779056"/>
                  <a:pt x="7037339" y="798930"/>
                  <a:pt x="7012824" y="798930"/>
                </a:cubicBezTo>
                <a:lnTo>
                  <a:pt x="44389" y="798930"/>
                </a:lnTo>
                <a:cubicBezTo>
                  <a:pt x="19873" y="798930"/>
                  <a:pt x="0" y="779056"/>
                  <a:pt x="0" y="754541"/>
                </a:cubicBezTo>
                <a:lnTo>
                  <a:pt x="0" y="44389"/>
                </a:lnTo>
                <a:cubicBezTo>
                  <a:pt x="0" y="19890"/>
                  <a:pt x="19890" y="0"/>
                  <a:pt x="4438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59926" y="5747855"/>
            <a:ext cx="687967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合理设置分区数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59926" y="6058550"/>
            <a:ext cx="686857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通常为 CPU 核心数的 2-4 倍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26771" y="6502400"/>
            <a:ext cx="7057212" cy="798930"/>
          </a:xfrm>
          <a:custGeom>
            <a:avLst/>
            <a:gdLst/>
            <a:ahLst/>
            <a:cxnLst/>
            <a:rect l="l" t="t" r="r" b="b"/>
            <a:pathLst>
              <a:path w="7057212" h="798930">
                <a:moveTo>
                  <a:pt x="44389" y="0"/>
                </a:moveTo>
                <a:lnTo>
                  <a:pt x="7012824" y="0"/>
                </a:lnTo>
                <a:cubicBezTo>
                  <a:pt x="7037339" y="0"/>
                  <a:pt x="7057212" y="19873"/>
                  <a:pt x="7057212" y="44389"/>
                </a:cubicBezTo>
                <a:lnTo>
                  <a:pt x="7057212" y="754541"/>
                </a:lnTo>
                <a:cubicBezTo>
                  <a:pt x="7057212" y="779056"/>
                  <a:pt x="7037339" y="798930"/>
                  <a:pt x="7012824" y="798930"/>
                </a:cubicBezTo>
                <a:lnTo>
                  <a:pt x="44389" y="798930"/>
                </a:lnTo>
                <a:cubicBezTo>
                  <a:pt x="19873" y="798930"/>
                  <a:pt x="0" y="779056"/>
                  <a:pt x="0" y="754541"/>
                </a:cubicBezTo>
                <a:lnTo>
                  <a:pt x="0" y="44389"/>
                </a:lnTo>
                <a:cubicBezTo>
                  <a:pt x="0" y="19890"/>
                  <a:pt x="19890" y="0"/>
                  <a:pt x="4438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59926" y="6635555"/>
            <a:ext cx="687967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数据预处理后持久化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59926" y="6946250"/>
            <a:ext cx="686857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避免重复的 HDFS 读取和预处理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26771" y="7390100"/>
            <a:ext cx="7057212" cy="798930"/>
          </a:xfrm>
          <a:custGeom>
            <a:avLst/>
            <a:gdLst/>
            <a:ahLst/>
            <a:cxnLst/>
            <a:rect l="l" t="t" r="r" b="b"/>
            <a:pathLst>
              <a:path w="7057212" h="798930">
                <a:moveTo>
                  <a:pt x="44389" y="0"/>
                </a:moveTo>
                <a:lnTo>
                  <a:pt x="7012824" y="0"/>
                </a:lnTo>
                <a:cubicBezTo>
                  <a:pt x="7037339" y="0"/>
                  <a:pt x="7057212" y="19873"/>
                  <a:pt x="7057212" y="44389"/>
                </a:cubicBezTo>
                <a:lnTo>
                  <a:pt x="7057212" y="754541"/>
                </a:lnTo>
                <a:cubicBezTo>
                  <a:pt x="7057212" y="779056"/>
                  <a:pt x="7037339" y="798930"/>
                  <a:pt x="7012824" y="798930"/>
                </a:cubicBezTo>
                <a:lnTo>
                  <a:pt x="44389" y="798930"/>
                </a:lnTo>
                <a:cubicBezTo>
                  <a:pt x="19873" y="798930"/>
                  <a:pt x="0" y="779056"/>
                  <a:pt x="0" y="754541"/>
                </a:cubicBezTo>
                <a:lnTo>
                  <a:pt x="0" y="44389"/>
                </a:lnTo>
                <a:cubicBezTo>
                  <a:pt x="0" y="19890"/>
                  <a:pt x="19890" y="0"/>
                  <a:pt x="4438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59926" y="7523255"/>
            <a:ext cx="687967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利用数据本地性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59926" y="7833949"/>
            <a:ext cx="686857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在分区内进行批量处理，减少网络开销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371" y="494308"/>
            <a:ext cx="89874" cy="449371"/>
          </a:xfrm>
          <a:custGeom>
            <a:avLst/>
            <a:gdLst/>
            <a:ahLst/>
            <a:cxnLst/>
            <a:rect l="l" t="t" r="r" b="b"/>
            <a:pathLst>
              <a:path w="89874" h="449371">
                <a:moveTo>
                  <a:pt x="0" y="0"/>
                </a:moveTo>
                <a:lnTo>
                  <a:pt x="89874" y="0"/>
                </a:lnTo>
                <a:lnTo>
                  <a:pt x="89874" y="449371"/>
                </a:lnTo>
                <a:lnTo>
                  <a:pt x="0" y="449371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8994" y="449371"/>
            <a:ext cx="4269026" cy="53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46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Shell 快速体验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8994" y="1213302"/>
            <a:ext cx="15199978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9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交互式命令行工具，支持 Scala 和 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1840" y="1752547"/>
            <a:ext cx="7526966" cy="5662076"/>
          </a:xfrm>
          <a:custGeom>
            <a:avLst/>
            <a:gdLst/>
            <a:ahLst/>
            <a:cxnLst/>
            <a:rect l="l" t="t" r="r" b="b"/>
            <a:pathLst>
              <a:path w="7526966" h="5662076">
                <a:moveTo>
                  <a:pt x="44937" y="0"/>
                </a:moveTo>
                <a:lnTo>
                  <a:pt x="7392152" y="0"/>
                </a:lnTo>
                <a:cubicBezTo>
                  <a:pt x="7466608" y="0"/>
                  <a:pt x="7526966" y="60358"/>
                  <a:pt x="7526966" y="134814"/>
                </a:cubicBezTo>
                <a:lnTo>
                  <a:pt x="7526966" y="5527262"/>
                </a:lnTo>
                <a:cubicBezTo>
                  <a:pt x="7526966" y="5601718"/>
                  <a:pt x="7466608" y="5662076"/>
                  <a:pt x="7392152" y="5662076"/>
                </a:cubicBezTo>
                <a:lnTo>
                  <a:pt x="44937" y="5662076"/>
                </a:lnTo>
                <a:cubicBezTo>
                  <a:pt x="20119" y="5662076"/>
                  <a:pt x="0" y="5641957"/>
                  <a:pt x="0" y="5617139"/>
                </a:cubicBezTo>
                <a:lnTo>
                  <a:pt x="0" y="44937"/>
                </a:lnTo>
                <a:cubicBezTo>
                  <a:pt x="0" y="20136"/>
                  <a:pt x="20136" y="0"/>
                  <a:pt x="4493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1840" y="1752547"/>
            <a:ext cx="44937" cy="5662076"/>
          </a:xfrm>
          <a:custGeom>
            <a:avLst/>
            <a:gdLst/>
            <a:ahLst/>
            <a:cxnLst/>
            <a:rect l="l" t="t" r="r" b="b"/>
            <a:pathLst>
              <a:path w="44937" h="5662076">
                <a:moveTo>
                  <a:pt x="44937" y="0"/>
                </a:moveTo>
                <a:lnTo>
                  <a:pt x="44937" y="0"/>
                </a:lnTo>
                <a:lnTo>
                  <a:pt x="44937" y="5662076"/>
                </a:lnTo>
                <a:lnTo>
                  <a:pt x="44937" y="5662076"/>
                </a:lnTo>
                <a:cubicBezTo>
                  <a:pt x="20119" y="5662076"/>
                  <a:pt x="0" y="5641957"/>
                  <a:pt x="0" y="5617139"/>
                </a:cubicBezTo>
                <a:lnTo>
                  <a:pt x="0" y="44937"/>
                </a:lnTo>
                <a:cubicBezTo>
                  <a:pt x="0" y="20119"/>
                  <a:pt x="20119" y="0"/>
                  <a:pt x="44937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6059" y="1988467"/>
            <a:ext cx="252771" cy="337028"/>
          </a:xfrm>
          <a:custGeom>
            <a:avLst/>
            <a:gdLst/>
            <a:ahLst/>
            <a:cxnLst/>
            <a:rect l="l" t="t" r="r" b="b"/>
            <a:pathLst>
              <a:path w="252771" h="337028">
                <a:moveTo>
                  <a:pt x="182864" y="205969"/>
                </a:moveTo>
                <a:cubicBezTo>
                  <a:pt x="189315" y="201559"/>
                  <a:pt x="198267" y="197741"/>
                  <a:pt x="198267" y="197741"/>
                </a:cubicBezTo>
                <a:cubicBezTo>
                  <a:pt x="198267" y="197741"/>
                  <a:pt x="172793" y="202349"/>
                  <a:pt x="147450" y="204455"/>
                </a:cubicBezTo>
                <a:cubicBezTo>
                  <a:pt x="116446" y="207022"/>
                  <a:pt x="83138" y="207549"/>
                  <a:pt x="66418" y="205311"/>
                </a:cubicBezTo>
                <a:cubicBezTo>
                  <a:pt x="26857" y="200045"/>
                  <a:pt x="88141" y="185497"/>
                  <a:pt x="88141" y="185497"/>
                </a:cubicBezTo>
                <a:cubicBezTo>
                  <a:pt x="88141" y="185497"/>
                  <a:pt x="64378" y="183917"/>
                  <a:pt x="35085" y="198004"/>
                </a:cubicBezTo>
                <a:cubicBezTo>
                  <a:pt x="527" y="214724"/>
                  <a:pt x="120659" y="222360"/>
                  <a:pt x="182864" y="205969"/>
                </a:cubicBezTo>
                <a:close/>
                <a:moveTo>
                  <a:pt x="126649" y="184839"/>
                </a:moveTo>
                <a:cubicBezTo>
                  <a:pt x="114142" y="156731"/>
                  <a:pt x="71948" y="132047"/>
                  <a:pt x="126649" y="88865"/>
                </a:cubicBezTo>
                <a:cubicBezTo>
                  <a:pt x="194910" y="35019"/>
                  <a:pt x="159891" y="0"/>
                  <a:pt x="159891" y="0"/>
                </a:cubicBezTo>
                <a:cubicBezTo>
                  <a:pt x="174044" y="55623"/>
                  <a:pt x="110127" y="72474"/>
                  <a:pt x="87022" y="107033"/>
                </a:cubicBezTo>
                <a:cubicBezTo>
                  <a:pt x="71289" y="130664"/>
                  <a:pt x="94723" y="156007"/>
                  <a:pt x="126649" y="184839"/>
                </a:cubicBezTo>
                <a:close/>
                <a:moveTo>
                  <a:pt x="202085" y="68854"/>
                </a:moveTo>
                <a:cubicBezTo>
                  <a:pt x="202151" y="68854"/>
                  <a:pt x="86758" y="97686"/>
                  <a:pt x="141855" y="161142"/>
                </a:cubicBezTo>
                <a:cubicBezTo>
                  <a:pt x="158114" y="179836"/>
                  <a:pt x="137576" y="196688"/>
                  <a:pt x="137576" y="196688"/>
                </a:cubicBezTo>
                <a:cubicBezTo>
                  <a:pt x="137576" y="196688"/>
                  <a:pt x="178849" y="175360"/>
                  <a:pt x="159891" y="148701"/>
                </a:cubicBezTo>
                <a:cubicBezTo>
                  <a:pt x="142184" y="123818"/>
                  <a:pt x="128624" y="111443"/>
                  <a:pt x="202085" y="68854"/>
                </a:cubicBezTo>
                <a:close/>
                <a:moveTo>
                  <a:pt x="198070" y="246913"/>
                </a:moveTo>
                <a:cubicBezTo>
                  <a:pt x="197741" y="247571"/>
                  <a:pt x="197280" y="248098"/>
                  <a:pt x="196753" y="248624"/>
                </a:cubicBezTo>
                <a:cubicBezTo>
                  <a:pt x="281208" y="226441"/>
                  <a:pt x="250138" y="170357"/>
                  <a:pt x="209787" y="184576"/>
                </a:cubicBezTo>
                <a:cubicBezTo>
                  <a:pt x="207615" y="185366"/>
                  <a:pt x="205706" y="186814"/>
                  <a:pt x="204389" y="188723"/>
                </a:cubicBezTo>
                <a:cubicBezTo>
                  <a:pt x="206759" y="187867"/>
                  <a:pt x="209195" y="187209"/>
                  <a:pt x="211630" y="186748"/>
                </a:cubicBezTo>
                <a:cubicBezTo>
                  <a:pt x="232036" y="182469"/>
                  <a:pt x="261329" y="214066"/>
                  <a:pt x="198070" y="246913"/>
                </a:cubicBezTo>
                <a:close/>
                <a:moveTo>
                  <a:pt x="229074" y="287922"/>
                </a:moveTo>
                <a:cubicBezTo>
                  <a:pt x="229074" y="287922"/>
                  <a:pt x="238619" y="295756"/>
                  <a:pt x="218608" y="301877"/>
                </a:cubicBezTo>
                <a:cubicBezTo>
                  <a:pt x="180494" y="313397"/>
                  <a:pt x="60099" y="316886"/>
                  <a:pt x="26659" y="302338"/>
                </a:cubicBezTo>
                <a:cubicBezTo>
                  <a:pt x="14613" y="297138"/>
                  <a:pt x="37192" y="289831"/>
                  <a:pt x="44301" y="288317"/>
                </a:cubicBezTo>
                <a:cubicBezTo>
                  <a:pt x="51673" y="286737"/>
                  <a:pt x="55952" y="287001"/>
                  <a:pt x="55952" y="287001"/>
                </a:cubicBezTo>
                <a:cubicBezTo>
                  <a:pt x="42589" y="277588"/>
                  <a:pt x="-30477" y="305498"/>
                  <a:pt x="18826" y="313463"/>
                </a:cubicBezTo>
                <a:cubicBezTo>
                  <a:pt x="153243" y="335317"/>
                  <a:pt x="263962" y="303655"/>
                  <a:pt x="229074" y="287922"/>
                </a:cubicBezTo>
                <a:close/>
                <a:moveTo>
                  <a:pt x="81953" y="260670"/>
                </a:moveTo>
                <a:cubicBezTo>
                  <a:pt x="30148" y="275152"/>
                  <a:pt x="113484" y="305037"/>
                  <a:pt x="179441" y="276798"/>
                </a:cubicBezTo>
                <a:cubicBezTo>
                  <a:pt x="172990" y="274296"/>
                  <a:pt x="166803" y="271268"/>
                  <a:pt x="160878" y="267714"/>
                </a:cubicBezTo>
                <a:cubicBezTo>
                  <a:pt x="131454" y="273309"/>
                  <a:pt x="117828" y="273704"/>
                  <a:pt x="91103" y="270676"/>
                </a:cubicBezTo>
                <a:cubicBezTo>
                  <a:pt x="69051" y="268174"/>
                  <a:pt x="81953" y="260670"/>
                  <a:pt x="81953" y="260670"/>
                </a:cubicBezTo>
                <a:close/>
                <a:moveTo>
                  <a:pt x="200308" y="324653"/>
                </a:moveTo>
                <a:cubicBezTo>
                  <a:pt x="148503" y="334395"/>
                  <a:pt x="84586" y="333276"/>
                  <a:pt x="46736" y="327023"/>
                </a:cubicBezTo>
                <a:cubicBezTo>
                  <a:pt x="46736" y="326957"/>
                  <a:pt x="54504" y="333408"/>
                  <a:pt x="94394" y="335975"/>
                </a:cubicBezTo>
                <a:cubicBezTo>
                  <a:pt x="155086" y="339859"/>
                  <a:pt x="248295" y="333803"/>
                  <a:pt x="250467" y="305103"/>
                </a:cubicBezTo>
                <a:cubicBezTo>
                  <a:pt x="250467" y="305103"/>
                  <a:pt x="246254" y="315964"/>
                  <a:pt x="200308" y="324653"/>
                </a:cubicBezTo>
                <a:close/>
                <a:moveTo>
                  <a:pt x="171608" y="232365"/>
                </a:moveTo>
                <a:cubicBezTo>
                  <a:pt x="132639" y="239869"/>
                  <a:pt x="110061" y="239672"/>
                  <a:pt x="81558" y="236710"/>
                </a:cubicBezTo>
                <a:cubicBezTo>
                  <a:pt x="59507" y="234406"/>
                  <a:pt x="73922" y="223742"/>
                  <a:pt x="73922" y="223742"/>
                </a:cubicBezTo>
                <a:cubicBezTo>
                  <a:pt x="16786" y="242700"/>
                  <a:pt x="105650" y="264159"/>
                  <a:pt x="185497" y="240791"/>
                </a:cubicBezTo>
                <a:cubicBezTo>
                  <a:pt x="180363" y="238948"/>
                  <a:pt x="175623" y="236117"/>
                  <a:pt x="171608" y="23236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75091" y="1977233"/>
            <a:ext cx="3033255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 版本：spark-shell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8994" y="2516478"/>
            <a:ext cx="715623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启动本地模式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8994" y="2920912"/>
            <a:ext cx="7055126" cy="718994"/>
          </a:xfrm>
          <a:custGeom>
            <a:avLst/>
            <a:gdLst/>
            <a:ahLst/>
            <a:cxnLst/>
            <a:rect l="l" t="t" r="r" b="b"/>
            <a:pathLst>
              <a:path w="7055126" h="718994">
                <a:moveTo>
                  <a:pt x="44937" y="0"/>
                </a:moveTo>
                <a:lnTo>
                  <a:pt x="7010189" y="0"/>
                </a:lnTo>
                <a:cubicBezTo>
                  <a:pt x="7035007" y="0"/>
                  <a:pt x="7055126" y="20119"/>
                  <a:pt x="7055126" y="44937"/>
                </a:cubicBezTo>
                <a:lnTo>
                  <a:pt x="7055126" y="674057"/>
                </a:lnTo>
                <a:cubicBezTo>
                  <a:pt x="7055126" y="698875"/>
                  <a:pt x="7035007" y="718994"/>
                  <a:pt x="7010189" y="718994"/>
                </a:cubicBezTo>
                <a:lnTo>
                  <a:pt x="44937" y="718994"/>
                </a:lnTo>
                <a:cubicBezTo>
                  <a:pt x="20119" y="718994"/>
                  <a:pt x="0" y="698875"/>
                  <a:pt x="0" y="674057"/>
                </a:cubicBezTo>
                <a:lnTo>
                  <a:pt x="0" y="44937"/>
                </a:lnTo>
                <a:cubicBezTo>
                  <a:pt x="0" y="20119"/>
                  <a:pt x="20119" y="0"/>
                  <a:pt x="449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3805" y="3072575"/>
            <a:ext cx="2824719" cy="41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$SPARK_HOME/bin/spark-shell \ --master local[2]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8994" y="3819654"/>
            <a:ext cx="715623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启动集群模式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8994" y="4224088"/>
            <a:ext cx="7055126" cy="1168365"/>
          </a:xfrm>
          <a:custGeom>
            <a:avLst/>
            <a:gdLst/>
            <a:ahLst/>
            <a:cxnLst/>
            <a:rect l="l" t="t" r="r" b="b"/>
            <a:pathLst>
              <a:path w="7055126" h="1168365">
                <a:moveTo>
                  <a:pt x="44935" y="0"/>
                </a:moveTo>
                <a:lnTo>
                  <a:pt x="7010191" y="0"/>
                </a:lnTo>
                <a:cubicBezTo>
                  <a:pt x="7035008" y="0"/>
                  <a:pt x="7055126" y="20118"/>
                  <a:pt x="7055126" y="44935"/>
                </a:cubicBezTo>
                <a:lnTo>
                  <a:pt x="7055126" y="1123430"/>
                </a:lnTo>
                <a:cubicBezTo>
                  <a:pt x="7055126" y="1148247"/>
                  <a:pt x="7035008" y="1168365"/>
                  <a:pt x="7010191" y="1168365"/>
                </a:cubicBezTo>
                <a:lnTo>
                  <a:pt x="44935" y="1168365"/>
                </a:lnTo>
                <a:cubicBezTo>
                  <a:pt x="20118" y="1168365"/>
                  <a:pt x="0" y="1148247"/>
                  <a:pt x="0" y="1123430"/>
                </a:cubicBezTo>
                <a:lnTo>
                  <a:pt x="0" y="44935"/>
                </a:lnTo>
                <a:cubicBezTo>
                  <a:pt x="0" y="20118"/>
                  <a:pt x="20118" y="0"/>
                  <a:pt x="449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3805" y="4375751"/>
            <a:ext cx="3108735" cy="859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$SPARK_HOME/bin/spark-shell \ --master spark://master:7077 \ --executor-memory 2g \ --total-executor-cores 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8994" y="5572202"/>
            <a:ext cx="7055126" cy="1617736"/>
          </a:xfrm>
          <a:custGeom>
            <a:avLst/>
            <a:gdLst/>
            <a:ahLst/>
            <a:cxnLst/>
            <a:rect l="l" t="t" r="r" b="b"/>
            <a:pathLst>
              <a:path w="7055126" h="1617736">
                <a:moveTo>
                  <a:pt x="44941" y="0"/>
                </a:moveTo>
                <a:lnTo>
                  <a:pt x="7010186" y="0"/>
                </a:lnTo>
                <a:cubicBezTo>
                  <a:pt x="7035006" y="0"/>
                  <a:pt x="7055126" y="20121"/>
                  <a:pt x="7055126" y="44941"/>
                </a:cubicBezTo>
                <a:lnTo>
                  <a:pt x="7055126" y="1572795"/>
                </a:lnTo>
                <a:cubicBezTo>
                  <a:pt x="7055126" y="1597615"/>
                  <a:pt x="7035006" y="1617736"/>
                  <a:pt x="7010186" y="1617736"/>
                </a:cubicBezTo>
                <a:lnTo>
                  <a:pt x="44941" y="1617736"/>
                </a:lnTo>
                <a:cubicBezTo>
                  <a:pt x="20121" y="1617736"/>
                  <a:pt x="0" y="1597615"/>
                  <a:pt x="0" y="1572795"/>
                </a:cubicBezTo>
                <a:lnTo>
                  <a:pt x="0" y="44941"/>
                </a:lnTo>
                <a:cubicBezTo>
                  <a:pt x="0" y="20137"/>
                  <a:pt x="20137" y="0"/>
                  <a:pt x="44941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98742" y="5751950"/>
            <a:ext cx="6785504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 优势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1041" y="6156384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85216" y="6111447"/>
            <a:ext cx="188735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函数式编程语法更简洁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1041" y="6470944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85216" y="6426007"/>
            <a:ext cx="188735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类型安全，编译时检查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1041" y="6785504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85216" y="6740567"/>
            <a:ext cx="1864890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的原生开发语言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5894" y="1752547"/>
            <a:ext cx="7526966" cy="5662076"/>
          </a:xfrm>
          <a:custGeom>
            <a:avLst/>
            <a:gdLst/>
            <a:ahLst/>
            <a:cxnLst/>
            <a:rect l="l" t="t" r="r" b="b"/>
            <a:pathLst>
              <a:path w="7526966" h="5662076">
                <a:moveTo>
                  <a:pt x="44937" y="0"/>
                </a:moveTo>
                <a:lnTo>
                  <a:pt x="7392152" y="0"/>
                </a:lnTo>
                <a:cubicBezTo>
                  <a:pt x="7466608" y="0"/>
                  <a:pt x="7526966" y="60358"/>
                  <a:pt x="7526966" y="134814"/>
                </a:cubicBezTo>
                <a:lnTo>
                  <a:pt x="7526966" y="5527262"/>
                </a:lnTo>
                <a:cubicBezTo>
                  <a:pt x="7526966" y="5601718"/>
                  <a:pt x="7466608" y="5662076"/>
                  <a:pt x="7392152" y="5662076"/>
                </a:cubicBezTo>
                <a:lnTo>
                  <a:pt x="44937" y="5662076"/>
                </a:lnTo>
                <a:cubicBezTo>
                  <a:pt x="20119" y="5662076"/>
                  <a:pt x="0" y="5641957"/>
                  <a:pt x="0" y="5617139"/>
                </a:cubicBezTo>
                <a:lnTo>
                  <a:pt x="0" y="44937"/>
                </a:lnTo>
                <a:cubicBezTo>
                  <a:pt x="0" y="20136"/>
                  <a:pt x="20136" y="0"/>
                  <a:pt x="4493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85894" y="1752547"/>
            <a:ext cx="44937" cy="5662076"/>
          </a:xfrm>
          <a:custGeom>
            <a:avLst/>
            <a:gdLst/>
            <a:ahLst/>
            <a:cxnLst/>
            <a:rect l="l" t="t" r="r" b="b"/>
            <a:pathLst>
              <a:path w="44937" h="5662076">
                <a:moveTo>
                  <a:pt x="44937" y="0"/>
                </a:moveTo>
                <a:lnTo>
                  <a:pt x="44937" y="0"/>
                </a:lnTo>
                <a:lnTo>
                  <a:pt x="44937" y="5662076"/>
                </a:lnTo>
                <a:lnTo>
                  <a:pt x="44937" y="5662076"/>
                </a:lnTo>
                <a:cubicBezTo>
                  <a:pt x="20119" y="5662076"/>
                  <a:pt x="0" y="5641957"/>
                  <a:pt x="0" y="5617139"/>
                </a:cubicBezTo>
                <a:lnTo>
                  <a:pt x="0" y="44937"/>
                </a:lnTo>
                <a:cubicBezTo>
                  <a:pt x="0" y="20119"/>
                  <a:pt x="20119" y="0"/>
                  <a:pt x="44937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99050" y="1988467"/>
            <a:ext cx="294900" cy="337028"/>
          </a:xfrm>
          <a:custGeom>
            <a:avLst/>
            <a:gdLst/>
            <a:ahLst/>
            <a:cxnLst/>
            <a:rect l="l" t="t" r="r" b="b"/>
            <a:pathLst>
              <a:path w="294900" h="337028">
                <a:moveTo>
                  <a:pt x="289502" y="131981"/>
                </a:moveTo>
                <a:cubicBezTo>
                  <a:pt x="284433" y="111641"/>
                  <a:pt x="274823" y="96303"/>
                  <a:pt x="254351" y="96303"/>
                </a:cubicBezTo>
                <a:lnTo>
                  <a:pt x="227955" y="96303"/>
                </a:lnTo>
                <a:lnTo>
                  <a:pt x="227955" y="127505"/>
                </a:lnTo>
                <a:cubicBezTo>
                  <a:pt x="227955" y="151729"/>
                  <a:pt x="207417" y="172135"/>
                  <a:pt x="183983" y="172135"/>
                </a:cubicBezTo>
                <a:lnTo>
                  <a:pt x="113681" y="172135"/>
                </a:lnTo>
                <a:cubicBezTo>
                  <a:pt x="94460" y="172135"/>
                  <a:pt x="78530" y="188591"/>
                  <a:pt x="78530" y="207878"/>
                </a:cubicBezTo>
                <a:lnTo>
                  <a:pt x="78530" y="274889"/>
                </a:lnTo>
                <a:cubicBezTo>
                  <a:pt x="78530" y="293978"/>
                  <a:pt x="95118" y="305169"/>
                  <a:pt x="113681" y="310632"/>
                </a:cubicBezTo>
                <a:cubicBezTo>
                  <a:pt x="135930" y="317149"/>
                  <a:pt x="157324" y="318334"/>
                  <a:pt x="183983" y="310632"/>
                </a:cubicBezTo>
                <a:cubicBezTo>
                  <a:pt x="201690" y="305498"/>
                  <a:pt x="219134" y="295163"/>
                  <a:pt x="219134" y="274889"/>
                </a:cubicBezTo>
                <a:lnTo>
                  <a:pt x="219134" y="248098"/>
                </a:lnTo>
                <a:lnTo>
                  <a:pt x="148898" y="248098"/>
                </a:lnTo>
                <a:lnTo>
                  <a:pt x="148898" y="239145"/>
                </a:lnTo>
                <a:lnTo>
                  <a:pt x="254351" y="239145"/>
                </a:lnTo>
                <a:cubicBezTo>
                  <a:pt x="274823" y="239145"/>
                  <a:pt x="282393" y="224861"/>
                  <a:pt x="289502" y="203468"/>
                </a:cubicBezTo>
                <a:cubicBezTo>
                  <a:pt x="296875" y="181416"/>
                  <a:pt x="296545" y="160220"/>
                  <a:pt x="289502" y="131981"/>
                </a:cubicBezTo>
                <a:close/>
                <a:moveTo>
                  <a:pt x="188394" y="292728"/>
                </a:moveTo>
                <a:cubicBezTo>
                  <a:pt x="183384" y="293079"/>
                  <a:pt x="178596" y="290605"/>
                  <a:pt x="175984" y="286316"/>
                </a:cubicBezTo>
                <a:cubicBezTo>
                  <a:pt x="173373" y="282026"/>
                  <a:pt x="173373" y="276638"/>
                  <a:pt x="175984" y="272348"/>
                </a:cubicBezTo>
                <a:cubicBezTo>
                  <a:pt x="178596" y="268059"/>
                  <a:pt x="183384" y="265585"/>
                  <a:pt x="188394" y="265936"/>
                </a:cubicBezTo>
                <a:cubicBezTo>
                  <a:pt x="193403" y="265585"/>
                  <a:pt x="198191" y="268059"/>
                  <a:pt x="200803" y="272348"/>
                </a:cubicBezTo>
                <a:cubicBezTo>
                  <a:pt x="203415" y="276638"/>
                  <a:pt x="203415" y="282026"/>
                  <a:pt x="200803" y="286316"/>
                </a:cubicBezTo>
                <a:cubicBezTo>
                  <a:pt x="198191" y="290605"/>
                  <a:pt x="193403" y="293079"/>
                  <a:pt x="188394" y="292728"/>
                </a:cubicBezTo>
                <a:close/>
                <a:moveTo>
                  <a:pt x="110456" y="163314"/>
                </a:moveTo>
                <a:lnTo>
                  <a:pt x="180758" y="163314"/>
                </a:lnTo>
                <a:cubicBezTo>
                  <a:pt x="200308" y="163314"/>
                  <a:pt x="215909" y="147187"/>
                  <a:pt x="215909" y="127570"/>
                </a:cubicBezTo>
                <a:lnTo>
                  <a:pt x="215909" y="60494"/>
                </a:lnTo>
                <a:cubicBezTo>
                  <a:pt x="215909" y="41404"/>
                  <a:pt x="199847" y="27120"/>
                  <a:pt x="180758" y="23895"/>
                </a:cubicBezTo>
                <a:cubicBezTo>
                  <a:pt x="157192" y="20011"/>
                  <a:pt x="131586" y="20209"/>
                  <a:pt x="110456" y="23961"/>
                </a:cubicBezTo>
                <a:cubicBezTo>
                  <a:pt x="80702" y="29227"/>
                  <a:pt x="75305" y="40220"/>
                  <a:pt x="75305" y="60560"/>
                </a:cubicBezTo>
                <a:lnTo>
                  <a:pt x="75305" y="87351"/>
                </a:lnTo>
                <a:lnTo>
                  <a:pt x="145673" y="87351"/>
                </a:lnTo>
                <a:lnTo>
                  <a:pt x="145673" y="96303"/>
                </a:lnTo>
                <a:lnTo>
                  <a:pt x="48909" y="96303"/>
                </a:lnTo>
                <a:cubicBezTo>
                  <a:pt x="28437" y="96303"/>
                  <a:pt x="10532" y="108613"/>
                  <a:pt x="4937" y="131981"/>
                </a:cubicBezTo>
                <a:cubicBezTo>
                  <a:pt x="-1514" y="158772"/>
                  <a:pt x="-1777" y="175492"/>
                  <a:pt x="4937" y="203468"/>
                </a:cubicBezTo>
                <a:cubicBezTo>
                  <a:pt x="9940" y="224269"/>
                  <a:pt x="21854" y="239145"/>
                  <a:pt x="42326" y="239145"/>
                </a:cubicBezTo>
                <a:lnTo>
                  <a:pt x="66484" y="239145"/>
                </a:lnTo>
                <a:lnTo>
                  <a:pt x="66484" y="207022"/>
                </a:lnTo>
                <a:cubicBezTo>
                  <a:pt x="66484" y="183786"/>
                  <a:pt x="86561" y="163314"/>
                  <a:pt x="110456" y="163314"/>
                </a:cubicBezTo>
                <a:close/>
                <a:moveTo>
                  <a:pt x="106111" y="42589"/>
                </a:moveTo>
                <a:cubicBezTo>
                  <a:pt x="113523" y="42589"/>
                  <a:pt x="119540" y="48606"/>
                  <a:pt x="119540" y="56018"/>
                </a:cubicBezTo>
                <a:cubicBezTo>
                  <a:pt x="119540" y="63429"/>
                  <a:pt x="113523" y="69446"/>
                  <a:pt x="106111" y="69446"/>
                </a:cubicBezTo>
                <a:cubicBezTo>
                  <a:pt x="98700" y="69446"/>
                  <a:pt x="92683" y="63429"/>
                  <a:pt x="92683" y="56018"/>
                </a:cubicBezTo>
                <a:cubicBezTo>
                  <a:pt x="92683" y="48606"/>
                  <a:pt x="98700" y="42589"/>
                  <a:pt x="106111" y="4258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089145" y="1977233"/>
            <a:ext cx="2853507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版本：pyspark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33048" y="2516478"/>
            <a:ext cx="715623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 PySpark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33048" y="2920912"/>
            <a:ext cx="7055126" cy="718994"/>
          </a:xfrm>
          <a:custGeom>
            <a:avLst/>
            <a:gdLst/>
            <a:ahLst/>
            <a:cxnLst/>
            <a:rect l="l" t="t" r="r" b="b"/>
            <a:pathLst>
              <a:path w="7055126" h="718994">
                <a:moveTo>
                  <a:pt x="44937" y="0"/>
                </a:moveTo>
                <a:lnTo>
                  <a:pt x="7010189" y="0"/>
                </a:lnTo>
                <a:cubicBezTo>
                  <a:pt x="7035007" y="0"/>
                  <a:pt x="7055126" y="20119"/>
                  <a:pt x="7055126" y="44937"/>
                </a:cubicBezTo>
                <a:lnTo>
                  <a:pt x="7055126" y="674057"/>
                </a:lnTo>
                <a:cubicBezTo>
                  <a:pt x="7055126" y="698875"/>
                  <a:pt x="7035007" y="718994"/>
                  <a:pt x="7010189" y="718994"/>
                </a:cubicBezTo>
                <a:lnTo>
                  <a:pt x="44937" y="718994"/>
                </a:lnTo>
                <a:cubicBezTo>
                  <a:pt x="20119" y="718994"/>
                  <a:pt x="0" y="698875"/>
                  <a:pt x="0" y="674057"/>
                </a:cubicBezTo>
                <a:lnTo>
                  <a:pt x="0" y="44937"/>
                </a:lnTo>
                <a:cubicBezTo>
                  <a:pt x="0" y="20119"/>
                  <a:pt x="20119" y="0"/>
                  <a:pt x="4493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67860" y="3072575"/>
            <a:ext cx="2445913" cy="41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$SPARK_HOME/bin/pyspark \ --master local[2]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3048" y="3819654"/>
            <a:ext cx="7055126" cy="1617736"/>
          </a:xfrm>
          <a:custGeom>
            <a:avLst/>
            <a:gdLst/>
            <a:ahLst/>
            <a:cxnLst/>
            <a:rect l="l" t="t" r="r" b="b"/>
            <a:pathLst>
              <a:path w="7055126" h="1617736">
                <a:moveTo>
                  <a:pt x="44941" y="0"/>
                </a:moveTo>
                <a:lnTo>
                  <a:pt x="7010186" y="0"/>
                </a:lnTo>
                <a:cubicBezTo>
                  <a:pt x="7035006" y="0"/>
                  <a:pt x="7055126" y="20121"/>
                  <a:pt x="7055126" y="44941"/>
                </a:cubicBezTo>
                <a:lnTo>
                  <a:pt x="7055126" y="1572795"/>
                </a:lnTo>
                <a:cubicBezTo>
                  <a:pt x="7055126" y="1597615"/>
                  <a:pt x="7035006" y="1617736"/>
                  <a:pt x="7010186" y="1617736"/>
                </a:cubicBezTo>
                <a:lnTo>
                  <a:pt x="44941" y="1617736"/>
                </a:lnTo>
                <a:cubicBezTo>
                  <a:pt x="20121" y="1617736"/>
                  <a:pt x="0" y="1597615"/>
                  <a:pt x="0" y="1572795"/>
                </a:cubicBezTo>
                <a:lnTo>
                  <a:pt x="0" y="44941"/>
                </a:lnTo>
                <a:cubicBezTo>
                  <a:pt x="0" y="20137"/>
                  <a:pt x="20137" y="0"/>
                  <a:pt x="4494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12797" y="3999403"/>
            <a:ext cx="6785504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优势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45095" y="4403837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999271" y="4358900"/>
            <a:ext cx="2067107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学习曲线平缓，易于上手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45095" y="4718397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99271" y="4673460"/>
            <a:ext cx="1527862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数据科学生态丰富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45095" y="5032956"/>
            <a:ext cx="137620" cy="157280"/>
          </a:xfrm>
          <a:custGeom>
            <a:avLst/>
            <a:gdLst/>
            <a:ahLst/>
            <a:cxnLst/>
            <a:rect l="l" t="t" r="r" b="b"/>
            <a:pathLst>
              <a:path w="137620" h="157280">
                <a:moveTo>
                  <a:pt x="133565" y="21534"/>
                </a:moveTo>
                <a:cubicBezTo>
                  <a:pt x="137958" y="24729"/>
                  <a:pt x="138941" y="30872"/>
                  <a:pt x="135746" y="35265"/>
                </a:cubicBezTo>
                <a:lnTo>
                  <a:pt x="57106" y="143395"/>
                </a:lnTo>
                <a:cubicBezTo>
                  <a:pt x="55417" y="145730"/>
                  <a:pt x="52805" y="147173"/>
                  <a:pt x="49918" y="147419"/>
                </a:cubicBezTo>
                <a:cubicBezTo>
                  <a:pt x="47030" y="147665"/>
                  <a:pt x="44235" y="146590"/>
                  <a:pt x="42208" y="144562"/>
                </a:cubicBezTo>
                <a:lnTo>
                  <a:pt x="2888" y="105242"/>
                </a:lnTo>
                <a:cubicBezTo>
                  <a:pt x="-952" y="101403"/>
                  <a:pt x="-952" y="95167"/>
                  <a:pt x="2888" y="91327"/>
                </a:cubicBezTo>
                <a:cubicBezTo>
                  <a:pt x="6727" y="87487"/>
                  <a:pt x="12963" y="87487"/>
                  <a:pt x="16803" y="91327"/>
                </a:cubicBezTo>
                <a:lnTo>
                  <a:pt x="47983" y="122506"/>
                </a:lnTo>
                <a:lnTo>
                  <a:pt x="119864" y="23684"/>
                </a:lnTo>
                <a:cubicBezTo>
                  <a:pt x="123059" y="19291"/>
                  <a:pt x="129203" y="18308"/>
                  <a:pt x="133596" y="21503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99271" y="4988019"/>
            <a:ext cx="2471541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NumPy、Pandas 无缝集成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33048" y="5617139"/>
            <a:ext cx="7055126" cy="1393050"/>
          </a:xfrm>
          <a:custGeom>
            <a:avLst/>
            <a:gdLst/>
            <a:ahLst/>
            <a:cxnLst/>
            <a:rect l="l" t="t" r="r" b="b"/>
            <a:pathLst>
              <a:path w="7055126" h="1393050">
                <a:moveTo>
                  <a:pt x="44940" y="0"/>
                </a:moveTo>
                <a:lnTo>
                  <a:pt x="7010187" y="0"/>
                </a:lnTo>
                <a:cubicBezTo>
                  <a:pt x="7035006" y="0"/>
                  <a:pt x="7055126" y="20120"/>
                  <a:pt x="7055126" y="44940"/>
                </a:cubicBezTo>
                <a:lnTo>
                  <a:pt x="7055126" y="1348111"/>
                </a:lnTo>
                <a:cubicBezTo>
                  <a:pt x="7055126" y="1372930"/>
                  <a:pt x="7035006" y="1393050"/>
                  <a:pt x="7010187" y="1393050"/>
                </a:cubicBezTo>
                <a:lnTo>
                  <a:pt x="44940" y="1393050"/>
                </a:lnTo>
                <a:cubicBezTo>
                  <a:pt x="20120" y="1393050"/>
                  <a:pt x="0" y="1372930"/>
                  <a:pt x="0" y="1348111"/>
                </a:cubicBezTo>
                <a:lnTo>
                  <a:pt x="0" y="44940"/>
                </a:lnTo>
                <a:cubicBezTo>
                  <a:pt x="0" y="20137"/>
                  <a:pt x="20137" y="0"/>
                  <a:pt x="4494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12797" y="5796887"/>
            <a:ext cx="6785504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PySpark 示例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12797" y="6173236"/>
            <a:ext cx="3960961" cy="634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&gt;&gt;&gt; rdd = sc.parallelize([1, 2, 3, 4, 5]) &gt;&gt;&gt; rdd.map(lambda x: x * 2).collect() [2, 4, 6, 8, 10]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4988" y="7644926"/>
            <a:ext cx="4954317" cy="1044788"/>
          </a:xfrm>
          <a:custGeom>
            <a:avLst/>
            <a:gdLst/>
            <a:ahLst/>
            <a:cxnLst/>
            <a:rect l="l" t="t" r="r" b="b"/>
            <a:pathLst>
              <a:path w="4954317" h="1044788">
                <a:moveTo>
                  <a:pt x="134809" y="0"/>
                </a:moveTo>
                <a:lnTo>
                  <a:pt x="4819508" y="0"/>
                </a:lnTo>
                <a:cubicBezTo>
                  <a:pt x="4893960" y="0"/>
                  <a:pt x="4954317" y="60356"/>
                  <a:pt x="4954317" y="134809"/>
                </a:cubicBezTo>
                <a:lnTo>
                  <a:pt x="4954317" y="909979"/>
                </a:lnTo>
                <a:cubicBezTo>
                  <a:pt x="4954317" y="984382"/>
                  <a:pt x="4893911" y="1044788"/>
                  <a:pt x="4819508" y="1044788"/>
                </a:cubicBezTo>
                <a:lnTo>
                  <a:pt x="134809" y="1044788"/>
                </a:lnTo>
                <a:cubicBezTo>
                  <a:pt x="60356" y="1044788"/>
                  <a:pt x="0" y="984432"/>
                  <a:pt x="0" y="909979"/>
                </a:cubicBezTo>
                <a:lnTo>
                  <a:pt x="0" y="134809"/>
                </a:lnTo>
                <a:cubicBezTo>
                  <a:pt x="0" y="60406"/>
                  <a:pt x="60406" y="0"/>
                  <a:pt x="134809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68440" y="7886463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3713" y="46842"/>
                </a:moveTo>
                <a:cubicBezTo>
                  <a:pt x="-1224" y="41905"/>
                  <a:pt x="-1224" y="33887"/>
                  <a:pt x="3713" y="28950"/>
                </a:cubicBezTo>
                <a:cubicBezTo>
                  <a:pt x="8650" y="24013"/>
                  <a:pt x="16667" y="24013"/>
                  <a:pt x="21604" y="28950"/>
                </a:cubicBezTo>
                <a:lnTo>
                  <a:pt x="84797" y="92143"/>
                </a:lnTo>
                <a:cubicBezTo>
                  <a:pt x="89734" y="97080"/>
                  <a:pt x="89734" y="105098"/>
                  <a:pt x="84797" y="110034"/>
                </a:cubicBezTo>
                <a:lnTo>
                  <a:pt x="21604" y="173227"/>
                </a:lnTo>
                <a:cubicBezTo>
                  <a:pt x="16667" y="178164"/>
                  <a:pt x="8650" y="178164"/>
                  <a:pt x="3713" y="173227"/>
                </a:cubicBezTo>
                <a:cubicBezTo>
                  <a:pt x="-1224" y="168290"/>
                  <a:pt x="-1224" y="160273"/>
                  <a:pt x="3713" y="155336"/>
                </a:cubicBezTo>
                <a:lnTo>
                  <a:pt x="57940" y="101109"/>
                </a:lnTo>
                <a:lnTo>
                  <a:pt x="3713" y="46842"/>
                </a:lnTo>
                <a:close/>
                <a:moveTo>
                  <a:pt x="88470" y="151663"/>
                </a:moveTo>
                <a:lnTo>
                  <a:pt x="189578" y="151663"/>
                </a:lnTo>
                <a:cubicBezTo>
                  <a:pt x="196569" y="151663"/>
                  <a:pt x="202217" y="157311"/>
                  <a:pt x="202217" y="164301"/>
                </a:cubicBezTo>
                <a:cubicBezTo>
                  <a:pt x="202217" y="171292"/>
                  <a:pt x="196569" y="176940"/>
                  <a:pt x="189578" y="176940"/>
                </a:cubicBezTo>
                <a:lnTo>
                  <a:pt x="88470" y="176940"/>
                </a:lnTo>
                <a:cubicBezTo>
                  <a:pt x="81479" y="176940"/>
                  <a:pt x="75831" y="171292"/>
                  <a:pt x="75831" y="164301"/>
                </a:cubicBezTo>
                <a:cubicBezTo>
                  <a:pt x="75831" y="157311"/>
                  <a:pt x="81479" y="151663"/>
                  <a:pt x="88470" y="1516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98742" y="7830292"/>
            <a:ext cx="442630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交互式体验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354" y="8234726"/>
            <a:ext cx="4673460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实时编写和执行代码，即时查看结果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49350" y="7644926"/>
            <a:ext cx="4954317" cy="1044788"/>
          </a:xfrm>
          <a:custGeom>
            <a:avLst/>
            <a:gdLst/>
            <a:ahLst/>
            <a:cxnLst/>
            <a:rect l="l" t="t" r="r" b="b"/>
            <a:pathLst>
              <a:path w="4954317" h="1044788">
                <a:moveTo>
                  <a:pt x="134809" y="0"/>
                </a:moveTo>
                <a:lnTo>
                  <a:pt x="4819508" y="0"/>
                </a:lnTo>
                <a:cubicBezTo>
                  <a:pt x="4893960" y="0"/>
                  <a:pt x="4954317" y="60356"/>
                  <a:pt x="4954317" y="134809"/>
                </a:cubicBezTo>
                <a:lnTo>
                  <a:pt x="4954317" y="909979"/>
                </a:lnTo>
                <a:cubicBezTo>
                  <a:pt x="4954317" y="984382"/>
                  <a:pt x="4893911" y="1044788"/>
                  <a:pt x="4819508" y="1044788"/>
                </a:cubicBezTo>
                <a:lnTo>
                  <a:pt x="134809" y="1044788"/>
                </a:lnTo>
                <a:cubicBezTo>
                  <a:pt x="60356" y="1044788"/>
                  <a:pt x="0" y="984432"/>
                  <a:pt x="0" y="909979"/>
                </a:cubicBezTo>
                <a:lnTo>
                  <a:pt x="0" y="134809"/>
                </a:lnTo>
                <a:cubicBezTo>
                  <a:pt x="0" y="60406"/>
                  <a:pt x="60406" y="0"/>
                  <a:pt x="134809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850162" y="7886463"/>
            <a:ext cx="227494" cy="202217"/>
          </a:xfrm>
          <a:custGeom>
            <a:avLst/>
            <a:gdLst/>
            <a:ahLst/>
            <a:cxnLst/>
            <a:rect l="l" t="t" r="r" b="b"/>
            <a:pathLst>
              <a:path w="227494" h="202217">
                <a:moveTo>
                  <a:pt x="75831" y="37916"/>
                </a:moveTo>
                <a:cubicBezTo>
                  <a:pt x="75831" y="16983"/>
                  <a:pt x="92814" y="0"/>
                  <a:pt x="113747" y="0"/>
                </a:cubicBezTo>
                <a:cubicBezTo>
                  <a:pt x="134680" y="0"/>
                  <a:pt x="151663" y="16983"/>
                  <a:pt x="151663" y="37916"/>
                </a:cubicBezTo>
                <a:lnTo>
                  <a:pt x="151663" y="39338"/>
                </a:lnTo>
                <a:cubicBezTo>
                  <a:pt x="151663" y="45538"/>
                  <a:pt x="146647" y="50554"/>
                  <a:pt x="140446" y="50554"/>
                </a:cubicBezTo>
                <a:lnTo>
                  <a:pt x="87088" y="50554"/>
                </a:lnTo>
                <a:cubicBezTo>
                  <a:pt x="80887" y="50554"/>
                  <a:pt x="75871" y="45538"/>
                  <a:pt x="75871" y="39338"/>
                </a:cubicBezTo>
                <a:lnTo>
                  <a:pt x="75871" y="37916"/>
                </a:lnTo>
                <a:close/>
                <a:moveTo>
                  <a:pt x="212328" y="42971"/>
                </a:moveTo>
                <a:cubicBezTo>
                  <a:pt x="216514" y="48540"/>
                  <a:pt x="215369" y="56479"/>
                  <a:pt x="209800" y="60665"/>
                </a:cubicBezTo>
                <a:lnTo>
                  <a:pt x="171174" y="89615"/>
                </a:lnTo>
                <a:cubicBezTo>
                  <a:pt x="173267" y="93130"/>
                  <a:pt x="174847" y="97001"/>
                  <a:pt x="175834" y="101109"/>
                </a:cubicBezTo>
                <a:lnTo>
                  <a:pt x="214856" y="101109"/>
                </a:lnTo>
                <a:cubicBezTo>
                  <a:pt x="221846" y="101109"/>
                  <a:pt x="227494" y="106756"/>
                  <a:pt x="227494" y="113747"/>
                </a:cubicBezTo>
                <a:cubicBezTo>
                  <a:pt x="227494" y="120738"/>
                  <a:pt x="221846" y="126386"/>
                  <a:pt x="214856" y="126386"/>
                </a:cubicBezTo>
                <a:lnTo>
                  <a:pt x="176940" y="126386"/>
                </a:lnTo>
                <a:lnTo>
                  <a:pt x="176940" y="139024"/>
                </a:lnTo>
                <a:cubicBezTo>
                  <a:pt x="176940" y="140051"/>
                  <a:pt x="176900" y="141117"/>
                  <a:pt x="176861" y="142144"/>
                </a:cubicBezTo>
                <a:lnTo>
                  <a:pt x="209800" y="166829"/>
                </a:lnTo>
                <a:cubicBezTo>
                  <a:pt x="215369" y="171016"/>
                  <a:pt x="216514" y="178954"/>
                  <a:pt x="212328" y="184523"/>
                </a:cubicBezTo>
                <a:cubicBezTo>
                  <a:pt x="208141" y="190092"/>
                  <a:pt x="200203" y="191237"/>
                  <a:pt x="194634" y="187051"/>
                </a:cubicBezTo>
                <a:lnTo>
                  <a:pt x="169712" y="168369"/>
                </a:lnTo>
                <a:cubicBezTo>
                  <a:pt x="160549" y="185826"/>
                  <a:pt x="143448" y="198465"/>
                  <a:pt x="123226" y="201506"/>
                </a:cubicBezTo>
                <a:lnTo>
                  <a:pt x="123226" y="110587"/>
                </a:lnTo>
                <a:cubicBezTo>
                  <a:pt x="123226" y="105335"/>
                  <a:pt x="119000" y="101109"/>
                  <a:pt x="113747" y="101109"/>
                </a:cubicBezTo>
                <a:cubicBezTo>
                  <a:pt x="108494" y="101109"/>
                  <a:pt x="104268" y="105335"/>
                  <a:pt x="104268" y="110587"/>
                </a:cubicBezTo>
                <a:lnTo>
                  <a:pt x="104268" y="201506"/>
                </a:lnTo>
                <a:cubicBezTo>
                  <a:pt x="84046" y="198465"/>
                  <a:pt x="66945" y="185826"/>
                  <a:pt x="57782" y="168369"/>
                </a:cubicBezTo>
                <a:lnTo>
                  <a:pt x="32860" y="187051"/>
                </a:lnTo>
                <a:cubicBezTo>
                  <a:pt x="27291" y="191237"/>
                  <a:pt x="19353" y="190092"/>
                  <a:pt x="15166" y="184523"/>
                </a:cubicBezTo>
                <a:cubicBezTo>
                  <a:pt x="10980" y="178954"/>
                  <a:pt x="12125" y="171016"/>
                  <a:pt x="17694" y="166829"/>
                </a:cubicBezTo>
                <a:lnTo>
                  <a:pt x="50633" y="142144"/>
                </a:lnTo>
                <a:cubicBezTo>
                  <a:pt x="50594" y="141117"/>
                  <a:pt x="50554" y="140091"/>
                  <a:pt x="50554" y="139024"/>
                </a:cubicBezTo>
                <a:lnTo>
                  <a:pt x="50554" y="126386"/>
                </a:lnTo>
                <a:lnTo>
                  <a:pt x="12639" y="126386"/>
                </a:lnTo>
                <a:cubicBezTo>
                  <a:pt x="5648" y="126386"/>
                  <a:pt x="0" y="120738"/>
                  <a:pt x="0" y="113747"/>
                </a:cubicBezTo>
                <a:cubicBezTo>
                  <a:pt x="0" y="106756"/>
                  <a:pt x="5648" y="101109"/>
                  <a:pt x="12639" y="101109"/>
                </a:cubicBezTo>
                <a:lnTo>
                  <a:pt x="51660" y="101109"/>
                </a:lnTo>
                <a:cubicBezTo>
                  <a:pt x="52648" y="97001"/>
                  <a:pt x="54227" y="93130"/>
                  <a:pt x="56321" y="89615"/>
                </a:cubicBezTo>
                <a:lnTo>
                  <a:pt x="17694" y="60665"/>
                </a:lnTo>
                <a:cubicBezTo>
                  <a:pt x="12125" y="56479"/>
                  <a:pt x="10980" y="48540"/>
                  <a:pt x="15166" y="42971"/>
                </a:cubicBezTo>
                <a:cubicBezTo>
                  <a:pt x="19353" y="37402"/>
                  <a:pt x="27291" y="36257"/>
                  <a:pt x="32860" y="40443"/>
                </a:cubicBezTo>
                <a:lnTo>
                  <a:pt x="75831" y="72672"/>
                </a:lnTo>
                <a:cubicBezTo>
                  <a:pt x="80689" y="70657"/>
                  <a:pt x="86021" y="69512"/>
                  <a:pt x="91630" y="69512"/>
                </a:cubicBezTo>
                <a:lnTo>
                  <a:pt x="135865" y="69512"/>
                </a:lnTo>
                <a:cubicBezTo>
                  <a:pt x="141473" y="69512"/>
                  <a:pt x="146805" y="70618"/>
                  <a:pt x="151663" y="72672"/>
                </a:cubicBezTo>
                <a:lnTo>
                  <a:pt x="194634" y="40443"/>
                </a:lnTo>
                <a:cubicBezTo>
                  <a:pt x="200203" y="36257"/>
                  <a:pt x="208141" y="37402"/>
                  <a:pt x="212328" y="4297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93104" y="7830292"/>
            <a:ext cx="442630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调试工具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34715" y="8234726"/>
            <a:ext cx="4673460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查看血缘关系、分区信息、执行计划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43711" y="7644926"/>
            <a:ext cx="4954317" cy="1044788"/>
          </a:xfrm>
          <a:custGeom>
            <a:avLst/>
            <a:gdLst/>
            <a:ahLst/>
            <a:cxnLst/>
            <a:rect l="l" t="t" r="r" b="b"/>
            <a:pathLst>
              <a:path w="4954317" h="1044788">
                <a:moveTo>
                  <a:pt x="134809" y="0"/>
                </a:moveTo>
                <a:lnTo>
                  <a:pt x="4819508" y="0"/>
                </a:lnTo>
                <a:cubicBezTo>
                  <a:pt x="4893960" y="0"/>
                  <a:pt x="4954317" y="60356"/>
                  <a:pt x="4954317" y="134809"/>
                </a:cubicBezTo>
                <a:lnTo>
                  <a:pt x="4954317" y="909979"/>
                </a:lnTo>
                <a:cubicBezTo>
                  <a:pt x="4954317" y="984382"/>
                  <a:pt x="4893911" y="1044788"/>
                  <a:pt x="4819508" y="1044788"/>
                </a:cubicBezTo>
                <a:lnTo>
                  <a:pt x="134809" y="1044788"/>
                </a:lnTo>
                <a:cubicBezTo>
                  <a:pt x="60356" y="1044788"/>
                  <a:pt x="0" y="984432"/>
                  <a:pt x="0" y="909979"/>
                </a:cubicBezTo>
                <a:lnTo>
                  <a:pt x="0" y="134809"/>
                </a:lnTo>
                <a:cubicBezTo>
                  <a:pt x="0" y="60406"/>
                  <a:pt x="60406" y="0"/>
                  <a:pt x="134809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1044524" y="7886463"/>
            <a:ext cx="227494" cy="202217"/>
          </a:xfrm>
          <a:custGeom>
            <a:avLst/>
            <a:gdLst/>
            <a:ahLst/>
            <a:cxnLst/>
            <a:rect l="l" t="t" r="r" b="b"/>
            <a:pathLst>
              <a:path w="227494" h="202217">
                <a:moveTo>
                  <a:pt x="18958" y="77332"/>
                </a:moveTo>
                <a:lnTo>
                  <a:pt x="101582" y="111338"/>
                </a:lnTo>
                <a:cubicBezTo>
                  <a:pt x="105453" y="112918"/>
                  <a:pt x="109561" y="113747"/>
                  <a:pt x="113747" y="113747"/>
                </a:cubicBezTo>
                <a:cubicBezTo>
                  <a:pt x="117934" y="113747"/>
                  <a:pt x="122041" y="112918"/>
                  <a:pt x="125912" y="111338"/>
                </a:cubicBezTo>
                <a:lnTo>
                  <a:pt x="221649" y="71921"/>
                </a:lnTo>
                <a:cubicBezTo>
                  <a:pt x="225203" y="70460"/>
                  <a:pt x="227494" y="67024"/>
                  <a:pt x="227494" y="63193"/>
                </a:cubicBezTo>
                <a:cubicBezTo>
                  <a:pt x="227494" y="59362"/>
                  <a:pt x="225203" y="55926"/>
                  <a:pt x="221649" y="54464"/>
                </a:cubicBezTo>
                <a:lnTo>
                  <a:pt x="125912" y="15048"/>
                </a:lnTo>
                <a:cubicBezTo>
                  <a:pt x="122041" y="13468"/>
                  <a:pt x="117934" y="12639"/>
                  <a:pt x="113747" y="12639"/>
                </a:cubicBezTo>
                <a:cubicBezTo>
                  <a:pt x="109561" y="12639"/>
                  <a:pt x="105453" y="13468"/>
                  <a:pt x="101582" y="15048"/>
                </a:cubicBezTo>
                <a:lnTo>
                  <a:pt x="5845" y="54464"/>
                </a:lnTo>
                <a:cubicBezTo>
                  <a:pt x="2291" y="55926"/>
                  <a:pt x="0" y="59362"/>
                  <a:pt x="0" y="63193"/>
                </a:cubicBezTo>
                <a:lnTo>
                  <a:pt x="0" y="180100"/>
                </a:lnTo>
                <a:cubicBezTo>
                  <a:pt x="0" y="185352"/>
                  <a:pt x="4226" y="189578"/>
                  <a:pt x="9479" y="189578"/>
                </a:cubicBezTo>
                <a:cubicBezTo>
                  <a:pt x="14732" y="189578"/>
                  <a:pt x="18958" y="185352"/>
                  <a:pt x="18958" y="180100"/>
                </a:cubicBezTo>
                <a:lnTo>
                  <a:pt x="18958" y="77332"/>
                </a:lnTo>
                <a:close/>
                <a:moveTo>
                  <a:pt x="37916" y="105650"/>
                </a:moveTo>
                <a:lnTo>
                  <a:pt x="37916" y="151663"/>
                </a:lnTo>
                <a:cubicBezTo>
                  <a:pt x="37916" y="172595"/>
                  <a:pt x="71882" y="189578"/>
                  <a:pt x="113747" y="189578"/>
                </a:cubicBezTo>
                <a:cubicBezTo>
                  <a:pt x="155612" y="189578"/>
                  <a:pt x="189578" y="172595"/>
                  <a:pt x="189578" y="151663"/>
                </a:cubicBezTo>
                <a:lnTo>
                  <a:pt x="189578" y="105611"/>
                </a:lnTo>
                <a:lnTo>
                  <a:pt x="133139" y="128874"/>
                </a:lnTo>
                <a:cubicBezTo>
                  <a:pt x="126978" y="131402"/>
                  <a:pt x="120422" y="132705"/>
                  <a:pt x="113747" y="132705"/>
                </a:cubicBezTo>
                <a:cubicBezTo>
                  <a:pt x="107072" y="132705"/>
                  <a:pt x="100516" y="131402"/>
                  <a:pt x="94355" y="128874"/>
                </a:cubicBezTo>
                <a:lnTo>
                  <a:pt x="37916" y="10561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287465" y="7830292"/>
            <a:ext cx="4426305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学习平台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29077" y="8234726"/>
            <a:ext cx="4673460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快速验证 API 用法，理解执行机制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3651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基础 RDD 操作实战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143000"/>
            <a:ext cx="15261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通过实际代码演示 RDD 的完整操作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651000"/>
            <a:ext cx="7556500" cy="5630333"/>
          </a:xfrm>
          <a:custGeom>
            <a:avLst/>
            <a:gdLst/>
            <a:ahLst/>
            <a:cxnLst/>
            <a:rect l="l" t="t" r="r" b="b"/>
            <a:pathLst>
              <a:path w="7556500" h="7715250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7588225"/>
                </a:lnTo>
                <a:cubicBezTo>
                  <a:pt x="7556500" y="7658379"/>
                  <a:pt x="7499629" y="7715250"/>
                  <a:pt x="7429475" y="7715250"/>
                </a:cubicBezTo>
                <a:lnTo>
                  <a:pt x="42333" y="7715250"/>
                </a:lnTo>
                <a:cubicBezTo>
                  <a:pt x="18953" y="7715250"/>
                  <a:pt x="0" y="7696297"/>
                  <a:pt x="0" y="7672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651000"/>
            <a:ext cx="45719" cy="5630333"/>
          </a:xfrm>
          <a:custGeom>
            <a:avLst/>
            <a:gdLst/>
            <a:ahLst/>
            <a:cxnLst/>
            <a:rect l="l" t="t" r="r" b="b"/>
            <a:pathLst>
              <a:path w="42333" h="7715250">
                <a:moveTo>
                  <a:pt x="42333" y="0"/>
                </a:moveTo>
                <a:lnTo>
                  <a:pt x="42333" y="0"/>
                </a:lnTo>
                <a:lnTo>
                  <a:pt x="42333" y="7715250"/>
                </a:lnTo>
                <a:lnTo>
                  <a:pt x="42333" y="7715250"/>
                </a:lnTo>
                <a:cubicBezTo>
                  <a:pt x="18953" y="7715250"/>
                  <a:pt x="0" y="7696297"/>
                  <a:pt x="0" y="7672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7333" y="1862667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创建和操作数字 RDD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370668"/>
            <a:ext cx="7112000" cy="3730096"/>
          </a:xfrm>
          <a:custGeom>
            <a:avLst/>
            <a:gdLst/>
            <a:ahLst/>
            <a:cxnLst/>
            <a:rect l="l" t="t" r="r" b="b"/>
            <a:pathLst>
              <a:path w="7112000" h="4677833">
                <a:moveTo>
                  <a:pt x="42334" y="0"/>
                </a:moveTo>
                <a:lnTo>
                  <a:pt x="7069666" y="0"/>
                </a:lnTo>
                <a:cubicBezTo>
                  <a:pt x="7093046" y="0"/>
                  <a:pt x="7112000" y="18954"/>
                  <a:pt x="7112000" y="42334"/>
                </a:cubicBezTo>
                <a:lnTo>
                  <a:pt x="7112000" y="4635499"/>
                </a:lnTo>
                <a:cubicBezTo>
                  <a:pt x="7112000" y="4658880"/>
                  <a:pt x="7093046" y="4677833"/>
                  <a:pt x="7069666" y="4677833"/>
                </a:cubicBezTo>
                <a:lnTo>
                  <a:pt x="42334" y="4677833"/>
                </a:lnTo>
                <a:cubicBezTo>
                  <a:pt x="18954" y="4677833"/>
                  <a:pt x="0" y="4658880"/>
                  <a:pt x="0" y="46354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6667" y="2571751"/>
            <a:ext cx="6858000" cy="3376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创建一个简单的数字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RDD</a:t>
            </a:r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numbers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sc.parallelize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 to 100)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RDD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的分区数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分区数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${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numbers.getNumPartitions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}")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执行转换操作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evenNumbers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numbers.filter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 % 2 == 0)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squares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evenNumbers.map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(x =&gt; x * x)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执行行动操作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result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squares.take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(10)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前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个偶数的平方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${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result.mkString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(", ")}")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统计操作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count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evenNumbers.count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sum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evenNumbers.reduce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 + _)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偶数个数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$count,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偶数和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$sum")</a:t>
            </a:r>
          </a:p>
        </p:txBody>
      </p:sp>
      <p:sp>
        <p:nvSpPr>
          <p:cNvPr id="10" name="Shape 8"/>
          <p:cNvSpPr/>
          <p:nvPr/>
        </p:nvSpPr>
        <p:spPr>
          <a:xfrm>
            <a:off x="677333" y="619812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40833" y="632512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70612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1-100 中的偶数个数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6833" y="619812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360333" y="632512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1500" y="670612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偶数之和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574145"/>
            <a:ext cx="7556500" cy="6707188"/>
          </a:xfrm>
          <a:custGeom>
            <a:avLst/>
            <a:gdLst/>
            <a:ahLst/>
            <a:cxnLst/>
            <a:rect l="l" t="t" r="r" b="b"/>
            <a:pathLst>
              <a:path w="7556500" h="7715250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7588225"/>
                </a:lnTo>
                <a:cubicBezTo>
                  <a:pt x="7556500" y="7658379"/>
                  <a:pt x="7499629" y="7715250"/>
                  <a:pt x="7429475" y="7715250"/>
                </a:cubicBezTo>
                <a:lnTo>
                  <a:pt x="42333" y="7715250"/>
                </a:lnTo>
                <a:cubicBezTo>
                  <a:pt x="18953" y="7715250"/>
                  <a:pt x="0" y="7696297"/>
                  <a:pt x="0" y="7672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55000" y="574145"/>
            <a:ext cx="45719" cy="6707188"/>
          </a:xfrm>
          <a:custGeom>
            <a:avLst/>
            <a:gdLst/>
            <a:ahLst/>
            <a:cxnLst/>
            <a:rect l="l" t="t" r="r" b="b"/>
            <a:pathLst>
              <a:path w="42333" h="7715250">
                <a:moveTo>
                  <a:pt x="42333" y="0"/>
                </a:moveTo>
                <a:lnTo>
                  <a:pt x="42333" y="0"/>
                </a:lnTo>
                <a:lnTo>
                  <a:pt x="42333" y="7715250"/>
                </a:lnTo>
                <a:lnTo>
                  <a:pt x="42333" y="7715250"/>
                </a:lnTo>
                <a:cubicBezTo>
                  <a:pt x="18953" y="7715250"/>
                  <a:pt x="0" y="7696297"/>
                  <a:pt x="0" y="7672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87833" y="785812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数据缓存效果演示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87833" y="1293813"/>
            <a:ext cx="7112000" cy="4711166"/>
          </a:xfrm>
          <a:custGeom>
            <a:avLst/>
            <a:gdLst/>
            <a:ahLst/>
            <a:cxnLst/>
            <a:rect l="l" t="t" r="r" b="b"/>
            <a:pathLst>
              <a:path w="7112000" h="5640917">
                <a:moveTo>
                  <a:pt x="42307" y="0"/>
                </a:moveTo>
                <a:lnTo>
                  <a:pt x="7069693" y="0"/>
                </a:lnTo>
                <a:cubicBezTo>
                  <a:pt x="7093059" y="0"/>
                  <a:pt x="7112000" y="18941"/>
                  <a:pt x="7112000" y="42307"/>
                </a:cubicBezTo>
                <a:lnTo>
                  <a:pt x="7112000" y="5598610"/>
                </a:lnTo>
                <a:cubicBezTo>
                  <a:pt x="7112000" y="5621975"/>
                  <a:pt x="7093059" y="5640917"/>
                  <a:pt x="7069693" y="5640917"/>
                </a:cubicBezTo>
                <a:lnTo>
                  <a:pt x="42307" y="5640917"/>
                </a:lnTo>
                <a:cubicBezTo>
                  <a:pt x="18941" y="5640917"/>
                  <a:pt x="0" y="5621975"/>
                  <a:pt x="0" y="5598610"/>
                </a:cubicBezTo>
                <a:lnTo>
                  <a:pt x="0" y="42307"/>
                </a:lnTo>
                <a:cubicBezTo>
                  <a:pt x="0" y="18941"/>
                  <a:pt x="18941" y="0"/>
                  <a:pt x="423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30166" y="1299104"/>
            <a:ext cx="7022042" cy="471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创建一个需要复杂计算的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RDD</a:t>
            </a:r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expensiveRDD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sc.parallelize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 to 1000000)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.map(x =&gt;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Thread.sleep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(1)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模拟耗时操作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 * x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})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第一次计算（较慢）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start1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result1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expensiveRDD.filter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 &gt; 500000).count()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time1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- start1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第一次计算耗时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${time1}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ms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结果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$result1")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缓存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RDD</a:t>
            </a:r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expensiveRDD.cache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触发缓存（执行一次行动操作）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expensiveRDD.count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第二次计算（更快）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start2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result2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expensiveRDD.filter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 &gt; 800000).count()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time2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- start2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缓存后计算耗时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${time2}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ms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结果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$result2")</a:t>
            </a:r>
          </a:p>
        </p:txBody>
      </p:sp>
      <p:sp>
        <p:nvSpPr>
          <p:cNvPr id="21" name="Shape 19"/>
          <p:cNvSpPr/>
          <p:nvPr/>
        </p:nvSpPr>
        <p:spPr>
          <a:xfrm>
            <a:off x="8487833" y="6131979"/>
            <a:ext cx="3492500" cy="973667"/>
          </a:xfrm>
          <a:custGeom>
            <a:avLst/>
            <a:gdLst/>
            <a:ahLst/>
            <a:cxnLst/>
            <a:rect l="l" t="t" r="r" b="b"/>
            <a:pathLst>
              <a:path w="3492500" h="973667">
                <a:moveTo>
                  <a:pt x="42335" y="0"/>
                </a:moveTo>
                <a:lnTo>
                  <a:pt x="3450165" y="0"/>
                </a:lnTo>
                <a:cubicBezTo>
                  <a:pt x="3473546" y="0"/>
                  <a:pt x="3492500" y="18954"/>
                  <a:pt x="3492500" y="42335"/>
                </a:cubicBezTo>
                <a:lnTo>
                  <a:pt x="3492500" y="931332"/>
                </a:lnTo>
                <a:cubicBezTo>
                  <a:pt x="3492500" y="954713"/>
                  <a:pt x="3473546" y="973667"/>
                  <a:pt x="3450165" y="973667"/>
                </a:cubicBezTo>
                <a:lnTo>
                  <a:pt x="42335" y="973667"/>
                </a:lnTo>
                <a:cubicBezTo>
                  <a:pt x="18954" y="973667"/>
                  <a:pt x="0" y="954713"/>
                  <a:pt x="0" y="931332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72500" y="6258979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第一次计算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5458" y="6597646"/>
            <a:ext cx="339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~1000ms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07333" y="6131979"/>
            <a:ext cx="3492500" cy="973667"/>
          </a:xfrm>
          <a:custGeom>
            <a:avLst/>
            <a:gdLst/>
            <a:ahLst/>
            <a:cxnLst/>
            <a:rect l="l" t="t" r="r" b="b"/>
            <a:pathLst>
              <a:path w="3492500" h="973667">
                <a:moveTo>
                  <a:pt x="42335" y="0"/>
                </a:moveTo>
                <a:lnTo>
                  <a:pt x="3450165" y="0"/>
                </a:lnTo>
                <a:cubicBezTo>
                  <a:pt x="3473546" y="0"/>
                  <a:pt x="3492500" y="18954"/>
                  <a:pt x="3492500" y="42335"/>
                </a:cubicBezTo>
                <a:lnTo>
                  <a:pt x="3492500" y="931332"/>
                </a:lnTo>
                <a:cubicBezTo>
                  <a:pt x="3492500" y="954713"/>
                  <a:pt x="3473546" y="973667"/>
                  <a:pt x="3450165" y="973667"/>
                </a:cubicBezTo>
                <a:lnTo>
                  <a:pt x="42335" y="973667"/>
                </a:lnTo>
                <a:cubicBezTo>
                  <a:pt x="18954" y="973667"/>
                  <a:pt x="0" y="954713"/>
                  <a:pt x="0" y="931332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2192000" y="6258979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缓存后计算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54958" y="6597646"/>
            <a:ext cx="339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~50ms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8625" y="7471926"/>
            <a:ext cx="15398750" cy="1322917"/>
          </a:xfrm>
          <a:custGeom>
            <a:avLst/>
            <a:gdLst/>
            <a:ahLst/>
            <a:cxnLst/>
            <a:rect l="l" t="t" r="r" b="b"/>
            <a:pathLst>
              <a:path w="15398750" h="1322917">
                <a:moveTo>
                  <a:pt x="127000" y="0"/>
                </a:moveTo>
                <a:lnTo>
                  <a:pt x="15271750" y="0"/>
                </a:lnTo>
                <a:cubicBezTo>
                  <a:pt x="15341843" y="0"/>
                  <a:pt x="15398750" y="56907"/>
                  <a:pt x="15398750" y="127000"/>
                </a:cubicBezTo>
                <a:lnTo>
                  <a:pt x="15398750" y="1195917"/>
                </a:lnTo>
                <a:cubicBezTo>
                  <a:pt x="15398750" y="1266010"/>
                  <a:pt x="15341843" y="1322917"/>
                  <a:pt x="15271750" y="1322917"/>
                </a:cubicBezTo>
                <a:lnTo>
                  <a:pt x="127000" y="1322917"/>
                </a:lnTo>
                <a:cubicBezTo>
                  <a:pt x="56907" y="1322917"/>
                  <a:pt x="0" y="1266010"/>
                  <a:pt x="0" y="1195917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29708" y="76994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6667" y="7646551"/>
            <a:ext cx="1490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关键操作解析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" y="8069884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" y="83662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从集合创建 RDD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7958" y="8069884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7958" y="83662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过滤满足条件的元素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12667" y="8069884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12667" y="83662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对每个元素应用函数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017375" y="8069884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17375" y="83662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聚合所有元素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400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WordCount 实战示例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143000"/>
            <a:ext cx="15261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经典的文本处理案例，展示 Spark 的完整流程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651000"/>
            <a:ext cx="7556500" cy="6328833"/>
          </a:xfrm>
          <a:custGeom>
            <a:avLst/>
            <a:gdLst/>
            <a:ahLst/>
            <a:cxnLst/>
            <a:rect l="l" t="t" r="r" b="b"/>
            <a:pathLst>
              <a:path w="7556500" h="7683500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7556475"/>
                </a:lnTo>
                <a:cubicBezTo>
                  <a:pt x="7556500" y="7626629"/>
                  <a:pt x="7499629" y="7683500"/>
                  <a:pt x="7429475" y="7683500"/>
                </a:cubicBezTo>
                <a:lnTo>
                  <a:pt x="42333" y="7683500"/>
                </a:lnTo>
                <a:cubicBezTo>
                  <a:pt x="18953" y="7683500"/>
                  <a:pt x="0" y="7664547"/>
                  <a:pt x="0" y="7641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651000"/>
            <a:ext cx="45719" cy="6328833"/>
          </a:xfrm>
          <a:custGeom>
            <a:avLst/>
            <a:gdLst/>
            <a:ahLst/>
            <a:cxnLst/>
            <a:rect l="l" t="t" r="r" b="b"/>
            <a:pathLst>
              <a:path w="42333" h="7683500">
                <a:moveTo>
                  <a:pt x="42333" y="0"/>
                </a:moveTo>
                <a:lnTo>
                  <a:pt x="42333" y="0"/>
                </a:lnTo>
                <a:lnTo>
                  <a:pt x="42333" y="7683500"/>
                </a:lnTo>
                <a:lnTo>
                  <a:pt x="42333" y="7683500"/>
                </a:lnTo>
                <a:cubicBezTo>
                  <a:pt x="18953" y="7683500"/>
                  <a:pt x="0" y="7664547"/>
                  <a:pt x="0" y="7641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7333" y="1862667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完整实现代码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370667"/>
            <a:ext cx="7112000" cy="3090332"/>
          </a:xfrm>
          <a:custGeom>
            <a:avLst/>
            <a:gdLst/>
            <a:ahLst/>
            <a:cxnLst/>
            <a:rect l="l" t="t" r="r" b="b"/>
            <a:pathLst>
              <a:path w="7112000" h="4191000">
                <a:moveTo>
                  <a:pt x="42329" y="0"/>
                </a:moveTo>
                <a:lnTo>
                  <a:pt x="7069671" y="0"/>
                </a:lnTo>
                <a:cubicBezTo>
                  <a:pt x="7093049" y="0"/>
                  <a:pt x="7112000" y="18951"/>
                  <a:pt x="7112000" y="42329"/>
                </a:cubicBezTo>
                <a:lnTo>
                  <a:pt x="7112000" y="4148671"/>
                </a:lnTo>
                <a:cubicBezTo>
                  <a:pt x="7112000" y="4172049"/>
                  <a:pt x="7093049" y="4191000"/>
                  <a:pt x="7069671" y="4191000"/>
                </a:cubicBezTo>
                <a:lnTo>
                  <a:pt x="42329" y="4191000"/>
                </a:lnTo>
                <a:cubicBezTo>
                  <a:pt x="18951" y="4191000"/>
                  <a:pt x="0" y="4172049"/>
                  <a:pt x="0" y="4148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6667" y="2413002"/>
            <a:ext cx="6858000" cy="296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创建文本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RDD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（可以使用本地文件或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HDFS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文件）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textRDD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sc.textFile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("file:///path/to/your/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textfile.txt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经典的 </a:t>
            </a:r>
            <a:r>
              <a:rPr lang="en-US" altLang="zh-CN" sz="1200" i="1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textRDD</a:t>
            </a:r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.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flatMap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(_.split("\\s+"))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分词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.map(word =&gt; 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word.toLowerCase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1))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转换为键值对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reduceByKey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 + _)     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按键聚合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sortBy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(_._2, false)    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按词频降序排序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查看结果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wordCounts.take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(10).foreach(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保存结果到文件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wordCounts.saveAsTextFile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("file:///path/to/output")</a:t>
            </a:r>
          </a:p>
        </p:txBody>
      </p:sp>
      <p:sp>
        <p:nvSpPr>
          <p:cNvPr id="10" name="Shape 8"/>
          <p:cNvSpPr/>
          <p:nvPr/>
        </p:nvSpPr>
        <p:spPr>
          <a:xfrm>
            <a:off x="677333" y="5672667"/>
            <a:ext cx="7112000" cy="2116667"/>
          </a:xfrm>
          <a:custGeom>
            <a:avLst/>
            <a:gdLst/>
            <a:ahLst/>
            <a:cxnLst/>
            <a:rect l="l" t="t" r="r" b="b"/>
            <a:pathLst>
              <a:path w="7112000" h="2116667">
                <a:moveTo>
                  <a:pt x="42333" y="0"/>
                </a:moveTo>
                <a:lnTo>
                  <a:pt x="7069667" y="0"/>
                </a:lnTo>
                <a:cubicBezTo>
                  <a:pt x="7093047" y="0"/>
                  <a:pt x="7112000" y="18953"/>
                  <a:pt x="7112000" y="42333"/>
                </a:cubicBezTo>
                <a:lnTo>
                  <a:pt x="7112000" y="2074333"/>
                </a:lnTo>
                <a:cubicBezTo>
                  <a:pt x="7112000" y="2097713"/>
                  <a:pt x="7093047" y="2116667"/>
                  <a:pt x="7069667" y="2116667"/>
                </a:cubicBezTo>
                <a:lnTo>
                  <a:pt x="42333" y="2116667"/>
                </a:lnTo>
                <a:cubicBezTo>
                  <a:pt x="18953" y="2116667"/>
                  <a:pt x="0" y="2097713"/>
                  <a:pt x="0" y="207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6667" y="5842000"/>
            <a:ext cx="685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执行步骤解析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618066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8903" y="6180667"/>
            <a:ext cx="201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读取文本文件，创建 RDD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667" y="647700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7511" y="6477000"/>
            <a:ext cx="143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分词并转换为小写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667" y="6773334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1893" y="6773334"/>
            <a:ext cx="1852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映射为 (word, 1) 键值对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667" y="7069667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1563" y="7069667"/>
            <a:ext cx="143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按键聚合计算词频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667" y="736600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3464" y="7366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按词频降序排序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76167" y="1025361"/>
            <a:ext cx="7556500" cy="4720167"/>
          </a:xfrm>
          <a:custGeom>
            <a:avLst/>
            <a:gdLst/>
            <a:ahLst/>
            <a:cxnLst/>
            <a:rect l="l" t="t" r="r" b="b"/>
            <a:pathLst>
              <a:path w="7556500" h="4720167">
                <a:moveTo>
                  <a:pt x="42333" y="0"/>
                </a:moveTo>
                <a:lnTo>
                  <a:pt x="7429480" y="0"/>
                </a:lnTo>
                <a:cubicBezTo>
                  <a:pt x="7499631" y="0"/>
                  <a:pt x="7556500" y="56869"/>
                  <a:pt x="7556500" y="127020"/>
                </a:cubicBezTo>
                <a:lnTo>
                  <a:pt x="7556500" y="4593147"/>
                </a:lnTo>
                <a:cubicBezTo>
                  <a:pt x="7556500" y="4663298"/>
                  <a:pt x="7499631" y="4720167"/>
                  <a:pt x="7429480" y="4720167"/>
                </a:cubicBezTo>
                <a:lnTo>
                  <a:pt x="42333" y="4720167"/>
                </a:lnTo>
                <a:cubicBezTo>
                  <a:pt x="18953" y="4720167"/>
                  <a:pt x="0" y="4701213"/>
                  <a:pt x="0" y="467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76167" y="1025361"/>
            <a:ext cx="42333" cy="4720167"/>
          </a:xfrm>
          <a:custGeom>
            <a:avLst/>
            <a:gdLst/>
            <a:ahLst/>
            <a:cxnLst/>
            <a:rect l="l" t="t" r="r" b="b"/>
            <a:pathLst>
              <a:path w="42333" h="4720167">
                <a:moveTo>
                  <a:pt x="42333" y="0"/>
                </a:moveTo>
                <a:lnTo>
                  <a:pt x="42333" y="0"/>
                </a:lnTo>
                <a:lnTo>
                  <a:pt x="42333" y="4720167"/>
                </a:lnTo>
                <a:lnTo>
                  <a:pt x="42333" y="4720167"/>
                </a:lnTo>
                <a:cubicBezTo>
                  <a:pt x="18953" y="4720167"/>
                  <a:pt x="0" y="4701213"/>
                  <a:pt x="0" y="467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09000" y="1237028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示例输出结果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1745028"/>
            <a:ext cx="7112000" cy="3090333"/>
          </a:xfrm>
          <a:custGeom>
            <a:avLst/>
            <a:gdLst/>
            <a:ahLst/>
            <a:cxnLst/>
            <a:rect l="l" t="t" r="r" b="b"/>
            <a:pathLst>
              <a:path w="7112000" h="3090333">
                <a:moveTo>
                  <a:pt x="42338" y="0"/>
                </a:moveTo>
                <a:lnTo>
                  <a:pt x="7069662" y="0"/>
                </a:lnTo>
                <a:cubicBezTo>
                  <a:pt x="7093045" y="0"/>
                  <a:pt x="7112000" y="18955"/>
                  <a:pt x="7112000" y="42338"/>
                </a:cubicBezTo>
                <a:lnTo>
                  <a:pt x="7112000" y="3047996"/>
                </a:lnTo>
                <a:cubicBezTo>
                  <a:pt x="7112000" y="3071378"/>
                  <a:pt x="7093045" y="3090333"/>
                  <a:pt x="7069662" y="3090333"/>
                </a:cubicBezTo>
                <a:lnTo>
                  <a:pt x="42338" y="3090333"/>
                </a:lnTo>
                <a:cubicBezTo>
                  <a:pt x="18955" y="3090333"/>
                  <a:pt x="0" y="3071378"/>
                  <a:pt x="0" y="3047996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78333" y="1951403"/>
            <a:ext cx="1206087" cy="26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(the, 1523) (and, 984)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(to, 876)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(of, 723)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(a, 678)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(in, 567)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(is, 456)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(that, 345)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(it, 234) </a:t>
            </a:r>
          </a:p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(for, 123)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9000" y="5004694"/>
            <a:ext cx="7112000" cy="529167"/>
          </a:xfrm>
          <a:custGeom>
            <a:avLst/>
            <a:gdLst/>
            <a:ahLst/>
            <a:cxnLst/>
            <a:rect l="l" t="t" r="r" b="b"/>
            <a:pathLst>
              <a:path w="7112000" h="529167">
                <a:moveTo>
                  <a:pt x="42333" y="0"/>
                </a:moveTo>
                <a:lnTo>
                  <a:pt x="7069667" y="0"/>
                </a:lnTo>
                <a:cubicBezTo>
                  <a:pt x="7093047" y="0"/>
                  <a:pt x="7112000" y="18953"/>
                  <a:pt x="7112000" y="42333"/>
                </a:cubicBezTo>
                <a:lnTo>
                  <a:pt x="7112000" y="486833"/>
                </a:lnTo>
                <a:cubicBezTo>
                  <a:pt x="7112000" y="510213"/>
                  <a:pt x="7093047" y="529167"/>
                  <a:pt x="70696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36000" y="5131694"/>
            <a:ext cx="6942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输出结果展示了文本中出现频率最高的10个单词及其出现次数。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76167" y="5957194"/>
            <a:ext cx="7556500" cy="2751667"/>
          </a:xfrm>
          <a:custGeom>
            <a:avLst/>
            <a:gdLst/>
            <a:ahLst/>
            <a:cxnLst/>
            <a:rect l="l" t="t" r="r" b="b"/>
            <a:pathLst>
              <a:path w="7556500" h="2751667">
                <a:moveTo>
                  <a:pt x="42333" y="0"/>
                </a:moveTo>
                <a:lnTo>
                  <a:pt x="7429511" y="0"/>
                </a:lnTo>
                <a:cubicBezTo>
                  <a:pt x="7499645" y="0"/>
                  <a:pt x="7556500" y="56855"/>
                  <a:pt x="7556500" y="126989"/>
                </a:cubicBezTo>
                <a:lnTo>
                  <a:pt x="7556500" y="2624677"/>
                </a:lnTo>
                <a:cubicBezTo>
                  <a:pt x="7556500" y="2694812"/>
                  <a:pt x="7499645" y="2751667"/>
                  <a:pt x="7429511" y="2751667"/>
                </a:cubicBezTo>
                <a:lnTo>
                  <a:pt x="42333" y="2751667"/>
                </a:lnTo>
                <a:cubicBezTo>
                  <a:pt x="18953" y="2751667"/>
                  <a:pt x="0" y="2732713"/>
                  <a:pt x="0" y="270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76167" y="5957194"/>
            <a:ext cx="42333" cy="2751667"/>
          </a:xfrm>
          <a:custGeom>
            <a:avLst/>
            <a:gdLst/>
            <a:ahLst/>
            <a:cxnLst/>
            <a:rect l="l" t="t" r="r" b="b"/>
            <a:pathLst>
              <a:path w="42333" h="2751667">
                <a:moveTo>
                  <a:pt x="42333" y="0"/>
                </a:moveTo>
                <a:lnTo>
                  <a:pt x="42333" y="0"/>
                </a:lnTo>
                <a:lnTo>
                  <a:pt x="42333" y="2751667"/>
                </a:lnTo>
                <a:lnTo>
                  <a:pt x="42333" y="2751667"/>
                </a:lnTo>
                <a:cubicBezTo>
                  <a:pt x="18953" y="2751667"/>
                  <a:pt x="0" y="2732713"/>
                  <a:pt x="0" y="270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35458" y="621119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9655" y="0"/>
                </a:moveTo>
                <a:lnTo>
                  <a:pt x="152259" y="0"/>
                </a:lnTo>
                <a:cubicBezTo>
                  <a:pt x="163215" y="0"/>
                  <a:pt x="172145" y="9012"/>
                  <a:pt x="171731" y="19926"/>
                </a:cubicBezTo>
                <a:cubicBezTo>
                  <a:pt x="171648" y="22118"/>
                  <a:pt x="171566" y="24309"/>
                  <a:pt x="171442" y="26458"/>
                </a:cubicBezTo>
                <a:lnTo>
                  <a:pt x="191947" y="26458"/>
                </a:lnTo>
                <a:cubicBezTo>
                  <a:pt x="202737" y="26458"/>
                  <a:pt x="212245" y="35388"/>
                  <a:pt x="211419" y="47046"/>
                </a:cubicBezTo>
                <a:cubicBezTo>
                  <a:pt x="208318" y="89917"/>
                  <a:pt x="186407" y="113481"/>
                  <a:pt x="162636" y="125801"/>
                </a:cubicBezTo>
                <a:cubicBezTo>
                  <a:pt x="156104" y="129191"/>
                  <a:pt x="149448" y="131713"/>
                  <a:pt x="143123" y="133573"/>
                </a:cubicBezTo>
                <a:cubicBezTo>
                  <a:pt x="134772" y="145397"/>
                  <a:pt x="126090" y="151639"/>
                  <a:pt x="119187" y="154988"/>
                </a:cubicBezTo>
                <a:lnTo>
                  <a:pt x="119187" y="185208"/>
                </a:lnTo>
                <a:lnTo>
                  <a:pt x="145645" y="185208"/>
                </a:lnTo>
                <a:cubicBezTo>
                  <a:pt x="152962" y="185208"/>
                  <a:pt x="158874" y="191120"/>
                  <a:pt x="158874" y="198438"/>
                </a:cubicBezTo>
                <a:cubicBezTo>
                  <a:pt x="158874" y="205755"/>
                  <a:pt x="152962" y="211667"/>
                  <a:pt x="145645" y="211667"/>
                </a:cubicBezTo>
                <a:lnTo>
                  <a:pt x="66270" y="211667"/>
                </a:lnTo>
                <a:cubicBezTo>
                  <a:pt x="58952" y="211667"/>
                  <a:pt x="53041" y="205755"/>
                  <a:pt x="53041" y="198438"/>
                </a:cubicBezTo>
                <a:cubicBezTo>
                  <a:pt x="53041" y="191120"/>
                  <a:pt x="58952" y="185208"/>
                  <a:pt x="66270" y="185208"/>
                </a:cubicBezTo>
                <a:lnTo>
                  <a:pt x="92728" y="185208"/>
                </a:lnTo>
                <a:lnTo>
                  <a:pt x="92728" y="154988"/>
                </a:lnTo>
                <a:cubicBezTo>
                  <a:pt x="86114" y="151805"/>
                  <a:pt x="77887" y="145893"/>
                  <a:pt x="69867" y="135020"/>
                </a:cubicBezTo>
                <a:cubicBezTo>
                  <a:pt x="62260" y="133036"/>
                  <a:pt x="53992" y="130018"/>
                  <a:pt x="45930" y="125470"/>
                </a:cubicBezTo>
                <a:cubicBezTo>
                  <a:pt x="23564" y="112944"/>
                  <a:pt x="3390" y="89338"/>
                  <a:pt x="496" y="46964"/>
                </a:cubicBezTo>
                <a:cubicBezTo>
                  <a:pt x="-289" y="35347"/>
                  <a:pt x="9178" y="26417"/>
                  <a:pt x="19968" y="26417"/>
                </a:cubicBezTo>
                <a:lnTo>
                  <a:pt x="40473" y="26417"/>
                </a:lnTo>
                <a:cubicBezTo>
                  <a:pt x="40349" y="24267"/>
                  <a:pt x="40266" y="22118"/>
                  <a:pt x="40184" y="19885"/>
                </a:cubicBezTo>
                <a:cubicBezTo>
                  <a:pt x="39770" y="8930"/>
                  <a:pt x="48700" y="-41"/>
                  <a:pt x="59655" y="-41"/>
                </a:cubicBezTo>
                <a:close/>
                <a:moveTo>
                  <a:pt x="41961" y="46302"/>
                </a:moveTo>
                <a:lnTo>
                  <a:pt x="20299" y="46302"/>
                </a:lnTo>
                <a:cubicBezTo>
                  <a:pt x="22862" y="81318"/>
                  <a:pt x="38943" y="98847"/>
                  <a:pt x="55521" y="108148"/>
                </a:cubicBezTo>
                <a:cubicBezTo>
                  <a:pt x="49568" y="92728"/>
                  <a:pt x="44648" y="72595"/>
                  <a:pt x="41961" y="46302"/>
                </a:cubicBezTo>
                <a:close/>
                <a:moveTo>
                  <a:pt x="157096" y="106164"/>
                </a:moveTo>
                <a:cubicBezTo>
                  <a:pt x="173840" y="96325"/>
                  <a:pt x="188970" y="78838"/>
                  <a:pt x="191534" y="46302"/>
                </a:cubicBezTo>
                <a:lnTo>
                  <a:pt x="169912" y="46302"/>
                </a:lnTo>
                <a:cubicBezTo>
                  <a:pt x="167349" y="71479"/>
                  <a:pt x="162719" y="91033"/>
                  <a:pt x="157096" y="10616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73583" y="6168861"/>
            <a:ext cx="6953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 MapReduce 的优势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9000" y="659219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72500" y="671919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3667" y="710019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代码量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128500" y="659219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192000" y="671919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213167" y="710019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代码量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9000" y="760819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72500" y="773519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93667" y="811619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执行时间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128500" y="7608194"/>
            <a:ext cx="3492500" cy="889000"/>
          </a:xfrm>
          <a:custGeom>
            <a:avLst/>
            <a:gdLst/>
            <a:ahLst/>
            <a:cxnLst/>
            <a:rect l="l" t="t" r="r" b="b"/>
            <a:pathLst>
              <a:path w="3492500" h="889000">
                <a:moveTo>
                  <a:pt x="42334" y="0"/>
                </a:moveTo>
                <a:lnTo>
                  <a:pt x="3450166" y="0"/>
                </a:lnTo>
                <a:cubicBezTo>
                  <a:pt x="3473546" y="0"/>
                  <a:pt x="3492500" y="18954"/>
                  <a:pt x="3492500" y="42334"/>
                </a:cubicBezTo>
                <a:lnTo>
                  <a:pt x="3492500" y="846666"/>
                </a:lnTo>
                <a:cubicBezTo>
                  <a:pt x="3492500" y="870046"/>
                  <a:pt x="3473546" y="889000"/>
                  <a:pt x="34501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192000" y="7735194"/>
            <a:ext cx="336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213167" y="8116194"/>
            <a:ext cx="3323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执行时间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577" y="481335"/>
            <a:ext cx="87515" cy="437577"/>
          </a:xfrm>
          <a:custGeom>
            <a:avLst/>
            <a:gdLst/>
            <a:ahLst/>
            <a:cxnLst/>
            <a:rect l="l" t="t" r="r" b="b"/>
            <a:pathLst>
              <a:path w="87515" h="437577">
                <a:moveTo>
                  <a:pt x="0" y="0"/>
                </a:moveTo>
                <a:lnTo>
                  <a:pt x="87515" y="0"/>
                </a:lnTo>
                <a:lnTo>
                  <a:pt x="87515" y="437577"/>
                </a:lnTo>
                <a:lnTo>
                  <a:pt x="0" y="43757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0124" y="437577"/>
            <a:ext cx="4102288" cy="52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35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RDD 血缘关系可视化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00124" y="1181459"/>
            <a:ext cx="15227693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Spark 如何通过血缘关系实现容错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9456" y="1706552"/>
            <a:ext cx="7537271" cy="7001238"/>
          </a:xfrm>
          <a:custGeom>
            <a:avLst/>
            <a:gdLst/>
            <a:ahLst/>
            <a:cxnLst/>
            <a:rect l="l" t="t" r="r" b="b"/>
            <a:pathLst>
              <a:path w="7537271" h="7001238">
                <a:moveTo>
                  <a:pt x="43758" y="0"/>
                </a:moveTo>
                <a:lnTo>
                  <a:pt x="7405997" y="0"/>
                </a:lnTo>
                <a:cubicBezTo>
                  <a:pt x="7478498" y="0"/>
                  <a:pt x="7537271" y="58773"/>
                  <a:pt x="7537271" y="131273"/>
                </a:cubicBezTo>
                <a:lnTo>
                  <a:pt x="7537271" y="6869965"/>
                </a:lnTo>
                <a:cubicBezTo>
                  <a:pt x="7537271" y="6942465"/>
                  <a:pt x="7478498" y="7001238"/>
                  <a:pt x="7405997" y="7001238"/>
                </a:cubicBez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9456" y="1706552"/>
            <a:ext cx="43758" cy="7001238"/>
          </a:xfrm>
          <a:custGeom>
            <a:avLst/>
            <a:gdLst/>
            <a:ahLst/>
            <a:cxnLst/>
            <a:rect l="l" t="t" r="r" b="b"/>
            <a:pathLst>
              <a:path w="43758" h="7001238">
                <a:moveTo>
                  <a:pt x="43758" y="0"/>
                </a:moveTo>
                <a:lnTo>
                  <a:pt x="43758" y="0"/>
                </a:lnTo>
                <a:lnTo>
                  <a:pt x="43758" y="7001238"/>
                </a:ln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0124" y="1925341"/>
            <a:ext cx="7209087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查看血缘关系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0124" y="2450433"/>
            <a:ext cx="7077814" cy="3839742"/>
          </a:xfrm>
          <a:custGeom>
            <a:avLst/>
            <a:gdLst/>
            <a:ahLst/>
            <a:cxnLst/>
            <a:rect l="l" t="t" r="r" b="b"/>
            <a:pathLst>
              <a:path w="7077814" h="3839742">
                <a:moveTo>
                  <a:pt x="43773" y="0"/>
                </a:moveTo>
                <a:lnTo>
                  <a:pt x="7034041" y="0"/>
                </a:lnTo>
                <a:cubicBezTo>
                  <a:pt x="7058216" y="0"/>
                  <a:pt x="7077814" y="19598"/>
                  <a:pt x="7077814" y="43773"/>
                </a:cubicBezTo>
                <a:lnTo>
                  <a:pt x="7077814" y="3795969"/>
                </a:lnTo>
                <a:cubicBezTo>
                  <a:pt x="7077814" y="3820144"/>
                  <a:pt x="7058216" y="3839742"/>
                  <a:pt x="7034041" y="3839742"/>
                </a:cubicBezTo>
                <a:lnTo>
                  <a:pt x="43773" y="3839742"/>
                </a:lnTo>
                <a:cubicBezTo>
                  <a:pt x="19598" y="3839742"/>
                  <a:pt x="0" y="3820144"/>
                  <a:pt x="0" y="3795969"/>
                </a:cubicBezTo>
                <a:lnTo>
                  <a:pt x="0" y="43773"/>
                </a:lnTo>
                <a:cubicBezTo>
                  <a:pt x="0" y="19598"/>
                  <a:pt x="19598" y="0"/>
                  <a:pt x="4377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5155" y="2658283"/>
            <a:ext cx="6600466" cy="341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创建一个复杂的 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转换链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complexRDD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sc.parallelize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(1 to 100)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 .map(_ * 2)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 .filter(_ &gt; 50)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 .map(_ + 1)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查看血缘关系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("RDD </a:t>
            </a:r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血缘关系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:")</a:t>
            </a:r>
          </a:p>
          <a:p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complexRDD.toDebugString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查看依赖关系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complexRDD.dependencies.foreach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(dep =&gt;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(s"</a:t>
            </a:r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依赖类型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: ${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dep.getClass.getSimpleName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}")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0" name="Shape 8"/>
          <p:cNvSpPr/>
          <p:nvPr/>
        </p:nvSpPr>
        <p:spPr>
          <a:xfrm>
            <a:off x="700124" y="6459736"/>
            <a:ext cx="7077814" cy="2034735"/>
          </a:xfrm>
          <a:custGeom>
            <a:avLst/>
            <a:gdLst/>
            <a:ahLst/>
            <a:cxnLst/>
            <a:rect l="l" t="t" r="r" b="b"/>
            <a:pathLst>
              <a:path w="7077814" h="2034735">
                <a:moveTo>
                  <a:pt x="43767" y="0"/>
                </a:moveTo>
                <a:lnTo>
                  <a:pt x="7034047" y="0"/>
                </a:lnTo>
                <a:cubicBezTo>
                  <a:pt x="7058219" y="0"/>
                  <a:pt x="7077814" y="19595"/>
                  <a:pt x="7077814" y="43767"/>
                </a:cubicBezTo>
                <a:lnTo>
                  <a:pt x="7077814" y="1990968"/>
                </a:lnTo>
                <a:cubicBezTo>
                  <a:pt x="7077814" y="2015140"/>
                  <a:pt x="7058219" y="2034735"/>
                  <a:pt x="7034047" y="2034735"/>
                </a:cubicBezTo>
                <a:lnTo>
                  <a:pt x="43767" y="2034735"/>
                </a:lnTo>
                <a:cubicBezTo>
                  <a:pt x="19595" y="2034735"/>
                  <a:pt x="0" y="2015140"/>
                  <a:pt x="0" y="1990968"/>
                </a:cubicBezTo>
                <a:lnTo>
                  <a:pt x="0" y="43767"/>
                </a:lnTo>
                <a:cubicBezTo>
                  <a:pt x="0" y="19611"/>
                  <a:pt x="19611" y="0"/>
                  <a:pt x="437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5155" y="6634767"/>
            <a:ext cx="6826207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血缘关系输出示例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5155" y="7105163"/>
            <a:ext cx="6600466" cy="117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(8)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MapPartitionsRDD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[3] at map at &lt;console&gt;:6</a:t>
            </a: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 | 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MapPartitionsRDD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[2] at filter at &lt;console&gt;:5</a:t>
            </a: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 | 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MapPartitionsRDD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[1] at map at &lt;console&gt;:4</a:t>
            </a: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 | 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ParallelCollectionRDD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[0] at parallelize at &lt;console&gt;:3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2349" y="1706552"/>
            <a:ext cx="7537271" cy="7001238"/>
          </a:xfrm>
          <a:custGeom>
            <a:avLst/>
            <a:gdLst/>
            <a:ahLst/>
            <a:cxnLst/>
            <a:rect l="l" t="t" r="r" b="b"/>
            <a:pathLst>
              <a:path w="7537271" h="7001238">
                <a:moveTo>
                  <a:pt x="43758" y="0"/>
                </a:moveTo>
                <a:lnTo>
                  <a:pt x="7405997" y="0"/>
                </a:lnTo>
                <a:cubicBezTo>
                  <a:pt x="7478498" y="0"/>
                  <a:pt x="7537271" y="58773"/>
                  <a:pt x="7537271" y="131273"/>
                </a:cubicBezTo>
                <a:lnTo>
                  <a:pt x="7537271" y="6869965"/>
                </a:lnTo>
                <a:cubicBezTo>
                  <a:pt x="7537271" y="6942465"/>
                  <a:pt x="7478498" y="7001238"/>
                  <a:pt x="7405997" y="7001238"/>
                </a:cubicBez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82349" y="1706552"/>
            <a:ext cx="43758" cy="7001238"/>
          </a:xfrm>
          <a:custGeom>
            <a:avLst/>
            <a:gdLst/>
            <a:ahLst/>
            <a:cxnLst/>
            <a:rect l="l" t="t" r="r" b="b"/>
            <a:pathLst>
              <a:path w="43758" h="7001238">
                <a:moveTo>
                  <a:pt x="43758" y="0"/>
                </a:moveTo>
                <a:lnTo>
                  <a:pt x="43758" y="0"/>
                </a:lnTo>
                <a:lnTo>
                  <a:pt x="43758" y="7001238"/>
                </a:lnTo>
                <a:lnTo>
                  <a:pt x="43758" y="7001238"/>
                </a:lnTo>
                <a:cubicBezTo>
                  <a:pt x="19591" y="7001238"/>
                  <a:pt x="0" y="6981647"/>
                  <a:pt x="0" y="695748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23016" y="1925341"/>
            <a:ext cx="7209087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血缘关系图示意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23016" y="2450433"/>
            <a:ext cx="7077814" cy="2975526"/>
          </a:xfrm>
          <a:custGeom>
            <a:avLst/>
            <a:gdLst/>
            <a:ahLst/>
            <a:cxnLst/>
            <a:rect l="l" t="t" r="r" b="b"/>
            <a:pathLst>
              <a:path w="7077814" h="2975526">
                <a:moveTo>
                  <a:pt x="87510" y="0"/>
                </a:moveTo>
                <a:lnTo>
                  <a:pt x="6990304" y="0"/>
                </a:lnTo>
                <a:cubicBezTo>
                  <a:pt x="7038635" y="0"/>
                  <a:pt x="7077814" y="39180"/>
                  <a:pt x="7077814" y="87510"/>
                </a:cubicBezTo>
                <a:lnTo>
                  <a:pt x="7077814" y="2888016"/>
                </a:lnTo>
                <a:cubicBezTo>
                  <a:pt x="7077814" y="2936347"/>
                  <a:pt x="7038635" y="2975526"/>
                  <a:pt x="6990304" y="2975526"/>
                </a:cubicBezTo>
                <a:lnTo>
                  <a:pt x="87510" y="2975526"/>
                </a:lnTo>
                <a:cubicBezTo>
                  <a:pt x="39180" y="2975526"/>
                  <a:pt x="0" y="2936347"/>
                  <a:pt x="0" y="2888016"/>
                </a:cubicBezTo>
                <a:lnTo>
                  <a:pt x="0" y="87510"/>
                </a:lnTo>
                <a:cubicBezTo>
                  <a:pt x="0" y="39212"/>
                  <a:pt x="39212" y="0"/>
                  <a:pt x="875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0680478" y="2625464"/>
            <a:ext cx="1159580" cy="437577"/>
          </a:xfrm>
          <a:custGeom>
            <a:avLst/>
            <a:gdLst/>
            <a:ahLst/>
            <a:cxnLst/>
            <a:rect l="l" t="t" r="r" b="b"/>
            <a:pathLst>
              <a:path w="1159580" h="437577">
                <a:moveTo>
                  <a:pt x="43758" y="0"/>
                </a:moveTo>
                <a:lnTo>
                  <a:pt x="1115822" y="0"/>
                </a:lnTo>
                <a:cubicBezTo>
                  <a:pt x="1139989" y="0"/>
                  <a:pt x="1159580" y="19591"/>
                  <a:pt x="1159580" y="43758"/>
                </a:cubicBezTo>
                <a:lnTo>
                  <a:pt x="1159580" y="393820"/>
                </a:lnTo>
                <a:cubicBezTo>
                  <a:pt x="1159580" y="417986"/>
                  <a:pt x="1139989" y="437577"/>
                  <a:pt x="1115822" y="437577"/>
                </a:cubicBezTo>
                <a:lnTo>
                  <a:pt x="43758" y="437577"/>
                </a:lnTo>
                <a:cubicBezTo>
                  <a:pt x="19591" y="437577"/>
                  <a:pt x="0" y="417986"/>
                  <a:pt x="0" y="39382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811751" y="2712980"/>
            <a:ext cx="89703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parallelize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39703" y="2734859"/>
            <a:ext cx="218789" cy="218789"/>
          </a:xfrm>
          <a:custGeom>
            <a:avLst/>
            <a:gdLst/>
            <a:ahLst/>
            <a:cxnLst/>
            <a:rect l="l" t="t" r="r" b="b"/>
            <a:pathLst>
              <a:path w="218789" h="218789">
                <a:moveTo>
                  <a:pt x="214772" y="119052"/>
                </a:moveTo>
                <a:cubicBezTo>
                  <a:pt x="220113" y="113710"/>
                  <a:pt x="220113" y="105036"/>
                  <a:pt x="214772" y="99694"/>
                </a:cubicBezTo>
                <a:lnTo>
                  <a:pt x="146400" y="31323"/>
                </a:lnTo>
                <a:cubicBezTo>
                  <a:pt x="141059" y="25981"/>
                  <a:pt x="132384" y="25981"/>
                  <a:pt x="127043" y="31323"/>
                </a:cubicBezTo>
                <a:cubicBezTo>
                  <a:pt x="121701" y="36664"/>
                  <a:pt x="121701" y="45339"/>
                  <a:pt x="127043" y="50680"/>
                </a:cubicBezTo>
                <a:lnTo>
                  <a:pt x="172082" y="95720"/>
                </a:lnTo>
                <a:lnTo>
                  <a:pt x="13674" y="95720"/>
                </a:lnTo>
                <a:cubicBezTo>
                  <a:pt x="6111" y="95720"/>
                  <a:pt x="0" y="101831"/>
                  <a:pt x="0" y="109394"/>
                </a:cubicBezTo>
                <a:cubicBezTo>
                  <a:pt x="0" y="116958"/>
                  <a:pt x="6111" y="123069"/>
                  <a:pt x="13674" y="123069"/>
                </a:cubicBezTo>
                <a:lnTo>
                  <a:pt x="172082" y="123069"/>
                </a:lnTo>
                <a:lnTo>
                  <a:pt x="127043" y="168108"/>
                </a:lnTo>
                <a:cubicBezTo>
                  <a:pt x="121701" y="173450"/>
                  <a:pt x="121701" y="182124"/>
                  <a:pt x="127043" y="187466"/>
                </a:cubicBezTo>
                <a:cubicBezTo>
                  <a:pt x="132384" y="192808"/>
                  <a:pt x="141059" y="192808"/>
                  <a:pt x="146400" y="187466"/>
                </a:cubicBezTo>
                <a:lnTo>
                  <a:pt x="214772" y="11909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2460871" y="2625464"/>
            <a:ext cx="984549" cy="437577"/>
          </a:xfrm>
          <a:custGeom>
            <a:avLst/>
            <a:gdLst/>
            <a:ahLst/>
            <a:cxnLst/>
            <a:rect l="l" t="t" r="r" b="b"/>
            <a:pathLst>
              <a:path w="984549" h="437577">
                <a:moveTo>
                  <a:pt x="43758" y="0"/>
                </a:moveTo>
                <a:lnTo>
                  <a:pt x="940791" y="0"/>
                </a:lnTo>
                <a:cubicBezTo>
                  <a:pt x="964958" y="0"/>
                  <a:pt x="984549" y="19591"/>
                  <a:pt x="984549" y="43758"/>
                </a:cubicBezTo>
                <a:lnTo>
                  <a:pt x="984549" y="393820"/>
                </a:lnTo>
                <a:cubicBezTo>
                  <a:pt x="984549" y="417986"/>
                  <a:pt x="964958" y="437577"/>
                  <a:pt x="940791" y="437577"/>
                </a:cubicBezTo>
                <a:lnTo>
                  <a:pt x="43758" y="437577"/>
                </a:lnTo>
                <a:cubicBezTo>
                  <a:pt x="19591" y="437577"/>
                  <a:pt x="0" y="417986"/>
                  <a:pt x="0" y="39382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592144" y="2712980"/>
            <a:ext cx="72200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map(*2)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2649400">
            <a:off x="11980476" y="3238073"/>
            <a:ext cx="164092" cy="218789"/>
          </a:xfrm>
          <a:custGeom>
            <a:avLst/>
            <a:gdLst/>
            <a:ahLst/>
            <a:cxnLst/>
            <a:rect l="l" t="t" r="r" b="b"/>
            <a:pathLst>
              <a:path w="164092" h="218789">
                <a:moveTo>
                  <a:pt x="72388" y="214772"/>
                </a:moveTo>
                <a:cubicBezTo>
                  <a:pt x="77730" y="220113"/>
                  <a:pt x="86404" y="220113"/>
                  <a:pt x="91746" y="214772"/>
                </a:cubicBezTo>
                <a:lnTo>
                  <a:pt x="160117" y="146400"/>
                </a:lnTo>
                <a:cubicBezTo>
                  <a:pt x="165459" y="141059"/>
                  <a:pt x="165459" y="132384"/>
                  <a:pt x="160117" y="127043"/>
                </a:cubicBezTo>
                <a:cubicBezTo>
                  <a:pt x="154776" y="121701"/>
                  <a:pt x="146101" y="121701"/>
                  <a:pt x="140760" y="127043"/>
                </a:cubicBezTo>
                <a:lnTo>
                  <a:pt x="95720" y="172082"/>
                </a:lnTo>
                <a:lnTo>
                  <a:pt x="95720" y="13674"/>
                </a:lnTo>
                <a:cubicBezTo>
                  <a:pt x="95720" y="6111"/>
                  <a:pt x="89609" y="0"/>
                  <a:pt x="82046" y="0"/>
                </a:cubicBezTo>
                <a:cubicBezTo>
                  <a:pt x="74482" y="0"/>
                  <a:pt x="68371" y="6111"/>
                  <a:pt x="68371" y="13674"/>
                </a:cubicBezTo>
                <a:lnTo>
                  <a:pt x="68371" y="172082"/>
                </a:lnTo>
                <a:lnTo>
                  <a:pt x="23332" y="127043"/>
                </a:lnTo>
                <a:cubicBezTo>
                  <a:pt x="17990" y="121701"/>
                  <a:pt x="9316" y="121701"/>
                  <a:pt x="3974" y="127043"/>
                </a:cubicBezTo>
                <a:cubicBezTo>
                  <a:pt x="-1367" y="132384"/>
                  <a:pt x="-1367" y="141059"/>
                  <a:pt x="3974" y="146400"/>
                </a:cubicBezTo>
                <a:lnTo>
                  <a:pt x="72346" y="214772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0687315" y="3631892"/>
            <a:ext cx="1148641" cy="437577"/>
          </a:xfrm>
          <a:custGeom>
            <a:avLst/>
            <a:gdLst/>
            <a:ahLst/>
            <a:cxnLst/>
            <a:rect l="l" t="t" r="r" b="b"/>
            <a:pathLst>
              <a:path w="1148641" h="437577">
                <a:moveTo>
                  <a:pt x="43758" y="0"/>
                </a:moveTo>
                <a:lnTo>
                  <a:pt x="1104883" y="0"/>
                </a:lnTo>
                <a:cubicBezTo>
                  <a:pt x="1129050" y="0"/>
                  <a:pt x="1148641" y="19591"/>
                  <a:pt x="1148641" y="43758"/>
                </a:cubicBezTo>
                <a:lnTo>
                  <a:pt x="1148641" y="393820"/>
                </a:lnTo>
                <a:cubicBezTo>
                  <a:pt x="1148641" y="417986"/>
                  <a:pt x="1129050" y="437577"/>
                  <a:pt x="1104883" y="437577"/>
                </a:cubicBezTo>
                <a:lnTo>
                  <a:pt x="43758" y="437577"/>
                </a:lnTo>
                <a:cubicBezTo>
                  <a:pt x="19591" y="437577"/>
                  <a:pt x="0" y="417986"/>
                  <a:pt x="0" y="39382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818588" y="3719408"/>
            <a:ext cx="88609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filter(&gt;50)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34233" y="3741287"/>
            <a:ext cx="218789" cy="218789"/>
          </a:xfrm>
          <a:custGeom>
            <a:avLst/>
            <a:gdLst/>
            <a:ahLst/>
            <a:cxnLst/>
            <a:rect l="l" t="t" r="r" b="b"/>
            <a:pathLst>
              <a:path w="218789" h="218789">
                <a:moveTo>
                  <a:pt x="214772" y="119052"/>
                </a:moveTo>
                <a:cubicBezTo>
                  <a:pt x="220113" y="113710"/>
                  <a:pt x="220113" y="105036"/>
                  <a:pt x="214772" y="99694"/>
                </a:cubicBezTo>
                <a:lnTo>
                  <a:pt x="146400" y="31323"/>
                </a:lnTo>
                <a:cubicBezTo>
                  <a:pt x="141059" y="25981"/>
                  <a:pt x="132384" y="25981"/>
                  <a:pt x="127043" y="31323"/>
                </a:cubicBezTo>
                <a:cubicBezTo>
                  <a:pt x="121701" y="36664"/>
                  <a:pt x="121701" y="45339"/>
                  <a:pt x="127043" y="50680"/>
                </a:cubicBezTo>
                <a:lnTo>
                  <a:pt x="172082" y="95720"/>
                </a:lnTo>
                <a:lnTo>
                  <a:pt x="13674" y="95720"/>
                </a:lnTo>
                <a:cubicBezTo>
                  <a:pt x="6111" y="95720"/>
                  <a:pt x="0" y="101831"/>
                  <a:pt x="0" y="109394"/>
                </a:cubicBezTo>
                <a:cubicBezTo>
                  <a:pt x="0" y="116958"/>
                  <a:pt x="6111" y="123069"/>
                  <a:pt x="13674" y="123069"/>
                </a:cubicBezTo>
                <a:lnTo>
                  <a:pt x="172082" y="123069"/>
                </a:lnTo>
                <a:lnTo>
                  <a:pt x="127043" y="168108"/>
                </a:lnTo>
                <a:cubicBezTo>
                  <a:pt x="121701" y="173450"/>
                  <a:pt x="121701" y="182124"/>
                  <a:pt x="127043" y="187466"/>
                </a:cubicBezTo>
                <a:cubicBezTo>
                  <a:pt x="132384" y="192808"/>
                  <a:pt x="141059" y="192808"/>
                  <a:pt x="146400" y="187466"/>
                </a:cubicBezTo>
                <a:lnTo>
                  <a:pt x="214772" y="11909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2455401" y="3631892"/>
            <a:ext cx="984549" cy="437577"/>
          </a:xfrm>
          <a:custGeom>
            <a:avLst/>
            <a:gdLst/>
            <a:ahLst/>
            <a:cxnLst/>
            <a:rect l="l" t="t" r="r" b="b"/>
            <a:pathLst>
              <a:path w="984549" h="437577">
                <a:moveTo>
                  <a:pt x="43758" y="0"/>
                </a:moveTo>
                <a:lnTo>
                  <a:pt x="940791" y="0"/>
                </a:lnTo>
                <a:cubicBezTo>
                  <a:pt x="964958" y="0"/>
                  <a:pt x="984549" y="19591"/>
                  <a:pt x="984549" y="43758"/>
                </a:cubicBezTo>
                <a:lnTo>
                  <a:pt x="984549" y="393820"/>
                </a:lnTo>
                <a:cubicBezTo>
                  <a:pt x="984549" y="417986"/>
                  <a:pt x="964958" y="437577"/>
                  <a:pt x="940791" y="437577"/>
                </a:cubicBezTo>
                <a:lnTo>
                  <a:pt x="43758" y="437577"/>
                </a:lnTo>
                <a:cubicBezTo>
                  <a:pt x="19591" y="437577"/>
                  <a:pt x="0" y="417986"/>
                  <a:pt x="0" y="393820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586674" y="3719408"/>
            <a:ext cx="72200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map(+1)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rot="3088381">
            <a:off x="11980476" y="4244501"/>
            <a:ext cx="164092" cy="218789"/>
          </a:xfrm>
          <a:custGeom>
            <a:avLst/>
            <a:gdLst/>
            <a:ahLst/>
            <a:cxnLst/>
            <a:rect l="l" t="t" r="r" b="b"/>
            <a:pathLst>
              <a:path w="164092" h="218789">
                <a:moveTo>
                  <a:pt x="72388" y="214772"/>
                </a:moveTo>
                <a:cubicBezTo>
                  <a:pt x="77730" y="220113"/>
                  <a:pt x="86404" y="220113"/>
                  <a:pt x="91746" y="214772"/>
                </a:cubicBezTo>
                <a:lnTo>
                  <a:pt x="160117" y="146400"/>
                </a:lnTo>
                <a:cubicBezTo>
                  <a:pt x="165459" y="141059"/>
                  <a:pt x="165459" y="132384"/>
                  <a:pt x="160117" y="127043"/>
                </a:cubicBezTo>
                <a:cubicBezTo>
                  <a:pt x="154776" y="121701"/>
                  <a:pt x="146101" y="121701"/>
                  <a:pt x="140760" y="127043"/>
                </a:cubicBezTo>
                <a:lnTo>
                  <a:pt x="95720" y="172082"/>
                </a:lnTo>
                <a:lnTo>
                  <a:pt x="95720" y="13674"/>
                </a:lnTo>
                <a:cubicBezTo>
                  <a:pt x="95720" y="6111"/>
                  <a:pt x="89609" y="0"/>
                  <a:pt x="82046" y="0"/>
                </a:cubicBezTo>
                <a:cubicBezTo>
                  <a:pt x="74482" y="0"/>
                  <a:pt x="68371" y="6111"/>
                  <a:pt x="68371" y="13674"/>
                </a:cubicBezTo>
                <a:lnTo>
                  <a:pt x="68371" y="172082"/>
                </a:lnTo>
                <a:lnTo>
                  <a:pt x="23332" y="127043"/>
                </a:lnTo>
                <a:cubicBezTo>
                  <a:pt x="17990" y="121701"/>
                  <a:pt x="9316" y="121701"/>
                  <a:pt x="3974" y="127043"/>
                </a:cubicBezTo>
                <a:cubicBezTo>
                  <a:pt x="-1367" y="132384"/>
                  <a:pt x="-1367" y="141059"/>
                  <a:pt x="3974" y="146400"/>
                </a:cubicBezTo>
                <a:lnTo>
                  <a:pt x="72346" y="214772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1158907" y="4649260"/>
            <a:ext cx="1805007" cy="590729"/>
          </a:xfrm>
          <a:custGeom>
            <a:avLst/>
            <a:gdLst/>
            <a:ahLst/>
            <a:cxnLst/>
            <a:rect l="l" t="t" r="r" b="b"/>
            <a:pathLst>
              <a:path w="1805007" h="590729">
                <a:moveTo>
                  <a:pt x="87517" y="0"/>
                </a:moveTo>
                <a:lnTo>
                  <a:pt x="1717490" y="0"/>
                </a:lnTo>
                <a:cubicBezTo>
                  <a:pt x="1765824" y="0"/>
                  <a:pt x="1805007" y="39183"/>
                  <a:pt x="1805007" y="87517"/>
                </a:cubicBezTo>
                <a:lnTo>
                  <a:pt x="1805007" y="503213"/>
                </a:lnTo>
                <a:cubicBezTo>
                  <a:pt x="1805007" y="551547"/>
                  <a:pt x="1765824" y="590729"/>
                  <a:pt x="1717490" y="590729"/>
                </a:cubicBezTo>
                <a:lnTo>
                  <a:pt x="87517" y="590729"/>
                </a:lnTo>
                <a:cubicBezTo>
                  <a:pt x="39183" y="590729"/>
                  <a:pt x="0" y="551547"/>
                  <a:pt x="0" y="503213"/>
                </a:cubicBezTo>
                <a:lnTo>
                  <a:pt x="0" y="87517"/>
                </a:lnTo>
                <a:cubicBezTo>
                  <a:pt x="0" y="39183"/>
                  <a:pt x="39183" y="0"/>
                  <a:pt x="87517" y="0"/>
                </a:cubicBezTo>
                <a:close/>
              </a:path>
            </a:pathLst>
          </a:custGeom>
          <a:solidFill>
            <a:srgbClr val="D4A373"/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432393" y="4791472"/>
            <a:ext cx="1356490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最终结果 RDD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23016" y="5600991"/>
            <a:ext cx="7077814" cy="1268974"/>
          </a:xfrm>
          <a:custGeom>
            <a:avLst/>
            <a:gdLst/>
            <a:ahLst/>
            <a:cxnLst/>
            <a:rect l="l" t="t" r="r" b="b"/>
            <a:pathLst>
              <a:path w="7077814" h="1268974">
                <a:moveTo>
                  <a:pt x="43754" y="0"/>
                </a:moveTo>
                <a:lnTo>
                  <a:pt x="7034060" y="0"/>
                </a:lnTo>
                <a:cubicBezTo>
                  <a:pt x="7058225" y="0"/>
                  <a:pt x="7077814" y="19589"/>
                  <a:pt x="7077814" y="43754"/>
                </a:cubicBezTo>
                <a:lnTo>
                  <a:pt x="7077814" y="1225220"/>
                </a:lnTo>
                <a:cubicBezTo>
                  <a:pt x="7077814" y="1249385"/>
                  <a:pt x="7058225" y="1268974"/>
                  <a:pt x="7034060" y="1268974"/>
                </a:cubicBezTo>
                <a:lnTo>
                  <a:pt x="43754" y="1268974"/>
                </a:lnTo>
                <a:cubicBezTo>
                  <a:pt x="19589" y="1268974"/>
                  <a:pt x="0" y="1249385"/>
                  <a:pt x="0" y="1225220"/>
                </a:cubicBezTo>
                <a:lnTo>
                  <a:pt x="0" y="43754"/>
                </a:lnTo>
                <a:cubicBezTo>
                  <a:pt x="0" y="19589"/>
                  <a:pt x="19589" y="0"/>
                  <a:pt x="43754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98047" y="5776022"/>
            <a:ext cx="681526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容错恢复示例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98047" y="6126083"/>
            <a:ext cx="6815268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filter(&gt;50)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的某个分区丢失，Spark 会根据血缘关系，从 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map(*2)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重新计算，而 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map(*2)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又可以从 </a:t>
            </a:r>
            <a:r>
              <a:rPr lang="en-US" sz="137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parallelize</a:t>
            </a:r>
            <a:r>
              <a:rPr lang="en-US" sz="1378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追溯，最终从源数据恢复。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765175"/>
            <a:ext cx="2133600" cy="711200"/>
          </a:xfrm>
          <a:custGeom>
            <a:avLst/>
            <a:gdLst/>
            <a:ahLst/>
            <a:cxnLst/>
            <a:rect l="l" t="t" r="r" b="b"/>
            <a:pathLst>
              <a:path w="2133600" h="711200">
                <a:moveTo>
                  <a:pt x="0" y="0"/>
                </a:moveTo>
                <a:lnTo>
                  <a:pt x="2133600" y="0"/>
                </a:lnTo>
                <a:lnTo>
                  <a:pt x="2133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765175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917575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4A6B8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1882775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集群架构与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执行机制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575175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083175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Spark 的分布式架构、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组件协作和任务执行流程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140575"/>
            <a:ext cx="3581400" cy="1231900"/>
          </a:xfrm>
          <a:custGeom>
            <a:avLst/>
            <a:gdLst/>
            <a:ahLst/>
            <a:cxnLst/>
            <a:rect l="l" t="t" r="r" b="b"/>
            <a:pathLst>
              <a:path w="3581400" h="1231900">
                <a:moveTo>
                  <a:pt x="101595" y="0"/>
                </a:moveTo>
                <a:lnTo>
                  <a:pt x="3479805" y="0"/>
                </a:lnTo>
                <a:cubicBezTo>
                  <a:pt x="3535914" y="0"/>
                  <a:pt x="3581400" y="45486"/>
                  <a:pt x="3581400" y="101595"/>
                </a:cubicBezTo>
                <a:lnTo>
                  <a:pt x="3581400" y="1130305"/>
                </a:lnTo>
                <a:cubicBezTo>
                  <a:pt x="3581400" y="1186414"/>
                  <a:pt x="3535914" y="1231900"/>
                  <a:pt x="34798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25500" y="7566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454150" y="7400925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Master-Worker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54150" y="7807325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经典分布式架构模式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08984" y="7140575"/>
            <a:ext cx="3581400" cy="1231900"/>
          </a:xfrm>
          <a:custGeom>
            <a:avLst/>
            <a:gdLst/>
            <a:ahLst/>
            <a:cxnLst/>
            <a:rect l="l" t="t" r="r" b="b"/>
            <a:pathLst>
              <a:path w="3581400" h="1231900">
                <a:moveTo>
                  <a:pt x="101595" y="0"/>
                </a:moveTo>
                <a:lnTo>
                  <a:pt x="3479805" y="0"/>
                </a:lnTo>
                <a:cubicBezTo>
                  <a:pt x="3535914" y="0"/>
                  <a:pt x="3581400" y="45486"/>
                  <a:pt x="3581400" y="101595"/>
                </a:cubicBezTo>
                <a:lnTo>
                  <a:pt x="3581400" y="1130305"/>
                </a:lnTo>
                <a:cubicBezTo>
                  <a:pt x="3581400" y="1186414"/>
                  <a:pt x="3535914" y="1231900"/>
                  <a:pt x="34798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672509" y="756602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348784" y="7400925"/>
            <a:ext cx="196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Driver-Executor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48784" y="7807325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核心执行模型详解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03617" y="7140575"/>
            <a:ext cx="3581400" cy="1231900"/>
          </a:xfrm>
          <a:custGeom>
            <a:avLst/>
            <a:gdLst/>
            <a:ahLst/>
            <a:cxnLst/>
            <a:rect l="l" t="t" r="r" b="b"/>
            <a:pathLst>
              <a:path w="3581400" h="1231900">
                <a:moveTo>
                  <a:pt x="101595" y="0"/>
                </a:moveTo>
                <a:lnTo>
                  <a:pt x="3479805" y="0"/>
                </a:lnTo>
                <a:cubicBezTo>
                  <a:pt x="3535914" y="0"/>
                  <a:pt x="3581400" y="45486"/>
                  <a:pt x="3581400" y="101595"/>
                </a:cubicBezTo>
                <a:lnTo>
                  <a:pt x="3581400" y="1130305"/>
                </a:lnTo>
                <a:cubicBezTo>
                  <a:pt x="3581400" y="1186414"/>
                  <a:pt x="3535914" y="1231900"/>
                  <a:pt x="34798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8614767" y="7566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59531"/>
                </a:moveTo>
                <a:cubicBezTo>
                  <a:pt x="0" y="39812"/>
                  <a:pt x="15999" y="23812"/>
                  <a:pt x="35719" y="23812"/>
                </a:cubicBezTo>
                <a:lnTo>
                  <a:pt x="107156" y="23812"/>
                </a:lnTo>
                <a:cubicBezTo>
                  <a:pt x="126876" y="23812"/>
                  <a:pt x="142875" y="39812"/>
                  <a:pt x="142875" y="59531"/>
                </a:cubicBezTo>
                <a:lnTo>
                  <a:pt x="142875" y="71438"/>
                </a:lnTo>
                <a:lnTo>
                  <a:pt x="238125" y="71438"/>
                </a:lnTo>
                <a:lnTo>
                  <a:pt x="238125" y="59531"/>
                </a:lnTo>
                <a:cubicBezTo>
                  <a:pt x="238125" y="39812"/>
                  <a:pt x="254124" y="23812"/>
                  <a:pt x="273844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130969"/>
                </a:lnTo>
                <a:cubicBezTo>
                  <a:pt x="381000" y="150688"/>
                  <a:pt x="365001" y="166688"/>
                  <a:pt x="345281" y="166688"/>
                </a:cubicBezTo>
                <a:lnTo>
                  <a:pt x="273844" y="166688"/>
                </a:lnTo>
                <a:cubicBezTo>
                  <a:pt x="254124" y="166688"/>
                  <a:pt x="238125" y="150688"/>
                  <a:pt x="238125" y="130969"/>
                </a:cubicBezTo>
                <a:lnTo>
                  <a:pt x="238125" y="119063"/>
                </a:lnTo>
                <a:lnTo>
                  <a:pt x="142875" y="119063"/>
                </a:lnTo>
                <a:lnTo>
                  <a:pt x="142875" y="130969"/>
                </a:lnTo>
                <a:cubicBezTo>
                  <a:pt x="142875" y="136401"/>
                  <a:pt x="141610" y="141610"/>
                  <a:pt x="139452" y="146224"/>
                </a:cubicBezTo>
                <a:lnTo>
                  <a:pt x="190500" y="214313"/>
                </a:lnTo>
                <a:lnTo>
                  <a:pt x="250031" y="214313"/>
                </a:lnTo>
                <a:cubicBezTo>
                  <a:pt x="269751" y="214313"/>
                  <a:pt x="285750" y="230312"/>
                  <a:pt x="285750" y="250031"/>
                </a:cubicBezTo>
                <a:lnTo>
                  <a:pt x="285750" y="321469"/>
                </a:lnTo>
                <a:cubicBezTo>
                  <a:pt x="285750" y="341188"/>
                  <a:pt x="269751" y="357188"/>
                  <a:pt x="250031" y="357188"/>
                </a:cubicBezTo>
                <a:lnTo>
                  <a:pt x="178594" y="357188"/>
                </a:lnTo>
                <a:cubicBezTo>
                  <a:pt x="158874" y="357188"/>
                  <a:pt x="142875" y="341188"/>
                  <a:pt x="142875" y="321469"/>
                </a:cubicBezTo>
                <a:lnTo>
                  <a:pt x="142875" y="250031"/>
                </a:lnTo>
                <a:cubicBezTo>
                  <a:pt x="142875" y="244599"/>
                  <a:pt x="144140" y="239390"/>
                  <a:pt x="146298" y="234776"/>
                </a:cubicBezTo>
                <a:lnTo>
                  <a:pt x="95250" y="166688"/>
                </a:lnTo>
                <a:lnTo>
                  <a:pt x="35719" y="166688"/>
                </a:lnTo>
                <a:cubicBezTo>
                  <a:pt x="15999" y="166688"/>
                  <a:pt x="0" y="150688"/>
                  <a:pt x="0" y="130969"/>
                </a:cubicBezTo>
                <a:lnTo>
                  <a:pt x="0" y="59531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243417" y="7400925"/>
            <a:ext cx="175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执行流程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43417" y="7807325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作业生命周期剖析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0" y="0"/>
                </a:moveTo>
                <a:lnTo>
                  <a:pt x="101600" y="0"/>
                </a:lnTo>
                <a:lnTo>
                  <a:pt x="101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Standalone 架构概览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270000"/>
            <a:ext cx="150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经典的 Master-Worker 分布式架构模式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15227300" cy="6743700"/>
          </a:xfrm>
          <a:custGeom>
            <a:avLst/>
            <a:gdLst/>
            <a:ahLst/>
            <a:cxnLst/>
            <a:rect l="l" t="t" r="r" b="b"/>
            <a:pathLst>
              <a:path w="15227300" h="6743700">
                <a:moveTo>
                  <a:pt x="152408" y="0"/>
                </a:moveTo>
                <a:lnTo>
                  <a:pt x="15074892" y="0"/>
                </a:lnTo>
                <a:cubicBezTo>
                  <a:pt x="15159065" y="0"/>
                  <a:pt x="15227300" y="68235"/>
                  <a:pt x="15227300" y="152408"/>
                </a:cubicBezTo>
                <a:lnTo>
                  <a:pt x="15227300" y="6591292"/>
                </a:lnTo>
                <a:cubicBezTo>
                  <a:pt x="15227300" y="6675465"/>
                  <a:pt x="15159065" y="6743700"/>
                  <a:pt x="15074892" y="6743700"/>
                </a:cubicBezTo>
                <a:lnTo>
                  <a:pt x="152408" y="6743700"/>
                </a:lnTo>
                <a:cubicBezTo>
                  <a:pt x="68235" y="6743700"/>
                  <a:pt x="0" y="6675465"/>
                  <a:pt x="0" y="65912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6B8A">
              <a:alpha val="10196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209800"/>
            <a:ext cx="4635500" cy="4292600"/>
          </a:xfrm>
          <a:custGeom>
            <a:avLst/>
            <a:gdLst/>
            <a:ahLst/>
            <a:cxnLst/>
            <a:rect l="l" t="t" r="r" b="b"/>
            <a:pathLst>
              <a:path w="4635500" h="4292600">
                <a:moveTo>
                  <a:pt x="152387" y="0"/>
                </a:moveTo>
                <a:lnTo>
                  <a:pt x="4483113" y="0"/>
                </a:lnTo>
                <a:cubicBezTo>
                  <a:pt x="4567274" y="0"/>
                  <a:pt x="4635500" y="68226"/>
                  <a:pt x="4635500" y="152387"/>
                </a:cubicBezTo>
                <a:lnTo>
                  <a:pt x="4635500" y="4140213"/>
                </a:lnTo>
                <a:cubicBezTo>
                  <a:pt x="4635500" y="4224374"/>
                  <a:pt x="4567274" y="4292600"/>
                  <a:pt x="4483113" y="4292600"/>
                </a:cubicBezTo>
                <a:lnTo>
                  <a:pt x="152387" y="4292600"/>
                </a:lnTo>
                <a:cubicBezTo>
                  <a:pt x="68226" y="4292600"/>
                  <a:pt x="0" y="4224374"/>
                  <a:pt x="0" y="41402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52525" y="2527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22400" y="2476500"/>
            <a:ext cx="391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节点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4900" y="30353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4900" y="33909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 Worker 节点的注册和资源分配，接收应用程序的资源请求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41529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" y="45085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将作业分解为任务，根据数据本地性、负载均衡等因素分发任务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4900" y="52705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56261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通过心跳机制监控 Worker 健康状态，进行故障检测和恢复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08067" y="2209800"/>
            <a:ext cx="4635500" cy="4292600"/>
          </a:xfrm>
          <a:custGeom>
            <a:avLst/>
            <a:gdLst/>
            <a:ahLst/>
            <a:cxnLst/>
            <a:rect l="l" t="t" r="r" b="b"/>
            <a:pathLst>
              <a:path w="4635500" h="4292600">
                <a:moveTo>
                  <a:pt x="152387" y="0"/>
                </a:moveTo>
                <a:lnTo>
                  <a:pt x="4483113" y="0"/>
                </a:lnTo>
                <a:cubicBezTo>
                  <a:pt x="4567274" y="0"/>
                  <a:pt x="4635500" y="68226"/>
                  <a:pt x="4635500" y="152387"/>
                </a:cubicBezTo>
                <a:lnTo>
                  <a:pt x="4635500" y="4140213"/>
                </a:lnTo>
                <a:cubicBezTo>
                  <a:pt x="4635500" y="4224374"/>
                  <a:pt x="4567274" y="4292600"/>
                  <a:pt x="4483113" y="4292600"/>
                </a:cubicBezTo>
                <a:lnTo>
                  <a:pt x="152387" y="4292600"/>
                </a:lnTo>
                <a:cubicBezTo>
                  <a:pt x="68226" y="4292600"/>
                  <a:pt x="0" y="4224374"/>
                  <a:pt x="0" y="41402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25400">
            <a:solidFill>
              <a:srgbClr val="4A6B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06517" y="2527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92267" y="2476500"/>
            <a:ext cx="391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Worker 节点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74767" y="30353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74767" y="33909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运行一个或多个 Executor 进程，实际执行计算任务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74767" y="41529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74767" y="45085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通过多个 Executor 进程最大化利用节点的计算资源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74767" y="52705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74767" y="56261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管理本地存储，包括磁盘缓存和内存缓存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78034" y="2209800"/>
            <a:ext cx="4635500" cy="4292600"/>
          </a:xfrm>
          <a:custGeom>
            <a:avLst/>
            <a:gdLst/>
            <a:ahLst/>
            <a:cxnLst/>
            <a:rect l="l" t="t" r="r" b="b"/>
            <a:pathLst>
              <a:path w="4635500" h="4292600">
                <a:moveTo>
                  <a:pt x="152387" y="0"/>
                </a:moveTo>
                <a:lnTo>
                  <a:pt x="4483113" y="0"/>
                </a:lnTo>
                <a:cubicBezTo>
                  <a:pt x="4567274" y="0"/>
                  <a:pt x="4635500" y="68226"/>
                  <a:pt x="4635500" y="152387"/>
                </a:cubicBezTo>
                <a:lnTo>
                  <a:pt x="4635500" y="4140213"/>
                </a:lnTo>
                <a:cubicBezTo>
                  <a:pt x="4635500" y="4224374"/>
                  <a:pt x="4567274" y="4292600"/>
                  <a:pt x="4483113" y="4292600"/>
                </a:cubicBezTo>
                <a:lnTo>
                  <a:pt x="152387" y="4292600"/>
                </a:lnTo>
                <a:cubicBezTo>
                  <a:pt x="68226" y="4292600"/>
                  <a:pt x="0" y="4224374"/>
                  <a:pt x="0" y="41402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7D8A99">
              <a:alpha val="20000"/>
            </a:srgbClr>
          </a:solidFill>
          <a:ln w="25400">
            <a:solidFill>
              <a:srgbClr val="7D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1076484" y="2527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0891" y="-645"/>
                </a:moveTo>
                <a:cubicBezTo>
                  <a:pt x="132308" y="-5606"/>
                  <a:pt x="121692" y="-5606"/>
                  <a:pt x="113109" y="-645"/>
                </a:cubicBezTo>
                <a:lnTo>
                  <a:pt x="71338" y="23465"/>
                </a:lnTo>
                <a:cubicBezTo>
                  <a:pt x="62756" y="28426"/>
                  <a:pt x="57448" y="37604"/>
                  <a:pt x="57448" y="47526"/>
                </a:cubicBezTo>
                <a:lnTo>
                  <a:pt x="57448" y="98078"/>
                </a:lnTo>
                <a:lnTo>
                  <a:pt x="13643" y="123379"/>
                </a:lnTo>
                <a:cubicBezTo>
                  <a:pt x="5060" y="128339"/>
                  <a:pt x="-248" y="137517"/>
                  <a:pt x="-248" y="147439"/>
                </a:cubicBezTo>
                <a:lnTo>
                  <a:pt x="-248" y="195709"/>
                </a:lnTo>
                <a:cubicBezTo>
                  <a:pt x="-248" y="205631"/>
                  <a:pt x="5060" y="214809"/>
                  <a:pt x="13643" y="219770"/>
                </a:cubicBezTo>
                <a:lnTo>
                  <a:pt x="55463" y="243880"/>
                </a:lnTo>
                <a:cubicBezTo>
                  <a:pt x="64046" y="248841"/>
                  <a:pt x="74662" y="248841"/>
                  <a:pt x="83245" y="243880"/>
                </a:cubicBezTo>
                <a:lnTo>
                  <a:pt x="127050" y="218579"/>
                </a:lnTo>
                <a:lnTo>
                  <a:pt x="170855" y="243880"/>
                </a:lnTo>
                <a:cubicBezTo>
                  <a:pt x="179437" y="248841"/>
                  <a:pt x="190054" y="248841"/>
                  <a:pt x="198636" y="243880"/>
                </a:cubicBezTo>
                <a:lnTo>
                  <a:pt x="240357" y="219770"/>
                </a:lnTo>
                <a:cubicBezTo>
                  <a:pt x="248940" y="214809"/>
                  <a:pt x="254248" y="205631"/>
                  <a:pt x="254248" y="195709"/>
                </a:cubicBezTo>
                <a:lnTo>
                  <a:pt x="254248" y="147439"/>
                </a:lnTo>
                <a:cubicBezTo>
                  <a:pt x="254248" y="137517"/>
                  <a:pt x="248940" y="128339"/>
                  <a:pt x="240357" y="123379"/>
                </a:cubicBezTo>
                <a:lnTo>
                  <a:pt x="196552" y="98078"/>
                </a:lnTo>
                <a:lnTo>
                  <a:pt x="196552" y="47526"/>
                </a:lnTo>
                <a:cubicBezTo>
                  <a:pt x="196552" y="37604"/>
                  <a:pt x="191244" y="28426"/>
                  <a:pt x="182662" y="23465"/>
                </a:cubicBezTo>
                <a:lnTo>
                  <a:pt x="140891" y="-645"/>
                </a:lnTo>
                <a:close/>
                <a:moveTo>
                  <a:pt x="115094" y="145157"/>
                </a:moveTo>
                <a:lnTo>
                  <a:pt x="115094" y="197991"/>
                </a:lnTo>
                <a:lnTo>
                  <a:pt x="71289" y="223292"/>
                </a:lnTo>
                <a:cubicBezTo>
                  <a:pt x="70693" y="223639"/>
                  <a:pt x="69999" y="223838"/>
                  <a:pt x="69304" y="223838"/>
                </a:cubicBezTo>
                <a:lnTo>
                  <a:pt x="69304" y="171599"/>
                </a:lnTo>
                <a:lnTo>
                  <a:pt x="115094" y="145157"/>
                </a:lnTo>
                <a:close/>
                <a:moveTo>
                  <a:pt x="229890" y="145455"/>
                </a:moveTo>
                <a:cubicBezTo>
                  <a:pt x="230237" y="146050"/>
                  <a:pt x="230436" y="146745"/>
                  <a:pt x="230436" y="147439"/>
                </a:cubicBezTo>
                <a:lnTo>
                  <a:pt x="230436" y="195709"/>
                </a:lnTo>
                <a:cubicBezTo>
                  <a:pt x="230436" y="197148"/>
                  <a:pt x="229691" y="198438"/>
                  <a:pt x="228451" y="199132"/>
                </a:cubicBezTo>
                <a:lnTo>
                  <a:pt x="186630" y="223242"/>
                </a:lnTo>
                <a:cubicBezTo>
                  <a:pt x="186035" y="223589"/>
                  <a:pt x="185341" y="223788"/>
                  <a:pt x="184646" y="223788"/>
                </a:cubicBezTo>
                <a:lnTo>
                  <a:pt x="184646" y="171549"/>
                </a:lnTo>
                <a:lnTo>
                  <a:pt x="229890" y="145455"/>
                </a:lnTo>
                <a:close/>
                <a:moveTo>
                  <a:pt x="172789" y="47526"/>
                </a:moveTo>
                <a:lnTo>
                  <a:pt x="172789" y="98078"/>
                </a:lnTo>
                <a:lnTo>
                  <a:pt x="127000" y="124520"/>
                </a:lnTo>
                <a:lnTo>
                  <a:pt x="127000" y="71686"/>
                </a:lnTo>
                <a:lnTo>
                  <a:pt x="172244" y="45591"/>
                </a:lnTo>
                <a:cubicBezTo>
                  <a:pt x="172591" y="46186"/>
                  <a:pt x="172789" y="46881"/>
                  <a:pt x="172789" y="47575"/>
                </a:cubicBezTo>
                <a:close/>
              </a:path>
            </a:pathLst>
          </a:custGeom>
          <a:solidFill>
            <a:srgbClr val="7D8A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362234" y="2476500"/>
            <a:ext cx="391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4734" y="30353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JVM 进程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4734" y="33909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Executor 是独立的 JVM 进程，拥有独立内存空间和线程池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4734" y="41529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4734" y="4508500"/>
            <a:ext cx="4203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通过多线程并行执行 Task，有效利用多核 CPU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44734" y="52705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数据隔离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44734" y="56261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提供良好的隔离性，避免任务间相互影响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50" y="6826250"/>
            <a:ext cx="7162800" cy="1485900"/>
          </a:xfrm>
          <a:custGeom>
            <a:avLst/>
            <a:gdLst/>
            <a:ahLst/>
            <a:cxnLst/>
            <a:rect l="l" t="t" r="r" b="b"/>
            <a:pathLst>
              <a:path w="7162800" h="1485900">
                <a:moveTo>
                  <a:pt x="101606" y="0"/>
                </a:moveTo>
                <a:lnTo>
                  <a:pt x="7061194" y="0"/>
                </a:lnTo>
                <a:cubicBezTo>
                  <a:pt x="7117310" y="0"/>
                  <a:pt x="7162800" y="45490"/>
                  <a:pt x="7162800" y="101606"/>
                </a:cubicBezTo>
                <a:lnTo>
                  <a:pt x="7162800" y="1384294"/>
                </a:lnTo>
                <a:cubicBezTo>
                  <a:pt x="7162800" y="1440410"/>
                  <a:pt x="7117310" y="1485900"/>
                  <a:pt x="70611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58863" y="709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333500" y="7035800"/>
            <a:ext cx="656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组件交互流程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1400" y="7493000"/>
            <a:ext cx="684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接收应用提交 → 资源调度 → 启动 Executor → 任务分发 → 结果收集 → 状态监控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1350" y="6826250"/>
            <a:ext cx="7162800" cy="1485900"/>
          </a:xfrm>
          <a:custGeom>
            <a:avLst/>
            <a:gdLst/>
            <a:ahLst/>
            <a:cxnLst/>
            <a:rect l="l" t="t" r="r" b="b"/>
            <a:pathLst>
              <a:path w="7162800" h="1485900">
                <a:moveTo>
                  <a:pt x="101606" y="0"/>
                </a:moveTo>
                <a:lnTo>
                  <a:pt x="7061194" y="0"/>
                </a:lnTo>
                <a:cubicBezTo>
                  <a:pt x="7117310" y="0"/>
                  <a:pt x="7162800" y="45490"/>
                  <a:pt x="7162800" y="101606"/>
                </a:cubicBezTo>
                <a:lnTo>
                  <a:pt x="7162800" y="1384294"/>
                </a:lnTo>
                <a:cubicBezTo>
                  <a:pt x="7162800" y="1440410"/>
                  <a:pt x="7117310" y="1485900"/>
                  <a:pt x="70611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16938" y="7099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63000" y="7035800"/>
            <a:ext cx="656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扩展性设计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70900" y="7493000"/>
            <a:ext cx="684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支持从单机扩展到数千节点，线性提升计算能力，自适应资源管理和智能任务调度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5323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Program：应用程序的神经中枢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58333"/>
            <a:ext cx="15250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协调整个分布式计算过程的核心组件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566333"/>
            <a:ext cx="9144000" cy="3810000"/>
          </a:xfrm>
          <a:custGeom>
            <a:avLst/>
            <a:gdLst/>
            <a:ahLst/>
            <a:cxnLst/>
            <a:rect l="l" t="t" r="r" b="b"/>
            <a:pathLst>
              <a:path w="9144000" h="3810000">
                <a:moveTo>
                  <a:pt x="42333" y="0"/>
                </a:moveTo>
                <a:lnTo>
                  <a:pt x="9017013" y="0"/>
                </a:lnTo>
                <a:cubicBezTo>
                  <a:pt x="9087146" y="0"/>
                  <a:pt x="9144000" y="56854"/>
                  <a:pt x="9144000" y="126987"/>
                </a:cubicBezTo>
                <a:lnTo>
                  <a:pt x="9144000" y="3683013"/>
                </a:lnTo>
                <a:cubicBezTo>
                  <a:pt x="9144000" y="3753146"/>
                  <a:pt x="9087146" y="3810000"/>
                  <a:pt x="9017013" y="3810000"/>
                </a:cubicBezTo>
                <a:lnTo>
                  <a:pt x="42333" y="3810000"/>
                </a:lnTo>
                <a:cubicBezTo>
                  <a:pt x="18953" y="3810000"/>
                  <a:pt x="0" y="3791047"/>
                  <a:pt x="0" y="3767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566333"/>
            <a:ext cx="42333" cy="3810000"/>
          </a:xfrm>
          <a:custGeom>
            <a:avLst/>
            <a:gdLst/>
            <a:ahLst/>
            <a:cxnLst/>
            <a:rect l="l" t="t" r="r" b="b"/>
            <a:pathLst>
              <a:path w="42333" h="3810000">
                <a:moveTo>
                  <a:pt x="42333" y="0"/>
                </a:moveTo>
                <a:lnTo>
                  <a:pt x="42333" y="0"/>
                </a:lnTo>
                <a:lnTo>
                  <a:pt x="42333" y="3810000"/>
                </a:lnTo>
                <a:lnTo>
                  <a:pt x="42333" y="3810000"/>
                </a:lnTo>
                <a:cubicBezTo>
                  <a:pt x="18953" y="3810000"/>
                  <a:pt x="0" y="3791047"/>
                  <a:pt x="0" y="3767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7333" y="1778000"/>
            <a:ext cx="8826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的核心职责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286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13346" y="2328333"/>
            <a:ext cx="14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2635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 SparkContext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24667"/>
            <a:ext cx="262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应用程序的入口点和资源协调中心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333" y="3048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99042" y="3090333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048000"/>
            <a:ext cx="2804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RDD 依赖图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86667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将用户程序转换为可优化的执行计划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7333" y="3810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96809" y="3852333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810000"/>
            <a:ext cx="2635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48667"/>
            <a:ext cx="262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将作业分解为任务并智能调度执行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7333" y="4572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96975" y="4614333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572000"/>
            <a:ext cx="297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结果收集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910667"/>
            <a:ext cx="296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高效收集分布式计算结果并返回给用户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3333" y="5588000"/>
            <a:ext cx="9165167" cy="3443705"/>
          </a:xfrm>
          <a:custGeom>
            <a:avLst/>
            <a:gdLst/>
            <a:ahLst/>
            <a:cxnLst/>
            <a:rect l="l" t="t" r="r" b="b"/>
            <a:pathLst>
              <a:path w="9165167" h="6053667">
                <a:moveTo>
                  <a:pt x="42315" y="0"/>
                </a:moveTo>
                <a:lnTo>
                  <a:pt x="9122852" y="0"/>
                </a:lnTo>
                <a:cubicBezTo>
                  <a:pt x="9146222" y="0"/>
                  <a:pt x="9165167" y="18945"/>
                  <a:pt x="9165167" y="42315"/>
                </a:cubicBezTo>
                <a:lnTo>
                  <a:pt x="9165167" y="6011352"/>
                </a:lnTo>
                <a:cubicBezTo>
                  <a:pt x="9165167" y="6034722"/>
                  <a:pt x="9146222" y="6053667"/>
                  <a:pt x="9122852" y="6053667"/>
                </a:cubicBezTo>
                <a:lnTo>
                  <a:pt x="42315" y="6053667"/>
                </a:lnTo>
                <a:cubicBezTo>
                  <a:pt x="18945" y="6053667"/>
                  <a:pt x="0" y="6034722"/>
                  <a:pt x="0" y="6011352"/>
                </a:cubicBezTo>
                <a:lnTo>
                  <a:pt x="0" y="42315"/>
                </a:lnTo>
                <a:cubicBezTo>
                  <a:pt x="0" y="18945"/>
                  <a:pt x="18945" y="0"/>
                  <a:pt x="4231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92666" y="5773208"/>
            <a:ext cx="8615501" cy="3116793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SparkDriverExample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def main(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Array[String]): Unit =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1.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创建 </a:t>
            </a:r>
            <a:r>
              <a:rPr lang="en-US" altLang="zh-CN" sz="12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SparkContext</a:t>
            </a:r>
            <a:endParaRPr lang="en-US" altLang="zh-CN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conf = new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SparkConf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.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setAppName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SparkDriverExample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.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setMaster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("spark://master:7077")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SparkContext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(conf)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try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2.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构建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RDD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依赖图（逻辑执行计划）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inputRDD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sc.textFile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hdfs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://input/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data.txt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wordsRDD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inputRDD.flatMap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(_.split(" "))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pairsRDD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wordsRDD.map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((_, 1))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countsRDD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pairsRDD.reduceByKey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(_ + _)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3.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触发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，开始任务调度和执行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results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countsRDD.collect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4.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处理结果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results.foreach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 finally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5.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清理资源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sc.stop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26" name="Shape 24"/>
          <p:cNvSpPr/>
          <p:nvPr/>
        </p:nvSpPr>
        <p:spPr>
          <a:xfrm>
            <a:off x="9817034" y="1566333"/>
            <a:ext cx="6011333" cy="3513667"/>
          </a:xfrm>
          <a:custGeom>
            <a:avLst/>
            <a:gdLst/>
            <a:ahLst/>
            <a:cxnLst/>
            <a:rect l="l" t="t" r="r" b="b"/>
            <a:pathLst>
              <a:path w="6011333" h="3513667">
                <a:moveTo>
                  <a:pt x="42333" y="0"/>
                </a:moveTo>
                <a:lnTo>
                  <a:pt x="5884349" y="0"/>
                </a:lnTo>
                <a:cubicBezTo>
                  <a:pt x="5954481" y="0"/>
                  <a:pt x="6011333" y="56853"/>
                  <a:pt x="6011333" y="126984"/>
                </a:cubicBezTo>
                <a:lnTo>
                  <a:pt x="6011333" y="3386683"/>
                </a:lnTo>
                <a:cubicBezTo>
                  <a:pt x="6011333" y="3456814"/>
                  <a:pt x="5954481" y="3513667"/>
                  <a:pt x="5884349" y="3513667"/>
                </a:cubicBezTo>
                <a:lnTo>
                  <a:pt x="42333" y="3513667"/>
                </a:lnTo>
                <a:cubicBezTo>
                  <a:pt x="18953" y="3513667"/>
                  <a:pt x="0" y="3494713"/>
                  <a:pt x="0" y="347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817034" y="1566333"/>
            <a:ext cx="42333" cy="3513667"/>
          </a:xfrm>
          <a:custGeom>
            <a:avLst/>
            <a:gdLst/>
            <a:ahLst/>
            <a:cxnLst/>
            <a:rect l="l" t="t" r="r" b="b"/>
            <a:pathLst>
              <a:path w="42333" h="3513667">
                <a:moveTo>
                  <a:pt x="42333" y="0"/>
                </a:moveTo>
                <a:lnTo>
                  <a:pt x="42333" y="0"/>
                </a:lnTo>
                <a:lnTo>
                  <a:pt x="42333" y="3513667"/>
                </a:lnTo>
                <a:lnTo>
                  <a:pt x="42333" y="3513667"/>
                </a:lnTo>
                <a:cubicBezTo>
                  <a:pt x="18953" y="3513667"/>
                  <a:pt x="0" y="3494713"/>
                  <a:pt x="0" y="347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049867" y="1820333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314451" y="1778000"/>
            <a:ext cx="5408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内部组件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49867" y="2201333"/>
            <a:ext cx="5566833" cy="804333"/>
          </a:xfrm>
          <a:custGeom>
            <a:avLst/>
            <a:gdLst/>
            <a:ahLst/>
            <a:cxnLst/>
            <a:rect l="l" t="t" r="r" b="b"/>
            <a:pathLst>
              <a:path w="5566833" h="804333">
                <a:moveTo>
                  <a:pt x="42332" y="0"/>
                </a:moveTo>
                <a:lnTo>
                  <a:pt x="5524501" y="0"/>
                </a:lnTo>
                <a:cubicBezTo>
                  <a:pt x="5547881" y="0"/>
                  <a:pt x="5566833" y="18953"/>
                  <a:pt x="5566833" y="42332"/>
                </a:cubicBezTo>
                <a:lnTo>
                  <a:pt x="5566833" y="762001"/>
                </a:lnTo>
                <a:cubicBezTo>
                  <a:pt x="5566833" y="785381"/>
                  <a:pt x="5547881" y="804333"/>
                  <a:pt x="55245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176867" y="2328333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SparkContext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76867" y="2624667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应用程序核心上下文，维护全局状态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49867" y="3132667"/>
            <a:ext cx="5566833" cy="804333"/>
          </a:xfrm>
          <a:custGeom>
            <a:avLst/>
            <a:gdLst/>
            <a:ahLst/>
            <a:cxnLst/>
            <a:rect l="l" t="t" r="r" b="b"/>
            <a:pathLst>
              <a:path w="5566833" h="804333">
                <a:moveTo>
                  <a:pt x="42332" y="0"/>
                </a:moveTo>
                <a:lnTo>
                  <a:pt x="5524501" y="0"/>
                </a:lnTo>
                <a:cubicBezTo>
                  <a:pt x="5547881" y="0"/>
                  <a:pt x="5566833" y="18953"/>
                  <a:pt x="5566833" y="42332"/>
                </a:cubicBezTo>
                <a:lnTo>
                  <a:pt x="5566833" y="762001"/>
                </a:lnTo>
                <a:cubicBezTo>
                  <a:pt x="5566833" y="785381"/>
                  <a:pt x="5547881" y="804333"/>
                  <a:pt x="55245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176867" y="3259667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DAGScheduler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76867" y="35560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DAG 并划分 Stage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49867" y="4064000"/>
            <a:ext cx="5566833" cy="804333"/>
          </a:xfrm>
          <a:custGeom>
            <a:avLst/>
            <a:gdLst/>
            <a:ahLst/>
            <a:cxnLst/>
            <a:rect l="l" t="t" r="r" b="b"/>
            <a:pathLst>
              <a:path w="5566833" h="804333">
                <a:moveTo>
                  <a:pt x="42332" y="0"/>
                </a:moveTo>
                <a:lnTo>
                  <a:pt x="5524501" y="0"/>
                </a:lnTo>
                <a:cubicBezTo>
                  <a:pt x="5547881" y="0"/>
                  <a:pt x="5566833" y="18953"/>
                  <a:pt x="5566833" y="42332"/>
                </a:cubicBezTo>
                <a:lnTo>
                  <a:pt x="5566833" y="762001"/>
                </a:lnTo>
                <a:cubicBezTo>
                  <a:pt x="5566833" y="785381"/>
                  <a:pt x="5547881" y="804333"/>
                  <a:pt x="55245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176867" y="41910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TaskScheduler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76867" y="4487333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任务调度，考虑数据本地性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01159" y="5296958"/>
            <a:ext cx="6021917" cy="2465917"/>
          </a:xfrm>
          <a:custGeom>
            <a:avLst/>
            <a:gdLst/>
            <a:ahLst/>
            <a:cxnLst/>
            <a:rect l="l" t="t" r="r" b="b"/>
            <a:pathLst>
              <a:path w="6021917" h="2465917">
                <a:moveTo>
                  <a:pt x="126995" y="0"/>
                </a:moveTo>
                <a:lnTo>
                  <a:pt x="5894922" y="0"/>
                </a:lnTo>
                <a:cubicBezTo>
                  <a:pt x="5965059" y="0"/>
                  <a:pt x="6021917" y="56857"/>
                  <a:pt x="6021917" y="126995"/>
                </a:cubicBezTo>
                <a:lnTo>
                  <a:pt x="6021917" y="2338922"/>
                </a:lnTo>
                <a:cubicBezTo>
                  <a:pt x="6021917" y="2409059"/>
                  <a:pt x="5965059" y="2465917"/>
                  <a:pt x="5894922" y="2465917"/>
                </a:cubicBezTo>
                <a:lnTo>
                  <a:pt x="126995" y="2465917"/>
                </a:lnTo>
                <a:cubicBezTo>
                  <a:pt x="56857" y="2465917"/>
                  <a:pt x="0" y="2409059"/>
                  <a:pt x="0" y="2338922"/>
                </a:cubicBezTo>
                <a:lnTo>
                  <a:pt x="0" y="126995"/>
                </a:lnTo>
                <a:cubicBezTo>
                  <a:pt x="0" y="56857"/>
                  <a:pt x="56857" y="0"/>
                  <a:pt x="126995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044576" y="555625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07781" y="62260"/>
                </a:moveTo>
                <a:lnTo>
                  <a:pt x="168093" y="101947"/>
                </a:lnTo>
                <a:cubicBezTo>
                  <a:pt x="164290" y="105751"/>
                  <a:pt x="158626" y="106867"/>
                  <a:pt x="153665" y="104800"/>
                </a:cubicBezTo>
                <a:cubicBezTo>
                  <a:pt x="148704" y="102733"/>
                  <a:pt x="145521" y="97937"/>
                  <a:pt x="145521" y="92604"/>
                </a:cubicBezTo>
                <a:lnTo>
                  <a:pt x="145521" y="66146"/>
                </a:lnTo>
                <a:lnTo>
                  <a:pt x="13229" y="66146"/>
                </a:lnTo>
                <a:cubicBezTo>
                  <a:pt x="5912" y="66146"/>
                  <a:pt x="0" y="60234"/>
                  <a:pt x="0" y="52917"/>
                </a:cubicBezTo>
                <a:cubicBezTo>
                  <a:pt x="0" y="45599"/>
                  <a:pt x="5912" y="39688"/>
                  <a:pt x="13229" y="39688"/>
                </a:cubicBezTo>
                <a:lnTo>
                  <a:pt x="145521" y="39688"/>
                </a:lnTo>
                <a:lnTo>
                  <a:pt x="145521" y="13229"/>
                </a:lnTo>
                <a:cubicBezTo>
                  <a:pt x="145521" y="7896"/>
                  <a:pt x="148745" y="3059"/>
                  <a:pt x="153706" y="992"/>
                </a:cubicBezTo>
                <a:cubicBezTo>
                  <a:pt x="158667" y="-1075"/>
                  <a:pt x="164331" y="83"/>
                  <a:pt x="168134" y="3845"/>
                </a:cubicBezTo>
                <a:lnTo>
                  <a:pt x="207822" y="43532"/>
                </a:lnTo>
                <a:cubicBezTo>
                  <a:pt x="212990" y="48700"/>
                  <a:pt x="212990" y="57092"/>
                  <a:pt x="207822" y="62260"/>
                </a:cubicBezTo>
                <a:close/>
                <a:moveTo>
                  <a:pt x="43532" y="207781"/>
                </a:moveTo>
                <a:lnTo>
                  <a:pt x="3845" y="168093"/>
                </a:lnTo>
                <a:cubicBezTo>
                  <a:pt x="-1323" y="162925"/>
                  <a:pt x="-1323" y="154533"/>
                  <a:pt x="3845" y="149366"/>
                </a:cubicBezTo>
                <a:lnTo>
                  <a:pt x="43532" y="109678"/>
                </a:lnTo>
                <a:cubicBezTo>
                  <a:pt x="47336" y="105875"/>
                  <a:pt x="52999" y="104758"/>
                  <a:pt x="57960" y="106826"/>
                </a:cubicBezTo>
                <a:cubicBezTo>
                  <a:pt x="62921" y="108893"/>
                  <a:pt x="66146" y="113729"/>
                  <a:pt x="66146" y="119063"/>
                </a:cubicBezTo>
                <a:lnTo>
                  <a:pt x="66146" y="145521"/>
                </a:lnTo>
                <a:lnTo>
                  <a:pt x="198438" y="145521"/>
                </a:lnTo>
                <a:cubicBezTo>
                  <a:pt x="205755" y="145521"/>
                  <a:pt x="211667" y="151433"/>
                  <a:pt x="211667" y="158750"/>
                </a:cubicBezTo>
                <a:cubicBezTo>
                  <a:pt x="211667" y="166067"/>
                  <a:pt x="205755" y="171979"/>
                  <a:pt x="198438" y="171979"/>
                </a:cubicBezTo>
                <a:lnTo>
                  <a:pt x="66146" y="171979"/>
                </a:lnTo>
                <a:lnTo>
                  <a:pt x="66146" y="198438"/>
                </a:lnTo>
                <a:cubicBezTo>
                  <a:pt x="66146" y="203771"/>
                  <a:pt x="62921" y="208607"/>
                  <a:pt x="57960" y="210674"/>
                </a:cubicBezTo>
                <a:cubicBezTo>
                  <a:pt x="52999" y="212742"/>
                  <a:pt x="47336" y="211584"/>
                  <a:pt x="43532" y="20782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282701" y="5513917"/>
            <a:ext cx="542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与集群的交互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039284" y="597958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314451" y="593725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向集群管理器申请资源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039284" y="631825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314451" y="6275917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Worker 上启动 Executor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39284" y="665691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314451" y="6614583"/>
            <a:ext cx="1830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将任务分发给 Executor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039284" y="699558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314451" y="6953250"/>
            <a:ext cx="143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监控任务执行状态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039284" y="733425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314451" y="729191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收集执行结果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4783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运行模式：Client vs Cluster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58333"/>
            <a:ext cx="15250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两种模式的架构差异和适用场景分析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18041" y="1748367"/>
            <a:ext cx="15398750" cy="3619500"/>
          </a:xfrm>
          <a:custGeom>
            <a:avLst/>
            <a:gdLst/>
            <a:ahLst/>
            <a:cxnLst/>
            <a:rect l="l" t="t" r="r" b="b"/>
            <a:pathLst>
              <a:path w="15398750" h="3619500">
                <a:moveTo>
                  <a:pt x="127008" y="0"/>
                </a:moveTo>
                <a:lnTo>
                  <a:pt x="15271742" y="0"/>
                </a:lnTo>
                <a:cubicBezTo>
                  <a:pt x="15341886" y="0"/>
                  <a:pt x="15398750" y="56864"/>
                  <a:pt x="15398750" y="127008"/>
                </a:cubicBezTo>
                <a:lnTo>
                  <a:pt x="15398750" y="3492492"/>
                </a:lnTo>
                <a:cubicBezTo>
                  <a:pt x="15398750" y="3562636"/>
                  <a:pt x="15341886" y="3619500"/>
                  <a:pt x="15271742" y="3619500"/>
                </a:cubicBezTo>
                <a:lnTo>
                  <a:pt x="127008" y="3619500"/>
                </a:lnTo>
                <a:cubicBezTo>
                  <a:pt x="56864" y="3619500"/>
                  <a:pt x="0" y="3562636"/>
                  <a:pt x="0" y="3492492"/>
                </a:cubicBezTo>
                <a:lnTo>
                  <a:pt x="0" y="127008"/>
                </a:lnTo>
                <a:cubicBezTo>
                  <a:pt x="0" y="56864"/>
                  <a:pt x="56864" y="0"/>
                  <a:pt x="127008" y="0"/>
                </a:cubicBezTo>
                <a:close/>
              </a:path>
            </a:pathLst>
          </a:custGeom>
          <a:solidFill>
            <a:srgbClr val="4A6B8A">
              <a:alpha val="10196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6167"/>
              </p:ext>
            </p:extLst>
          </p:nvPr>
        </p:nvGraphicFramePr>
        <p:xfrm>
          <a:off x="423333" y="1753658"/>
          <a:ext cx="15388167" cy="3608920"/>
        </p:xfrm>
        <a:graphic>
          <a:graphicData uri="http://schemas.openxmlformats.org/drawingml/2006/table">
            <a:tbl>
              <a:tblPr/>
              <a:tblGrid>
                <a:gridCol w="283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5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5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56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Client 模式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Cluster 模式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Driver 位置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客户端机器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集群中的 Worker 节点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网络通信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Driver 与 Executor 跨网络通信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Driver 与 Executor 在同一网络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故障恢复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客户端故障导致应用失败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集群管理器可以重启 Driver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交互式应用、调试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生产环境、长时间运行的作业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网络开销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较高（跨网络通信）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较低（同一集群网络内）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56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调试便利性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容易调试和监控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调试相对困难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4741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Executor：分布式计算的执行引擎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58333"/>
            <a:ext cx="15250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深入解析 Executor 的内部架构和核心组件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566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566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9083" y="1799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21833" y="1778000"/>
            <a:ext cx="74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线程池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7333" y="2201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ThreadPool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7333" y="2624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的核心执行引擎，采用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动态线程管理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策略，根据任务类型和系统负载自动调整线程数量。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333" y="3302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有效处理不同计算密集度的任务，最大化资源利用率。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1500" y="1566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51500" y="1566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31958" y="17991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28833" y="1778000"/>
            <a:ext cx="1492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84333" y="2201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84333" y="2624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负责数据存储和管理的关键组件，实现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多层次存储系统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，包括内存存储、磁盘存储和远程存储。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84333" y="3302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 LRU 算法管理数据块，支持数据复制和容错。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58500" y="1566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858500" y="1566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1123083" y="1799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53529"/>
                </a:moveTo>
                <a:lnTo>
                  <a:pt x="119559" y="43210"/>
                </a:lnTo>
                <a:cubicBezTo>
                  <a:pt x="107156" y="26045"/>
                  <a:pt x="87263" y="15875"/>
                  <a:pt x="66030" y="15875"/>
                </a:cubicBezTo>
                <a:cubicBezTo>
                  <a:pt x="29567" y="15875"/>
                  <a:pt x="0" y="45442"/>
                  <a:pt x="0" y="81905"/>
                </a:cubicBezTo>
                <a:lnTo>
                  <a:pt x="0" y="83195"/>
                </a:lnTo>
                <a:cubicBezTo>
                  <a:pt x="0" y="94903"/>
                  <a:pt x="3076" y="107007"/>
                  <a:pt x="8235" y="119063"/>
                </a:cubicBezTo>
                <a:lnTo>
                  <a:pt x="60821" y="119063"/>
                </a:lnTo>
                <a:cubicBezTo>
                  <a:pt x="62409" y="119063"/>
                  <a:pt x="63847" y="118120"/>
                  <a:pt x="64492" y="116632"/>
                </a:cubicBezTo>
                <a:lnTo>
                  <a:pt x="80268" y="78780"/>
                </a:lnTo>
                <a:cubicBezTo>
                  <a:pt x="82104" y="74414"/>
                  <a:pt x="86370" y="71537"/>
                  <a:pt x="91083" y="71438"/>
                </a:cubicBezTo>
                <a:cubicBezTo>
                  <a:pt x="95796" y="71338"/>
                  <a:pt x="100161" y="74116"/>
                  <a:pt x="102096" y="78432"/>
                </a:cubicBezTo>
                <a:lnTo>
                  <a:pt x="127546" y="134938"/>
                </a:lnTo>
                <a:lnTo>
                  <a:pt x="148084" y="93861"/>
                </a:lnTo>
                <a:cubicBezTo>
                  <a:pt x="150118" y="89843"/>
                  <a:pt x="154236" y="87263"/>
                  <a:pt x="158750" y="87263"/>
                </a:cubicBezTo>
                <a:cubicBezTo>
                  <a:pt x="163264" y="87263"/>
                  <a:pt x="167382" y="89793"/>
                  <a:pt x="169416" y="93861"/>
                </a:cubicBezTo>
                <a:lnTo>
                  <a:pt x="180925" y="116830"/>
                </a:lnTo>
                <a:cubicBezTo>
                  <a:pt x="181620" y="118170"/>
                  <a:pt x="182959" y="119013"/>
                  <a:pt x="184497" y="119013"/>
                </a:cubicBezTo>
                <a:lnTo>
                  <a:pt x="245814" y="119013"/>
                </a:lnTo>
                <a:cubicBezTo>
                  <a:pt x="251023" y="106958"/>
                  <a:pt x="254050" y="94853"/>
                  <a:pt x="254050" y="83145"/>
                </a:cubicBezTo>
                <a:lnTo>
                  <a:pt x="254050" y="81855"/>
                </a:lnTo>
                <a:cubicBezTo>
                  <a:pt x="254000" y="45442"/>
                  <a:pt x="224433" y="15875"/>
                  <a:pt x="187970" y="15875"/>
                </a:cubicBezTo>
                <a:cubicBezTo>
                  <a:pt x="166787" y="15875"/>
                  <a:pt x="146844" y="26045"/>
                  <a:pt x="134441" y="43210"/>
                </a:cubicBezTo>
                <a:lnTo>
                  <a:pt x="127000" y="53479"/>
                </a:lnTo>
                <a:close/>
                <a:moveTo>
                  <a:pt x="232966" y="142875"/>
                </a:moveTo>
                <a:lnTo>
                  <a:pt x="184448" y="142875"/>
                </a:lnTo>
                <a:cubicBezTo>
                  <a:pt x="173930" y="142875"/>
                  <a:pt x="164306" y="136922"/>
                  <a:pt x="159593" y="127496"/>
                </a:cubicBezTo>
                <a:lnTo>
                  <a:pt x="158750" y="125809"/>
                </a:lnTo>
                <a:lnTo>
                  <a:pt x="137666" y="168027"/>
                </a:lnTo>
                <a:cubicBezTo>
                  <a:pt x="135632" y="172145"/>
                  <a:pt x="131366" y="174724"/>
                  <a:pt x="126752" y="174625"/>
                </a:cubicBezTo>
                <a:cubicBezTo>
                  <a:pt x="122138" y="174526"/>
                  <a:pt x="118021" y="171797"/>
                  <a:pt x="116136" y="167630"/>
                </a:cubicBezTo>
                <a:lnTo>
                  <a:pt x="91678" y="113308"/>
                </a:lnTo>
                <a:lnTo>
                  <a:pt x="86469" y="125809"/>
                </a:lnTo>
                <a:cubicBezTo>
                  <a:pt x="82153" y="136178"/>
                  <a:pt x="72033" y="142925"/>
                  <a:pt x="60821" y="142925"/>
                </a:cubicBezTo>
                <a:lnTo>
                  <a:pt x="21034" y="142925"/>
                </a:lnTo>
                <a:cubicBezTo>
                  <a:pt x="44450" y="179536"/>
                  <a:pt x="82054" y="213221"/>
                  <a:pt x="105569" y="231180"/>
                </a:cubicBezTo>
                <a:cubicBezTo>
                  <a:pt x="111720" y="235843"/>
                  <a:pt x="119261" y="238175"/>
                  <a:pt x="126950" y="238175"/>
                </a:cubicBezTo>
                <a:cubicBezTo>
                  <a:pt x="134640" y="238175"/>
                  <a:pt x="142230" y="235893"/>
                  <a:pt x="148332" y="231180"/>
                </a:cubicBezTo>
                <a:cubicBezTo>
                  <a:pt x="171946" y="213171"/>
                  <a:pt x="209550" y="179487"/>
                  <a:pt x="232966" y="1428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535833" y="1778000"/>
            <a:ext cx="1270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Heartbeater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1333" y="2201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91333" y="2624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负责与 Driver 程序保持心跳连接，定期报告 Executor 的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健康状态、资源使用情况和任务执行进度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91333" y="3302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用于故障检测、动态资源调整和负载均衡。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500" y="3979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44500" y="3979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09083" y="4212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21833" y="4191000"/>
            <a:ext cx="1640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ExecutorSource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7333" y="4614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监控度量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7333" y="5037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收集各种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性能指标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，如 CPU 使用率、内存使用率、任务执行时间、数据读写速度等。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333" y="5715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为系统监控和自适应优化提供数据支持。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51500" y="3979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651500" y="3979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916083" y="4212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28833" y="4191000"/>
            <a:ext cx="1799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ExecutorBackend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84333" y="4614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通信桥梁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84333" y="5037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 Executor 与 Driver 之间的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通信桥梁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，实现高效的消息传递机制。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84333" y="5715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采用异步消息传递模式，支持任务分配、状态更新等。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58500" y="3979333"/>
            <a:ext cx="4974167" cy="2201333"/>
          </a:xfrm>
          <a:custGeom>
            <a:avLst/>
            <a:gdLst/>
            <a:ahLst/>
            <a:cxnLst/>
            <a:rect l="l" t="t" r="r" b="b"/>
            <a:pathLst>
              <a:path w="4974167" h="2201333">
                <a:moveTo>
                  <a:pt x="42333" y="0"/>
                </a:moveTo>
                <a:lnTo>
                  <a:pt x="4847172" y="0"/>
                </a:lnTo>
                <a:cubicBezTo>
                  <a:pt x="4917309" y="0"/>
                  <a:pt x="4974167" y="56858"/>
                  <a:pt x="4974167" y="126995"/>
                </a:cubicBezTo>
                <a:lnTo>
                  <a:pt x="4974167" y="2074338"/>
                </a:lnTo>
                <a:cubicBezTo>
                  <a:pt x="4974167" y="2144476"/>
                  <a:pt x="4917309" y="2201333"/>
                  <a:pt x="4847172" y="2201333"/>
                </a:cubicBez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858500" y="3979333"/>
            <a:ext cx="42333" cy="2201333"/>
          </a:xfrm>
          <a:custGeom>
            <a:avLst/>
            <a:gdLst/>
            <a:ahLst/>
            <a:cxnLst/>
            <a:rect l="l" t="t" r="r" b="b"/>
            <a:pathLst>
              <a:path w="42333" h="2201333">
                <a:moveTo>
                  <a:pt x="42333" y="0"/>
                </a:moveTo>
                <a:lnTo>
                  <a:pt x="42333" y="0"/>
                </a:lnTo>
                <a:lnTo>
                  <a:pt x="42333" y="2201333"/>
                </a:lnTo>
                <a:lnTo>
                  <a:pt x="42333" y="2201333"/>
                </a:lnTo>
                <a:cubicBezTo>
                  <a:pt x="18953" y="2201333"/>
                  <a:pt x="0" y="2182380"/>
                  <a:pt x="0" y="215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123083" y="4212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535833" y="4191000"/>
            <a:ext cx="1248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TaskRunner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91333" y="4614333"/>
            <a:ext cx="462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6B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91333" y="5037667"/>
            <a:ext cx="4614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实际执行分配给 Executor 的</a:t>
            </a: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计算任务</a:t>
            </a:r>
            <a:r>
              <a:rPr lang="en-US" sz="133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，处理数据并生成结果。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91333" y="5715000"/>
            <a:ext cx="461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支持任务序列化/反序列化、内存管理和结果返回。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8625" y="6397625"/>
            <a:ext cx="15398750" cy="1619250"/>
          </a:xfrm>
          <a:custGeom>
            <a:avLst/>
            <a:gdLst/>
            <a:ahLst/>
            <a:cxnLst/>
            <a:rect l="l" t="t" r="r" b="b"/>
            <a:pathLst>
              <a:path w="15398750" h="1619250">
                <a:moveTo>
                  <a:pt x="126998" y="0"/>
                </a:moveTo>
                <a:lnTo>
                  <a:pt x="15271752" y="0"/>
                </a:lnTo>
                <a:cubicBezTo>
                  <a:pt x="15341891" y="0"/>
                  <a:pt x="15398750" y="56859"/>
                  <a:pt x="15398750" y="126998"/>
                </a:cubicBezTo>
                <a:lnTo>
                  <a:pt x="15398750" y="1492252"/>
                </a:lnTo>
                <a:cubicBezTo>
                  <a:pt x="15398750" y="1562391"/>
                  <a:pt x="15341891" y="1619250"/>
                  <a:pt x="15271752" y="1619250"/>
                </a:cubicBezTo>
                <a:lnTo>
                  <a:pt x="126998" y="1619250"/>
                </a:lnTo>
                <a:cubicBezTo>
                  <a:pt x="56859" y="1619250"/>
                  <a:pt x="0" y="1562391"/>
                  <a:pt x="0" y="149225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29708" y="66251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46667" y="6572250"/>
            <a:ext cx="1490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的核心职责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309813" y="69532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45244" y="18306"/>
                </a:moveTo>
                <a:cubicBezTo>
                  <a:pt x="39092" y="14932"/>
                  <a:pt x="31651" y="15081"/>
                  <a:pt x="25598" y="18653"/>
                </a:cubicBezTo>
                <a:cubicBezTo>
                  <a:pt x="19546" y="22225"/>
                  <a:pt x="15875" y="28724"/>
                  <a:pt x="15875" y="35719"/>
                </a:cubicBezTo>
                <a:lnTo>
                  <a:pt x="15875" y="218281"/>
                </a:lnTo>
                <a:cubicBezTo>
                  <a:pt x="15875" y="225276"/>
                  <a:pt x="19596" y="231775"/>
                  <a:pt x="25598" y="235347"/>
                </a:cubicBezTo>
                <a:cubicBezTo>
                  <a:pt x="31601" y="238919"/>
                  <a:pt x="39092" y="239068"/>
                  <a:pt x="45244" y="235694"/>
                </a:cubicBezTo>
                <a:lnTo>
                  <a:pt x="211931" y="144413"/>
                </a:lnTo>
                <a:cubicBezTo>
                  <a:pt x="218281" y="140940"/>
                  <a:pt x="222250" y="134243"/>
                  <a:pt x="222250" y="127000"/>
                </a:cubicBezTo>
                <a:cubicBezTo>
                  <a:pt x="222250" y="119757"/>
                  <a:pt x="218281" y="113060"/>
                  <a:pt x="211931" y="109587"/>
                </a:cubicBezTo>
                <a:lnTo>
                  <a:pt x="45244" y="1830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60917" y="72919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60917" y="7588250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并行执行计算任务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098646" y="6953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365625" y="72919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365625" y="7588250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缓存中间结果和广播变量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903354" y="6953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31750"/>
                </a:moveTo>
                <a:cubicBezTo>
                  <a:pt x="98822" y="31750"/>
                  <a:pt x="73471" y="44004"/>
                  <a:pt x="56009" y="63500"/>
                </a:cubicBezTo>
                <a:lnTo>
                  <a:pt x="79375" y="63500"/>
                </a:lnTo>
                <a:cubicBezTo>
                  <a:pt x="88156" y="63500"/>
                  <a:pt x="95250" y="70594"/>
                  <a:pt x="95250" y="79375"/>
                </a:cubicBezTo>
                <a:cubicBezTo>
                  <a:pt x="95250" y="88156"/>
                  <a:pt x="88156" y="95250"/>
                  <a:pt x="79375" y="95250"/>
                </a:cubicBezTo>
                <a:lnTo>
                  <a:pt x="15875" y="95250"/>
                </a:lnTo>
                <a:cubicBezTo>
                  <a:pt x="7094" y="95250"/>
                  <a:pt x="0" y="88156"/>
                  <a:pt x="0" y="79375"/>
                </a:cubicBezTo>
                <a:lnTo>
                  <a:pt x="0" y="15875"/>
                </a:ln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31750" y="43011"/>
                </a:lnTo>
                <a:cubicBezTo>
                  <a:pt x="55017" y="16669"/>
                  <a:pt x="89049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ubicBezTo>
                  <a:pt x="254000" y="197148"/>
                  <a:pt x="197148" y="254000"/>
                  <a:pt x="127000" y="254000"/>
                </a:cubicBezTo>
                <a:cubicBezTo>
                  <a:pt x="83840" y="254000"/>
                  <a:pt x="45690" y="232470"/>
                  <a:pt x="22771" y="199579"/>
                </a:cubicBezTo>
                <a:cubicBezTo>
                  <a:pt x="17760" y="192385"/>
                  <a:pt x="19496" y="182513"/>
                  <a:pt x="26690" y="177453"/>
                </a:cubicBezTo>
                <a:cubicBezTo>
                  <a:pt x="33883" y="172393"/>
                  <a:pt x="43755" y="174179"/>
                  <a:pt x="48816" y="181372"/>
                </a:cubicBezTo>
                <a:cubicBezTo>
                  <a:pt x="66080" y="206077"/>
                  <a:pt x="94655" y="222200"/>
                  <a:pt x="127000" y="222200"/>
                </a:cubicBezTo>
                <a:cubicBezTo>
                  <a:pt x="179586" y="222200"/>
                  <a:pt x="222250" y="179536"/>
                  <a:pt x="222250" y="126950"/>
                </a:cubicBezTo>
                <a:cubicBezTo>
                  <a:pt x="222250" y="74364"/>
                  <a:pt x="179586" y="31750"/>
                  <a:pt x="127000" y="3175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170333" y="72919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结果返回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170333" y="7588250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将计算结果返回给 Driver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708063" y="6953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975042" y="7291917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状态监控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975042" y="7588250"/>
            <a:ext cx="372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报告执行状态和性能指标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81597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Application、Job、Stage、Task 的层次关系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143000"/>
            <a:ext cx="15261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作业的层次化分解结构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8625" y="1656292"/>
            <a:ext cx="15398750" cy="7270750"/>
          </a:xfrm>
          <a:custGeom>
            <a:avLst/>
            <a:gdLst/>
            <a:ahLst/>
            <a:cxnLst/>
            <a:rect l="l" t="t" r="r" b="b"/>
            <a:pathLst>
              <a:path w="15398750" h="7270750">
                <a:moveTo>
                  <a:pt x="127020" y="0"/>
                </a:moveTo>
                <a:lnTo>
                  <a:pt x="15271730" y="0"/>
                </a:lnTo>
                <a:cubicBezTo>
                  <a:pt x="15341881" y="0"/>
                  <a:pt x="15398750" y="56869"/>
                  <a:pt x="15398750" y="127020"/>
                </a:cubicBezTo>
                <a:lnTo>
                  <a:pt x="15398750" y="7143730"/>
                </a:lnTo>
                <a:cubicBezTo>
                  <a:pt x="15398750" y="7213881"/>
                  <a:pt x="15341881" y="7270750"/>
                  <a:pt x="15271730" y="7270750"/>
                </a:cubicBezTo>
                <a:lnTo>
                  <a:pt x="127020" y="7270750"/>
                </a:lnTo>
                <a:cubicBezTo>
                  <a:pt x="56869" y="7270750"/>
                  <a:pt x="0" y="7213881"/>
                  <a:pt x="0" y="7143730"/>
                </a:cubicBezTo>
                <a:lnTo>
                  <a:pt x="0" y="127020"/>
                </a:lnTo>
                <a:cubicBezTo>
                  <a:pt x="0" y="56916"/>
                  <a:pt x="56916" y="0"/>
                  <a:pt x="127020" y="0"/>
                </a:cubicBezTo>
                <a:close/>
              </a:path>
            </a:pathLst>
          </a:custGeom>
          <a:solidFill>
            <a:srgbClr val="4A6B8A">
              <a:alpha val="10196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01040" y="1926167"/>
            <a:ext cx="2254250" cy="1037167"/>
          </a:xfrm>
          <a:custGeom>
            <a:avLst/>
            <a:gdLst/>
            <a:ahLst/>
            <a:cxnLst/>
            <a:rect l="l" t="t" r="r" b="b"/>
            <a:pathLst>
              <a:path w="2254250" h="1037167">
                <a:moveTo>
                  <a:pt x="127001" y="0"/>
                </a:moveTo>
                <a:lnTo>
                  <a:pt x="2127249" y="0"/>
                </a:lnTo>
                <a:cubicBezTo>
                  <a:pt x="2197390" y="0"/>
                  <a:pt x="2254250" y="56860"/>
                  <a:pt x="2254250" y="127001"/>
                </a:cubicBezTo>
                <a:lnTo>
                  <a:pt x="2254250" y="910166"/>
                </a:lnTo>
                <a:cubicBezTo>
                  <a:pt x="2254250" y="980306"/>
                  <a:pt x="2197390" y="1037167"/>
                  <a:pt x="2127249" y="1037167"/>
                </a:cubicBezTo>
                <a:lnTo>
                  <a:pt x="127001" y="1037167"/>
                </a:lnTo>
                <a:cubicBezTo>
                  <a:pt x="56860" y="1037167"/>
                  <a:pt x="0" y="980306"/>
                  <a:pt x="0" y="910166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D4A373"/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50290" y="2106083"/>
            <a:ext cx="168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0290" y="2529417"/>
            <a:ext cx="1640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 Spark 应用程序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11583" y="3227917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105048" y="311671"/>
                </a:moveTo>
                <a:cubicBezTo>
                  <a:pt x="112799" y="319422"/>
                  <a:pt x="125388" y="319422"/>
                  <a:pt x="133139" y="311671"/>
                </a:cubicBezTo>
                <a:lnTo>
                  <a:pt x="232358" y="212452"/>
                </a:lnTo>
                <a:cubicBezTo>
                  <a:pt x="240109" y="204701"/>
                  <a:pt x="240109" y="192112"/>
                  <a:pt x="232358" y="184361"/>
                </a:cubicBezTo>
                <a:cubicBezTo>
                  <a:pt x="224606" y="176609"/>
                  <a:pt x="212018" y="176609"/>
                  <a:pt x="204267" y="184361"/>
                </a:cubicBezTo>
                <a:lnTo>
                  <a:pt x="138906" y="249721"/>
                </a:lnTo>
                <a:lnTo>
                  <a:pt x="138906" y="19844"/>
                </a:lnTo>
                <a:cubicBezTo>
                  <a:pt x="138906" y="8868"/>
                  <a:pt x="130039" y="0"/>
                  <a:pt x="119062" y="0"/>
                </a:cubicBezTo>
                <a:cubicBezTo>
                  <a:pt x="108086" y="0"/>
                  <a:pt x="99219" y="8868"/>
                  <a:pt x="99219" y="19844"/>
                </a:cubicBezTo>
                <a:lnTo>
                  <a:pt x="99219" y="249721"/>
                </a:lnTo>
                <a:lnTo>
                  <a:pt x="33858" y="184361"/>
                </a:lnTo>
                <a:cubicBezTo>
                  <a:pt x="26107" y="176609"/>
                  <a:pt x="13519" y="176609"/>
                  <a:pt x="5767" y="184361"/>
                </a:cubicBezTo>
                <a:cubicBezTo>
                  <a:pt x="-1984" y="192112"/>
                  <a:pt x="-1984" y="204701"/>
                  <a:pt x="5767" y="212452"/>
                </a:cubicBezTo>
                <a:lnTo>
                  <a:pt x="104986" y="31167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98500" y="3810000"/>
            <a:ext cx="4826000" cy="994833"/>
          </a:xfrm>
          <a:custGeom>
            <a:avLst/>
            <a:gdLst/>
            <a:ahLst/>
            <a:cxnLst/>
            <a:rect l="l" t="t" r="r" b="b"/>
            <a:pathLst>
              <a:path w="4826000" h="994833">
                <a:moveTo>
                  <a:pt x="127000" y="0"/>
                </a:moveTo>
                <a:lnTo>
                  <a:pt x="4699000" y="0"/>
                </a:lnTo>
                <a:cubicBezTo>
                  <a:pt x="4769140" y="0"/>
                  <a:pt x="4826000" y="56860"/>
                  <a:pt x="4826000" y="127000"/>
                </a:cubicBezTo>
                <a:lnTo>
                  <a:pt x="4826000" y="867833"/>
                </a:lnTo>
                <a:cubicBezTo>
                  <a:pt x="4826000" y="937973"/>
                  <a:pt x="4769140" y="994833"/>
                  <a:pt x="4699000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 w="25400">
            <a:solidFill>
              <a:srgbClr val="4A6B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5500" y="3989917"/>
            <a:ext cx="457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083" y="4370917"/>
            <a:ext cx="455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由行动操作触发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810000"/>
            <a:ext cx="4826000" cy="994833"/>
          </a:xfrm>
          <a:custGeom>
            <a:avLst/>
            <a:gdLst/>
            <a:ahLst/>
            <a:cxnLst/>
            <a:rect l="l" t="t" r="r" b="b"/>
            <a:pathLst>
              <a:path w="4826000" h="994833">
                <a:moveTo>
                  <a:pt x="127000" y="0"/>
                </a:moveTo>
                <a:lnTo>
                  <a:pt x="4699000" y="0"/>
                </a:lnTo>
                <a:cubicBezTo>
                  <a:pt x="4769140" y="0"/>
                  <a:pt x="4826000" y="56860"/>
                  <a:pt x="4826000" y="127000"/>
                </a:cubicBezTo>
                <a:lnTo>
                  <a:pt x="4826000" y="867833"/>
                </a:lnTo>
                <a:cubicBezTo>
                  <a:pt x="4826000" y="937973"/>
                  <a:pt x="4769140" y="994833"/>
                  <a:pt x="4699000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 w="25400">
            <a:solidFill>
              <a:srgbClr val="4A6B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842000" y="3989917"/>
            <a:ext cx="457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583" y="4370917"/>
            <a:ext cx="455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由行动操作触发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31500" y="3810000"/>
            <a:ext cx="4826000" cy="994833"/>
          </a:xfrm>
          <a:custGeom>
            <a:avLst/>
            <a:gdLst/>
            <a:ahLst/>
            <a:cxnLst/>
            <a:rect l="l" t="t" r="r" b="b"/>
            <a:pathLst>
              <a:path w="4826000" h="994833">
                <a:moveTo>
                  <a:pt x="127000" y="0"/>
                </a:moveTo>
                <a:lnTo>
                  <a:pt x="4699000" y="0"/>
                </a:lnTo>
                <a:cubicBezTo>
                  <a:pt x="4769140" y="0"/>
                  <a:pt x="4826000" y="56860"/>
                  <a:pt x="4826000" y="127000"/>
                </a:cubicBezTo>
                <a:lnTo>
                  <a:pt x="4826000" y="867833"/>
                </a:lnTo>
                <a:cubicBezTo>
                  <a:pt x="4826000" y="937973"/>
                  <a:pt x="4769140" y="994833"/>
                  <a:pt x="4699000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 w="25400">
            <a:solidFill>
              <a:srgbClr val="4A6B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858500" y="3989917"/>
            <a:ext cx="457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 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69083" y="4370917"/>
            <a:ext cx="455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由行动操作触发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1583" y="5069417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105048" y="311671"/>
                </a:moveTo>
                <a:cubicBezTo>
                  <a:pt x="112799" y="319422"/>
                  <a:pt x="125388" y="319422"/>
                  <a:pt x="133139" y="311671"/>
                </a:cubicBezTo>
                <a:lnTo>
                  <a:pt x="232358" y="212452"/>
                </a:lnTo>
                <a:cubicBezTo>
                  <a:pt x="240109" y="204701"/>
                  <a:pt x="240109" y="192112"/>
                  <a:pt x="232358" y="184361"/>
                </a:cubicBezTo>
                <a:cubicBezTo>
                  <a:pt x="224606" y="176609"/>
                  <a:pt x="212018" y="176609"/>
                  <a:pt x="204267" y="184361"/>
                </a:cubicBezTo>
                <a:lnTo>
                  <a:pt x="138906" y="249721"/>
                </a:lnTo>
                <a:lnTo>
                  <a:pt x="138906" y="19844"/>
                </a:lnTo>
                <a:cubicBezTo>
                  <a:pt x="138906" y="8868"/>
                  <a:pt x="130039" y="0"/>
                  <a:pt x="119062" y="0"/>
                </a:cubicBezTo>
                <a:cubicBezTo>
                  <a:pt x="108086" y="0"/>
                  <a:pt x="99219" y="8868"/>
                  <a:pt x="99219" y="19844"/>
                </a:cubicBezTo>
                <a:lnTo>
                  <a:pt x="99219" y="249721"/>
                </a:lnTo>
                <a:lnTo>
                  <a:pt x="33858" y="184361"/>
                </a:lnTo>
                <a:cubicBezTo>
                  <a:pt x="26107" y="176609"/>
                  <a:pt x="13519" y="176609"/>
                  <a:pt x="5767" y="184361"/>
                </a:cubicBezTo>
                <a:cubicBezTo>
                  <a:pt x="-1984" y="192112"/>
                  <a:pt x="-1984" y="204701"/>
                  <a:pt x="5767" y="212452"/>
                </a:cubicBezTo>
                <a:lnTo>
                  <a:pt x="104986" y="31167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98500" y="5651500"/>
            <a:ext cx="3608917" cy="825500"/>
          </a:xfrm>
          <a:custGeom>
            <a:avLst/>
            <a:gdLst/>
            <a:ahLst/>
            <a:cxnLst/>
            <a:rect l="l" t="t" r="r" b="b"/>
            <a:pathLst>
              <a:path w="3608917" h="825500">
                <a:moveTo>
                  <a:pt x="127003" y="0"/>
                </a:moveTo>
                <a:lnTo>
                  <a:pt x="3481913" y="0"/>
                </a:lnTo>
                <a:cubicBezTo>
                  <a:pt x="3552055" y="0"/>
                  <a:pt x="3608917" y="56861"/>
                  <a:pt x="3608917" y="127003"/>
                </a:cubicBezTo>
                <a:lnTo>
                  <a:pt x="3608917" y="698497"/>
                </a:lnTo>
                <a:cubicBezTo>
                  <a:pt x="3608917" y="768639"/>
                  <a:pt x="3552055" y="825500"/>
                  <a:pt x="3481913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88458" y="5789083"/>
            <a:ext cx="342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9042" y="6127750"/>
            <a:ext cx="3407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 Shuffle 依赖划分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50292" y="5651500"/>
            <a:ext cx="3608917" cy="825500"/>
          </a:xfrm>
          <a:custGeom>
            <a:avLst/>
            <a:gdLst/>
            <a:ahLst/>
            <a:cxnLst/>
            <a:rect l="l" t="t" r="r" b="b"/>
            <a:pathLst>
              <a:path w="3608917" h="825500">
                <a:moveTo>
                  <a:pt x="127003" y="0"/>
                </a:moveTo>
                <a:lnTo>
                  <a:pt x="3481913" y="0"/>
                </a:lnTo>
                <a:cubicBezTo>
                  <a:pt x="3552055" y="0"/>
                  <a:pt x="3608917" y="56861"/>
                  <a:pt x="3608917" y="127003"/>
                </a:cubicBezTo>
                <a:lnTo>
                  <a:pt x="3608917" y="698497"/>
                </a:lnTo>
                <a:cubicBezTo>
                  <a:pt x="3608917" y="768639"/>
                  <a:pt x="3552055" y="825500"/>
                  <a:pt x="3481913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40250" y="5789083"/>
            <a:ext cx="342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0833" y="6127750"/>
            <a:ext cx="3407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 Shuffle 依赖划分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02083" y="5651500"/>
            <a:ext cx="3608917" cy="825500"/>
          </a:xfrm>
          <a:custGeom>
            <a:avLst/>
            <a:gdLst/>
            <a:ahLst/>
            <a:cxnLst/>
            <a:rect l="l" t="t" r="r" b="b"/>
            <a:pathLst>
              <a:path w="3608917" h="825500">
                <a:moveTo>
                  <a:pt x="127003" y="0"/>
                </a:moveTo>
                <a:lnTo>
                  <a:pt x="3481913" y="0"/>
                </a:lnTo>
                <a:cubicBezTo>
                  <a:pt x="3552055" y="0"/>
                  <a:pt x="3608917" y="56861"/>
                  <a:pt x="3608917" y="127003"/>
                </a:cubicBezTo>
                <a:lnTo>
                  <a:pt x="3608917" y="698497"/>
                </a:lnTo>
                <a:cubicBezTo>
                  <a:pt x="3608917" y="768639"/>
                  <a:pt x="3552055" y="825500"/>
                  <a:pt x="3481913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92042" y="5789083"/>
            <a:ext cx="342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02625" y="6127750"/>
            <a:ext cx="3407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 Shuffle 依赖划分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953875" y="5651500"/>
            <a:ext cx="3608917" cy="825500"/>
          </a:xfrm>
          <a:custGeom>
            <a:avLst/>
            <a:gdLst/>
            <a:ahLst/>
            <a:cxnLst/>
            <a:rect l="l" t="t" r="r" b="b"/>
            <a:pathLst>
              <a:path w="3608917" h="825500">
                <a:moveTo>
                  <a:pt x="127003" y="0"/>
                </a:moveTo>
                <a:lnTo>
                  <a:pt x="3481913" y="0"/>
                </a:lnTo>
                <a:cubicBezTo>
                  <a:pt x="3552055" y="0"/>
                  <a:pt x="3608917" y="56861"/>
                  <a:pt x="3608917" y="127003"/>
                </a:cubicBezTo>
                <a:lnTo>
                  <a:pt x="3608917" y="698497"/>
                </a:lnTo>
                <a:cubicBezTo>
                  <a:pt x="3608917" y="768639"/>
                  <a:pt x="3552055" y="825500"/>
                  <a:pt x="3481913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043833" y="5789083"/>
            <a:ext cx="342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54417" y="6127750"/>
            <a:ext cx="3407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 Shuffle 依赖划分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11583" y="6741583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105048" y="311671"/>
                </a:moveTo>
                <a:cubicBezTo>
                  <a:pt x="112799" y="319422"/>
                  <a:pt x="125388" y="319422"/>
                  <a:pt x="133139" y="311671"/>
                </a:cubicBezTo>
                <a:lnTo>
                  <a:pt x="232358" y="212452"/>
                </a:lnTo>
                <a:cubicBezTo>
                  <a:pt x="240109" y="204701"/>
                  <a:pt x="240109" y="192112"/>
                  <a:pt x="232358" y="184361"/>
                </a:cubicBezTo>
                <a:cubicBezTo>
                  <a:pt x="224606" y="176609"/>
                  <a:pt x="212018" y="176609"/>
                  <a:pt x="204267" y="184361"/>
                </a:cubicBezTo>
                <a:lnTo>
                  <a:pt x="138906" y="249721"/>
                </a:lnTo>
                <a:lnTo>
                  <a:pt x="138906" y="19844"/>
                </a:lnTo>
                <a:cubicBezTo>
                  <a:pt x="138906" y="8868"/>
                  <a:pt x="130039" y="0"/>
                  <a:pt x="119062" y="0"/>
                </a:cubicBezTo>
                <a:cubicBezTo>
                  <a:pt x="108086" y="0"/>
                  <a:pt x="99219" y="8868"/>
                  <a:pt x="99219" y="19844"/>
                </a:cubicBezTo>
                <a:lnTo>
                  <a:pt x="99219" y="249721"/>
                </a:lnTo>
                <a:lnTo>
                  <a:pt x="33858" y="184361"/>
                </a:lnTo>
                <a:cubicBezTo>
                  <a:pt x="26107" y="176609"/>
                  <a:pt x="13519" y="176609"/>
                  <a:pt x="5767" y="184361"/>
                </a:cubicBezTo>
                <a:cubicBezTo>
                  <a:pt x="-1984" y="192112"/>
                  <a:pt x="-1984" y="204701"/>
                  <a:pt x="5767" y="212452"/>
                </a:cubicBezTo>
                <a:lnTo>
                  <a:pt x="104986" y="31167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8500" y="7323667"/>
            <a:ext cx="14859000" cy="1333500"/>
          </a:xfrm>
          <a:custGeom>
            <a:avLst/>
            <a:gdLst/>
            <a:ahLst/>
            <a:cxnLst/>
            <a:rect l="l" t="t" r="r" b="b"/>
            <a:pathLst>
              <a:path w="14859000" h="1333500">
                <a:moveTo>
                  <a:pt x="127003" y="0"/>
                </a:moveTo>
                <a:lnTo>
                  <a:pt x="14731997" y="0"/>
                </a:lnTo>
                <a:cubicBezTo>
                  <a:pt x="14802139" y="0"/>
                  <a:pt x="14859000" y="56861"/>
                  <a:pt x="14859000" y="127003"/>
                </a:cubicBezTo>
                <a:lnTo>
                  <a:pt x="14859000" y="1206497"/>
                </a:lnTo>
                <a:cubicBezTo>
                  <a:pt x="14859000" y="1276639"/>
                  <a:pt x="14802139" y="1333500"/>
                  <a:pt x="14731997" y="1333500"/>
                </a:cubicBezTo>
                <a:lnTo>
                  <a:pt x="127003" y="1333500"/>
                </a:lnTo>
                <a:cubicBezTo>
                  <a:pt x="56861" y="1333500"/>
                  <a:pt x="0" y="1276639"/>
                  <a:pt x="0" y="1206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1A1D21"/>
          </a:solidFill>
          <a:ln w="254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99583" y="7588250"/>
            <a:ext cx="14456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5458" y="8096250"/>
            <a:ext cx="1442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Stage 内并行执行的基本单位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0" y="0"/>
                </a:moveTo>
                <a:lnTo>
                  <a:pt x="101600" y="0"/>
                </a:lnTo>
                <a:lnTo>
                  <a:pt x="101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322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部署模式对比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38600" y="654048"/>
            <a:ext cx="74849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Standalone、YARN、Kubernetes 三种主流部署模式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425070"/>
            <a:ext cx="15227300" cy="5588002"/>
          </a:xfrm>
          <a:custGeom>
            <a:avLst/>
            <a:gdLst/>
            <a:ahLst/>
            <a:cxnLst/>
            <a:rect l="l" t="t" r="r" b="b"/>
            <a:pathLst>
              <a:path w="15227300" h="4660900">
                <a:moveTo>
                  <a:pt x="152411" y="0"/>
                </a:moveTo>
                <a:lnTo>
                  <a:pt x="15074889" y="0"/>
                </a:lnTo>
                <a:cubicBezTo>
                  <a:pt x="15159007" y="0"/>
                  <a:pt x="15227300" y="68293"/>
                  <a:pt x="15227300" y="152411"/>
                </a:cubicBezTo>
                <a:lnTo>
                  <a:pt x="15227300" y="4508489"/>
                </a:lnTo>
                <a:cubicBezTo>
                  <a:pt x="15227300" y="4592663"/>
                  <a:pt x="15159063" y="4660900"/>
                  <a:pt x="15074889" y="4660900"/>
                </a:cubicBezTo>
                <a:lnTo>
                  <a:pt x="152411" y="4660900"/>
                </a:lnTo>
                <a:cubicBezTo>
                  <a:pt x="68237" y="4660900"/>
                  <a:pt x="0" y="4592663"/>
                  <a:pt x="0" y="45084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4A6B8A">
              <a:alpha val="10196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14350" y="7222622"/>
            <a:ext cx="4902200" cy="1612900"/>
          </a:xfrm>
          <a:custGeom>
            <a:avLst/>
            <a:gdLst/>
            <a:ahLst/>
            <a:cxnLst/>
            <a:rect l="l" t="t" r="r" b="b"/>
            <a:pathLst>
              <a:path w="4902200" h="1612900">
                <a:moveTo>
                  <a:pt x="101597" y="0"/>
                </a:moveTo>
                <a:lnTo>
                  <a:pt x="4800603" y="0"/>
                </a:lnTo>
                <a:cubicBezTo>
                  <a:pt x="4856676" y="0"/>
                  <a:pt x="4902200" y="45524"/>
                  <a:pt x="4902200" y="101597"/>
                </a:cubicBezTo>
                <a:lnTo>
                  <a:pt x="4902200" y="1511303"/>
                </a:lnTo>
                <a:cubicBezTo>
                  <a:pt x="4902200" y="1567376"/>
                  <a:pt x="4856676" y="1612900"/>
                  <a:pt x="48006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799755" y="7432172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66750" y="7914772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3100" y="8321172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简单快速入门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78984" y="7222622"/>
            <a:ext cx="4902200" cy="1612900"/>
          </a:xfrm>
          <a:custGeom>
            <a:avLst/>
            <a:gdLst/>
            <a:ahLst/>
            <a:cxnLst/>
            <a:rect l="l" t="t" r="r" b="b"/>
            <a:pathLst>
              <a:path w="4902200" h="1612900">
                <a:moveTo>
                  <a:pt x="101597" y="0"/>
                </a:moveTo>
                <a:lnTo>
                  <a:pt x="4800603" y="0"/>
                </a:lnTo>
                <a:cubicBezTo>
                  <a:pt x="4856676" y="0"/>
                  <a:pt x="4902200" y="45524"/>
                  <a:pt x="4902200" y="101597"/>
                </a:cubicBezTo>
                <a:lnTo>
                  <a:pt x="4902200" y="1511303"/>
                </a:lnTo>
                <a:cubicBezTo>
                  <a:pt x="4902200" y="1567376"/>
                  <a:pt x="4856676" y="1612900"/>
                  <a:pt x="48006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964388" y="7432172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31384" y="7914772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37734" y="8321172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企业大数据平台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43617" y="7222622"/>
            <a:ext cx="4902200" cy="1612900"/>
          </a:xfrm>
          <a:custGeom>
            <a:avLst/>
            <a:gdLst/>
            <a:ahLst/>
            <a:cxnLst/>
            <a:rect l="l" t="t" r="r" b="b"/>
            <a:pathLst>
              <a:path w="4902200" h="1612900">
                <a:moveTo>
                  <a:pt x="101597" y="0"/>
                </a:moveTo>
                <a:lnTo>
                  <a:pt x="4800603" y="0"/>
                </a:lnTo>
                <a:cubicBezTo>
                  <a:pt x="4856676" y="0"/>
                  <a:pt x="4902200" y="45524"/>
                  <a:pt x="4902200" y="101597"/>
                </a:cubicBezTo>
                <a:lnTo>
                  <a:pt x="4902200" y="1511303"/>
                </a:lnTo>
                <a:cubicBezTo>
                  <a:pt x="4902200" y="1567376"/>
                  <a:pt x="4856676" y="1612900"/>
                  <a:pt x="4800603" y="1612900"/>
                </a:cubicBezTo>
                <a:lnTo>
                  <a:pt x="101597" y="1612900"/>
                </a:lnTo>
                <a:cubicBezTo>
                  <a:pt x="45524" y="1612900"/>
                  <a:pt x="0" y="1567376"/>
                  <a:pt x="0" y="1511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3081397" y="7432172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250031"/>
                </a:moveTo>
                <a:cubicBezTo>
                  <a:pt x="0" y="309190"/>
                  <a:pt x="47997" y="357188"/>
                  <a:pt x="107156" y="357188"/>
                </a:cubicBezTo>
                <a:lnTo>
                  <a:pt x="333375" y="357188"/>
                </a:lnTo>
                <a:cubicBezTo>
                  <a:pt x="385986" y="357188"/>
                  <a:pt x="428625" y="314548"/>
                  <a:pt x="428625" y="261938"/>
                </a:cubicBezTo>
                <a:cubicBezTo>
                  <a:pt x="428625" y="223540"/>
                  <a:pt x="405929" y="190426"/>
                  <a:pt x="373187" y="175394"/>
                </a:cubicBezTo>
                <a:cubicBezTo>
                  <a:pt x="378172" y="165646"/>
                  <a:pt x="381000" y="154558"/>
                  <a:pt x="381000" y="142875"/>
                </a:cubicBezTo>
                <a:cubicBezTo>
                  <a:pt x="381000" y="103436"/>
                  <a:pt x="349002" y="71438"/>
                  <a:pt x="309563" y="71438"/>
                </a:cubicBezTo>
                <a:cubicBezTo>
                  <a:pt x="296391" y="71438"/>
                  <a:pt x="284113" y="75009"/>
                  <a:pt x="273546" y="81186"/>
                </a:cubicBezTo>
                <a:cubicBezTo>
                  <a:pt x="255612" y="47104"/>
                  <a:pt x="219819" y="23812"/>
                  <a:pt x="178594" y="23812"/>
                </a:cubicBezTo>
                <a:cubicBezTo>
                  <a:pt x="119435" y="23812"/>
                  <a:pt x="71438" y="71810"/>
                  <a:pt x="71438" y="130969"/>
                </a:cubicBezTo>
                <a:cubicBezTo>
                  <a:pt x="71438" y="136922"/>
                  <a:pt x="71958" y="142801"/>
                  <a:pt x="72851" y="148456"/>
                </a:cubicBezTo>
                <a:cubicBezTo>
                  <a:pt x="30510" y="162744"/>
                  <a:pt x="0" y="202853"/>
                  <a:pt x="0" y="2500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0996017" y="7914772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002367" y="8321172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云原生未来趋势</a:t>
            </a:r>
            <a:endParaRPr lang="en-US" sz="1600" dirty="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A7B29A45-B5E9-41C2-413D-89DEBCF23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21744"/>
              </p:ext>
            </p:extLst>
          </p:nvPr>
        </p:nvGraphicFramePr>
        <p:xfrm>
          <a:off x="520700" y="1432426"/>
          <a:ext cx="15214600" cy="5575302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47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Standalone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YARN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架构特点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简单独立部署，Master-Worker 架构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 Hadoop 生态集成，ResourceManager-NodeManager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云原生，Pod 和 Service 概念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资源管理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 Master 管理资源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YARN ResourceManager 统一管理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 自动调度和扩缩容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小规模集群，快速原型验证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已有 Hadoop 集群，大数据平台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云原生环境，微服务架构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部署复杂度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资源利用率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非常高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有限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良好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容错能力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9478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3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生态集成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独立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Hadoop 生态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云原生生态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6B8A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84667" cy="423333"/>
          </a:xfrm>
          <a:custGeom>
            <a:avLst/>
            <a:gdLst/>
            <a:ahLst/>
            <a:cxnLst/>
            <a:rect l="l" t="t" r="r" b="b"/>
            <a:pathLst>
              <a:path w="84667" h="423333">
                <a:moveTo>
                  <a:pt x="0" y="0"/>
                </a:moveTo>
                <a:lnTo>
                  <a:pt x="84667" y="0"/>
                </a:lnTo>
                <a:lnTo>
                  <a:pt x="84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7333" y="423333"/>
            <a:ext cx="3238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GroupByTest 实战案例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85166" y="597957"/>
            <a:ext cx="3238500" cy="248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演示 Spark 作业的完整执行流程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972780"/>
            <a:ext cx="7556500" cy="6283854"/>
          </a:xfrm>
          <a:custGeom>
            <a:avLst/>
            <a:gdLst/>
            <a:ahLst/>
            <a:cxnLst/>
            <a:rect l="l" t="t" r="r" b="b"/>
            <a:pathLst>
              <a:path w="7556500" h="7598833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7471809"/>
                </a:lnTo>
                <a:cubicBezTo>
                  <a:pt x="7556500" y="7541962"/>
                  <a:pt x="7499629" y="7598833"/>
                  <a:pt x="7429475" y="7598833"/>
                </a:cubicBezTo>
                <a:lnTo>
                  <a:pt x="42333" y="7598833"/>
                </a:lnTo>
                <a:cubicBezTo>
                  <a:pt x="18953" y="7598833"/>
                  <a:pt x="0" y="7579880"/>
                  <a:pt x="0" y="7556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972780"/>
            <a:ext cx="45719" cy="6283854"/>
          </a:xfrm>
          <a:custGeom>
            <a:avLst/>
            <a:gdLst/>
            <a:ahLst/>
            <a:cxnLst/>
            <a:rect l="l" t="t" r="r" b="b"/>
            <a:pathLst>
              <a:path w="42333" h="7598833">
                <a:moveTo>
                  <a:pt x="42333" y="0"/>
                </a:moveTo>
                <a:lnTo>
                  <a:pt x="42333" y="0"/>
                </a:lnTo>
                <a:lnTo>
                  <a:pt x="42333" y="7598833"/>
                </a:lnTo>
                <a:lnTo>
                  <a:pt x="42333" y="7598833"/>
                </a:lnTo>
                <a:cubicBezTo>
                  <a:pt x="18953" y="7598833"/>
                  <a:pt x="0" y="7579880"/>
                  <a:pt x="0" y="7556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7333" y="1184446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GroupByTest 完整代码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1692446"/>
            <a:ext cx="7112000" cy="4294187"/>
          </a:xfrm>
          <a:custGeom>
            <a:avLst/>
            <a:gdLst/>
            <a:ahLst/>
            <a:cxnLst/>
            <a:rect l="l" t="t" r="r" b="b"/>
            <a:pathLst>
              <a:path w="7112000" h="5397500">
                <a:moveTo>
                  <a:pt x="42316" y="0"/>
                </a:moveTo>
                <a:lnTo>
                  <a:pt x="7069684" y="0"/>
                </a:lnTo>
                <a:cubicBezTo>
                  <a:pt x="7093054" y="0"/>
                  <a:pt x="7112000" y="18946"/>
                  <a:pt x="7112000" y="42316"/>
                </a:cubicBezTo>
                <a:lnTo>
                  <a:pt x="7112000" y="5355184"/>
                </a:lnTo>
                <a:cubicBezTo>
                  <a:pt x="7112000" y="5378554"/>
                  <a:pt x="7093054" y="5397500"/>
                  <a:pt x="7069684" y="5397500"/>
                </a:cubicBezTo>
                <a:lnTo>
                  <a:pt x="42316" y="5397500"/>
                </a:lnTo>
                <a:cubicBezTo>
                  <a:pt x="18946" y="5397500"/>
                  <a:pt x="0" y="5378554"/>
                  <a:pt x="0" y="5355184"/>
                </a:cubicBezTo>
                <a:lnTo>
                  <a:pt x="0" y="42316"/>
                </a:lnTo>
                <a:cubicBezTo>
                  <a:pt x="0" y="18961"/>
                  <a:pt x="18961" y="0"/>
                  <a:pt x="4231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6666" y="1893529"/>
            <a:ext cx="6773333" cy="394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GroupByTest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def main(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Array[String])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conf = new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SparkConf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setAppName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GroupBy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Test")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SparkContext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(conf)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创建包含重复数据的 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RDD</a:t>
            </a:r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= Array[(Int, Char)](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(1, 'a'), (2, 'b'), (3, 'c'), (4, 'd'),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(5, 'e'), (3, 'f'), (2, 'g'), (1, 'h')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pairs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sc.parallelize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(data, 3)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执行 </a:t>
            </a:r>
            <a:r>
              <a:rPr lang="en-US" altLang="zh-CN" sz="12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groupByKey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操作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groups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pairs.groupByKey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收集结果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("Result: " +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groups.collect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mkString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(", "))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sc.stop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0" name="Shape 8"/>
          <p:cNvSpPr/>
          <p:nvPr/>
        </p:nvSpPr>
        <p:spPr>
          <a:xfrm>
            <a:off x="668476" y="6059714"/>
            <a:ext cx="7112000" cy="1100667"/>
          </a:xfrm>
          <a:custGeom>
            <a:avLst/>
            <a:gdLst/>
            <a:ahLst/>
            <a:cxnLst/>
            <a:rect l="l" t="t" r="r" b="b"/>
            <a:pathLst>
              <a:path w="7112000" h="1100667">
                <a:moveTo>
                  <a:pt x="42332" y="0"/>
                </a:moveTo>
                <a:lnTo>
                  <a:pt x="7069668" y="0"/>
                </a:lnTo>
                <a:cubicBezTo>
                  <a:pt x="7093047" y="0"/>
                  <a:pt x="7112000" y="18953"/>
                  <a:pt x="7112000" y="42332"/>
                </a:cubicBezTo>
                <a:lnTo>
                  <a:pt x="7112000" y="1058335"/>
                </a:lnTo>
                <a:cubicBezTo>
                  <a:pt x="7112000" y="1081714"/>
                  <a:pt x="7093047" y="1100667"/>
                  <a:pt x="7069668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A6B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7810" y="6229047"/>
            <a:ext cx="685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预期输出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810" y="6583589"/>
            <a:ext cx="5515570" cy="38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 (1,CompactBuffer(a, h)), (2,CompactBuffer(b, g)), (3,CompactBuffer(c, f)), (4,CompactBuffer(d)), (5,CompactBuffer(e))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76167" y="972780"/>
            <a:ext cx="7556500" cy="6283854"/>
          </a:xfrm>
          <a:custGeom>
            <a:avLst/>
            <a:gdLst/>
            <a:ahLst/>
            <a:cxnLst/>
            <a:rect l="l" t="t" r="r" b="b"/>
            <a:pathLst>
              <a:path w="7556500" h="7598833">
                <a:moveTo>
                  <a:pt x="42333" y="0"/>
                </a:moveTo>
                <a:lnTo>
                  <a:pt x="7429475" y="0"/>
                </a:lnTo>
                <a:cubicBezTo>
                  <a:pt x="7499629" y="0"/>
                  <a:pt x="7556500" y="56871"/>
                  <a:pt x="7556500" y="127025"/>
                </a:cubicBezTo>
                <a:lnTo>
                  <a:pt x="7556500" y="7471809"/>
                </a:lnTo>
                <a:cubicBezTo>
                  <a:pt x="7556500" y="7541962"/>
                  <a:pt x="7499629" y="7598833"/>
                  <a:pt x="7429475" y="7598833"/>
                </a:cubicBezTo>
                <a:lnTo>
                  <a:pt x="42333" y="7598833"/>
                </a:lnTo>
                <a:cubicBezTo>
                  <a:pt x="18953" y="7598833"/>
                  <a:pt x="0" y="7579880"/>
                  <a:pt x="0" y="7556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76167" y="972780"/>
            <a:ext cx="45719" cy="6283854"/>
          </a:xfrm>
          <a:custGeom>
            <a:avLst/>
            <a:gdLst/>
            <a:ahLst/>
            <a:cxnLst/>
            <a:rect l="l" t="t" r="r" b="b"/>
            <a:pathLst>
              <a:path w="42333" h="7598833">
                <a:moveTo>
                  <a:pt x="42333" y="0"/>
                </a:moveTo>
                <a:lnTo>
                  <a:pt x="42333" y="0"/>
                </a:lnTo>
                <a:lnTo>
                  <a:pt x="42333" y="7598833"/>
                </a:lnTo>
                <a:lnTo>
                  <a:pt x="42333" y="7598833"/>
                </a:lnTo>
                <a:cubicBezTo>
                  <a:pt x="18953" y="7598833"/>
                  <a:pt x="0" y="7579880"/>
                  <a:pt x="0" y="7556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09000" y="1184446"/>
            <a:ext cx="723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执行流程详解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9000" y="169244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45012" y="1734779"/>
            <a:ext cx="14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4667" y="1692446"/>
            <a:ext cx="3365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 SparkContext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74667" y="2031113"/>
            <a:ext cx="335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创建 SparkContext 并连接到 Master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000" y="241211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30708" y="2454446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74667" y="2412113"/>
            <a:ext cx="3270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RDD 依赖图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74667" y="2750779"/>
            <a:ext cx="325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构建 RDD 依赖图：pairs → groups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9000" y="3131779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28476" y="3174113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4667" y="3131779"/>
            <a:ext cx="4413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划分 Stage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74667" y="3470446"/>
            <a:ext cx="440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DAGScheduler 分析发现需要 Shuffle，划分为两个 Stage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000" y="385144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28641" y="3893779"/>
            <a:ext cx="17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74667" y="3851446"/>
            <a:ext cx="4254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调度任务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74667" y="4190113"/>
            <a:ext cx="4243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TaskScheduler 调度 ShuffleMapTask 到 Executor 执行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9000" y="457111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27732" y="4613446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2C3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74667" y="4571113"/>
            <a:ext cx="4635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执行与收集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74667" y="4909779"/>
            <a:ext cx="462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 数据重新分布，调度 ResultTask，结果收集回 Driver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4500" y="7492113"/>
            <a:ext cx="4984750" cy="1344083"/>
          </a:xfrm>
          <a:custGeom>
            <a:avLst/>
            <a:gdLst/>
            <a:ahLst/>
            <a:cxnLst/>
            <a:rect l="l" t="t" r="r" b="b"/>
            <a:pathLst>
              <a:path w="4984750" h="1344083">
                <a:moveTo>
                  <a:pt x="84664" y="0"/>
                </a:moveTo>
                <a:lnTo>
                  <a:pt x="4900086" y="0"/>
                </a:lnTo>
                <a:cubicBezTo>
                  <a:pt x="4946845" y="0"/>
                  <a:pt x="4984750" y="37905"/>
                  <a:pt x="4984750" y="84664"/>
                </a:cubicBezTo>
                <a:lnTo>
                  <a:pt x="4984750" y="1259420"/>
                </a:lnTo>
                <a:cubicBezTo>
                  <a:pt x="4984750" y="1306178"/>
                  <a:pt x="4946845" y="1344083"/>
                  <a:pt x="4900086" y="1344083"/>
                </a:cubicBezTo>
                <a:lnTo>
                  <a:pt x="84664" y="1344083"/>
                </a:lnTo>
                <a:cubicBezTo>
                  <a:pt x="37905" y="1344083"/>
                  <a:pt x="0" y="1306178"/>
                  <a:pt x="0" y="1259420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780771" y="76667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0" y="49609"/>
                </a:moveTo>
                <a:cubicBezTo>
                  <a:pt x="0" y="33176"/>
                  <a:pt x="13333" y="19844"/>
                  <a:pt x="29766" y="19844"/>
                </a:cubicBezTo>
                <a:lnTo>
                  <a:pt x="89297" y="19844"/>
                </a:lnTo>
                <a:cubicBezTo>
                  <a:pt x="105730" y="19844"/>
                  <a:pt x="119062" y="33176"/>
                  <a:pt x="119062" y="49609"/>
                </a:cubicBezTo>
                <a:lnTo>
                  <a:pt x="119062" y="59531"/>
                </a:lnTo>
                <a:lnTo>
                  <a:pt x="198438" y="59531"/>
                </a:lnTo>
                <a:lnTo>
                  <a:pt x="198438" y="49609"/>
                </a:lnTo>
                <a:cubicBezTo>
                  <a:pt x="198438" y="33176"/>
                  <a:pt x="211770" y="19844"/>
                  <a:pt x="228203" y="19844"/>
                </a:cubicBezTo>
                <a:lnTo>
                  <a:pt x="287734" y="19844"/>
                </a:lnTo>
                <a:cubicBezTo>
                  <a:pt x="304167" y="19844"/>
                  <a:pt x="317500" y="33176"/>
                  <a:pt x="317500" y="49609"/>
                </a:cubicBezTo>
                <a:lnTo>
                  <a:pt x="317500" y="109141"/>
                </a:lnTo>
                <a:cubicBezTo>
                  <a:pt x="317500" y="125574"/>
                  <a:pt x="304167" y="138906"/>
                  <a:pt x="287734" y="138906"/>
                </a:cubicBezTo>
                <a:lnTo>
                  <a:pt x="228203" y="138906"/>
                </a:lnTo>
                <a:cubicBezTo>
                  <a:pt x="211770" y="138906"/>
                  <a:pt x="198438" y="125574"/>
                  <a:pt x="198438" y="109141"/>
                </a:cubicBezTo>
                <a:lnTo>
                  <a:pt x="198438" y="99219"/>
                </a:lnTo>
                <a:lnTo>
                  <a:pt x="119062" y="99219"/>
                </a:lnTo>
                <a:lnTo>
                  <a:pt x="119062" y="109141"/>
                </a:lnTo>
                <a:cubicBezTo>
                  <a:pt x="119062" y="113667"/>
                  <a:pt x="118008" y="118008"/>
                  <a:pt x="116210" y="121853"/>
                </a:cubicBezTo>
                <a:lnTo>
                  <a:pt x="158750" y="178594"/>
                </a:lnTo>
                <a:lnTo>
                  <a:pt x="208359" y="178594"/>
                </a:lnTo>
                <a:cubicBezTo>
                  <a:pt x="224792" y="178594"/>
                  <a:pt x="238125" y="191926"/>
                  <a:pt x="238125" y="208359"/>
                </a:cubicBezTo>
                <a:lnTo>
                  <a:pt x="238125" y="267891"/>
                </a:lnTo>
                <a:cubicBezTo>
                  <a:pt x="238125" y="284324"/>
                  <a:pt x="224792" y="297656"/>
                  <a:pt x="208359" y="297656"/>
                </a:cubicBezTo>
                <a:lnTo>
                  <a:pt x="148828" y="297656"/>
                </a:lnTo>
                <a:cubicBezTo>
                  <a:pt x="132395" y="297656"/>
                  <a:pt x="119062" y="284324"/>
                  <a:pt x="119062" y="267891"/>
                </a:cubicBezTo>
                <a:lnTo>
                  <a:pt x="119062" y="208359"/>
                </a:lnTo>
                <a:cubicBezTo>
                  <a:pt x="119062" y="203833"/>
                  <a:pt x="120117" y="199492"/>
                  <a:pt x="121915" y="195647"/>
                </a:cubicBezTo>
                <a:lnTo>
                  <a:pt x="79375" y="138906"/>
                </a:lnTo>
                <a:lnTo>
                  <a:pt x="29766" y="138906"/>
                </a:lnTo>
                <a:cubicBezTo>
                  <a:pt x="13333" y="138906"/>
                  <a:pt x="0" y="125574"/>
                  <a:pt x="0" y="109141"/>
                </a:cubicBezTo>
                <a:lnTo>
                  <a:pt x="0" y="4960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71500" y="8068905"/>
            <a:ext cx="473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 操作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6792" y="8407572"/>
            <a:ext cx="472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groupByKey 触发数据重分布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51500" y="7492113"/>
            <a:ext cx="4984750" cy="1344083"/>
          </a:xfrm>
          <a:custGeom>
            <a:avLst/>
            <a:gdLst/>
            <a:ahLst/>
            <a:cxnLst/>
            <a:rect l="l" t="t" r="r" b="b"/>
            <a:pathLst>
              <a:path w="4984750" h="1344083">
                <a:moveTo>
                  <a:pt x="84664" y="0"/>
                </a:moveTo>
                <a:lnTo>
                  <a:pt x="4900086" y="0"/>
                </a:lnTo>
                <a:cubicBezTo>
                  <a:pt x="4946845" y="0"/>
                  <a:pt x="4984750" y="37905"/>
                  <a:pt x="4984750" y="84664"/>
                </a:cubicBezTo>
                <a:lnTo>
                  <a:pt x="4984750" y="1259420"/>
                </a:lnTo>
                <a:cubicBezTo>
                  <a:pt x="4984750" y="1306178"/>
                  <a:pt x="4946845" y="1344083"/>
                  <a:pt x="4900086" y="1344083"/>
                </a:cubicBezTo>
                <a:lnTo>
                  <a:pt x="84664" y="1344083"/>
                </a:lnTo>
                <a:cubicBezTo>
                  <a:pt x="37905" y="1344083"/>
                  <a:pt x="0" y="1306178"/>
                  <a:pt x="0" y="1259420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987771" y="76667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44177" y="3225"/>
                </a:moveTo>
                <a:cubicBezTo>
                  <a:pt x="153417" y="-1054"/>
                  <a:pt x="164083" y="-1054"/>
                  <a:pt x="173323" y="3225"/>
                </a:cubicBezTo>
                <a:lnTo>
                  <a:pt x="308880" y="65856"/>
                </a:lnTo>
                <a:cubicBezTo>
                  <a:pt x="314151" y="68275"/>
                  <a:pt x="317500" y="73546"/>
                  <a:pt x="317500" y="79375"/>
                </a:cubicBezTo>
                <a:cubicBezTo>
                  <a:pt x="317500" y="85204"/>
                  <a:pt x="314151" y="90475"/>
                  <a:pt x="308880" y="92894"/>
                </a:cubicBezTo>
                <a:lnTo>
                  <a:pt x="173323" y="155525"/>
                </a:lnTo>
                <a:cubicBezTo>
                  <a:pt x="164083" y="159804"/>
                  <a:pt x="153417" y="159804"/>
                  <a:pt x="144177" y="155525"/>
                </a:cubicBezTo>
                <a:lnTo>
                  <a:pt x="8620" y="92894"/>
                </a:lnTo>
                <a:cubicBezTo>
                  <a:pt x="3349" y="90413"/>
                  <a:pt x="0" y="85142"/>
                  <a:pt x="0" y="79375"/>
                </a:cubicBezTo>
                <a:cubicBezTo>
                  <a:pt x="0" y="73608"/>
                  <a:pt x="3349" y="68275"/>
                  <a:pt x="8620" y="65856"/>
                </a:cubicBezTo>
                <a:lnTo>
                  <a:pt x="144177" y="3225"/>
                </a:lnTo>
                <a:close/>
                <a:moveTo>
                  <a:pt x="29828" y="135434"/>
                </a:moveTo>
                <a:lnTo>
                  <a:pt x="131713" y="182500"/>
                </a:lnTo>
                <a:cubicBezTo>
                  <a:pt x="148890" y="190438"/>
                  <a:pt x="168672" y="190438"/>
                  <a:pt x="185849" y="182500"/>
                </a:cubicBezTo>
                <a:lnTo>
                  <a:pt x="287734" y="135434"/>
                </a:lnTo>
                <a:lnTo>
                  <a:pt x="308880" y="145231"/>
                </a:lnTo>
                <a:cubicBezTo>
                  <a:pt x="314151" y="147650"/>
                  <a:pt x="317500" y="152921"/>
                  <a:pt x="317500" y="158750"/>
                </a:cubicBezTo>
                <a:cubicBezTo>
                  <a:pt x="317500" y="164579"/>
                  <a:pt x="314151" y="169850"/>
                  <a:pt x="308880" y="172269"/>
                </a:cubicBezTo>
                <a:lnTo>
                  <a:pt x="173323" y="234900"/>
                </a:lnTo>
                <a:cubicBezTo>
                  <a:pt x="164083" y="239179"/>
                  <a:pt x="153417" y="239179"/>
                  <a:pt x="144177" y="234900"/>
                </a:cubicBezTo>
                <a:lnTo>
                  <a:pt x="8620" y="172269"/>
                </a:lnTo>
                <a:cubicBezTo>
                  <a:pt x="3349" y="169788"/>
                  <a:pt x="0" y="164517"/>
                  <a:pt x="0" y="158750"/>
                </a:cubicBezTo>
                <a:cubicBezTo>
                  <a:pt x="0" y="152983"/>
                  <a:pt x="3349" y="147650"/>
                  <a:pt x="8620" y="145231"/>
                </a:cubicBezTo>
                <a:lnTo>
                  <a:pt x="29766" y="135434"/>
                </a:lnTo>
                <a:close/>
                <a:moveTo>
                  <a:pt x="8620" y="224606"/>
                </a:moveTo>
                <a:lnTo>
                  <a:pt x="29766" y="214809"/>
                </a:lnTo>
                <a:lnTo>
                  <a:pt x="131651" y="261875"/>
                </a:lnTo>
                <a:cubicBezTo>
                  <a:pt x="148828" y="269813"/>
                  <a:pt x="168610" y="269813"/>
                  <a:pt x="185787" y="261875"/>
                </a:cubicBezTo>
                <a:lnTo>
                  <a:pt x="287672" y="214809"/>
                </a:lnTo>
                <a:lnTo>
                  <a:pt x="308818" y="224606"/>
                </a:lnTo>
                <a:cubicBezTo>
                  <a:pt x="314089" y="227025"/>
                  <a:pt x="317438" y="232296"/>
                  <a:pt x="317438" y="238125"/>
                </a:cubicBezTo>
                <a:cubicBezTo>
                  <a:pt x="317438" y="243954"/>
                  <a:pt x="314089" y="249225"/>
                  <a:pt x="308818" y="251644"/>
                </a:cubicBezTo>
                <a:lnTo>
                  <a:pt x="173261" y="314275"/>
                </a:lnTo>
                <a:cubicBezTo>
                  <a:pt x="164021" y="318554"/>
                  <a:pt x="153355" y="318554"/>
                  <a:pt x="144115" y="314275"/>
                </a:cubicBezTo>
                <a:lnTo>
                  <a:pt x="8620" y="251644"/>
                </a:lnTo>
                <a:cubicBezTo>
                  <a:pt x="3349" y="249163"/>
                  <a:pt x="0" y="243892"/>
                  <a:pt x="0" y="238125"/>
                </a:cubicBezTo>
                <a:cubicBezTo>
                  <a:pt x="0" y="232358"/>
                  <a:pt x="3349" y="227025"/>
                  <a:pt x="8620" y="22460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778500" y="8068905"/>
            <a:ext cx="473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划分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83792" y="8407572"/>
            <a:ext cx="472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根据依赖关系划分执行阶段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58500" y="7492113"/>
            <a:ext cx="4984750" cy="1344083"/>
          </a:xfrm>
          <a:custGeom>
            <a:avLst/>
            <a:gdLst/>
            <a:ahLst/>
            <a:cxnLst/>
            <a:rect l="l" t="t" r="r" b="b"/>
            <a:pathLst>
              <a:path w="4984750" h="1344083">
                <a:moveTo>
                  <a:pt x="84664" y="0"/>
                </a:moveTo>
                <a:lnTo>
                  <a:pt x="4900086" y="0"/>
                </a:lnTo>
                <a:cubicBezTo>
                  <a:pt x="4946845" y="0"/>
                  <a:pt x="4984750" y="37905"/>
                  <a:pt x="4984750" y="84664"/>
                </a:cubicBezTo>
                <a:lnTo>
                  <a:pt x="4984750" y="1259420"/>
                </a:lnTo>
                <a:cubicBezTo>
                  <a:pt x="4984750" y="1306178"/>
                  <a:pt x="4946845" y="1344083"/>
                  <a:pt x="4900086" y="1344083"/>
                </a:cubicBezTo>
                <a:lnTo>
                  <a:pt x="84664" y="1344083"/>
                </a:lnTo>
                <a:cubicBezTo>
                  <a:pt x="37905" y="1344083"/>
                  <a:pt x="0" y="1306178"/>
                  <a:pt x="0" y="1259420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3194771" y="76667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82972" y="22510"/>
                </a:moveTo>
                <a:cubicBezTo>
                  <a:pt x="89731" y="27223"/>
                  <a:pt x="91343" y="36525"/>
                  <a:pt x="86630" y="43222"/>
                </a:cubicBezTo>
                <a:lnTo>
                  <a:pt x="51904" y="92832"/>
                </a:lnTo>
                <a:cubicBezTo>
                  <a:pt x="49361" y="96428"/>
                  <a:pt x="45393" y="98723"/>
                  <a:pt x="40990" y="99095"/>
                </a:cubicBezTo>
                <a:cubicBezTo>
                  <a:pt x="36587" y="99467"/>
                  <a:pt x="32246" y="97979"/>
                  <a:pt x="29146" y="94878"/>
                </a:cubicBezTo>
                <a:lnTo>
                  <a:pt x="4341" y="70073"/>
                </a:lnTo>
                <a:cubicBezTo>
                  <a:pt x="-1426" y="64244"/>
                  <a:pt x="-1426" y="54818"/>
                  <a:pt x="4341" y="48989"/>
                </a:cubicBezTo>
                <a:cubicBezTo>
                  <a:pt x="10108" y="43160"/>
                  <a:pt x="19596" y="43222"/>
                  <a:pt x="25425" y="48989"/>
                </a:cubicBezTo>
                <a:lnTo>
                  <a:pt x="37703" y="61268"/>
                </a:lnTo>
                <a:lnTo>
                  <a:pt x="62260" y="26169"/>
                </a:lnTo>
                <a:cubicBezTo>
                  <a:pt x="66973" y="19410"/>
                  <a:pt x="76274" y="17797"/>
                  <a:pt x="82972" y="22510"/>
                </a:cubicBezTo>
                <a:close/>
                <a:moveTo>
                  <a:pt x="82972" y="121729"/>
                </a:moveTo>
                <a:cubicBezTo>
                  <a:pt x="89731" y="126442"/>
                  <a:pt x="91343" y="135744"/>
                  <a:pt x="86630" y="142441"/>
                </a:cubicBezTo>
                <a:lnTo>
                  <a:pt x="51904" y="192050"/>
                </a:lnTo>
                <a:cubicBezTo>
                  <a:pt x="49361" y="195647"/>
                  <a:pt x="45393" y="197941"/>
                  <a:pt x="40990" y="198313"/>
                </a:cubicBezTo>
                <a:cubicBezTo>
                  <a:pt x="36587" y="198686"/>
                  <a:pt x="32246" y="197197"/>
                  <a:pt x="29146" y="194097"/>
                </a:cubicBezTo>
                <a:lnTo>
                  <a:pt x="4341" y="169292"/>
                </a:lnTo>
                <a:cubicBezTo>
                  <a:pt x="-1488" y="163463"/>
                  <a:pt x="-1488" y="154037"/>
                  <a:pt x="4341" y="148270"/>
                </a:cubicBezTo>
                <a:cubicBezTo>
                  <a:pt x="10170" y="142503"/>
                  <a:pt x="19596" y="142441"/>
                  <a:pt x="25363" y="148270"/>
                </a:cubicBezTo>
                <a:lnTo>
                  <a:pt x="37641" y="160548"/>
                </a:lnTo>
                <a:lnTo>
                  <a:pt x="62198" y="125450"/>
                </a:lnTo>
                <a:cubicBezTo>
                  <a:pt x="66911" y="118690"/>
                  <a:pt x="76212" y="117078"/>
                  <a:pt x="82910" y="121791"/>
                </a:cubicBezTo>
                <a:close/>
                <a:moveTo>
                  <a:pt x="138906" y="59531"/>
                </a:moveTo>
                <a:cubicBezTo>
                  <a:pt x="138906" y="48555"/>
                  <a:pt x="147774" y="39688"/>
                  <a:pt x="158750" y="39688"/>
                </a:cubicBezTo>
                <a:lnTo>
                  <a:pt x="297656" y="39688"/>
                </a:lnTo>
                <a:cubicBezTo>
                  <a:pt x="308632" y="39688"/>
                  <a:pt x="317500" y="48555"/>
                  <a:pt x="317500" y="59531"/>
                </a:cubicBezTo>
                <a:cubicBezTo>
                  <a:pt x="317500" y="70507"/>
                  <a:pt x="308632" y="79375"/>
                  <a:pt x="297656" y="79375"/>
                </a:cubicBezTo>
                <a:lnTo>
                  <a:pt x="158750" y="79375"/>
                </a:lnTo>
                <a:cubicBezTo>
                  <a:pt x="147774" y="79375"/>
                  <a:pt x="138906" y="70507"/>
                  <a:pt x="138906" y="59531"/>
                </a:cubicBezTo>
                <a:close/>
                <a:moveTo>
                  <a:pt x="138906" y="158750"/>
                </a:moveTo>
                <a:cubicBezTo>
                  <a:pt x="138906" y="147774"/>
                  <a:pt x="147774" y="138906"/>
                  <a:pt x="158750" y="138906"/>
                </a:cubicBezTo>
                <a:lnTo>
                  <a:pt x="297656" y="138906"/>
                </a:lnTo>
                <a:cubicBezTo>
                  <a:pt x="308632" y="138906"/>
                  <a:pt x="317500" y="147774"/>
                  <a:pt x="317500" y="158750"/>
                </a:cubicBezTo>
                <a:cubicBezTo>
                  <a:pt x="317500" y="169726"/>
                  <a:pt x="308632" y="178594"/>
                  <a:pt x="297656" y="178594"/>
                </a:cubicBezTo>
                <a:lnTo>
                  <a:pt x="158750" y="178594"/>
                </a:lnTo>
                <a:cubicBezTo>
                  <a:pt x="147774" y="178594"/>
                  <a:pt x="138906" y="169726"/>
                  <a:pt x="138906" y="158750"/>
                </a:cubicBezTo>
                <a:close/>
                <a:moveTo>
                  <a:pt x="99219" y="257969"/>
                </a:moveTo>
                <a:cubicBezTo>
                  <a:pt x="99219" y="246993"/>
                  <a:pt x="108086" y="238125"/>
                  <a:pt x="119062" y="238125"/>
                </a:cubicBezTo>
                <a:lnTo>
                  <a:pt x="297656" y="238125"/>
                </a:lnTo>
                <a:cubicBezTo>
                  <a:pt x="308632" y="238125"/>
                  <a:pt x="317500" y="246993"/>
                  <a:pt x="317500" y="257969"/>
                </a:cubicBezTo>
                <a:cubicBezTo>
                  <a:pt x="317500" y="268945"/>
                  <a:pt x="308632" y="277813"/>
                  <a:pt x="297656" y="277813"/>
                </a:cubicBezTo>
                <a:lnTo>
                  <a:pt x="119062" y="277813"/>
                </a:lnTo>
                <a:cubicBezTo>
                  <a:pt x="108086" y="277813"/>
                  <a:pt x="99219" y="268945"/>
                  <a:pt x="99219" y="257969"/>
                </a:cubicBezTo>
                <a:close/>
                <a:moveTo>
                  <a:pt x="39688" y="233164"/>
                </a:moveTo>
                <a:cubicBezTo>
                  <a:pt x="53378" y="233164"/>
                  <a:pt x="64492" y="244279"/>
                  <a:pt x="64492" y="257969"/>
                </a:cubicBezTo>
                <a:cubicBezTo>
                  <a:pt x="64492" y="271659"/>
                  <a:pt x="53378" y="282773"/>
                  <a:pt x="39688" y="282773"/>
                </a:cubicBezTo>
                <a:cubicBezTo>
                  <a:pt x="25997" y="282773"/>
                  <a:pt x="14883" y="271659"/>
                  <a:pt x="14883" y="257969"/>
                </a:cubicBezTo>
                <a:cubicBezTo>
                  <a:pt x="14883" y="244279"/>
                  <a:pt x="25997" y="233164"/>
                  <a:pt x="39688" y="23316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985500" y="8068905"/>
            <a:ext cx="473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90792" y="8407572"/>
            <a:ext cx="472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 在集群中并行执行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468810" y="972782"/>
            <a:ext cx="15669987" cy="87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537" b="1" dirty="0">
                <a:solidFill>
                  <a:srgbClr val="E0E2E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8810" y="2133087"/>
            <a:ext cx="2250290" cy="0"/>
          </a:xfrm>
          <a:custGeom>
            <a:avLst/>
            <a:gdLst/>
            <a:ahLst/>
            <a:cxnLst/>
            <a:rect l="l" t="t" r="r" b="b"/>
            <a:pathLst>
              <a:path w="2250290">
                <a:moveTo>
                  <a:pt x="0" y="0"/>
                </a:moveTo>
                <a:lnTo>
                  <a:pt x="2250290" y="0"/>
                </a:lnTo>
                <a:lnTo>
                  <a:pt x="225029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74671" y="2513996"/>
            <a:ext cx="7500966" cy="1828360"/>
          </a:xfrm>
          <a:custGeom>
            <a:avLst/>
            <a:gdLst/>
            <a:ahLst/>
            <a:cxnLst/>
            <a:rect l="l" t="t" r="r" b="b"/>
            <a:pathLst>
              <a:path w="7500966" h="1828360">
                <a:moveTo>
                  <a:pt x="140637" y="0"/>
                </a:moveTo>
                <a:lnTo>
                  <a:pt x="7360329" y="0"/>
                </a:lnTo>
                <a:cubicBezTo>
                  <a:pt x="7438001" y="0"/>
                  <a:pt x="7500966" y="62966"/>
                  <a:pt x="7500966" y="140637"/>
                </a:cubicBezTo>
                <a:lnTo>
                  <a:pt x="7500966" y="1687723"/>
                </a:lnTo>
                <a:cubicBezTo>
                  <a:pt x="7500966" y="1765395"/>
                  <a:pt x="7438001" y="1828360"/>
                  <a:pt x="7360329" y="1828360"/>
                </a:cubicBezTo>
                <a:lnTo>
                  <a:pt x="140637" y="1828360"/>
                </a:lnTo>
                <a:cubicBezTo>
                  <a:pt x="62966" y="1828360"/>
                  <a:pt x="0" y="1765395"/>
                  <a:pt x="0" y="1687723"/>
                </a:cubicBezTo>
                <a:lnTo>
                  <a:pt x="0" y="140637"/>
                </a:lnTo>
                <a:cubicBezTo>
                  <a:pt x="0" y="63018"/>
                  <a:pt x="63018" y="0"/>
                  <a:pt x="14063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08698" y="2812862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59666" y="3571"/>
                </a:moveTo>
                <a:cubicBezTo>
                  <a:pt x="169898" y="-1167"/>
                  <a:pt x="181710" y="-1167"/>
                  <a:pt x="191942" y="3571"/>
                </a:cubicBezTo>
                <a:lnTo>
                  <a:pt x="342062" y="72931"/>
                </a:lnTo>
                <a:cubicBezTo>
                  <a:pt x="347899" y="75609"/>
                  <a:pt x="351608" y="81447"/>
                  <a:pt x="351608" y="87902"/>
                </a:cubicBezTo>
                <a:cubicBezTo>
                  <a:pt x="351608" y="94357"/>
                  <a:pt x="347899" y="100194"/>
                  <a:pt x="342062" y="102873"/>
                </a:cubicBezTo>
                <a:lnTo>
                  <a:pt x="191942" y="172233"/>
                </a:lnTo>
                <a:cubicBezTo>
                  <a:pt x="181710" y="176971"/>
                  <a:pt x="169898" y="176971"/>
                  <a:pt x="159666" y="172233"/>
                </a:cubicBezTo>
                <a:lnTo>
                  <a:pt x="9546" y="102873"/>
                </a:lnTo>
                <a:cubicBezTo>
                  <a:pt x="3708" y="100126"/>
                  <a:pt x="0" y="94289"/>
                  <a:pt x="0" y="87902"/>
                </a:cubicBezTo>
                <a:cubicBezTo>
                  <a:pt x="0" y="81515"/>
                  <a:pt x="3708" y="75609"/>
                  <a:pt x="9546" y="72931"/>
                </a:cubicBezTo>
                <a:lnTo>
                  <a:pt x="159666" y="3571"/>
                </a:lnTo>
                <a:close/>
                <a:moveTo>
                  <a:pt x="33032" y="149983"/>
                </a:moveTo>
                <a:lnTo>
                  <a:pt x="145862" y="202106"/>
                </a:lnTo>
                <a:cubicBezTo>
                  <a:pt x="164885" y="210896"/>
                  <a:pt x="186792" y="210896"/>
                  <a:pt x="205814" y="202106"/>
                </a:cubicBezTo>
                <a:lnTo>
                  <a:pt x="318645" y="149983"/>
                </a:lnTo>
                <a:lnTo>
                  <a:pt x="342062" y="160833"/>
                </a:lnTo>
                <a:cubicBezTo>
                  <a:pt x="347899" y="163511"/>
                  <a:pt x="351608" y="169349"/>
                  <a:pt x="351608" y="175804"/>
                </a:cubicBezTo>
                <a:cubicBezTo>
                  <a:pt x="351608" y="182259"/>
                  <a:pt x="347899" y="188096"/>
                  <a:pt x="342062" y="190775"/>
                </a:cubicBezTo>
                <a:lnTo>
                  <a:pt x="191942" y="260135"/>
                </a:lnTo>
                <a:cubicBezTo>
                  <a:pt x="181710" y="264873"/>
                  <a:pt x="169898" y="264873"/>
                  <a:pt x="159666" y="260135"/>
                </a:cubicBezTo>
                <a:lnTo>
                  <a:pt x="9546" y="190775"/>
                </a:lnTo>
                <a:cubicBezTo>
                  <a:pt x="3708" y="188028"/>
                  <a:pt x="0" y="182191"/>
                  <a:pt x="0" y="175804"/>
                </a:cubicBezTo>
                <a:cubicBezTo>
                  <a:pt x="0" y="169417"/>
                  <a:pt x="3708" y="163511"/>
                  <a:pt x="9546" y="160833"/>
                </a:cubicBezTo>
                <a:lnTo>
                  <a:pt x="32963" y="149983"/>
                </a:lnTo>
                <a:close/>
                <a:moveTo>
                  <a:pt x="9546" y="248735"/>
                </a:moveTo>
                <a:lnTo>
                  <a:pt x="32963" y="237885"/>
                </a:lnTo>
                <a:lnTo>
                  <a:pt x="145794" y="290008"/>
                </a:lnTo>
                <a:cubicBezTo>
                  <a:pt x="164816" y="298798"/>
                  <a:pt x="186723" y="298798"/>
                  <a:pt x="205745" y="290008"/>
                </a:cubicBezTo>
                <a:lnTo>
                  <a:pt x="318576" y="237885"/>
                </a:lnTo>
                <a:lnTo>
                  <a:pt x="341994" y="248735"/>
                </a:lnTo>
                <a:cubicBezTo>
                  <a:pt x="347831" y="251413"/>
                  <a:pt x="351539" y="257251"/>
                  <a:pt x="351539" y="263706"/>
                </a:cubicBezTo>
                <a:cubicBezTo>
                  <a:pt x="351539" y="270161"/>
                  <a:pt x="347831" y="275998"/>
                  <a:pt x="341994" y="278677"/>
                </a:cubicBezTo>
                <a:lnTo>
                  <a:pt x="191873" y="348037"/>
                </a:lnTo>
                <a:cubicBezTo>
                  <a:pt x="181641" y="352775"/>
                  <a:pt x="169829" y="352775"/>
                  <a:pt x="159597" y="348037"/>
                </a:cubicBezTo>
                <a:lnTo>
                  <a:pt x="9546" y="278677"/>
                </a:lnTo>
                <a:cubicBezTo>
                  <a:pt x="3708" y="275930"/>
                  <a:pt x="0" y="270092"/>
                  <a:pt x="0" y="263706"/>
                </a:cubicBezTo>
                <a:cubicBezTo>
                  <a:pt x="0" y="257319"/>
                  <a:pt x="3708" y="251413"/>
                  <a:pt x="9546" y="24873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341970" y="2801142"/>
            <a:ext cx="1945563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核心抽象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1817" y="3363714"/>
            <a:ext cx="7032156" cy="69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是 Spark 的核心抽象，通过</a:t>
            </a:r>
            <a:r>
              <a:rPr lang="en-US" sz="16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弹性、分布式、不可变</a:t>
            </a: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的特性，结合血缘关系实现高效容错，为分布式计算提供坚实基础。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72489" y="2513996"/>
            <a:ext cx="7500966" cy="1828360"/>
          </a:xfrm>
          <a:custGeom>
            <a:avLst/>
            <a:gdLst/>
            <a:ahLst/>
            <a:cxnLst/>
            <a:rect l="l" t="t" r="r" b="b"/>
            <a:pathLst>
              <a:path w="7500966" h="1828360">
                <a:moveTo>
                  <a:pt x="140637" y="0"/>
                </a:moveTo>
                <a:lnTo>
                  <a:pt x="7360329" y="0"/>
                </a:lnTo>
                <a:cubicBezTo>
                  <a:pt x="7438001" y="0"/>
                  <a:pt x="7500966" y="62966"/>
                  <a:pt x="7500966" y="140637"/>
                </a:cubicBezTo>
                <a:lnTo>
                  <a:pt x="7500966" y="1687723"/>
                </a:lnTo>
                <a:cubicBezTo>
                  <a:pt x="7500966" y="1765395"/>
                  <a:pt x="7438001" y="1828360"/>
                  <a:pt x="7360329" y="1828360"/>
                </a:cubicBezTo>
                <a:lnTo>
                  <a:pt x="140637" y="1828360"/>
                </a:lnTo>
                <a:cubicBezTo>
                  <a:pt x="62966" y="1828360"/>
                  <a:pt x="0" y="1765395"/>
                  <a:pt x="0" y="1687723"/>
                </a:cubicBezTo>
                <a:lnTo>
                  <a:pt x="0" y="140637"/>
                </a:lnTo>
                <a:cubicBezTo>
                  <a:pt x="0" y="63018"/>
                  <a:pt x="63018" y="0"/>
                  <a:pt x="14063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606516" y="2812862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43951" y="43951"/>
                </a:moveTo>
                <a:cubicBezTo>
                  <a:pt x="19709" y="43951"/>
                  <a:pt x="0" y="63660"/>
                  <a:pt x="0" y="87902"/>
                </a:cubicBezTo>
                <a:lnTo>
                  <a:pt x="0" y="92984"/>
                </a:lnTo>
                <a:cubicBezTo>
                  <a:pt x="0" y="97654"/>
                  <a:pt x="3022" y="101637"/>
                  <a:pt x="6936" y="104178"/>
                </a:cubicBezTo>
                <a:cubicBezTo>
                  <a:pt x="16001" y="110083"/>
                  <a:pt x="21975" y="120247"/>
                  <a:pt x="21975" y="131853"/>
                </a:cubicBezTo>
                <a:cubicBezTo>
                  <a:pt x="21975" y="143459"/>
                  <a:pt x="16001" y="153622"/>
                  <a:pt x="6936" y="159528"/>
                </a:cubicBezTo>
                <a:cubicBezTo>
                  <a:pt x="3022" y="162069"/>
                  <a:pt x="0" y="166052"/>
                  <a:pt x="0" y="170722"/>
                </a:cubicBezTo>
                <a:lnTo>
                  <a:pt x="0" y="208767"/>
                </a:lnTo>
                <a:lnTo>
                  <a:pt x="351608" y="208767"/>
                </a:lnTo>
                <a:lnTo>
                  <a:pt x="351608" y="170722"/>
                </a:lnTo>
                <a:cubicBezTo>
                  <a:pt x="351608" y="166052"/>
                  <a:pt x="348586" y="162069"/>
                  <a:pt x="344672" y="159528"/>
                </a:cubicBezTo>
                <a:cubicBezTo>
                  <a:pt x="335607" y="153622"/>
                  <a:pt x="329632" y="143459"/>
                  <a:pt x="329632" y="131853"/>
                </a:cubicBezTo>
                <a:cubicBezTo>
                  <a:pt x="329632" y="120247"/>
                  <a:pt x="335607" y="110083"/>
                  <a:pt x="344672" y="104178"/>
                </a:cubicBezTo>
                <a:cubicBezTo>
                  <a:pt x="348586" y="101637"/>
                  <a:pt x="351608" y="97654"/>
                  <a:pt x="351608" y="92984"/>
                </a:cubicBezTo>
                <a:lnTo>
                  <a:pt x="351608" y="87902"/>
                </a:lnTo>
                <a:cubicBezTo>
                  <a:pt x="351608" y="63660"/>
                  <a:pt x="331899" y="43951"/>
                  <a:pt x="307657" y="43951"/>
                </a:cubicBezTo>
                <a:lnTo>
                  <a:pt x="43951" y="43951"/>
                </a:lnTo>
                <a:close/>
                <a:moveTo>
                  <a:pt x="351608" y="285681"/>
                </a:moveTo>
                <a:lnTo>
                  <a:pt x="351608" y="241730"/>
                </a:lnTo>
                <a:lnTo>
                  <a:pt x="0" y="241730"/>
                </a:lnTo>
                <a:lnTo>
                  <a:pt x="0" y="285681"/>
                </a:lnTo>
                <a:cubicBezTo>
                  <a:pt x="0" y="297837"/>
                  <a:pt x="9820" y="307657"/>
                  <a:pt x="21975" y="307657"/>
                </a:cubicBezTo>
                <a:lnTo>
                  <a:pt x="65926" y="307657"/>
                </a:lnTo>
                <a:lnTo>
                  <a:pt x="65926" y="291175"/>
                </a:lnTo>
                <a:cubicBezTo>
                  <a:pt x="65926" y="282042"/>
                  <a:pt x="73275" y="274694"/>
                  <a:pt x="82408" y="274694"/>
                </a:cubicBezTo>
                <a:cubicBezTo>
                  <a:pt x="91542" y="274694"/>
                  <a:pt x="98890" y="282042"/>
                  <a:pt x="98890" y="291175"/>
                </a:cubicBezTo>
                <a:lnTo>
                  <a:pt x="98890" y="307657"/>
                </a:lnTo>
                <a:lnTo>
                  <a:pt x="159322" y="307657"/>
                </a:lnTo>
                <a:lnTo>
                  <a:pt x="159322" y="291175"/>
                </a:lnTo>
                <a:cubicBezTo>
                  <a:pt x="159322" y="282042"/>
                  <a:pt x="166670" y="274694"/>
                  <a:pt x="175804" y="274694"/>
                </a:cubicBezTo>
                <a:cubicBezTo>
                  <a:pt x="184937" y="274694"/>
                  <a:pt x="192286" y="282042"/>
                  <a:pt x="192286" y="291175"/>
                </a:cubicBezTo>
                <a:lnTo>
                  <a:pt x="192286" y="307657"/>
                </a:lnTo>
                <a:lnTo>
                  <a:pt x="252718" y="307657"/>
                </a:lnTo>
                <a:lnTo>
                  <a:pt x="252718" y="291175"/>
                </a:lnTo>
                <a:cubicBezTo>
                  <a:pt x="252718" y="282042"/>
                  <a:pt x="260066" y="274694"/>
                  <a:pt x="269200" y="274694"/>
                </a:cubicBezTo>
                <a:cubicBezTo>
                  <a:pt x="278333" y="274694"/>
                  <a:pt x="285681" y="282042"/>
                  <a:pt x="285681" y="291175"/>
                </a:cubicBezTo>
                <a:lnTo>
                  <a:pt x="285681" y="307657"/>
                </a:lnTo>
                <a:lnTo>
                  <a:pt x="329632" y="307657"/>
                </a:lnTo>
                <a:cubicBezTo>
                  <a:pt x="341787" y="307657"/>
                  <a:pt x="351608" y="297837"/>
                  <a:pt x="351608" y="285681"/>
                </a:cubicBezTo>
                <a:close/>
                <a:moveTo>
                  <a:pt x="109877" y="109877"/>
                </a:moveTo>
                <a:lnTo>
                  <a:pt x="109877" y="153828"/>
                </a:lnTo>
                <a:cubicBezTo>
                  <a:pt x="109877" y="165984"/>
                  <a:pt x="100057" y="175804"/>
                  <a:pt x="87902" y="175804"/>
                </a:cubicBezTo>
                <a:cubicBezTo>
                  <a:pt x="75747" y="175804"/>
                  <a:pt x="65926" y="165984"/>
                  <a:pt x="65926" y="153828"/>
                </a:cubicBezTo>
                <a:lnTo>
                  <a:pt x="65926" y="109877"/>
                </a:lnTo>
                <a:cubicBezTo>
                  <a:pt x="65926" y="97722"/>
                  <a:pt x="75747" y="87902"/>
                  <a:pt x="87902" y="87902"/>
                </a:cubicBezTo>
                <a:cubicBezTo>
                  <a:pt x="100057" y="87902"/>
                  <a:pt x="109877" y="97722"/>
                  <a:pt x="109877" y="109877"/>
                </a:cubicBezTo>
                <a:close/>
                <a:moveTo>
                  <a:pt x="197779" y="109877"/>
                </a:moveTo>
                <a:lnTo>
                  <a:pt x="197779" y="153828"/>
                </a:lnTo>
                <a:cubicBezTo>
                  <a:pt x="197779" y="165984"/>
                  <a:pt x="187959" y="175804"/>
                  <a:pt x="175804" y="175804"/>
                </a:cubicBezTo>
                <a:cubicBezTo>
                  <a:pt x="163649" y="175804"/>
                  <a:pt x="153828" y="165984"/>
                  <a:pt x="153828" y="153828"/>
                </a:cubicBezTo>
                <a:lnTo>
                  <a:pt x="153828" y="109877"/>
                </a:lnTo>
                <a:cubicBezTo>
                  <a:pt x="153828" y="97722"/>
                  <a:pt x="163649" y="87902"/>
                  <a:pt x="175804" y="87902"/>
                </a:cubicBezTo>
                <a:cubicBezTo>
                  <a:pt x="187959" y="87902"/>
                  <a:pt x="197779" y="97722"/>
                  <a:pt x="197779" y="109877"/>
                </a:cubicBezTo>
                <a:close/>
                <a:moveTo>
                  <a:pt x="285681" y="109877"/>
                </a:moveTo>
                <a:lnTo>
                  <a:pt x="285681" y="153828"/>
                </a:lnTo>
                <a:cubicBezTo>
                  <a:pt x="285681" y="165984"/>
                  <a:pt x="275861" y="175804"/>
                  <a:pt x="263706" y="175804"/>
                </a:cubicBezTo>
                <a:cubicBezTo>
                  <a:pt x="251551" y="175804"/>
                  <a:pt x="241730" y="165984"/>
                  <a:pt x="241730" y="153828"/>
                </a:cubicBezTo>
                <a:lnTo>
                  <a:pt x="241730" y="109877"/>
                </a:lnTo>
                <a:cubicBezTo>
                  <a:pt x="241730" y="97722"/>
                  <a:pt x="251551" y="87902"/>
                  <a:pt x="263706" y="87902"/>
                </a:cubicBezTo>
                <a:cubicBezTo>
                  <a:pt x="275861" y="87902"/>
                  <a:pt x="285681" y="97722"/>
                  <a:pt x="285681" y="109877"/>
                </a:cubicBez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139788" y="2801142"/>
            <a:ext cx="1828360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内存计算优势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9635" y="3363714"/>
            <a:ext cx="7032156" cy="69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相比传统 MapReduce，Spark 的</a:t>
            </a:r>
            <a:r>
              <a:rPr lang="en-US" sz="16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内存计算</a:t>
            </a: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带来 10-100 倍的性能提升，特别适合迭代算法和交互式查询场景。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4671" y="4629503"/>
            <a:ext cx="7500966" cy="1828360"/>
          </a:xfrm>
          <a:custGeom>
            <a:avLst/>
            <a:gdLst/>
            <a:ahLst/>
            <a:cxnLst/>
            <a:rect l="l" t="t" r="r" b="b"/>
            <a:pathLst>
              <a:path w="7500966" h="1828360">
                <a:moveTo>
                  <a:pt x="140637" y="0"/>
                </a:moveTo>
                <a:lnTo>
                  <a:pt x="7360329" y="0"/>
                </a:lnTo>
                <a:cubicBezTo>
                  <a:pt x="7438001" y="0"/>
                  <a:pt x="7500966" y="62966"/>
                  <a:pt x="7500966" y="140637"/>
                </a:cubicBezTo>
                <a:lnTo>
                  <a:pt x="7500966" y="1687723"/>
                </a:lnTo>
                <a:cubicBezTo>
                  <a:pt x="7500966" y="1765395"/>
                  <a:pt x="7438001" y="1828360"/>
                  <a:pt x="7360329" y="1828360"/>
                </a:cubicBezTo>
                <a:lnTo>
                  <a:pt x="140637" y="1828360"/>
                </a:lnTo>
                <a:cubicBezTo>
                  <a:pt x="62966" y="1828360"/>
                  <a:pt x="0" y="1765395"/>
                  <a:pt x="0" y="1687723"/>
                </a:cubicBezTo>
                <a:lnTo>
                  <a:pt x="0" y="140637"/>
                </a:lnTo>
                <a:cubicBezTo>
                  <a:pt x="0" y="63018"/>
                  <a:pt x="63018" y="0"/>
                  <a:pt x="140637" y="0"/>
                </a:cubicBezTo>
                <a:close/>
              </a:path>
            </a:pathLst>
          </a:custGeom>
          <a:solidFill>
            <a:srgbClr val="4A6B8A">
              <a:alpha val="20000"/>
            </a:srgbClr>
          </a:soli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08698" y="4928369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0" y="54939"/>
                </a:moveTo>
                <a:cubicBezTo>
                  <a:pt x="0" y="36740"/>
                  <a:pt x="14765" y="21975"/>
                  <a:pt x="32963" y="21975"/>
                </a:cubicBezTo>
                <a:lnTo>
                  <a:pt x="98890" y="21975"/>
                </a:lnTo>
                <a:cubicBezTo>
                  <a:pt x="117088" y="21975"/>
                  <a:pt x="131853" y="36740"/>
                  <a:pt x="131853" y="54939"/>
                </a:cubicBezTo>
                <a:lnTo>
                  <a:pt x="131853" y="65926"/>
                </a:lnTo>
                <a:lnTo>
                  <a:pt x="219755" y="65926"/>
                </a:lnTo>
                <a:lnTo>
                  <a:pt x="219755" y="54939"/>
                </a:lnTo>
                <a:cubicBezTo>
                  <a:pt x="219755" y="36740"/>
                  <a:pt x="234520" y="21975"/>
                  <a:pt x="252718" y="21975"/>
                </a:cubicBezTo>
                <a:lnTo>
                  <a:pt x="318645" y="21975"/>
                </a:lnTo>
                <a:cubicBezTo>
                  <a:pt x="336843" y="21975"/>
                  <a:pt x="351608" y="36740"/>
                  <a:pt x="351608" y="54939"/>
                </a:cubicBezTo>
                <a:lnTo>
                  <a:pt x="351608" y="120865"/>
                </a:lnTo>
                <a:cubicBezTo>
                  <a:pt x="351608" y="139064"/>
                  <a:pt x="336843" y="153828"/>
                  <a:pt x="318645" y="153828"/>
                </a:cubicBezTo>
                <a:lnTo>
                  <a:pt x="252718" y="153828"/>
                </a:lnTo>
                <a:cubicBezTo>
                  <a:pt x="234520" y="153828"/>
                  <a:pt x="219755" y="139064"/>
                  <a:pt x="219755" y="120865"/>
                </a:cubicBezTo>
                <a:lnTo>
                  <a:pt x="219755" y="109877"/>
                </a:lnTo>
                <a:lnTo>
                  <a:pt x="131853" y="109877"/>
                </a:lnTo>
                <a:lnTo>
                  <a:pt x="131853" y="120865"/>
                </a:lnTo>
                <a:cubicBezTo>
                  <a:pt x="131853" y="125878"/>
                  <a:pt x="130685" y="130685"/>
                  <a:pt x="128694" y="134943"/>
                </a:cubicBezTo>
                <a:lnTo>
                  <a:pt x="175804" y="197779"/>
                </a:lnTo>
                <a:lnTo>
                  <a:pt x="230743" y="197779"/>
                </a:lnTo>
                <a:cubicBezTo>
                  <a:pt x="248941" y="197779"/>
                  <a:pt x="263706" y="212544"/>
                  <a:pt x="263706" y="230743"/>
                </a:cubicBezTo>
                <a:lnTo>
                  <a:pt x="263706" y="296669"/>
                </a:lnTo>
                <a:cubicBezTo>
                  <a:pt x="263706" y="314868"/>
                  <a:pt x="248941" y="329632"/>
                  <a:pt x="230743" y="329632"/>
                </a:cubicBezTo>
                <a:lnTo>
                  <a:pt x="164816" y="329632"/>
                </a:lnTo>
                <a:cubicBezTo>
                  <a:pt x="146618" y="329632"/>
                  <a:pt x="131853" y="314868"/>
                  <a:pt x="131853" y="296669"/>
                </a:cubicBezTo>
                <a:lnTo>
                  <a:pt x="131853" y="230743"/>
                </a:lnTo>
                <a:cubicBezTo>
                  <a:pt x="131853" y="225729"/>
                  <a:pt x="133020" y="220922"/>
                  <a:pt x="135012" y="216665"/>
                </a:cubicBezTo>
                <a:lnTo>
                  <a:pt x="87902" y="153828"/>
                </a:lnTo>
                <a:lnTo>
                  <a:pt x="32963" y="153828"/>
                </a:lnTo>
                <a:cubicBezTo>
                  <a:pt x="14765" y="153828"/>
                  <a:pt x="0" y="139064"/>
                  <a:pt x="0" y="120865"/>
                </a:cubicBezTo>
                <a:lnTo>
                  <a:pt x="0" y="5493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341970" y="4916649"/>
            <a:ext cx="1828360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血缘关系容错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1817" y="5479221"/>
            <a:ext cx="7032156" cy="69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6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血缘关系</a:t>
            </a: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的容错机制避免了昂贵的数据复制，当节点失败时能够快速重建丢失数据，实现高效的故障恢复。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72489" y="4629503"/>
            <a:ext cx="7500966" cy="1828360"/>
          </a:xfrm>
          <a:custGeom>
            <a:avLst/>
            <a:gdLst/>
            <a:ahLst/>
            <a:cxnLst/>
            <a:rect l="l" t="t" r="r" b="b"/>
            <a:pathLst>
              <a:path w="7500966" h="1828360">
                <a:moveTo>
                  <a:pt x="140637" y="0"/>
                </a:moveTo>
                <a:lnTo>
                  <a:pt x="7360329" y="0"/>
                </a:lnTo>
                <a:cubicBezTo>
                  <a:pt x="7438001" y="0"/>
                  <a:pt x="7500966" y="62966"/>
                  <a:pt x="7500966" y="140637"/>
                </a:cubicBezTo>
                <a:lnTo>
                  <a:pt x="7500966" y="1687723"/>
                </a:lnTo>
                <a:cubicBezTo>
                  <a:pt x="7500966" y="1765395"/>
                  <a:pt x="7438001" y="1828360"/>
                  <a:pt x="7360329" y="1828360"/>
                </a:cubicBezTo>
                <a:lnTo>
                  <a:pt x="140637" y="1828360"/>
                </a:lnTo>
                <a:cubicBezTo>
                  <a:pt x="62966" y="1828360"/>
                  <a:pt x="0" y="1765395"/>
                  <a:pt x="0" y="1687723"/>
                </a:cubicBezTo>
                <a:lnTo>
                  <a:pt x="0" y="140637"/>
                </a:lnTo>
                <a:cubicBezTo>
                  <a:pt x="0" y="63018"/>
                  <a:pt x="63018" y="0"/>
                  <a:pt x="14063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8606516" y="4928369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31853" y="43951"/>
                </a:moveTo>
                <a:cubicBezTo>
                  <a:pt x="131853" y="31796"/>
                  <a:pt x="141673" y="21975"/>
                  <a:pt x="153828" y="21975"/>
                </a:cubicBezTo>
                <a:lnTo>
                  <a:pt x="197779" y="21975"/>
                </a:lnTo>
                <a:cubicBezTo>
                  <a:pt x="209935" y="21975"/>
                  <a:pt x="219755" y="31796"/>
                  <a:pt x="219755" y="43951"/>
                </a:cubicBezTo>
                <a:lnTo>
                  <a:pt x="219755" y="87902"/>
                </a:lnTo>
                <a:cubicBezTo>
                  <a:pt x="219755" y="100057"/>
                  <a:pt x="209935" y="109877"/>
                  <a:pt x="197779" y="109877"/>
                </a:cubicBezTo>
                <a:lnTo>
                  <a:pt x="192286" y="109877"/>
                </a:lnTo>
                <a:lnTo>
                  <a:pt x="192286" y="153828"/>
                </a:lnTo>
                <a:lnTo>
                  <a:pt x="274694" y="153828"/>
                </a:lnTo>
                <a:cubicBezTo>
                  <a:pt x="302026" y="153828"/>
                  <a:pt x="324138" y="175941"/>
                  <a:pt x="324138" y="203273"/>
                </a:cubicBezTo>
                <a:lnTo>
                  <a:pt x="324138" y="241730"/>
                </a:lnTo>
                <a:lnTo>
                  <a:pt x="329632" y="241730"/>
                </a:lnTo>
                <a:cubicBezTo>
                  <a:pt x="341787" y="241730"/>
                  <a:pt x="351608" y="251551"/>
                  <a:pt x="351608" y="263706"/>
                </a:cubicBezTo>
                <a:lnTo>
                  <a:pt x="351608" y="307657"/>
                </a:lnTo>
                <a:cubicBezTo>
                  <a:pt x="351608" y="319812"/>
                  <a:pt x="341787" y="329632"/>
                  <a:pt x="329632" y="329632"/>
                </a:cubicBezTo>
                <a:lnTo>
                  <a:pt x="285681" y="329632"/>
                </a:lnTo>
                <a:cubicBezTo>
                  <a:pt x="273526" y="329632"/>
                  <a:pt x="263706" y="319812"/>
                  <a:pt x="263706" y="307657"/>
                </a:cubicBezTo>
                <a:lnTo>
                  <a:pt x="263706" y="263706"/>
                </a:lnTo>
                <a:cubicBezTo>
                  <a:pt x="263706" y="251551"/>
                  <a:pt x="273526" y="241730"/>
                  <a:pt x="285681" y="241730"/>
                </a:cubicBezTo>
                <a:lnTo>
                  <a:pt x="291175" y="241730"/>
                </a:lnTo>
                <a:lnTo>
                  <a:pt x="291175" y="203273"/>
                </a:lnTo>
                <a:cubicBezTo>
                  <a:pt x="291175" y="194140"/>
                  <a:pt x="283827" y="186792"/>
                  <a:pt x="274694" y="186792"/>
                </a:cubicBezTo>
                <a:lnTo>
                  <a:pt x="192286" y="186792"/>
                </a:lnTo>
                <a:lnTo>
                  <a:pt x="192286" y="241730"/>
                </a:lnTo>
                <a:lnTo>
                  <a:pt x="197779" y="241730"/>
                </a:lnTo>
                <a:cubicBezTo>
                  <a:pt x="209935" y="241730"/>
                  <a:pt x="219755" y="251551"/>
                  <a:pt x="219755" y="263706"/>
                </a:cubicBezTo>
                <a:lnTo>
                  <a:pt x="219755" y="307657"/>
                </a:lnTo>
                <a:cubicBezTo>
                  <a:pt x="219755" y="319812"/>
                  <a:pt x="209935" y="329632"/>
                  <a:pt x="197779" y="329632"/>
                </a:cubicBezTo>
                <a:lnTo>
                  <a:pt x="153828" y="329632"/>
                </a:lnTo>
                <a:cubicBezTo>
                  <a:pt x="141673" y="329632"/>
                  <a:pt x="131853" y="319812"/>
                  <a:pt x="131853" y="307657"/>
                </a:cubicBezTo>
                <a:lnTo>
                  <a:pt x="131853" y="263706"/>
                </a:lnTo>
                <a:cubicBezTo>
                  <a:pt x="131853" y="251551"/>
                  <a:pt x="141673" y="241730"/>
                  <a:pt x="153828" y="241730"/>
                </a:cubicBezTo>
                <a:lnTo>
                  <a:pt x="159322" y="241730"/>
                </a:lnTo>
                <a:lnTo>
                  <a:pt x="159322" y="186792"/>
                </a:lnTo>
                <a:lnTo>
                  <a:pt x="76914" y="186792"/>
                </a:lnTo>
                <a:cubicBezTo>
                  <a:pt x="67781" y="186792"/>
                  <a:pt x="60433" y="194140"/>
                  <a:pt x="60433" y="203273"/>
                </a:cubicBezTo>
                <a:lnTo>
                  <a:pt x="60433" y="241730"/>
                </a:lnTo>
                <a:lnTo>
                  <a:pt x="65926" y="241730"/>
                </a:lnTo>
                <a:cubicBezTo>
                  <a:pt x="78082" y="241730"/>
                  <a:pt x="87902" y="251551"/>
                  <a:pt x="87902" y="263706"/>
                </a:cubicBezTo>
                <a:lnTo>
                  <a:pt x="87902" y="307657"/>
                </a:lnTo>
                <a:cubicBezTo>
                  <a:pt x="87902" y="319812"/>
                  <a:pt x="78082" y="329632"/>
                  <a:pt x="65926" y="329632"/>
                </a:cubicBezTo>
                <a:lnTo>
                  <a:pt x="21975" y="329632"/>
                </a:lnTo>
                <a:cubicBezTo>
                  <a:pt x="9820" y="329632"/>
                  <a:pt x="0" y="319812"/>
                  <a:pt x="0" y="307657"/>
                </a:cubicBezTo>
                <a:lnTo>
                  <a:pt x="0" y="263706"/>
                </a:lnTo>
                <a:cubicBezTo>
                  <a:pt x="0" y="251551"/>
                  <a:pt x="9820" y="241730"/>
                  <a:pt x="21975" y="241730"/>
                </a:cubicBezTo>
                <a:lnTo>
                  <a:pt x="27469" y="241730"/>
                </a:lnTo>
                <a:lnTo>
                  <a:pt x="27469" y="203273"/>
                </a:lnTo>
                <a:cubicBezTo>
                  <a:pt x="27469" y="175941"/>
                  <a:pt x="49582" y="153828"/>
                  <a:pt x="76914" y="153828"/>
                </a:cubicBezTo>
                <a:lnTo>
                  <a:pt x="159322" y="153828"/>
                </a:lnTo>
                <a:lnTo>
                  <a:pt x="159322" y="109877"/>
                </a:lnTo>
                <a:lnTo>
                  <a:pt x="153828" y="109877"/>
                </a:lnTo>
                <a:cubicBezTo>
                  <a:pt x="141673" y="109877"/>
                  <a:pt x="131853" y="100057"/>
                  <a:pt x="131853" y="87902"/>
                </a:cubicBezTo>
                <a:lnTo>
                  <a:pt x="131853" y="43951"/>
                </a:lnTo>
                <a:close/>
              </a:path>
            </a:pathLst>
          </a:custGeom>
          <a:solidFill>
            <a:srgbClr val="4A6B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9139788" y="4916649"/>
            <a:ext cx="1945563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DAG 执行优化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59635" y="5479221"/>
            <a:ext cx="7032156" cy="69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DAG 执行引擎通过</a:t>
            </a:r>
            <a:r>
              <a:rPr lang="en-US" sz="16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全局优化</a:t>
            </a: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6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管道化执行</a:t>
            </a:r>
            <a:r>
              <a:rPr lang="en-US" sz="166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，减少中间结果写入，提升计算效率，支持复杂的多阶段计算流水线。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74671" y="6745009"/>
            <a:ext cx="15306659" cy="1898682"/>
          </a:xfrm>
          <a:custGeom>
            <a:avLst/>
            <a:gdLst/>
            <a:ahLst/>
            <a:cxnLst/>
            <a:rect l="l" t="t" r="r" b="b"/>
            <a:pathLst>
              <a:path w="15306659" h="1898682">
                <a:moveTo>
                  <a:pt x="140635" y="0"/>
                </a:moveTo>
                <a:lnTo>
                  <a:pt x="15166024" y="0"/>
                </a:lnTo>
                <a:cubicBezTo>
                  <a:pt x="15243694" y="0"/>
                  <a:pt x="15306659" y="62965"/>
                  <a:pt x="15306659" y="140635"/>
                </a:cubicBezTo>
                <a:lnTo>
                  <a:pt x="15306659" y="1758047"/>
                </a:lnTo>
                <a:cubicBezTo>
                  <a:pt x="15306659" y="1835717"/>
                  <a:pt x="15243694" y="1898682"/>
                  <a:pt x="15166024" y="1898682"/>
                </a:cubicBezTo>
                <a:lnTo>
                  <a:pt x="140635" y="1898682"/>
                </a:lnTo>
                <a:cubicBezTo>
                  <a:pt x="62965" y="1898682"/>
                  <a:pt x="0" y="1835717"/>
                  <a:pt x="0" y="1758047"/>
                </a:cubicBezTo>
                <a:lnTo>
                  <a:pt x="0" y="140635"/>
                </a:lnTo>
                <a:cubicBezTo>
                  <a:pt x="0" y="62965"/>
                  <a:pt x="62965" y="0"/>
                  <a:pt x="14063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B8A">
                  <a:alpha val="30000"/>
                </a:srgbClr>
              </a:gs>
              <a:gs pos="100000">
                <a:srgbClr val="D4A373">
                  <a:alpha val="30000"/>
                </a:srgbClr>
              </a:gs>
            </a:gsLst>
            <a:lin ang="0" scaled="1"/>
          </a:gradFill>
          <a:ln w="12700">
            <a:solidFill>
              <a:srgbClr val="4A6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808698" y="7043876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87902" y="219755"/>
                </a:moveTo>
                <a:lnTo>
                  <a:pt x="16825" y="219755"/>
                </a:lnTo>
                <a:cubicBezTo>
                  <a:pt x="-275" y="219755"/>
                  <a:pt x="-10782" y="201144"/>
                  <a:pt x="-1992" y="186448"/>
                </a:cubicBezTo>
                <a:lnTo>
                  <a:pt x="34337" y="125878"/>
                </a:lnTo>
                <a:cubicBezTo>
                  <a:pt x="40311" y="115921"/>
                  <a:pt x="51024" y="109877"/>
                  <a:pt x="62630" y="109877"/>
                </a:cubicBezTo>
                <a:lnTo>
                  <a:pt x="127870" y="109877"/>
                </a:lnTo>
                <a:cubicBezTo>
                  <a:pt x="180130" y="21357"/>
                  <a:pt x="258075" y="16894"/>
                  <a:pt x="310198" y="24516"/>
                </a:cubicBezTo>
                <a:cubicBezTo>
                  <a:pt x="318988" y="25821"/>
                  <a:pt x="325855" y="32689"/>
                  <a:pt x="327091" y="41410"/>
                </a:cubicBezTo>
                <a:cubicBezTo>
                  <a:pt x="334714" y="93533"/>
                  <a:pt x="330250" y="171477"/>
                  <a:pt x="241730" y="223738"/>
                </a:cubicBezTo>
                <a:lnTo>
                  <a:pt x="241730" y="288978"/>
                </a:lnTo>
                <a:cubicBezTo>
                  <a:pt x="241730" y="300583"/>
                  <a:pt x="235687" y="311297"/>
                  <a:pt x="225729" y="317271"/>
                </a:cubicBezTo>
                <a:lnTo>
                  <a:pt x="165160" y="353599"/>
                </a:lnTo>
                <a:cubicBezTo>
                  <a:pt x="150532" y="362390"/>
                  <a:pt x="131853" y="351814"/>
                  <a:pt x="131853" y="334783"/>
                </a:cubicBezTo>
                <a:lnTo>
                  <a:pt x="131853" y="263706"/>
                </a:lnTo>
                <a:cubicBezTo>
                  <a:pt x="131853" y="239464"/>
                  <a:pt x="112144" y="219755"/>
                  <a:pt x="87902" y="219755"/>
                </a:cubicBezTo>
                <a:lnTo>
                  <a:pt x="87833" y="219755"/>
                </a:lnTo>
                <a:close/>
                <a:moveTo>
                  <a:pt x="274694" y="109877"/>
                </a:moveTo>
                <a:cubicBezTo>
                  <a:pt x="274694" y="91685"/>
                  <a:pt x="259923" y="76914"/>
                  <a:pt x="241730" y="76914"/>
                </a:cubicBezTo>
                <a:cubicBezTo>
                  <a:pt x="223537" y="76914"/>
                  <a:pt x="208767" y="91685"/>
                  <a:pt x="208767" y="109877"/>
                </a:cubicBezTo>
                <a:cubicBezTo>
                  <a:pt x="208767" y="128070"/>
                  <a:pt x="223537" y="142841"/>
                  <a:pt x="241730" y="142841"/>
                </a:cubicBezTo>
                <a:cubicBezTo>
                  <a:pt x="259923" y="142841"/>
                  <a:pt x="274694" y="128070"/>
                  <a:pt x="274694" y="10987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1388851" y="7032156"/>
            <a:ext cx="2109647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统一架构与生态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1817" y="7594728"/>
            <a:ext cx="14849569" cy="761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4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通过</a:t>
            </a:r>
            <a:r>
              <a:rPr lang="en-US" sz="1846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统一架构</a:t>
            </a:r>
            <a:r>
              <a:rPr lang="en-US" sz="184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支持批处理、流计算、机器学习、图计算等多种工作负载，在单一平台上构建端到端的数据处理管道，显著降低开发和运维成本。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3940</Words>
  <Application>Microsoft Macintosh PowerPoint</Application>
  <PresentationFormat>自定义</PresentationFormat>
  <Paragraphs>869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MiSans</vt:lpstr>
      <vt:lpstr>微软雅黑</vt:lpstr>
      <vt:lpstr>得意黑</vt:lpstr>
      <vt:lpstr>Arial</vt:lpstr>
      <vt:lpstr>KaiTi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设计与实现</dc:title>
  <dc:subject>Apache Spark 设计与实现</dc:subject>
  <dc:creator>Kimi</dc:creator>
  <cp:lastModifiedBy>王 天青</cp:lastModifiedBy>
  <cp:revision>10</cp:revision>
  <dcterms:created xsi:type="dcterms:W3CDTF">2025-12-20T01:45:34Z</dcterms:created>
  <dcterms:modified xsi:type="dcterms:W3CDTF">2025-12-20T02:50:14Z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{"Label":"Apache Spark 设计与实现","ContentProducer":"001191110108MACG2KBH8F10000","ProduceID":"19b3965a-a482-8511-8000-00005ec1a3d0","ReservedCode1":"","ContentPropagator":"001191110108MACG2KBH8F20000","PropagateID":"19b3965a-a482-8511-8000-00005ec1a3d0","ReservedCode2":""}</vt:lpwstr>
  </property>
</Properties>
</file>