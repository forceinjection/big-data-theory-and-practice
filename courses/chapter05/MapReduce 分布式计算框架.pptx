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6256000" cy="9144000"/>
  <p:notesSz cx="9144000" cy="16256000"/>
  <p:embeddedFontLst>
    <p:embeddedFont>
      <p:font typeface="微软雅黑" panose="020B0503020204020204" pitchFamily="34" charset="-122"/>
      <p:regular r:id="rId28"/>
      <p:bold r:id="rId29"/>
    </p:embeddedFont>
    <p:embeddedFont>
      <p:font typeface="MiSans" pitchFamily="2" charset="-122"/>
      <p:regular r:id="rId30"/>
    </p:embeddedFont>
    <p:embeddedFont>
      <p:font typeface="Noto Sans SC" panose="020B0200000000000000" pitchFamily="34" charset="-128"/>
      <p:regular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98"/>
    <p:restoredTop sz="94610"/>
  </p:normalViewPr>
  <p:slideViewPr>
    <p:cSldViewPr snapToGrid="0" snapToObjects="1">
      <p:cViewPr>
        <p:scale>
          <a:sx n="90" d="100"/>
          <a:sy n="90" d="100"/>
        </p:scale>
        <p:origin x="16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689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1581150"/>
            <a:ext cx="5054600" cy="469900"/>
          </a:xfrm>
          <a:custGeom>
            <a:avLst/>
            <a:gdLst/>
            <a:ahLst/>
            <a:cxnLst/>
            <a:rect l="l" t="t" r="r" b="b"/>
            <a:pathLst>
              <a:path w="5054600" h="469900">
                <a:moveTo>
                  <a:pt x="234950" y="0"/>
                </a:moveTo>
                <a:lnTo>
                  <a:pt x="4819650" y="0"/>
                </a:lnTo>
                <a:cubicBezTo>
                  <a:pt x="4949322" y="0"/>
                  <a:pt x="5054600" y="105278"/>
                  <a:pt x="5054600" y="234950"/>
                </a:cubicBezTo>
                <a:lnTo>
                  <a:pt x="5054600" y="234950"/>
                </a:lnTo>
                <a:cubicBezTo>
                  <a:pt x="5054600" y="364622"/>
                  <a:pt x="4949322" y="469900"/>
                  <a:pt x="4819650" y="469900"/>
                </a:cubicBezTo>
                <a:lnTo>
                  <a:pt x="234950" y="469900"/>
                </a:lnTo>
                <a:cubicBezTo>
                  <a:pt x="105278" y="469900"/>
                  <a:pt x="0" y="364622"/>
                  <a:pt x="0" y="234950"/>
                </a:cubicBezTo>
                <a:lnTo>
                  <a:pt x="0" y="234950"/>
                </a:lnTo>
                <a:cubicBezTo>
                  <a:pt x="0" y="105278"/>
                  <a:pt x="105278" y="0"/>
                  <a:pt x="23495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74700" y="1682750"/>
            <a:ext cx="46338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16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COMPUTING FRAMEWORK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463800"/>
            <a:ext cx="158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886200"/>
            <a:ext cx="1546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分布式计算框架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496570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549900"/>
            <a:ext cx="868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从理论到实践的完整指南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8000" y="6858000"/>
            <a:ext cx="210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编程模型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8000" y="7162800"/>
            <a:ext cx="2171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 + Reduce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936180" y="6858000"/>
            <a:ext cx="12700" cy="711200"/>
          </a:xfrm>
          <a:custGeom>
            <a:avLst/>
            <a:gdLst/>
            <a:ahLst/>
            <a:cxnLst/>
            <a:rect l="l" t="t" r="r" b="b"/>
            <a:pathLst>
              <a:path w="12700" h="711200">
                <a:moveTo>
                  <a:pt x="0" y="0"/>
                </a:moveTo>
                <a:lnTo>
                  <a:pt x="12700" y="0"/>
                </a:lnTo>
                <a:lnTo>
                  <a:pt x="127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7A7D8D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355280" y="685800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核心理念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55280" y="71628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分而治之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80880" y="6858000"/>
            <a:ext cx="12700" cy="711200"/>
          </a:xfrm>
          <a:custGeom>
            <a:avLst/>
            <a:gdLst/>
            <a:ahLst/>
            <a:cxnLst/>
            <a:rect l="l" t="t" r="r" b="b"/>
            <a:pathLst>
              <a:path w="12700" h="711200">
                <a:moveTo>
                  <a:pt x="0" y="0"/>
                </a:moveTo>
                <a:lnTo>
                  <a:pt x="12700" y="0"/>
                </a:lnTo>
                <a:lnTo>
                  <a:pt x="127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7A7D8D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399980" y="68580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性能优势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99980" y="7162800"/>
            <a:ext cx="167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14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727200"/>
            <a:ext cx="1422400" cy="76200"/>
          </a:xfrm>
          <a:custGeom>
            <a:avLst/>
            <a:gdLst/>
            <a:ahLst/>
            <a:cxnLst/>
            <a:rect l="l" t="t" r="r" b="b"/>
            <a:pathLst>
              <a:path w="1422400" h="76200">
                <a:moveTo>
                  <a:pt x="0" y="0"/>
                </a:moveTo>
                <a:lnTo>
                  <a:pt x="1422400" y="0"/>
                </a:lnTo>
                <a:lnTo>
                  <a:pt x="1422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2209800"/>
            <a:ext cx="4889500" cy="1727200"/>
          </a:xfrm>
          <a:custGeom>
            <a:avLst/>
            <a:gdLst/>
            <a:ahLst/>
            <a:cxnLst/>
            <a:rect l="l" t="t" r="r" b="b"/>
            <a:pathLst>
              <a:path w="4889500" h="1727200">
                <a:moveTo>
                  <a:pt x="50800" y="0"/>
                </a:moveTo>
                <a:lnTo>
                  <a:pt x="4787906" y="0"/>
                </a:lnTo>
                <a:cubicBezTo>
                  <a:pt x="4844015" y="0"/>
                  <a:pt x="4889500" y="45485"/>
                  <a:pt x="4889500" y="101594"/>
                </a:cubicBezTo>
                <a:lnTo>
                  <a:pt x="4889500" y="1625606"/>
                </a:lnTo>
                <a:cubicBezTo>
                  <a:pt x="4889500" y="1681715"/>
                  <a:pt x="4844015" y="1727200"/>
                  <a:pt x="4787906" y="1727200"/>
                </a:cubicBezTo>
                <a:lnTo>
                  <a:pt x="50800" y="1727200"/>
                </a:lnTo>
                <a:cubicBezTo>
                  <a:pt x="22763" y="1727200"/>
                  <a:pt x="0" y="1704437"/>
                  <a:pt x="0" y="167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2098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5080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50800" y="1727200"/>
                </a:lnTo>
                <a:cubicBezTo>
                  <a:pt x="22763" y="1727200"/>
                  <a:pt x="0" y="1704437"/>
                  <a:pt x="0" y="167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3600" y="2514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63724" y="2667000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2514600"/>
            <a:ext cx="346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气象数据集案例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78000" y="2971800"/>
            <a:ext cx="3441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真实世界的数据处理挑战，NCDC气象数据规模、格式与问题定义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98034" y="2209800"/>
            <a:ext cx="4889500" cy="1727200"/>
          </a:xfrm>
          <a:custGeom>
            <a:avLst/>
            <a:gdLst/>
            <a:ahLst/>
            <a:cxnLst/>
            <a:rect l="l" t="t" r="r" b="b"/>
            <a:pathLst>
              <a:path w="4889500" h="1727200">
                <a:moveTo>
                  <a:pt x="50800" y="0"/>
                </a:moveTo>
                <a:lnTo>
                  <a:pt x="4787906" y="0"/>
                </a:lnTo>
                <a:cubicBezTo>
                  <a:pt x="4844015" y="0"/>
                  <a:pt x="4889500" y="45485"/>
                  <a:pt x="4889500" y="101594"/>
                </a:cubicBezTo>
                <a:lnTo>
                  <a:pt x="4889500" y="1625606"/>
                </a:lnTo>
                <a:cubicBezTo>
                  <a:pt x="4889500" y="1681715"/>
                  <a:pt x="4844015" y="1727200"/>
                  <a:pt x="4787906" y="1727200"/>
                </a:cubicBezTo>
                <a:lnTo>
                  <a:pt x="50800" y="1727200"/>
                </a:lnTo>
                <a:cubicBezTo>
                  <a:pt x="22763" y="1727200"/>
                  <a:pt x="0" y="1704437"/>
                  <a:pt x="0" y="167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698034" y="22098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5080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50800" y="1727200"/>
                </a:lnTo>
                <a:cubicBezTo>
                  <a:pt x="22763" y="1727200"/>
                  <a:pt x="0" y="1704437"/>
                  <a:pt x="0" y="167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028234" y="2514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7A7D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02561" y="26670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2634" y="2514600"/>
            <a:ext cx="346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 工具分析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2634" y="2971800"/>
            <a:ext cx="3441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从传统工具到分布式思维，管道机制与MapReduce的对应关系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862667" y="2209800"/>
            <a:ext cx="4889500" cy="1727200"/>
          </a:xfrm>
          <a:custGeom>
            <a:avLst/>
            <a:gdLst/>
            <a:ahLst/>
            <a:cxnLst/>
            <a:rect l="l" t="t" r="r" b="b"/>
            <a:pathLst>
              <a:path w="4889500" h="1727200">
                <a:moveTo>
                  <a:pt x="50800" y="0"/>
                </a:moveTo>
                <a:lnTo>
                  <a:pt x="4787906" y="0"/>
                </a:lnTo>
                <a:cubicBezTo>
                  <a:pt x="4844015" y="0"/>
                  <a:pt x="4889500" y="45485"/>
                  <a:pt x="4889500" y="101594"/>
                </a:cubicBezTo>
                <a:lnTo>
                  <a:pt x="4889500" y="1625606"/>
                </a:lnTo>
                <a:cubicBezTo>
                  <a:pt x="4889500" y="1681715"/>
                  <a:pt x="4844015" y="1727200"/>
                  <a:pt x="4787906" y="1727200"/>
                </a:cubicBezTo>
                <a:lnTo>
                  <a:pt x="50800" y="1727200"/>
                </a:lnTo>
                <a:cubicBezTo>
                  <a:pt x="22763" y="1727200"/>
                  <a:pt x="0" y="1704437"/>
                  <a:pt x="0" y="167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862667" y="22098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5080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50800" y="1727200"/>
                </a:lnTo>
                <a:cubicBezTo>
                  <a:pt x="22763" y="1727200"/>
                  <a:pt x="0" y="1704437"/>
                  <a:pt x="0" y="167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1192867" y="2514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363226" y="26670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07267" y="2514600"/>
            <a:ext cx="346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分布式计算理念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07267" y="2971800"/>
            <a:ext cx="3441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让计算靠近数据，数据本地性的核心思想与性能优势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4191000"/>
            <a:ext cx="10045700" cy="1727200"/>
          </a:xfrm>
          <a:custGeom>
            <a:avLst/>
            <a:gdLst/>
            <a:ahLst/>
            <a:cxnLst/>
            <a:rect l="l" t="t" r="r" b="b"/>
            <a:pathLst>
              <a:path w="10045700" h="1727200">
                <a:moveTo>
                  <a:pt x="50800" y="0"/>
                </a:moveTo>
                <a:lnTo>
                  <a:pt x="9944106" y="0"/>
                </a:lnTo>
                <a:cubicBezTo>
                  <a:pt x="10000215" y="0"/>
                  <a:pt x="10045700" y="45485"/>
                  <a:pt x="10045700" y="101594"/>
                </a:cubicBezTo>
                <a:lnTo>
                  <a:pt x="10045700" y="1625606"/>
                </a:lnTo>
                <a:cubicBezTo>
                  <a:pt x="10045700" y="1681715"/>
                  <a:pt x="10000215" y="1727200"/>
                  <a:pt x="9944106" y="1727200"/>
                </a:cubicBezTo>
                <a:lnTo>
                  <a:pt x="50800" y="1727200"/>
                </a:lnTo>
                <a:cubicBezTo>
                  <a:pt x="22763" y="1727200"/>
                  <a:pt x="0" y="1704437"/>
                  <a:pt x="0" y="167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33400" y="41910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5080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50800" y="1727200"/>
                </a:lnTo>
                <a:cubicBezTo>
                  <a:pt x="22763" y="1727200"/>
                  <a:pt x="0" y="1704437"/>
                  <a:pt x="0" y="167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3600" y="4495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34256" y="46482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78000" y="4495800"/>
            <a:ext cx="8623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编程模型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78000" y="4953000"/>
            <a:ext cx="85979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分而治之的艺术，核心优势、处理流程与编程抽象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862667" y="4191000"/>
            <a:ext cx="4889500" cy="1727200"/>
          </a:xfrm>
          <a:custGeom>
            <a:avLst/>
            <a:gdLst/>
            <a:ahLst/>
            <a:cxnLst/>
            <a:rect l="l" t="t" r="r" b="b"/>
            <a:pathLst>
              <a:path w="4889500" h="1727200">
                <a:moveTo>
                  <a:pt x="50800" y="0"/>
                </a:moveTo>
                <a:lnTo>
                  <a:pt x="4787906" y="0"/>
                </a:lnTo>
                <a:cubicBezTo>
                  <a:pt x="4844015" y="0"/>
                  <a:pt x="4889500" y="45485"/>
                  <a:pt x="4889500" y="101594"/>
                </a:cubicBezTo>
                <a:lnTo>
                  <a:pt x="4889500" y="1625606"/>
                </a:lnTo>
                <a:cubicBezTo>
                  <a:pt x="4889500" y="1681715"/>
                  <a:pt x="4844015" y="1727200"/>
                  <a:pt x="4787906" y="1727200"/>
                </a:cubicBezTo>
                <a:lnTo>
                  <a:pt x="50800" y="1727200"/>
                </a:lnTo>
                <a:cubicBezTo>
                  <a:pt x="22763" y="1727200"/>
                  <a:pt x="0" y="1704437"/>
                  <a:pt x="0" y="167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0862667" y="41910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5080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50800" y="1727200"/>
                </a:lnTo>
                <a:cubicBezTo>
                  <a:pt x="22763" y="1727200"/>
                  <a:pt x="0" y="1704437"/>
                  <a:pt x="0" y="167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192867" y="4495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7A7D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1361837" y="46482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07267" y="4495800"/>
            <a:ext cx="346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MapReduce 实现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107267" y="4953000"/>
            <a:ext cx="3441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从理论到代码，Mapper、Reducer与Driver完整实现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84dd43f45a11a28cc7ea9280aefc96f227ee55b5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08000" y="3232150"/>
            <a:ext cx="158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 1 章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56150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0" y="0"/>
                </a:moveTo>
                <a:lnTo>
                  <a:pt x="2438400" y="0"/>
                </a:lnTo>
                <a:lnTo>
                  <a:pt x="2438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340350"/>
            <a:ext cx="15544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气象数据集案例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6407150"/>
            <a:ext cx="868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真实世界的数据处理挑战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022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14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 · Dataset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036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NCDC 气象数据集：我们的研究对象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778000"/>
            <a:ext cx="10109200" cy="1879600"/>
          </a:xfrm>
          <a:custGeom>
            <a:avLst/>
            <a:gdLst/>
            <a:ahLst/>
            <a:cxnLst/>
            <a:rect l="l" t="t" r="r" b="b"/>
            <a:pathLst>
              <a:path w="10109200" h="1879600">
                <a:moveTo>
                  <a:pt x="50800" y="0"/>
                </a:moveTo>
                <a:lnTo>
                  <a:pt x="10007608" y="0"/>
                </a:lnTo>
                <a:cubicBezTo>
                  <a:pt x="10063716" y="0"/>
                  <a:pt x="10109200" y="45484"/>
                  <a:pt x="10109200" y="101592"/>
                </a:cubicBezTo>
                <a:lnTo>
                  <a:pt x="10109200" y="1778008"/>
                </a:lnTo>
                <a:cubicBezTo>
                  <a:pt x="10109200" y="1834116"/>
                  <a:pt x="10063716" y="1879600"/>
                  <a:pt x="10007608" y="1879600"/>
                </a:cubicBezTo>
                <a:lnTo>
                  <a:pt x="50800" y="1879600"/>
                </a:lnTo>
                <a:cubicBezTo>
                  <a:pt x="22744" y="1879600"/>
                  <a:pt x="0" y="1856856"/>
                  <a:pt x="0" y="182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1778000"/>
            <a:ext cx="50800" cy="1879600"/>
          </a:xfrm>
          <a:custGeom>
            <a:avLst/>
            <a:gdLst/>
            <a:ahLst/>
            <a:cxnLst/>
            <a:rect l="l" t="t" r="r" b="b"/>
            <a:pathLst>
              <a:path w="50800" h="1879600">
                <a:moveTo>
                  <a:pt x="50800" y="0"/>
                </a:moveTo>
                <a:lnTo>
                  <a:pt x="50800" y="0"/>
                </a:lnTo>
                <a:lnTo>
                  <a:pt x="50800" y="1879600"/>
                </a:lnTo>
                <a:lnTo>
                  <a:pt x="50800" y="1879600"/>
                </a:lnTo>
                <a:cubicBezTo>
                  <a:pt x="22763" y="1879600"/>
                  <a:pt x="0" y="1856837"/>
                  <a:pt x="0" y="182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62000" y="1981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33450" y="21209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422400" y="1981200"/>
            <a:ext cx="914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数据来源与背景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22400" y="2438400"/>
            <a:ext cx="9118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NCDC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（美国国家气候数据中心，现合并为NCEI）是全球最大的气象数据存档机构之一。该数据集包含了来自世界各地气象站收集的</a:t>
            </a:r>
            <a:r>
              <a:rPr lang="en-US" sz="160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历史天气记录</a:t>
            </a: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，是气候研究和大数据分析的经典案例。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47800" y="3238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00846" y="6876"/>
                </a:moveTo>
                <a:cubicBezTo>
                  <a:pt x="102582" y="2709"/>
                  <a:pt x="106645" y="0"/>
                  <a:pt x="111125" y="0"/>
                </a:cubicBezTo>
                <a:lnTo>
                  <a:pt x="166688" y="0"/>
                </a:lnTo>
                <a:cubicBezTo>
                  <a:pt x="172834" y="0"/>
                  <a:pt x="177800" y="4966"/>
                  <a:pt x="177800" y="11112"/>
                </a:cubicBezTo>
                <a:lnTo>
                  <a:pt x="177800" y="66675"/>
                </a:lnTo>
                <a:cubicBezTo>
                  <a:pt x="177800" y="71155"/>
                  <a:pt x="175091" y="75218"/>
                  <a:pt x="170924" y="76954"/>
                </a:cubicBezTo>
                <a:cubicBezTo>
                  <a:pt x="166757" y="78690"/>
                  <a:pt x="161999" y="77718"/>
                  <a:pt x="158805" y="74558"/>
                </a:cubicBezTo>
                <a:lnTo>
                  <a:pt x="138906" y="54625"/>
                </a:lnTo>
                <a:lnTo>
                  <a:pt x="85636" y="107861"/>
                </a:lnTo>
                <a:cubicBezTo>
                  <a:pt x="81295" y="112202"/>
                  <a:pt x="74245" y="112202"/>
                  <a:pt x="69905" y="107861"/>
                </a:cubicBezTo>
                <a:cubicBezTo>
                  <a:pt x="65564" y="103520"/>
                  <a:pt x="65564" y="96470"/>
                  <a:pt x="69905" y="92130"/>
                </a:cubicBezTo>
                <a:lnTo>
                  <a:pt x="123175" y="38894"/>
                </a:lnTo>
                <a:lnTo>
                  <a:pt x="103277" y="18961"/>
                </a:lnTo>
                <a:cubicBezTo>
                  <a:pt x="100082" y="15766"/>
                  <a:pt x="99144" y="11008"/>
                  <a:pt x="100881" y="6841"/>
                </a:cubicBezTo>
                <a:close/>
                <a:moveTo>
                  <a:pt x="0" y="61119"/>
                </a:moveTo>
                <a:cubicBezTo>
                  <a:pt x="0" y="45770"/>
                  <a:pt x="12432" y="33337"/>
                  <a:pt x="27781" y="33337"/>
                </a:cubicBezTo>
                <a:lnTo>
                  <a:pt x="55563" y="33337"/>
                </a:lnTo>
                <a:cubicBezTo>
                  <a:pt x="61709" y="33337"/>
                  <a:pt x="66675" y="38303"/>
                  <a:pt x="66675" y="44450"/>
                </a:cubicBezTo>
                <a:cubicBezTo>
                  <a:pt x="66675" y="50597"/>
                  <a:pt x="61709" y="55563"/>
                  <a:pt x="55563" y="55563"/>
                </a:cubicBezTo>
                <a:lnTo>
                  <a:pt x="27781" y="55563"/>
                </a:lnTo>
                <a:cubicBezTo>
                  <a:pt x="24725" y="55563"/>
                  <a:pt x="22225" y="58063"/>
                  <a:pt x="22225" y="61119"/>
                </a:cubicBezTo>
                <a:lnTo>
                  <a:pt x="22225" y="150019"/>
                </a:lnTo>
                <a:cubicBezTo>
                  <a:pt x="22225" y="153075"/>
                  <a:pt x="24725" y="155575"/>
                  <a:pt x="27781" y="155575"/>
                </a:cubicBezTo>
                <a:lnTo>
                  <a:pt x="116681" y="155575"/>
                </a:lnTo>
                <a:cubicBezTo>
                  <a:pt x="119737" y="155575"/>
                  <a:pt x="122238" y="153075"/>
                  <a:pt x="122238" y="150019"/>
                </a:cubicBezTo>
                <a:lnTo>
                  <a:pt x="122238" y="122238"/>
                </a:lnTo>
                <a:cubicBezTo>
                  <a:pt x="122238" y="116091"/>
                  <a:pt x="127203" y="111125"/>
                  <a:pt x="133350" y="111125"/>
                </a:cubicBezTo>
                <a:cubicBezTo>
                  <a:pt x="139497" y="111125"/>
                  <a:pt x="144463" y="116091"/>
                  <a:pt x="144463" y="122238"/>
                </a:cubicBezTo>
                <a:lnTo>
                  <a:pt x="144463" y="150019"/>
                </a:lnTo>
                <a:cubicBezTo>
                  <a:pt x="144463" y="165368"/>
                  <a:pt x="132030" y="177800"/>
                  <a:pt x="116681" y="177800"/>
                </a:cubicBezTo>
                <a:lnTo>
                  <a:pt x="27781" y="177800"/>
                </a:lnTo>
                <a:cubicBezTo>
                  <a:pt x="12432" y="177800"/>
                  <a:pt x="0" y="165368"/>
                  <a:pt x="0" y="150019"/>
                </a:cubicBezTo>
                <a:lnTo>
                  <a:pt x="0" y="61119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701800" y="3200400"/>
            <a:ext cx="227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NOAA Climate Data Online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16375" y="3238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00846" y="6876"/>
                </a:moveTo>
                <a:cubicBezTo>
                  <a:pt x="102582" y="2709"/>
                  <a:pt x="106645" y="0"/>
                  <a:pt x="111125" y="0"/>
                </a:cubicBezTo>
                <a:lnTo>
                  <a:pt x="166688" y="0"/>
                </a:lnTo>
                <a:cubicBezTo>
                  <a:pt x="172834" y="0"/>
                  <a:pt x="177800" y="4966"/>
                  <a:pt x="177800" y="11112"/>
                </a:cubicBezTo>
                <a:lnTo>
                  <a:pt x="177800" y="66675"/>
                </a:lnTo>
                <a:cubicBezTo>
                  <a:pt x="177800" y="71155"/>
                  <a:pt x="175091" y="75218"/>
                  <a:pt x="170924" y="76954"/>
                </a:cubicBezTo>
                <a:cubicBezTo>
                  <a:pt x="166757" y="78690"/>
                  <a:pt x="161999" y="77718"/>
                  <a:pt x="158805" y="74558"/>
                </a:cubicBezTo>
                <a:lnTo>
                  <a:pt x="138906" y="54625"/>
                </a:lnTo>
                <a:lnTo>
                  <a:pt x="85636" y="107861"/>
                </a:lnTo>
                <a:cubicBezTo>
                  <a:pt x="81295" y="112202"/>
                  <a:pt x="74245" y="112202"/>
                  <a:pt x="69905" y="107861"/>
                </a:cubicBezTo>
                <a:cubicBezTo>
                  <a:pt x="65564" y="103520"/>
                  <a:pt x="65564" y="96470"/>
                  <a:pt x="69905" y="92130"/>
                </a:cubicBezTo>
                <a:lnTo>
                  <a:pt x="123175" y="38894"/>
                </a:lnTo>
                <a:lnTo>
                  <a:pt x="103277" y="18961"/>
                </a:lnTo>
                <a:cubicBezTo>
                  <a:pt x="100082" y="15766"/>
                  <a:pt x="99144" y="11008"/>
                  <a:pt x="100881" y="6841"/>
                </a:cubicBezTo>
                <a:close/>
                <a:moveTo>
                  <a:pt x="0" y="61119"/>
                </a:moveTo>
                <a:cubicBezTo>
                  <a:pt x="0" y="45770"/>
                  <a:pt x="12432" y="33337"/>
                  <a:pt x="27781" y="33337"/>
                </a:cubicBezTo>
                <a:lnTo>
                  <a:pt x="55563" y="33337"/>
                </a:lnTo>
                <a:cubicBezTo>
                  <a:pt x="61709" y="33337"/>
                  <a:pt x="66675" y="38303"/>
                  <a:pt x="66675" y="44450"/>
                </a:cubicBezTo>
                <a:cubicBezTo>
                  <a:pt x="66675" y="50597"/>
                  <a:pt x="61709" y="55563"/>
                  <a:pt x="55563" y="55563"/>
                </a:cubicBezTo>
                <a:lnTo>
                  <a:pt x="27781" y="55563"/>
                </a:lnTo>
                <a:cubicBezTo>
                  <a:pt x="24725" y="55563"/>
                  <a:pt x="22225" y="58063"/>
                  <a:pt x="22225" y="61119"/>
                </a:cubicBezTo>
                <a:lnTo>
                  <a:pt x="22225" y="150019"/>
                </a:lnTo>
                <a:cubicBezTo>
                  <a:pt x="22225" y="153075"/>
                  <a:pt x="24725" y="155575"/>
                  <a:pt x="27781" y="155575"/>
                </a:cubicBezTo>
                <a:lnTo>
                  <a:pt x="116681" y="155575"/>
                </a:lnTo>
                <a:cubicBezTo>
                  <a:pt x="119737" y="155575"/>
                  <a:pt x="122238" y="153075"/>
                  <a:pt x="122238" y="150019"/>
                </a:cubicBezTo>
                <a:lnTo>
                  <a:pt x="122238" y="122238"/>
                </a:lnTo>
                <a:cubicBezTo>
                  <a:pt x="122238" y="116091"/>
                  <a:pt x="127203" y="111125"/>
                  <a:pt x="133350" y="111125"/>
                </a:cubicBezTo>
                <a:cubicBezTo>
                  <a:pt x="139497" y="111125"/>
                  <a:pt x="144463" y="116091"/>
                  <a:pt x="144463" y="122238"/>
                </a:cubicBezTo>
                <a:lnTo>
                  <a:pt x="144463" y="150019"/>
                </a:lnTo>
                <a:cubicBezTo>
                  <a:pt x="144463" y="165368"/>
                  <a:pt x="132030" y="177800"/>
                  <a:pt x="116681" y="177800"/>
                </a:cubicBezTo>
                <a:lnTo>
                  <a:pt x="27781" y="177800"/>
                </a:lnTo>
                <a:cubicBezTo>
                  <a:pt x="12432" y="177800"/>
                  <a:pt x="0" y="165368"/>
                  <a:pt x="0" y="150019"/>
                </a:cubicBezTo>
                <a:lnTo>
                  <a:pt x="0" y="61119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270375" y="32004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数据集浏览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810000"/>
            <a:ext cx="10109200" cy="3149600"/>
          </a:xfrm>
          <a:custGeom>
            <a:avLst/>
            <a:gdLst/>
            <a:ahLst/>
            <a:cxnLst/>
            <a:rect l="l" t="t" r="r" b="b"/>
            <a:pathLst>
              <a:path w="10109200" h="3149600">
                <a:moveTo>
                  <a:pt x="50800" y="0"/>
                </a:moveTo>
                <a:lnTo>
                  <a:pt x="10007594" y="0"/>
                </a:lnTo>
                <a:cubicBezTo>
                  <a:pt x="10063709" y="0"/>
                  <a:pt x="10109200" y="45491"/>
                  <a:pt x="10109200" y="101606"/>
                </a:cubicBezTo>
                <a:lnTo>
                  <a:pt x="10109200" y="3047994"/>
                </a:lnTo>
                <a:cubicBezTo>
                  <a:pt x="10109200" y="3104109"/>
                  <a:pt x="10063709" y="3149600"/>
                  <a:pt x="10007594" y="3149600"/>
                </a:cubicBezTo>
                <a:lnTo>
                  <a:pt x="50800" y="3149600"/>
                </a:lnTo>
                <a:cubicBezTo>
                  <a:pt x="22744" y="3149600"/>
                  <a:pt x="0" y="3126856"/>
                  <a:pt x="0" y="309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33400" y="3810000"/>
            <a:ext cx="50800" cy="3149600"/>
          </a:xfrm>
          <a:custGeom>
            <a:avLst/>
            <a:gdLst/>
            <a:ahLst/>
            <a:cxnLst/>
            <a:rect l="l" t="t" r="r" b="b"/>
            <a:pathLst>
              <a:path w="50800" h="3149600">
                <a:moveTo>
                  <a:pt x="50800" y="0"/>
                </a:moveTo>
                <a:lnTo>
                  <a:pt x="50800" y="0"/>
                </a:lnTo>
                <a:lnTo>
                  <a:pt x="50800" y="3149600"/>
                </a:lnTo>
                <a:lnTo>
                  <a:pt x="50800" y="3149600"/>
                </a:lnTo>
                <a:cubicBezTo>
                  <a:pt x="22763" y="3149600"/>
                  <a:pt x="0" y="3126837"/>
                  <a:pt x="0" y="309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62000" y="4013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04875" y="4152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422400" y="4013200"/>
            <a:ext cx="914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数据规模与覆盖范围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22400" y="44704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时间跨度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22400" y="4775200"/>
            <a:ext cx="462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1901-至今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22400" y="52832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120+年气象历史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07100" y="44704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数据总量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07100" y="4775200"/>
            <a:ext cx="462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数TB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07100" y="52832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持续增长中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22400" y="56896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气象站数量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22400" y="5994400"/>
            <a:ext cx="462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数万+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22400" y="65024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全球分布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07100" y="56896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记录频率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07100" y="5994400"/>
            <a:ext cx="462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每日多次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07100" y="65024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持续观测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896600" y="508000"/>
            <a:ext cx="4851400" cy="8128000"/>
          </a:xfrm>
          <a:custGeom>
            <a:avLst/>
            <a:gdLst/>
            <a:ahLst/>
            <a:cxnLst/>
            <a:rect l="l" t="t" r="r" b="b"/>
            <a:pathLst>
              <a:path w="4851400" h="8128000">
                <a:moveTo>
                  <a:pt x="101588" y="0"/>
                </a:moveTo>
                <a:lnTo>
                  <a:pt x="4749812" y="0"/>
                </a:lnTo>
                <a:cubicBezTo>
                  <a:pt x="4805917" y="0"/>
                  <a:pt x="4851400" y="45483"/>
                  <a:pt x="4851400" y="101588"/>
                </a:cubicBezTo>
                <a:lnTo>
                  <a:pt x="4851400" y="8026412"/>
                </a:lnTo>
                <a:cubicBezTo>
                  <a:pt x="4851400" y="8082517"/>
                  <a:pt x="4805917" y="8128000"/>
                  <a:pt x="4749812" y="8128000"/>
                </a:cubicBezTo>
                <a:lnTo>
                  <a:pt x="101588" y="8128000"/>
                </a:lnTo>
                <a:cubicBezTo>
                  <a:pt x="45483" y="8128000"/>
                  <a:pt x="0" y="8082517"/>
                  <a:pt x="0" y="8026412"/>
                </a:cubicBezTo>
                <a:lnTo>
                  <a:pt x="0" y="101588"/>
                </a:lnTo>
                <a:cubicBezTo>
                  <a:pt x="0" y="45483"/>
                  <a:pt x="45483" y="0"/>
                  <a:pt x="101588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1198225" y="125095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1468100" y="1200150"/>
            <a:ext cx="415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数据特点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150600" y="18605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404600" y="175895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半结构化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404600" y="2165350"/>
            <a:ext cx="419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有固定格式但包含多种记录类型，适合MapReduce处理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150600" y="31305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404600" y="302895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面向记录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404600" y="3435350"/>
            <a:ext cx="416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每行代表一个独立的观测记录，便于并行处理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150600" y="40703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404600" y="3968750"/>
            <a:ext cx="377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时间序列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404600" y="4375150"/>
            <a:ext cx="3759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数据按时间顺序组织，支持历史气候分析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150600" y="501015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404600" y="490855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地理分布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404600" y="5314950"/>
            <a:ext cx="419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来自全球不同地理位置的气象站，体现分布式特征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150600" y="6286500"/>
            <a:ext cx="4343400" cy="12700"/>
          </a:xfrm>
          <a:custGeom>
            <a:avLst/>
            <a:gdLst/>
            <a:ahLst/>
            <a:cxnLst/>
            <a:rect l="l" t="t" r="r" b="b"/>
            <a:pathLst>
              <a:path w="4343400" h="12700">
                <a:moveTo>
                  <a:pt x="0" y="0"/>
                </a:moveTo>
                <a:lnTo>
                  <a:pt x="4343400" y="0"/>
                </a:lnTo>
                <a:lnTo>
                  <a:pt x="43434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7A7D8D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150600" y="6597650"/>
            <a:ext cx="443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为什么适合MapReduce？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150600" y="6953250"/>
            <a:ext cx="444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数据规模巨大、计算逻辑简单、可并行处理、具有明确的分组维度(年份)，完美契合MapReduce的编程模型。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493" y="433493"/>
            <a:ext cx="15464875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kern="0" spc="119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 · Problem Definition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3493" y="736939"/>
            <a:ext cx="15584085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7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问题描述：寻找每年的最高温度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33493" y="1300480"/>
            <a:ext cx="1213781" cy="43349"/>
          </a:xfrm>
          <a:custGeom>
            <a:avLst/>
            <a:gdLst/>
            <a:ahLst/>
            <a:cxnLst/>
            <a:rect l="l" t="t" r="r" b="b"/>
            <a:pathLst>
              <a:path w="1213781" h="43349">
                <a:moveTo>
                  <a:pt x="0" y="0"/>
                </a:moveTo>
                <a:lnTo>
                  <a:pt x="1213781" y="0"/>
                </a:lnTo>
                <a:lnTo>
                  <a:pt x="1213781" y="43349"/>
                </a:lnTo>
                <a:lnTo>
                  <a:pt x="0" y="43349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33493" y="1582251"/>
            <a:ext cx="4985173" cy="3186176"/>
          </a:xfrm>
          <a:custGeom>
            <a:avLst/>
            <a:gdLst/>
            <a:ahLst/>
            <a:cxnLst/>
            <a:rect l="l" t="t" r="r" b="b"/>
            <a:pathLst>
              <a:path w="4985173" h="3186176">
                <a:moveTo>
                  <a:pt x="43349" y="0"/>
                </a:moveTo>
                <a:lnTo>
                  <a:pt x="4941824" y="0"/>
                </a:lnTo>
                <a:cubicBezTo>
                  <a:pt x="4965765" y="0"/>
                  <a:pt x="4985173" y="19408"/>
                  <a:pt x="4985173" y="43349"/>
                </a:cubicBezTo>
                <a:lnTo>
                  <a:pt x="4985173" y="3099480"/>
                </a:lnTo>
                <a:cubicBezTo>
                  <a:pt x="4985173" y="3147361"/>
                  <a:pt x="4946358" y="3186176"/>
                  <a:pt x="4898477" y="3186176"/>
                </a:cubicBezTo>
                <a:lnTo>
                  <a:pt x="86696" y="3186176"/>
                </a:lnTo>
                <a:cubicBezTo>
                  <a:pt x="38815" y="3186176"/>
                  <a:pt x="0" y="3147361"/>
                  <a:pt x="0" y="3099480"/>
                </a:cubicBezTo>
                <a:lnTo>
                  <a:pt x="0" y="43349"/>
                </a:lnTo>
                <a:cubicBezTo>
                  <a:pt x="0" y="19408"/>
                  <a:pt x="19408" y="0"/>
                  <a:pt x="43349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33493" y="1582251"/>
            <a:ext cx="4985173" cy="43349"/>
          </a:xfrm>
          <a:custGeom>
            <a:avLst/>
            <a:gdLst/>
            <a:ahLst/>
            <a:cxnLst/>
            <a:rect l="l" t="t" r="r" b="b"/>
            <a:pathLst>
              <a:path w="4985173" h="43349">
                <a:moveTo>
                  <a:pt x="43349" y="0"/>
                </a:moveTo>
                <a:lnTo>
                  <a:pt x="4941824" y="0"/>
                </a:lnTo>
                <a:cubicBezTo>
                  <a:pt x="4965765" y="0"/>
                  <a:pt x="4985173" y="19408"/>
                  <a:pt x="4985173" y="43349"/>
                </a:cubicBezTo>
                <a:lnTo>
                  <a:pt x="4985173" y="43349"/>
                </a:lnTo>
                <a:lnTo>
                  <a:pt x="0" y="43349"/>
                </a:lnTo>
                <a:lnTo>
                  <a:pt x="0" y="43349"/>
                </a:lnTo>
                <a:cubicBezTo>
                  <a:pt x="0" y="19424"/>
                  <a:pt x="19424" y="0"/>
                  <a:pt x="4334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580047" y="1820672"/>
            <a:ext cx="693589" cy="693589"/>
          </a:xfrm>
          <a:custGeom>
            <a:avLst/>
            <a:gdLst/>
            <a:ahLst/>
            <a:cxnLst/>
            <a:rect l="l" t="t" r="r" b="b"/>
            <a:pathLst>
              <a:path w="693589" h="693589">
                <a:moveTo>
                  <a:pt x="130048" y="0"/>
                </a:moveTo>
                <a:lnTo>
                  <a:pt x="563541" y="0"/>
                </a:lnTo>
                <a:cubicBezTo>
                  <a:pt x="635365" y="0"/>
                  <a:pt x="693589" y="58224"/>
                  <a:pt x="693589" y="130048"/>
                </a:cubicBezTo>
                <a:lnTo>
                  <a:pt x="693589" y="563541"/>
                </a:lnTo>
                <a:cubicBezTo>
                  <a:pt x="693589" y="635365"/>
                  <a:pt x="635365" y="693589"/>
                  <a:pt x="563541" y="693589"/>
                </a:cubicBezTo>
                <a:lnTo>
                  <a:pt x="130048" y="693589"/>
                </a:lnTo>
                <a:cubicBezTo>
                  <a:pt x="58224" y="693589"/>
                  <a:pt x="0" y="635365"/>
                  <a:pt x="0" y="563541"/>
                </a:cubicBezTo>
                <a:lnTo>
                  <a:pt x="0" y="130048"/>
                </a:lnTo>
                <a:cubicBezTo>
                  <a:pt x="0" y="58224"/>
                  <a:pt x="58224" y="0"/>
                  <a:pt x="13004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813050" y="2037419"/>
            <a:ext cx="227584" cy="260096"/>
          </a:xfrm>
          <a:custGeom>
            <a:avLst/>
            <a:gdLst/>
            <a:ahLst/>
            <a:cxnLst/>
            <a:rect l="l" t="t" r="r" b="b"/>
            <a:pathLst>
              <a:path w="227584" h="260096">
                <a:moveTo>
                  <a:pt x="227584" y="104546"/>
                </a:moveTo>
                <a:cubicBezTo>
                  <a:pt x="220066" y="109525"/>
                  <a:pt x="211430" y="113538"/>
                  <a:pt x="202438" y="116738"/>
                </a:cubicBezTo>
                <a:cubicBezTo>
                  <a:pt x="178562" y="125273"/>
                  <a:pt x="147218" y="130048"/>
                  <a:pt x="113792" y="130048"/>
                </a:cubicBezTo>
                <a:cubicBezTo>
                  <a:pt x="80366" y="130048"/>
                  <a:pt x="48971" y="125222"/>
                  <a:pt x="25146" y="116738"/>
                </a:cubicBezTo>
                <a:cubicBezTo>
                  <a:pt x="16205" y="113538"/>
                  <a:pt x="7518" y="109525"/>
                  <a:pt x="0" y="104546"/>
                </a:cubicBezTo>
                <a:lnTo>
                  <a:pt x="0" y="146304"/>
                </a:lnTo>
                <a:cubicBezTo>
                  <a:pt x="0" y="168758"/>
                  <a:pt x="50952" y="186944"/>
                  <a:pt x="113792" y="186944"/>
                </a:cubicBezTo>
                <a:cubicBezTo>
                  <a:pt x="176632" y="186944"/>
                  <a:pt x="227584" y="168758"/>
                  <a:pt x="227584" y="146304"/>
                </a:cubicBezTo>
                <a:lnTo>
                  <a:pt x="227584" y="104546"/>
                </a:lnTo>
                <a:close/>
                <a:moveTo>
                  <a:pt x="227584" y="65024"/>
                </a:moveTo>
                <a:lnTo>
                  <a:pt x="227584" y="40640"/>
                </a:lnTo>
                <a:cubicBezTo>
                  <a:pt x="227584" y="18186"/>
                  <a:pt x="176632" y="0"/>
                  <a:pt x="113792" y="0"/>
                </a:cubicBezTo>
                <a:cubicBezTo>
                  <a:pt x="50952" y="0"/>
                  <a:pt x="0" y="18186"/>
                  <a:pt x="0" y="40640"/>
                </a:cubicBezTo>
                <a:lnTo>
                  <a:pt x="0" y="65024"/>
                </a:lnTo>
                <a:cubicBezTo>
                  <a:pt x="0" y="87478"/>
                  <a:pt x="50952" y="105664"/>
                  <a:pt x="113792" y="105664"/>
                </a:cubicBezTo>
                <a:cubicBezTo>
                  <a:pt x="176632" y="105664"/>
                  <a:pt x="227584" y="87478"/>
                  <a:pt x="227584" y="65024"/>
                </a:cubicBezTo>
                <a:close/>
                <a:moveTo>
                  <a:pt x="202438" y="198018"/>
                </a:moveTo>
                <a:cubicBezTo>
                  <a:pt x="178613" y="206502"/>
                  <a:pt x="147269" y="211328"/>
                  <a:pt x="113792" y="211328"/>
                </a:cubicBezTo>
                <a:cubicBezTo>
                  <a:pt x="80315" y="211328"/>
                  <a:pt x="48971" y="206502"/>
                  <a:pt x="25146" y="198018"/>
                </a:cubicBezTo>
                <a:cubicBezTo>
                  <a:pt x="16205" y="194818"/>
                  <a:pt x="7518" y="190805"/>
                  <a:pt x="0" y="185826"/>
                </a:cubicBezTo>
                <a:lnTo>
                  <a:pt x="0" y="219456"/>
                </a:lnTo>
                <a:cubicBezTo>
                  <a:pt x="0" y="241910"/>
                  <a:pt x="50952" y="260096"/>
                  <a:pt x="113792" y="260096"/>
                </a:cubicBezTo>
                <a:cubicBezTo>
                  <a:pt x="176632" y="260096"/>
                  <a:pt x="227584" y="241910"/>
                  <a:pt x="227584" y="219456"/>
                </a:cubicBezTo>
                <a:lnTo>
                  <a:pt x="227584" y="185826"/>
                </a:lnTo>
                <a:cubicBezTo>
                  <a:pt x="220066" y="190805"/>
                  <a:pt x="211430" y="194818"/>
                  <a:pt x="202438" y="19801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96053" y="2644309"/>
            <a:ext cx="4660053" cy="30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数据规模大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240" y="3121152"/>
            <a:ext cx="4638379" cy="563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5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NCDC数据集包含从1901年至今的全球气象数据，总量达到</a:t>
            </a:r>
            <a:r>
              <a:rPr lang="en-US" sz="136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数TB</a:t>
            </a:r>
            <a:r>
              <a:rPr lang="en-US" sz="1365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级别。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0240" y="3814741"/>
            <a:ext cx="4551680" cy="736939"/>
          </a:xfrm>
          <a:custGeom>
            <a:avLst/>
            <a:gdLst/>
            <a:ahLst/>
            <a:cxnLst/>
            <a:rect l="l" t="t" r="r" b="b"/>
            <a:pathLst>
              <a:path w="4551680" h="736939">
                <a:moveTo>
                  <a:pt x="43347" y="0"/>
                </a:moveTo>
                <a:lnTo>
                  <a:pt x="4508333" y="0"/>
                </a:lnTo>
                <a:cubicBezTo>
                  <a:pt x="4532273" y="0"/>
                  <a:pt x="4551680" y="19407"/>
                  <a:pt x="4551680" y="43347"/>
                </a:cubicBezTo>
                <a:lnTo>
                  <a:pt x="4551680" y="693592"/>
                </a:lnTo>
                <a:cubicBezTo>
                  <a:pt x="4551680" y="717532"/>
                  <a:pt x="4532273" y="736939"/>
                  <a:pt x="4508333" y="736939"/>
                </a:cubicBezTo>
                <a:lnTo>
                  <a:pt x="43347" y="736939"/>
                </a:lnTo>
                <a:cubicBezTo>
                  <a:pt x="19407" y="736939"/>
                  <a:pt x="0" y="717532"/>
                  <a:pt x="0" y="693592"/>
                </a:cubicBezTo>
                <a:lnTo>
                  <a:pt x="0" y="43347"/>
                </a:lnTo>
                <a:cubicBezTo>
                  <a:pt x="0" y="19423"/>
                  <a:pt x="19423" y="0"/>
                  <a:pt x="433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80288" y="3944789"/>
            <a:ext cx="4367445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挑战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0288" y="4204885"/>
            <a:ext cx="4367445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单机处理时间过长，内存和CPU成为瓶颈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36937" y="1582251"/>
            <a:ext cx="4985173" cy="3186176"/>
          </a:xfrm>
          <a:custGeom>
            <a:avLst/>
            <a:gdLst/>
            <a:ahLst/>
            <a:cxnLst/>
            <a:rect l="l" t="t" r="r" b="b"/>
            <a:pathLst>
              <a:path w="4985173" h="3186176">
                <a:moveTo>
                  <a:pt x="43349" y="0"/>
                </a:moveTo>
                <a:lnTo>
                  <a:pt x="4941824" y="0"/>
                </a:lnTo>
                <a:cubicBezTo>
                  <a:pt x="4965765" y="0"/>
                  <a:pt x="4985173" y="19408"/>
                  <a:pt x="4985173" y="43349"/>
                </a:cubicBezTo>
                <a:lnTo>
                  <a:pt x="4985173" y="3099480"/>
                </a:lnTo>
                <a:cubicBezTo>
                  <a:pt x="4985173" y="3147361"/>
                  <a:pt x="4946358" y="3186176"/>
                  <a:pt x="4898477" y="3186176"/>
                </a:cubicBezTo>
                <a:lnTo>
                  <a:pt x="86696" y="3186176"/>
                </a:lnTo>
                <a:cubicBezTo>
                  <a:pt x="38815" y="3186176"/>
                  <a:pt x="0" y="3147361"/>
                  <a:pt x="0" y="3099480"/>
                </a:cubicBezTo>
                <a:lnTo>
                  <a:pt x="0" y="43349"/>
                </a:lnTo>
                <a:cubicBezTo>
                  <a:pt x="0" y="19408"/>
                  <a:pt x="19408" y="0"/>
                  <a:pt x="43349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636937" y="1582251"/>
            <a:ext cx="4985173" cy="43349"/>
          </a:xfrm>
          <a:custGeom>
            <a:avLst/>
            <a:gdLst/>
            <a:ahLst/>
            <a:cxnLst/>
            <a:rect l="l" t="t" r="r" b="b"/>
            <a:pathLst>
              <a:path w="4985173" h="43349">
                <a:moveTo>
                  <a:pt x="43349" y="0"/>
                </a:moveTo>
                <a:lnTo>
                  <a:pt x="4941824" y="0"/>
                </a:lnTo>
                <a:cubicBezTo>
                  <a:pt x="4965765" y="0"/>
                  <a:pt x="4985173" y="19408"/>
                  <a:pt x="4985173" y="43349"/>
                </a:cubicBezTo>
                <a:lnTo>
                  <a:pt x="4985173" y="43349"/>
                </a:lnTo>
                <a:lnTo>
                  <a:pt x="0" y="43349"/>
                </a:lnTo>
                <a:lnTo>
                  <a:pt x="0" y="43349"/>
                </a:lnTo>
                <a:cubicBezTo>
                  <a:pt x="0" y="19424"/>
                  <a:pt x="19424" y="0"/>
                  <a:pt x="43349" y="0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783491" y="1820672"/>
            <a:ext cx="693589" cy="693589"/>
          </a:xfrm>
          <a:custGeom>
            <a:avLst/>
            <a:gdLst/>
            <a:ahLst/>
            <a:cxnLst/>
            <a:rect l="l" t="t" r="r" b="b"/>
            <a:pathLst>
              <a:path w="693589" h="693589">
                <a:moveTo>
                  <a:pt x="130048" y="0"/>
                </a:moveTo>
                <a:lnTo>
                  <a:pt x="563541" y="0"/>
                </a:lnTo>
                <a:cubicBezTo>
                  <a:pt x="635365" y="0"/>
                  <a:pt x="693589" y="58224"/>
                  <a:pt x="693589" y="130048"/>
                </a:cubicBezTo>
                <a:lnTo>
                  <a:pt x="693589" y="563541"/>
                </a:lnTo>
                <a:cubicBezTo>
                  <a:pt x="693589" y="635365"/>
                  <a:pt x="635365" y="693589"/>
                  <a:pt x="563541" y="693589"/>
                </a:cubicBezTo>
                <a:lnTo>
                  <a:pt x="130048" y="693589"/>
                </a:lnTo>
                <a:cubicBezTo>
                  <a:pt x="58224" y="693589"/>
                  <a:pt x="0" y="635365"/>
                  <a:pt x="0" y="563541"/>
                </a:cubicBezTo>
                <a:lnTo>
                  <a:pt x="0" y="130048"/>
                </a:lnTo>
                <a:cubicBezTo>
                  <a:pt x="0" y="58224"/>
                  <a:pt x="58224" y="0"/>
                  <a:pt x="130048" y="0"/>
                </a:cubicBezTo>
                <a:close/>
              </a:path>
            </a:pathLst>
          </a:custGeom>
          <a:solidFill>
            <a:srgbClr val="7A7D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000238" y="2037419"/>
            <a:ext cx="260096" cy="260096"/>
          </a:xfrm>
          <a:custGeom>
            <a:avLst/>
            <a:gdLst/>
            <a:ahLst/>
            <a:cxnLst/>
            <a:rect l="l" t="t" r="r" b="b"/>
            <a:pathLst>
              <a:path w="260096" h="260096">
                <a:moveTo>
                  <a:pt x="178765" y="142240"/>
                </a:moveTo>
                <a:lnTo>
                  <a:pt x="81788" y="142240"/>
                </a:lnTo>
                <a:cubicBezTo>
                  <a:pt x="83261" y="175006"/>
                  <a:pt x="90526" y="205181"/>
                  <a:pt x="100838" y="227279"/>
                </a:cubicBezTo>
                <a:cubicBezTo>
                  <a:pt x="106629" y="239725"/>
                  <a:pt x="112878" y="248514"/>
                  <a:pt x="118669" y="253898"/>
                </a:cubicBezTo>
                <a:cubicBezTo>
                  <a:pt x="124358" y="259232"/>
                  <a:pt x="128270" y="260096"/>
                  <a:pt x="130302" y="260096"/>
                </a:cubicBezTo>
                <a:cubicBezTo>
                  <a:pt x="132334" y="260096"/>
                  <a:pt x="136246" y="259232"/>
                  <a:pt x="141935" y="253898"/>
                </a:cubicBezTo>
                <a:cubicBezTo>
                  <a:pt x="147726" y="248514"/>
                  <a:pt x="153975" y="239674"/>
                  <a:pt x="159766" y="227279"/>
                </a:cubicBezTo>
                <a:cubicBezTo>
                  <a:pt x="170078" y="205181"/>
                  <a:pt x="177343" y="175006"/>
                  <a:pt x="178816" y="142240"/>
                </a:cubicBezTo>
                <a:close/>
                <a:moveTo>
                  <a:pt x="81737" y="117856"/>
                </a:moveTo>
                <a:lnTo>
                  <a:pt x="178714" y="117856"/>
                </a:lnTo>
                <a:cubicBezTo>
                  <a:pt x="177292" y="85090"/>
                  <a:pt x="170028" y="54915"/>
                  <a:pt x="159715" y="32817"/>
                </a:cubicBezTo>
                <a:cubicBezTo>
                  <a:pt x="153924" y="20422"/>
                  <a:pt x="147676" y="11582"/>
                  <a:pt x="141884" y="6198"/>
                </a:cubicBezTo>
                <a:cubicBezTo>
                  <a:pt x="136195" y="864"/>
                  <a:pt x="132283" y="0"/>
                  <a:pt x="130251" y="0"/>
                </a:cubicBezTo>
                <a:cubicBezTo>
                  <a:pt x="128219" y="0"/>
                  <a:pt x="124308" y="864"/>
                  <a:pt x="118618" y="6198"/>
                </a:cubicBezTo>
                <a:cubicBezTo>
                  <a:pt x="112827" y="11582"/>
                  <a:pt x="106578" y="20422"/>
                  <a:pt x="100787" y="32817"/>
                </a:cubicBezTo>
                <a:cubicBezTo>
                  <a:pt x="90475" y="54915"/>
                  <a:pt x="83210" y="85090"/>
                  <a:pt x="81737" y="117856"/>
                </a:cubicBezTo>
                <a:close/>
                <a:moveTo>
                  <a:pt x="57353" y="117856"/>
                </a:moveTo>
                <a:cubicBezTo>
                  <a:pt x="59131" y="74371"/>
                  <a:pt x="70358" y="33985"/>
                  <a:pt x="86766" y="7468"/>
                </a:cubicBezTo>
                <a:cubicBezTo>
                  <a:pt x="39980" y="24028"/>
                  <a:pt x="5537" y="66650"/>
                  <a:pt x="762" y="117856"/>
                </a:cubicBezTo>
                <a:lnTo>
                  <a:pt x="57353" y="117856"/>
                </a:lnTo>
                <a:close/>
                <a:moveTo>
                  <a:pt x="762" y="142240"/>
                </a:moveTo>
                <a:cubicBezTo>
                  <a:pt x="5537" y="193446"/>
                  <a:pt x="39980" y="236068"/>
                  <a:pt x="86766" y="252628"/>
                </a:cubicBezTo>
                <a:cubicBezTo>
                  <a:pt x="70358" y="226111"/>
                  <a:pt x="59131" y="185725"/>
                  <a:pt x="57353" y="142240"/>
                </a:cubicBezTo>
                <a:lnTo>
                  <a:pt x="762" y="142240"/>
                </a:lnTo>
                <a:close/>
                <a:moveTo>
                  <a:pt x="203149" y="142240"/>
                </a:moveTo>
                <a:cubicBezTo>
                  <a:pt x="201371" y="185725"/>
                  <a:pt x="190144" y="226111"/>
                  <a:pt x="173736" y="252628"/>
                </a:cubicBezTo>
                <a:cubicBezTo>
                  <a:pt x="220523" y="236017"/>
                  <a:pt x="254965" y="193446"/>
                  <a:pt x="259740" y="142240"/>
                </a:cubicBezTo>
                <a:lnTo>
                  <a:pt x="203149" y="142240"/>
                </a:lnTo>
                <a:close/>
                <a:moveTo>
                  <a:pt x="259740" y="117856"/>
                </a:moveTo>
                <a:cubicBezTo>
                  <a:pt x="254965" y="66650"/>
                  <a:pt x="220523" y="24028"/>
                  <a:pt x="173736" y="7468"/>
                </a:cubicBezTo>
                <a:cubicBezTo>
                  <a:pt x="190144" y="33985"/>
                  <a:pt x="201371" y="74371"/>
                  <a:pt x="203149" y="117856"/>
                </a:cubicBezTo>
                <a:lnTo>
                  <a:pt x="259740" y="117856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799497" y="2644309"/>
            <a:ext cx="4660053" cy="30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数据分布广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3684" y="3121152"/>
            <a:ext cx="4638379" cy="281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5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数据来自全球</a:t>
            </a:r>
            <a:r>
              <a:rPr lang="en-US" sz="136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数万个</a:t>
            </a:r>
            <a:r>
              <a:rPr lang="en-US" sz="1365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气象站的观测记录，地理分布广泛。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3684" y="3532971"/>
            <a:ext cx="4551680" cy="736939"/>
          </a:xfrm>
          <a:custGeom>
            <a:avLst/>
            <a:gdLst/>
            <a:ahLst/>
            <a:cxnLst/>
            <a:rect l="l" t="t" r="r" b="b"/>
            <a:pathLst>
              <a:path w="4551680" h="736939">
                <a:moveTo>
                  <a:pt x="43347" y="0"/>
                </a:moveTo>
                <a:lnTo>
                  <a:pt x="4508333" y="0"/>
                </a:lnTo>
                <a:cubicBezTo>
                  <a:pt x="4532273" y="0"/>
                  <a:pt x="4551680" y="19407"/>
                  <a:pt x="4551680" y="43347"/>
                </a:cubicBezTo>
                <a:lnTo>
                  <a:pt x="4551680" y="693592"/>
                </a:lnTo>
                <a:cubicBezTo>
                  <a:pt x="4551680" y="717532"/>
                  <a:pt x="4532273" y="736939"/>
                  <a:pt x="4508333" y="736939"/>
                </a:cubicBezTo>
                <a:lnTo>
                  <a:pt x="43347" y="736939"/>
                </a:lnTo>
                <a:cubicBezTo>
                  <a:pt x="19407" y="736939"/>
                  <a:pt x="0" y="717532"/>
                  <a:pt x="0" y="693592"/>
                </a:cubicBezTo>
                <a:lnTo>
                  <a:pt x="0" y="43347"/>
                </a:lnTo>
                <a:cubicBezTo>
                  <a:pt x="0" y="19423"/>
                  <a:pt x="19423" y="0"/>
                  <a:pt x="433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983732" y="3663019"/>
            <a:ext cx="4367445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挑战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83732" y="3923115"/>
            <a:ext cx="4367445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数据来源多样，需要有效的聚合策略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840466" y="1582251"/>
            <a:ext cx="4985173" cy="3186176"/>
          </a:xfrm>
          <a:custGeom>
            <a:avLst/>
            <a:gdLst/>
            <a:ahLst/>
            <a:cxnLst/>
            <a:rect l="l" t="t" r="r" b="b"/>
            <a:pathLst>
              <a:path w="4985173" h="3186176">
                <a:moveTo>
                  <a:pt x="43349" y="0"/>
                </a:moveTo>
                <a:lnTo>
                  <a:pt x="4941824" y="0"/>
                </a:lnTo>
                <a:cubicBezTo>
                  <a:pt x="4965765" y="0"/>
                  <a:pt x="4985173" y="19408"/>
                  <a:pt x="4985173" y="43349"/>
                </a:cubicBezTo>
                <a:lnTo>
                  <a:pt x="4985173" y="3099480"/>
                </a:lnTo>
                <a:cubicBezTo>
                  <a:pt x="4985173" y="3147361"/>
                  <a:pt x="4946358" y="3186176"/>
                  <a:pt x="4898477" y="3186176"/>
                </a:cubicBezTo>
                <a:lnTo>
                  <a:pt x="86696" y="3186176"/>
                </a:lnTo>
                <a:cubicBezTo>
                  <a:pt x="38815" y="3186176"/>
                  <a:pt x="0" y="3147361"/>
                  <a:pt x="0" y="3099480"/>
                </a:cubicBezTo>
                <a:lnTo>
                  <a:pt x="0" y="43349"/>
                </a:lnTo>
                <a:cubicBezTo>
                  <a:pt x="0" y="19408"/>
                  <a:pt x="19408" y="0"/>
                  <a:pt x="43349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0840466" y="1582251"/>
            <a:ext cx="4985173" cy="43349"/>
          </a:xfrm>
          <a:custGeom>
            <a:avLst/>
            <a:gdLst/>
            <a:ahLst/>
            <a:cxnLst/>
            <a:rect l="l" t="t" r="r" b="b"/>
            <a:pathLst>
              <a:path w="4985173" h="43349">
                <a:moveTo>
                  <a:pt x="43349" y="0"/>
                </a:moveTo>
                <a:lnTo>
                  <a:pt x="4941824" y="0"/>
                </a:lnTo>
                <a:cubicBezTo>
                  <a:pt x="4965765" y="0"/>
                  <a:pt x="4985173" y="19408"/>
                  <a:pt x="4985173" y="43349"/>
                </a:cubicBezTo>
                <a:lnTo>
                  <a:pt x="4985173" y="43349"/>
                </a:lnTo>
                <a:lnTo>
                  <a:pt x="0" y="43349"/>
                </a:lnTo>
                <a:lnTo>
                  <a:pt x="0" y="43349"/>
                </a:lnTo>
                <a:cubicBezTo>
                  <a:pt x="0" y="19424"/>
                  <a:pt x="19424" y="0"/>
                  <a:pt x="43349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2987020" y="1820672"/>
            <a:ext cx="693589" cy="693589"/>
          </a:xfrm>
          <a:custGeom>
            <a:avLst/>
            <a:gdLst/>
            <a:ahLst/>
            <a:cxnLst/>
            <a:rect l="l" t="t" r="r" b="b"/>
            <a:pathLst>
              <a:path w="693589" h="693589">
                <a:moveTo>
                  <a:pt x="130048" y="0"/>
                </a:moveTo>
                <a:lnTo>
                  <a:pt x="563541" y="0"/>
                </a:lnTo>
                <a:cubicBezTo>
                  <a:pt x="635365" y="0"/>
                  <a:pt x="693589" y="58224"/>
                  <a:pt x="693589" y="130048"/>
                </a:cubicBezTo>
                <a:lnTo>
                  <a:pt x="693589" y="563541"/>
                </a:lnTo>
                <a:cubicBezTo>
                  <a:pt x="693589" y="635365"/>
                  <a:pt x="635365" y="693589"/>
                  <a:pt x="563541" y="693589"/>
                </a:cubicBezTo>
                <a:lnTo>
                  <a:pt x="130048" y="693589"/>
                </a:lnTo>
                <a:cubicBezTo>
                  <a:pt x="58224" y="693589"/>
                  <a:pt x="0" y="635365"/>
                  <a:pt x="0" y="563541"/>
                </a:cubicBezTo>
                <a:lnTo>
                  <a:pt x="0" y="130048"/>
                </a:lnTo>
                <a:cubicBezTo>
                  <a:pt x="0" y="58224"/>
                  <a:pt x="58224" y="0"/>
                  <a:pt x="130048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3236279" y="2037419"/>
            <a:ext cx="195072" cy="260096"/>
          </a:xfrm>
          <a:custGeom>
            <a:avLst/>
            <a:gdLst/>
            <a:ahLst/>
            <a:cxnLst/>
            <a:rect l="l" t="t" r="r" b="b"/>
            <a:pathLst>
              <a:path w="195072" h="260096">
                <a:moveTo>
                  <a:pt x="32512" y="0"/>
                </a:moveTo>
                <a:cubicBezTo>
                  <a:pt x="14580" y="0"/>
                  <a:pt x="0" y="14580"/>
                  <a:pt x="0" y="32512"/>
                </a:cubicBezTo>
                <a:lnTo>
                  <a:pt x="0" y="227584"/>
                </a:lnTo>
                <a:cubicBezTo>
                  <a:pt x="0" y="245516"/>
                  <a:pt x="14580" y="260096"/>
                  <a:pt x="32512" y="260096"/>
                </a:cubicBezTo>
                <a:lnTo>
                  <a:pt x="162560" y="260096"/>
                </a:lnTo>
                <a:cubicBezTo>
                  <a:pt x="180492" y="260096"/>
                  <a:pt x="195072" y="245516"/>
                  <a:pt x="195072" y="227584"/>
                </a:cubicBezTo>
                <a:lnTo>
                  <a:pt x="195072" y="32512"/>
                </a:lnTo>
                <a:cubicBezTo>
                  <a:pt x="195072" y="14580"/>
                  <a:pt x="180492" y="0"/>
                  <a:pt x="162560" y="0"/>
                </a:cubicBezTo>
                <a:lnTo>
                  <a:pt x="32512" y="0"/>
                </a:lnTo>
                <a:close/>
                <a:moveTo>
                  <a:pt x="48768" y="32512"/>
                </a:moveTo>
                <a:lnTo>
                  <a:pt x="146304" y="32512"/>
                </a:lnTo>
                <a:cubicBezTo>
                  <a:pt x="155296" y="32512"/>
                  <a:pt x="162560" y="39776"/>
                  <a:pt x="162560" y="48768"/>
                </a:cubicBezTo>
                <a:lnTo>
                  <a:pt x="162560" y="65024"/>
                </a:lnTo>
                <a:cubicBezTo>
                  <a:pt x="162560" y="74016"/>
                  <a:pt x="155296" y="81280"/>
                  <a:pt x="146304" y="81280"/>
                </a:cubicBezTo>
                <a:lnTo>
                  <a:pt x="48768" y="81280"/>
                </a:lnTo>
                <a:cubicBezTo>
                  <a:pt x="39776" y="81280"/>
                  <a:pt x="32512" y="74016"/>
                  <a:pt x="32512" y="65024"/>
                </a:cubicBezTo>
                <a:lnTo>
                  <a:pt x="32512" y="48768"/>
                </a:lnTo>
                <a:cubicBezTo>
                  <a:pt x="32512" y="39776"/>
                  <a:pt x="39776" y="32512"/>
                  <a:pt x="48768" y="32512"/>
                </a:cubicBezTo>
                <a:close/>
                <a:moveTo>
                  <a:pt x="56896" y="117856"/>
                </a:moveTo>
                <a:cubicBezTo>
                  <a:pt x="56896" y="124585"/>
                  <a:pt x="51433" y="130048"/>
                  <a:pt x="44704" y="130048"/>
                </a:cubicBezTo>
                <a:cubicBezTo>
                  <a:pt x="37975" y="130048"/>
                  <a:pt x="32512" y="124585"/>
                  <a:pt x="32512" y="117856"/>
                </a:cubicBezTo>
                <a:cubicBezTo>
                  <a:pt x="32512" y="111127"/>
                  <a:pt x="37975" y="105664"/>
                  <a:pt x="44704" y="105664"/>
                </a:cubicBezTo>
                <a:cubicBezTo>
                  <a:pt x="51433" y="105664"/>
                  <a:pt x="56896" y="111127"/>
                  <a:pt x="56896" y="117856"/>
                </a:cubicBezTo>
                <a:close/>
                <a:moveTo>
                  <a:pt x="97536" y="130048"/>
                </a:moveTo>
                <a:cubicBezTo>
                  <a:pt x="90807" y="130048"/>
                  <a:pt x="85344" y="124585"/>
                  <a:pt x="85344" y="117856"/>
                </a:cubicBezTo>
                <a:cubicBezTo>
                  <a:pt x="85344" y="111127"/>
                  <a:pt x="90807" y="105664"/>
                  <a:pt x="97536" y="105664"/>
                </a:cubicBezTo>
                <a:cubicBezTo>
                  <a:pt x="104265" y="105664"/>
                  <a:pt x="109728" y="111127"/>
                  <a:pt x="109728" y="117856"/>
                </a:cubicBezTo>
                <a:cubicBezTo>
                  <a:pt x="109728" y="124585"/>
                  <a:pt x="104265" y="130048"/>
                  <a:pt x="97536" y="130048"/>
                </a:cubicBezTo>
                <a:close/>
                <a:moveTo>
                  <a:pt x="162560" y="117856"/>
                </a:moveTo>
                <a:cubicBezTo>
                  <a:pt x="162560" y="124585"/>
                  <a:pt x="157097" y="130048"/>
                  <a:pt x="150368" y="130048"/>
                </a:cubicBezTo>
                <a:cubicBezTo>
                  <a:pt x="143639" y="130048"/>
                  <a:pt x="138176" y="124585"/>
                  <a:pt x="138176" y="117856"/>
                </a:cubicBezTo>
                <a:cubicBezTo>
                  <a:pt x="138176" y="111127"/>
                  <a:pt x="143639" y="105664"/>
                  <a:pt x="150368" y="105664"/>
                </a:cubicBezTo>
                <a:cubicBezTo>
                  <a:pt x="157097" y="105664"/>
                  <a:pt x="162560" y="111127"/>
                  <a:pt x="162560" y="117856"/>
                </a:cubicBezTo>
                <a:close/>
                <a:moveTo>
                  <a:pt x="44704" y="178816"/>
                </a:moveTo>
                <a:cubicBezTo>
                  <a:pt x="37975" y="178816"/>
                  <a:pt x="32512" y="173353"/>
                  <a:pt x="32512" y="166624"/>
                </a:cubicBezTo>
                <a:cubicBezTo>
                  <a:pt x="32512" y="159895"/>
                  <a:pt x="37975" y="154432"/>
                  <a:pt x="44704" y="154432"/>
                </a:cubicBezTo>
                <a:cubicBezTo>
                  <a:pt x="51433" y="154432"/>
                  <a:pt x="56896" y="159895"/>
                  <a:pt x="56896" y="166624"/>
                </a:cubicBezTo>
                <a:cubicBezTo>
                  <a:pt x="56896" y="173353"/>
                  <a:pt x="51433" y="178816"/>
                  <a:pt x="44704" y="178816"/>
                </a:cubicBezTo>
                <a:close/>
                <a:moveTo>
                  <a:pt x="109728" y="166624"/>
                </a:moveTo>
                <a:cubicBezTo>
                  <a:pt x="109728" y="173353"/>
                  <a:pt x="104265" y="178816"/>
                  <a:pt x="97536" y="178816"/>
                </a:cubicBezTo>
                <a:cubicBezTo>
                  <a:pt x="90807" y="178816"/>
                  <a:pt x="85344" y="173353"/>
                  <a:pt x="85344" y="166624"/>
                </a:cubicBezTo>
                <a:cubicBezTo>
                  <a:pt x="85344" y="159895"/>
                  <a:pt x="90807" y="154432"/>
                  <a:pt x="97536" y="154432"/>
                </a:cubicBezTo>
                <a:cubicBezTo>
                  <a:pt x="104265" y="154432"/>
                  <a:pt x="109728" y="159895"/>
                  <a:pt x="109728" y="166624"/>
                </a:cubicBezTo>
                <a:close/>
                <a:moveTo>
                  <a:pt x="150368" y="178816"/>
                </a:moveTo>
                <a:cubicBezTo>
                  <a:pt x="143639" y="178816"/>
                  <a:pt x="138176" y="173353"/>
                  <a:pt x="138176" y="166624"/>
                </a:cubicBezTo>
                <a:cubicBezTo>
                  <a:pt x="138176" y="159895"/>
                  <a:pt x="143639" y="154432"/>
                  <a:pt x="150368" y="154432"/>
                </a:cubicBezTo>
                <a:cubicBezTo>
                  <a:pt x="157097" y="154432"/>
                  <a:pt x="162560" y="159895"/>
                  <a:pt x="162560" y="166624"/>
                </a:cubicBezTo>
                <a:cubicBezTo>
                  <a:pt x="162560" y="173353"/>
                  <a:pt x="157097" y="178816"/>
                  <a:pt x="150368" y="178816"/>
                </a:cubicBezTo>
                <a:close/>
                <a:moveTo>
                  <a:pt x="32512" y="215392"/>
                </a:moveTo>
                <a:cubicBezTo>
                  <a:pt x="32512" y="208636"/>
                  <a:pt x="37948" y="203200"/>
                  <a:pt x="44704" y="203200"/>
                </a:cubicBezTo>
                <a:lnTo>
                  <a:pt x="101600" y="203200"/>
                </a:lnTo>
                <a:cubicBezTo>
                  <a:pt x="108356" y="203200"/>
                  <a:pt x="113792" y="208636"/>
                  <a:pt x="113792" y="215392"/>
                </a:cubicBezTo>
                <a:cubicBezTo>
                  <a:pt x="113792" y="222148"/>
                  <a:pt x="108356" y="227584"/>
                  <a:pt x="101600" y="227584"/>
                </a:cubicBezTo>
                <a:lnTo>
                  <a:pt x="44704" y="227584"/>
                </a:lnTo>
                <a:cubicBezTo>
                  <a:pt x="37948" y="227584"/>
                  <a:pt x="32512" y="222148"/>
                  <a:pt x="32512" y="215392"/>
                </a:cubicBezTo>
                <a:close/>
                <a:moveTo>
                  <a:pt x="150368" y="203200"/>
                </a:moveTo>
                <a:cubicBezTo>
                  <a:pt x="157124" y="203200"/>
                  <a:pt x="162560" y="208636"/>
                  <a:pt x="162560" y="215392"/>
                </a:cubicBezTo>
                <a:cubicBezTo>
                  <a:pt x="162560" y="222148"/>
                  <a:pt x="157124" y="227584"/>
                  <a:pt x="150368" y="227584"/>
                </a:cubicBezTo>
                <a:cubicBezTo>
                  <a:pt x="143612" y="227584"/>
                  <a:pt x="138176" y="222148"/>
                  <a:pt x="138176" y="215392"/>
                </a:cubicBezTo>
                <a:cubicBezTo>
                  <a:pt x="138176" y="208636"/>
                  <a:pt x="143612" y="203200"/>
                  <a:pt x="150368" y="20320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003026" y="2644309"/>
            <a:ext cx="4660053" cy="30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计算量大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57213" y="3121152"/>
            <a:ext cx="4638379" cy="281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5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虽然逻辑简单（找最大值），但需要处理</a:t>
            </a:r>
            <a:r>
              <a:rPr lang="en-US" sz="136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海量数据</a:t>
            </a:r>
            <a:r>
              <a:rPr lang="en-US" sz="1365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057213" y="3532971"/>
            <a:ext cx="4551680" cy="736939"/>
          </a:xfrm>
          <a:custGeom>
            <a:avLst/>
            <a:gdLst/>
            <a:ahLst/>
            <a:cxnLst/>
            <a:rect l="l" t="t" r="r" b="b"/>
            <a:pathLst>
              <a:path w="4551680" h="736939">
                <a:moveTo>
                  <a:pt x="43347" y="0"/>
                </a:moveTo>
                <a:lnTo>
                  <a:pt x="4508333" y="0"/>
                </a:lnTo>
                <a:cubicBezTo>
                  <a:pt x="4532273" y="0"/>
                  <a:pt x="4551680" y="19407"/>
                  <a:pt x="4551680" y="43347"/>
                </a:cubicBezTo>
                <a:lnTo>
                  <a:pt x="4551680" y="693592"/>
                </a:lnTo>
                <a:cubicBezTo>
                  <a:pt x="4551680" y="717532"/>
                  <a:pt x="4532273" y="736939"/>
                  <a:pt x="4508333" y="736939"/>
                </a:cubicBezTo>
                <a:lnTo>
                  <a:pt x="43347" y="736939"/>
                </a:lnTo>
                <a:cubicBezTo>
                  <a:pt x="19407" y="736939"/>
                  <a:pt x="0" y="717532"/>
                  <a:pt x="0" y="693592"/>
                </a:cubicBezTo>
                <a:lnTo>
                  <a:pt x="0" y="43347"/>
                </a:lnTo>
                <a:cubicBezTo>
                  <a:pt x="0" y="19423"/>
                  <a:pt x="19423" y="0"/>
                  <a:pt x="4334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1187261" y="3663019"/>
            <a:ext cx="4367445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挑战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87261" y="3923115"/>
            <a:ext cx="4367445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需要并行计算能力加速处理过程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3493" y="4985173"/>
            <a:ext cx="15389013" cy="3728043"/>
          </a:xfrm>
          <a:custGeom>
            <a:avLst/>
            <a:gdLst/>
            <a:ahLst/>
            <a:cxnLst/>
            <a:rect l="l" t="t" r="r" b="b"/>
            <a:pathLst>
              <a:path w="15389013" h="3728043">
                <a:moveTo>
                  <a:pt x="86714" y="0"/>
                </a:moveTo>
                <a:lnTo>
                  <a:pt x="15302299" y="0"/>
                </a:lnTo>
                <a:cubicBezTo>
                  <a:pt x="15350190" y="0"/>
                  <a:pt x="15389013" y="38823"/>
                  <a:pt x="15389013" y="86714"/>
                </a:cubicBezTo>
                <a:lnTo>
                  <a:pt x="15389013" y="3641328"/>
                </a:lnTo>
                <a:cubicBezTo>
                  <a:pt x="15389013" y="3689219"/>
                  <a:pt x="15350190" y="3728043"/>
                  <a:pt x="15302299" y="3728043"/>
                </a:cubicBezTo>
                <a:lnTo>
                  <a:pt x="86714" y="3728043"/>
                </a:lnTo>
                <a:cubicBezTo>
                  <a:pt x="38823" y="3728043"/>
                  <a:pt x="0" y="3689219"/>
                  <a:pt x="0" y="3641328"/>
                </a:cubicBezTo>
                <a:lnTo>
                  <a:pt x="0" y="86714"/>
                </a:lnTo>
                <a:cubicBezTo>
                  <a:pt x="0" y="38855"/>
                  <a:pt x="38855" y="0"/>
                  <a:pt x="86714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15264" y="5245269"/>
            <a:ext cx="195072" cy="260096"/>
          </a:xfrm>
          <a:custGeom>
            <a:avLst/>
            <a:gdLst/>
            <a:ahLst/>
            <a:cxnLst/>
            <a:rect l="l" t="t" r="r" b="b"/>
            <a:pathLst>
              <a:path w="195072" h="260096">
                <a:moveTo>
                  <a:pt x="0" y="32512"/>
                </a:moveTo>
                <a:cubicBezTo>
                  <a:pt x="0" y="14580"/>
                  <a:pt x="14580" y="0"/>
                  <a:pt x="32512" y="0"/>
                </a:cubicBezTo>
                <a:lnTo>
                  <a:pt x="108458" y="0"/>
                </a:lnTo>
                <a:cubicBezTo>
                  <a:pt x="117094" y="0"/>
                  <a:pt x="125374" y="3404"/>
                  <a:pt x="131470" y="9500"/>
                </a:cubicBezTo>
                <a:lnTo>
                  <a:pt x="185572" y="63652"/>
                </a:lnTo>
                <a:cubicBezTo>
                  <a:pt x="191668" y="69748"/>
                  <a:pt x="195072" y="78029"/>
                  <a:pt x="195072" y="86665"/>
                </a:cubicBezTo>
                <a:lnTo>
                  <a:pt x="195072" y="227584"/>
                </a:lnTo>
                <a:cubicBezTo>
                  <a:pt x="195072" y="245516"/>
                  <a:pt x="180492" y="260096"/>
                  <a:pt x="162560" y="260096"/>
                </a:cubicBezTo>
                <a:lnTo>
                  <a:pt x="32512" y="260096"/>
                </a:lnTo>
                <a:cubicBezTo>
                  <a:pt x="14580" y="260096"/>
                  <a:pt x="0" y="245516"/>
                  <a:pt x="0" y="227584"/>
                </a:cubicBezTo>
                <a:lnTo>
                  <a:pt x="0" y="32512"/>
                </a:lnTo>
                <a:close/>
                <a:moveTo>
                  <a:pt x="105664" y="29718"/>
                </a:moveTo>
                <a:lnTo>
                  <a:pt x="105664" y="77216"/>
                </a:lnTo>
                <a:cubicBezTo>
                  <a:pt x="105664" y="83972"/>
                  <a:pt x="111100" y="89408"/>
                  <a:pt x="117856" y="89408"/>
                </a:cubicBezTo>
                <a:lnTo>
                  <a:pt x="165354" y="89408"/>
                </a:lnTo>
                <a:lnTo>
                  <a:pt x="105664" y="29718"/>
                </a:lnTo>
                <a:close/>
                <a:moveTo>
                  <a:pt x="60960" y="130048"/>
                </a:moveTo>
                <a:cubicBezTo>
                  <a:pt x="54204" y="130048"/>
                  <a:pt x="48768" y="135484"/>
                  <a:pt x="48768" y="142240"/>
                </a:cubicBezTo>
                <a:cubicBezTo>
                  <a:pt x="48768" y="148996"/>
                  <a:pt x="54204" y="154432"/>
                  <a:pt x="60960" y="154432"/>
                </a:cubicBezTo>
                <a:lnTo>
                  <a:pt x="134112" y="154432"/>
                </a:lnTo>
                <a:cubicBezTo>
                  <a:pt x="140868" y="154432"/>
                  <a:pt x="146304" y="148996"/>
                  <a:pt x="146304" y="142240"/>
                </a:cubicBezTo>
                <a:cubicBezTo>
                  <a:pt x="146304" y="135484"/>
                  <a:pt x="140868" y="130048"/>
                  <a:pt x="134112" y="130048"/>
                </a:cubicBezTo>
                <a:lnTo>
                  <a:pt x="60960" y="130048"/>
                </a:lnTo>
                <a:close/>
                <a:moveTo>
                  <a:pt x="60960" y="178816"/>
                </a:moveTo>
                <a:cubicBezTo>
                  <a:pt x="54204" y="178816"/>
                  <a:pt x="48768" y="184252"/>
                  <a:pt x="48768" y="191008"/>
                </a:cubicBezTo>
                <a:cubicBezTo>
                  <a:pt x="48768" y="197764"/>
                  <a:pt x="54204" y="203200"/>
                  <a:pt x="60960" y="203200"/>
                </a:cubicBezTo>
                <a:lnTo>
                  <a:pt x="134112" y="203200"/>
                </a:lnTo>
                <a:cubicBezTo>
                  <a:pt x="140868" y="203200"/>
                  <a:pt x="146304" y="197764"/>
                  <a:pt x="146304" y="191008"/>
                </a:cubicBezTo>
                <a:cubicBezTo>
                  <a:pt x="146304" y="184252"/>
                  <a:pt x="140868" y="178816"/>
                  <a:pt x="134112" y="178816"/>
                </a:cubicBezTo>
                <a:lnTo>
                  <a:pt x="60960" y="178816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75360" y="5201920"/>
            <a:ext cx="14760448" cy="34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典型数据记录示例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0240" y="5722112"/>
            <a:ext cx="11173291" cy="2340864"/>
          </a:xfrm>
          <a:custGeom>
            <a:avLst/>
            <a:gdLst/>
            <a:ahLst/>
            <a:cxnLst/>
            <a:rect l="l" t="t" r="r" b="b"/>
            <a:pathLst>
              <a:path w="11173291" h="2340864">
                <a:moveTo>
                  <a:pt x="86706" y="0"/>
                </a:moveTo>
                <a:lnTo>
                  <a:pt x="11086585" y="0"/>
                </a:lnTo>
                <a:cubicBezTo>
                  <a:pt x="11134471" y="0"/>
                  <a:pt x="11173291" y="38819"/>
                  <a:pt x="11173291" y="86706"/>
                </a:cubicBezTo>
                <a:lnTo>
                  <a:pt x="11173291" y="2254158"/>
                </a:lnTo>
                <a:cubicBezTo>
                  <a:pt x="11173291" y="2302045"/>
                  <a:pt x="11134471" y="2340864"/>
                  <a:pt x="11086585" y="2340864"/>
                </a:cubicBezTo>
                <a:lnTo>
                  <a:pt x="86706" y="2340864"/>
                </a:lnTo>
                <a:cubicBezTo>
                  <a:pt x="38819" y="2340864"/>
                  <a:pt x="0" y="2302045"/>
                  <a:pt x="0" y="2254158"/>
                </a:cubicBezTo>
                <a:lnTo>
                  <a:pt x="0" y="86706"/>
                </a:lnTo>
                <a:cubicBezTo>
                  <a:pt x="0" y="38851"/>
                  <a:pt x="38851" y="0"/>
                  <a:pt x="8670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23637" y="5895509"/>
            <a:ext cx="10913195" cy="281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5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原始数据记录（固定宽度格式）：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3637" y="6263979"/>
            <a:ext cx="10913195" cy="563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005733213099999</a:t>
            </a:r>
            <a:r>
              <a:rPr lang="en-US" sz="136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1950</a:t>
            </a:r>
            <a:r>
              <a:rPr lang="en-US" sz="136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010106004+64333+023450FM-12+000599999V0202701N015919999999N0000001N9</a:t>
            </a:r>
            <a:r>
              <a:rPr lang="en-US" sz="136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-00781</a:t>
            </a:r>
            <a:r>
              <a:rPr lang="en-US" sz="136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+99999102001ADDGF108991999999999999999999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000484" y="5722112"/>
            <a:ext cx="3608832" cy="2340864"/>
          </a:xfrm>
          <a:custGeom>
            <a:avLst/>
            <a:gdLst/>
            <a:ahLst/>
            <a:cxnLst/>
            <a:rect l="l" t="t" r="r" b="b"/>
            <a:pathLst>
              <a:path w="3608832" h="2340864">
                <a:moveTo>
                  <a:pt x="86706" y="0"/>
                </a:moveTo>
                <a:lnTo>
                  <a:pt x="3522126" y="0"/>
                </a:lnTo>
                <a:cubicBezTo>
                  <a:pt x="3570013" y="0"/>
                  <a:pt x="3608832" y="38819"/>
                  <a:pt x="3608832" y="86706"/>
                </a:cubicBezTo>
                <a:lnTo>
                  <a:pt x="3608832" y="2254158"/>
                </a:lnTo>
                <a:cubicBezTo>
                  <a:pt x="3608832" y="2302045"/>
                  <a:pt x="3570013" y="2340864"/>
                  <a:pt x="3522126" y="2340864"/>
                </a:cubicBezTo>
                <a:lnTo>
                  <a:pt x="86706" y="2340864"/>
                </a:lnTo>
                <a:cubicBezTo>
                  <a:pt x="38819" y="2340864"/>
                  <a:pt x="0" y="2302045"/>
                  <a:pt x="0" y="2254158"/>
                </a:cubicBezTo>
                <a:lnTo>
                  <a:pt x="0" y="86706"/>
                </a:lnTo>
                <a:cubicBezTo>
                  <a:pt x="0" y="38851"/>
                  <a:pt x="38851" y="0"/>
                  <a:pt x="8670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2173881" y="5895509"/>
            <a:ext cx="3337899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关键字段解析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173881" y="6242304"/>
            <a:ext cx="433493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年份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5053479" y="6242304"/>
            <a:ext cx="466005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1950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173881" y="6589099"/>
            <a:ext cx="433493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月日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5083367" y="6589099"/>
            <a:ext cx="444331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0101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173881" y="6935893"/>
            <a:ext cx="433493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5006659" y="6935893"/>
            <a:ext cx="520192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0600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173881" y="7282688"/>
            <a:ext cx="433493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气温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4924701" y="7282688"/>
            <a:ext cx="596053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-7.8°C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173881" y="7629483"/>
            <a:ext cx="433493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5090309" y="7629483"/>
            <a:ext cx="433493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可靠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01717" y="8268885"/>
            <a:ext cx="146304" cy="195072"/>
          </a:xfrm>
          <a:custGeom>
            <a:avLst/>
            <a:gdLst/>
            <a:ahLst/>
            <a:cxnLst/>
            <a:rect l="l" t="t" r="r" b="b"/>
            <a:pathLst>
              <a:path w="146304" h="195072">
                <a:moveTo>
                  <a:pt x="111595" y="146304"/>
                </a:moveTo>
                <a:cubicBezTo>
                  <a:pt x="114376" y="137808"/>
                  <a:pt x="119939" y="130111"/>
                  <a:pt x="126225" y="123482"/>
                </a:cubicBezTo>
                <a:cubicBezTo>
                  <a:pt x="138684" y="110376"/>
                  <a:pt x="146304" y="92659"/>
                  <a:pt x="146304" y="73152"/>
                </a:cubicBezTo>
                <a:cubicBezTo>
                  <a:pt x="146304" y="32766"/>
                  <a:pt x="113538" y="0"/>
                  <a:pt x="73152" y="0"/>
                </a:cubicBezTo>
                <a:cubicBezTo>
                  <a:pt x="32766" y="0"/>
                  <a:pt x="0" y="32766"/>
                  <a:pt x="0" y="73152"/>
                </a:cubicBezTo>
                <a:cubicBezTo>
                  <a:pt x="0" y="92659"/>
                  <a:pt x="7620" y="110376"/>
                  <a:pt x="20079" y="123482"/>
                </a:cubicBezTo>
                <a:cubicBezTo>
                  <a:pt x="26365" y="130111"/>
                  <a:pt x="31966" y="137808"/>
                  <a:pt x="34709" y="146304"/>
                </a:cubicBezTo>
                <a:lnTo>
                  <a:pt x="111557" y="146304"/>
                </a:lnTo>
                <a:close/>
                <a:moveTo>
                  <a:pt x="109728" y="164592"/>
                </a:moveTo>
                <a:lnTo>
                  <a:pt x="36576" y="164592"/>
                </a:lnTo>
                <a:lnTo>
                  <a:pt x="36576" y="170688"/>
                </a:lnTo>
                <a:cubicBezTo>
                  <a:pt x="36576" y="187528"/>
                  <a:pt x="50216" y="201168"/>
                  <a:pt x="67056" y="201168"/>
                </a:cubicBezTo>
                <a:lnTo>
                  <a:pt x="79248" y="201168"/>
                </a:lnTo>
                <a:cubicBezTo>
                  <a:pt x="96088" y="201168"/>
                  <a:pt x="109728" y="187528"/>
                  <a:pt x="109728" y="170688"/>
                </a:cubicBezTo>
                <a:lnTo>
                  <a:pt x="109728" y="164592"/>
                </a:lnTo>
                <a:close/>
                <a:moveTo>
                  <a:pt x="70104" y="42672"/>
                </a:moveTo>
                <a:cubicBezTo>
                  <a:pt x="54940" y="42672"/>
                  <a:pt x="42672" y="54940"/>
                  <a:pt x="42672" y="70104"/>
                </a:cubicBezTo>
                <a:cubicBezTo>
                  <a:pt x="42672" y="75171"/>
                  <a:pt x="38595" y="79248"/>
                  <a:pt x="33528" y="79248"/>
                </a:cubicBezTo>
                <a:cubicBezTo>
                  <a:pt x="28461" y="79248"/>
                  <a:pt x="24384" y="75171"/>
                  <a:pt x="24384" y="70104"/>
                </a:cubicBezTo>
                <a:cubicBezTo>
                  <a:pt x="24384" y="44844"/>
                  <a:pt x="44844" y="24384"/>
                  <a:pt x="70104" y="24384"/>
                </a:cubicBezTo>
                <a:cubicBezTo>
                  <a:pt x="75171" y="24384"/>
                  <a:pt x="79248" y="28461"/>
                  <a:pt x="79248" y="33528"/>
                </a:cubicBezTo>
                <a:cubicBezTo>
                  <a:pt x="79248" y="38595"/>
                  <a:pt x="75171" y="42672"/>
                  <a:pt x="70104" y="4267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024128" y="8236373"/>
            <a:ext cx="9103360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处理目标：</a:t>
            </a:r>
            <a:r>
              <a:rPr lang="en-US" sz="1365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从海量类似记录中提取每年的最高温度，需要解析每条记录、提取年份和温度、按年份分组并计算最大值。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83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kern="0" spc="11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 · Data Format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19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数据格式解析：固定宽度文本格式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1150362"/>
            <a:ext cx="8890000" cy="5819777"/>
          </a:xfrm>
          <a:custGeom>
            <a:avLst/>
            <a:gdLst/>
            <a:ahLst/>
            <a:cxnLst/>
            <a:rect l="l" t="t" r="r" b="b"/>
            <a:pathLst>
              <a:path w="8890000" h="7323667">
                <a:moveTo>
                  <a:pt x="42333" y="0"/>
                </a:moveTo>
                <a:lnTo>
                  <a:pt x="8805338" y="0"/>
                </a:lnTo>
                <a:cubicBezTo>
                  <a:pt x="8852096" y="0"/>
                  <a:pt x="8890000" y="37904"/>
                  <a:pt x="8890000" y="84662"/>
                </a:cubicBezTo>
                <a:lnTo>
                  <a:pt x="8890000" y="7239005"/>
                </a:lnTo>
                <a:cubicBezTo>
                  <a:pt x="8890000" y="7285762"/>
                  <a:pt x="8852096" y="7323667"/>
                  <a:pt x="8805338" y="7323667"/>
                </a:cubicBezTo>
                <a:lnTo>
                  <a:pt x="42333" y="7323667"/>
                </a:lnTo>
                <a:cubicBezTo>
                  <a:pt x="18953" y="7323667"/>
                  <a:pt x="0" y="7304713"/>
                  <a:pt x="0" y="728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1150362"/>
            <a:ext cx="45719" cy="5837491"/>
          </a:xfrm>
          <a:custGeom>
            <a:avLst/>
            <a:gdLst/>
            <a:ahLst/>
            <a:cxnLst/>
            <a:rect l="l" t="t" r="r" b="b"/>
            <a:pathLst>
              <a:path w="42333" h="7323667">
                <a:moveTo>
                  <a:pt x="42333" y="0"/>
                </a:moveTo>
                <a:lnTo>
                  <a:pt x="42333" y="0"/>
                </a:lnTo>
                <a:lnTo>
                  <a:pt x="42333" y="7323667"/>
                </a:lnTo>
                <a:lnTo>
                  <a:pt x="42333" y="7323667"/>
                </a:lnTo>
                <a:cubicBezTo>
                  <a:pt x="18953" y="7323667"/>
                  <a:pt x="0" y="7304713"/>
                  <a:pt x="0" y="728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4688" y="1362028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105833" y="66146"/>
                </a:moveTo>
                <a:lnTo>
                  <a:pt x="105833" y="105833"/>
                </a:lnTo>
                <a:lnTo>
                  <a:pt x="158750" y="105833"/>
                </a:lnTo>
                <a:lnTo>
                  <a:pt x="158750" y="66146"/>
                </a:lnTo>
                <a:lnTo>
                  <a:pt x="105833" y="66146"/>
                </a:lnTo>
                <a:close/>
                <a:moveTo>
                  <a:pt x="79375" y="66146"/>
                </a:moveTo>
                <a:lnTo>
                  <a:pt x="26458" y="66146"/>
                </a:lnTo>
                <a:lnTo>
                  <a:pt x="26458" y="105833"/>
                </a:lnTo>
                <a:lnTo>
                  <a:pt x="79375" y="105833"/>
                </a:lnTo>
                <a:lnTo>
                  <a:pt x="79375" y="66146"/>
                </a:lnTo>
                <a:close/>
                <a:moveTo>
                  <a:pt x="0" y="132292"/>
                </a:moveTo>
                <a:lnTo>
                  <a:pt x="0" y="39688"/>
                </a:lnTo>
                <a:cubicBezTo>
                  <a:pt x="0" y="25094"/>
                  <a:pt x="11865" y="13229"/>
                  <a:pt x="26458" y="13229"/>
                </a:cubicBezTo>
                <a:lnTo>
                  <a:pt x="158750" y="13229"/>
                </a:lnTo>
                <a:cubicBezTo>
                  <a:pt x="173343" y="13229"/>
                  <a:pt x="185208" y="25094"/>
                  <a:pt x="185208" y="39688"/>
                </a:cubicBezTo>
                <a:lnTo>
                  <a:pt x="185208" y="171979"/>
                </a:lnTo>
                <a:cubicBezTo>
                  <a:pt x="185208" y="186573"/>
                  <a:pt x="173343" y="198438"/>
                  <a:pt x="158750" y="198438"/>
                </a:cubicBezTo>
                <a:lnTo>
                  <a:pt x="26458" y="198438"/>
                </a:lnTo>
                <a:cubicBezTo>
                  <a:pt x="11865" y="198438"/>
                  <a:pt x="0" y="186573"/>
                  <a:pt x="0" y="171979"/>
                </a:cubicBezTo>
                <a:lnTo>
                  <a:pt x="0" y="132292"/>
                </a:lnTo>
                <a:close/>
                <a:moveTo>
                  <a:pt x="158750" y="132292"/>
                </a:moveTo>
                <a:lnTo>
                  <a:pt x="105833" y="132292"/>
                </a:lnTo>
                <a:lnTo>
                  <a:pt x="105833" y="171979"/>
                </a:lnTo>
                <a:lnTo>
                  <a:pt x="158750" y="171979"/>
                </a:lnTo>
                <a:lnTo>
                  <a:pt x="158750" y="132292"/>
                </a:lnTo>
                <a:close/>
                <a:moveTo>
                  <a:pt x="79375" y="171979"/>
                </a:moveTo>
                <a:lnTo>
                  <a:pt x="79375" y="132292"/>
                </a:lnTo>
                <a:lnTo>
                  <a:pt x="26458" y="132292"/>
                </a:lnTo>
                <a:lnTo>
                  <a:pt x="26458" y="171979"/>
                </a:lnTo>
                <a:lnTo>
                  <a:pt x="79375" y="171979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99583" y="1319695"/>
            <a:ext cx="8371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数据格式规范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00" y="1743028"/>
            <a:ext cx="86148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NCDC气象数据使用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固定宽度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的文本格式存储，每条记录包含多个字段，从位置0开始计数。理解字段位置对正确解析数据至关重要。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000" y="2420363"/>
            <a:ext cx="8530167" cy="4080931"/>
          </a:xfrm>
          <a:custGeom>
            <a:avLst/>
            <a:gdLst/>
            <a:ahLst/>
            <a:cxnLst/>
            <a:rect l="l" t="t" r="r" b="b"/>
            <a:pathLst>
              <a:path w="8530167" h="5884333">
                <a:moveTo>
                  <a:pt x="84676" y="0"/>
                </a:moveTo>
                <a:lnTo>
                  <a:pt x="8445491" y="0"/>
                </a:lnTo>
                <a:cubicBezTo>
                  <a:pt x="8492256" y="0"/>
                  <a:pt x="8530167" y="37911"/>
                  <a:pt x="8530167" y="84676"/>
                </a:cubicBezTo>
                <a:lnTo>
                  <a:pt x="8530167" y="5799658"/>
                </a:lnTo>
                <a:cubicBezTo>
                  <a:pt x="8530167" y="5846423"/>
                  <a:pt x="8492256" y="5884333"/>
                  <a:pt x="8445491" y="5884333"/>
                </a:cubicBezTo>
                <a:lnTo>
                  <a:pt x="84676" y="5884333"/>
                </a:lnTo>
                <a:cubicBezTo>
                  <a:pt x="37911" y="5884333"/>
                  <a:pt x="0" y="5846423"/>
                  <a:pt x="0" y="5799658"/>
                </a:cubicBezTo>
                <a:lnTo>
                  <a:pt x="0" y="84676"/>
                </a:lnTo>
                <a:cubicBezTo>
                  <a:pt x="0" y="37911"/>
                  <a:pt x="37911" y="0"/>
                  <a:pt x="8467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859919"/>
              </p:ext>
            </p:extLst>
          </p:nvPr>
        </p:nvGraphicFramePr>
        <p:xfrm>
          <a:off x="762000" y="2547364"/>
          <a:ext cx="8276166" cy="3840187"/>
        </p:xfrm>
        <a:graphic>
          <a:graphicData uri="http://schemas.openxmlformats.org/drawingml/2006/table">
            <a:tbl>
              <a:tblPr/>
              <a:tblGrid>
                <a:gridCol w="1471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3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399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3D8F8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位置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3D8F8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3D8F8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描述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3D8F8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示例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399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0-3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年份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1950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399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4-6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月份和日期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0101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399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7-10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0600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399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11-15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纬度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+6433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399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16-20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经度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+02345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399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21-30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海拔高度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+000599999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399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31-35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V02027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399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36-41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风速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01N015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399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42-47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天空状况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919999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399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48-52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能见度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99999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399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87-92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气温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-00781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399"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92-93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质量代码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90218" y="7031774"/>
            <a:ext cx="15346665" cy="2049988"/>
          </a:xfrm>
          <a:custGeom>
            <a:avLst/>
            <a:gdLst/>
            <a:ahLst/>
            <a:cxnLst/>
            <a:rect l="l" t="t" r="r" b="b"/>
            <a:pathLst>
              <a:path w="8890000" h="3725333">
                <a:moveTo>
                  <a:pt x="42333" y="0"/>
                </a:moveTo>
                <a:lnTo>
                  <a:pt x="8805323" y="0"/>
                </a:lnTo>
                <a:cubicBezTo>
                  <a:pt x="8852089" y="0"/>
                  <a:pt x="8890000" y="37911"/>
                  <a:pt x="8890000" y="84677"/>
                </a:cubicBezTo>
                <a:lnTo>
                  <a:pt x="8890000" y="3640657"/>
                </a:lnTo>
                <a:cubicBezTo>
                  <a:pt x="8890000" y="3687422"/>
                  <a:pt x="8852089" y="3725333"/>
                  <a:pt x="8805323" y="3725333"/>
                </a:cubicBezTo>
                <a:lnTo>
                  <a:pt x="42333" y="3725333"/>
                </a:lnTo>
                <a:cubicBezTo>
                  <a:pt x="18953" y="3725333"/>
                  <a:pt x="0" y="3706380"/>
                  <a:pt x="0" y="3683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 flipH="1">
            <a:off x="444500" y="7031774"/>
            <a:ext cx="45719" cy="2049988"/>
          </a:xfrm>
          <a:custGeom>
            <a:avLst/>
            <a:gdLst/>
            <a:ahLst/>
            <a:cxnLst/>
            <a:rect l="l" t="t" r="r" b="b"/>
            <a:pathLst>
              <a:path w="42333" h="3725333">
                <a:moveTo>
                  <a:pt x="42333" y="0"/>
                </a:moveTo>
                <a:lnTo>
                  <a:pt x="42333" y="0"/>
                </a:lnTo>
                <a:lnTo>
                  <a:pt x="42333" y="3725333"/>
                </a:lnTo>
                <a:lnTo>
                  <a:pt x="42333" y="3725333"/>
                </a:lnTo>
                <a:cubicBezTo>
                  <a:pt x="18953" y="3725333"/>
                  <a:pt x="0" y="3706380"/>
                  <a:pt x="0" y="3683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693948" y="7243439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49159" y="496"/>
                </a:moveTo>
                <a:cubicBezTo>
                  <a:pt x="142131" y="-1530"/>
                  <a:pt x="134813" y="2563"/>
                  <a:pt x="132788" y="9591"/>
                </a:cubicBezTo>
                <a:lnTo>
                  <a:pt x="79871" y="194799"/>
                </a:lnTo>
                <a:cubicBezTo>
                  <a:pt x="77845" y="201827"/>
                  <a:pt x="81938" y="209145"/>
                  <a:pt x="88966" y="211171"/>
                </a:cubicBezTo>
                <a:cubicBezTo>
                  <a:pt x="95994" y="213196"/>
                  <a:pt x="103312" y="209104"/>
                  <a:pt x="105337" y="202076"/>
                </a:cubicBezTo>
                <a:lnTo>
                  <a:pt x="158254" y="16867"/>
                </a:lnTo>
                <a:cubicBezTo>
                  <a:pt x="160280" y="9839"/>
                  <a:pt x="156187" y="2522"/>
                  <a:pt x="149159" y="496"/>
                </a:cubicBezTo>
                <a:close/>
                <a:moveTo>
                  <a:pt x="175865" y="56761"/>
                </a:moveTo>
                <a:cubicBezTo>
                  <a:pt x="170698" y="61929"/>
                  <a:pt x="170698" y="70321"/>
                  <a:pt x="175865" y="75489"/>
                </a:cubicBezTo>
                <a:lnTo>
                  <a:pt x="206210" y="105833"/>
                </a:lnTo>
                <a:lnTo>
                  <a:pt x="175865" y="136178"/>
                </a:lnTo>
                <a:cubicBezTo>
                  <a:pt x="170698" y="141345"/>
                  <a:pt x="170698" y="149738"/>
                  <a:pt x="175865" y="154905"/>
                </a:cubicBezTo>
                <a:cubicBezTo>
                  <a:pt x="181033" y="160073"/>
                  <a:pt x="189425" y="160073"/>
                  <a:pt x="194593" y="154905"/>
                </a:cubicBezTo>
                <a:lnTo>
                  <a:pt x="234280" y="115218"/>
                </a:lnTo>
                <a:cubicBezTo>
                  <a:pt x="239448" y="110050"/>
                  <a:pt x="239448" y="101658"/>
                  <a:pt x="234280" y="96490"/>
                </a:cubicBezTo>
                <a:lnTo>
                  <a:pt x="194593" y="56803"/>
                </a:lnTo>
                <a:cubicBezTo>
                  <a:pt x="189425" y="51635"/>
                  <a:pt x="181033" y="51635"/>
                  <a:pt x="175865" y="56803"/>
                </a:cubicBezTo>
                <a:close/>
                <a:moveTo>
                  <a:pt x="62301" y="56761"/>
                </a:moveTo>
                <a:cubicBezTo>
                  <a:pt x="57133" y="51594"/>
                  <a:pt x="48741" y="51594"/>
                  <a:pt x="43574" y="56761"/>
                </a:cubicBezTo>
                <a:lnTo>
                  <a:pt x="3886" y="96449"/>
                </a:lnTo>
                <a:cubicBezTo>
                  <a:pt x="-1282" y="101617"/>
                  <a:pt x="-1282" y="110009"/>
                  <a:pt x="3886" y="115176"/>
                </a:cubicBezTo>
                <a:lnTo>
                  <a:pt x="43574" y="154864"/>
                </a:lnTo>
                <a:cubicBezTo>
                  <a:pt x="48741" y="160032"/>
                  <a:pt x="57133" y="160032"/>
                  <a:pt x="62301" y="154864"/>
                </a:cubicBezTo>
                <a:cubicBezTo>
                  <a:pt x="67469" y="149696"/>
                  <a:pt x="67469" y="141304"/>
                  <a:pt x="62301" y="136136"/>
                </a:cubicBezTo>
                <a:lnTo>
                  <a:pt x="31957" y="105833"/>
                </a:lnTo>
                <a:lnTo>
                  <a:pt x="62260" y="75489"/>
                </a:lnTo>
                <a:cubicBezTo>
                  <a:pt x="67427" y="70321"/>
                  <a:pt x="67427" y="61929"/>
                  <a:pt x="62260" y="56761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945302" y="7201106"/>
            <a:ext cx="8371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关键字段详解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0719" y="7624439"/>
            <a:ext cx="7730067" cy="952500"/>
          </a:xfrm>
          <a:custGeom>
            <a:avLst/>
            <a:gdLst/>
            <a:ahLst/>
            <a:cxnLst/>
            <a:rect l="l" t="t" r="r" b="b"/>
            <a:pathLst>
              <a:path w="8530167" h="952500">
                <a:moveTo>
                  <a:pt x="84668" y="0"/>
                </a:moveTo>
                <a:lnTo>
                  <a:pt x="8445499" y="0"/>
                </a:lnTo>
                <a:cubicBezTo>
                  <a:pt x="8492260" y="0"/>
                  <a:pt x="8530167" y="37907"/>
                  <a:pt x="8530167" y="84668"/>
                </a:cubicBezTo>
                <a:lnTo>
                  <a:pt x="8530167" y="867832"/>
                </a:lnTo>
                <a:cubicBezTo>
                  <a:pt x="8530167" y="914593"/>
                  <a:pt x="8492260" y="952500"/>
                  <a:pt x="8445499" y="952500"/>
                </a:cubicBezTo>
                <a:lnTo>
                  <a:pt x="84668" y="952500"/>
                </a:lnTo>
                <a:cubicBezTo>
                  <a:pt x="37907" y="952500"/>
                  <a:pt x="0" y="914593"/>
                  <a:pt x="0" y="867832"/>
                </a:cubicBezTo>
                <a:lnTo>
                  <a:pt x="0" y="84668"/>
                </a:lnTo>
                <a:cubicBezTo>
                  <a:pt x="0" y="37938"/>
                  <a:pt x="37938" y="0"/>
                  <a:pt x="8466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07719" y="7751439"/>
            <a:ext cx="837141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D8F8A"/>
                </a:solidFill>
                <a:highlight>
                  <a:srgbClr val="3D8F8A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0-3 </a:t>
            </a: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年份字段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7719" y="8174773"/>
            <a:ext cx="8360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4位数字，如"1950"。这是我们要找的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分组维度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，相同年份的温度记录会被分到同一组进行聚合计算。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651292" y="7112205"/>
            <a:ext cx="7012041" cy="1883833"/>
          </a:xfrm>
          <a:custGeom>
            <a:avLst/>
            <a:gdLst/>
            <a:ahLst/>
            <a:cxnLst/>
            <a:rect l="l" t="t" r="r" b="b"/>
            <a:pathLst>
              <a:path w="8530167" h="1883833">
                <a:moveTo>
                  <a:pt x="84659" y="0"/>
                </a:moveTo>
                <a:lnTo>
                  <a:pt x="8445507" y="0"/>
                </a:lnTo>
                <a:cubicBezTo>
                  <a:pt x="8492263" y="0"/>
                  <a:pt x="8530167" y="37903"/>
                  <a:pt x="8530167" y="84659"/>
                </a:cubicBezTo>
                <a:lnTo>
                  <a:pt x="8530167" y="1799174"/>
                </a:lnTo>
                <a:cubicBezTo>
                  <a:pt x="8530167" y="1845930"/>
                  <a:pt x="8492263" y="1883833"/>
                  <a:pt x="8445507" y="1883833"/>
                </a:cubicBezTo>
                <a:lnTo>
                  <a:pt x="84659" y="1883833"/>
                </a:lnTo>
                <a:cubicBezTo>
                  <a:pt x="37935" y="1883833"/>
                  <a:pt x="0" y="1845899"/>
                  <a:pt x="0" y="1799174"/>
                </a:cubicBezTo>
                <a:lnTo>
                  <a:pt x="0" y="84659"/>
                </a:lnTo>
                <a:cubicBezTo>
                  <a:pt x="0" y="37935"/>
                  <a:pt x="37935" y="0"/>
                  <a:pt x="8465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8778291" y="7291413"/>
            <a:ext cx="6917533" cy="275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A165"/>
                </a:solidFill>
                <a:highlight>
                  <a:srgbClr val="E5A16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87-92 </a:t>
            </a: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气温字段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778291" y="7705974"/>
            <a:ext cx="7030229" cy="260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6位字符，格式为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+XXXXX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或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-XXXXX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947624" y="8016350"/>
            <a:ext cx="6761429" cy="24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符号位：+表示正温度，-表示负温度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947624" y="8344431"/>
            <a:ext cx="6782595" cy="24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温度值：以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摄氏度的十分之一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为单位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947624" y="8615039"/>
            <a:ext cx="6860896" cy="2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例如："+00123"表示12.3°C，"-00781"表示-7.8°C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50383" y="1150362"/>
            <a:ext cx="6286500" cy="5837491"/>
          </a:xfrm>
          <a:custGeom>
            <a:avLst/>
            <a:gdLst/>
            <a:ahLst/>
            <a:cxnLst/>
            <a:rect l="l" t="t" r="r" b="b"/>
            <a:pathLst>
              <a:path w="6286500" h="11218333">
                <a:moveTo>
                  <a:pt x="84679" y="0"/>
                </a:moveTo>
                <a:lnTo>
                  <a:pt x="6201821" y="0"/>
                </a:lnTo>
                <a:cubicBezTo>
                  <a:pt x="6248588" y="0"/>
                  <a:pt x="6286500" y="37912"/>
                  <a:pt x="6286500" y="84679"/>
                </a:cubicBezTo>
                <a:lnTo>
                  <a:pt x="6286500" y="11133654"/>
                </a:lnTo>
                <a:cubicBezTo>
                  <a:pt x="6286500" y="11180421"/>
                  <a:pt x="6248588" y="11218333"/>
                  <a:pt x="6201821" y="11218333"/>
                </a:cubicBezTo>
                <a:lnTo>
                  <a:pt x="84679" y="11218333"/>
                </a:lnTo>
                <a:cubicBezTo>
                  <a:pt x="37912" y="11218333"/>
                  <a:pt x="0" y="11180421"/>
                  <a:pt x="0" y="11133654"/>
                </a:cubicBezTo>
                <a:lnTo>
                  <a:pt x="0" y="84679"/>
                </a:lnTo>
                <a:cubicBezTo>
                  <a:pt x="0" y="37943"/>
                  <a:pt x="37943" y="0"/>
                  <a:pt x="84679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9746175" y="1362028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211667"/>
                </a:moveTo>
                <a:cubicBezTo>
                  <a:pt x="164244" y="211667"/>
                  <a:pt x="211667" y="164244"/>
                  <a:pt x="211667" y="105833"/>
                </a:cubicBezTo>
                <a:cubicBezTo>
                  <a:pt x="211667" y="47422"/>
                  <a:pt x="164244" y="0"/>
                  <a:pt x="105833" y="0"/>
                </a:cubicBezTo>
                <a:cubicBezTo>
                  <a:pt x="47422" y="0"/>
                  <a:pt x="0" y="47422"/>
                  <a:pt x="0" y="105833"/>
                </a:cubicBezTo>
                <a:cubicBezTo>
                  <a:pt x="0" y="164244"/>
                  <a:pt x="47422" y="211667"/>
                  <a:pt x="105833" y="211667"/>
                </a:cubicBezTo>
                <a:close/>
                <a:moveTo>
                  <a:pt x="140725" y="87933"/>
                </a:moveTo>
                <a:lnTo>
                  <a:pt x="107652" y="140849"/>
                </a:lnTo>
                <a:cubicBezTo>
                  <a:pt x="105916" y="143619"/>
                  <a:pt x="102939" y="145355"/>
                  <a:pt x="99674" y="145521"/>
                </a:cubicBezTo>
                <a:cubicBezTo>
                  <a:pt x="96408" y="145686"/>
                  <a:pt x="93266" y="144198"/>
                  <a:pt x="91323" y="141552"/>
                </a:cubicBezTo>
                <a:lnTo>
                  <a:pt x="71479" y="115094"/>
                </a:lnTo>
                <a:cubicBezTo>
                  <a:pt x="68172" y="110712"/>
                  <a:pt x="69081" y="104510"/>
                  <a:pt x="73463" y="101203"/>
                </a:cubicBezTo>
                <a:cubicBezTo>
                  <a:pt x="77845" y="97896"/>
                  <a:pt x="84047" y="98805"/>
                  <a:pt x="87354" y="103188"/>
                </a:cubicBezTo>
                <a:lnTo>
                  <a:pt x="98516" y="118070"/>
                </a:lnTo>
                <a:lnTo>
                  <a:pt x="123899" y="77432"/>
                </a:lnTo>
                <a:cubicBezTo>
                  <a:pt x="126793" y="72802"/>
                  <a:pt x="132912" y="71355"/>
                  <a:pt x="137583" y="74290"/>
                </a:cubicBezTo>
                <a:cubicBezTo>
                  <a:pt x="142255" y="77225"/>
                  <a:pt x="143660" y="83302"/>
                  <a:pt x="140725" y="8797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9984300" y="1319695"/>
            <a:ext cx="5789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数据质量标识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719717" y="1743028"/>
            <a:ext cx="60325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每个温度读数都有一个质量标识符，用于表示数据的可靠性。我们只使用高质量的数据进行计算。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719717" y="2420362"/>
            <a:ext cx="5947833" cy="465667"/>
          </a:xfrm>
          <a:custGeom>
            <a:avLst/>
            <a:gdLst/>
            <a:ahLst/>
            <a:cxnLst/>
            <a:rect l="l" t="t" r="r" b="b"/>
            <a:pathLst>
              <a:path w="5947833" h="465667">
                <a:moveTo>
                  <a:pt x="42334" y="0"/>
                </a:moveTo>
                <a:lnTo>
                  <a:pt x="5905500" y="0"/>
                </a:lnTo>
                <a:cubicBezTo>
                  <a:pt x="5928880" y="0"/>
                  <a:pt x="5947833" y="18953"/>
                  <a:pt x="5947833" y="42334"/>
                </a:cubicBezTo>
                <a:lnTo>
                  <a:pt x="5947833" y="423333"/>
                </a:lnTo>
                <a:cubicBezTo>
                  <a:pt x="5947833" y="446713"/>
                  <a:pt x="5928880" y="465667"/>
                  <a:pt x="5905500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9804383" y="2505028"/>
            <a:ext cx="211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3885333" y="2526195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通过所有质量控制检查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719717" y="2928362"/>
            <a:ext cx="5947833" cy="465667"/>
          </a:xfrm>
          <a:custGeom>
            <a:avLst/>
            <a:gdLst/>
            <a:ahLst/>
            <a:cxnLst/>
            <a:rect l="l" t="t" r="r" b="b"/>
            <a:pathLst>
              <a:path w="5947833" h="465667">
                <a:moveTo>
                  <a:pt x="42334" y="0"/>
                </a:moveTo>
                <a:lnTo>
                  <a:pt x="5905500" y="0"/>
                </a:lnTo>
                <a:cubicBezTo>
                  <a:pt x="5928880" y="0"/>
                  <a:pt x="5947833" y="18953"/>
                  <a:pt x="5947833" y="42334"/>
                </a:cubicBezTo>
                <a:lnTo>
                  <a:pt x="5947833" y="423333"/>
                </a:lnTo>
                <a:cubicBezTo>
                  <a:pt x="5947833" y="446713"/>
                  <a:pt x="5928880" y="465667"/>
                  <a:pt x="5905500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9804383" y="3013028"/>
            <a:ext cx="211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3546667" y="3034195"/>
            <a:ext cx="211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通过所有检查，但存在疑问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719717" y="3436362"/>
            <a:ext cx="5947833" cy="465667"/>
          </a:xfrm>
          <a:custGeom>
            <a:avLst/>
            <a:gdLst/>
            <a:ahLst/>
            <a:cxnLst/>
            <a:rect l="l" t="t" r="r" b="b"/>
            <a:pathLst>
              <a:path w="5947833" h="465667">
                <a:moveTo>
                  <a:pt x="42334" y="0"/>
                </a:moveTo>
                <a:lnTo>
                  <a:pt x="5905500" y="0"/>
                </a:lnTo>
                <a:cubicBezTo>
                  <a:pt x="5928880" y="0"/>
                  <a:pt x="5947833" y="18953"/>
                  <a:pt x="5947833" y="42334"/>
                </a:cubicBezTo>
                <a:lnTo>
                  <a:pt x="5947833" y="423333"/>
                </a:lnTo>
                <a:cubicBezTo>
                  <a:pt x="5947833" y="446713"/>
                  <a:pt x="5928880" y="465667"/>
                  <a:pt x="5905500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9804383" y="3521028"/>
            <a:ext cx="211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3885333" y="3542195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通过粗略质量控制检查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9719717" y="3944362"/>
            <a:ext cx="5947833" cy="465667"/>
          </a:xfrm>
          <a:custGeom>
            <a:avLst/>
            <a:gdLst/>
            <a:ahLst/>
            <a:cxnLst/>
            <a:rect l="l" t="t" r="r" b="b"/>
            <a:pathLst>
              <a:path w="5947833" h="465667">
                <a:moveTo>
                  <a:pt x="42334" y="0"/>
                </a:moveTo>
                <a:lnTo>
                  <a:pt x="5905500" y="0"/>
                </a:lnTo>
                <a:cubicBezTo>
                  <a:pt x="5928880" y="0"/>
                  <a:pt x="5947833" y="18953"/>
                  <a:pt x="5947833" y="42334"/>
                </a:cubicBezTo>
                <a:lnTo>
                  <a:pt x="5947833" y="423333"/>
                </a:lnTo>
                <a:cubicBezTo>
                  <a:pt x="5947833" y="446713"/>
                  <a:pt x="5928880" y="465667"/>
                  <a:pt x="5905500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9804383" y="4029028"/>
            <a:ext cx="211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3546667" y="4050195"/>
            <a:ext cx="211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通过粗略检查，但存在疑问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9719717" y="4452362"/>
            <a:ext cx="5947833" cy="465667"/>
          </a:xfrm>
          <a:custGeom>
            <a:avLst/>
            <a:gdLst/>
            <a:ahLst/>
            <a:cxnLst/>
            <a:rect l="l" t="t" r="r" b="b"/>
            <a:pathLst>
              <a:path w="5947833" h="465667">
                <a:moveTo>
                  <a:pt x="42334" y="0"/>
                </a:moveTo>
                <a:lnTo>
                  <a:pt x="5905500" y="0"/>
                </a:lnTo>
                <a:cubicBezTo>
                  <a:pt x="5928880" y="0"/>
                  <a:pt x="5947833" y="18953"/>
                  <a:pt x="5947833" y="42334"/>
                </a:cubicBezTo>
                <a:lnTo>
                  <a:pt x="5947833" y="423333"/>
                </a:lnTo>
                <a:cubicBezTo>
                  <a:pt x="5947833" y="446713"/>
                  <a:pt x="5928880" y="465667"/>
                  <a:pt x="5905500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9804383" y="4537028"/>
            <a:ext cx="211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3885333" y="4558195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通过基本质量控制检查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9719717" y="4960362"/>
            <a:ext cx="5947833" cy="465667"/>
          </a:xfrm>
          <a:custGeom>
            <a:avLst/>
            <a:gdLst/>
            <a:ahLst/>
            <a:cxnLst/>
            <a:rect l="l" t="t" r="r" b="b"/>
            <a:pathLst>
              <a:path w="5947833" h="465667">
                <a:moveTo>
                  <a:pt x="42334" y="0"/>
                </a:moveTo>
                <a:lnTo>
                  <a:pt x="5905500" y="0"/>
                </a:lnTo>
                <a:cubicBezTo>
                  <a:pt x="5928880" y="0"/>
                  <a:pt x="5947833" y="18953"/>
                  <a:pt x="5947833" y="42334"/>
                </a:cubicBezTo>
                <a:lnTo>
                  <a:pt x="5947833" y="423333"/>
                </a:lnTo>
                <a:cubicBezTo>
                  <a:pt x="5947833" y="446713"/>
                  <a:pt x="5928880" y="465667"/>
                  <a:pt x="5905500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2"/>
          <p:cNvSpPr/>
          <p:nvPr/>
        </p:nvSpPr>
        <p:spPr>
          <a:xfrm>
            <a:off x="9804383" y="5045028"/>
            <a:ext cx="211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4054667" y="5066195"/>
            <a:ext cx="160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未通过质量控制检查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719717" y="5468362"/>
            <a:ext cx="5947833" cy="465667"/>
          </a:xfrm>
          <a:custGeom>
            <a:avLst/>
            <a:gdLst/>
            <a:ahLst/>
            <a:cxnLst/>
            <a:rect l="l" t="t" r="r" b="b"/>
            <a:pathLst>
              <a:path w="5947833" h="465667">
                <a:moveTo>
                  <a:pt x="42334" y="0"/>
                </a:moveTo>
                <a:lnTo>
                  <a:pt x="5905500" y="0"/>
                </a:lnTo>
                <a:cubicBezTo>
                  <a:pt x="5928880" y="0"/>
                  <a:pt x="5947833" y="18953"/>
                  <a:pt x="5947833" y="42334"/>
                </a:cubicBezTo>
                <a:lnTo>
                  <a:pt x="5947833" y="423333"/>
                </a:lnTo>
                <a:cubicBezTo>
                  <a:pt x="5947833" y="446713"/>
                  <a:pt x="5928880" y="465667"/>
                  <a:pt x="5905500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9804383" y="5553028"/>
            <a:ext cx="211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4901333" y="5574195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缺失数据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9719717" y="5998311"/>
            <a:ext cx="5947833" cy="10583"/>
          </a:xfrm>
          <a:custGeom>
            <a:avLst/>
            <a:gdLst/>
            <a:ahLst/>
            <a:cxnLst/>
            <a:rect l="l" t="t" r="r" b="b"/>
            <a:pathLst>
              <a:path w="5947833" h="10583">
                <a:moveTo>
                  <a:pt x="0" y="0"/>
                </a:moveTo>
                <a:lnTo>
                  <a:pt x="5947833" y="0"/>
                </a:lnTo>
                <a:lnTo>
                  <a:pt x="5947833" y="10583"/>
                </a:lnTo>
                <a:lnTo>
                  <a:pt x="0" y="10583"/>
                </a:lnTo>
                <a:lnTo>
                  <a:pt x="0" y="0"/>
                </a:lnTo>
                <a:close/>
              </a:path>
            </a:pathLst>
          </a:custGeom>
          <a:solidFill>
            <a:srgbClr val="7A7D8D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8"/>
          <p:cNvSpPr/>
          <p:nvPr/>
        </p:nvSpPr>
        <p:spPr>
          <a:xfrm>
            <a:off x="9719717" y="6130602"/>
            <a:ext cx="6021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有效质量代码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9719717" y="6426936"/>
            <a:ext cx="6032500" cy="56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我们只接受质量代码为</a:t>
            </a:r>
            <a:r>
              <a:rPr lang="en-US" sz="1333" dirty="0">
                <a:solidFill>
                  <a:srgbClr val="3D8F8A"/>
                </a:solidFill>
                <a:highlight>
                  <a:srgbClr val="3D8F8A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0 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333" dirty="0">
                <a:solidFill>
                  <a:srgbClr val="3D8F8A"/>
                </a:solidFill>
                <a:highlight>
                  <a:srgbClr val="3D8F8A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1 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333" dirty="0">
                <a:solidFill>
                  <a:srgbClr val="3D8F8A"/>
                </a:solidFill>
                <a:highlight>
                  <a:srgbClr val="3D8F8A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4 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333" dirty="0">
                <a:solidFill>
                  <a:srgbClr val="3D8F8A"/>
                </a:solidFill>
                <a:highlight>
                  <a:srgbClr val="3D8F8A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5 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333" dirty="0">
                <a:solidFill>
                  <a:srgbClr val="3D8F8A"/>
                </a:solidFill>
                <a:highlight>
                  <a:srgbClr val="3D8F8A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9 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的数据，确保分析结果的准确性。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negativespace.co/0b22835193de8cf09987a6ca9c72945d6e10eb7b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7512" b="751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08000" y="3232150"/>
            <a:ext cx="158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 2 章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56150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0" y="0"/>
                </a:moveTo>
                <a:lnTo>
                  <a:pt x="2438400" y="0"/>
                </a:lnTo>
                <a:lnTo>
                  <a:pt x="2438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340350"/>
            <a:ext cx="15544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Unix 工具分析数据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6407150"/>
            <a:ext cx="868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从传统工具到分布式思维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83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kern="0" spc="11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02 · Unix Pipeline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19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 工具链处理气象数据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3333" y="1198034"/>
            <a:ext cx="7598833" cy="5016500"/>
          </a:xfrm>
          <a:custGeom>
            <a:avLst/>
            <a:gdLst/>
            <a:ahLst/>
            <a:cxnLst/>
            <a:rect l="l" t="t" r="r" b="b"/>
            <a:pathLst>
              <a:path w="7598833" h="5016500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931821"/>
                </a:lnTo>
                <a:cubicBezTo>
                  <a:pt x="7598833" y="4978588"/>
                  <a:pt x="7560921" y="5016500"/>
                  <a:pt x="7514155" y="5016500"/>
                </a:cubicBezTo>
                <a:lnTo>
                  <a:pt x="84679" y="5016500"/>
                </a:lnTo>
                <a:cubicBezTo>
                  <a:pt x="37912" y="5016500"/>
                  <a:pt x="0" y="4978588"/>
                  <a:pt x="0" y="4931821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23333" y="1198034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92667" y="1388534"/>
            <a:ext cx="7366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分步处理方式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2667" y="1811868"/>
            <a:ext cx="7260167" cy="2074333"/>
          </a:xfrm>
          <a:custGeom>
            <a:avLst/>
            <a:gdLst/>
            <a:ahLst/>
            <a:cxnLst/>
            <a:rect l="l" t="t" r="r" b="b"/>
            <a:pathLst>
              <a:path w="7260167" h="2074333">
                <a:moveTo>
                  <a:pt x="84674" y="0"/>
                </a:moveTo>
                <a:lnTo>
                  <a:pt x="7175492" y="0"/>
                </a:lnTo>
                <a:cubicBezTo>
                  <a:pt x="7222257" y="0"/>
                  <a:pt x="7260167" y="37910"/>
                  <a:pt x="7260167" y="84674"/>
                </a:cubicBezTo>
                <a:lnTo>
                  <a:pt x="7260167" y="1989659"/>
                </a:lnTo>
                <a:cubicBezTo>
                  <a:pt x="7260167" y="2036423"/>
                  <a:pt x="7222257" y="2074333"/>
                  <a:pt x="7175492" y="2074333"/>
                </a:cubicBezTo>
                <a:lnTo>
                  <a:pt x="84674" y="2074333"/>
                </a:lnTo>
                <a:cubicBezTo>
                  <a:pt x="37910" y="2074333"/>
                  <a:pt x="0" y="2036423"/>
                  <a:pt x="0" y="1989659"/>
                </a:cubicBezTo>
                <a:lnTo>
                  <a:pt x="0" y="84674"/>
                </a:lnTo>
                <a:cubicBezTo>
                  <a:pt x="0" y="37910"/>
                  <a:pt x="37910" y="0"/>
                  <a:pt x="8467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19667" y="1938868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步骤1：数据解析、转换和过滤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667" y="2235201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awk '{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" y="2489201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= substr($0,16,4)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9000" y="2700868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 = substr($0,88,5)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" y="2912534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(temp != "+9999") {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8333" y="3124201"/>
            <a:ext cx="6741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print year "\t" temp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000" y="3335868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9667" y="3547534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}' input.txt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2667" y="4013201"/>
            <a:ext cx="7260167" cy="762000"/>
          </a:xfrm>
          <a:custGeom>
            <a:avLst/>
            <a:gdLst/>
            <a:ahLst/>
            <a:cxnLst/>
            <a:rect l="l" t="t" r="r" b="b"/>
            <a:pathLst>
              <a:path w="7260167" h="762000">
                <a:moveTo>
                  <a:pt x="84666" y="0"/>
                </a:moveTo>
                <a:lnTo>
                  <a:pt x="7175501" y="0"/>
                </a:lnTo>
                <a:cubicBezTo>
                  <a:pt x="7222260" y="0"/>
                  <a:pt x="7260167" y="37906"/>
                  <a:pt x="7260167" y="84666"/>
                </a:cubicBezTo>
                <a:lnTo>
                  <a:pt x="7260167" y="677334"/>
                </a:lnTo>
                <a:cubicBezTo>
                  <a:pt x="7260167" y="724094"/>
                  <a:pt x="7222260" y="762000"/>
                  <a:pt x="7175501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19667" y="4140201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步骤2：数据分组准备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9667" y="4436534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sort -k1,1 valid_year_temp.txt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2667" y="4902201"/>
            <a:ext cx="7260167" cy="762000"/>
          </a:xfrm>
          <a:custGeom>
            <a:avLst/>
            <a:gdLst/>
            <a:ahLst/>
            <a:cxnLst/>
            <a:rect l="l" t="t" r="r" b="b"/>
            <a:pathLst>
              <a:path w="7260167" h="762000">
                <a:moveTo>
                  <a:pt x="84666" y="0"/>
                </a:moveTo>
                <a:lnTo>
                  <a:pt x="7175501" y="0"/>
                </a:lnTo>
                <a:cubicBezTo>
                  <a:pt x="7222260" y="0"/>
                  <a:pt x="7260167" y="37906"/>
                  <a:pt x="7260167" y="84666"/>
                </a:cubicBezTo>
                <a:lnTo>
                  <a:pt x="7260167" y="677334"/>
                </a:lnTo>
                <a:cubicBezTo>
                  <a:pt x="7260167" y="724094"/>
                  <a:pt x="7222260" y="762000"/>
                  <a:pt x="7175501" y="762000"/>
                </a:cubicBezTo>
                <a:lnTo>
                  <a:pt x="84666" y="762000"/>
                </a:lnTo>
                <a:cubicBezTo>
                  <a:pt x="37906" y="762000"/>
                  <a:pt x="0" y="724094"/>
                  <a:pt x="0" y="67733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19667" y="5029201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步骤3：聚合计算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9667" y="5325534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awk '...' sorted_temp.txt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3833" y="5833534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89528" y="0"/>
                  <a:pt x="93993" y="2679"/>
                  <a:pt x="96308" y="6945"/>
                </a:cubicBezTo>
                <a:lnTo>
                  <a:pt x="167746" y="139237"/>
                </a:lnTo>
                <a:cubicBezTo>
                  <a:pt x="169962" y="143338"/>
                  <a:pt x="169863" y="148299"/>
                  <a:pt x="167481" y="152301"/>
                </a:cubicBezTo>
                <a:cubicBezTo>
                  <a:pt x="165100" y="156303"/>
                  <a:pt x="160767" y="158750"/>
                  <a:pt x="156104" y="158750"/>
                </a:cubicBezTo>
                <a:lnTo>
                  <a:pt x="13229" y="158750"/>
                </a:lnTo>
                <a:cubicBezTo>
                  <a:pt x="8566" y="158750"/>
                  <a:pt x="4266" y="156303"/>
                  <a:pt x="1852" y="152301"/>
                </a:cubicBezTo>
                <a:cubicBezTo>
                  <a:pt x="-562" y="148299"/>
                  <a:pt x="-628" y="143338"/>
                  <a:pt x="1588" y="139237"/>
                </a:cubicBezTo>
                <a:lnTo>
                  <a:pt x="73025" y="6945"/>
                </a:lnTo>
                <a:cubicBezTo>
                  <a:pt x="75340" y="2679"/>
                  <a:pt x="79805" y="0"/>
                  <a:pt x="84667" y="0"/>
                </a:cubicBezTo>
                <a:close/>
                <a:moveTo>
                  <a:pt x="84667" y="55563"/>
                </a:moveTo>
                <a:cubicBezTo>
                  <a:pt x="80268" y="55563"/>
                  <a:pt x="76729" y="59101"/>
                  <a:pt x="76729" y="63500"/>
                </a:cubicBezTo>
                <a:lnTo>
                  <a:pt x="76729" y="100542"/>
                </a:lnTo>
                <a:cubicBezTo>
                  <a:pt x="76729" y="104940"/>
                  <a:pt x="80268" y="108479"/>
                  <a:pt x="84667" y="108479"/>
                </a:cubicBezTo>
                <a:cubicBezTo>
                  <a:pt x="89065" y="108479"/>
                  <a:pt x="92604" y="104940"/>
                  <a:pt x="92604" y="100542"/>
                </a:cubicBezTo>
                <a:lnTo>
                  <a:pt x="92604" y="63500"/>
                </a:lnTo>
                <a:cubicBezTo>
                  <a:pt x="92604" y="59101"/>
                  <a:pt x="89065" y="55563"/>
                  <a:pt x="84667" y="55563"/>
                </a:cubicBezTo>
                <a:close/>
                <a:moveTo>
                  <a:pt x="93497" y="127000"/>
                </a:moveTo>
                <a:cubicBezTo>
                  <a:pt x="93698" y="123722"/>
                  <a:pt x="92063" y="120604"/>
                  <a:pt x="89254" y="118904"/>
                </a:cubicBezTo>
                <a:cubicBezTo>
                  <a:pt x="86444" y="117204"/>
                  <a:pt x="82923" y="117204"/>
                  <a:pt x="80113" y="118904"/>
                </a:cubicBezTo>
                <a:cubicBezTo>
                  <a:pt x="77303" y="120604"/>
                  <a:pt x="75668" y="123722"/>
                  <a:pt x="75869" y="127000"/>
                </a:cubicBezTo>
                <a:cubicBezTo>
                  <a:pt x="75668" y="130278"/>
                  <a:pt x="77303" y="133396"/>
                  <a:pt x="80113" y="135096"/>
                </a:cubicBezTo>
                <a:cubicBezTo>
                  <a:pt x="82923" y="136796"/>
                  <a:pt x="86444" y="136796"/>
                  <a:pt x="89254" y="135096"/>
                </a:cubicBezTo>
                <a:cubicBezTo>
                  <a:pt x="92063" y="133396"/>
                  <a:pt x="93698" y="130278"/>
                  <a:pt x="93497" y="12700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89000" y="5791201"/>
            <a:ext cx="4392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分步处理会产生中间文件，增加磁盘I/O开销和存储成本。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33833" y="1198034"/>
            <a:ext cx="7598833" cy="5016500"/>
          </a:xfrm>
          <a:custGeom>
            <a:avLst/>
            <a:gdLst/>
            <a:ahLst/>
            <a:cxnLst/>
            <a:rect l="l" t="t" r="r" b="b"/>
            <a:pathLst>
              <a:path w="7598833" h="5016500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931821"/>
                </a:lnTo>
                <a:cubicBezTo>
                  <a:pt x="7598833" y="4978588"/>
                  <a:pt x="7560921" y="5016500"/>
                  <a:pt x="7514155" y="5016500"/>
                </a:cubicBezTo>
                <a:lnTo>
                  <a:pt x="84679" y="5016500"/>
                </a:lnTo>
                <a:cubicBezTo>
                  <a:pt x="37912" y="5016500"/>
                  <a:pt x="0" y="4978588"/>
                  <a:pt x="0" y="4931821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233833" y="1198034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403167" y="1388534"/>
            <a:ext cx="7366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 管道处理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03167" y="1811868"/>
            <a:ext cx="7260167" cy="2921000"/>
          </a:xfrm>
          <a:custGeom>
            <a:avLst/>
            <a:gdLst/>
            <a:ahLst/>
            <a:cxnLst/>
            <a:rect l="l" t="t" r="r" b="b"/>
            <a:pathLst>
              <a:path w="7260167" h="2921000">
                <a:moveTo>
                  <a:pt x="84680" y="0"/>
                </a:moveTo>
                <a:lnTo>
                  <a:pt x="7175487" y="0"/>
                </a:lnTo>
                <a:cubicBezTo>
                  <a:pt x="7222254" y="0"/>
                  <a:pt x="7260167" y="37912"/>
                  <a:pt x="7260167" y="84680"/>
                </a:cubicBezTo>
                <a:lnTo>
                  <a:pt x="7260167" y="2836320"/>
                </a:lnTo>
                <a:cubicBezTo>
                  <a:pt x="7260167" y="2883088"/>
                  <a:pt x="7222254" y="2921000"/>
                  <a:pt x="7175487" y="2921000"/>
                </a:cubicBezTo>
                <a:lnTo>
                  <a:pt x="84680" y="2921000"/>
                </a:lnTo>
                <a:cubicBezTo>
                  <a:pt x="37912" y="2921000"/>
                  <a:pt x="0" y="2883088"/>
                  <a:pt x="0" y="2836320"/>
                </a:cubicBezTo>
                <a:lnTo>
                  <a:pt x="0" y="84680"/>
                </a:lnTo>
                <a:cubicBezTo>
                  <a:pt x="0" y="37944"/>
                  <a:pt x="37944" y="0"/>
                  <a:pt x="8468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530167" y="1938868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Unix 管道实现流式数据处理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30167" y="2235201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 input.txt | \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30167" y="2531534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awk '{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99500" y="2827868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= substr($0,16,4)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99500" y="3039534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 = substr($0,88,5)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99500" y="3251201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(temp != "+9999") {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68833" y="3462868"/>
            <a:ext cx="6741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print year "\t" temp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99500" y="3674534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30167" y="3886201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}' | \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30167" y="4097868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sort -k1,1 | \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30167" y="4394201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awk '...'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24333" y="4902201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699500" y="4859868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流式处理减少中间文件，数据像水流一样在工具间连续传递，无需中间存储。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3333" y="6397120"/>
            <a:ext cx="15409333" cy="2645833"/>
          </a:xfrm>
          <a:custGeom>
            <a:avLst/>
            <a:gdLst/>
            <a:ahLst/>
            <a:cxnLst/>
            <a:rect l="l" t="t" r="r" b="b"/>
            <a:pathLst>
              <a:path w="15409333" h="2645833">
                <a:moveTo>
                  <a:pt x="84667" y="0"/>
                </a:moveTo>
                <a:lnTo>
                  <a:pt x="15324667" y="0"/>
                </a:lnTo>
                <a:cubicBezTo>
                  <a:pt x="15371427" y="0"/>
                  <a:pt x="15409333" y="37907"/>
                  <a:pt x="15409333" y="84667"/>
                </a:cubicBezTo>
                <a:lnTo>
                  <a:pt x="15409333" y="2561167"/>
                </a:lnTo>
                <a:cubicBezTo>
                  <a:pt x="15409333" y="2607927"/>
                  <a:pt x="15371427" y="2645833"/>
                  <a:pt x="15324667" y="2645833"/>
                </a:cubicBezTo>
                <a:lnTo>
                  <a:pt x="84667" y="2645833"/>
                </a:lnTo>
                <a:cubicBezTo>
                  <a:pt x="37907" y="2645833"/>
                  <a:pt x="0" y="2607927"/>
                  <a:pt x="0" y="25611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24417" y="659553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74712"/>
                </a:moveTo>
                <a:lnTo>
                  <a:pt x="201712" y="122337"/>
                </a:lnTo>
                <a:cubicBezTo>
                  <a:pt x="197148" y="126901"/>
                  <a:pt x="190351" y="128240"/>
                  <a:pt x="184398" y="125760"/>
                </a:cubicBezTo>
                <a:cubicBezTo>
                  <a:pt x="178445" y="123279"/>
                  <a:pt x="174625" y="117525"/>
                  <a:pt x="174625" y="111125"/>
                </a:cubicBezTo>
                <a:lnTo>
                  <a:pt x="174625" y="79375"/>
                </a:ln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174625" y="47625"/>
                </a:lnTo>
                <a:lnTo>
                  <a:pt x="174625" y="15875"/>
                </a:lnTo>
                <a:cubicBezTo>
                  <a:pt x="174625" y="9475"/>
                  <a:pt x="178495" y="3671"/>
                  <a:pt x="184448" y="1191"/>
                </a:cubicBezTo>
                <a:cubicBezTo>
                  <a:pt x="190401" y="-1290"/>
                  <a:pt x="197197" y="99"/>
                  <a:pt x="201761" y="4614"/>
                </a:cubicBezTo>
                <a:lnTo>
                  <a:pt x="249386" y="52239"/>
                </a:lnTo>
                <a:cubicBezTo>
                  <a:pt x="255588" y="58440"/>
                  <a:pt x="255588" y="68511"/>
                  <a:pt x="249386" y="74712"/>
                </a:cubicBezTo>
                <a:close/>
                <a:moveTo>
                  <a:pt x="52239" y="249337"/>
                </a:moveTo>
                <a:lnTo>
                  <a:pt x="4614" y="201712"/>
                </a:lnTo>
                <a:cubicBezTo>
                  <a:pt x="-1587" y="195511"/>
                  <a:pt x="-1587" y="185440"/>
                  <a:pt x="4614" y="179239"/>
                </a:cubicBezTo>
                <a:lnTo>
                  <a:pt x="52239" y="131614"/>
                </a:lnTo>
                <a:cubicBezTo>
                  <a:pt x="56803" y="127050"/>
                  <a:pt x="63599" y="125710"/>
                  <a:pt x="69552" y="128191"/>
                </a:cubicBezTo>
                <a:cubicBezTo>
                  <a:pt x="75505" y="130671"/>
                  <a:pt x="79375" y="136475"/>
                  <a:pt x="79375" y="142875"/>
                </a:cubicBezTo>
                <a:lnTo>
                  <a:pt x="79375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cubicBezTo>
                  <a:pt x="254000" y="199281"/>
                  <a:pt x="246906" y="206375"/>
                  <a:pt x="238125" y="206375"/>
                </a:cubicBezTo>
                <a:lnTo>
                  <a:pt x="79375" y="206375"/>
                </a:lnTo>
                <a:lnTo>
                  <a:pt x="79375" y="238125"/>
                </a:lnTo>
                <a:cubicBezTo>
                  <a:pt x="79375" y="244525"/>
                  <a:pt x="75505" y="250329"/>
                  <a:pt x="69552" y="252809"/>
                </a:cubicBezTo>
                <a:cubicBezTo>
                  <a:pt x="63599" y="255290"/>
                  <a:pt x="56803" y="253901"/>
                  <a:pt x="52239" y="249386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10167" y="6553201"/>
            <a:ext cx="148801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 处理步骤与 MapReduce 的对应关系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92667" y="7040034"/>
            <a:ext cx="4910667" cy="1820333"/>
          </a:xfrm>
          <a:custGeom>
            <a:avLst/>
            <a:gdLst/>
            <a:ahLst/>
            <a:cxnLst/>
            <a:rect l="l" t="t" r="r" b="b"/>
            <a:pathLst>
              <a:path w="4910667" h="1820333">
                <a:moveTo>
                  <a:pt x="42333" y="0"/>
                </a:moveTo>
                <a:lnTo>
                  <a:pt x="4868333" y="0"/>
                </a:lnTo>
                <a:cubicBezTo>
                  <a:pt x="4891713" y="0"/>
                  <a:pt x="4910667" y="18953"/>
                  <a:pt x="4910667" y="42333"/>
                </a:cubicBezTo>
                <a:lnTo>
                  <a:pt x="4910667" y="1735670"/>
                </a:lnTo>
                <a:cubicBezTo>
                  <a:pt x="4910667" y="1782428"/>
                  <a:pt x="4872761" y="1820333"/>
                  <a:pt x="4826003" y="1820333"/>
                </a:cubicBezTo>
                <a:lnTo>
                  <a:pt x="84664" y="1820333"/>
                </a:lnTo>
                <a:cubicBezTo>
                  <a:pt x="37905" y="1820333"/>
                  <a:pt x="0" y="1782428"/>
                  <a:pt x="0" y="173567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92667" y="7040034"/>
            <a:ext cx="4910667" cy="42333"/>
          </a:xfrm>
          <a:custGeom>
            <a:avLst/>
            <a:gdLst/>
            <a:ahLst/>
            <a:cxnLst/>
            <a:rect l="l" t="t" r="r" b="b"/>
            <a:pathLst>
              <a:path w="4910667" h="42333">
                <a:moveTo>
                  <a:pt x="42333" y="0"/>
                </a:moveTo>
                <a:lnTo>
                  <a:pt x="4868333" y="0"/>
                </a:lnTo>
                <a:cubicBezTo>
                  <a:pt x="4891713" y="0"/>
                  <a:pt x="4910667" y="18953"/>
                  <a:pt x="4910667" y="42333"/>
                </a:cubicBezTo>
                <a:lnTo>
                  <a:pt x="4910667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762000" y="723053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908017" y="7336368"/>
            <a:ext cx="317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397000" y="7230534"/>
            <a:ext cx="91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 阶段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397000" y="7526868"/>
            <a:ext cx="889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数据转换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62000" y="7865534"/>
            <a:ext cx="4572000" cy="465667"/>
          </a:xfrm>
          <a:custGeom>
            <a:avLst/>
            <a:gdLst/>
            <a:ahLst/>
            <a:cxnLst/>
            <a:rect l="l" t="t" r="r" b="b"/>
            <a:pathLst>
              <a:path w="4572000" h="465667">
                <a:moveTo>
                  <a:pt x="42334" y="0"/>
                </a:moveTo>
                <a:lnTo>
                  <a:pt x="4529666" y="0"/>
                </a:lnTo>
                <a:cubicBezTo>
                  <a:pt x="4553047" y="0"/>
                  <a:pt x="4572000" y="18953"/>
                  <a:pt x="4572000" y="42334"/>
                </a:cubicBezTo>
                <a:lnTo>
                  <a:pt x="4572000" y="423333"/>
                </a:lnTo>
                <a:cubicBezTo>
                  <a:pt x="4572000" y="446713"/>
                  <a:pt x="4553047" y="465667"/>
                  <a:pt x="4529666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762000" y="7865534"/>
            <a:ext cx="4646083" cy="465667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awk '{print year"\t"temp}'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62000" y="8415868"/>
            <a:ext cx="4656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解析原始数据，提取年份和温度，生成键值对格式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672667" y="7040034"/>
            <a:ext cx="4910667" cy="1820333"/>
          </a:xfrm>
          <a:custGeom>
            <a:avLst/>
            <a:gdLst/>
            <a:ahLst/>
            <a:cxnLst/>
            <a:rect l="l" t="t" r="r" b="b"/>
            <a:pathLst>
              <a:path w="4910667" h="1820333">
                <a:moveTo>
                  <a:pt x="42333" y="0"/>
                </a:moveTo>
                <a:lnTo>
                  <a:pt x="4868333" y="0"/>
                </a:lnTo>
                <a:cubicBezTo>
                  <a:pt x="4891713" y="0"/>
                  <a:pt x="4910667" y="18953"/>
                  <a:pt x="4910667" y="42333"/>
                </a:cubicBezTo>
                <a:lnTo>
                  <a:pt x="4910667" y="1735670"/>
                </a:lnTo>
                <a:cubicBezTo>
                  <a:pt x="4910667" y="1782428"/>
                  <a:pt x="4872761" y="1820333"/>
                  <a:pt x="4826003" y="1820333"/>
                </a:cubicBezTo>
                <a:lnTo>
                  <a:pt x="84664" y="1820333"/>
                </a:lnTo>
                <a:cubicBezTo>
                  <a:pt x="37905" y="1820333"/>
                  <a:pt x="0" y="1782428"/>
                  <a:pt x="0" y="173567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5672667" y="7040034"/>
            <a:ext cx="4910667" cy="42333"/>
          </a:xfrm>
          <a:custGeom>
            <a:avLst/>
            <a:gdLst/>
            <a:ahLst/>
            <a:cxnLst/>
            <a:rect l="l" t="t" r="r" b="b"/>
            <a:pathLst>
              <a:path w="4910667" h="42333">
                <a:moveTo>
                  <a:pt x="42333" y="0"/>
                </a:moveTo>
                <a:lnTo>
                  <a:pt x="4868333" y="0"/>
                </a:lnTo>
                <a:cubicBezTo>
                  <a:pt x="4891713" y="0"/>
                  <a:pt x="4910667" y="18953"/>
                  <a:pt x="4910667" y="42333"/>
                </a:cubicBezTo>
                <a:lnTo>
                  <a:pt x="4910667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5842000" y="723053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7A7D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970158" y="7336368"/>
            <a:ext cx="359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77000" y="7230534"/>
            <a:ext cx="1153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 阶段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77000" y="7526868"/>
            <a:ext cx="1132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数据重组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842000" y="7865534"/>
            <a:ext cx="4572000" cy="465667"/>
          </a:xfrm>
          <a:custGeom>
            <a:avLst/>
            <a:gdLst/>
            <a:ahLst/>
            <a:cxnLst/>
            <a:rect l="l" t="t" r="r" b="b"/>
            <a:pathLst>
              <a:path w="4572000" h="465667">
                <a:moveTo>
                  <a:pt x="42334" y="0"/>
                </a:moveTo>
                <a:lnTo>
                  <a:pt x="4529666" y="0"/>
                </a:lnTo>
                <a:cubicBezTo>
                  <a:pt x="4553047" y="0"/>
                  <a:pt x="4572000" y="18953"/>
                  <a:pt x="4572000" y="42334"/>
                </a:cubicBezTo>
                <a:lnTo>
                  <a:pt x="4572000" y="423333"/>
                </a:lnTo>
                <a:cubicBezTo>
                  <a:pt x="4572000" y="446713"/>
                  <a:pt x="4553047" y="465667"/>
                  <a:pt x="4529666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5842000" y="7865534"/>
            <a:ext cx="4646083" cy="465667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sort -k1,1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842000" y="8415868"/>
            <a:ext cx="4656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按键排序分组，为后续聚合做准备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752667" y="7040034"/>
            <a:ext cx="4910667" cy="1820333"/>
          </a:xfrm>
          <a:custGeom>
            <a:avLst/>
            <a:gdLst/>
            <a:ahLst/>
            <a:cxnLst/>
            <a:rect l="l" t="t" r="r" b="b"/>
            <a:pathLst>
              <a:path w="4910667" h="1820333">
                <a:moveTo>
                  <a:pt x="42333" y="0"/>
                </a:moveTo>
                <a:lnTo>
                  <a:pt x="4868333" y="0"/>
                </a:lnTo>
                <a:cubicBezTo>
                  <a:pt x="4891713" y="0"/>
                  <a:pt x="4910667" y="18953"/>
                  <a:pt x="4910667" y="42333"/>
                </a:cubicBezTo>
                <a:lnTo>
                  <a:pt x="4910667" y="1735670"/>
                </a:lnTo>
                <a:cubicBezTo>
                  <a:pt x="4910667" y="1782428"/>
                  <a:pt x="4872761" y="1820333"/>
                  <a:pt x="4826003" y="1820333"/>
                </a:cubicBezTo>
                <a:lnTo>
                  <a:pt x="84664" y="1820333"/>
                </a:lnTo>
                <a:cubicBezTo>
                  <a:pt x="37905" y="1820333"/>
                  <a:pt x="0" y="1782428"/>
                  <a:pt x="0" y="173567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0752667" y="7040034"/>
            <a:ext cx="4910667" cy="42333"/>
          </a:xfrm>
          <a:custGeom>
            <a:avLst/>
            <a:gdLst/>
            <a:ahLst/>
            <a:cxnLst/>
            <a:rect l="l" t="t" r="r" b="b"/>
            <a:pathLst>
              <a:path w="4910667" h="42333">
                <a:moveTo>
                  <a:pt x="42333" y="0"/>
                </a:moveTo>
                <a:lnTo>
                  <a:pt x="4868333" y="0"/>
                </a:lnTo>
                <a:cubicBezTo>
                  <a:pt x="4891713" y="0"/>
                  <a:pt x="4910667" y="18953"/>
                  <a:pt x="4910667" y="42333"/>
                </a:cubicBezTo>
                <a:lnTo>
                  <a:pt x="4910667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10922000" y="723053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1047346" y="7336368"/>
            <a:ext cx="359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557000" y="7230534"/>
            <a:ext cx="1185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 阶段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557000" y="7526868"/>
            <a:ext cx="1164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聚合计算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0922000" y="7865534"/>
            <a:ext cx="4572000" cy="465667"/>
          </a:xfrm>
          <a:custGeom>
            <a:avLst/>
            <a:gdLst/>
            <a:ahLst/>
            <a:cxnLst/>
            <a:rect l="l" t="t" r="r" b="b"/>
            <a:pathLst>
              <a:path w="4572000" h="465667">
                <a:moveTo>
                  <a:pt x="42334" y="0"/>
                </a:moveTo>
                <a:lnTo>
                  <a:pt x="4529666" y="0"/>
                </a:lnTo>
                <a:cubicBezTo>
                  <a:pt x="4553047" y="0"/>
                  <a:pt x="4572000" y="18953"/>
                  <a:pt x="4572000" y="42334"/>
                </a:cubicBezTo>
                <a:lnTo>
                  <a:pt x="4572000" y="423333"/>
                </a:lnTo>
                <a:cubicBezTo>
                  <a:pt x="4572000" y="446713"/>
                  <a:pt x="4553047" y="465667"/>
                  <a:pt x="4529666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10922000" y="7865534"/>
            <a:ext cx="4646083" cy="465667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awk 'max_temp ...'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922000" y="8415868"/>
            <a:ext cx="4656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对同一年的所有温度求最大值，输出最终结果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031" y="455031"/>
            <a:ext cx="15425568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b="1" kern="0" spc="12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02 · Core Philosophy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5031" y="773554"/>
            <a:ext cx="15550701" cy="45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2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 管道机制：分而治之的核心思想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5031" y="1365094"/>
            <a:ext cx="1274088" cy="45503"/>
          </a:xfrm>
          <a:custGeom>
            <a:avLst/>
            <a:gdLst/>
            <a:ahLst/>
            <a:cxnLst/>
            <a:rect l="l" t="t" r="r" b="b"/>
            <a:pathLst>
              <a:path w="1274088" h="45503">
                <a:moveTo>
                  <a:pt x="0" y="0"/>
                </a:moveTo>
                <a:lnTo>
                  <a:pt x="1274088" y="0"/>
                </a:lnTo>
                <a:lnTo>
                  <a:pt x="1274088" y="45503"/>
                </a:lnTo>
                <a:lnTo>
                  <a:pt x="0" y="45503"/>
                </a:lnTo>
                <a:lnTo>
                  <a:pt x="0" y="0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77783" y="1592610"/>
            <a:ext cx="7542147" cy="4504812"/>
          </a:xfrm>
          <a:custGeom>
            <a:avLst/>
            <a:gdLst/>
            <a:ahLst/>
            <a:cxnLst/>
            <a:rect l="l" t="t" r="r" b="b"/>
            <a:pathLst>
              <a:path w="7542147" h="4504812">
                <a:moveTo>
                  <a:pt x="45503" y="0"/>
                </a:moveTo>
                <a:lnTo>
                  <a:pt x="7451150" y="0"/>
                </a:lnTo>
                <a:cubicBezTo>
                  <a:pt x="7501406" y="0"/>
                  <a:pt x="7542147" y="40741"/>
                  <a:pt x="7542147" y="90997"/>
                </a:cubicBezTo>
                <a:lnTo>
                  <a:pt x="7542147" y="4413815"/>
                </a:lnTo>
                <a:cubicBezTo>
                  <a:pt x="7542147" y="4464071"/>
                  <a:pt x="7501406" y="4504812"/>
                  <a:pt x="7451150" y="4504812"/>
                </a:cubicBezTo>
                <a:lnTo>
                  <a:pt x="45503" y="4504812"/>
                </a:lnTo>
                <a:cubicBezTo>
                  <a:pt x="20372" y="4504812"/>
                  <a:pt x="0" y="4484439"/>
                  <a:pt x="0" y="4459309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77783" y="1592610"/>
            <a:ext cx="45503" cy="4504812"/>
          </a:xfrm>
          <a:custGeom>
            <a:avLst/>
            <a:gdLst/>
            <a:ahLst/>
            <a:cxnLst/>
            <a:rect l="l" t="t" r="r" b="b"/>
            <a:pathLst>
              <a:path w="45503" h="4504812">
                <a:moveTo>
                  <a:pt x="45503" y="0"/>
                </a:moveTo>
                <a:lnTo>
                  <a:pt x="45503" y="0"/>
                </a:lnTo>
                <a:lnTo>
                  <a:pt x="45503" y="4504812"/>
                </a:lnTo>
                <a:lnTo>
                  <a:pt x="45503" y="4504812"/>
                </a:lnTo>
                <a:cubicBezTo>
                  <a:pt x="20372" y="4504812"/>
                  <a:pt x="0" y="4484439"/>
                  <a:pt x="0" y="4459309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10987" y="1820126"/>
            <a:ext cx="227516" cy="227516"/>
          </a:xfrm>
          <a:custGeom>
            <a:avLst/>
            <a:gdLst/>
            <a:ahLst/>
            <a:cxnLst/>
            <a:rect l="l" t="t" r="r" b="b"/>
            <a:pathLst>
              <a:path w="227516" h="227516">
                <a:moveTo>
                  <a:pt x="85318" y="28439"/>
                </a:moveTo>
                <a:cubicBezTo>
                  <a:pt x="85318" y="20574"/>
                  <a:pt x="91673" y="14220"/>
                  <a:pt x="99538" y="14220"/>
                </a:cubicBezTo>
                <a:lnTo>
                  <a:pt x="127978" y="14220"/>
                </a:lnTo>
                <a:cubicBezTo>
                  <a:pt x="135843" y="14220"/>
                  <a:pt x="142197" y="20574"/>
                  <a:pt x="142197" y="28439"/>
                </a:cubicBezTo>
                <a:lnTo>
                  <a:pt x="142197" y="56879"/>
                </a:lnTo>
                <a:cubicBezTo>
                  <a:pt x="142197" y="64744"/>
                  <a:pt x="135843" y="71099"/>
                  <a:pt x="127978" y="71099"/>
                </a:cubicBezTo>
                <a:lnTo>
                  <a:pt x="124423" y="71099"/>
                </a:lnTo>
                <a:lnTo>
                  <a:pt x="124423" y="99538"/>
                </a:lnTo>
                <a:lnTo>
                  <a:pt x="177747" y="99538"/>
                </a:lnTo>
                <a:cubicBezTo>
                  <a:pt x="195432" y="99538"/>
                  <a:pt x="209741" y="113847"/>
                  <a:pt x="209741" y="131533"/>
                </a:cubicBezTo>
                <a:lnTo>
                  <a:pt x="209741" y="156417"/>
                </a:lnTo>
                <a:lnTo>
                  <a:pt x="213296" y="156417"/>
                </a:lnTo>
                <a:cubicBezTo>
                  <a:pt x="221161" y="156417"/>
                  <a:pt x="227516" y="162772"/>
                  <a:pt x="227516" y="170637"/>
                </a:cubicBezTo>
                <a:lnTo>
                  <a:pt x="227516" y="199076"/>
                </a:lnTo>
                <a:cubicBezTo>
                  <a:pt x="227516" y="206942"/>
                  <a:pt x="221161" y="213296"/>
                  <a:pt x="213296" y="213296"/>
                </a:cubicBezTo>
                <a:lnTo>
                  <a:pt x="184857" y="213296"/>
                </a:lnTo>
                <a:cubicBezTo>
                  <a:pt x="176991" y="213296"/>
                  <a:pt x="170637" y="206942"/>
                  <a:pt x="170637" y="199076"/>
                </a:cubicBezTo>
                <a:lnTo>
                  <a:pt x="170637" y="170637"/>
                </a:lnTo>
                <a:cubicBezTo>
                  <a:pt x="170637" y="162772"/>
                  <a:pt x="176991" y="156417"/>
                  <a:pt x="184857" y="156417"/>
                </a:cubicBezTo>
                <a:lnTo>
                  <a:pt x="188411" y="156417"/>
                </a:lnTo>
                <a:lnTo>
                  <a:pt x="188411" y="131533"/>
                </a:lnTo>
                <a:cubicBezTo>
                  <a:pt x="188411" y="125622"/>
                  <a:pt x="183657" y="120868"/>
                  <a:pt x="177747" y="120868"/>
                </a:cubicBezTo>
                <a:lnTo>
                  <a:pt x="124423" y="120868"/>
                </a:lnTo>
                <a:lnTo>
                  <a:pt x="124423" y="156417"/>
                </a:lnTo>
                <a:lnTo>
                  <a:pt x="127978" y="156417"/>
                </a:lnTo>
                <a:cubicBezTo>
                  <a:pt x="135843" y="156417"/>
                  <a:pt x="142197" y="162772"/>
                  <a:pt x="142197" y="170637"/>
                </a:cubicBezTo>
                <a:lnTo>
                  <a:pt x="142197" y="199076"/>
                </a:lnTo>
                <a:cubicBezTo>
                  <a:pt x="142197" y="206942"/>
                  <a:pt x="135843" y="213296"/>
                  <a:pt x="127978" y="213296"/>
                </a:cubicBezTo>
                <a:lnTo>
                  <a:pt x="99538" y="213296"/>
                </a:lnTo>
                <a:cubicBezTo>
                  <a:pt x="91673" y="213296"/>
                  <a:pt x="85318" y="206942"/>
                  <a:pt x="85318" y="199076"/>
                </a:cubicBezTo>
                <a:lnTo>
                  <a:pt x="85318" y="170637"/>
                </a:lnTo>
                <a:cubicBezTo>
                  <a:pt x="85318" y="162772"/>
                  <a:pt x="91673" y="156417"/>
                  <a:pt x="99538" y="156417"/>
                </a:cubicBezTo>
                <a:lnTo>
                  <a:pt x="103093" y="156417"/>
                </a:lnTo>
                <a:lnTo>
                  <a:pt x="103093" y="120868"/>
                </a:lnTo>
                <a:lnTo>
                  <a:pt x="49769" y="120868"/>
                </a:lnTo>
                <a:cubicBezTo>
                  <a:pt x="43859" y="120868"/>
                  <a:pt x="39104" y="125622"/>
                  <a:pt x="39104" y="131533"/>
                </a:cubicBezTo>
                <a:lnTo>
                  <a:pt x="39104" y="156417"/>
                </a:lnTo>
                <a:lnTo>
                  <a:pt x="42659" y="156417"/>
                </a:lnTo>
                <a:cubicBezTo>
                  <a:pt x="50524" y="156417"/>
                  <a:pt x="56879" y="162772"/>
                  <a:pt x="56879" y="170637"/>
                </a:cubicBezTo>
                <a:lnTo>
                  <a:pt x="56879" y="199076"/>
                </a:lnTo>
                <a:cubicBezTo>
                  <a:pt x="56879" y="206942"/>
                  <a:pt x="50524" y="213296"/>
                  <a:pt x="42659" y="213296"/>
                </a:cubicBezTo>
                <a:lnTo>
                  <a:pt x="14220" y="213296"/>
                </a:lnTo>
                <a:cubicBezTo>
                  <a:pt x="6354" y="213296"/>
                  <a:pt x="0" y="206942"/>
                  <a:pt x="0" y="199076"/>
                </a:cubicBezTo>
                <a:lnTo>
                  <a:pt x="0" y="170637"/>
                </a:lnTo>
                <a:cubicBezTo>
                  <a:pt x="0" y="162772"/>
                  <a:pt x="6354" y="156417"/>
                  <a:pt x="14220" y="156417"/>
                </a:cubicBezTo>
                <a:lnTo>
                  <a:pt x="17775" y="156417"/>
                </a:lnTo>
                <a:lnTo>
                  <a:pt x="17775" y="131533"/>
                </a:lnTo>
                <a:cubicBezTo>
                  <a:pt x="17775" y="113847"/>
                  <a:pt x="32083" y="99538"/>
                  <a:pt x="49769" y="99538"/>
                </a:cubicBezTo>
                <a:lnTo>
                  <a:pt x="103093" y="99538"/>
                </a:lnTo>
                <a:lnTo>
                  <a:pt x="103093" y="71099"/>
                </a:lnTo>
                <a:lnTo>
                  <a:pt x="99538" y="71099"/>
                </a:lnTo>
                <a:cubicBezTo>
                  <a:pt x="91673" y="71099"/>
                  <a:pt x="85318" y="64744"/>
                  <a:pt x="85318" y="56879"/>
                </a:cubicBezTo>
                <a:lnTo>
                  <a:pt x="85318" y="28439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6942" y="1774623"/>
            <a:ext cx="6984733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9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核心思想：分而治之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2547" y="2229654"/>
            <a:ext cx="7246376" cy="591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Unix管道体现了</a:t>
            </a:r>
            <a:r>
              <a:rPr lang="en-US" sz="14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"分而治之"</a:t>
            </a:r>
            <a:r>
              <a:rPr lang="en-US" sz="14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的核心思想，将复杂的数据处理任务分解为多个简单的处理阶段：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2547" y="2957705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91006" y="0"/>
                </a:moveTo>
                <a:lnTo>
                  <a:pt x="364025" y="0"/>
                </a:lnTo>
                <a:cubicBezTo>
                  <a:pt x="414253" y="0"/>
                  <a:pt x="455031" y="40779"/>
                  <a:pt x="455031" y="91006"/>
                </a:cubicBezTo>
                <a:lnTo>
                  <a:pt x="455031" y="364025"/>
                </a:lnTo>
                <a:cubicBezTo>
                  <a:pt x="455031" y="414287"/>
                  <a:pt x="414287" y="455031"/>
                  <a:pt x="364025" y="455031"/>
                </a:cubicBezTo>
                <a:lnTo>
                  <a:pt x="91006" y="455031"/>
                </a:lnTo>
                <a:cubicBezTo>
                  <a:pt x="40745" y="455031"/>
                  <a:pt x="0" y="414287"/>
                  <a:pt x="0" y="364025"/>
                </a:cubicBezTo>
                <a:lnTo>
                  <a:pt x="0" y="91006"/>
                </a:lnTo>
                <a:cubicBezTo>
                  <a:pt x="0" y="40745"/>
                  <a:pt x="40745" y="0"/>
                  <a:pt x="91006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9803" y="3025959"/>
            <a:ext cx="182013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4088" y="2957705"/>
            <a:ext cx="3196596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分阶段处理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4088" y="3321730"/>
            <a:ext cx="318522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将复杂任务分解为多个简单的处理阶段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2547" y="3731258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91006" y="0"/>
                </a:moveTo>
                <a:lnTo>
                  <a:pt x="364025" y="0"/>
                </a:lnTo>
                <a:cubicBezTo>
                  <a:pt x="414253" y="0"/>
                  <a:pt x="455031" y="40779"/>
                  <a:pt x="455031" y="91006"/>
                </a:cubicBezTo>
                <a:lnTo>
                  <a:pt x="455031" y="364025"/>
                </a:lnTo>
                <a:cubicBezTo>
                  <a:pt x="455031" y="414287"/>
                  <a:pt x="414287" y="455031"/>
                  <a:pt x="364025" y="455031"/>
                </a:cubicBezTo>
                <a:lnTo>
                  <a:pt x="91006" y="455031"/>
                </a:lnTo>
                <a:cubicBezTo>
                  <a:pt x="40745" y="455031"/>
                  <a:pt x="0" y="414287"/>
                  <a:pt x="0" y="364025"/>
                </a:cubicBezTo>
                <a:lnTo>
                  <a:pt x="0" y="91006"/>
                </a:lnTo>
                <a:cubicBezTo>
                  <a:pt x="0" y="40745"/>
                  <a:pt x="40745" y="0"/>
                  <a:pt x="91006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52473" y="3799513"/>
            <a:ext cx="216140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4088" y="3731258"/>
            <a:ext cx="2832571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数据流式传递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4088" y="4095283"/>
            <a:ext cx="2821195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数据像水流一样在工具间连续传递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2547" y="4504812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91006" y="0"/>
                </a:moveTo>
                <a:lnTo>
                  <a:pt x="364025" y="0"/>
                </a:lnTo>
                <a:cubicBezTo>
                  <a:pt x="414253" y="0"/>
                  <a:pt x="455031" y="40779"/>
                  <a:pt x="455031" y="91006"/>
                </a:cubicBezTo>
                <a:lnTo>
                  <a:pt x="455031" y="364025"/>
                </a:lnTo>
                <a:cubicBezTo>
                  <a:pt x="455031" y="414287"/>
                  <a:pt x="414287" y="455031"/>
                  <a:pt x="364025" y="455031"/>
                </a:cubicBezTo>
                <a:lnTo>
                  <a:pt x="91006" y="455031"/>
                </a:lnTo>
                <a:cubicBezTo>
                  <a:pt x="40745" y="455031"/>
                  <a:pt x="0" y="414287"/>
                  <a:pt x="0" y="364025"/>
                </a:cubicBezTo>
                <a:lnTo>
                  <a:pt x="0" y="91006"/>
                </a:lnTo>
                <a:cubicBezTo>
                  <a:pt x="0" y="40745"/>
                  <a:pt x="40745" y="0"/>
                  <a:pt x="91006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49807" y="4573066"/>
            <a:ext cx="227516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4088" y="4504812"/>
            <a:ext cx="2468546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功能专一化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4088" y="4868837"/>
            <a:ext cx="24571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每个工具专注于一个特定功能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2547" y="5278365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91006" y="0"/>
                </a:moveTo>
                <a:lnTo>
                  <a:pt x="364025" y="0"/>
                </a:lnTo>
                <a:cubicBezTo>
                  <a:pt x="414253" y="0"/>
                  <a:pt x="455031" y="40779"/>
                  <a:pt x="455031" y="91006"/>
                </a:cubicBezTo>
                <a:lnTo>
                  <a:pt x="455031" y="364025"/>
                </a:lnTo>
                <a:cubicBezTo>
                  <a:pt x="455031" y="414287"/>
                  <a:pt x="414287" y="455031"/>
                  <a:pt x="364025" y="455031"/>
                </a:cubicBezTo>
                <a:lnTo>
                  <a:pt x="91006" y="455031"/>
                </a:lnTo>
                <a:cubicBezTo>
                  <a:pt x="40745" y="455031"/>
                  <a:pt x="0" y="414287"/>
                  <a:pt x="0" y="364025"/>
                </a:cubicBezTo>
                <a:lnTo>
                  <a:pt x="0" y="91006"/>
                </a:lnTo>
                <a:cubicBezTo>
                  <a:pt x="0" y="40745"/>
                  <a:pt x="40745" y="0"/>
                  <a:pt x="91006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49985" y="5346620"/>
            <a:ext cx="227516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4088" y="5278365"/>
            <a:ext cx="2832571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并行处理能力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4088" y="5642390"/>
            <a:ext cx="2821195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多个工具可以同时工作，提高效率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66376" y="1592610"/>
            <a:ext cx="7542147" cy="4504812"/>
          </a:xfrm>
          <a:custGeom>
            <a:avLst/>
            <a:gdLst/>
            <a:ahLst/>
            <a:cxnLst/>
            <a:rect l="l" t="t" r="r" b="b"/>
            <a:pathLst>
              <a:path w="7542147" h="4504812">
                <a:moveTo>
                  <a:pt x="45503" y="0"/>
                </a:moveTo>
                <a:lnTo>
                  <a:pt x="7451150" y="0"/>
                </a:lnTo>
                <a:cubicBezTo>
                  <a:pt x="7501406" y="0"/>
                  <a:pt x="7542147" y="40741"/>
                  <a:pt x="7542147" y="90997"/>
                </a:cubicBezTo>
                <a:lnTo>
                  <a:pt x="7542147" y="4413815"/>
                </a:lnTo>
                <a:cubicBezTo>
                  <a:pt x="7542147" y="4464071"/>
                  <a:pt x="7501406" y="4504812"/>
                  <a:pt x="7451150" y="4504812"/>
                </a:cubicBezTo>
                <a:lnTo>
                  <a:pt x="45503" y="4504812"/>
                </a:lnTo>
                <a:cubicBezTo>
                  <a:pt x="20372" y="4504812"/>
                  <a:pt x="0" y="4484439"/>
                  <a:pt x="0" y="4459309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266376" y="1592610"/>
            <a:ext cx="45503" cy="4504812"/>
          </a:xfrm>
          <a:custGeom>
            <a:avLst/>
            <a:gdLst/>
            <a:ahLst/>
            <a:cxnLst/>
            <a:rect l="l" t="t" r="r" b="b"/>
            <a:pathLst>
              <a:path w="45503" h="4504812">
                <a:moveTo>
                  <a:pt x="45503" y="0"/>
                </a:moveTo>
                <a:lnTo>
                  <a:pt x="45503" y="0"/>
                </a:lnTo>
                <a:lnTo>
                  <a:pt x="45503" y="4504812"/>
                </a:lnTo>
                <a:lnTo>
                  <a:pt x="45503" y="4504812"/>
                </a:lnTo>
                <a:cubicBezTo>
                  <a:pt x="20372" y="4504812"/>
                  <a:pt x="0" y="4484439"/>
                  <a:pt x="0" y="4459309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499579" y="1820126"/>
            <a:ext cx="227516" cy="227516"/>
          </a:xfrm>
          <a:custGeom>
            <a:avLst/>
            <a:gdLst/>
            <a:ahLst/>
            <a:cxnLst/>
            <a:rect l="l" t="t" r="r" b="b"/>
            <a:pathLst>
              <a:path w="227516" h="227516">
                <a:moveTo>
                  <a:pt x="56879" y="142197"/>
                </a:moveTo>
                <a:lnTo>
                  <a:pt x="10887" y="142197"/>
                </a:lnTo>
                <a:cubicBezTo>
                  <a:pt x="-178" y="142197"/>
                  <a:pt x="-6977" y="130155"/>
                  <a:pt x="-1289" y="120646"/>
                </a:cubicBezTo>
                <a:lnTo>
                  <a:pt x="22218" y="81452"/>
                </a:lnTo>
                <a:cubicBezTo>
                  <a:pt x="26084" y="75009"/>
                  <a:pt x="33016" y="71099"/>
                  <a:pt x="40526" y="71099"/>
                </a:cubicBezTo>
                <a:lnTo>
                  <a:pt x="82741" y="71099"/>
                </a:lnTo>
                <a:cubicBezTo>
                  <a:pt x="116557" y="13820"/>
                  <a:pt x="166993" y="10931"/>
                  <a:pt x="200720" y="15864"/>
                </a:cubicBezTo>
                <a:cubicBezTo>
                  <a:pt x="206408" y="16708"/>
                  <a:pt x="210852" y="21152"/>
                  <a:pt x="211652" y="26795"/>
                </a:cubicBezTo>
                <a:cubicBezTo>
                  <a:pt x="216584" y="60523"/>
                  <a:pt x="213696" y="110958"/>
                  <a:pt x="156417" y="144775"/>
                </a:cubicBezTo>
                <a:lnTo>
                  <a:pt x="156417" y="186990"/>
                </a:lnTo>
                <a:cubicBezTo>
                  <a:pt x="156417" y="194499"/>
                  <a:pt x="152507" y="201431"/>
                  <a:pt x="146063" y="205297"/>
                </a:cubicBezTo>
                <a:lnTo>
                  <a:pt x="106870" y="228804"/>
                </a:lnTo>
                <a:cubicBezTo>
                  <a:pt x="97405" y="234492"/>
                  <a:pt x="85318" y="227649"/>
                  <a:pt x="85318" y="216629"/>
                </a:cubicBezTo>
                <a:lnTo>
                  <a:pt x="85318" y="170637"/>
                </a:lnTo>
                <a:cubicBezTo>
                  <a:pt x="85318" y="154951"/>
                  <a:pt x="72565" y="142197"/>
                  <a:pt x="56879" y="142197"/>
                </a:cubicBezTo>
                <a:lnTo>
                  <a:pt x="56834" y="142197"/>
                </a:lnTo>
                <a:close/>
                <a:moveTo>
                  <a:pt x="177747" y="71099"/>
                </a:moveTo>
                <a:cubicBezTo>
                  <a:pt x="177747" y="59327"/>
                  <a:pt x="168189" y="49769"/>
                  <a:pt x="156417" y="49769"/>
                </a:cubicBezTo>
                <a:cubicBezTo>
                  <a:pt x="144645" y="49769"/>
                  <a:pt x="135087" y="59327"/>
                  <a:pt x="135087" y="71099"/>
                </a:cubicBezTo>
                <a:cubicBezTo>
                  <a:pt x="135087" y="82871"/>
                  <a:pt x="144645" y="92428"/>
                  <a:pt x="156417" y="92428"/>
                </a:cubicBezTo>
                <a:cubicBezTo>
                  <a:pt x="168189" y="92428"/>
                  <a:pt x="177747" y="82871"/>
                  <a:pt x="177747" y="71099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755535" y="1774623"/>
            <a:ext cx="6984733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9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管道机制的优势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71140" y="2229654"/>
            <a:ext cx="7155370" cy="932815"/>
          </a:xfrm>
          <a:custGeom>
            <a:avLst/>
            <a:gdLst/>
            <a:ahLst/>
            <a:cxnLst/>
            <a:rect l="l" t="t" r="r" b="b"/>
            <a:pathLst>
              <a:path w="7155370" h="932815">
                <a:moveTo>
                  <a:pt x="91005" y="0"/>
                </a:moveTo>
                <a:lnTo>
                  <a:pt x="7064365" y="0"/>
                </a:lnTo>
                <a:cubicBezTo>
                  <a:pt x="7114626" y="0"/>
                  <a:pt x="7155370" y="40745"/>
                  <a:pt x="7155370" y="91005"/>
                </a:cubicBezTo>
                <a:lnTo>
                  <a:pt x="7155370" y="841809"/>
                </a:lnTo>
                <a:cubicBezTo>
                  <a:pt x="7155370" y="892070"/>
                  <a:pt x="7114626" y="932815"/>
                  <a:pt x="7064365" y="932815"/>
                </a:cubicBezTo>
                <a:lnTo>
                  <a:pt x="91005" y="932815"/>
                </a:lnTo>
                <a:cubicBezTo>
                  <a:pt x="40745" y="932815"/>
                  <a:pt x="0" y="892070"/>
                  <a:pt x="0" y="841809"/>
                </a:cubicBezTo>
                <a:lnTo>
                  <a:pt x="0" y="91005"/>
                </a:lnTo>
                <a:cubicBezTo>
                  <a:pt x="0" y="40778"/>
                  <a:pt x="40778" y="0"/>
                  <a:pt x="910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36089" y="2423043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0" y="38393"/>
                </a:moveTo>
                <a:cubicBezTo>
                  <a:pt x="0" y="31315"/>
                  <a:pt x="5719" y="25596"/>
                  <a:pt x="12798" y="25596"/>
                </a:cubicBezTo>
                <a:lnTo>
                  <a:pt x="166371" y="25596"/>
                </a:lnTo>
                <a:cubicBezTo>
                  <a:pt x="173450" y="25596"/>
                  <a:pt x="179169" y="31315"/>
                  <a:pt x="179169" y="38393"/>
                </a:cubicBezTo>
                <a:cubicBezTo>
                  <a:pt x="179169" y="45472"/>
                  <a:pt x="173450" y="51191"/>
                  <a:pt x="166371" y="51191"/>
                </a:cubicBezTo>
                <a:lnTo>
                  <a:pt x="12798" y="51191"/>
                </a:lnTo>
                <a:cubicBezTo>
                  <a:pt x="5719" y="51191"/>
                  <a:pt x="0" y="45472"/>
                  <a:pt x="0" y="38393"/>
                </a:cubicBezTo>
                <a:close/>
                <a:moveTo>
                  <a:pt x="25596" y="102382"/>
                </a:moveTo>
                <a:cubicBezTo>
                  <a:pt x="25596" y="95303"/>
                  <a:pt x="31315" y="89584"/>
                  <a:pt x="38393" y="89584"/>
                </a:cubicBezTo>
                <a:lnTo>
                  <a:pt x="191966" y="89584"/>
                </a:lnTo>
                <a:cubicBezTo>
                  <a:pt x="199045" y="89584"/>
                  <a:pt x="204764" y="95303"/>
                  <a:pt x="204764" y="102382"/>
                </a:cubicBezTo>
                <a:cubicBezTo>
                  <a:pt x="204764" y="109461"/>
                  <a:pt x="199045" y="115180"/>
                  <a:pt x="191966" y="115180"/>
                </a:cubicBezTo>
                <a:lnTo>
                  <a:pt x="38393" y="115180"/>
                </a:lnTo>
                <a:cubicBezTo>
                  <a:pt x="31315" y="115180"/>
                  <a:pt x="25596" y="109461"/>
                  <a:pt x="25596" y="102382"/>
                </a:cubicBezTo>
                <a:close/>
                <a:moveTo>
                  <a:pt x="179169" y="166371"/>
                </a:moveTo>
                <a:cubicBezTo>
                  <a:pt x="179169" y="173450"/>
                  <a:pt x="173450" y="179169"/>
                  <a:pt x="166371" y="179169"/>
                </a:cubicBezTo>
                <a:lnTo>
                  <a:pt x="12798" y="179169"/>
                </a:lnTo>
                <a:cubicBezTo>
                  <a:pt x="5719" y="179169"/>
                  <a:pt x="0" y="173450"/>
                  <a:pt x="0" y="166371"/>
                </a:cubicBezTo>
                <a:cubicBezTo>
                  <a:pt x="0" y="159292"/>
                  <a:pt x="5719" y="153573"/>
                  <a:pt x="12798" y="153573"/>
                </a:cubicBezTo>
                <a:lnTo>
                  <a:pt x="166371" y="153573"/>
                </a:lnTo>
                <a:cubicBezTo>
                  <a:pt x="173450" y="153573"/>
                  <a:pt x="179169" y="159292"/>
                  <a:pt x="179169" y="16637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869293" y="2366164"/>
            <a:ext cx="6723090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流式处理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07649" y="2730189"/>
            <a:ext cx="6973358" cy="29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数据无需完全加载到内存，边读边处理，适合大规模数据集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71140" y="3298978"/>
            <a:ext cx="7155370" cy="932815"/>
          </a:xfrm>
          <a:custGeom>
            <a:avLst/>
            <a:gdLst/>
            <a:ahLst/>
            <a:cxnLst/>
            <a:rect l="l" t="t" r="r" b="b"/>
            <a:pathLst>
              <a:path w="7155370" h="932815">
                <a:moveTo>
                  <a:pt x="91005" y="0"/>
                </a:moveTo>
                <a:lnTo>
                  <a:pt x="7064365" y="0"/>
                </a:lnTo>
                <a:cubicBezTo>
                  <a:pt x="7114626" y="0"/>
                  <a:pt x="7155370" y="40745"/>
                  <a:pt x="7155370" y="91005"/>
                </a:cubicBezTo>
                <a:lnTo>
                  <a:pt x="7155370" y="841809"/>
                </a:lnTo>
                <a:cubicBezTo>
                  <a:pt x="7155370" y="892070"/>
                  <a:pt x="7114626" y="932815"/>
                  <a:pt x="7064365" y="932815"/>
                </a:cubicBezTo>
                <a:lnTo>
                  <a:pt x="91005" y="932815"/>
                </a:lnTo>
                <a:cubicBezTo>
                  <a:pt x="40745" y="932815"/>
                  <a:pt x="0" y="892070"/>
                  <a:pt x="0" y="841809"/>
                </a:cubicBezTo>
                <a:lnTo>
                  <a:pt x="0" y="91005"/>
                </a:lnTo>
                <a:cubicBezTo>
                  <a:pt x="0" y="40778"/>
                  <a:pt x="40778" y="0"/>
                  <a:pt x="910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636089" y="3492367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113580" y="-520"/>
                </a:moveTo>
                <a:cubicBezTo>
                  <a:pt x="106661" y="-4519"/>
                  <a:pt x="98103" y="-4519"/>
                  <a:pt x="91184" y="-520"/>
                </a:cubicBezTo>
                <a:lnTo>
                  <a:pt x="57510" y="18917"/>
                </a:lnTo>
                <a:cubicBezTo>
                  <a:pt x="50591" y="22916"/>
                  <a:pt x="46312" y="30315"/>
                  <a:pt x="46312" y="38313"/>
                </a:cubicBezTo>
                <a:lnTo>
                  <a:pt x="46312" y="79066"/>
                </a:lnTo>
                <a:lnTo>
                  <a:pt x="10998" y="99463"/>
                </a:lnTo>
                <a:cubicBezTo>
                  <a:pt x="4079" y="103462"/>
                  <a:pt x="-200" y="110861"/>
                  <a:pt x="-200" y="118859"/>
                </a:cubicBezTo>
                <a:lnTo>
                  <a:pt x="-200" y="157772"/>
                </a:lnTo>
                <a:cubicBezTo>
                  <a:pt x="-200" y="165771"/>
                  <a:pt x="4079" y="173170"/>
                  <a:pt x="10998" y="177169"/>
                </a:cubicBezTo>
                <a:lnTo>
                  <a:pt x="44712" y="196606"/>
                </a:lnTo>
                <a:cubicBezTo>
                  <a:pt x="51631" y="200605"/>
                  <a:pt x="60189" y="200605"/>
                  <a:pt x="67108" y="196606"/>
                </a:cubicBezTo>
                <a:lnTo>
                  <a:pt x="102422" y="176209"/>
                </a:lnTo>
                <a:lnTo>
                  <a:pt x="137736" y="196606"/>
                </a:lnTo>
                <a:cubicBezTo>
                  <a:pt x="144655" y="200605"/>
                  <a:pt x="153213" y="200605"/>
                  <a:pt x="160132" y="196606"/>
                </a:cubicBezTo>
                <a:lnTo>
                  <a:pt x="193766" y="177169"/>
                </a:lnTo>
                <a:cubicBezTo>
                  <a:pt x="200685" y="173170"/>
                  <a:pt x="204964" y="165771"/>
                  <a:pt x="204964" y="157772"/>
                </a:cubicBezTo>
                <a:lnTo>
                  <a:pt x="204964" y="118859"/>
                </a:lnTo>
                <a:cubicBezTo>
                  <a:pt x="204964" y="110861"/>
                  <a:pt x="200685" y="103462"/>
                  <a:pt x="193766" y="99463"/>
                </a:cubicBezTo>
                <a:lnTo>
                  <a:pt x="158452" y="79066"/>
                </a:lnTo>
                <a:lnTo>
                  <a:pt x="158452" y="38313"/>
                </a:lnTo>
                <a:cubicBezTo>
                  <a:pt x="158452" y="30315"/>
                  <a:pt x="154173" y="22916"/>
                  <a:pt x="147254" y="18917"/>
                </a:cubicBezTo>
                <a:lnTo>
                  <a:pt x="113580" y="-520"/>
                </a:lnTo>
                <a:close/>
                <a:moveTo>
                  <a:pt x="92784" y="117020"/>
                </a:moveTo>
                <a:lnTo>
                  <a:pt x="92784" y="159612"/>
                </a:lnTo>
                <a:lnTo>
                  <a:pt x="57470" y="180009"/>
                </a:lnTo>
                <a:cubicBezTo>
                  <a:pt x="56990" y="180288"/>
                  <a:pt x="56430" y="180448"/>
                  <a:pt x="55870" y="180448"/>
                </a:cubicBezTo>
                <a:lnTo>
                  <a:pt x="55870" y="138336"/>
                </a:lnTo>
                <a:lnTo>
                  <a:pt x="92784" y="117020"/>
                </a:lnTo>
                <a:close/>
                <a:moveTo>
                  <a:pt x="185328" y="117259"/>
                </a:moveTo>
                <a:cubicBezTo>
                  <a:pt x="185608" y="117739"/>
                  <a:pt x="185767" y="118299"/>
                  <a:pt x="185767" y="118859"/>
                </a:cubicBezTo>
                <a:lnTo>
                  <a:pt x="185767" y="157772"/>
                </a:lnTo>
                <a:cubicBezTo>
                  <a:pt x="185767" y="158932"/>
                  <a:pt x="185168" y="159972"/>
                  <a:pt x="184168" y="160532"/>
                </a:cubicBezTo>
                <a:lnTo>
                  <a:pt x="150454" y="179969"/>
                </a:lnTo>
                <a:cubicBezTo>
                  <a:pt x="149974" y="180248"/>
                  <a:pt x="149414" y="180408"/>
                  <a:pt x="148854" y="180408"/>
                </a:cubicBezTo>
                <a:lnTo>
                  <a:pt x="148854" y="138296"/>
                </a:lnTo>
                <a:lnTo>
                  <a:pt x="185328" y="117259"/>
                </a:lnTo>
                <a:close/>
                <a:moveTo>
                  <a:pt x="139296" y="38313"/>
                </a:moveTo>
                <a:lnTo>
                  <a:pt x="139296" y="79066"/>
                </a:lnTo>
                <a:lnTo>
                  <a:pt x="102382" y="100382"/>
                </a:lnTo>
                <a:lnTo>
                  <a:pt x="102382" y="57790"/>
                </a:lnTo>
                <a:lnTo>
                  <a:pt x="138856" y="36754"/>
                </a:lnTo>
                <a:cubicBezTo>
                  <a:pt x="139136" y="37233"/>
                  <a:pt x="139296" y="37793"/>
                  <a:pt x="139296" y="3835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869293" y="3435488"/>
            <a:ext cx="6723090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模块化设计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07649" y="3799513"/>
            <a:ext cx="6973358" cy="29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每个工具职责单一，可独立测试和优化，通过组合实现复杂功能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71140" y="4368302"/>
            <a:ext cx="7155370" cy="932815"/>
          </a:xfrm>
          <a:custGeom>
            <a:avLst/>
            <a:gdLst/>
            <a:ahLst/>
            <a:cxnLst/>
            <a:rect l="l" t="t" r="r" b="b"/>
            <a:pathLst>
              <a:path w="7155370" h="932815">
                <a:moveTo>
                  <a:pt x="91005" y="0"/>
                </a:moveTo>
                <a:lnTo>
                  <a:pt x="7064365" y="0"/>
                </a:lnTo>
                <a:cubicBezTo>
                  <a:pt x="7114626" y="0"/>
                  <a:pt x="7155370" y="40745"/>
                  <a:pt x="7155370" y="91005"/>
                </a:cubicBezTo>
                <a:lnTo>
                  <a:pt x="7155370" y="841809"/>
                </a:lnTo>
                <a:cubicBezTo>
                  <a:pt x="7155370" y="892070"/>
                  <a:pt x="7114626" y="932815"/>
                  <a:pt x="7064365" y="932815"/>
                </a:cubicBezTo>
                <a:lnTo>
                  <a:pt x="91005" y="932815"/>
                </a:lnTo>
                <a:cubicBezTo>
                  <a:pt x="40745" y="932815"/>
                  <a:pt x="0" y="892070"/>
                  <a:pt x="0" y="841809"/>
                </a:cubicBezTo>
                <a:lnTo>
                  <a:pt x="0" y="91005"/>
                </a:lnTo>
                <a:cubicBezTo>
                  <a:pt x="0" y="40778"/>
                  <a:pt x="40778" y="0"/>
                  <a:pt x="9100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623291" y="4561691"/>
            <a:ext cx="230360" cy="204764"/>
          </a:xfrm>
          <a:custGeom>
            <a:avLst/>
            <a:gdLst/>
            <a:ahLst/>
            <a:cxnLst/>
            <a:rect l="l" t="t" r="r" b="b"/>
            <a:pathLst>
              <a:path w="230360" h="204764">
                <a:moveTo>
                  <a:pt x="167771" y="38393"/>
                </a:moveTo>
                <a:cubicBezTo>
                  <a:pt x="161132" y="38393"/>
                  <a:pt x="154693" y="40193"/>
                  <a:pt x="149054" y="43472"/>
                </a:cubicBezTo>
                <a:cubicBezTo>
                  <a:pt x="142735" y="37074"/>
                  <a:pt x="135376" y="31714"/>
                  <a:pt x="127258" y="27675"/>
                </a:cubicBezTo>
                <a:cubicBezTo>
                  <a:pt x="138536" y="18077"/>
                  <a:pt x="152893" y="12798"/>
                  <a:pt x="167771" y="12798"/>
                </a:cubicBezTo>
                <a:cubicBezTo>
                  <a:pt x="202325" y="12798"/>
                  <a:pt x="230360" y="40793"/>
                  <a:pt x="230360" y="75387"/>
                </a:cubicBezTo>
                <a:cubicBezTo>
                  <a:pt x="230360" y="91984"/>
                  <a:pt x="223761" y="107901"/>
                  <a:pt x="212043" y="119619"/>
                </a:cubicBezTo>
                <a:lnTo>
                  <a:pt x="183608" y="148054"/>
                </a:lnTo>
                <a:cubicBezTo>
                  <a:pt x="171890" y="159772"/>
                  <a:pt x="155973" y="166371"/>
                  <a:pt x="139376" y="166371"/>
                </a:cubicBezTo>
                <a:cubicBezTo>
                  <a:pt x="104822" y="166371"/>
                  <a:pt x="76787" y="138376"/>
                  <a:pt x="76787" y="103782"/>
                </a:cubicBezTo>
                <a:cubicBezTo>
                  <a:pt x="76787" y="103182"/>
                  <a:pt x="76787" y="102582"/>
                  <a:pt x="76827" y="101982"/>
                </a:cubicBezTo>
                <a:cubicBezTo>
                  <a:pt x="77027" y="94903"/>
                  <a:pt x="82905" y="89344"/>
                  <a:pt x="89984" y="89544"/>
                </a:cubicBezTo>
                <a:cubicBezTo>
                  <a:pt x="97063" y="89744"/>
                  <a:pt x="102622" y="95623"/>
                  <a:pt x="102422" y="102702"/>
                </a:cubicBezTo>
                <a:cubicBezTo>
                  <a:pt x="102422" y="103062"/>
                  <a:pt x="102422" y="103422"/>
                  <a:pt x="102422" y="103742"/>
                </a:cubicBezTo>
                <a:cubicBezTo>
                  <a:pt x="102422" y="124178"/>
                  <a:pt x="118979" y="140735"/>
                  <a:pt x="139416" y="140735"/>
                </a:cubicBezTo>
                <a:cubicBezTo>
                  <a:pt x="149214" y="140735"/>
                  <a:pt x="158612" y="136856"/>
                  <a:pt x="165571" y="129897"/>
                </a:cubicBezTo>
                <a:lnTo>
                  <a:pt x="194006" y="101462"/>
                </a:lnTo>
                <a:cubicBezTo>
                  <a:pt x="200925" y="94543"/>
                  <a:pt x="204844" y="85105"/>
                  <a:pt x="204844" y="75307"/>
                </a:cubicBezTo>
                <a:cubicBezTo>
                  <a:pt x="204844" y="54870"/>
                  <a:pt x="188287" y="38313"/>
                  <a:pt x="167851" y="38313"/>
                </a:cubicBezTo>
                <a:close/>
                <a:moveTo>
                  <a:pt x="110061" y="69308"/>
                </a:moveTo>
                <a:cubicBezTo>
                  <a:pt x="109301" y="68988"/>
                  <a:pt x="108541" y="68548"/>
                  <a:pt x="107861" y="68068"/>
                </a:cubicBezTo>
                <a:cubicBezTo>
                  <a:pt x="102822" y="65469"/>
                  <a:pt x="97063" y="63989"/>
                  <a:pt x="91024" y="63989"/>
                </a:cubicBezTo>
                <a:cubicBezTo>
                  <a:pt x="81226" y="63989"/>
                  <a:pt x="71827" y="67868"/>
                  <a:pt x="64869" y="74827"/>
                </a:cubicBezTo>
                <a:lnTo>
                  <a:pt x="36434" y="103262"/>
                </a:lnTo>
                <a:cubicBezTo>
                  <a:pt x="29515" y="110181"/>
                  <a:pt x="25596" y="119619"/>
                  <a:pt x="25596" y="129417"/>
                </a:cubicBezTo>
                <a:cubicBezTo>
                  <a:pt x="25596" y="149854"/>
                  <a:pt x="42153" y="166411"/>
                  <a:pt x="62589" y="166411"/>
                </a:cubicBezTo>
                <a:cubicBezTo>
                  <a:pt x="69188" y="166411"/>
                  <a:pt x="75627" y="164651"/>
                  <a:pt x="81266" y="161372"/>
                </a:cubicBezTo>
                <a:cubicBezTo>
                  <a:pt x="87585" y="167771"/>
                  <a:pt x="94943" y="173130"/>
                  <a:pt x="103102" y="177169"/>
                </a:cubicBezTo>
                <a:cubicBezTo>
                  <a:pt x="91824" y="186727"/>
                  <a:pt x="77506" y="192046"/>
                  <a:pt x="62589" y="192046"/>
                </a:cubicBezTo>
                <a:cubicBezTo>
                  <a:pt x="28035" y="192046"/>
                  <a:pt x="0" y="164051"/>
                  <a:pt x="0" y="129457"/>
                </a:cubicBezTo>
                <a:cubicBezTo>
                  <a:pt x="0" y="112860"/>
                  <a:pt x="6599" y="96943"/>
                  <a:pt x="18317" y="85225"/>
                </a:cubicBezTo>
                <a:lnTo>
                  <a:pt x="46752" y="56790"/>
                </a:lnTo>
                <a:cubicBezTo>
                  <a:pt x="58470" y="45072"/>
                  <a:pt x="74387" y="38473"/>
                  <a:pt x="90984" y="38473"/>
                </a:cubicBezTo>
                <a:cubicBezTo>
                  <a:pt x="125618" y="38473"/>
                  <a:pt x="153573" y="66708"/>
                  <a:pt x="153573" y="101222"/>
                </a:cubicBezTo>
                <a:cubicBezTo>
                  <a:pt x="153573" y="101742"/>
                  <a:pt x="153573" y="102262"/>
                  <a:pt x="153573" y="102782"/>
                </a:cubicBezTo>
                <a:cubicBezTo>
                  <a:pt x="153413" y="109861"/>
                  <a:pt x="147534" y="115420"/>
                  <a:pt x="140455" y="115260"/>
                </a:cubicBezTo>
                <a:cubicBezTo>
                  <a:pt x="133377" y="115100"/>
                  <a:pt x="127818" y="109221"/>
                  <a:pt x="127978" y="102142"/>
                </a:cubicBezTo>
                <a:cubicBezTo>
                  <a:pt x="127978" y="101822"/>
                  <a:pt x="127978" y="101542"/>
                  <a:pt x="127978" y="101222"/>
                </a:cubicBezTo>
                <a:cubicBezTo>
                  <a:pt x="127978" y="87745"/>
                  <a:pt x="120779" y="75907"/>
                  <a:pt x="110061" y="69388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869293" y="4504812"/>
            <a:ext cx="6723090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零拷贝优化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07649" y="4868837"/>
            <a:ext cx="6973358" cy="29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数据直接在内存中传递，避免创建中间文件，显著减少磁盘I/O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5031" y="6279435"/>
            <a:ext cx="15345937" cy="2411667"/>
          </a:xfrm>
          <a:custGeom>
            <a:avLst/>
            <a:gdLst/>
            <a:ahLst/>
            <a:cxnLst/>
            <a:rect l="l" t="t" r="r" b="b"/>
            <a:pathLst>
              <a:path w="15345937" h="2411667">
                <a:moveTo>
                  <a:pt x="91016" y="0"/>
                </a:moveTo>
                <a:lnTo>
                  <a:pt x="15254921" y="0"/>
                </a:lnTo>
                <a:cubicBezTo>
                  <a:pt x="15305188" y="0"/>
                  <a:pt x="15345937" y="40749"/>
                  <a:pt x="15345937" y="91016"/>
                </a:cubicBezTo>
                <a:lnTo>
                  <a:pt x="15345937" y="2320651"/>
                </a:lnTo>
                <a:cubicBezTo>
                  <a:pt x="15345937" y="2370918"/>
                  <a:pt x="15305188" y="2411667"/>
                  <a:pt x="15254921" y="2411667"/>
                </a:cubicBezTo>
                <a:lnTo>
                  <a:pt x="91016" y="2411667"/>
                </a:lnTo>
                <a:cubicBezTo>
                  <a:pt x="40749" y="2411667"/>
                  <a:pt x="0" y="2370918"/>
                  <a:pt x="0" y="2320651"/>
                </a:cubicBezTo>
                <a:lnTo>
                  <a:pt x="0" y="91016"/>
                </a:lnTo>
                <a:cubicBezTo>
                  <a:pt x="0" y="40783"/>
                  <a:pt x="40783" y="0"/>
                  <a:pt x="91016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65484" y="6506950"/>
            <a:ext cx="227516" cy="227516"/>
          </a:xfrm>
          <a:custGeom>
            <a:avLst/>
            <a:gdLst/>
            <a:ahLst/>
            <a:cxnLst/>
            <a:rect l="l" t="t" r="r" b="b"/>
            <a:pathLst>
              <a:path w="227516" h="227516">
                <a:moveTo>
                  <a:pt x="223339" y="66922"/>
                </a:moveTo>
                <a:lnTo>
                  <a:pt x="180679" y="109581"/>
                </a:lnTo>
                <a:cubicBezTo>
                  <a:pt x="176591" y="113669"/>
                  <a:pt x="170503" y="114869"/>
                  <a:pt x="165171" y="112647"/>
                </a:cubicBezTo>
                <a:cubicBezTo>
                  <a:pt x="159839" y="110425"/>
                  <a:pt x="156417" y="105270"/>
                  <a:pt x="156417" y="99538"/>
                </a:cubicBezTo>
                <a:lnTo>
                  <a:pt x="156417" y="71099"/>
                </a:lnTo>
                <a:lnTo>
                  <a:pt x="14220" y="71099"/>
                </a:lnTo>
                <a:cubicBezTo>
                  <a:pt x="6354" y="71099"/>
                  <a:pt x="0" y="64744"/>
                  <a:pt x="0" y="56879"/>
                </a:cubicBezTo>
                <a:cubicBezTo>
                  <a:pt x="0" y="49014"/>
                  <a:pt x="6354" y="42659"/>
                  <a:pt x="14220" y="42659"/>
                </a:cubicBezTo>
                <a:lnTo>
                  <a:pt x="156417" y="42659"/>
                </a:lnTo>
                <a:lnTo>
                  <a:pt x="156417" y="14220"/>
                </a:lnTo>
                <a:cubicBezTo>
                  <a:pt x="156417" y="8487"/>
                  <a:pt x="159883" y="3288"/>
                  <a:pt x="165216" y="1066"/>
                </a:cubicBezTo>
                <a:cubicBezTo>
                  <a:pt x="170548" y="-1155"/>
                  <a:pt x="176636" y="89"/>
                  <a:pt x="180724" y="4133"/>
                </a:cubicBezTo>
                <a:lnTo>
                  <a:pt x="223383" y="46792"/>
                </a:lnTo>
                <a:cubicBezTo>
                  <a:pt x="228938" y="52346"/>
                  <a:pt x="228938" y="61367"/>
                  <a:pt x="223383" y="66922"/>
                </a:cubicBezTo>
                <a:close/>
                <a:moveTo>
                  <a:pt x="46792" y="223339"/>
                </a:moveTo>
                <a:lnTo>
                  <a:pt x="4133" y="180679"/>
                </a:lnTo>
                <a:cubicBezTo>
                  <a:pt x="-1422" y="175125"/>
                  <a:pt x="-1422" y="166104"/>
                  <a:pt x="4133" y="160550"/>
                </a:cubicBezTo>
                <a:lnTo>
                  <a:pt x="46792" y="117890"/>
                </a:lnTo>
                <a:cubicBezTo>
                  <a:pt x="50880" y="113802"/>
                  <a:pt x="56968" y="112603"/>
                  <a:pt x="62300" y="114824"/>
                </a:cubicBezTo>
                <a:cubicBezTo>
                  <a:pt x="67633" y="117046"/>
                  <a:pt x="71099" y="122245"/>
                  <a:pt x="71099" y="127978"/>
                </a:cubicBezTo>
                <a:lnTo>
                  <a:pt x="71099" y="156417"/>
                </a:lnTo>
                <a:lnTo>
                  <a:pt x="213296" y="156417"/>
                </a:lnTo>
                <a:cubicBezTo>
                  <a:pt x="221161" y="156417"/>
                  <a:pt x="227516" y="162772"/>
                  <a:pt x="227516" y="170637"/>
                </a:cubicBezTo>
                <a:cubicBezTo>
                  <a:pt x="227516" y="178502"/>
                  <a:pt x="221161" y="184857"/>
                  <a:pt x="213296" y="184857"/>
                </a:cubicBezTo>
                <a:lnTo>
                  <a:pt x="71099" y="184857"/>
                </a:lnTo>
                <a:lnTo>
                  <a:pt x="71099" y="213296"/>
                </a:lnTo>
                <a:cubicBezTo>
                  <a:pt x="71099" y="219028"/>
                  <a:pt x="67633" y="224227"/>
                  <a:pt x="62300" y="226449"/>
                </a:cubicBezTo>
                <a:cubicBezTo>
                  <a:pt x="56968" y="228671"/>
                  <a:pt x="50880" y="227427"/>
                  <a:pt x="46792" y="22338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21439" y="6461447"/>
            <a:ext cx="14811275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9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 管道与 MapReduce 的本质联系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7044" y="6916479"/>
            <a:ext cx="7098491" cy="1183082"/>
          </a:xfrm>
          <a:custGeom>
            <a:avLst/>
            <a:gdLst/>
            <a:ahLst/>
            <a:cxnLst/>
            <a:rect l="l" t="t" r="r" b="b"/>
            <a:pathLst>
              <a:path w="7098491" h="1183082">
                <a:moveTo>
                  <a:pt x="91003" y="0"/>
                </a:moveTo>
                <a:lnTo>
                  <a:pt x="7007489" y="0"/>
                </a:lnTo>
                <a:cubicBezTo>
                  <a:pt x="7057748" y="0"/>
                  <a:pt x="7098491" y="40743"/>
                  <a:pt x="7098491" y="91003"/>
                </a:cubicBezTo>
                <a:lnTo>
                  <a:pt x="7098491" y="1092079"/>
                </a:lnTo>
                <a:cubicBezTo>
                  <a:pt x="7098491" y="1142339"/>
                  <a:pt x="7057748" y="1183082"/>
                  <a:pt x="7007489" y="1183082"/>
                </a:cubicBezTo>
                <a:lnTo>
                  <a:pt x="91003" y="1183082"/>
                </a:lnTo>
                <a:cubicBezTo>
                  <a:pt x="40743" y="1183082"/>
                  <a:pt x="0" y="1142339"/>
                  <a:pt x="0" y="1092079"/>
                </a:cubicBezTo>
                <a:lnTo>
                  <a:pt x="0" y="91003"/>
                </a:lnTo>
                <a:cubicBezTo>
                  <a:pt x="0" y="40777"/>
                  <a:pt x="40777" y="0"/>
                  <a:pt x="910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767866" y="7098491"/>
            <a:ext cx="6836848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12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 管道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9057" y="7508020"/>
            <a:ext cx="1968011" cy="409528"/>
          </a:xfrm>
          <a:custGeom>
            <a:avLst/>
            <a:gdLst/>
            <a:ahLst/>
            <a:cxnLst/>
            <a:rect l="l" t="t" r="r" b="b"/>
            <a:pathLst>
              <a:path w="1968011" h="409528">
                <a:moveTo>
                  <a:pt x="45503" y="0"/>
                </a:moveTo>
                <a:lnTo>
                  <a:pt x="1922509" y="0"/>
                </a:lnTo>
                <a:cubicBezTo>
                  <a:pt x="1947639" y="0"/>
                  <a:pt x="1968011" y="20372"/>
                  <a:pt x="1968011" y="45503"/>
                </a:cubicBezTo>
                <a:lnTo>
                  <a:pt x="1968011" y="364026"/>
                </a:lnTo>
                <a:cubicBezTo>
                  <a:pt x="1968011" y="389156"/>
                  <a:pt x="1947639" y="409528"/>
                  <a:pt x="1922509" y="409528"/>
                </a:cubicBezTo>
                <a:lnTo>
                  <a:pt x="45503" y="409528"/>
                </a:lnTo>
                <a:cubicBezTo>
                  <a:pt x="20372" y="409528"/>
                  <a:pt x="0" y="389156"/>
                  <a:pt x="0" y="364026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70248" y="7599026"/>
            <a:ext cx="1865629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awk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2904292" y="7621777"/>
            <a:ext cx="182013" cy="182013"/>
          </a:xfrm>
          <a:custGeom>
            <a:avLst/>
            <a:gdLst/>
            <a:ahLst/>
            <a:cxnLst/>
            <a:rect l="l" t="t" r="r" b="b"/>
            <a:pathLst>
              <a:path w="182013" h="182013">
                <a:moveTo>
                  <a:pt x="178671" y="99040"/>
                </a:moveTo>
                <a:cubicBezTo>
                  <a:pt x="183115" y="94597"/>
                  <a:pt x="183115" y="87380"/>
                  <a:pt x="178671" y="82937"/>
                </a:cubicBezTo>
                <a:lnTo>
                  <a:pt x="121792" y="26058"/>
                </a:lnTo>
                <a:cubicBezTo>
                  <a:pt x="117348" y="21614"/>
                  <a:pt x="110132" y="21614"/>
                  <a:pt x="105688" y="26058"/>
                </a:cubicBezTo>
                <a:cubicBezTo>
                  <a:pt x="101245" y="30501"/>
                  <a:pt x="101245" y="37718"/>
                  <a:pt x="105688" y="42162"/>
                </a:cubicBezTo>
                <a:lnTo>
                  <a:pt x="143157" y="79631"/>
                </a:lnTo>
                <a:lnTo>
                  <a:pt x="11376" y="79631"/>
                </a:lnTo>
                <a:cubicBezTo>
                  <a:pt x="5084" y="79631"/>
                  <a:pt x="0" y="84714"/>
                  <a:pt x="0" y="91006"/>
                </a:cubicBezTo>
                <a:cubicBezTo>
                  <a:pt x="0" y="97299"/>
                  <a:pt x="5084" y="102382"/>
                  <a:pt x="11376" y="102382"/>
                </a:cubicBezTo>
                <a:lnTo>
                  <a:pt x="143157" y="102382"/>
                </a:lnTo>
                <a:lnTo>
                  <a:pt x="105688" y="139851"/>
                </a:lnTo>
                <a:cubicBezTo>
                  <a:pt x="101245" y="144295"/>
                  <a:pt x="101245" y="151511"/>
                  <a:pt x="105688" y="155955"/>
                </a:cubicBezTo>
                <a:cubicBezTo>
                  <a:pt x="110132" y="160399"/>
                  <a:pt x="117348" y="160399"/>
                  <a:pt x="121792" y="155955"/>
                </a:cubicBezTo>
                <a:lnTo>
                  <a:pt x="178671" y="99076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3200062" y="7508020"/>
            <a:ext cx="1968011" cy="409528"/>
          </a:xfrm>
          <a:custGeom>
            <a:avLst/>
            <a:gdLst/>
            <a:ahLst/>
            <a:cxnLst/>
            <a:rect l="l" t="t" r="r" b="b"/>
            <a:pathLst>
              <a:path w="1968011" h="409528">
                <a:moveTo>
                  <a:pt x="45503" y="0"/>
                </a:moveTo>
                <a:lnTo>
                  <a:pt x="1922509" y="0"/>
                </a:lnTo>
                <a:cubicBezTo>
                  <a:pt x="1947639" y="0"/>
                  <a:pt x="1968011" y="20372"/>
                  <a:pt x="1968011" y="45503"/>
                </a:cubicBezTo>
                <a:lnTo>
                  <a:pt x="1968011" y="364026"/>
                </a:lnTo>
                <a:cubicBezTo>
                  <a:pt x="1968011" y="389156"/>
                  <a:pt x="1947639" y="409528"/>
                  <a:pt x="1922509" y="409528"/>
                </a:cubicBezTo>
                <a:lnTo>
                  <a:pt x="45503" y="409528"/>
                </a:lnTo>
                <a:cubicBezTo>
                  <a:pt x="20372" y="409528"/>
                  <a:pt x="0" y="389156"/>
                  <a:pt x="0" y="364026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7A7D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3251253" y="7599026"/>
            <a:ext cx="1865629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285297" y="7621777"/>
            <a:ext cx="182013" cy="182013"/>
          </a:xfrm>
          <a:custGeom>
            <a:avLst/>
            <a:gdLst/>
            <a:ahLst/>
            <a:cxnLst/>
            <a:rect l="l" t="t" r="r" b="b"/>
            <a:pathLst>
              <a:path w="182013" h="182013">
                <a:moveTo>
                  <a:pt x="178671" y="99040"/>
                </a:moveTo>
                <a:cubicBezTo>
                  <a:pt x="183115" y="94597"/>
                  <a:pt x="183115" y="87380"/>
                  <a:pt x="178671" y="82937"/>
                </a:cubicBezTo>
                <a:lnTo>
                  <a:pt x="121792" y="26058"/>
                </a:lnTo>
                <a:cubicBezTo>
                  <a:pt x="117348" y="21614"/>
                  <a:pt x="110132" y="21614"/>
                  <a:pt x="105688" y="26058"/>
                </a:cubicBezTo>
                <a:cubicBezTo>
                  <a:pt x="101245" y="30501"/>
                  <a:pt x="101245" y="37718"/>
                  <a:pt x="105688" y="42162"/>
                </a:cubicBezTo>
                <a:lnTo>
                  <a:pt x="143157" y="79631"/>
                </a:lnTo>
                <a:lnTo>
                  <a:pt x="11376" y="79631"/>
                </a:lnTo>
                <a:cubicBezTo>
                  <a:pt x="5084" y="79631"/>
                  <a:pt x="0" y="84714"/>
                  <a:pt x="0" y="91006"/>
                </a:cubicBezTo>
                <a:cubicBezTo>
                  <a:pt x="0" y="97299"/>
                  <a:pt x="5084" y="102382"/>
                  <a:pt x="11376" y="102382"/>
                </a:cubicBezTo>
                <a:lnTo>
                  <a:pt x="143157" y="102382"/>
                </a:lnTo>
                <a:lnTo>
                  <a:pt x="105688" y="139851"/>
                </a:lnTo>
                <a:cubicBezTo>
                  <a:pt x="101245" y="144295"/>
                  <a:pt x="101245" y="151511"/>
                  <a:pt x="105688" y="155955"/>
                </a:cubicBezTo>
                <a:cubicBezTo>
                  <a:pt x="110132" y="160399"/>
                  <a:pt x="117348" y="160399"/>
                  <a:pt x="121792" y="155955"/>
                </a:cubicBezTo>
                <a:lnTo>
                  <a:pt x="178671" y="99076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5581068" y="7508020"/>
            <a:ext cx="1968011" cy="409528"/>
          </a:xfrm>
          <a:custGeom>
            <a:avLst/>
            <a:gdLst/>
            <a:ahLst/>
            <a:cxnLst/>
            <a:rect l="l" t="t" r="r" b="b"/>
            <a:pathLst>
              <a:path w="1968011" h="409528">
                <a:moveTo>
                  <a:pt x="45503" y="0"/>
                </a:moveTo>
                <a:lnTo>
                  <a:pt x="1922509" y="0"/>
                </a:lnTo>
                <a:cubicBezTo>
                  <a:pt x="1947639" y="0"/>
                  <a:pt x="1968011" y="20372"/>
                  <a:pt x="1968011" y="45503"/>
                </a:cubicBezTo>
                <a:lnTo>
                  <a:pt x="1968011" y="364026"/>
                </a:lnTo>
                <a:cubicBezTo>
                  <a:pt x="1968011" y="389156"/>
                  <a:pt x="1947639" y="409528"/>
                  <a:pt x="1922509" y="409528"/>
                </a:cubicBezTo>
                <a:lnTo>
                  <a:pt x="45503" y="409528"/>
                </a:lnTo>
                <a:cubicBezTo>
                  <a:pt x="20372" y="409528"/>
                  <a:pt x="0" y="389156"/>
                  <a:pt x="0" y="364026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632259" y="7599026"/>
            <a:ext cx="1865629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awk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962073" y="7343071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335008" y="271019"/>
                </a:moveTo>
                <a:lnTo>
                  <a:pt x="271019" y="335008"/>
                </a:lnTo>
                <a:cubicBezTo>
                  <a:pt x="264887" y="341140"/>
                  <a:pt x="255755" y="342940"/>
                  <a:pt x="247757" y="339607"/>
                </a:cubicBezTo>
                <a:cubicBezTo>
                  <a:pt x="239758" y="336274"/>
                  <a:pt x="234626" y="328543"/>
                  <a:pt x="234626" y="319944"/>
                </a:cubicBezTo>
                <a:lnTo>
                  <a:pt x="234626" y="277285"/>
                </a:lnTo>
                <a:lnTo>
                  <a:pt x="21330" y="277285"/>
                </a:lnTo>
                <a:cubicBezTo>
                  <a:pt x="9532" y="277285"/>
                  <a:pt x="0" y="267753"/>
                  <a:pt x="0" y="255955"/>
                </a:cubicBezTo>
                <a:cubicBezTo>
                  <a:pt x="0" y="244157"/>
                  <a:pt x="9532" y="234626"/>
                  <a:pt x="21330" y="234626"/>
                </a:cubicBezTo>
                <a:lnTo>
                  <a:pt x="234626" y="234626"/>
                </a:lnTo>
                <a:lnTo>
                  <a:pt x="234626" y="191966"/>
                </a:lnTo>
                <a:cubicBezTo>
                  <a:pt x="234626" y="183368"/>
                  <a:pt x="239825" y="175569"/>
                  <a:pt x="247823" y="172237"/>
                </a:cubicBezTo>
                <a:cubicBezTo>
                  <a:pt x="255822" y="168904"/>
                  <a:pt x="264954" y="170770"/>
                  <a:pt x="271086" y="176836"/>
                </a:cubicBezTo>
                <a:lnTo>
                  <a:pt x="335075" y="240825"/>
                </a:lnTo>
                <a:cubicBezTo>
                  <a:pt x="343407" y="249156"/>
                  <a:pt x="343407" y="262687"/>
                  <a:pt x="335075" y="271019"/>
                </a:cubicBezTo>
                <a:close/>
                <a:moveTo>
                  <a:pt x="6266" y="100382"/>
                </a:moveTo>
                <a:cubicBezTo>
                  <a:pt x="-2066" y="92051"/>
                  <a:pt x="-2066" y="78520"/>
                  <a:pt x="6266" y="70188"/>
                </a:cubicBezTo>
                <a:lnTo>
                  <a:pt x="70254" y="6199"/>
                </a:lnTo>
                <a:cubicBezTo>
                  <a:pt x="76387" y="67"/>
                  <a:pt x="85518" y="-1733"/>
                  <a:pt x="93517" y="1600"/>
                </a:cubicBezTo>
                <a:cubicBezTo>
                  <a:pt x="101516" y="4932"/>
                  <a:pt x="106648" y="12731"/>
                  <a:pt x="106648" y="21330"/>
                </a:cubicBezTo>
                <a:lnTo>
                  <a:pt x="106648" y="63989"/>
                </a:lnTo>
                <a:lnTo>
                  <a:pt x="319944" y="63989"/>
                </a:lnTo>
                <a:cubicBezTo>
                  <a:pt x="331742" y="63989"/>
                  <a:pt x="341274" y="73520"/>
                  <a:pt x="341274" y="85318"/>
                </a:cubicBezTo>
                <a:cubicBezTo>
                  <a:pt x="341274" y="97116"/>
                  <a:pt x="331742" y="106648"/>
                  <a:pt x="319944" y="106648"/>
                </a:cubicBezTo>
                <a:lnTo>
                  <a:pt x="106648" y="106648"/>
                </a:lnTo>
                <a:lnTo>
                  <a:pt x="106648" y="149307"/>
                </a:lnTo>
                <a:cubicBezTo>
                  <a:pt x="106648" y="157906"/>
                  <a:pt x="101449" y="165704"/>
                  <a:pt x="93450" y="169037"/>
                </a:cubicBezTo>
                <a:cubicBezTo>
                  <a:pt x="85452" y="172370"/>
                  <a:pt x="76320" y="170503"/>
                  <a:pt x="70188" y="164438"/>
                </a:cubicBezTo>
                <a:lnTo>
                  <a:pt x="6199" y="100449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525175" y="6916479"/>
            <a:ext cx="7098491" cy="1183082"/>
          </a:xfrm>
          <a:custGeom>
            <a:avLst/>
            <a:gdLst/>
            <a:ahLst/>
            <a:cxnLst/>
            <a:rect l="l" t="t" r="r" b="b"/>
            <a:pathLst>
              <a:path w="7098491" h="1183082">
                <a:moveTo>
                  <a:pt x="91003" y="0"/>
                </a:moveTo>
                <a:lnTo>
                  <a:pt x="7007489" y="0"/>
                </a:lnTo>
                <a:cubicBezTo>
                  <a:pt x="7057748" y="0"/>
                  <a:pt x="7098491" y="40743"/>
                  <a:pt x="7098491" y="91003"/>
                </a:cubicBezTo>
                <a:lnTo>
                  <a:pt x="7098491" y="1092079"/>
                </a:lnTo>
                <a:cubicBezTo>
                  <a:pt x="7098491" y="1142339"/>
                  <a:pt x="7057748" y="1183082"/>
                  <a:pt x="7007489" y="1183082"/>
                </a:cubicBezTo>
                <a:lnTo>
                  <a:pt x="91003" y="1183082"/>
                </a:lnTo>
                <a:cubicBezTo>
                  <a:pt x="40743" y="1183082"/>
                  <a:pt x="0" y="1142339"/>
                  <a:pt x="0" y="1092079"/>
                </a:cubicBezTo>
                <a:lnTo>
                  <a:pt x="0" y="91003"/>
                </a:lnTo>
                <a:cubicBezTo>
                  <a:pt x="0" y="40777"/>
                  <a:pt x="40777" y="0"/>
                  <a:pt x="910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655997" y="7098491"/>
            <a:ext cx="6836848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12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707188" y="7508020"/>
            <a:ext cx="1968011" cy="409528"/>
          </a:xfrm>
          <a:custGeom>
            <a:avLst/>
            <a:gdLst/>
            <a:ahLst/>
            <a:cxnLst/>
            <a:rect l="l" t="t" r="r" b="b"/>
            <a:pathLst>
              <a:path w="1968011" h="409528">
                <a:moveTo>
                  <a:pt x="45503" y="0"/>
                </a:moveTo>
                <a:lnTo>
                  <a:pt x="1922509" y="0"/>
                </a:lnTo>
                <a:cubicBezTo>
                  <a:pt x="1947639" y="0"/>
                  <a:pt x="1968011" y="20372"/>
                  <a:pt x="1968011" y="45503"/>
                </a:cubicBezTo>
                <a:lnTo>
                  <a:pt x="1968011" y="364026"/>
                </a:lnTo>
                <a:cubicBezTo>
                  <a:pt x="1968011" y="389156"/>
                  <a:pt x="1947639" y="409528"/>
                  <a:pt x="1922509" y="409528"/>
                </a:cubicBezTo>
                <a:lnTo>
                  <a:pt x="45503" y="409528"/>
                </a:lnTo>
                <a:cubicBezTo>
                  <a:pt x="20372" y="409528"/>
                  <a:pt x="0" y="389156"/>
                  <a:pt x="0" y="364026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758379" y="7599026"/>
            <a:ext cx="1865629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792423" y="7621777"/>
            <a:ext cx="182013" cy="182013"/>
          </a:xfrm>
          <a:custGeom>
            <a:avLst/>
            <a:gdLst/>
            <a:ahLst/>
            <a:cxnLst/>
            <a:rect l="l" t="t" r="r" b="b"/>
            <a:pathLst>
              <a:path w="182013" h="182013">
                <a:moveTo>
                  <a:pt x="178671" y="99040"/>
                </a:moveTo>
                <a:cubicBezTo>
                  <a:pt x="183115" y="94597"/>
                  <a:pt x="183115" y="87380"/>
                  <a:pt x="178671" y="82937"/>
                </a:cubicBezTo>
                <a:lnTo>
                  <a:pt x="121792" y="26058"/>
                </a:lnTo>
                <a:cubicBezTo>
                  <a:pt x="117348" y="21614"/>
                  <a:pt x="110132" y="21614"/>
                  <a:pt x="105688" y="26058"/>
                </a:cubicBezTo>
                <a:cubicBezTo>
                  <a:pt x="101245" y="30501"/>
                  <a:pt x="101245" y="37718"/>
                  <a:pt x="105688" y="42162"/>
                </a:cubicBezTo>
                <a:lnTo>
                  <a:pt x="143157" y="79631"/>
                </a:lnTo>
                <a:lnTo>
                  <a:pt x="11376" y="79631"/>
                </a:lnTo>
                <a:cubicBezTo>
                  <a:pt x="5084" y="79631"/>
                  <a:pt x="0" y="84714"/>
                  <a:pt x="0" y="91006"/>
                </a:cubicBezTo>
                <a:cubicBezTo>
                  <a:pt x="0" y="97299"/>
                  <a:pt x="5084" y="102382"/>
                  <a:pt x="11376" y="102382"/>
                </a:cubicBezTo>
                <a:lnTo>
                  <a:pt x="143157" y="102382"/>
                </a:lnTo>
                <a:lnTo>
                  <a:pt x="105688" y="139851"/>
                </a:lnTo>
                <a:cubicBezTo>
                  <a:pt x="101245" y="144295"/>
                  <a:pt x="101245" y="151511"/>
                  <a:pt x="105688" y="155955"/>
                </a:cubicBezTo>
                <a:cubicBezTo>
                  <a:pt x="110132" y="160399"/>
                  <a:pt x="117348" y="160399"/>
                  <a:pt x="121792" y="155955"/>
                </a:cubicBezTo>
                <a:lnTo>
                  <a:pt x="178671" y="99076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1088193" y="7508020"/>
            <a:ext cx="1968011" cy="409528"/>
          </a:xfrm>
          <a:custGeom>
            <a:avLst/>
            <a:gdLst/>
            <a:ahLst/>
            <a:cxnLst/>
            <a:rect l="l" t="t" r="r" b="b"/>
            <a:pathLst>
              <a:path w="1968011" h="409528">
                <a:moveTo>
                  <a:pt x="45503" y="0"/>
                </a:moveTo>
                <a:lnTo>
                  <a:pt x="1922509" y="0"/>
                </a:lnTo>
                <a:cubicBezTo>
                  <a:pt x="1947639" y="0"/>
                  <a:pt x="1968011" y="20372"/>
                  <a:pt x="1968011" y="45503"/>
                </a:cubicBezTo>
                <a:lnTo>
                  <a:pt x="1968011" y="364026"/>
                </a:lnTo>
                <a:cubicBezTo>
                  <a:pt x="1968011" y="389156"/>
                  <a:pt x="1947639" y="409528"/>
                  <a:pt x="1922509" y="409528"/>
                </a:cubicBezTo>
                <a:lnTo>
                  <a:pt x="45503" y="409528"/>
                </a:lnTo>
                <a:cubicBezTo>
                  <a:pt x="20372" y="409528"/>
                  <a:pt x="0" y="389156"/>
                  <a:pt x="0" y="364026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7A7D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1139384" y="7599026"/>
            <a:ext cx="1865629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3173428" y="7621777"/>
            <a:ext cx="182013" cy="182013"/>
          </a:xfrm>
          <a:custGeom>
            <a:avLst/>
            <a:gdLst/>
            <a:ahLst/>
            <a:cxnLst/>
            <a:rect l="l" t="t" r="r" b="b"/>
            <a:pathLst>
              <a:path w="182013" h="182013">
                <a:moveTo>
                  <a:pt x="178671" y="99040"/>
                </a:moveTo>
                <a:cubicBezTo>
                  <a:pt x="183115" y="94597"/>
                  <a:pt x="183115" y="87380"/>
                  <a:pt x="178671" y="82937"/>
                </a:cubicBezTo>
                <a:lnTo>
                  <a:pt x="121792" y="26058"/>
                </a:lnTo>
                <a:cubicBezTo>
                  <a:pt x="117348" y="21614"/>
                  <a:pt x="110132" y="21614"/>
                  <a:pt x="105688" y="26058"/>
                </a:cubicBezTo>
                <a:cubicBezTo>
                  <a:pt x="101245" y="30501"/>
                  <a:pt x="101245" y="37718"/>
                  <a:pt x="105688" y="42162"/>
                </a:cubicBezTo>
                <a:lnTo>
                  <a:pt x="143157" y="79631"/>
                </a:lnTo>
                <a:lnTo>
                  <a:pt x="11376" y="79631"/>
                </a:lnTo>
                <a:cubicBezTo>
                  <a:pt x="5084" y="79631"/>
                  <a:pt x="0" y="84714"/>
                  <a:pt x="0" y="91006"/>
                </a:cubicBezTo>
                <a:cubicBezTo>
                  <a:pt x="0" y="97299"/>
                  <a:pt x="5084" y="102382"/>
                  <a:pt x="11376" y="102382"/>
                </a:cubicBezTo>
                <a:lnTo>
                  <a:pt x="143157" y="102382"/>
                </a:lnTo>
                <a:lnTo>
                  <a:pt x="105688" y="139851"/>
                </a:lnTo>
                <a:cubicBezTo>
                  <a:pt x="101245" y="144295"/>
                  <a:pt x="101245" y="151511"/>
                  <a:pt x="105688" y="155955"/>
                </a:cubicBezTo>
                <a:cubicBezTo>
                  <a:pt x="110132" y="160399"/>
                  <a:pt x="117348" y="160399"/>
                  <a:pt x="121792" y="155955"/>
                </a:cubicBezTo>
                <a:lnTo>
                  <a:pt x="178671" y="99076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3469199" y="7508020"/>
            <a:ext cx="1968011" cy="409528"/>
          </a:xfrm>
          <a:custGeom>
            <a:avLst/>
            <a:gdLst/>
            <a:ahLst/>
            <a:cxnLst/>
            <a:rect l="l" t="t" r="r" b="b"/>
            <a:pathLst>
              <a:path w="1968011" h="409528">
                <a:moveTo>
                  <a:pt x="45503" y="0"/>
                </a:moveTo>
                <a:lnTo>
                  <a:pt x="1922509" y="0"/>
                </a:lnTo>
                <a:cubicBezTo>
                  <a:pt x="1947639" y="0"/>
                  <a:pt x="1968011" y="20372"/>
                  <a:pt x="1968011" y="45503"/>
                </a:cubicBezTo>
                <a:lnTo>
                  <a:pt x="1968011" y="364026"/>
                </a:lnTo>
                <a:cubicBezTo>
                  <a:pt x="1968011" y="389156"/>
                  <a:pt x="1947639" y="409528"/>
                  <a:pt x="1922509" y="409528"/>
                </a:cubicBezTo>
                <a:lnTo>
                  <a:pt x="45503" y="409528"/>
                </a:lnTo>
                <a:cubicBezTo>
                  <a:pt x="20372" y="409528"/>
                  <a:pt x="0" y="389156"/>
                  <a:pt x="0" y="364026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3520390" y="7599026"/>
            <a:ext cx="1865629" cy="22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91541" y="8236070"/>
            <a:ext cx="15072918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Unix管道是</a:t>
            </a:r>
            <a:r>
              <a:rPr lang="en-US" sz="14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单机版</a:t>
            </a:r>
            <a:r>
              <a:rPr lang="en-US" sz="14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的MapReduce思想，两者都体现了"分而治之"和"数据流式处理"的设计哲学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83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kern="0" spc="11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02 · Limitations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19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Unix 方法的局限性：为什么需要分布式计算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270000"/>
            <a:ext cx="1185333" cy="42333"/>
          </a:xfrm>
          <a:custGeom>
            <a:avLst/>
            <a:gdLst/>
            <a:ahLst/>
            <a:cxnLst/>
            <a:rect l="l" t="t" r="r" b="b"/>
            <a:pathLst>
              <a:path w="1185333" h="42333">
                <a:moveTo>
                  <a:pt x="0" y="0"/>
                </a:moveTo>
                <a:lnTo>
                  <a:pt x="1185333" y="0"/>
                </a:lnTo>
                <a:lnTo>
                  <a:pt x="1185333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23333" y="1502833"/>
            <a:ext cx="3725333" cy="1926167"/>
          </a:xfrm>
          <a:custGeom>
            <a:avLst/>
            <a:gdLst/>
            <a:ahLst/>
            <a:cxnLst/>
            <a:rect l="l" t="t" r="r" b="b"/>
            <a:pathLst>
              <a:path w="3725333" h="1926167">
                <a:moveTo>
                  <a:pt x="42333" y="0"/>
                </a:moveTo>
                <a:lnTo>
                  <a:pt x="3683000" y="0"/>
                </a:lnTo>
                <a:cubicBezTo>
                  <a:pt x="3706380" y="0"/>
                  <a:pt x="3725333" y="18953"/>
                  <a:pt x="3725333" y="42333"/>
                </a:cubicBezTo>
                <a:lnTo>
                  <a:pt x="3725333" y="1841492"/>
                </a:lnTo>
                <a:cubicBezTo>
                  <a:pt x="3725333" y="1888257"/>
                  <a:pt x="3687423" y="1926167"/>
                  <a:pt x="3640659" y="1926167"/>
                </a:cubicBezTo>
                <a:lnTo>
                  <a:pt x="84674" y="1926167"/>
                </a:lnTo>
                <a:cubicBezTo>
                  <a:pt x="37910" y="1926167"/>
                  <a:pt x="0" y="1888257"/>
                  <a:pt x="0" y="1841492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23333" y="1502833"/>
            <a:ext cx="3725333" cy="42333"/>
          </a:xfrm>
          <a:custGeom>
            <a:avLst/>
            <a:gdLst/>
            <a:ahLst/>
            <a:cxnLst/>
            <a:rect l="l" t="t" r="r" b="b"/>
            <a:pathLst>
              <a:path w="3725333" h="42333">
                <a:moveTo>
                  <a:pt x="42333" y="0"/>
                </a:moveTo>
                <a:lnTo>
                  <a:pt x="3683000" y="0"/>
                </a:lnTo>
                <a:cubicBezTo>
                  <a:pt x="3706380" y="0"/>
                  <a:pt x="3725333" y="18953"/>
                  <a:pt x="3725333" y="42333"/>
                </a:cubicBezTo>
                <a:lnTo>
                  <a:pt x="37253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92667" y="169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54063" y="1841500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26458" y="13229"/>
                </a:moveTo>
                <a:cubicBezTo>
                  <a:pt x="11865" y="13229"/>
                  <a:pt x="0" y="25094"/>
                  <a:pt x="0" y="39688"/>
                </a:cubicBezTo>
                <a:lnTo>
                  <a:pt x="0" y="66146"/>
                </a:lnTo>
                <a:cubicBezTo>
                  <a:pt x="0" y="80739"/>
                  <a:pt x="11865" y="92604"/>
                  <a:pt x="26458" y="92604"/>
                </a:cubicBezTo>
                <a:lnTo>
                  <a:pt x="158750" y="92604"/>
                </a:lnTo>
                <a:cubicBezTo>
                  <a:pt x="173343" y="92604"/>
                  <a:pt x="185208" y="80739"/>
                  <a:pt x="185208" y="66146"/>
                </a:cubicBezTo>
                <a:lnTo>
                  <a:pt x="185208" y="39688"/>
                </a:lnTo>
                <a:cubicBezTo>
                  <a:pt x="185208" y="25094"/>
                  <a:pt x="173343" y="13229"/>
                  <a:pt x="158750" y="13229"/>
                </a:cubicBezTo>
                <a:lnTo>
                  <a:pt x="26458" y="13229"/>
                </a:lnTo>
                <a:close/>
                <a:moveTo>
                  <a:pt x="115755" y="42995"/>
                </a:moveTo>
                <a:cubicBezTo>
                  <a:pt x="121231" y="42995"/>
                  <a:pt x="125677" y="47441"/>
                  <a:pt x="125677" y="52917"/>
                </a:cubicBezTo>
                <a:cubicBezTo>
                  <a:pt x="125677" y="58393"/>
                  <a:pt x="121231" y="62839"/>
                  <a:pt x="115755" y="62839"/>
                </a:cubicBezTo>
                <a:cubicBezTo>
                  <a:pt x="110279" y="62839"/>
                  <a:pt x="105833" y="58393"/>
                  <a:pt x="105833" y="52917"/>
                </a:cubicBezTo>
                <a:cubicBezTo>
                  <a:pt x="105833" y="47441"/>
                  <a:pt x="110279" y="42995"/>
                  <a:pt x="115755" y="42995"/>
                </a:cubicBezTo>
                <a:close/>
                <a:moveTo>
                  <a:pt x="138906" y="52917"/>
                </a:moveTo>
                <a:cubicBezTo>
                  <a:pt x="138906" y="47441"/>
                  <a:pt x="143352" y="42995"/>
                  <a:pt x="148828" y="42995"/>
                </a:cubicBezTo>
                <a:cubicBezTo>
                  <a:pt x="154304" y="42995"/>
                  <a:pt x="158750" y="47441"/>
                  <a:pt x="158750" y="52917"/>
                </a:cubicBezTo>
                <a:cubicBezTo>
                  <a:pt x="158750" y="58393"/>
                  <a:pt x="154304" y="62839"/>
                  <a:pt x="148828" y="62839"/>
                </a:cubicBezTo>
                <a:cubicBezTo>
                  <a:pt x="143352" y="62839"/>
                  <a:pt x="138906" y="58393"/>
                  <a:pt x="138906" y="52917"/>
                </a:cubicBezTo>
                <a:close/>
                <a:moveTo>
                  <a:pt x="26458" y="119063"/>
                </a:moveTo>
                <a:cubicBezTo>
                  <a:pt x="11865" y="119063"/>
                  <a:pt x="0" y="130927"/>
                  <a:pt x="0" y="145521"/>
                </a:cubicBezTo>
                <a:lnTo>
                  <a:pt x="0" y="171979"/>
                </a:lnTo>
                <a:cubicBezTo>
                  <a:pt x="0" y="186573"/>
                  <a:pt x="11865" y="198438"/>
                  <a:pt x="26458" y="198438"/>
                </a:cubicBezTo>
                <a:lnTo>
                  <a:pt x="158750" y="198438"/>
                </a:lnTo>
                <a:cubicBezTo>
                  <a:pt x="173343" y="198438"/>
                  <a:pt x="185208" y="186573"/>
                  <a:pt x="185208" y="171979"/>
                </a:cubicBezTo>
                <a:lnTo>
                  <a:pt x="185208" y="145521"/>
                </a:lnTo>
                <a:cubicBezTo>
                  <a:pt x="185208" y="130927"/>
                  <a:pt x="173343" y="119063"/>
                  <a:pt x="158750" y="119063"/>
                </a:cubicBezTo>
                <a:lnTo>
                  <a:pt x="26458" y="119063"/>
                </a:lnTo>
                <a:close/>
                <a:moveTo>
                  <a:pt x="115755" y="148828"/>
                </a:moveTo>
                <a:cubicBezTo>
                  <a:pt x="121231" y="148828"/>
                  <a:pt x="125677" y="153274"/>
                  <a:pt x="125677" y="158750"/>
                </a:cubicBezTo>
                <a:cubicBezTo>
                  <a:pt x="125677" y="164226"/>
                  <a:pt x="121231" y="168672"/>
                  <a:pt x="115755" y="168672"/>
                </a:cubicBezTo>
                <a:cubicBezTo>
                  <a:pt x="110279" y="168672"/>
                  <a:pt x="105833" y="164226"/>
                  <a:pt x="105833" y="158750"/>
                </a:cubicBezTo>
                <a:cubicBezTo>
                  <a:pt x="105833" y="153274"/>
                  <a:pt x="110279" y="148828"/>
                  <a:pt x="115755" y="148828"/>
                </a:cubicBezTo>
                <a:close/>
                <a:moveTo>
                  <a:pt x="138906" y="158750"/>
                </a:moveTo>
                <a:cubicBezTo>
                  <a:pt x="138906" y="153274"/>
                  <a:pt x="143352" y="148828"/>
                  <a:pt x="148828" y="148828"/>
                </a:cubicBezTo>
                <a:cubicBezTo>
                  <a:pt x="154304" y="148828"/>
                  <a:pt x="158750" y="153274"/>
                  <a:pt x="158750" y="158750"/>
                </a:cubicBezTo>
                <a:cubicBezTo>
                  <a:pt x="158750" y="164226"/>
                  <a:pt x="154304" y="168672"/>
                  <a:pt x="148828" y="168672"/>
                </a:cubicBezTo>
                <a:cubicBezTo>
                  <a:pt x="143352" y="168672"/>
                  <a:pt x="138906" y="164226"/>
                  <a:pt x="138906" y="15875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92667" y="2328333"/>
            <a:ext cx="3481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单机处理限制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2667" y="2709333"/>
            <a:ext cx="3471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受单台机器的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内存和CPU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限制，无法处理TB级别的数据集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8000" y="1502833"/>
            <a:ext cx="3725333" cy="1926167"/>
          </a:xfrm>
          <a:custGeom>
            <a:avLst/>
            <a:gdLst/>
            <a:ahLst/>
            <a:cxnLst/>
            <a:rect l="l" t="t" r="r" b="b"/>
            <a:pathLst>
              <a:path w="3725333" h="1926167">
                <a:moveTo>
                  <a:pt x="42333" y="0"/>
                </a:moveTo>
                <a:lnTo>
                  <a:pt x="3683000" y="0"/>
                </a:lnTo>
                <a:cubicBezTo>
                  <a:pt x="3706380" y="0"/>
                  <a:pt x="3725333" y="18953"/>
                  <a:pt x="3725333" y="42333"/>
                </a:cubicBezTo>
                <a:lnTo>
                  <a:pt x="3725333" y="1841492"/>
                </a:lnTo>
                <a:cubicBezTo>
                  <a:pt x="3725333" y="1888257"/>
                  <a:pt x="3687423" y="1926167"/>
                  <a:pt x="3640659" y="1926167"/>
                </a:cubicBezTo>
                <a:lnTo>
                  <a:pt x="84674" y="1926167"/>
                </a:lnTo>
                <a:cubicBezTo>
                  <a:pt x="37910" y="1926167"/>
                  <a:pt x="0" y="1888257"/>
                  <a:pt x="0" y="1841492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18000" y="1502833"/>
            <a:ext cx="3725333" cy="42333"/>
          </a:xfrm>
          <a:custGeom>
            <a:avLst/>
            <a:gdLst/>
            <a:ahLst/>
            <a:cxnLst/>
            <a:rect l="l" t="t" r="r" b="b"/>
            <a:pathLst>
              <a:path w="3725333" h="42333">
                <a:moveTo>
                  <a:pt x="42333" y="0"/>
                </a:moveTo>
                <a:lnTo>
                  <a:pt x="3683000" y="0"/>
                </a:lnTo>
                <a:cubicBezTo>
                  <a:pt x="3706380" y="0"/>
                  <a:pt x="3725333" y="18953"/>
                  <a:pt x="3725333" y="42333"/>
                </a:cubicBezTo>
                <a:lnTo>
                  <a:pt x="37253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487333" y="169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635500" y="184150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0"/>
                </a:moveTo>
                <a:cubicBezTo>
                  <a:pt x="111910" y="0"/>
                  <a:pt x="117492" y="3349"/>
                  <a:pt x="120385" y="8682"/>
                </a:cubicBezTo>
                <a:lnTo>
                  <a:pt x="209682" y="174046"/>
                </a:lnTo>
                <a:cubicBezTo>
                  <a:pt x="212452" y="179173"/>
                  <a:pt x="212328" y="185374"/>
                  <a:pt x="209352" y="190376"/>
                </a:cubicBezTo>
                <a:cubicBezTo>
                  <a:pt x="206375" y="195378"/>
                  <a:pt x="200959" y="198438"/>
                  <a:pt x="195130" y="198438"/>
                </a:cubicBezTo>
                <a:lnTo>
                  <a:pt x="16536" y="198438"/>
                </a:lnTo>
                <a:cubicBezTo>
                  <a:pt x="10707" y="198438"/>
                  <a:pt x="5333" y="195378"/>
                  <a:pt x="2315" y="190376"/>
                </a:cubicBezTo>
                <a:cubicBezTo>
                  <a:pt x="-703" y="185374"/>
                  <a:pt x="-785" y="179173"/>
                  <a:pt x="1984" y="174046"/>
                </a:cubicBezTo>
                <a:lnTo>
                  <a:pt x="91281" y="8682"/>
                </a:lnTo>
                <a:cubicBezTo>
                  <a:pt x="94175" y="3349"/>
                  <a:pt x="99756" y="0"/>
                  <a:pt x="105833" y="0"/>
                </a:cubicBezTo>
                <a:close/>
                <a:moveTo>
                  <a:pt x="105833" y="69453"/>
                </a:moveTo>
                <a:cubicBezTo>
                  <a:pt x="100335" y="69453"/>
                  <a:pt x="95911" y="73877"/>
                  <a:pt x="95911" y="79375"/>
                </a:cubicBezTo>
                <a:lnTo>
                  <a:pt x="95911" y="125677"/>
                </a:lnTo>
                <a:cubicBezTo>
                  <a:pt x="95911" y="131175"/>
                  <a:pt x="100335" y="135599"/>
                  <a:pt x="105833" y="135599"/>
                </a:cubicBezTo>
                <a:cubicBezTo>
                  <a:pt x="111332" y="135599"/>
                  <a:pt x="115755" y="131175"/>
                  <a:pt x="115755" y="125677"/>
                </a:cubicBezTo>
                <a:lnTo>
                  <a:pt x="115755" y="79375"/>
                </a:lnTo>
                <a:cubicBezTo>
                  <a:pt x="115755" y="73877"/>
                  <a:pt x="111332" y="69453"/>
                  <a:pt x="105833" y="69453"/>
                </a:cubicBezTo>
                <a:close/>
                <a:moveTo>
                  <a:pt x="116871" y="158750"/>
                </a:moveTo>
                <a:cubicBezTo>
                  <a:pt x="117123" y="154653"/>
                  <a:pt x="115079" y="150755"/>
                  <a:pt x="111567" y="148630"/>
                </a:cubicBezTo>
                <a:cubicBezTo>
                  <a:pt x="108055" y="146506"/>
                  <a:pt x="103653" y="146506"/>
                  <a:pt x="100141" y="148630"/>
                </a:cubicBezTo>
                <a:cubicBezTo>
                  <a:pt x="96629" y="150755"/>
                  <a:pt x="94585" y="154653"/>
                  <a:pt x="94837" y="158750"/>
                </a:cubicBezTo>
                <a:cubicBezTo>
                  <a:pt x="94585" y="162847"/>
                  <a:pt x="96629" y="166745"/>
                  <a:pt x="100141" y="168870"/>
                </a:cubicBezTo>
                <a:cubicBezTo>
                  <a:pt x="103653" y="170994"/>
                  <a:pt x="108055" y="170994"/>
                  <a:pt x="111567" y="168870"/>
                </a:cubicBezTo>
                <a:cubicBezTo>
                  <a:pt x="115079" y="166745"/>
                  <a:pt x="117123" y="162847"/>
                  <a:pt x="116871" y="15875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487333" y="2328333"/>
            <a:ext cx="3481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容错能力不足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7333" y="2709333"/>
            <a:ext cx="3471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如果处理过程中出现故障，需要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重新开始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，没有自动恢复机制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12667" y="1502833"/>
            <a:ext cx="3725333" cy="1926167"/>
          </a:xfrm>
          <a:custGeom>
            <a:avLst/>
            <a:gdLst/>
            <a:ahLst/>
            <a:cxnLst/>
            <a:rect l="l" t="t" r="r" b="b"/>
            <a:pathLst>
              <a:path w="3725333" h="1926167">
                <a:moveTo>
                  <a:pt x="42333" y="0"/>
                </a:moveTo>
                <a:lnTo>
                  <a:pt x="3683000" y="0"/>
                </a:lnTo>
                <a:cubicBezTo>
                  <a:pt x="3706380" y="0"/>
                  <a:pt x="3725333" y="18953"/>
                  <a:pt x="3725333" y="42333"/>
                </a:cubicBezTo>
                <a:lnTo>
                  <a:pt x="3725333" y="1841492"/>
                </a:lnTo>
                <a:cubicBezTo>
                  <a:pt x="3725333" y="1888257"/>
                  <a:pt x="3687423" y="1926167"/>
                  <a:pt x="3640659" y="1926167"/>
                </a:cubicBezTo>
                <a:lnTo>
                  <a:pt x="84674" y="1926167"/>
                </a:lnTo>
                <a:cubicBezTo>
                  <a:pt x="37910" y="1926167"/>
                  <a:pt x="0" y="1888257"/>
                  <a:pt x="0" y="1841492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212667" y="1502833"/>
            <a:ext cx="3725333" cy="42333"/>
          </a:xfrm>
          <a:custGeom>
            <a:avLst/>
            <a:gdLst/>
            <a:ahLst/>
            <a:cxnLst/>
            <a:rect l="l" t="t" r="r" b="b"/>
            <a:pathLst>
              <a:path w="3725333" h="42333">
                <a:moveTo>
                  <a:pt x="42333" y="0"/>
                </a:moveTo>
                <a:lnTo>
                  <a:pt x="3683000" y="0"/>
                </a:lnTo>
                <a:cubicBezTo>
                  <a:pt x="3706380" y="0"/>
                  <a:pt x="3725333" y="18953"/>
                  <a:pt x="3725333" y="42333"/>
                </a:cubicBezTo>
                <a:lnTo>
                  <a:pt x="37253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382000" y="169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530167" y="184150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6458" y="26458"/>
                </a:moveTo>
                <a:cubicBezTo>
                  <a:pt x="26458" y="19141"/>
                  <a:pt x="20547" y="13229"/>
                  <a:pt x="13229" y="13229"/>
                </a:cubicBezTo>
                <a:cubicBezTo>
                  <a:pt x="5912" y="13229"/>
                  <a:pt x="0" y="19141"/>
                  <a:pt x="0" y="26458"/>
                </a:cubicBezTo>
                <a:lnTo>
                  <a:pt x="0" y="165365"/>
                </a:lnTo>
                <a:cubicBezTo>
                  <a:pt x="0" y="183637"/>
                  <a:pt x="14800" y="198438"/>
                  <a:pt x="33073" y="198438"/>
                </a:cubicBezTo>
                <a:lnTo>
                  <a:pt x="198438" y="198438"/>
                </a:lnTo>
                <a:cubicBezTo>
                  <a:pt x="205755" y="198438"/>
                  <a:pt x="211667" y="192526"/>
                  <a:pt x="211667" y="185208"/>
                </a:cubicBezTo>
                <a:cubicBezTo>
                  <a:pt x="211667" y="177891"/>
                  <a:pt x="205755" y="171979"/>
                  <a:pt x="198438" y="171979"/>
                </a:cubicBezTo>
                <a:lnTo>
                  <a:pt x="33073" y="171979"/>
                </a:lnTo>
                <a:cubicBezTo>
                  <a:pt x="29435" y="171979"/>
                  <a:pt x="26458" y="169003"/>
                  <a:pt x="26458" y="165365"/>
                </a:cubicBezTo>
                <a:lnTo>
                  <a:pt x="26458" y="26458"/>
                </a:lnTo>
                <a:close/>
                <a:moveTo>
                  <a:pt x="194551" y="62260"/>
                </a:moveTo>
                <a:cubicBezTo>
                  <a:pt x="199719" y="57092"/>
                  <a:pt x="199719" y="48700"/>
                  <a:pt x="194551" y="43532"/>
                </a:cubicBezTo>
                <a:cubicBezTo>
                  <a:pt x="189384" y="38365"/>
                  <a:pt x="180992" y="38365"/>
                  <a:pt x="175824" y="43532"/>
                </a:cubicBezTo>
                <a:lnTo>
                  <a:pt x="132292" y="87106"/>
                </a:lnTo>
                <a:lnTo>
                  <a:pt x="108562" y="63417"/>
                </a:lnTo>
                <a:cubicBezTo>
                  <a:pt x="103394" y="58250"/>
                  <a:pt x="95002" y="58250"/>
                  <a:pt x="89834" y="63417"/>
                </a:cubicBezTo>
                <a:lnTo>
                  <a:pt x="50147" y="103105"/>
                </a:lnTo>
                <a:cubicBezTo>
                  <a:pt x="44979" y="108272"/>
                  <a:pt x="44979" y="116665"/>
                  <a:pt x="50147" y="121832"/>
                </a:cubicBezTo>
                <a:cubicBezTo>
                  <a:pt x="55314" y="127000"/>
                  <a:pt x="63707" y="127000"/>
                  <a:pt x="68874" y="121832"/>
                </a:cubicBezTo>
                <a:lnTo>
                  <a:pt x="99219" y="91488"/>
                </a:lnTo>
                <a:lnTo>
                  <a:pt x="122949" y="115218"/>
                </a:lnTo>
                <a:cubicBezTo>
                  <a:pt x="128116" y="120385"/>
                  <a:pt x="136508" y="120385"/>
                  <a:pt x="141676" y="115218"/>
                </a:cubicBezTo>
                <a:lnTo>
                  <a:pt x="194593" y="62301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382000" y="2328333"/>
            <a:ext cx="3481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扩展性问题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2709333"/>
            <a:ext cx="3471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数据量增长时，处理时间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线性增长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，无法通过增加机器提速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107333" y="1502833"/>
            <a:ext cx="3725333" cy="1926167"/>
          </a:xfrm>
          <a:custGeom>
            <a:avLst/>
            <a:gdLst/>
            <a:ahLst/>
            <a:cxnLst/>
            <a:rect l="l" t="t" r="r" b="b"/>
            <a:pathLst>
              <a:path w="3725333" h="1926167">
                <a:moveTo>
                  <a:pt x="42333" y="0"/>
                </a:moveTo>
                <a:lnTo>
                  <a:pt x="3683000" y="0"/>
                </a:lnTo>
                <a:cubicBezTo>
                  <a:pt x="3706380" y="0"/>
                  <a:pt x="3725333" y="18953"/>
                  <a:pt x="3725333" y="42333"/>
                </a:cubicBezTo>
                <a:lnTo>
                  <a:pt x="3725333" y="1841492"/>
                </a:lnTo>
                <a:cubicBezTo>
                  <a:pt x="3725333" y="1888257"/>
                  <a:pt x="3687423" y="1926167"/>
                  <a:pt x="3640659" y="1926167"/>
                </a:cubicBezTo>
                <a:lnTo>
                  <a:pt x="84674" y="1926167"/>
                </a:lnTo>
                <a:cubicBezTo>
                  <a:pt x="37910" y="1926167"/>
                  <a:pt x="0" y="1888257"/>
                  <a:pt x="0" y="1841492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2107333" y="1502833"/>
            <a:ext cx="3725333" cy="42333"/>
          </a:xfrm>
          <a:custGeom>
            <a:avLst/>
            <a:gdLst/>
            <a:ahLst/>
            <a:cxnLst/>
            <a:rect l="l" t="t" r="r" b="b"/>
            <a:pathLst>
              <a:path w="3725333" h="42333">
                <a:moveTo>
                  <a:pt x="42333" y="0"/>
                </a:moveTo>
                <a:lnTo>
                  <a:pt x="3683000" y="0"/>
                </a:lnTo>
                <a:cubicBezTo>
                  <a:pt x="3706380" y="0"/>
                  <a:pt x="3725333" y="18953"/>
                  <a:pt x="3725333" y="42333"/>
                </a:cubicBezTo>
                <a:lnTo>
                  <a:pt x="37253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2276667" y="169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2411604" y="1841500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02526" y="36380"/>
                </a:moveTo>
                <a:lnTo>
                  <a:pt x="135599" y="36380"/>
                </a:lnTo>
                <a:lnTo>
                  <a:pt x="135599" y="56224"/>
                </a:lnTo>
                <a:lnTo>
                  <a:pt x="102526" y="56224"/>
                </a:lnTo>
                <a:lnTo>
                  <a:pt x="102526" y="36380"/>
                </a:lnTo>
                <a:close/>
                <a:moveTo>
                  <a:pt x="99219" y="13229"/>
                </a:moveTo>
                <a:cubicBezTo>
                  <a:pt x="88263" y="13229"/>
                  <a:pt x="79375" y="22118"/>
                  <a:pt x="79375" y="33073"/>
                </a:cubicBezTo>
                <a:lnTo>
                  <a:pt x="79375" y="59531"/>
                </a:lnTo>
                <a:cubicBezTo>
                  <a:pt x="79375" y="70487"/>
                  <a:pt x="88263" y="79375"/>
                  <a:pt x="99219" y="79375"/>
                </a:cubicBezTo>
                <a:lnTo>
                  <a:pt x="105833" y="79375"/>
                </a:lnTo>
                <a:lnTo>
                  <a:pt x="105833" y="92604"/>
                </a:lnTo>
                <a:lnTo>
                  <a:pt x="13229" y="92604"/>
                </a:lnTo>
                <a:cubicBezTo>
                  <a:pt x="5912" y="92604"/>
                  <a:pt x="0" y="98516"/>
                  <a:pt x="0" y="105833"/>
                </a:cubicBezTo>
                <a:cubicBezTo>
                  <a:pt x="0" y="113151"/>
                  <a:pt x="5912" y="119063"/>
                  <a:pt x="13229" y="119063"/>
                </a:cubicBezTo>
                <a:lnTo>
                  <a:pt x="52917" y="119063"/>
                </a:lnTo>
                <a:lnTo>
                  <a:pt x="52917" y="132292"/>
                </a:lnTo>
                <a:lnTo>
                  <a:pt x="46302" y="132292"/>
                </a:lnTo>
                <a:cubicBezTo>
                  <a:pt x="35347" y="132292"/>
                  <a:pt x="26458" y="141180"/>
                  <a:pt x="26458" y="152135"/>
                </a:cubicBezTo>
                <a:lnTo>
                  <a:pt x="26458" y="178594"/>
                </a:lnTo>
                <a:cubicBezTo>
                  <a:pt x="26458" y="189549"/>
                  <a:pt x="35347" y="198438"/>
                  <a:pt x="46302" y="198438"/>
                </a:cubicBezTo>
                <a:lnTo>
                  <a:pt x="85990" y="198438"/>
                </a:lnTo>
                <a:cubicBezTo>
                  <a:pt x="96945" y="198438"/>
                  <a:pt x="105833" y="189549"/>
                  <a:pt x="105833" y="178594"/>
                </a:cubicBezTo>
                <a:lnTo>
                  <a:pt x="105833" y="152135"/>
                </a:lnTo>
                <a:cubicBezTo>
                  <a:pt x="105833" y="141180"/>
                  <a:pt x="96945" y="132292"/>
                  <a:pt x="85990" y="132292"/>
                </a:cubicBezTo>
                <a:lnTo>
                  <a:pt x="79375" y="132292"/>
                </a:lnTo>
                <a:lnTo>
                  <a:pt x="79375" y="119063"/>
                </a:lnTo>
                <a:lnTo>
                  <a:pt x="158750" y="119063"/>
                </a:lnTo>
                <a:lnTo>
                  <a:pt x="158750" y="132292"/>
                </a:lnTo>
                <a:lnTo>
                  <a:pt x="152135" y="132292"/>
                </a:lnTo>
                <a:cubicBezTo>
                  <a:pt x="141180" y="132292"/>
                  <a:pt x="132292" y="141180"/>
                  <a:pt x="132292" y="152135"/>
                </a:cubicBezTo>
                <a:lnTo>
                  <a:pt x="132292" y="178594"/>
                </a:lnTo>
                <a:cubicBezTo>
                  <a:pt x="132292" y="189549"/>
                  <a:pt x="141180" y="198438"/>
                  <a:pt x="152135" y="198438"/>
                </a:cubicBezTo>
                <a:lnTo>
                  <a:pt x="191823" y="198438"/>
                </a:lnTo>
                <a:cubicBezTo>
                  <a:pt x="202778" y="198438"/>
                  <a:pt x="211667" y="189549"/>
                  <a:pt x="211667" y="178594"/>
                </a:cubicBezTo>
                <a:lnTo>
                  <a:pt x="211667" y="152135"/>
                </a:lnTo>
                <a:cubicBezTo>
                  <a:pt x="211667" y="141180"/>
                  <a:pt x="202778" y="132292"/>
                  <a:pt x="191823" y="132292"/>
                </a:cubicBezTo>
                <a:lnTo>
                  <a:pt x="185208" y="132292"/>
                </a:lnTo>
                <a:lnTo>
                  <a:pt x="185208" y="119063"/>
                </a:lnTo>
                <a:lnTo>
                  <a:pt x="224896" y="119063"/>
                </a:lnTo>
                <a:cubicBezTo>
                  <a:pt x="232213" y="119063"/>
                  <a:pt x="238125" y="113151"/>
                  <a:pt x="238125" y="105833"/>
                </a:cubicBezTo>
                <a:cubicBezTo>
                  <a:pt x="238125" y="98516"/>
                  <a:pt x="232213" y="92604"/>
                  <a:pt x="224896" y="92604"/>
                </a:cubicBezTo>
                <a:lnTo>
                  <a:pt x="132292" y="92604"/>
                </a:lnTo>
                <a:lnTo>
                  <a:pt x="132292" y="79375"/>
                </a:lnTo>
                <a:lnTo>
                  <a:pt x="138906" y="79375"/>
                </a:lnTo>
                <a:cubicBezTo>
                  <a:pt x="149862" y="79375"/>
                  <a:pt x="158750" y="70487"/>
                  <a:pt x="158750" y="59531"/>
                </a:cubicBezTo>
                <a:lnTo>
                  <a:pt x="158750" y="33073"/>
                </a:lnTo>
                <a:cubicBezTo>
                  <a:pt x="158750" y="22118"/>
                  <a:pt x="149862" y="13229"/>
                  <a:pt x="138906" y="13229"/>
                </a:cubicBezTo>
                <a:lnTo>
                  <a:pt x="99219" y="13229"/>
                </a:lnTo>
                <a:close/>
                <a:moveTo>
                  <a:pt x="185208" y="155443"/>
                </a:moveTo>
                <a:lnTo>
                  <a:pt x="188516" y="155443"/>
                </a:lnTo>
                <a:lnTo>
                  <a:pt x="188516" y="175286"/>
                </a:lnTo>
                <a:lnTo>
                  <a:pt x="155443" y="175286"/>
                </a:lnTo>
                <a:lnTo>
                  <a:pt x="155443" y="155443"/>
                </a:lnTo>
                <a:lnTo>
                  <a:pt x="185208" y="155443"/>
                </a:lnTo>
                <a:close/>
                <a:moveTo>
                  <a:pt x="79375" y="155443"/>
                </a:moveTo>
                <a:lnTo>
                  <a:pt x="82682" y="155443"/>
                </a:lnTo>
                <a:lnTo>
                  <a:pt x="82682" y="175286"/>
                </a:lnTo>
                <a:lnTo>
                  <a:pt x="49609" y="175286"/>
                </a:lnTo>
                <a:lnTo>
                  <a:pt x="49609" y="155443"/>
                </a:lnTo>
                <a:lnTo>
                  <a:pt x="79375" y="155443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2276667" y="2328333"/>
            <a:ext cx="3481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数据本地性缺失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276667" y="2709333"/>
            <a:ext cx="3471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无法优化数据访问模式，可能产生大量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网络I/O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3333" y="3598333"/>
            <a:ext cx="15409333" cy="5240867"/>
          </a:xfrm>
          <a:custGeom>
            <a:avLst/>
            <a:gdLst/>
            <a:ahLst/>
            <a:cxnLst/>
            <a:rect l="l" t="t" r="r" b="b"/>
            <a:pathLst>
              <a:path w="15409333" h="5672667">
                <a:moveTo>
                  <a:pt x="84693" y="0"/>
                </a:moveTo>
                <a:lnTo>
                  <a:pt x="15324640" y="0"/>
                </a:lnTo>
                <a:cubicBezTo>
                  <a:pt x="15371415" y="0"/>
                  <a:pt x="15409333" y="37918"/>
                  <a:pt x="15409333" y="84693"/>
                </a:cubicBezTo>
                <a:lnTo>
                  <a:pt x="15409333" y="5587974"/>
                </a:lnTo>
                <a:cubicBezTo>
                  <a:pt x="15409333" y="5634748"/>
                  <a:pt x="15371415" y="5672667"/>
                  <a:pt x="15324640" y="5672667"/>
                </a:cubicBezTo>
                <a:lnTo>
                  <a:pt x="84693" y="5672667"/>
                </a:lnTo>
                <a:cubicBezTo>
                  <a:pt x="37918" y="5672667"/>
                  <a:pt x="0" y="5634748"/>
                  <a:pt x="0" y="5587974"/>
                </a:cubicBezTo>
                <a:lnTo>
                  <a:pt x="0" y="84693"/>
                </a:lnTo>
                <a:cubicBezTo>
                  <a:pt x="0" y="37918"/>
                  <a:pt x="37918" y="0"/>
                  <a:pt x="8469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66750" y="385233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52500" y="3810000"/>
            <a:ext cx="14795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性能瓶颈：不同数据规模下的处理时间</a:t>
            </a:r>
            <a:endParaRPr lang="en-US" sz="1600" dirty="0"/>
          </a:p>
        </p:txBody>
      </p:sp>
      <p:pic>
        <p:nvPicPr>
          <p:cNvPr id="32" name="Image 0" descr="https://kimi-img.moonshot.cn/pub/slides/25-12-20-13:56:53-d533l9ba9jthf3k4rse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000" y="4318000"/>
            <a:ext cx="8445500" cy="2963333"/>
          </a:xfrm>
          <a:prstGeom prst="roundRect">
            <a:avLst>
              <a:gd name="adj" fmla="val 0"/>
            </a:avLst>
          </a:prstGeom>
        </p:spPr>
      </p:pic>
      <p:sp>
        <p:nvSpPr>
          <p:cNvPr id="33" name="Shape 30"/>
          <p:cNvSpPr/>
          <p:nvPr/>
        </p:nvSpPr>
        <p:spPr>
          <a:xfrm>
            <a:off x="11188733" y="4318000"/>
            <a:ext cx="4434417" cy="973667"/>
          </a:xfrm>
          <a:custGeom>
            <a:avLst/>
            <a:gdLst/>
            <a:ahLst/>
            <a:cxnLst/>
            <a:rect l="l" t="t" r="r" b="b"/>
            <a:pathLst>
              <a:path w="4434417" h="973667">
                <a:moveTo>
                  <a:pt x="84670" y="0"/>
                </a:moveTo>
                <a:lnTo>
                  <a:pt x="4349747" y="0"/>
                </a:lnTo>
                <a:cubicBezTo>
                  <a:pt x="4396509" y="0"/>
                  <a:pt x="4434417" y="37908"/>
                  <a:pt x="4434417" y="84670"/>
                </a:cubicBezTo>
                <a:lnTo>
                  <a:pt x="4434417" y="888997"/>
                </a:lnTo>
                <a:cubicBezTo>
                  <a:pt x="4434417" y="935759"/>
                  <a:pt x="4396509" y="973667"/>
                  <a:pt x="4349747" y="973667"/>
                </a:cubicBezTo>
                <a:lnTo>
                  <a:pt x="84670" y="973667"/>
                </a:lnTo>
                <a:cubicBezTo>
                  <a:pt x="37908" y="973667"/>
                  <a:pt x="0" y="935759"/>
                  <a:pt x="0" y="88899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11358066" y="4529667"/>
            <a:ext cx="82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GB 数据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4513636" y="4487333"/>
            <a:ext cx="106891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1-2 分钟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358066" y="4910667"/>
            <a:ext cx="4169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单机处理，主要受CPU限制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1188733" y="5418667"/>
            <a:ext cx="4434417" cy="973667"/>
          </a:xfrm>
          <a:custGeom>
            <a:avLst/>
            <a:gdLst/>
            <a:ahLst/>
            <a:cxnLst/>
            <a:rect l="l" t="t" r="r" b="b"/>
            <a:pathLst>
              <a:path w="4434417" h="973667">
                <a:moveTo>
                  <a:pt x="84670" y="0"/>
                </a:moveTo>
                <a:lnTo>
                  <a:pt x="4349747" y="0"/>
                </a:lnTo>
                <a:cubicBezTo>
                  <a:pt x="4396509" y="0"/>
                  <a:pt x="4434417" y="37908"/>
                  <a:pt x="4434417" y="84670"/>
                </a:cubicBezTo>
                <a:lnTo>
                  <a:pt x="4434417" y="888997"/>
                </a:lnTo>
                <a:cubicBezTo>
                  <a:pt x="4434417" y="935759"/>
                  <a:pt x="4396509" y="973667"/>
                  <a:pt x="4349747" y="973667"/>
                </a:cubicBezTo>
                <a:lnTo>
                  <a:pt x="84670" y="973667"/>
                </a:lnTo>
                <a:cubicBezTo>
                  <a:pt x="37908" y="973667"/>
                  <a:pt x="0" y="935759"/>
                  <a:pt x="0" y="88899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11358066" y="5630333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GB 数据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4210357" y="5588000"/>
            <a:ext cx="13652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15-25 分钟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358066" y="6011333"/>
            <a:ext cx="4169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内存压力增大，开始使用虚拟内存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1188733" y="6519333"/>
            <a:ext cx="4434417" cy="973667"/>
          </a:xfrm>
          <a:custGeom>
            <a:avLst/>
            <a:gdLst/>
            <a:ahLst/>
            <a:cxnLst/>
            <a:rect l="l" t="t" r="r" b="b"/>
            <a:pathLst>
              <a:path w="4434417" h="973667">
                <a:moveTo>
                  <a:pt x="84670" y="0"/>
                </a:moveTo>
                <a:lnTo>
                  <a:pt x="4349747" y="0"/>
                </a:lnTo>
                <a:cubicBezTo>
                  <a:pt x="4396509" y="0"/>
                  <a:pt x="4434417" y="37908"/>
                  <a:pt x="4434417" y="84670"/>
                </a:cubicBezTo>
                <a:lnTo>
                  <a:pt x="4434417" y="888997"/>
                </a:lnTo>
                <a:cubicBezTo>
                  <a:pt x="4434417" y="935759"/>
                  <a:pt x="4396509" y="973667"/>
                  <a:pt x="4349747" y="973667"/>
                </a:cubicBezTo>
                <a:lnTo>
                  <a:pt x="84670" y="973667"/>
                </a:lnTo>
                <a:cubicBezTo>
                  <a:pt x="37908" y="973667"/>
                  <a:pt x="0" y="935759"/>
                  <a:pt x="0" y="88899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11358066" y="6731000"/>
            <a:ext cx="1037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 GB 数据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4454684" y="6688667"/>
            <a:ext cx="1121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4-6 小时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1358066" y="7112000"/>
            <a:ext cx="4169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大量磁盘I/O，性能显著下降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1199316" y="7630583"/>
            <a:ext cx="4413250" cy="994833"/>
          </a:xfrm>
          <a:custGeom>
            <a:avLst/>
            <a:gdLst/>
            <a:ahLst/>
            <a:cxnLst/>
            <a:rect l="l" t="t" r="r" b="b"/>
            <a:pathLst>
              <a:path w="4413250" h="994833">
                <a:moveTo>
                  <a:pt x="84670" y="0"/>
                </a:moveTo>
                <a:lnTo>
                  <a:pt x="4328580" y="0"/>
                </a:lnTo>
                <a:cubicBezTo>
                  <a:pt x="4375342" y="0"/>
                  <a:pt x="4413250" y="37908"/>
                  <a:pt x="4413250" y="84670"/>
                </a:cubicBezTo>
                <a:lnTo>
                  <a:pt x="4413250" y="910163"/>
                </a:lnTo>
                <a:cubicBezTo>
                  <a:pt x="4413250" y="956925"/>
                  <a:pt x="4375342" y="994833"/>
                  <a:pt x="4328580" y="994833"/>
                </a:cubicBezTo>
                <a:lnTo>
                  <a:pt x="84670" y="994833"/>
                </a:lnTo>
                <a:cubicBezTo>
                  <a:pt x="37939" y="994833"/>
                  <a:pt x="0" y="956894"/>
                  <a:pt x="0" y="910163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1"/>
          </a:solidFill>
          <a:ln w="25400">
            <a:solidFill>
              <a:srgbClr val="E5A165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3"/>
          <p:cNvSpPr/>
          <p:nvPr/>
        </p:nvSpPr>
        <p:spPr>
          <a:xfrm>
            <a:off x="11379233" y="7852833"/>
            <a:ext cx="804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TB 数据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4922500" y="7810500"/>
            <a:ext cx="635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失败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1379233" y="8233833"/>
            <a:ext cx="4127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超出单机内存和处理能力，可能导致系统崩溃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85271" y="838651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7"/>
          <p:cNvSpPr/>
          <p:nvPr/>
        </p:nvSpPr>
        <p:spPr>
          <a:xfrm>
            <a:off x="957792" y="8354761"/>
            <a:ext cx="7704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核心结论：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单机处理在面对大规模数据时存在根本性瓶颈，这为分布式计算的必要性提供了有力论证。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508000" y="3232150"/>
            <a:ext cx="158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 3 章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56150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0" y="0"/>
                </a:moveTo>
                <a:lnTo>
                  <a:pt x="2438400" y="0"/>
                </a:lnTo>
                <a:lnTo>
                  <a:pt x="2438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340350"/>
            <a:ext cx="15544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让计算靠近数据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6407150"/>
            <a:ext cx="868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分布式计算的核心理念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83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kern="0" spc="11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 · Architecture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19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传统分布式计算的瓶颈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1123858"/>
            <a:ext cx="15388167" cy="4380765"/>
          </a:xfrm>
          <a:custGeom>
            <a:avLst/>
            <a:gdLst/>
            <a:ahLst/>
            <a:cxnLst/>
            <a:rect l="l" t="t" r="r" b="b"/>
            <a:pathLst>
              <a:path w="15388167" h="4762500">
                <a:moveTo>
                  <a:pt x="42333" y="0"/>
                </a:moveTo>
                <a:lnTo>
                  <a:pt x="15303489" y="0"/>
                </a:lnTo>
                <a:cubicBezTo>
                  <a:pt x="15350255" y="0"/>
                  <a:pt x="15388167" y="37911"/>
                  <a:pt x="15388167" y="84677"/>
                </a:cubicBezTo>
                <a:lnTo>
                  <a:pt x="15388167" y="4677823"/>
                </a:lnTo>
                <a:cubicBezTo>
                  <a:pt x="15388167" y="4724589"/>
                  <a:pt x="15350255" y="4762500"/>
                  <a:pt x="15303489" y="4762500"/>
                </a:cubicBezTo>
                <a:lnTo>
                  <a:pt x="42333" y="4762500"/>
                </a:lnTo>
                <a:cubicBezTo>
                  <a:pt x="18953" y="4762500"/>
                  <a:pt x="0" y="4743547"/>
                  <a:pt x="0" y="4720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1123858"/>
            <a:ext cx="45719" cy="4380765"/>
          </a:xfrm>
          <a:custGeom>
            <a:avLst/>
            <a:gdLst/>
            <a:ahLst/>
            <a:cxnLst/>
            <a:rect l="l" t="t" r="r" b="b"/>
            <a:pathLst>
              <a:path w="42333" h="4762500">
                <a:moveTo>
                  <a:pt x="42333" y="0"/>
                </a:moveTo>
                <a:lnTo>
                  <a:pt x="42333" y="0"/>
                </a:lnTo>
                <a:lnTo>
                  <a:pt x="42333" y="4762500"/>
                </a:lnTo>
                <a:lnTo>
                  <a:pt x="42333" y="4762500"/>
                </a:lnTo>
                <a:cubicBezTo>
                  <a:pt x="18953" y="4762500"/>
                  <a:pt x="0" y="4743547"/>
                  <a:pt x="0" y="4720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66750" y="133552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82848" y="82848"/>
                </a:moveTo>
                <a:cubicBezTo>
                  <a:pt x="87511" y="78184"/>
                  <a:pt x="95052" y="78184"/>
                  <a:pt x="99665" y="82848"/>
                </a:cubicBezTo>
                <a:lnTo>
                  <a:pt x="126950" y="110133"/>
                </a:lnTo>
                <a:lnTo>
                  <a:pt x="154236" y="82848"/>
                </a:lnTo>
                <a:cubicBezTo>
                  <a:pt x="158899" y="78184"/>
                  <a:pt x="166439" y="78184"/>
                  <a:pt x="171053" y="82848"/>
                </a:cubicBezTo>
                <a:cubicBezTo>
                  <a:pt x="175667" y="87511"/>
                  <a:pt x="175716" y="95052"/>
                  <a:pt x="171053" y="99665"/>
                </a:cubicBezTo>
                <a:lnTo>
                  <a:pt x="143768" y="126950"/>
                </a:lnTo>
                <a:lnTo>
                  <a:pt x="171053" y="154236"/>
                </a:lnTo>
                <a:cubicBezTo>
                  <a:pt x="175716" y="158899"/>
                  <a:pt x="175716" y="166439"/>
                  <a:pt x="171053" y="171053"/>
                </a:cubicBezTo>
                <a:cubicBezTo>
                  <a:pt x="166390" y="175667"/>
                  <a:pt x="158849" y="175716"/>
                  <a:pt x="154236" y="171053"/>
                </a:cubicBezTo>
                <a:lnTo>
                  <a:pt x="126950" y="143768"/>
                </a:lnTo>
                <a:lnTo>
                  <a:pt x="99665" y="171053"/>
                </a:lnTo>
                <a:cubicBezTo>
                  <a:pt x="95002" y="175716"/>
                  <a:pt x="87461" y="175716"/>
                  <a:pt x="82848" y="171053"/>
                </a:cubicBezTo>
                <a:cubicBezTo>
                  <a:pt x="78234" y="166390"/>
                  <a:pt x="78184" y="158849"/>
                  <a:pt x="82848" y="154236"/>
                </a:cubicBezTo>
                <a:lnTo>
                  <a:pt x="110133" y="126950"/>
                </a:lnTo>
                <a:lnTo>
                  <a:pt x="82848" y="99665"/>
                </a:lnTo>
                <a:cubicBezTo>
                  <a:pt x="78184" y="95002"/>
                  <a:pt x="78184" y="87461"/>
                  <a:pt x="82848" y="82848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52500" y="1293191"/>
            <a:ext cx="14837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传统架构：存储与计算分离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00" y="1679346"/>
            <a:ext cx="15113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在传统的分布式计算架构中，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存储和计算是分离的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，这种架构存在根本性问题：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000" y="2068260"/>
            <a:ext cx="15028333" cy="1481667"/>
          </a:xfrm>
          <a:custGeom>
            <a:avLst/>
            <a:gdLst/>
            <a:ahLst/>
            <a:cxnLst/>
            <a:rect l="l" t="t" r="r" b="b"/>
            <a:pathLst>
              <a:path w="15028333" h="1481667">
                <a:moveTo>
                  <a:pt x="84662" y="0"/>
                </a:moveTo>
                <a:lnTo>
                  <a:pt x="14943671" y="0"/>
                </a:lnTo>
                <a:cubicBezTo>
                  <a:pt x="14990429" y="0"/>
                  <a:pt x="15028333" y="37905"/>
                  <a:pt x="15028333" y="84662"/>
                </a:cubicBezTo>
                <a:lnTo>
                  <a:pt x="15028333" y="1397004"/>
                </a:lnTo>
                <a:cubicBezTo>
                  <a:pt x="15028333" y="1443731"/>
                  <a:pt x="14990397" y="1481667"/>
                  <a:pt x="14943671" y="1481667"/>
                </a:cubicBezTo>
                <a:lnTo>
                  <a:pt x="84662" y="1481667"/>
                </a:lnTo>
                <a:cubicBezTo>
                  <a:pt x="37905" y="1481667"/>
                  <a:pt x="0" y="1443762"/>
                  <a:pt x="0" y="1397004"/>
                </a:cubicBezTo>
                <a:lnTo>
                  <a:pt x="0" y="84662"/>
                </a:lnTo>
                <a:cubicBezTo>
                  <a:pt x="0" y="37936"/>
                  <a:pt x="37936" y="0"/>
                  <a:pt x="846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254750" y="2248177"/>
            <a:ext cx="1333500" cy="825500"/>
          </a:xfrm>
          <a:custGeom>
            <a:avLst/>
            <a:gdLst/>
            <a:ahLst/>
            <a:cxnLst/>
            <a:rect l="l" t="t" r="r" b="b"/>
            <a:pathLst>
              <a:path w="1333500" h="825500">
                <a:moveTo>
                  <a:pt x="127003" y="0"/>
                </a:moveTo>
                <a:lnTo>
                  <a:pt x="1206497" y="0"/>
                </a:lnTo>
                <a:cubicBezTo>
                  <a:pt x="1276639" y="0"/>
                  <a:pt x="1333500" y="56861"/>
                  <a:pt x="1333500" y="127003"/>
                </a:cubicBezTo>
                <a:lnTo>
                  <a:pt x="1333500" y="698497"/>
                </a:lnTo>
                <a:cubicBezTo>
                  <a:pt x="1333500" y="768639"/>
                  <a:pt x="1276639" y="825500"/>
                  <a:pt x="1206497" y="825500"/>
                </a:cubicBezTo>
                <a:lnTo>
                  <a:pt x="127003" y="825500"/>
                </a:lnTo>
                <a:cubicBezTo>
                  <a:pt x="56861" y="825500"/>
                  <a:pt x="0" y="768639"/>
                  <a:pt x="0" y="6984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 w="25400">
            <a:solidFill>
              <a:srgbClr val="E5A16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540500" y="2533927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存储集群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07125" y="3168927"/>
            <a:ext cx="142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93063" y="241751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311671" y="172765"/>
                </a:moveTo>
                <a:cubicBezTo>
                  <a:pt x="319422" y="165013"/>
                  <a:pt x="319422" y="152425"/>
                  <a:pt x="311671" y="144673"/>
                </a:cubicBezTo>
                <a:lnTo>
                  <a:pt x="212452" y="45455"/>
                </a:lnTo>
                <a:cubicBezTo>
                  <a:pt x="204701" y="37703"/>
                  <a:pt x="192112" y="37703"/>
                  <a:pt x="184361" y="45455"/>
                </a:cubicBezTo>
                <a:cubicBezTo>
                  <a:pt x="176609" y="53206"/>
                  <a:pt x="176609" y="65794"/>
                  <a:pt x="184361" y="73546"/>
                </a:cubicBezTo>
                <a:lnTo>
                  <a:pt x="249721" y="138906"/>
                </a:lnTo>
                <a:lnTo>
                  <a:pt x="19844" y="138906"/>
                </a:lnTo>
                <a:cubicBezTo>
                  <a:pt x="8868" y="138906"/>
                  <a:pt x="0" y="147774"/>
                  <a:pt x="0" y="158750"/>
                </a:cubicBezTo>
                <a:cubicBezTo>
                  <a:pt x="0" y="169726"/>
                  <a:pt x="8868" y="178594"/>
                  <a:pt x="19844" y="178594"/>
                </a:cubicBezTo>
                <a:lnTo>
                  <a:pt x="249721" y="178594"/>
                </a:lnTo>
                <a:lnTo>
                  <a:pt x="184361" y="243954"/>
                </a:lnTo>
                <a:cubicBezTo>
                  <a:pt x="176609" y="251706"/>
                  <a:pt x="176609" y="264294"/>
                  <a:pt x="184361" y="272045"/>
                </a:cubicBezTo>
                <a:cubicBezTo>
                  <a:pt x="192112" y="279797"/>
                  <a:pt x="204701" y="279797"/>
                  <a:pt x="212452" y="272045"/>
                </a:cubicBezTo>
                <a:lnTo>
                  <a:pt x="311671" y="172827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852833" y="2777344"/>
            <a:ext cx="666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网络传输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17160" y="3031344"/>
            <a:ext cx="5291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1TB数据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10083" y="2248177"/>
            <a:ext cx="1333500" cy="825500"/>
          </a:xfrm>
          <a:custGeom>
            <a:avLst/>
            <a:gdLst/>
            <a:ahLst/>
            <a:cxnLst/>
            <a:rect l="l" t="t" r="r" b="b"/>
            <a:pathLst>
              <a:path w="1333500" h="825500">
                <a:moveTo>
                  <a:pt x="127003" y="0"/>
                </a:moveTo>
                <a:lnTo>
                  <a:pt x="1206497" y="0"/>
                </a:lnTo>
                <a:cubicBezTo>
                  <a:pt x="1276639" y="0"/>
                  <a:pt x="1333500" y="56861"/>
                  <a:pt x="1333500" y="127003"/>
                </a:cubicBezTo>
                <a:lnTo>
                  <a:pt x="1333500" y="698497"/>
                </a:lnTo>
                <a:cubicBezTo>
                  <a:pt x="1333500" y="768639"/>
                  <a:pt x="1276639" y="825500"/>
                  <a:pt x="1206497" y="825500"/>
                </a:cubicBezTo>
                <a:lnTo>
                  <a:pt x="127003" y="825500"/>
                </a:lnTo>
                <a:cubicBezTo>
                  <a:pt x="56861" y="825500"/>
                  <a:pt x="0" y="768639"/>
                  <a:pt x="0" y="6984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254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995833" y="2533927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计算集群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62458" y="3168927"/>
            <a:ext cx="142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" y="3570911"/>
            <a:ext cx="7450667" cy="910167"/>
          </a:xfrm>
          <a:custGeom>
            <a:avLst/>
            <a:gdLst/>
            <a:ahLst/>
            <a:cxnLst/>
            <a:rect l="l" t="t" r="r" b="b"/>
            <a:pathLst>
              <a:path w="7450667" h="910167">
                <a:moveTo>
                  <a:pt x="84664" y="0"/>
                </a:moveTo>
                <a:lnTo>
                  <a:pt x="7366003" y="0"/>
                </a:lnTo>
                <a:cubicBezTo>
                  <a:pt x="7412761" y="0"/>
                  <a:pt x="7450667" y="37905"/>
                  <a:pt x="7450667" y="84664"/>
                </a:cubicBezTo>
                <a:lnTo>
                  <a:pt x="7450667" y="825503"/>
                </a:lnTo>
                <a:cubicBezTo>
                  <a:pt x="7450667" y="872261"/>
                  <a:pt x="7412761" y="910167"/>
                  <a:pt x="7366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83167" y="3761411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84667" y="44979"/>
                </a:moveTo>
                <a:cubicBezTo>
                  <a:pt x="89065" y="44979"/>
                  <a:pt x="92604" y="48518"/>
                  <a:pt x="92604" y="52917"/>
                </a:cubicBezTo>
                <a:lnTo>
                  <a:pt x="92604" y="89958"/>
                </a:lnTo>
                <a:cubicBezTo>
                  <a:pt x="92604" y="94357"/>
                  <a:pt x="89065" y="97896"/>
                  <a:pt x="84667" y="97896"/>
                </a:cubicBezTo>
                <a:cubicBezTo>
                  <a:pt x="80268" y="97896"/>
                  <a:pt x="76729" y="94357"/>
                  <a:pt x="76729" y="89958"/>
                </a:cubicBezTo>
                <a:lnTo>
                  <a:pt x="76729" y="52917"/>
                </a:lnTo>
                <a:cubicBezTo>
                  <a:pt x="76729" y="48518"/>
                  <a:pt x="80268" y="44979"/>
                  <a:pt x="84667" y="44979"/>
                </a:cubicBezTo>
                <a:close/>
                <a:moveTo>
                  <a:pt x="75836" y="116417"/>
                </a:moveTo>
                <a:cubicBezTo>
                  <a:pt x="75635" y="113139"/>
                  <a:pt x="77270" y="110020"/>
                  <a:pt x="80080" y="108321"/>
                </a:cubicBezTo>
                <a:cubicBezTo>
                  <a:pt x="82890" y="106621"/>
                  <a:pt x="86411" y="106621"/>
                  <a:pt x="89220" y="108321"/>
                </a:cubicBezTo>
                <a:cubicBezTo>
                  <a:pt x="92030" y="110020"/>
                  <a:pt x="93665" y="113139"/>
                  <a:pt x="93464" y="116417"/>
                </a:cubicBezTo>
                <a:cubicBezTo>
                  <a:pt x="93665" y="119694"/>
                  <a:pt x="92030" y="122813"/>
                  <a:pt x="89220" y="124513"/>
                </a:cubicBezTo>
                <a:cubicBezTo>
                  <a:pt x="86411" y="126212"/>
                  <a:pt x="82890" y="126212"/>
                  <a:pt x="80080" y="124513"/>
                </a:cubicBezTo>
                <a:cubicBezTo>
                  <a:pt x="77270" y="122813"/>
                  <a:pt x="75635" y="119694"/>
                  <a:pt x="75836" y="116417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58333" y="3697911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网络瓶颈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4078911"/>
            <a:ext cx="7281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大量数据需要通过网络从存储节点传输到计算节点，网络成为系统瓶颈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12667" y="3570911"/>
            <a:ext cx="7450667" cy="910167"/>
          </a:xfrm>
          <a:custGeom>
            <a:avLst/>
            <a:gdLst/>
            <a:ahLst/>
            <a:cxnLst/>
            <a:rect l="l" t="t" r="r" b="b"/>
            <a:pathLst>
              <a:path w="7450667" h="910167">
                <a:moveTo>
                  <a:pt x="84664" y="0"/>
                </a:moveTo>
                <a:lnTo>
                  <a:pt x="7366003" y="0"/>
                </a:lnTo>
                <a:cubicBezTo>
                  <a:pt x="7412761" y="0"/>
                  <a:pt x="7450667" y="37905"/>
                  <a:pt x="7450667" y="84664"/>
                </a:cubicBezTo>
                <a:lnTo>
                  <a:pt x="7450667" y="825503"/>
                </a:lnTo>
                <a:cubicBezTo>
                  <a:pt x="7450667" y="872261"/>
                  <a:pt x="7412761" y="910167"/>
                  <a:pt x="7366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360833" y="3761411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84667" y="44979"/>
                </a:moveTo>
                <a:cubicBezTo>
                  <a:pt x="89065" y="44979"/>
                  <a:pt x="92604" y="48518"/>
                  <a:pt x="92604" y="52917"/>
                </a:cubicBezTo>
                <a:lnTo>
                  <a:pt x="92604" y="89958"/>
                </a:lnTo>
                <a:cubicBezTo>
                  <a:pt x="92604" y="94357"/>
                  <a:pt x="89065" y="97896"/>
                  <a:pt x="84667" y="97896"/>
                </a:cubicBezTo>
                <a:cubicBezTo>
                  <a:pt x="80268" y="97896"/>
                  <a:pt x="76729" y="94357"/>
                  <a:pt x="76729" y="89958"/>
                </a:cubicBezTo>
                <a:lnTo>
                  <a:pt x="76729" y="52917"/>
                </a:lnTo>
                <a:cubicBezTo>
                  <a:pt x="76729" y="48518"/>
                  <a:pt x="80268" y="44979"/>
                  <a:pt x="84667" y="44979"/>
                </a:cubicBezTo>
                <a:close/>
                <a:moveTo>
                  <a:pt x="75836" y="116417"/>
                </a:moveTo>
                <a:cubicBezTo>
                  <a:pt x="75635" y="113139"/>
                  <a:pt x="77270" y="110020"/>
                  <a:pt x="80080" y="108321"/>
                </a:cubicBezTo>
                <a:cubicBezTo>
                  <a:pt x="82890" y="106621"/>
                  <a:pt x="86411" y="106621"/>
                  <a:pt x="89220" y="108321"/>
                </a:cubicBezTo>
                <a:cubicBezTo>
                  <a:pt x="92030" y="110020"/>
                  <a:pt x="93665" y="113139"/>
                  <a:pt x="93464" y="116417"/>
                </a:cubicBezTo>
                <a:cubicBezTo>
                  <a:pt x="93665" y="119694"/>
                  <a:pt x="92030" y="122813"/>
                  <a:pt x="89220" y="124513"/>
                </a:cubicBezTo>
                <a:cubicBezTo>
                  <a:pt x="86411" y="126212"/>
                  <a:pt x="82890" y="126212"/>
                  <a:pt x="80080" y="124513"/>
                </a:cubicBezTo>
                <a:cubicBezTo>
                  <a:pt x="77270" y="122813"/>
                  <a:pt x="75635" y="119694"/>
                  <a:pt x="75836" y="116417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36000" y="3697911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带宽限制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39667" y="4078911"/>
            <a:ext cx="7281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网络带宽成为系统性能的瓶颈，限制整体处理能力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000" y="4502062"/>
            <a:ext cx="7450667" cy="910167"/>
          </a:xfrm>
          <a:custGeom>
            <a:avLst/>
            <a:gdLst/>
            <a:ahLst/>
            <a:cxnLst/>
            <a:rect l="l" t="t" r="r" b="b"/>
            <a:pathLst>
              <a:path w="7450667" h="910167">
                <a:moveTo>
                  <a:pt x="84664" y="0"/>
                </a:moveTo>
                <a:lnTo>
                  <a:pt x="7366003" y="0"/>
                </a:lnTo>
                <a:cubicBezTo>
                  <a:pt x="7412761" y="0"/>
                  <a:pt x="7450667" y="37905"/>
                  <a:pt x="7450667" y="84664"/>
                </a:cubicBezTo>
                <a:lnTo>
                  <a:pt x="7450667" y="825503"/>
                </a:lnTo>
                <a:cubicBezTo>
                  <a:pt x="7450667" y="872261"/>
                  <a:pt x="7412761" y="910167"/>
                  <a:pt x="7366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83167" y="4692562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84667" y="44979"/>
                </a:moveTo>
                <a:cubicBezTo>
                  <a:pt x="89065" y="44979"/>
                  <a:pt x="92604" y="48518"/>
                  <a:pt x="92604" y="52917"/>
                </a:cubicBezTo>
                <a:lnTo>
                  <a:pt x="92604" y="89958"/>
                </a:lnTo>
                <a:cubicBezTo>
                  <a:pt x="92604" y="94357"/>
                  <a:pt x="89065" y="97896"/>
                  <a:pt x="84667" y="97896"/>
                </a:cubicBezTo>
                <a:cubicBezTo>
                  <a:pt x="80268" y="97896"/>
                  <a:pt x="76729" y="94357"/>
                  <a:pt x="76729" y="89958"/>
                </a:cubicBezTo>
                <a:lnTo>
                  <a:pt x="76729" y="52917"/>
                </a:lnTo>
                <a:cubicBezTo>
                  <a:pt x="76729" y="48518"/>
                  <a:pt x="80268" y="44979"/>
                  <a:pt x="84667" y="44979"/>
                </a:cubicBezTo>
                <a:close/>
                <a:moveTo>
                  <a:pt x="75836" y="116417"/>
                </a:moveTo>
                <a:cubicBezTo>
                  <a:pt x="75635" y="113139"/>
                  <a:pt x="77270" y="110020"/>
                  <a:pt x="80080" y="108321"/>
                </a:cubicBezTo>
                <a:cubicBezTo>
                  <a:pt x="82890" y="106621"/>
                  <a:pt x="86411" y="106621"/>
                  <a:pt x="89220" y="108321"/>
                </a:cubicBezTo>
                <a:cubicBezTo>
                  <a:pt x="92030" y="110020"/>
                  <a:pt x="93665" y="113139"/>
                  <a:pt x="93464" y="116417"/>
                </a:cubicBezTo>
                <a:cubicBezTo>
                  <a:pt x="93665" y="119694"/>
                  <a:pt x="92030" y="122813"/>
                  <a:pt x="89220" y="124513"/>
                </a:cubicBezTo>
                <a:cubicBezTo>
                  <a:pt x="86411" y="126212"/>
                  <a:pt x="82890" y="126212"/>
                  <a:pt x="80080" y="124513"/>
                </a:cubicBezTo>
                <a:cubicBezTo>
                  <a:pt x="77270" y="122813"/>
                  <a:pt x="75635" y="119694"/>
                  <a:pt x="75836" y="116417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58333" y="4629062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延迟问题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5010062"/>
            <a:ext cx="7281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网络传输增加了数据访问延迟，影响实时性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12667" y="4502062"/>
            <a:ext cx="7450667" cy="910167"/>
          </a:xfrm>
          <a:custGeom>
            <a:avLst/>
            <a:gdLst/>
            <a:ahLst/>
            <a:cxnLst/>
            <a:rect l="l" t="t" r="r" b="b"/>
            <a:pathLst>
              <a:path w="7450667" h="910167">
                <a:moveTo>
                  <a:pt x="84664" y="0"/>
                </a:moveTo>
                <a:lnTo>
                  <a:pt x="7366003" y="0"/>
                </a:lnTo>
                <a:cubicBezTo>
                  <a:pt x="7412761" y="0"/>
                  <a:pt x="7450667" y="37905"/>
                  <a:pt x="7450667" y="84664"/>
                </a:cubicBezTo>
                <a:lnTo>
                  <a:pt x="7450667" y="825503"/>
                </a:lnTo>
                <a:cubicBezTo>
                  <a:pt x="7450667" y="872261"/>
                  <a:pt x="7412761" y="910167"/>
                  <a:pt x="7366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360833" y="4692562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84667" y="44979"/>
                </a:moveTo>
                <a:cubicBezTo>
                  <a:pt x="89065" y="44979"/>
                  <a:pt x="92604" y="48518"/>
                  <a:pt x="92604" y="52917"/>
                </a:cubicBezTo>
                <a:lnTo>
                  <a:pt x="92604" y="89958"/>
                </a:lnTo>
                <a:cubicBezTo>
                  <a:pt x="92604" y="94357"/>
                  <a:pt x="89065" y="97896"/>
                  <a:pt x="84667" y="97896"/>
                </a:cubicBezTo>
                <a:cubicBezTo>
                  <a:pt x="80268" y="97896"/>
                  <a:pt x="76729" y="94357"/>
                  <a:pt x="76729" y="89958"/>
                </a:cubicBezTo>
                <a:lnTo>
                  <a:pt x="76729" y="52917"/>
                </a:lnTo>
                <a:cubicBezTo>
                  <a:pt x="76729" y="48518"/>
                  <a:pt x="80268" y="44979"/>
                  <a:pt x="84667" y="44979"/>
                </a:cubicBezTo>
                <a:close/>
                <a:moveTo>
                  <a:pt x="75836" y="116417"/>
                </a:moveTo>
                <a:cubicBezTo>
                  <a:pt x="75635" y="113139"/>
                  <a:pt x="77270" y="110020"/>
                  <a:pt x="80080" y="108321"/>
                </a:cubicBezTo>
                <a:cubicBezTo>
                  <a:pt x="82890" y="106621"/>
                  <a:pt x="86411" y="106621"/>
                  <a:pt x="89220" y="108321"/>
                </a:cubicBezTo>
                <a:cubicBezTo>
                  <a:pt x="92030" y="110020"/>
                  <a:pt x="93665" y="113139"/>
                  <a:pt x="93464" y="116417"/>
                </a:cubicBezTo>
                <a:cubicBezTo>
                  <a:pt x="93665" y="119694"/>
                  <a:pt x="92030" y="122813"/>
                  <a:pt x="89220" y="124513"/>
                </a:cubicBezTo>
                <a:cubicBezTo>
                  <a:pt x="86411" y="126212"/>
                  <a:pt x="82890" y="126212"/>
                  <a:pt x="80080" y="124513"/>
                </a:cubicBezTo>
                <a:cubicBezTo>
                  <a:pt x="77270" y="122813"/>
                  <a:pt x="75635" y="119694"/>
                  <a:pt x="75836" y="116417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36000" y="4629062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扩展困难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39667" y="5010062"/>
            <a:ext cx="7281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增加计算节点无法缓解网络压力，扩展性受限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4500" y="5552112"/>
            <a:ext cx="15388167" cy="3512376"/>
          </a:xfrm>
          <a:custGeom>
            <a:avLst/>
            <a:gdLst/>
            <a:ahLst/>
            <a:cxnLst/>
            <a:rect l="l" t="t" r="r" b="b"/>
            <a:pathLst>
              <a:path w="15388167" h="3894667">
                <a:moveTo>
                  <a:pt x="42333" y="0"/>
                </a:moveTo>
                <a:lnTo>
                  <a:pt x="15303497" y="0"/>
                </a:lnTo>
                <a:cubicBezTo>
                  <a:pt x="15350259" y="0"/>
                  <a:pt x="15388167" y="37908"/>
                  <a:pt x="15388167" y="84670"/>
                </a:cubicBezTo>
                <a:lnTo>
                  <a:pt x="15388167" y="3809997"/>
                </a:lnTo>
                <a:cubicBezTo>
                  <a:pt x="15388167" y="3856759"/>
                  <a:pt x="15350259" y="3894667"/>
                  <a:pt x="15303497" y="3894667"/>
                </a:cubicBezTo>
                <a:lnTo>
                  <a:pt x="42333" y="3894667"/>
                </a:lnTo>
                <a:cubicBezTo>
                  <a:pt x="18953" y="3894667"/>
                  <a:pt x="0" y="3875713"/>
                  <a:pt x="0" y="385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44500" y="5552111"/>
            <a:ext cx="45719" cy="3447041"/>
          </a:xfrm>
          <a:custGeom>
            <a:avLst/>
            <a:gdLst/>
            <a:ahLst/>
            <a:cxnLst/>
            <a:rect l="l" t="t" r="r" b="b"/>
            <a:pathLst>
              <a:path w="42333" h="3894667">
                <a:moveTo>
                  <a:pt x="42333" y="0"/>
                </a:moveTo>
                <a:lnTo>
                  <a:pt x="42333" y="0"/>
                </a:lnTo>
                <a:lnTo>
                  <a:pt x="42333" y="3894667"/>
                </a:lnTo>
                <a:lnTo>
                  <a:pt x="42333" y="3894667"/>
                </a:lnTo>
                <a:cubicBezTo>
                  <a:pt x="18953" y="3894667"/>
                  <a:pt x="0" y="3875713"/>
                  <a:pt x="0" y="385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66750" y="576377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52500" y="5721444"/>
            <a:ext cx="14837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架构：存储与计算融合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000" y="6081095"/>
            <a:ext cx="15113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采用了革命性的"让计算靠近数据"理念，将存储和计算融合在同一节点：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000" y="6390497"/>
            <a:ext cx="15028333" cy="1651000"/>
          </a:xfrm>
          <a:custGeom>
            <a:avLst/>
            <a:gdLst/>
            <a:ahLst/>
            <a:cxnLst/>
            <a:rect l="l" t="t" r="r" b="b"/>
            <a:pathLst>
              <a:path w="15028333" h="1651000">
                <a:moveTo>
                  <a:pt x="84663" y="0"/>
                </a:moveTo>
                <a:lnTo>
                  <a:pt x="14943670" y="0"/>
                </a:lnTo>
                <a:cubicBezTo>
                  <a:pt x="14990428" y="0"/>
                  <a:pt x="15028333" y="37905"/>
                  <a:pt x="15028333" y="84663"/>
                </a:cubicBezTo>
                <a:lnTo>
                  <a:pt x="15028333" y="1566337"/>
                </a:lnTo>
                <a:cubicBezTo>
                  <a:pt x="15028333" y="1613095"/>
                  <a:pt x="14990428" y="1651000"/>
                  <a:pt x="14943670" y="1651000"/>
                </a:cubicBezTo>
                <a:lnTo>
                  <a:pt x="84663" y="1651000"/>
                </a:lnTo>
                <a:cubicBezTo>
                  <a:pt x="37905" y="1651000"/>
                  <a:pt x="0" y="1613095"/>
                  <a:pt x="0" y="1566337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4709583" y="6570413"/>
            <a:ext cx="1502833" cy="994833"/>
          </a:xfrm>
          <a:custGeom>
            <a:avLst/>
            <a:gdLst/>
            <a:ahLst/>
            <a:cxnLst/>
            <a:rect l="l" t="t" r="r" b="b"/>
            <a:pathLst>
              <a:path w="1502833" h="994833">
                <a:moveTo>
                  <a:pt x="127000" y="0"/>
                </a:moveTo>
                <a:lnTo>
                  <a:pt x="1375833" y="0"/>
                </a:lnTo>
                <a:cubicBezTo>
                  <a:pt x="1445973" y="0"/>
                  <a:pt x="1502833" y="56860"/>
                  <a:pt x="1502833" y="127000"/>
                </a:cubicBezTo>
                <a:lnTo>
                  <a:pt x="1502833" y="867833"/>
                </a:lnTo>
                <a:cubicBezTo>
                  <a:pt x="1502833" y="937973"/>
                  <a:pt x="1445973" y="994833"/>
                  <a:pt x="1375833" y="994833"/>
                </a:cubicBezTo>
                <a:lnTo>
                  <a:pt x="127000" y="994833"/>
                </a:lnTo>
                <a:cubicBezTo>
                  <a:pt x="56860" y="994833"/>
                  <a:pt x="0" y="937973"/>
                  <a:pt x="0" y="867833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 w="254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980037" y="6813830"/>
            <a:ext cx="963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 + 计算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27009" y="7110163"/>
            <a:ext cx="46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61958" y="7660497"/>
            <a:ext cx="1598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数据块1 + 任务1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646333" y="68561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201712"/>
                </a:moveTo>
                <a:lnTo>
                  <a:pt x="201712" y="249337"/>
                </a:lnTo>
                <a:cubicBezTo>
                  <a:pt x="197148" y="253901"/>
                  <a:pt x="190351" y="255240"/>
                  <a:pt x="184398" y="252760"/>
                </a:cubicBezTo>
                <a:cubicBezTo>
                  <a:pt x="178445" y="250279"/>
                  <a:pt x="174625" y="244525"/>
                  <a:pt x="174625" y="238125"/>
                </a:cubicBezTo>
                <a:lnTo>
                  <a:pt x="174625" y="206375"/>
                </a:lnTo>
                <a:lnTo>
                  <a:pt x="15875" y="206375"/>
                </a:lnTo>
                <a:cubicBezTo>
                  <a:pt x="7094" y="206375"/>
                  <a:pt x="0" y="199281"/>
                  <a:pt x="0" y="190500"/>
                </a:cubicBezTo>
                <a:cubicBezTo>
                  <a:pt x="0" y="181719"/>
                  <a:pt x="7094" y="174625"/>
                  <a:pt x="15875" y="174625"/>
                </a:cubicBezTo>
                <a:lnTo>
                  <a:pt x="174625" y="174625"/>
                </a:lnTo>
                <a:lnTo>
                  <a:pt x="174625" y="142875"/>
                </a:lnTo>
                <a:cubicBezTo>
                  <a:pt x="174625" y="136475"/>
                  <a:pt x="178495" y="130671"/>
                  <a:pt x="184448" y="128191"/>
                </a:cubicBezTo>
                <a:cubicBezTo>
                  <a:pt x="190401" y="125710"/>
                  <a:pt x="197197" y="127099"/>
                  <a:pt x="201761" y="131614"/>
                </a:cubicBezTo>
                <a:lnTo>
                  <a:pt x="249386" y="179239"/>
                </a:lnTo>
                <a:cubicBezTo>
                  <a:pt x="255588" y="185440"/>
                  <a:pt x="255588" y="195511"/>
                  <a:pt x="249386" y="201712"/>
                </a:cubicBezTo>
                <a:close/>
                <a:moveTo>
                  <a:pt x="4663" y="74712"/>
                </a:moveTo>
                <a:cubicBezTo>
                  <a:pt x="-1538" y="68511"/>
                  <a:pt x="-1538" y="58440"/>
                  <a:pt x="4663" y="52239"/>
                </a:cubicBezTo>
                <a:lnTo>
                  <a:pt x="52288" y="4614"/>
                </a:lnTo>
                <a:cubicBezTo>
                  <a:pt x="56852" y="50"/>
                  <a:pt x="63649" y="-1290"/>
                  <a:pt x="69602" y="1191"/>
                </a:cubicBezTo>
                <a:cubicBezTo>
                  <a:pt x="75555" y="3671"/>
                  <a:pt x="79375" y="9475"/>
                  <a:pt x="79375" y="15875"/>
                </a:cubicBezTo>
                <a:lnTo>
                  <a:pt x="79375" y="47625"/>
                </a:lnTo>
                <a:lnTo>
                  <a:pt x="238125" y="47625"/>
                </a:lnTo>
                <a:cubicBezTo>
                  <a:pt x="246906" y="47625"/>
                  <a:pt x="254000" y="54719"/>
                  <a:pt x="254000" y="63500"/>
                </a:cubicBezTo>
                <a:cubicBezTo>
                  <a:pt x="254000" y="72281"/>
                  <a:pt x="246906" y="79375"/>
                  <a:pt x="238125" y="79375"/>
                </a:cubicBezTo>
                <a:lnTo>
                  <a:pt x="79375" y="79375"/>
                </a:lnTo>
                <a:lnTo>
                  <a:pt x="79375" y="111125"/>
                </a:lnTo>
                <a:cubicBezTo>
                  <a:pt x="79375" y="117525"/>
                  <a:pt x="75505" y="123329"/>
                  <a:pt x="69552" y="125809"/>
                </a:cubicBezTo>
                <a:cubicBezTo>
                  <a:pt x="63599" y="128290"/>
                  <a:pt x="56803" y="126901"/>
                  <a:pt x="52239" y="122386"/>
                </a:cubicBezTo>
                <a:lnTo>
                  <a:pt x="4614" y="74761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477000" y="7152497"/>
            <a:ext cx="666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本地计算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92333" y="7406497"/>
            <a:ext cx="825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最小网络传输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34250" y="6570413"/>
            <a:ext cx="1502833" cy="994833"/>
          </a:xfrm>
          <a:custGeom>
            <a:avLst/>
            <a:gdLst/>
            <a:ahLst/>
            <a:cxnLst/>
            <a:rect l="l" t="t" r="r" b="b"/>
            <a:pathLst>
              <a:path w="1502833" h="994833">
                <a:moveTo>
                  <a:pt x="127000" y="0"/>
                </a:moveTo>
                <a:lnTo>
                  <a:pt x="1375833" y="0"/>
                </a:lnTo>
                <a:cubicBezTo>
                  <a:pt x="1445973" y="0"/>
                  <a:pt x="1502833" y="56860"/>
                  <a:pt x="1502833" y="127000"/>
                </a:cubicBezTo>
                <a:lnTo>
                  <a:pt x="1502833" y="867833"/>
                </a:lnTo>
                <a:cubicBezTo>
                  <a:pt x="1502833" y="937973"/>
                  <a:pt x="1445973" y="994833"/>
                  <a:pt x="1375833" y="994833"/>
                </a:cubicBezTo>
                <a:lnTo>
                  <a:pt x="127000" y="994833"/>
                </a:lnTo>
                <a:cubicBezTo>
                  <a:pt x="56860" y="994833"/>
                  <a:pt x="0" y="937973"/>
                  <a:pt x="0" y="867833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 w="254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7604704" y="6813830"/>
            <a:ext cx="963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 + 计算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851428" y="7110163"/>
            <a:ext cx="46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节点B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86625" y="7660497"/>
            <a:ext cx="1598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数据块2 + 任务2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334500" y="68561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9165167" y="7152497"/>
            <a:ext cx="666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结果汇总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17000" y="7406497"/>
            <a:ext cx="952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仅传输中间结果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085917" y="6570413"/>
            <a:ext cx="1502833" cy="994833"/>
          </a:xfrm>
          <a:custGeom>
            <a:avLst/>
            <a:gdLst/>
            <a:ahLst/>
            <a:cxnLst/>
            <a:rect l="l" t="t" r="r" b="b"/>
            <a:pathLst>
              <a:path w="1502833" h="994833">
                <a:moveTo>
                  <a:pt x="127000" y="0"/>
                </a:moveTo>
                <a:lnTo>
                  <a:pt x="1375833" y="0"/>
                </a:lnTo>
                <a:cubicBezTo>
                  <a:pt x="1445973" y="0"/>
                  <a:pt x="1502833" y="56860"/>
                  <a:pt x="1502833" y="127000"/>
                </a:cubicBezTo>
                <a:lnTo>
                  <a:pt x="1502833" y="867833"/>
                </a:lnTo>
                <a:cubicBezTo>
                  <a:pt x="1502833" y="937973"/>
                  <a:pt x="1445973" y="994833"/>
                  <a:pt x="1375833" y="994833"/>
                </a:cubicBezTo>
                <a:lnTo>
                  <a:pt x="127000" y="994833"/>
                </a:lnTo>
                <a:cubicBezTo>
                  <a:pt x="56860" y="994833"/>
                  <a:pt x="0" y="937973"/>
                  <a:pt x="0" y="867833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 w="254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0356370" y="6813830"/>
            <a:ext cx="963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 + 计算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600449" y="7110163"/>
            <a:ext cx="476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节点C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038292" y="7660497"/>
            <a:ext cx="1598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数据块3 + 任务3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5000" y="8088985"/>
            <a:ext cx="4921250" cy="910167"/>
          </a:xfrm>
          <a:custGeom>
            <a:avLst/>
            <a:gdLst/>
            <a:ahLst/>
            <a:cxnLst/>
            <a:rect l="l" t="t" r="r" b="b"/>
            <a:pathLst>
              <a:path w="4921250" h="910167">
                <a:moveTo>
                  <a:pt x="84664" y="0"/>
                </a:moveTo>
                <a:lnTo>
                  <a:pt x="4836586" y="0"/>
                </a:lnTo>
                <a:cubicBezTo>
                  <a:pt x="4883345" y="0"/>
                  <a:pt x="4921250" y="37905"/>
                  <a:pt x="4921250" y="84664"/>
                </a:cubicBezTo>
                <a:lnTo>
                  <a:pt x="4921250" y="825503"/>
                </a:lnTo>
                <a:cubicBezTo>
                  <a:pt x="4921250" y="872261"/>
                  <a:pt x="4883345" y="910167"/>
                  <a:pt x="4836586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783167" y="8279485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42333" y="105833"/>
                </a:moveTo>
                <a:lnTo>
                  <a:pt x="8103" y="105833"/>
                </a:lnTo>
                <a:cubicBezTo>
                  <a:pt x="-132" y="105833"/>
                  <a:pt x="-5192" y="96871"/>
                  <a:pt x="-959" y="89793"/>
                </a:cubicBezTo>
                <a:lnTo>
                  <a:pt x="16536" y="60623"/>
                </a:lnTo>
                <a:cubicBezTo>
                  <a:pt x="19414" y="55827"/>
                  <a:pt x="24573" y="52917"/>
                  <a:pt x="30163" y="52917"/>
                </a:cubicBezTo>
                <a:lnTo>
                  <a:pt x="61582" y="52917"/>
                </a:lnTo>
                <a:cubicBezTo>
                  <a:pt x="86750" y="10286"/>
                  <a:pt x="124288" y="8136"/>
                  <a:pt x="149390" y="11807"/>
                </a:cubicBezTo>
                <a:cubicBezTo>
                  <a:pt x="153624" y="12435"/>
                  <a:pt x="156931" y="15743"/>
                  <a:pt x="157526" y="19943"/>
                </a:cubicBezTo>
                <a:cubicBezTo>
                  <a:pt x="161197" y="45045"/>
                  <a:pt x="159048" y="82583"/>
                  <a:pt x="116417" y="107752"/>
                </a:cubicBezTo>
                <a:lnTo>
                  <a:pt x="116417" y="139171"/>
                </a:lnTo>
                <a:cubicBezTo>
                  <a:pt x="116417" y="144760"/>
                  <a:pt x="113506" y="149920"/>
                  <a:pt x="108711" y="152797"/>
                </a:cubicBezTo>
                <a:lnTo>
                  <a:pt x="79540" y="170292"/>
                </a:lnTo>
                <a:cubicBezTo>
                  <a:pt x="72496" y="174526"/>
                  <a:pt x="63500" y="169433"/>
                  <a:pt x="63500" y="161230"/>
                </a:cubicBezTo>
                <a:lnTo>
                  <a:pt x="63500" y="127000"/>
                </a:lnTo>
                <a:cubicBezTo>
                  <a:pt x="63500" y="115325"/>
                  <a:pt x="54008" y="105833"/>
                  <a:pt x="42333" y="105833"/>
                </a:cubicBezTo>
                <a:lnTo>
                  <a:pt x="42300" y="105833"/>
                </a:lnTo>
                <a:close/>
                <a:moveTo>
                  <a:pt x="132292" y="52917"/>
                </a:moveTo>
                <a:cubicBezTo>
                  <a:pt x="132292" y="44155"/>
                  <a:pt x="125178" y="37042"/>
                  <a:pt x="116417" y="37042"/>
                </a:cubicBezTo>
                <a:cubicBezTo>
                  <a:pt x="107655" y="37042"/>
                  <a:pt x="100542" y="44155"/>
                  <a:pt x="100542" y="52917"/>
                </a:cubicBezTo>
                <a:cubicBezTo>
                  <a:pt x="100542" y="61678"/>
                  <a:pt x="107655" y="68792"/>
                  <a:pt x="116417" y="68792"/>
                </a:cubicBezTo>
                <a:cubicBezTo>
                  <a:pt x="125178" y="68792"/>
                  <a:pt x="132292" y="61678"/>
                  <a:pt x="132292" y="5291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058333" y="8215985"/>
            <a:ext cx="1428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移动计算更经济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62000" y="8596985"/>
            <a:ext cx="475191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程序代码通常只有几KB到几MB，而数据可能有GB到TB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686723" y="8088985"/>
            <a:ext cx="4921250" cy="910167"/>
          </a:xfrm>
          <a:custGeom>
            <a:avLst/>
            <a:gdLst/>
            <a:ahLst/>
            <a:cxnLst/>
            <a:rect l="l" t="t" r="r" b="b"/>
            <a:pathLst>
              <a:path w="4921250" h="910167">
                <a:moveTo>
                  <a:pt x="84664" y="0"/>
                </a:moveTo>
                <a:lnTo>
                  <a:pt x="4836586" y="0"/>
                </a:lnTo>
                <a:cubicBezTo>
                  <a:pt x="4883345" y="0"/>
                  <a:pt x="4921250" y="37905"/>
                  <a:pt x="4921250" y="84664"/>
                </a:cubicBezTo>
                <a:lnTo>
                  <a:pt x="4921250" y="825503"/>
                </a:lnTo>
                <a:cubicBezTo>
                  <a:pt x="4921250" y="872261"/>
                  <a:pt x="4883345" y="910167"/>
                  <a:pt x="4836586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5834889" y="8279485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0" y="84667"/>
                </a:moveTo>
                <a:cubicBezTo>
                  <a:pt x="0" y="37938"/>
                  <a:pt x="37938" y="0"/>
                  <a:pt x="84667" y="0"/>
                </a:cubicBezTo>
                <a:cubicBezTo>
                  <a:pt x="131395" y="0"/>
                  <a:pt x="169333" y="37938"/>
                  <a:pt x="169333" y="84667"/>
                </a:cubicBezTo>
                <a:cubicBezTo>
                  <a:pt x="169333" y="131395"/>
                  <a:pt x="131395" y="169333"/>
                  <a:pt x="84667" y="169333"/>
                </a:cubicBezTo>
                <a:cubicBezTo>
                  <a:pt x="37938" y="169333"/>
                  <a:pt x="0" y="131395"/>
                  <a:pt x="0" y="84667"/>
                </a:cubicBezTo>
                <a:close/>
                <a:moveTo>
                  <a:pt x="95250" y="31750"/>
                </a:moveTo>
                <a:cubicBezTo>
                  <a:pt x="95250" y="25909"/>
                  <a:pt x="90508" y="21167"/>
                  <a:pt x="84667" y="21167"/>
                </a:cubicBezTo>
                <a:cubicBezTo>
                  <a:pt x="78826" y="21167"/>
                  <a:pt x="74083" y="25909"/>
                  <a:pt x="74083" y="31750"/>
                </a:cubicBezTo>
                <a:cubicBezTo>
                  <a:pt x="74083" y="37591"/>
                  <a:pt x="78826" y="42333"/>
                  <a:pt x="84667" y="42333"/>
                </a:cubicBezTo>
                <a:cubicBezTo>
                  <a:pt x="90508" y="42333"/>
                  <a:pt x="95250" y="37591"/>
                  <a:pt x="95250" y="31750"/>
                </a:cubicBezTo>
                <a:close/>
                <a:moveTo>
                  <a:pt x="84667" y="137583"/>
                </a:moveTo>
                <a:cubicBezTo>
                  <a:pt x="96341" y="137583"/>
                  <a:pt x="105833" y="128091"/>
                  <a:pt x="105833" y="116417"/>
                </a:cubicBezTo>
                <a:cubicBezTo>
                  <a:pt x="105833" y="111059"/>
                  <a:pt x="103849" y="106131"/>
                  <a:pt x="100542" y="102427"/>
                </a:cubicBezTo>
                <a:lnTo>
                  <a:pt x="123527" y="56489"/>
                </a:lnTo>
                <a:cubicBezTo>
                  <a:pt x="125479" y="52553"/>
                  <a:pt x="123891" y="47790"/>
                  <a:pt x="119989" y="45839"/>
                </a:cubicBezTo>
                <a:cubicBezTo>
                  <a:pt x="116086" y="43888"/>
                  <a:pt x="111290" y="45475"/>
                  <a:pt x="109339" y="49378"/>
                </a:cubicBezTo>
                <a:lnTo>
                  <a:pt x="86353" y="95316"/>
                </a:lnTo>
                <a:cubicBezTo>
                  <a:pt x="85791" y="95283"/>
                  <a:pt x="85229" y="95250"/>
                  <a:pt x="84667" y="95250"/>
                </a:cubicBezTo>
                <a:cubicBezTo>
                  <a:pt x="72992" y="95250"/>
                  <a:pt x="63500" y="104742"/>
                  <a:pt x="63500" y="116417"/>
                </a:cubicBezTo>
                <a:cubicBezTo>
                  <a:pt x="63500" y="128091"/>
                  <a:pt x="72992" y="137583"/>
                  <a:pt x="84667" y="137583"/>
                </a:cubicBezTo>
                <a:close/>
                <a:moveTo>
                  <a:pt x="58208" y="47625"/>
                </a:moveTo>
                <a:cubicBezTo>
                  <a:pt x="58208" y="41784"/>
                  <a:pt x="53466" y="37042"/>
                  <a:pt x="47625" y="37042"/>
                </a:cubicBezTo>
                <a:cubicBezTo>
                  <a:pt x="41784" y="37042"/>
                  <a:pt x="37042" y="41784"/>
                  <a:pt x="37042" y="47625"/>
                </a:cubicBezTo>
                <a:cubicBezTo>
                  <a:pt x="37042" y="53466"/>
                  <a:pt x="41784" y="58208"/>
                  <a:pt x="47625" y="58208"/>
                </a:cubicBezTo>
                <a:cubicBezTo>
                  <a:pt x="53466" y="58208"/>
                  <a:pt x="58208" y="53466"/>
                  <a:pt x="58208" y="47625"/>
                </a:cubicBezTo>
                <a:close/>
                <a:moveTo>
                  <a:pt x="31750" y="95250"/>
                </a:moveTo>
                <a:cubicBezTo>
                  <a:pt x="37591" y="95250"/>
                  <a:pt x="42333" y="90508"/>
                  <a:pt x="42333" y="84667"/>
                </a:cubicBezTo>
                <a:cubicBezTo>
                  <a:pt x="42333" y="78826"/>
                  <a:pt x="37591" y="74083"/>
                  <a:pt x="31750" y="74083"/>
                </a:cubicBezTo>
                <a:cubicBezTo>
                  <a:pt x="25909" y="74083"/>
                  <a:pt x="21167" y="78826"/>
                  <a:pt x="21167" y="84667"/>
                </a:cubicBezTo>
                <a:cubicBezTo>
                  <a:pt x="21167" y="90508"/>
                  <a:pt x="25909" y="95250"/>
                  <a:pt x="31750" y="95250"/>
                </a:cubicBezTo>
                <a:close/>
                <a:moveTo>
                  <a:pt x="148167" y="84667"/>
                </a:moveTo>
                <a:cubicBezTo>
                  <a:pt x="148167" y="78826"/>
                  <a:pt x="143424" y="74083"/>
                  <a:pt x="137583" y="74083"/>
                </a:cubicBezTo>
                <a:cubicBezTo>
                  <a:pt x="131742" y="74083"/>
                  <a:pt x="127000" y="78826"/>
                  <a:pt x="127000" y="84667"/>
                </a:cubicBezTo>
                <a:cubicBezTo>
                  <a:pt x="127000" y="90508"/>
                  <a:pt x="131742" y="95250"/>
                  <a:pt x="137583" y="95250"/>
                </a:cubicBezTo>
                <a:cubicBezTo>
                  <a:pt x="143424" y="95250"/>
                  <a:pt x="148167" y="90508"/>
                  <a:pt x="148167" y="8466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6110056" y="8215985"/>
            <a:ext cx="1238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本地访问最快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813723" y="8596985"/>
            <a:ext cx="475191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本地磁盘I/O速度远快于网络传输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738528" y="8088985"/>
            <a:ext cx="4921250" cy="910167"/>
          </a:xfrm>
          <a:custGeom>
            <a:avLst/>
            <a:gdLst/>
            <a:ahLst/>
            <a:cxnLst/>
            <a:rect l="l" t="t" r="r" b="b"/>
            <a:pathLst>
              <a:path w="4921250" h="910167">
                <a:moveTo>
                  <a:pt x="84664" y="0"/>
                </a:moveTo>
                <a:lnTo>
                  <a:pt x="4836586" y="0"/>
                </a:lnTo>
                <a:cubicBezTo>
                  <a:pt x="4883345" y="0"/>
                  <a:pt x="4921250" y="37905"/>
                  <a:pt x="4921250" y="84664"/>
                </a:cubicBezTo>
                <a:lnTo>
                  <a:pt x="4921250" y="825503"/>
                </a:lnTo>
                <a:cubicBezTo>
                  <a:pt x="4921250" y="872261"/>
                  <a:pt x="4883345" y="910167"/>
                  <a:pt x="4836586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10876111" y="8279485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82021" y="29104"/>
                </a:moveTo>
                <a:lnTo>
                  <a:pt x="108479" y="29104"/>
                </a:lnTo>
                <a:lnTo>
                  <a:pt x="108479" y="44979"/>
                </a:lnTo>
                <a:lnTo>
                  <a:pt x="82021" y="44979"/>
                </a:lnTo>
                <a:lnTo>
                  <a:pt x="82021" y="29104"/>
                </a:lnTo>
                <a:close/>
                <a:moveTo>
                  <a:pt x="79375" y="10583"/>
                </a:moveTo>
                <a:cubicBezTo>
                  <a:pt x="70611" y="10583"/>
                  <a:pt x="63500" y="17694"/>
                  <a:pt x="63500" y="26458"/>
                </a:cubicBezTo>
                <a:lnTo>
                  <a:pt x="63500" y="47625"/>
                </a:lnTo>
                <a:cubicBezTo>
                  <a:pt x="63500" y="56389"/>
                  <a:pt x="70611" y="63500"/>
                  <a:pt x="79375" y="63500"/>
                </a:cubicBezTo>
                <a:lnTo>
                  <a:pt x="84667" y="63500"/>
                </a:lnTo>
                <a:lnTo>
                  <a:pt x="84667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42333" y="95250"/>
                </a:lnTo>
                <a:lnTo>
                  <a:pt x="42333" y="105833"/>
                </a:lnTo>
                <a:lnTo>
                  <a:pt x="37042" y="105833"/>
                </a:lnTo>
                <a:cubicBezTo>
                  <a:pt x="28277" y="105833"/>
                  <a:pt x="21167" y="112944"/>
                  <a:pt x="21167" y="121708"/>
                </a:cubicBezTo>
                <a:lnTo>
                  <a:pt x="21167" y="142875"/>
                </a:lnTo>
                <a:cubicBezTo>
                  <a:pt x="21167" y="151639"/>
                  <a:pt x="28277" y="158750"/>
                  <a:pt x="37042" y="158750"/>
                </a:cubicBezTo>
                <a:lnTo>
                  <a:pt x="68792" y="158750"/>
                </a:lnTo>
                <a:cubicBezTo>
                  <a:pt x="77556" y="158750"/>
                  <a:pt x="84667" y="151639"/>
                  <a:pt x="84667" y="142875"/>
                </a:cubicBezTo>
                <a:lnTo>
                  <a:pt x="84667" y="121708"/>
                </a:lnTo>
                <a:cubicBezTo>
                  <a:pt x="84667" y="112944"/>
                  <a:pt x="77556" y="105833"/>
                  <a:pt x="68792" y="105833"/>
                </a:cubicBezTo>
                <a:lnTo>
                  <a:pt x="63500" y="105833"/>
                </a:lnTo>
                <a:lnTo>
                  <a:pt x="63500" y="95250"/>
                </a:lnTo>
                <a:lnTo>
                  <a:pt x="127000" y="95250"/>
                </a:lnTo>
                <a:lnTo>
                  <a:pt x="127000" y="105833"/>
                </a:lnTo>
                <a:lnTo>
                  <a:pt x="121708" y="105833"/>
                </a:lnTo>
                <a:cubicBezTo>
                  <a:pt x="112944" y="105833"/>
                  <a:pt x="105833" y="112944"/>
                  <a:pt x="105833" y="121708"/>
                </a:cubicBezTo>
                <a:lnTo>
                  <a:pt x="105833" y="142875"/>
                </a:lnTo>
                <a:cubicBezTo>
                  <a:pt x="105833" y="151639"/>
                  <a:pt x="112944" y="158750"/>
                  <a:pt x="121708" y="158750"/>
                </a:cubicBezTo>
                <a:lnTo>
                  <a:pt x="153458" y="158750"/>
                </a:lnTo>
                <a:cubicBezTo>
                  <a:pt x="162223" y="158750"/>
                  <a:pt x="169333" y="151639"/>
                  <a:pt x="169333" y="142875"/>
                </a:cubicBezTo>
                <a:lnTo>
                  <a:pt x="169333" y="121708"/>
                </a:lnTo>
                <a:cubicBezTo>
                  <a:pt x="169333" y="112944"/>
                  <a:pt x="162223" y="105833"/>
                  <a:pt x="153458" y="105833"/>
                </a:cubicBezTo>
                <a:lnTo>
                  <a:pt x="148167" y="105833"/>
                </a:lnTo>
                <a:lnTo>
                  <a:pt x="148167" y="95250"/>
                </a:lnTo>
                <a:lnTo>
                  <a:pt x="179917" y="95250"/>
                </a:lnTo>
                <a:cubicBezTo>
                  <a:pt x="185771" y="95250"/>
                  <a:pt x="190500" y="90521"/>
                  <a:pt x="190500" y="84667"/>
                </a:cubicBezTo>
                <a:cubicBezTo>
                  <a:pt x="190500" y="78813"/>
                  <a:pt x="185771" y="74083"/>
                  <a:pt x="179917" y="74083"/>
                </a:cubicBezTo>
                <a:lnTo>
                  <a:pt x="105833" y="74083"/>
                </a:lnTo>
                <a:lnTo>
                  <a:pt x="105833" y="63500"/>
                </a:lnTo>
                <a:lnTo>
                  <a:pt x="111125" y="63500"/>
                </a:lnTo>
                <a:cubicBezTo>
                  <a:pt x="119889" y="63500"/>
                  <a:pt x="127000" y="56389"/>
                  <a:pt x="127000" y="47625"/>
                </a:cubicBezTo>
                <a:lnTo>
                  <a:pt x="127000" y="26458"/>
                </a:lnTo>
                <a:cubicBezTo>
                  <a:pt x="127000" y="17694"/>
                  <a:pt x="119889" y="10583"/>
                  <a:pt x="111125" y="10583"/>
                </a:cubicBezTo>
                <a:lnTo>
                  <a:pt x="79375" y="10583"/>
                </a:lnTo>
                <a:close/>
                <a:moveTo>
                  <a:pt x="148167" y="124354"/>
                </a:moveTo>
                <a:lnTo>
                  <a:pt x="150813" y="124354"/>
                </a:lnTo>
                <a:lnTo>
                  <a:pt x="150813" y="140229"/>
                </a:lnTo>
                <a:lnTo>
                  <a:pt x="124354" y="140229"/>
                </a:lnTo>
                <a:lnTo>
                  <a:pt x="124354" y="124354"/>
                </a:lnTo>
                <a:lnTo>
                  <a:pt x="148167" y="124354"/>
                </a:lnTo>
                <a:close/>
                <a:moveTo>
                  <a:pt x="63500" y="124354"/>
                </a:moveTo>
                <a:lnTo>
                  <a:pt x="66146" y="124354"/>
                </a:lnTo>
                <a:lnTo>
                  <a:pt x="66146" y="140229"/>
                </a:lnTo>
                <a:lnTo>
                  <a:pt x="39688" y="140229"/>
                </a:lnTo>
                <a:lnTo>
                  <a:pt x="39688" y="124354"/>
                </a:lnTo>
                <a:lnTo>
                  <a:pt x="63500" y="124354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11161861" y="8215985"/>
            <a:ext cx="1428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网络是稀缺资源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865528" y="8596985"/>
            <a:ext cx="475191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应该尽可能减少网络使用，优化整体性能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83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kern="0" spc="11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 · Performance Advantage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19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数据本地性：MapReduce 的性能优势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1123859"/>
            <a:ext cx="7577667" cy="4190999"/>
          </a:xfrm>
          <a:custGeom>
            <a:avLst/>
            <a:gdLst/>
            <a:ahLst/>
            <a:cxnLst/>
            <a:rect l="l" t="t" r="r" b="b"/>
            <a:pathLst>
              <a:path w="7577667" h="4402667">
                <a:moveTo>
                  <a:pt x="42333" y="0"/>
                </a:moveTo>
                <a:lnTo>
                  <a:pt x="7493003" y="0"/>
                </a:lnTo>
                <a:cubicBezTo>
                  <a:pt x="7539762" y="0"/>
                  <a:pt x="7577667" y="37905"/>
                  <a:pt x="7577667" y="84663"/>
                </a:cubicBezTo>
                <a:lnTo>
                  <a:pt x="7577667" y="4318003"/>
                </a:lnTo>
                <a:cubicBezTo>
                  <a:pt x="7577667" y="4364762"/>
                  <a:pt x="7539762" y="4402667"/>
                  <a:pt x="7493003" y="4402667"/>
                </a:cubicBezTo>
                <a:lnTo>
                  <a:pt x="42333" y="4402667"/>
                </a:lnTo>
                <a:cubicBezTo>
                  <a:pt x="18953" y="4402667"/>
                  <a:pt x="0" y="4383713"/>
                  <a:pt x="0" y="4360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1123859"/>
            <a:ext cx="45719" cy="4190999"/>
          </a:xfrm>
          <a:custGeom>
            <a:avLst/>
            <a:gdLst/>
            <a:ahLst/>
            <a:cxnLst/>
            <a:rect l="l" t="t" r="r" b="b"/>
            <a:pathLst>
              <a:path w="42333" h="4402667">
                <a:moveTo>
                  <a:pt x="42333" y="0"/>
                </a:moveTo>
                <a:lnTo>
                  <a:pt x="42333" y="0"/>
                </a:lnTo>
                <a:lnTo>
                  <a:pt x="42333" y="4402667"/>
                </a:lnTo>
                <a:lnTo>
                  <a:pt x="42333" y="4402667"/>
                </a:lnTo>
                <a:cubicBezTo>
                  <a:pt x="18953" y="4402667"/>
                  <a:pt x="0" y="4383713"/>
                  <a:pt x="0" y="4360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7917" y="1335525"/>
            <a:ext cx="158750" cy="211667"/>
          </a:xfrm>
          <a:custGeom>
            <a:avLst/>
            <a:gdLst/>
            <a:ahLst/>
            <a:cxnLst/>
            <a:rect l="l" t="t" r="r" b="b"/>
            <a:pathLst>
              <a:path w="158750" h="211667">
                <a:moveTo>
                  <a:pt x="121088" y="158750"/>
                </a:moveTo>
                <a:cubicBezTo>
                  <a:pt x="124106" y="149531"/>
                  <a:pt x="130142" y="141180"/>
                  <a:pt x="136963" y="133987"/>
                </a:cubicBezTo>
                <a:cubicBezTo>
                  <a:pt x="150482" y="119765"/>
                  <a:pt x="158750" y="100542"/>
                  <a:pt x="158750" y="79375"/>
                </a:cubicBezTo>
                <a:cubicBezTo>
                  <a:pt x="158750" y="35553"/>
                  <a:pt x="123197" y="0"/>
                  <a:pt x="79375" y="0"/>
                </a:cubicBezTo>
                <a:cubicBezTo>
                  <a:pt x="35553" y="0"/>
                  <a:pt x="0" y="35553"/>
                  <a:pt x="0" y="79375"/>
                </a:cubicBezTo>
                <a:cubicBezTo>
                  <a:pt x="0" y="100542"/>
                  <a:pt x="8268" y="119765"/>
                  <a:pt x="21787" y="133987"/>
                </a:cubicBezTo>
                <a:cubicBezTo>
                  <a:pt x="28608" y="141180"/>
                  <a:pt x="34685" y="149531"/>
                  <a:pt x="37662" y="158750"/>
                </a:cubicBezTo>
                <a:lnTo>
                  <a:pt x="121047" y="158750"/>
                </a:lnTo>
                <a:close/>
                <a:moveTo>
                  <a:pt x="119063" y="178594"/>
                </a:moveTo>
                <a:lnTo>
                  <a:pt x="39688" y="178594"/>
                </a:lnTo>
                <a:lnTo>
                  <a:pt x="39688" y="185208"/>
                </a:lnTo>
                <a:cubicBezTo>
                  <a:pt x="39688" y="203481"/>
                  <a:pt x="54488" y="218281"/>
                  <a:pt x="72760" y="218281"/>
                </a:cubicBezTo>
                <a:lnTo>
                  <a:pt x="85990" y="218281"/>
                </a:lnTo>
                <a:cubicBezTo>
                  <a:pt x="104262" y="218281"/>
                  <a:pt x="119063" y="203481"/>
                  <a:pt x="119063" y="185208"/>
                </a:cubicBezTo>
                <a:lnTo>
                  <a:pt x="119063" y="178594"/>
                </a:lnTo>
                <a:close/>
                <a:moveTo>
                  <a:pt x="76068" y="46302"/>
                </a:moveTo>
                <a:cubicBezTo>
                  <a:pt x="59614" y="46302"/>
                  <a:pt x="46302" y="59614"/>
                  <a:pt x="46302" y="76068"/>
                </a:cubicBezTo>
                <a:cubicBezTo>
                  <a:pt x="46302" y="81566"/>
                  <a:pt x="41879" y="85990"/>
                  <a:pt x="36380" y="85990"/>
                </a:cubicBezTo>
                <a:cubicBezTo>
                  <a:pt x="30882" y="85990"/>
                  <a:pt x="26458" y="81566"/>
                  <a:pt x="26458" y="76068"/>
                </a:cubicBezTo>
                <a:cubicBezTo>
                  <a:pt x="26458" y="48659"/>
                  <a:pt x="48659" y="26458"/>
                  <a:pt x="76068" y="26458"/>
                </a:cubicBezTo>
                <a:cubicBezTo>
                  <a:pt x="81566" y="26458"/>
                  <a:pt x="85990" y="30882"/>
                  <a:pt x="85990" y="36380"/>
                </a:cubicBezTo>
                <a:cubicBezTo>
                  <a:pt x="85990" y="41879"/>
                  <a:pt x="81566" y="46302"/>
                  <a:pt x="76068" y="46302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99583" y="1293192"/>
            <a:ext cx="7059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核心思想：让计算靠近数据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999" y="1716525"/>
            <a:ext cx="7387167" cy="402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数据本地性是MapReduce性能优化的核心原理，它通过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"让计算靠近数据"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来最小化网络传输开销。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000" y="2142071"/>
            <a:ext cx="7217833" cy="1418167"/>
          </a:xfrm>
          <a:custGeom>
            <a:avLst/>
            <a:gdLst/>
            <a:ahLst/>
            <a:cxnLst/>
            <a:rect l="l" t="t" r="r" b="b"/>
            <a:pathLst>
              <a:path w="7217833" h="1418167">
                <a:moveTo>
                  <a:pt x="84665" y="0"/>
                </a:moveTo>
                <a:lnTo>
                  <a:pt x="7133169" y="0"/>
                </a:lnTo>
                <a:cubicBezTo>
                  <a:pt x="7179928" y="0"/>
                  <a:pt x="7217833" y="37906"/>
                  <a:pt x="7217833" y="84665"/>
                </a:cubicBezTo>
                <a:lnTo>
                  <a:pt x="7217833" y="1333502"/>
                </a:lnTo>
                <a:cubicBezTo>
                  <a:pt x="7217833" y="1380261"/>
                  <a:pt x="7179928" y="1418167"/>
                  <a:pt x="7133169" y="1418167"/>
                </a:cubicBezTo>
                <a:lnTo>
                  <a:pt x="84665" y="1418167"/>
                </a:lnTo>
                <a:cubicBezTo>
                  <a:pt x="37937" y="1418167"/>
                  <a:pt x="0" y="1380230"/>
                  <a:pt x="0" y="1333502"/>
                </a:cubicBezTo>
                <a:lnTo>
                  <a:pt x="0" y="84665"/>
                </a:lnTo>
                <a:cubicBezTo>
                  <a:pt x="0" y="37906"/>
                  <a:pt x="37906" y="0"/>
                  <a:pt x="8466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62000" y="2269071"/>
            <a:ext cx="7059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传统计算模式的问题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2650071"/>
            <a:ext cx="70485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1TB数据通过网络传输到计算节点：千兆网络约需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2.8小时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009904"/>
            <a:ext cx="6963833" cy="423333"/>
          </a:xfrm>
          <a:custGeom>
            <a:avLst/>
            <a:gdLst/>
            <a:ahLst/>
            <a:cxnLst/>
            <a:rect l="l" t="t" r="r" b="b"/>
            <a:pathLst>
              <a:path w="6963833" h="423333">
                <a:moveTo>
                  <a:pt x="42333" y="0"/>
                </a:moveTo>
                <a:lnTo>
                  <a:pt x="6921500" y="0"/>
                </a:lnTo>
                <a:cubicBezTo>
                  <a:pt x="6944880" y="0"/>
                  <a:pt x="6963833" y="18953"/>
                  <a:pt x="6963833" y="42333"/>
                </a:cubicBezTo>
                <a:lnTo>
                  <a:pt x="6963833" y="381000"/>
                </a:lnTo>
                <a:cubicBezTo>
                  <a:pt x="6963833" y="404380"/>
                  <a:pt x="6944880" y="423333"/>
                  <a:pt x="6921500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67833" y="3136904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89528" y="0"/>
                  <a:pt x="93993" y="2679"/>
                  <a:pt x="96308" y="6945"/>
                </a:cubicBezTo>
                <a:lnTo>
                  <a:pt x="167746" y="139237"/>
                </a:lnTo>
                <a:cubicBezTo>
                  <a:pt x="169962" y="143338"/>
                  <a:pt x="169863" y="148299"/>
                  <a:pt x="167481" y="152301"/>
                </a:cubicBezTo>
                <a:cubicBezTo>
                  <a:pt x="165100" y="156303"/>
                  <a:pt x="160767" y="158750"/>
                  <a:pt x="156104" y="158750"/>
                </a:cubicBezTo>
                <a:lnTo>
                  <a:pt x="13229" y="158750"/>
                </a:lnTo>
                <a:cubicBezTo>
                  <a:pt x="8566" y="158750"/>
                  <a:pt x="4266" y="156303"/>
                  <a:pt x="1852" y="152301"/>
                </a:cubicBezTo>
                <a:cubicBezTo>
                  <a:pt x="-562" y="148299"/>
                  <a:pt x="-628" y="143338"/>
                  <a:pt x="1588" y="139237"/>
                </a:cubicBezTo>
                <a:lnTo>
                  <a:pt x="73025" y="6945"/>
                </a:lnTo>
                <a:cubicBezTo>
                  <a:pt x="75340" y="2679"/>
                  <a:pt x="79805" y="0"/>
                  <a:pt x="84667" y="0"/>
                </a:cubicBezTo>
                <a:close/>
                <a:moveTo>
                  <a:pt x="84667" y="55563"/>
                </a:moveTo>
                <a:cubicBezTo>
                  <a:pt x="80268" y="55563"/>
                  <a:pt x="76729" y="59101"/>
                  <a:pt x="76729" y="63500"/>
                </a:cubicBezTo>
                <a:lnTo>
                  <a:pt x="76729" y="100542"/>
                </a:lnTo>
                <a:cubicBezTo>
                  <a:pt x="76729" y="104940"/>
                  <a:pt x="80268" y="108479"/>
                  <a:pt x="84667" y="108479"/>
                </a:cubicBezTo>
                <a:cubicBezTo>
                  <a:pt x="89065" y="108479"/>
                  <a:pt x="92604" y="104940"/>
                  <a:pt x="92604" y="100542"/>
                </a:cubicBezTo>
                <a:lnTo>
                  <a:pt x="92604" y="63500"/>
                </a:lnTo>
                <a:cubicBezTo>
                  <a:pt x="92604" y="59101"/>
                  <a:pt x="89065" y="55563"/>
                  <a:pt x="84667" y="55563"/>
                </a:cubicBezTo>
                <a:close/>
                <a:moveTo>
                  <a:pt x="93497" y="127000"/>
                </a:moveTo>
                <a:cubicBezTo>
                  <a:pt x="93698" y="123722"/>
                  <a:pt x="92063" y="120604"/>
                  <a:pt x="89254" y="118904"/>
                </a:cubicBezTo>
                <a:cubicBezTo>
                  <a:pt x="86444" y="117204"/>
                  <a:pt x="82923" y="117204"/>
                  <a:pt x="80113" y="118904"/>
                </a:cubicBezTo>
                <a:cubicBezTo>
                  <a:pt x="77303" y="120604"/>
                  <a:pt x="75668" y="123722"/>
                  <a:pt x="75869" y="127000"/>
                </a:cubicBezTo>
                <a:cubicBezTo>
                  <a:pt x="75668" y="130278"/>
                  <a:pt x="77303" y="133396"/>
                  <a:pt x="80113" y="135096"/>
                </a:cubicBezTo>
                <a:cubicBezTo>
                  <a:pt x="82923" y="136796"/>
                  <a:pt x="86444" y="136796"/>
                  <a:pt x="89254" y="135096"/>
                </a:cubicBezTo>
                <a:cubicBezTo>
                  <a:pt x="92063" y="133396"/>
                  <a:pt x="93698" y="130278"/>
                  <a:pt x="93497" y="12700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3094571"/>
            <a:ext cx="2624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网络成为系统瓶颈，资源浪费严重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000" y="3687237"/>
            <a:ext cx="7217833" cy="1418167"/>
          </a:xfrm>
          <a:custGeom>
            <a:avLst/>
            <a:gdLst/>
            <a:ahLst/>
            <a:cxnLst/>
            <a:rect l="l" t="t" r="r" b="b"/>
            <a:pathLst>
              <a:path w="7217833" h="1418167">
                <a:moveTo>
                  <a:pt x="84665" y="0"/>
                </a:moveTo>
                <a:lnTo>
                  <a:pt x="7133169" y="0"/>
                </a:lnTo>
                <a:cubicBezTo>
                  <a:pt x="7179928" y="0"/>
                  <a:pt x="7217833" y="37906"/>
                  <a:pt x="7217833" y="84665"/>
                </a:cubicBezTo>
                <a:lnTo>
                  <a:pt x="7217833" y="1333502"/>
                </a:lnTo>
                <a:cubicBezTo>
                  <a:pt x="7217833" y="1380261"/>
                  <a:pt x="7179928" y="1418167"/>
                  <a:pt x="7133169" y="1418167"/>
                </a:cubicBezTo>
                <a:lnTo>
                  <a:pt x="84665" y="1418167"/>
                </a:lnTo>
                <a:cubicBezTo>
                  <a:pt x="37937" y="1418167"/>
                  <a:pt x="0" y="1380230"/>
                  <a:pt x="0" y="1333502"/>
                </a:cubicBezTo>
                <a:lnTo>
                  <a:pt x="0" y="84665"/>
                </a:lnTo>
                <a:cubicBezTo>
                  <a:pt x="0" y="37906"/>
                  <a:pt x="37906" y="0"/>
                  <a:pt x="8466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62000" y="3814237"/>
            <a:ext cx="7059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MapReduce的数据本地性策略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195237"/>
            <a:ext cx="70485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将计算任务调度到数据所在节点执行，仅传输</a:t>
            </a:r>
            <a:r>
              <a:rPr lang="en-US" sz="1333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5%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的中间结果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555071"/>
            <a:ext cx="6963833" cy="423333"/>
          </a:xfrm>
          <a:custGeom>
            <a:avLst/>
            <a:gdLst/>
            <a:ahLst/>
            <a:cxnLst/>
            <a:rect l="l" t="t" r="r" b="b"/>
            <a:pathLst>
              <a:path w="6963833" h="423333">
                <a:moveTo>
                  <a:pt x="42333" y="0"/>
                </a:moveTo>
                <a:lnTo>
                  <a:pt x="6921500" y="0"/>
                </a:lnTo>
                <a:cubicBezTo>
                  <a:pt x="6944880" y="0"/>
                  <a:pt x="6963833" y="18953"/>
                  <a:pt x="6963833" y="42333"/>
                </a:cubicBezTo>
                <a:lnTo>
                  <a:pt x="6963833" y="381000"/>
                </a:lnTo>
                <a:cubicBezTo>
                  <a:pt x="6963833" y="404380"/>
                  <a:pt x="6944880" y="423333"/>
                  <a:pt x="6921500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67833" y="4682071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112580" y="70346"/>
                </a:moveTo>
                <a:lnTo>
                  <a:pt x="86122" y="112679"/>
                </a:lnTo>
                <a:cubicBezTo>
                  <a:pt x="84733" y="114895"/>
                  <a:pt x="82352" y="116284"/>
                  <a:pt x="79739" y="116417"/>
                </a:cubicBezTo>
                <a:cubicBezTo>
                  <a:pt x="77126" y="116549"/>
                  <a:pt x="74612" y="115358"/>
                  <a:pt x="73058" y="113242"/>
                </a:cubicBezTo>
                <a:lnTo>
                  <a:pt x="57183" y="92075"/>
                </a:lnTo>
                <a:cubicBezTo>
                  <a:pt x="54537" y="88569"/>
                  <a:pt x="55265" y="83608"/>
                  <a:pt x="58771" y="80963"/>
                </a:cubicBezTo>
                <a:cubicBezTo>
                  <a:pt x="62276" y="78317"/>
                  <a:pt x="67237" y="79044"/>
                  <a:pt x="69883" y="82550"/>
                </a:cubicBezTo>
                <a:lnTo>
                  <a:pt x="78813" y="94456"/>
                </a:lnTo>
                <a:lnTo>
                  <a:pt x="99120" y="61946"/>
                </a:lnTo>
                <a:cubicBezTo>
                  <a:pt x="101435" y="58241"/>
                  <a:pt x="106329" y="57084"/>
                  <a:pt x="110067" y="59432"/>
                </a:cubicBezTo>
                <a:cubicBezTo>
                  <a:pt x="113804" y="61780"/>
                  <a:pt x="114928" y="66642"/>
                  <a:pt x="112580" y="7037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43000" y="4639737"/>
            <a:ext cx="219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本地磁盘I/O远快于网络传输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55000" y="1123859"/>
            <a:ext cx="7577667" cy="4190999"/>
          </a:xfrm>
          <a:custGeom>
            <a:avLst/>
            <a:gdLst/>
            <a:ahLst/>
            <a:cxnLst/>
            <a:rect l="l" t="t" r="r" b="b"/>
            <a:pathLst>
              <a:path w="7577667" h="4402667">
                <a:moveTo>
                  <a:pt x="42333" y="0"/>
                </a:moveTo>
                <a:lnTo>
                  <a:pt x="7493003" y="0"/>
                </a:lnTo>
                <a:cubicBezTo>
                  <a:pt x="7539762" y="0"/>
                  <a:pt x="7577667" y="37905"/>
                  <a:pt x="7577667" y="84663"/>
                </a:cubicBezTo>
                <a:lnTo>
                  <a:pt x="7577667" y="4318003"/>
                </a:lnTo>
                <a:cubicBezTo>
                  <a:pt x="7577667" y="4364762"/>
                  <a:pt x="7539762" y="4402667"/>
                  <a:pt x="7493003" y="4402667"/>
                </a:cubicBezTo>
                <a:lnTo>
                  <a:pt x="42333" y="4402667"/>
                </a:lnTo>
                <a:cubicBezTo>
                  <a:pt x="18953" y="4402667"/>
                  <a:pt x="0" y="4383713"/>
                  <a:pt x="0" y="4360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255000" y="1123859"/>
            <a:ext cx="45719" cy="4190999"/>
          </a:xfrm>
          <a:custGeom>
            <a:avLst/>
            <a:gdLst/>
            <a:ahLst/>
            <a:cxnLst/>
            <a:rect l="l" t="t" r="r" b="b"/>
            <a:pathLst>
              <a:path w="42333" h="4402667">
                <a:moveTo>
                  <a:pt x="42333" y="0"/>
                </a:moveTo>
                <a:lnTo>
                  <a:pt x="42333" y="0"/>
                </a:lnTo>
                <a:lnTo>
                  <a:pt x="42333" y="4402667"/>
                </a:lnTo>
                <a:lnTo>
                  <a:pt x="42333" y="4402667"/>
                </a:lnTo>
                <a:cubicBezTo>
                  <a:pt x="18953" y="4402667"/>
                  <a:pt x="0" y="4383713"/>
                  <a:pt x="0" y="4360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471958" y="1335525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96118" y="2150"/>
                </a:moveTo>
                <a:cubicBezTo>
                  <a:pt x="102278" y="-703"/>
                  <a:pt x="109389" y="-703"/>
                  <a:pt x="115549" y="2150"/>
                </a:cubicBezTo>
                <a:lnTo>
                  <a:pt x="205920" y="43904"/>
                </a:lnTo>
                <a:cubicBezTo>
                  <a:pt x="209434" y="45517"/>
                  <a:pt x="211667" y="49031"/>
                  <a:pt x="211667" y="52917"/>
                </a:cubicBezTo>
                <a:cubicBezTo>
                  <a:pt x="211667" y="56803"/>
                  <a:pt x="209434" y="60317"/>
                  <a:pt x="205920" y="61929"/>
                </a:cubicBezTo>
                <a:lnTo>
                  <a:pt x="115549" y="103684"/>
                </a:lnTo>
                <a:cubicBezTo>
                  <a:pt x="109389" y="106536"/>
                  <a:pt x="102278" y="106536"/>
                  <a:pt x="96118" y="103684"/>
                </a:cubicBezTo>
                <a:lnTo>
                  <a:pt x="5746" y="61929"/>
                </a:lnTo>
                <a:cubicBezTo>
                  <a:pt x="2232" y="60275"/>
                  <a:pt x="0" y="56761"/>
                  <a:pt x="0" y="52917"/>
                </a:cubicBezTo>
                <a:cubicBezTo>
                  <a:pt x="0" y="49072"/>
                  <a:pt x="2232" y="45517"/>
                  <a:pt x="5746" y="43904"/>
                </a:cubicBezTo>
                <a:lnTo>
                  <a:pt x="96118" y="2150"/>
                </a:lnTo>
                <a:close/>
                <a:moveTo>
                  <a:pt x="19885" y="90289"/>
                </a:moveTo>
                <a:lnTo>
                  <a:pt x="87809" y="121667"/>
                </a:lnTo>
                <a:cubicBezTo>
                  <a:pt x="99260" y="126959"/>
                  <a:pt x="112448" y="126959"/>
                  <a:pt x="123899" y="121667"/>
                </a:cubicBezTo>
                <a:lnTo>
                  <a:pt x="191823" y="90289"/>
                </a:lnTo>
                <a:lnTo>
                  <a:pt x="205920" y="96821"/>
                </a:lnTo>
                <a:cubicBezTo>
                  <a:pt x="209434" y="98433"/>
                  <a:pt x="211667" y="101947"/>
                  <a:pt x="211667" y="105833"/>
                </a:cubicBezTo>
                <a:cubicBezTo>
                  <a:pt x="211667" y="109719"/>
                  <a:pt x="209434" y="113233"/>
                  <a:pt x="205920" y="114846"/>
                </a:cubicBezTo>
                <a:lnTo>
                  <a:pt x="115549" y="156600"/>
                </a:lnTo>
                <a:cubicBezTo>
                  <a:pt x="109389" y="159453"/>
                  <a:pt x="102278" y="159453"/>
                  <a:pt x="96118" y="156600"/>
                </a:cubicBezTo>
                <a:lnTo>
                  <a:pt x="5746" y="114846"/>
                </a:lnTo>
                <a:cubicBezTo>
                  <a:pt x="2232" y="113192"/>
                  <a:pt x="0" y="109678"/>
                  <a:pt x="0" y="105833"/>
                </a:cubicBezTo>
                <a:cubicBezTo>
                  <a:pt x="0" y="101989"/>
                  <a:pt x="2232" y="98433"/>
                  <a:pt x="5746" y="96821"/>
                </a:cubicBezTo>
                <a:lnTo>
                  <a:pt x="19844" y="90289"/>
                </a:lnTo>
                <a:close/>
                <a:moveTo>
                  <a:pt x="5746" y="149738"/>
                </a:moveTo>
                <a:lnTo>
                  <a:pt x="19844" y="143206"/>
                </a:lnTo>
                <a:lnTo>
                  <a:pt x="87767" y="174584"/>
                </a:lnTo>
                <a:cubicBezTo>
                  <a:pt x="99219" y="179875"/>
                  <a:pt x="112407" y="179875"/>
                  <a:pt x="123858" y="174584"/>
                </a:cubicBezTo>
                <a:lnTo>
                  <a:pt x="191782" y="143206"/>
                </a:lnTo>
                <a:lnTo>
                  <a:pt x="205879" y="149738"/>
                </a:lnTo>
                <a:cubicBezTo>
                  <a:pt x="209393" y="151350"/>
                  <a:pt x="211625" y="154864"/>
                  <a:pt x="211625" y="158750"/>
                </a:cubicBezTo>
                <a:cubicBezTo>
                  <a:pt x="211625" y="162636"/>
                  <a:pt x="209393" y="166150"/>
                  <a:pt x="205879" y="167762"/>
                </a:cubicBezTo>
                <a:lnTo>
                  <a:pt x="115507" y="209517"/>
                </a:lnTo>
                <a:cubicBezTo>
                  <a:pt x="109347" y="212369"/>
                  <a:pt x="102237" y="212369"/>
                  <a:pt x="96077" y="209517"/>
                </a:cubicBezTo>
                <a:lnTo>
                  <a:pt x="5746" y="167762"/>
                </a:lnTo>
                <a:cubicBezTo>
                  <a:pt x="2232" y="166109"/>
                  <a:pt x="0" y="162595"/>
                  <a:pt x="0" y="158750"/>
                </a:cubicBezTo>
                <a:cubicBezTo>
                  <a:pt x="0" y="154905"/>
                  <a:pt x="2232" y="151350"/>
                  <a:pt x="5746" y="149738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710083" y="1293192"/>
            <a:ext cx="7059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数据本地性的三个层次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66667" y="1716525"/>
            <a:ext cx="7196667" cy="1121833"/>
          </a:xfrm>
          <a:custGeom>
            <a:avLst/>
            <a:gdLst/>
            <a:ahLst/>
            <a:cxnLst/>
            <a:rect l="l" t="t" r="r" b="b"/>
            <a:pathLst>
              <a:path w="7196667" h="1121833">
                <a:moveTo>
                  <a:pt x="42333" y="0"/>
                </a:moveTo>
                <a:lnTo>
                  <a:pt x="7112002" y="0"/>
                </a:lnTo>
                <a:cubicBezTo>
                  <a:pt x="7158761" y="0"/>
                  <a:pt x="7196667" y="37906"/>
                  <a:pt x="7196667" y="84665"/>
                </a:cubicBezTo>
                <a:lnTo>
                  <a:pt x="7196667" y="1037169"/>
                </a:lnTo>
                <a:cubicBezTo>
                  <a:pt x="7196667" y="1083928"/>
                  <a:pt x="7158761" y="1121833"/>
                  <a:pt x="7112002" y="1121833"/>
                </a:cubicBezTo>
                <a:lnTo>
                  <a:pt x="42333" y="1121833"/>
                </a:lnTo>
                <a:cubicBezTo>
                  <a:pt x="18953" y="1121833"/>
                  <a:pt x="0" y="1102880"/>
                  <a:pt x="0" y="1079500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466667" y="1716525"/>
            <a:ext cx="42333" cy="1121833"/>
          </a:xfrm>
          <a:custGeom>
            <a:avLst/>
            <a:gdLst/>
            <a:ahLst/>
            <a:cxnLst/>
            <a:rect l="l" t="t" r="r" b="b"/>
            <a:pathLst>
              <a:path w="42333" h="1121833">
                <a:moveTo>
                  <a:pt x="42333" y="0"/>
                </a:moveTo>
                <a:lnTo>
                  <a:pt x="42333" y="0"/>
                </a:lnTo>
                <a:lnTo>
                  <a:pt x="42333" y="1121833"/>
                </a:lnTo>
                <a:lnTo>
                  <a:pt x="42333" y="1121833"/>
                </a:lnTo>
                <a:cubicBezTo>
                  <a:pt x="18953" y="1121833"/>
                  <a:pt x="0" y="1102880"/>
                  <a:pt x="0" y="1079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614833" y="1843525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752417" y="1970525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21167" y="10583"/>
                </a:moveTo>
                <a:cubicBezTo>
                  <a:pt x="9492" y="10583"/>
                  <a:pt x="0" y="20075"/>
                  <a:pt x="0" y="31750"/>
                </a:cubicBezTo>
                <a:lnTo>
                  <a:pt x="0" y="52917"/>
                </a:lnTo>
                <a:cubicBezTo>
                  <a:pt x="0" y="64591"/>
                  <a:pt x="9492" y="74083"/>
                  <a:pt x="21167" y="74083"/>
                </a:cubicBezTo>
                <a:lnTo>
                  <a:pt x="127000" y="74083"/>
                </a:lnTo>
                <a:cubicBezTo>
                  <a:pt x="138675" y="74083"/>
                  <a:pt x="148167" y="64591"/>
                  <a:pt x="148167" y="52917"/>
                </a:cubicBezTo>
                <a:lnTo>
                  <a:pt x="148167" y="31750"/>
                </a:lnTo>
                <a:cubicBezTo>
                  <a:pt x="148167" y="20075"/>
                  <a:pt x="138675" y="10583"/>
                  <a:pt x="127000" y="10583"/>
                </a:cubicBezTo>
                <a:lnTo>
                  <a:pt x="21167" y="10583"/>
                </a:lnTo>
                <a:close/>
                <a:moveTo>
                  <a:pt x="92604" y="34396"/>
                </a:moveTo>
                <a:cubicBezTo>
                  <a:pt x="96985" y="34396"/>
                  <a:pt x="100542" y="37953"/>
                  <a:pt x="100542" y="42333"/>
                </a:cubicBezTo>
                <a:cubicBezTo>
                  <a:pt x="100542" y="46714"/>
                  <a:pt x="96985" y="50271"/>
                  <a:pt x="92604" y="50271"/>
                </a:cubicBezTo>
                <a:cubicBezTo>
                  <a:pt x="88223" y="50271"/>
                  <a:pt x="84667" y="46714"/>
                  <a:pt x="84667" y="42333"/>
                </a:cubicBezTo>
                <a:cubicBezTo>
                  <a:pt x="84667" y="37953"/>
                  <a:pt x="88223" y="34396"/>
                  <a:pt x="92604" y="34396"/>
                </a:cubicBezTo>
                <a:close/>
                <a:moveTo>
                  <a:pt x="111125" y="42333"/>
                </a:moveTo>
                <a:cubicBezTo>
                  <a:pt x="111125" y="37953"/>
                  <a:pt x="114682" y="34396"/>
                  <a:pt x="119063" y="34396"/>
                </a:cubicBezTo>
                <a:cubicBezTo>
                  <a:pt x="123443" y="34396"/>
                  <a:pt x="127000" y="37953"/>
                  <a:pt x="127000" y="42333"/>
                </a:cubicBezTo>
                <a:cubicBezTo>
                  <a:pt x="127000" y="46714"/>
                  <a:pt x="123443" y="50271"/>
                  <a:pt x="119063" y="50271"/>
                </a:cubicBezTo>
                <a:cubicBezTo>
                  <a:pt x="114682" y="50271"/>
                  <a:pt x="111125" y="46714"/>
                  <a:pt x="111125" y="42333"/>
                </a:cubicBezTo>
                <a:close/>
                <a:moveTo>
                  <a:pt x="21167" y="95250"/>
                </a:moveTo>
                <a:cubicBezTo>
                  <a:pt x="9492" y="95250"/>
                  <a:pt x="0" y="104742"/>
                  <a:pt x="0" y="116417"/>
                </a:cubicBez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27000" y="158750"/>
                </a:lnTo>
                <a:cubicBezTo>
                  <a:pt x="138675" y="158750"/>
                  <a:pt x="148167" y="149258"/>
                  <a:pt x="148167" y="137583"/>
                </a:cubicBezTo>
                <a:lnTo>
                  <a:pt x="148167" y="116417"/>
                </a:lnTo>
                <a:cubicBezTo>
                  <a:pt x="148167" y="104742"/>
                  <a:pt x="138675" y="95250"/>
                  <a:pt x="127000" y="95250"/>
                </a:cubicBezTo>
                <a:lnTo>
                  <a:pt x="21167" y="95250"/>
                </a:lnTo>
                <a:close/>
                <a:moveTo>
                  <a:pt x="92604" y="119063"/>
                </a:moveTo>
                <a:cubicBezTo>
                  <a:pt x="96985" y="119063"/>
                  <a:pt x="100542" y="122619"/>
                  <a:pt x="100542" y="127000"/>
                </a:cubicBezTo>
                <a:cubicBezTo>
                  <a:pt x="100542" y="131381"/>
                  <a:pt x="96985" y="134938"/>
                  <a:pt x="92604" y="134938"/>
                </a:cubicBezTo>
                <a:cubicBezTo>
                  <a:pt x="88223" y="134938"/>
                  <a:pt x="84667" y="131381"/>
                  <a:pt x="84667" y="127000"/>
                </a:cubicBezTo>
                <a:cubicBezTo>
                  <a:pt x="84667" y="122619"/>
                  <a:pt x="88223" y="119063"/>
                  <a:pt x="92604" y="119063"/>
                </a:cubicBezTo>
                <a:close/>
                <a:moveTo>
                  <a:pt x="111125" y="127000"/>
                </a:moveTo>
                <a:cubicBezTo>
                  <a:pt x="111125" y="122619"/>
                  <a:pt x="114682" y="119063"/>
                  <a:pt x="119063" y="119063"/>
                </a:cubicBezTo>
                <a:cubicBezTo>
                  <a:pt x="123443" y="119063"/>
                  <a:pt x="127000" y="122619"/>
                  <a:pt x="127000" y="127000"/>
                </a:cubicBezTo>
                <a:cubicBezTo>
                  <a:pt x="127000" y="131381"/>
                  <a:pt x="123443" y="134938"/>
                  <a:pt x="119063" y="134938"/>
                </a:cubicBezTo>
                <a:cubicBezTo>
                  <a:pt x="114682" y="134938"/>
                  <a:pt x="111125" y="131381"/>
                  <a:pt x="111125" y="12700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165167" y="1843525"/>
            <a:ext cx="1047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节点本地性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65167" y="2139859"/>
            <a:ext cx="1026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 Local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14833" y="2436192"/>
            <a:ext cx="70061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数据和计算在同一个物理节点，访问速度最快，</a:t>
            </a:r>
            <a:r>
              <a:rPr lang="en-US" sz="1333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无网络开销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66667" y="2899099"/>
            <a:ext cx="7196667" cy="1121833"/>
          </a:xfrm>
          <a:custGeom>
            <a:avLst/>
            <a:gdLst/>
            <a:ahLst/>
            <a:cxnLst/>
            <a:rect l="l" t="t" r="r" b="b"/>
            <a:pathLst>
              <a:path w="7196667" h="1121833">
                <a:moveTo>
                  <a:pt x="42333" y="0"/>
                </a:moveTo>
                <a:lnTo>
                  <a:pt x="7112002" y="0"/>
                </a:lnTo>
                <a:cubicBezTo>
                  <a:pt x="7158761" y="0"/>
                  <a:pt x="7196667" y="37906"/>
                  <a:pt x="7196667" y="84665"/>
                </a:cubicBezTo>
                <a:lnTo>
                  <a:pt x="7196667" y="1037169"/>
                </a:lnTo>
                <a:cubicBezTo>
                  <a:pt x="7196667" y="1083928"/>
                  <a:pt x="7158761" y="1121833"/>
                  <a:pt x="7112002" y="1121833"/>
                </a:cubicBezTo>
                <a:lnTo>
                  <a:pt x="42333" y="1121833"/>
                </a:lnTo>
                <a:cubicBezTo>
                  <a:pt x="18953" y="1121833"/>
                  <a:pt x="0" y="1102880"/>
                  <a:pt x="0" y="1079500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466667" y="2899099"/>
            <a:ext cx="42333" cy="1121833"/>
          </a:xfrm>
          <a:custGeom>
            <a:avLst/>
            <a:gdLst/>
            <a:ahLst/>
            <a:cxnLst/>
            <a:rect l="l" t="t" r="r" b="b"/>
            <a:pathLst>
              <a:path w="42333" h="1121833">
                <a:moveTo>
                  <a:pt x="42333" y="0"/>
                </a:moveTo>
                <a:lnTo>
                  <a:pt x="42333" y="0"/>
                </a:lnTo>
                <a:lnTo>
                  <a:pt x="42333" y="1121833"/>
                </a:lnTo>
                <a:lnTo>
                  <a:pt x="42333" y="1121833"/>
                </a:lnTo>
                <a:cubicBezTo>
                  <a:pt x="18953" y="1121833"/>
                  <a:pt x="0" y="1102880"/>
                  <a:pt x="0" y="1079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614833" y="3026099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7A7D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741833" y="3153099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76895" y="1720"/>
                </a:moveTo>
                <a:cubicBezTo>
                  <a:pt x="81822" y="-562"/>
                  <a:pt x="87511" y="-562"/>
                  <a:pt x="92439" y="1720"/>
                </a:cubicBezTo>
                <a:lnTo>
                  <a:pt x="164736" y="35123"/>
                </a:lnTo>
                <a:cubicBezTo>
                  <a:pt x="167547" y="36413"/>
                  <a:pt x="169333" y="39224"/>
                  <a:pt x="169333" y="42333"/>
                </a:cubicBezTo>
                <a:cubicBezTo>
                  <a:pt x="169333" y="45442"/>
                  <a:pt x="167547" y="48253"/>
                  <a:pt x="164736" y="49543"/>
                </a:cubicBezTo>
                <a:lnTo>
                  <a:pt x="92439" y="82947"/>
                </a:lnTo>
                <a:cubicBezTo>
                  <a:pt x="87511" y="85229"/>
                  <a:pt x="81822" y="85229"/>
                  <a:pt x="76895" y="82947"/>
                </a:cubicBezTo>
                <a:lnTo>
                  <a:pt x="4597" y="49543"/>
                </a:lnTo>
                <a:cubicBezTo>
                  <a:pt x="1786" y="48220"/>
                  <a:pt x="0" y="45409"/>
                  <a:pt x="0" y="42333"/>
                </a:cubicBezTo>
                <a:cubicBezTo>
                  <a:pt x="0" y="39258"/>
                  <a:pt x="1786" y="36413"/>
                  <a:pt x="4597" y="35123"/>
                </a:cubicBezTo>
                <a:lnTo>
                  <a:pt x="76895" y="1720"/>
                </a:lnTo>
                <a:close/>
                <a:moveTo>
                  <a:pt x="15908" y="72231"/>
                </a:moveTo>
                <a:lnTo>
                  <a:pt x="70247" y="97334"/>
                </a:lnTo>
                <a:cubicBezTo>
                  <a:pt x="79408" y="101567"/>
                  <a:pt x="89958" y="101567"/>
                  <a:pt x="99120" y="97334"/>
                </a:cubicBezTo>
                <a:lnTo>
                  <a:pt x="153458" y="72231"/>
                </a:lnTo>
                <a:lnTo>
                  <a:pt x="164736" y="77457"/>
                </a:lnTo>
                <a:cubicBezTo>
                  <a:pt x="167547" y="78747"/>
                  <a:pt x="169333" y="81558"/>
                  <a:pt x="169333" y="84667"/>
                </a:cubicBezTo>
                <a:cubicBezTo>
                  <a:pt x="169333" y="87776"/>
                  <a:pt x="167547" y="90587"/>
                  <a:pt x="164736" y="91877"/>
                </a:cubicBezTo>
                <a:lnTo>
                  <a:pt x="92439" y="125280"/>
                </a:lnTo>
                <a:cubicBezTo>
                  <a:pt x="87511" y="127562"/>
                  <a:pt x="81822" y="127562"/>
                  <a:pt x="76895" y="125280"/>
                </a:cubicBezTo>
                <a:lnTo>
                  <a:pt x="4597" y="91877"/>
                </a:lnTo>
                <a:cubicBezTo>
                  <a:pt x="1786" y="90554"/>
                  <a:pt x="0" y="87742"/>
                  <a:pt x="0" y="84667"/>
                </a:cubicBezTo>
                <a:cubicBezTo>
                  <a:pt x="0" y="81591"/>
                  <a:pt x="1786" y="78747"/>
                  <a:pt x="4597" y="77457"/>
                </a:cubicBezTo>
                <a:lnTo>
                  <a:pt x="15875" y="72231"/>
                </a:lnTo>
                <a:close/>
                <a:moveTo>
                  <a:pt x="4597" y="119790"/>
                </a:moveTo>
                <a:lnTo>
                  <a:pt x="15875" y="114565"/>
                </a:lnTo>
                <a:lnTo>
                  <a:pt x="70214" y="139667"/>
                </a:lnTo>
                <a:cubicBezTo>
                  <a:pt x="79375" y="143900"/>
                  <a:pt x="89925" y="143900"/>
                  <a:pt x="99086" y="139667"/>
                </a:cubicBezTo>
                <a:lnTo>
                  <a:pt x="153425" y="114565"/>
                </a:lnTo>
                <a:lnTo>
                  <a:pt x="164703" y="119790"/>
                </a:lnTo>
                <a:cubicBezTo>
                  <a:pt x="167514" y="121080"/>
                  <a:pt x="169300" y="123891"/>
                  <a:pt x="169300" y="127000"/>
                </a:cubicBezTo>
                <a:cubicBezTo>
                  <a:pt x="169300" y="130109"/>
                  <a:pt x="167514" y="132920"/>
                  <a:pt x="164703" y="134210"/>
                </a:cubicBezTo>
                <a:lnTo>
                  <a:pt x="92406" y="167614"/>
                </a:lnTo>
                <a:cubicBezTo>
                  <a:pt x="87478" y="169896"/>
                  <a:pt x="81789" y="169896"/>
                  <a:pt x="76861" y="167614"/>
                </a:cubicBezTo>
                <a:lnTo>
                  <a:pt x="4597" y="134210"/>
                </a:lnTo>
                <a:cubicBezTo>
                  <a:pt x="1786" y="132887"/>
                  <a:pt x="0" y="130076"/>
                  <a:pt x="0" y="127000"/>
                </a:cubicBezTo>
                <a:cubicBezTo>
                  <a:pt x="0" y="123924"/>
                  <a:pt x="1786" y="121080"/>
                  <a:pt x="4597" y="119790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165167" y="3026099"/>
            <a:ext cx="1047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机架本地性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65167" y="3322432"/>
            <a:ext cx="1026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Rack Local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14833" y="3618765"/>
            <a:ext cx="70061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数据和计算在同一个机架的不同节点，机架内网络速度较快，</a:t>
            </a:r>
            <a:r>
              <a:rPr lang="en-US" sz="133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较小网络开销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66667" y="4108176"/>
            <a:ext cx="7196667" cy="1121833"/>
          </a:xfrm>
          <a:custGeom>
            <a:avLst/>
            <a:gdLst/>
            <a:ahLst/>
            <a:cxnLst/>
            <a:rect l="l" t="t" r="r" b="b"/>
            <a:pathLst>
              <a:path w="7196667" h="1121833">
                <a:moveTo>
                  <a:pt x="42333" y="0"/>
                </a:moveTo>
                <a:lnTo>
                  <a:pt x="7112002" y="0"/>
                </a:lnTo>
                <a:cubicBezTo>
                  <a:pt x="7158761" y="0"/>
                  <a:pt x="7196667" y="37906"/>
                  <a:pt x="7196667" y="84665"/>
                </a:cubicBezTo>
                <a:lnTo>
                  <a:pt x="7196667" y="1037169"/>
                </a:lnTo>
                <a:cubicBezTo>
                  <a:pt x="7196667" y="1083928"/>
                  <a:pt x="7158761" y="1121833"/>
                  <a:pt x="7112002" y="1121833"/>
                </a:cubicBezTo>
                <a:lnTo>
                  <a:pt x="42333" y="1121833"/>
                </a:lnTo>
                <a:cubicBezTo>
                  <a:pt x="18953" y="1121833"/>
                  <a:pt x="0" y="1102880"/>
                  <a:pt x="0" y="1079500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466667" y="4108176"/>
            <a:ext cx="42333" cy="1121833"/>
          </a:xfrm>
          <a:custGeom>
            <a:avLst/>
            <a:gdLst/>
            <a:ahLst/>
            <a:cxnLst/>
            <a:rect l="l" t="t" r="r" b="b"/>
            <a:pathLst>
              <a:path w="42333" h="1121833">
                <a:moveTo>
                  <a:pt x="42333" y="0"/>
                </a:moveTo>
                <a:lnTo>
                  <a:pt x="42333" y="0"/>
                </a:lnTo>
                <a:lnTo>
                  <a:pt x="42333" y="1121833"/>
                </a:lnTo>
                <a:lnTo>
                  <a:pt x="42333" y="1121833"/>
                </a:lnTo>
                <a:cubicBezTo>
                  <a:pt x="18953" y="1121833"/>
                  <a:pt x="0" y="1102880"/>
                  <a:pt x="0" y="1079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614833" y="4235176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731250" y="4362176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82021" y="29104"/>
                </a:moveTo>
                <a:lnTo>
                  <a:pt x="108479" y="29104"/>
                </a:lnTo>
                <a:lnTo>
                  <a:pt x="108479" y="44979"/>
                </a:lnTo>
                <a:lnTo>
                  <a:pt x="82021" y="44979"/>
                </a:lnTo>
                <a:lnTo>
                  <a:pt x="82021" y="29104"/>
                </a:lnTo>
                <a:close/>
                <a:moveTo>
                  <a:pt x="79375" y="10583"/>
                </a:moveTo>
                <a:cubicBezTo>
                  <a:pt x="70611" y="10583"/>
                  <a:pt x="63500" y="17694"/>
                  <a:pt x="63500" y="26458"/>
                </a:cubicBezTo>
                <a:lnTo>
                  <a:pt x="63500" y="47625"/>
                </a:lnTo>
                <a:cubicBezTo>
                  <a:pt x="63500" y="56389"/>
                  <a:pt x="70611" y="63500"/>
                  <a:pt x="79375" y="63500"/>
                </a:cubicBezTo>
                <a:lnTo>
                  <a:pt x="84667" y="63500"/>
                </a:lnTo>
                <a:lnTo>
                  <a:pt x="84667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42333" y="95250"/>
                </a:lnTo>
                <a:lnTo>
                  <a:pt x="42333" y="105833"/>
                </a:lnTo>
                <a:lnTo>
                  <a:pt x="37042" y="105833"/>
                </a:lnTo>
                <a:cubicBezTo>
                  <a:pt x="28277" y="105833"/>
                  <a:pt x="21167" y="112944"/>
                  <a:pt x="21167" y="121708"/>
                </a:cubicBezTo>
                <a:lnTo>
                  <a:pt x="21167" y="142875"/>
                </a:lnTo>
                <a:cubicBezTo>
                  <a:pt x="21167" y="151639"/>
                  <a:pt x="28277" y="158750"/>
                  <a:pt x="37042" y="158750"/>
                </a:cubicBezTo>
                <a:lnTo>
                  <a:pt x="68792" y="158750"/>
                </a:lnTo>
                <a:cubicBezTo>
                  <a:pt x="77556" y="158750"/>
                  <a:pt x="84667" y="151639"/>
                  <a:pt x="84667" y="142875"/>
                </a:cubicBezTo>
                <a:lnTo>
                  <a:pt x="84667" y="121708"/>
                </a:lnTo>
                <a:cubicBezTo>
                  <a:pt x="84667" y="112944"/>
                  <a:pt x="77556" y="105833"/>
                  <a:pt x="68792" y="105833"/>
                </a:cubicBezTo>
                <a:lnTo>
                  <a:pt x="63500" y="105833"/>
                </a:lnTo>
                <a:lnTo>
                  <a:pt x="63500" y="95250"/>
                </a:lnTo>
                <a:lnTo>
                  <a:pt x="127000" y="95250"/>
                </a:lnTo>
                <a:lnTo>
                  <a:pt x="127000" y="105833"/>
                </a:lnTo>
                <a:lnTo>
                  <a:pt x="121708" y="105833"/>
                </a:lnTo>
                <a:cubicBezTo>
                  <a:pt x="112944" y="105833"/>
                  <a:pt x="105833" y="112944"/>
                  <a:pt x="105833" y="121708"/>
                </a:cubicBezTo>
                <a:lnTo>
                  <a:pt x="105833" y="142875"/>
                </a:lnTo>
                <a:cubicBezTo>
                  <a:pt x="105833" y="151639"/>
                  <a:pt x="112944" y="158750"/>
                  <a:pt x="121708" y="158750"/>
                </a:cubicBezTo>
                <a:lnTo>
                  <a:pt x="153458" y="158750"/>
                </a:lnTo>
                <a:cubicBezTo>
                  <a:pt x="162223" y="158750"/>
                  <a:pt x="169333" y="151639"/>
                  <a:pt x="169333" y="142875"/>
                </a:cubicBezTo>
                <a:lnTo>
                  <a:pt x="169333" y="121708"/>
                </a:lnTo>
                <a:cubicBezTo>
                  <a:pt x="169333" y="112944"/>
                  <a:pt x="162223" y="105833"/>
                  <a:pt x="153458" y="105833"/>
                </a:cubicBezTo>
                <a:lnTo>
                  <a:pt x="148167" y="105833"/>
                </a:lnTo>
                <a:lnTo>
                  <a:pt x="148167" y="95250"/>
                </a:lnTo>
                <a:lnTo>
                  <a:pt x="179917" y="95250"/>
                </a:lnTo>
                <a:cubicBezTo>
                  <a:pt x="185771" y="95250"/>
                  <a:pt x="190500" y="90521"/>
                  <a:pt x="190500" y="84667"/>
                </a:cubicBezTo>
                <a:cubicBezTo>
                  <a:pt x="190500" y="78813"/>
                  <a:pt x="185771" y="74083"/>
                  <a:pt x="179917" y="74083"/>
                </a:cubicBezTo>
                <a:lnTo>
                  <a:pt x="105833" y="74083"/>
                </a:lnTo>
                <a:lnTo>
                  <a:pt x="105833" y="63500"/>
                </a:lnTo>
                <a:lnTo>
                  <a:pt x="111125" y="63500"/>
                </a:lnTo>
                <a:cubicBezTo>
                  <a:pt x="119889" y="63500"/>
                  <a:pt x="127000" y="56389"/>
                  <a:pt x="127000" y="47625"/>
                </a:cubicBezTo>
                <a:lnTo>
                  <a:pt x="127000" y="26458"/>
                </a:lnTo>
                <a:cubicBezTo>
                  <a:pt x="127000" y="17694"/>
                  <a:pt x="119889" y="10583"/>
                  <a:pt x="111125" y="10583"/>
                </a:cubicBezTo>
                <a:lnTo>
                  <a:pt x="79375" y="10583"/>
                </a:lnTo>
                <a:close/>
                <a:moveTo>
                  <a:pt x="148167" y="124354"/>
                </a:moveTo>
                <a:lnTo>
                  <a:pt x="150813" y="124354"/>
                </a:lnTo>
                <a:lnTo>
                  <a:pt x="150813" y="140229"/>
                </a:lnTo>
                <a:lnTo>
                  <a:pt x="124354" y="140229"/>
                </a:lnTo>
                <a:lnTo>
                  <a:pt x="124354" y="124354"/>
                </a:lnTo>
                <a:lnTo>
                  <a:pt x="148167" y="124354"/>
                </a:lnTo>
                <a:close/>
                <a:moveTo>
                  <a:pt x="63500" y="124354"/>
                </a:moveTo>
                <a:lnTo>
                  <a:pt x="66146" y="124354"/>
                </a:lnTo>
                <a:lnTo>
                  <a:pt x="66146" y="140229"/>
                </a:lnTo>
                <a:lnTo>
                  <a:pt x="39688" y="140229"/>
                </a:lnTo>
                <a:lnTo>
                  <a:pt x="39688" y="124354"/>
                </a:lnTo>
                <a:lnTo>
                  <a:pt x="63500" y="124354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165167" y="4235176"/>
            <a:ext cx="1047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跨机架访问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65167" y="4531509"/>
            <a:ext cx="1026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Off-Switch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14833" y="4827843"/>
            <a:ext cx="70061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数据和计算在不同机架，网络开销最大，应尽量避免，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最大网络开销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3333" y="5364553"/>
            <a:ext cx="15409333" cy="3682999"/>
          </a:xfrm>
          <a:custGeom>
            <a:avLst/>
            <a:gdLst/>
            <a:ahLst/>
            <a:cxnLst/>
            <a:rect l="l" t="t" r="r" b="b"/>
            <a:pathLst>
              <a:path w="15409333" h="4889500">
                <a:moveTo>
                  <a:pt x="84686" y="0"/>
                </a:moveTo>
                <a:lnTo>
                  <a:pt x="15324647" y="0"/>
                </a:lnTo>
                <a:cubicBezTo>
                  <a:pt x="15371418" y="0"/>
                  <a:pt x="15409333" y="37915"/>
                  <a:pt x="15409333" y="84686"/>
                </a:cubicBezTo>
                <a:lnTo>
                  <a:pt x="15409333" y="4804814"/>
                </a:lnTo>
                <a:cubicBezTo>
                  <a:pt x="15409333" y="4851585"/>
                  <a:pt x="15371418" y="4889500"/>
                  <a:pt x="15324647" y="4889500"/>
                </a:cubicBezTo>
                <a:lnTo>
                  <a:pt x="84686" y="4889500"/>
                </a:lnTo>
                <a:cubicBezTo>
                  <a:pt x="37915" y="4889500"/>
                  <a:pt x="0" y="4851585"/>
                  <a:pt x="0" y="4804814"/>
                </a:cubicBezTo>
                <a:lnTo>
                  <a:pt x="0" y="84686"/>
                </a:lnTo>
                <a:cubicBezTo>
                  <a:pt x="0" y="37947"/>
                  <a:pt x="37947" y="0"/>
                  <a:pt x="84686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24417" y="557621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10167" y="5533886"/>
            <a:ext cx="148801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性能对比：处理 1TB 数据的量化分析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92667" y="6020720"/>
            <a:ext cx="7429500" cy="2871490"/>
          </a:xfrm>
          <a:custGeom>
            <a:avLst/>
            <a:gdLst/>
            <a:ahLst/>
            <a:cxnLst/>
            <a:rect l="l" t="t" r="r" b="b"/>
            <a:pathLst>
              <a:path w="7429500" h="3026833">
                <a:moveTo>
                  <a:pt x="42333" y="0"/>
                </a:moveTo>
                <a:lnTo>
                  <a:pt x="7387167" y="0"/>
                </a:lnTo>
                <a:cubicBezTo>
                  <a:pt x="7410547" y="0"/>
                  <a:pt x="7429500" y="18953"/>
                  <a:pt x="7429500" y="42333"/>
                </a:cubicBezTo>
                <a:lnTo>
                  <a:pt x="7429500" y="2942173"/>
                </a:lnTo>
                <a:cubicBezTo>
                  <a:pt x="7429500" y="2988930"/>
                  <a:pt x="7391596" y="3026833"/>
                  <a:pt x="7344839" y="3026833"/>
                </a:cubicBezTo>
                <a:lnTo>
                  <a:pt x="84661" y="3026833"/>
                </a:lnTo>
                <a:cubicBezTo>
                  <a:pt x="37904" y="3026833"/>
                  <a:pt x="0" y="2988930"/>
                  <a:pt x="0" y="294217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592667" y="6020719"/>
            <a:ext cx="7429500" cy="42333"/>
          </a:xfrm>
          <a:custGeom>
            <a:avLst/>
            <a:gdLst/>
            <a:ahLst/>
            <a:cxnLst/>
            <a:rect l="l" t="t" r="r" b="b"/>
            <a:pathLst>
              <a:path w="7429500" h="42333">
                <a:moveTo>
                  <a:pt x="42333" y="0"/>
                </a:moveTo>
                <a:lnTo>
                  <a:pt x="7387167" y="0"/>
                </a:lnTo>
                <a:cubicBezTo>
                  <a:pt x="7410547" y="0"/>
                  <a:pt x="7429500" y="18953"/>
                  <a:pt x="7429500" y="42333"/>
                </a:cubicBezTo>
                <a:lnTo>
                  <a:pt x="74295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714375" y="6211219"/>
            <a:ext cx="7186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传统集中式计算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6750" y="6549886"/>
            <a:ext cx="7281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0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3.4 小时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19667" y="6965122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数据传输 80% + 计算 20%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62000" y="7253357"/>
            <a:ext cx="7090833" cy="423333"/>
          </a:xfrm>
          <a:custGeom>
            <a:avLst/>
            <a:gdLst/>
            <a:ahLst/>
            <a:cxnLst/>
            <a:rect l="l" t="t" r="r" b="b"/>
            <a:pathLst>
              <a:path w="7090833" h="423333">
                <a:moveTo>
                  <a:pt x="42333" y="0"/>
                </a:moveTo>
                <a:lnTo>
                  <a:pt x="7048500" y="0"/>
                </a:lnTo>
                <a:cubicBezTo>
                  <a:pt x="7071880" y="0"/>
                  <a:pt x="7090833" y="18953"/>
                  <a:pt x="7090833" y="42333"/>
                </a:cubicBezTo>
                <a:lnTo>
                  <a:pt x="7090833" y="381000"/>
                </a:lnTo>
                <a:cubicBezTo>
                  <a:pt x="7090833" y="404380"/>
                  <a:pt x="7071880" y="423333"/>
                  <a:pt x="7048500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46667" y="7338024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网络传输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488204" y="7338024"/>
            <a:ext cx="359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1TB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62000" y="7761357"/>
            <a:ext cx="7090833" cy="423333"/>
          </a:xfrm>
          <a:custGeom>
            <a:avLst/>
            <a:gdLst/>
            <a:ahLst/>
            <a:cxnLst/>
            <a:rect l="l" t="t" r="r" b="b"/>
            <a:pathLst>
              <a:path w="7090833" h="423333">
                <a:moveTo>
                  <a:pt x="42333" y="0"/>
                </a:moveTo>
                <a:lnTo>
                  <a:pt x="7048500" y="0"/>
                </a:lnTo>
                <a:cubicBezTo>
                  <a:pt x="7071880" y="0"/>
                  <a:pt x="7090833" y="18953"/>
                  <a:pt x="7090833" y="42333"/>
                </a:cubicBezTo>
                <a:lnTo>
                  <a:pt x="7090833" y="381000"/>
                </a:lnTo>
                <a:cubicBezTo>
                  <a:pt x="7090833" y="404380"/>
                  <a:pt x="7071880" y="423333"/>
                  <a:pt x="7048500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46667" y="7846024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传输时间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184264" y="7846024"/>
            <a:ext cx="666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2.8小时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62000" y="8269357"/>
            <a:ext cx="7090833" cy="423333"/>
          </a:xfrm>
          <a:custGeom>
            <a:avLst/>
            <a:gdLst/>
            <a:ahLst/>
            <a:cxnLst/>
            <a:rect l="l" t="t" r="r" b="b"/>
            <a:pathLst>
              <a:path w="7090833" h="423333">
                <a:moveTo>
                  <a:pt x="42333" y="0"/>
                </a:moveTo>
                <a:lnTo>
                  <a:pt x="7048500" y="0"/>
                </a:lnTo>
                <a:cubicBezTo>
                  <a:pt x="7071880" y="0"/>
                  <a:pt x="7090833" y="18953"/>
                  <a:pt x="7090833" y="42333"/>
                </a:cubicBezTo>
                <a:lnTo>
                  <a:pt x="7090833" y="381000"/>
                </a:lnTo>
                <a:cubicBezTo>
                  <a:pt x="7090833" y="404380"/>
                  <a:pt x="7071880" y="423333"/>
                  <a:pt x="7048500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46667" y="8354024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纯计算时间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228830" y="8354024"/>
            <a:ext cx="624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35分钟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33833" y="6020719"/>
            <a:ext cx="7429500" cy="2871491"/>
          </a:xfrm>
          <a:custGeom>
            <a:avLst/>
            <a:gdLst/>
            <a:ahLst/>
            <a:cxnLst/>
            <a:rect l="l" t="t" r="r" b="b"/>
            <a:pathLst>
              <a:path w="7429500" h="3026833">
                <a:moveTo>
                  <a:pt x="42333" y="0"/>
                </a:moveTo>
                <a:lnTo>
                  <a:pt x="7387167" y="0"/>
                </a:lnTo>
                <a:cubicBezTo>
                  <a:pt x="7410547" y="0"/>
                  <a:pt x="7429500" y="18953"/>
                  <a:pt x="7429500" y="42333"/>
                </a:cubicBezTo>
                <a:lnTo>
                  <a:pt x="7429500" y="2942173"/>
                </a:lnTo>
                <a:cubicBezTo>
                  <a:pt x="7429500" y="2988930"/>
                  <a:pt x="7391596" y="3026833"/>
                  <a:pt x="7344839" y="3026833"/>
                </a:cubicBezTo>
                <a:lnTo>
                  <a:pt x="84661" y="3026833"/>
                </a:lnTo>
                <a:cubicBezTo>
                  <a:pt x="37904" y="3026833"/>
                  <a:pt x="0" y="2988930"/>
                  <a:pt x="0" y="294217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8233833" y="6020719"/>
            <a:ext cx="7429500" cy="42333"/>
          </a:xfrm>
          <a:custGeom>
            <a:avLst/>
            <a:gdLst/>
            <a:ahLst/>
            <a:cxnLst/>
            <a:rect l="l" t="t" r="r" b="b"/>
            <a:pathLst>
              <a:path w="7429500" h="42333">
                <a:moveTo>
                  <a:pt x="42333" y="0"/>
                </a:moveTo>
                <a:lnTo>
                  <a:pt x="7387167" y="0"/>
                </a:lnTo>
                <a:cubicBezTo>
                  <a:pt x="7410547" y="0"/>
                  <a:pt x="7429500" y="18953"/>
                  <a:pt x="7429500" y="42333"/>
                </a:cubicBezTo>
                <a:lnTo>
                  <a:pt x="74295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8355542" y="6211219"/>
            <a:ext cx="7186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本地性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07917" y="6549886"/>
            <a:ext cx="7281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0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43 分钟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60833" y="6965122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本地I/O 20% + 计算 70% + 汇总 10%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403167" y="7253357"/>
            <a:ext cx="7090833" cy="423333"/>
          </a:xfrm>
          <a:custGeom>
            <a:avLst/>
            <a:gdLst/>
            <a:ahLst/>
            <a:cxnLst/>
            <a:rect l="l" t="t" r="r" b="b"/>
            <a:pathLst>
              <a:path w="7090833" h="423333">
                <a:moveTo>
                  <a:pt x="42333" y="0"/>
                </a:moveTo>
                <a:lnTo>
                  <a:pt x="7048500" y="0"/>
                </a:lnTo>
                <a:cubicBezTo>
                  <a:pt x="7071880" y="0"/>
                  <a:pt x="7090833" y="18953"/>
                  <a:pt x="7090833" y="42333"/>
                </a:cubicBezTo>
                <a:lnTo>
                  <a:pt x="7090833" y="381000"/>
                </a:lnTo>
                <a:cubicBezTo>
                  <a:pt x="7090833" y="404380"/>
                  <a:pt x="7071880" y="423333"/>
                  <a:pt x="7048500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8487833" y="7338024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网络传输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4574656" y="7338024"/>
            <a:ext cx="92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50GB (5%)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403167" y="7761357"/>
            <a:ext cx="7090833" cy="423333"/>
          </a:xfrm>
          <a:custGeom>
            <a:avLst/>
            <a:gdLst/>
            <a:ahLst/>
            <a:cxnLst/>
            <a:rect l="l" t="t" r="r" b="b"/>
            <a:pathLst>
              <a:path w="7090833" h="423333">
                <a:moveTo>
                  <a:pt x="42333" y="0"/>
                </a:moveTo>
                <a:lnTo>
                  <a:pt x="7048500" y="0"/>
                </a:lnTo>
                <a:cubicBezTo>
                  <a:pt x="7071880" y="0"/>
                  <a:pt x="7090833" y="18953"/>
                  <a:pt x="7090833" y="42333"/>
                </a:cubicBezTo>
                <a:lnTo>
                  <a:pt x="7090833" y="381000"/>
                </a:lnTo>
                <a:cubicBezTo>
                  <a:pt x="7090833" y="404380"/>
                  <a:pt x="7071880" y="423333"/>
                  <a:pt x="7048500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8487833" y="7846024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传输时间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4821049" y="7846024"/>
            <a:ext cx="67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8.3分钟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403167" y="8269357"/>
            <a:ext cx="7090833" cy="423333"/>
          </a:xfrm>
          <a:custGeom>
            <a:avLst/>
            <a:gdLst/>
            <a:ahLst/>
            <a:cxnLst/>
            <a:rect l="l" t="t" r="r" b="b"/>
            <a:pathLst>
              <a:path w="7090833" h="423333">
                <a:moveTo>
                  <a:pt x="42333" y="0"/>
                </a:moveTo>
                <a:lnTo>
                  <a:pt x="7048500" y="0"/>
                </a:lnTo>
                <a:cubicBezTo>
                  <a:pt x="7071880" y="0"/>
                  <a:pt x="7090833" y="18953"/>
                  <a:pt x="7090833" y="42333"/>
                </a:cubicBezTo>
                <a:lnTo>
                  <a:pt x="7090833" y="381000"/>
                </a:lnTo>
                <a:cubicBezTo>
                  <a:pt x="7090833" y="404380"/>
                  <a:pt x="7071880" y="423333"/>
                  <a:pt x="7048500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8487833" y="8354024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纯计算时间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4869997" y="8354024"/>
            <a:ext cx="624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35分钟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498167" y="6211218"/>
            <a:ext cx="3302000" cy="899583"/>
          </a:xfrm>
          <a:custGeom>
            <a:avLst/>
            <a:gdLst/>
            <a:ahLst/>
            <a:cxnLst/>
            <a:rect l="l" t="t" r="r" b="b"/>
            <a:pathLst>
              <a:path w="3302000" h="899583">
                <a:moveTo>
                  <a:pt x="84669" y="0"/>
                </a:moveTo>
                <a:lnTo>
                  <a:pt x="3217331" y="0"/>
                </a:lnTo>
                <a:cubicBezTo>
                  <a:pt x="3264092" y="0"/>
                  <a:pt x="3302000" y="37908"/>
                  <a:pt x="3302000" y="84669"/>
                </a:cubicBezTo>
                <a:lnTo>
                  <a:pt x="3302000" y="814915"/>
                </a:lnTo>
                <a:cubicBezTo>
                  <a:pt x="3302000" y="861676"/>
                  <a:pt x="3264092" y="899583"/>
                  <a:pt x="3217331" y="899583"/>
                </a:cubicBezTo>
                <a:lnTo>
                  <a:pt x="84669" y="899583"/>
                </a:lnTo>
                <a:cubicBezTo>
                  <a:pt x="37908" y="899583"/>
                  <a:pt x="0" y="861676"/>
                  <a:pt x="0" y="814915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6789209" y="653401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7201959" y="6343510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201959" y="6597510"/>
            <a:ext cx="10054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4.7 倍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135276" y="6449343"/>
            <a:ext cx="144991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网络传输减少 90%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总处理时间缩短 70%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geeksforgeeks.org/a184fd26f5987d1b8d17edef99c90cc6c30951e7.webp"/>
          <p:cNvPicPr>
            <a:picLocks noChangeAspect="1"/>
          </p:cNvPicPr>
          <p:nvPr/>
        </p:nvPicPr>
        <p:blipFill>
          <a:blip r:embed="rId3">
            <a:alphaModFix amt="25000"/>
          </a:blip>
          <a:srcRect l="8175" r="81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08000" y="3232150"/>
            <a:ext cx="158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 4 章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56150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0" y="0"/>
                </a:moveTo>
                <a:lnTo>
                  <a:pt x="2438400" y="0"/>
                </a:lnTo>
                <a:lnTo>
                  <a:pt x="2438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340350"/>
            <a:ext cx="15544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编程模型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6407150"/>
            <a:ext cx="868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分而治之的艺术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526" y="435526"/>
            <a:ext cx="15461165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kern="0" spc="12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 · Core Philosophy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5526" y="740394"/>
            <a:ext cx="15580935" cy="43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8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分而治之：MapReduce 的设计哲学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35526" y="1306577"/>
            <a:ext cx="1219472" cy="43553"/>
          </a:xfrm>
          <a:custGeom>
            <a:avLst/>
            <a:gdLst/>
            <a:ahLst/>
            <a:cxnLst/>
            <a:rect l="l" t="t" r="r" b="b"/>
            <a:pathLst>
              <a:path w="1219472" h="43553">
                <a:moveTo>
                  <a:pt x="0" y="0"/>
                </a:moveTo>
                <a:lnTo>
                  <a:pt x="1219472" y="0"/>
                </a:lnTo>
                <a:lnTo>
                  <a:pt x="1219472" y="43553"/>
                </a:lnTo>
                <a:lnTo>
                  <a:pt x="0" y="43553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302" y="1524340"/>
            <a:ext cx="7567261" cy="5313415"/>
          </a:xfrm>
          <a:custGeom>
            <a:avLst/>
            <a:gdLst/>
            <a:ahLst/>
            <a:cxnLst/>
            <a:rect l="l" t="t" r="r" b="b"/>
            <a:pathLst>
              <a:path w="7567261" h="5313415">
                <a:moveTo>
                  <a:pt x="43553" y="0"/>
                </a:moveTo>
                <a:lnTo>
                  <a:pt x="7480174" y="0"/>
                </a:lnTo>
                <a:cubicBezTo>
                  <a:pt x="7528270" y="0"/>
                  <a:pt x="7567261" y="38990"/>
                  <a:pt x="7567261" y="87087"/>
                </a:cubicBezTo>
                <a:lnTo>
                  <a:pt x="7567261" y="5226328"/>
                </a:lnTo>
                <a:cubicBezTo>
                  <a:pt x="7567261" y="5274424"/>
                  <a:pt x="7528270" y="5313415"/>
                  <a:pt x="7480174" y="5313415"/>
                </a:cubicBezTo>
                <a:lnTo>
                  <a:pt x="43553" y="5313415"/>
                </a:lnTo>
                <a:cubicBezTo>
                  <a:pt x="19499" y="5313415"/>
                  <a:pt x="0" y="5293915"/>
                  <a:pt x="0" y="5269862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302" y="1524340"/>
            <a:ext cx="43553" cy="5313415"/>
          </a:xfrm>
          <a:custGeom>
            <a:avLst/>
            <a:gdLst/>
            <a:ahLst/>
            <a:cxnLst/>
            <a:rect l="l" t="t" r="r" b="b"/>
            <a:pathLst>
              <a:path w="43553" h="5313415">
                <a:moveTo>
                  <a:pt x="43553" y="0"/>
                </a:moveTo>
                <a:lnTo>
                  <a:pt x="43553" y="0"/>
                </a:lnTo>
                <a:lnTo>
                  <a:pt x="43553" y="5313415"/>
                </a:lnTo>
                <a:lnTo>
                  <a:pt x="43553" y="5313415"/>
                </a:lnTo>
                <a:cubicBezTo>
                  <a:pt x="19499" y="5313415"/>
                  <a:pt x="0" y="5293915"/>
                  <a:pt x="0" y="5269862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0509" y="1742103"/>
            <a:ext cx="217763" cy="217763"/>
          </a:xfrm>
          <a:custGeom>
            <a:avLst/>
            <a:gdLst/>
            <a:ahLst/>
            <a:cxnLst/>
            <a:rect l="l" t="t" r="r" b="b"/>
            <a:pathLst>
              <a:path w="217763" h="217763">
                <a:moveTo>
                  <a:pt x="81661" y="27220"/>
                </a:moveTo>
                <a:cubicBezTo>
                  <a:pt x="81661" y="19692"/>
                  <a:pt x="87743" y="13610"/>
                  <a:pt x="95271" y="13610"/>
                </a:cubicBezTo>
                <a:lnTo>
                  <a:pt x="122492" y="13610"/>
                </a:lnTo>
                <a:cubicBezTo>
                  <a:pt x="130020" y="13610"/>
                  <a:pt x="136102" y="19692"/>
                  <a:pt x="136102" y="27220"/>
                </a:cubicBezTo>
                <a:lnTo>
                  <a:pt x="136102" y="54441"/>
                </a:lnTo>
                <a:cubicBezTo>
                  <a:pt x="136102" y="61969"/>
                  <a:pt x="130020" y="68051"/>
                  <a:pt x="122492" y="68051"/>
                </a:cubicBezTo>
                <a:lnTo>
                  <a:pt x="119089" y="68051"/>
                </a:lnTo>
                <a:lnTo>
                  <a:pt x="119089" y="95271"/>
                </a:lnTo>
                <a:lnTo>
                  <a:pt x="170127" y="95271"/>
                </a:lnTo>
                <a:cubicBezTo>
                  <a:pt x="187055" y="95271"/>
                  <a:pt x="200750" y="108967"/>
                  <a:pt x="200750" y="125894"/>
                </a:cubicBezTo>
                <a:lnTo>
                  <a:pt x="200750" y="149712"/>
                </a:lnTo>
                <a:lnTo>
                  <a:pt x="204153" y="149712"/>
                </a:lnTo>
                <a:cubicBezTo>
                  <a:pt x="211681" y="149712"/>
                  <a:pt x="217763" y="155794"/>
                  <a:pt x="217763" y="163322"/>
                </a:cubicBezTo>
                <a:lnTo>
                  <a:pt x="217763" y="190543"/>
                </a:lnTo>
                <a:cubicBezTo>
                  <a:pt x="217763" y="198071"/>
                  <a:pt x="211681" y="204153"/>
                  <a:pt x="204153" y="204153"/>
                </a:cubicBezTo>
                <a:lnTo>
                  <a:pt x="176932" y="204153"/>
                </a:lnTo>
                <a:cubicBezTo>
                  <a:pt x="169404" y="204153"/>
                  <a:pt x="163322" y="198071"/>
                  <a:pt x="163322" y="190543"/>
                </a:cubicBezTo>
                <a:lnTo>
                  <a:pt x="163322" y="163322"/>
                </a:lnTo>
                <a:cubicBezTo>
                  <a:pt x="163322" y="155794"/>
                  <a:pt x="169404" y="149712"/>
                  <a:pt x="176932" y="149712"/>
                </a:cubicBezTo>
                <a:lnTo>
                  <a:pt x="180335" y="149712"/>
                </a:lnTo>
                <a:lnTo>
                  <a:pt x="180335" y="125894"/>
                </a:lnTo>
                <a:cubicBezTo>
                  <a:pt x="180335" y="120237"/>
                  <a:pt x="175784" y="115687"/>
                  <a:pt x="170127" y="115687"/>
                </a:cubicBezTo>
                <a:lnTo>
                  <a:pt x="119089" y="115687"/>
                </a:lnTo>
                <a:lnTo>
                  <a:pt x="119089" y="149712"/>
                </a:lnTo>
                <a:lnTo>
                  <a:pt x="122492" y="149712"/>
                </a:lnTo>
                <a:cubicBezTo>
                  <a:pt x="130020" y="149712"/>
                  <a:pt x="136102" y="155794"/>
                  <a:pt x="136102" y="163322"/>
                </a:cubicBezTo>
                <a:lnTo>
                  <a:pt x="136102" y="190543"/>
                </a:lnTo>
                <a:cubicBezTo>
                  <a:pt x="136102" y="198071"/>
                  <a:pt x="130020" y="204153"/>
                  <a:pt x="122492" y="204153"/>
                </a:cubicBezTo>
                <a:lnTo>
                  <a:pt x="95271" y="204153"/>
                </a:lnTo>
                <a:cubicBezTo>
                  <a:pt x="87743" y="204153"/>
                  <a:pt x="81661" y="198071"/>
                  <a:pt x="81661" y="190543"/>
                </a:cubicBezTo>
                <a:lnTo>
                  <a:pt x="81661" y="163322"/>
                </a:lnTo>
                <a:cubicBezTo>
                  <a:pt x="81661" y="155794"/>
                  <a:pt x="87743" y="149712"/>
                  <a:pt x="95271" y="149712"/>
                </a:cubicBezTo>
                <a:lnTo>
                  <a:pt x="98674" y="149712"/>
                </a:lnTo>
                <a:lnTo>
                  <a:pt x="98674" y="115687"/>
                </a:lnTo>
                <a:lnTo>
                  <a:pt x="47636" y="115687"/>
                </a:lnTo>
                <a:cubicBezTo>
                  <a:pt x="41979" y="115687"/>
                  <a:pt x="37428" y="120237"/>
                  <a:pt x="37428" y="125894"/>
                </a:cubicBezTo>
                <a:lnTo>
                  <a:pt x="37428" y="149712"/>
                </a:lnTo>
                <a:lnTo>
                  <a:pt x="40831" y="149712"/>
                </a:lnTo>
                <a:cubicBezTo>
                  <a:pt x="48359" y="149712"/>
                  <a:pt x="54441" y="155794"/>
                  <a:pt x="54441" y="163322"/>
                </a:cubicBezTo>
                <a:lnTo>
                  <a:pt x="54441" y="190543"/>
                </a:lnTo>
                <a:cubicBezTo>
                  <a:pt x="54441" y="198071"/>
                  <a:pt x="48359" y="204153"/>
                  <a:pt x="40831" y="204153"/>
                </a:cubicBezTo>
                <a:lnTo>
                  <a:pt x="13610" y="204153"/>
                </a:lnTo>
                <a:cubicBezTo>
                  <a:pt x="6082" y="204153"/>
                  <a:pt x="0" y="198071"/>
                  <a:pt x="0" y="190543"/>
                </a:cubicBezTo>
                <a:lnTo>
                  <a:pt x="0" y="163322"/>
                </a:lnTo>
                <a:cubicBezTo>
                  <a:pt x="0" y="155794"/>
                  <a:pt x="6082" y="149712"/>
                  <a:pt x="13610" y="149712"/>
                </a:cubicBezTo>
                <a:lnTo>
                  <a:pt x="17013" y="149712"/>
                </a:lnTo>
                <a:lnTo>
                  <a:pt x="17013" y="125894"/>
                </a:lnTo>
                <a:cubicBezTo>
                  <a:pt x="17013" y="108967"/>
                  <a:pt x="30708" y="95271"/>
                  <a:pt x="47636" y="95271"/>
                </a:cubicBezTo>
                <a:lnTo>
                  <a:pt x="98674" y="95271"/>
                </a:lnTo>
                <a:lnTo>
                  <a:pt x="98674" y="68051"/>
                </a:lnTo>
                <a:lnTo>
                  <a:pt x="95271" y="68051"/>
                </a:lnTo>
                <a:cubicBezTo>
                  <a:pt x="87743" y="68051"/>
                  <a:pt x="81661" y="61969"/>
                  <a:pt x="81661" y="54441"/>
                </a:cubicBezTo>
                <a:lnTo>
                  <a:pt x="81661" y="2722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25492" y="1698551"/>
            <a:ext cx="7033741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分而治之的三个步骤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289" y="2134076"/>
            <a:ext cx="7197064" cy="1154143"/>
          </a:xfrm>
          <a:custGeom>
            <a:avLst/>
            <a:gdLst/>
            <a:ahLst/>
            <a:cxnLst/>
            <a:rect l="l" t="t" r="r" b="b"/>
            <a:pathLst>
              <a:path w="7197064" h="1154143">
                <a:moveTo>
                  <a:pt x="87103" y="0"/>
                </a:moveTo>
                <a:lnTo>
                  <a:pt x="7109960" y="0"/>
                </a:lnTo>
                <a:cubicBezTo>
                  <a:pt x="7158066" y="0"/>
                  <a:pt x="7197064" y="38997"/>
                  <a:pt x="7197064" y="87103"/>
                </a:cubicBezTo>
                <a:lnTo>
                  <a:pt x="7197064" y="1067040"/>
                </a:lnTo>
                <a:cubicBezTo>
                  <a:pt x="7197064" y="1115146"/>
                  <a:pt x="7158066" y="1154143"/>
                  <a:pt x="7109960" y="1154143"/>
                </a:cubicBezTo>
                <a:lnTo>
                  <a:pt x="87103" y="1154143"/>
                </a:lnTo>
                <a:cubicBezTo>
                  <a:pt x="39030" y="1154143"/>
                  <a:pt x="0" y="1115114"/>
                  <a:pt x="0" y="1067040"/>
                </a:cubicBezTo>
                <a:lnTo>
                  <a:pt x="0" y="87103"/>
                </a:lnTo>
                <a:cubicBezTo>
                  <a:pt x="0" y="39030"/>
                  <a:pt x="39030" y="0"/>
                  <a:pt x="871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83946" y="2264734"/>
            <a:ext cx="435526" cy="435526"/>
          </a:xfrm>
          <a:custGeom>
            <a:avLst/>
            <a:gdLst/>
            <a:ahLst/>
            <a:cxnLst/>
            <a:rect l="l" t="t" r="r" b="b"/>
            <a:pathLst>
              <a:path w="435526" h="435526">
                <a:moveTo>
                  <a:pt x="87105" y="0"/>
                </a:moveTo>
                <a:lnTo>
                  <a:pt x="348421" y="0"/>
                </a:lnTo>
                <a:cubicBezTo>
                  <a:pt x="396495" y="0"/>
                  <a:pt x="435526" y="39031"/>
                  <a:pt x="435526" y="87105"/>
                </a:cubicBezTo>
                <a:lnTo>
                  <a:pt x="435526" y="348421"/>
                </a:lnTo>
                <a:cubicBezTo>
                  <a:pt x="435526" y="396527"/>
                  <a:pt x="396527" y="435526"/>
                  <a:pt x="348421" y="435526"/>
                </a:cubicBezTo>
                <a:lnTo>
                  <a:pt x="87105" y="435526"/>
                </a:lnTo>
                <a:cubicBezTo>
                  <a:pt x="38998" y="435526"/>
                  <a:pt x="0" y="396527"/>
                  <a:pt x="0" y="348421"/>
                </a:cubicBezTo>
                <a:lnTo>
                  <a:pt x="0" y="87105"/>
                </a:lnTo>
                <a:cubicBezTo>
                  <a:pt x="0" y="38998"/>
                  <a:pt x="38998" y="0"/>
                  <a:pt x="8710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63175" y="2330063"/>
            <a:ext cx="174210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50130" y="2264734"/>
            <a:ext cx="1927202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分解 (Divide)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0130" y="2569602"/>
            <a:ext cx="1905425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将大问题分解为若干小問題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3946" y="2874470"/>
            <a:ext cx="7022853" cy="283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1TB气象数据 → 多个128MB数据块 → Map任务并行处理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289" y="3418877"/>
            <a:ext cx="7197064" cy="1154143"/>
          </a:xfrm>
          <a:custGeom>
            <a:avLst/>
            <a:gdLst/>
            <a:ahLst/>
            <a:cxnLst/>
            <a:rect l="l" t="t" r="r" b="b"/>
            <a:pathLst>
              <a:path w="7197064" h="1154143">
                <a:moveTo>
                  <a:pt x="87103" y="0"/>
                </a:moveTo>
                <a:lnTo>
                  <a:pt x="7109960" y="0"/>
                </a:lnTo>
                <a:cubicBezTo>
                  <a:pt x="7158066" y="0"/>
                  <a:pt x="7197064" y="38997"/>
                  <a:pt x="7197064" y="87103"/>
                </a:cubicBezTo>
                <a:lnTo>
                  <a:pt x="7197064" y="1067040"/>
                </a:lnTo>
                <a:cubicBezTo>
                  <a:pt x="7197064" y="1115146"/>
                  <a:pt x="7158066" y="1154143"/>
                  <a:pt x="7109960" y="1154143"/>
                </a:cubicBezTo>
                <a:lnTo>
                  <a:pt x="87103" y="1154143"/>
                </a:lnTo>
                <a:cubicBezTo>
                  <a:pt x="39030" y="1154143"/>
                  <a:pt x="0" y="1115114"/>
                  <a:pt x="0" y="1067040"/>
                </a:cubicBezTo>
                <a:lnTo>
                  <a:pt x="0" y="87103"/>
                </a:lnTo>
                <a:cubicBezTo>
                  <a:pt x="0" y="39030"/>
                  <a:pt x="39030" y="0"/>
                  <a:pt x="871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83946" y="3549535"/>
            <a:ext cx="435526" cy="435526"/>
          </a:xfrm>
          <a:custGeom>
            <a:avLst/>
            <a:gdLst/>
            <a:ahLst/>
            <a:cxnLst/>
            <a:rect l="l" t="t" r="r" b="b"/>
            <a:pathLst>
              <a:path w="435526" h="435526">
                <a:moveTo>
                  <a:pt x="87105" y="0"/>
                </a:moveTo>
                <a:lnTo>
                  <a:pt x="348421" y="0"/>
                </a:lnTo>
                <a:cubicBezTo>
                  <a:pt x="396495" y="0"/>
                  <a:pt x="435526" y="39031"/>
                  <a:pt x="435526" y="87105"/>
                </a:cubicBezTo>
                <a:lnTo>
                  <a:pt x="435526" y="348421"/>
                </a:lnTo>
                <a:cubicBezTo>
                  <a:pt x="435526" y="396527"/>
                  <a:pt x="396527" y="435526"/>
                  <a:pt x="348421" y="435526"/>
                </a:cubicBezTo>
                <a:lnTo>
                  <a:pt x="87105" y="435526"/>
                </a:lnTo>
                <a:cubicBezTo>
                  <a:pt x="38998" y="435526"/>
                  <a:pt x="0" y="396527"/>
                  <a:pt x="0" y="348421"/>
                </a:cubicBezTo>
                <a:lnTo>
                  <a:pt x="0" y="87105"/>
                </a:lnTo>
                <a:cubicBezTo>
                  <a:pt x="0" y="38998"/>
                  <a:pt x="38998" y="0"/>
                  <a:pt x="8710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46588" y="3614864"/>
            <a:ext cx="206875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50130" y="3549535"/>
            <a:ext cx="1622334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 (Conquer)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50130" y="3854403"/>
            <a:ext cx="1600557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递归地解决各个子问题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3946" y="4159271"/>
            <a:ext cx="7022853" cy="283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Map任务并行执行提取(年份,温度)键值对，Reduce任务计算每年最高温度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3289" y="4703678"/>
            <a:ext cx="7197064" cy="1154143"/>
          </a:xfrm>
          <a:custGeom>
            <a:avLst/>
            <a:gdLst/>
            <a:ahLst/>
            <a:cxnLst/>
            <a:rect l="l" t="t" r="r" b="b"/>
            <a:pathLst>
              <a:path w="7197064" h="1154143">
                <a:moveTo>
                  <a:pt x="87103" y="0"/>
                </a:moveTo>
                <a:lnTo>
                  <a:pt x="7109960" y="0"/>
                </a:lnTo>
                <a:cubicBezTo>
                  <a:pt x="7158066" y="0"/>
                  <a:pt x="7197064" y="38997"/>
                  <a:pt x="7197064" y="87103"/>
                </a:cubicBezTo>
                <a:lnTo>
                  <a:pt x="7197064" y="1067040"/>
                </a:lnTo>
                <a:cubicBezTo>
                  <a:pt x="7197064" y="1115146"/>
                  <a:pt x="7158066" y="1154143"/>
                  <a:pt x="7109960" y="1154143"/>
                </a:cubicBezTo>
                <a:lnTo>
                  <a:pt x="87103" y="1154143"/>
                </a:lnTo>
                <a:cubicBezTo>
                  <a:pt x="39030" y="1154143"/>
                  <a:pt x="0" y="1115114"/>
                  <a:pt x="0" y="1067040"/>
                </a:cubicBezTo>
                <a:lnTo>
                  <a:pt x="0" y="87103"/>
                </a:lnTo>
                <a:cubicBezTo>
                  <a:pt x="0" y="39030"/>
                  <a:pt x="39030" y="0"/>
                  <a:pt x="8710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83946" y="4834336"/>
            <a:ext cx="435526" cy="435526"/>
          </a:xfrm>
          <a:custGeom>
            <a:avLst/>
            <a:gdLst/>
            <a:ahLst/>
            <a:cxnLst/>
            <a:rect l="l" t="t" r="r" b="b"/>
            <a:pathLst>
              <a:path w="435526" h="435526">
                <a:moveTo>
                  <a:pt x="87105" y="0"/>
                </a:moveTo>
                <a:lnTo>
                  <a:pt x="348421" y="0"/>
                </a:lnTo>
                <a:cubicBezTo>
                  <a:pt x="396495" y="0"/>
                  <a:pt x="435526" y="39031"/>
                  <a:pt x="435526" y="87105"/>
                </a:cubicBezTo>
                <a:lnTo>
                  <a:pt x="435526" y="348421"/>
                </a:lnTo>
                <a:cubicBezTo>
                  <a:pt x="435526" y="396527"/>
                  <a:pt x="396527" y="435526"/>
                  <a:pt x="348421" y="435526"/>
                </a:cubicBezTo>
                <a:lnTo>
                  <a:pt x="87105" y="435526"/>
                </a:lnTo>
                <a:cubicBezTo>
                  <a:pt x="38998" y="435526"/>
                  <a:pt x="0" y="396527"/>
                  <a:pt x="0" y="348421"/>
                </a:cubicBezTo>
                <a:lnTo>
                  <a:pt x="0" y="87105"/>
                </a:lnTo>
                <a:cubicBezTo>
                  <a:pt x="0" y="38998"/>
                  <a:pt x="38998" y="0"/>
                  <a:pt x="87105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44036" y="4899665"/>
            <a:ext cx="217763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50130" y="4834336"/>
            <a:ext cx="1469900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 (Combine)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50130" y="5139204"/>
            <a:ext cx="1448123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将子问题的解合并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3946" y="5444072"/>
            <a:ext cx="7022853" cy="283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所有Reduce结果汇总为最终答案：每年的最高温度记录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60444" y="1524340"/>
            <a:ext cx="7567261" cy="5313415"/>
          </a:xfrm>
          <a:custGeom>
            <a:avLst/>
            <a:gdLst/>
            <a:ahLst/>
            <a:cxnLst/>
            <a:rect l="l" t="t" r="r" b="b"/>
            <a:pathLst>
              <a:path w="7567261" h="5313415">
                <a:moveTo>
                  <a:pt x="43553" y="0"/>
                </a:moveTo>
                <a:lnTo>
                  <a:pt x="7480174" y="0"/>
                </a:lnTo>
                <a:cubicBezTo>
                  <a:pt x="7528270" y="0"/>
                  <a:pt x="7567261" y="38990"/>
                  <a:pt x="7567261" y="87087"/>
                </a:cubicBezTo>
                <a:lnTo>
                  <a:pt x="7567261" y="5226328"/>
                </a:lnTo>
                <a:cubicBezTo>
                  <a:pt x="7567261" y="5274424"/>
                  <a:pt x="7528270" y="5313415"/>
                  <a:pt x="7480174" y="5313415"/>
                </a:cubicBezTo>
                <a:lnTo>
                  <a:pt x="43553" y="5313415"/>
                </a:lnTo>
                <a:cubicBezTo>
                  <a:pt x="19499" y="5313415"/>
                  <a:pt x="0" y="5293915"/>
                  <a:pt x="0" y="5269862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60444" y="1524340"/>
            <a:ext cx="43553" cy="5313415"/>
          </a:xfrm>
          <a:custGeom>
            <a:avLst/>
            <a:gdLst/>
            <a:ahLst/>
            <a:cxnLst/>
            <a:rect l="l" t="t" r="r" b="b"/>
            <a:pathLst>
              <a:path w="43553" h="5313415">
                <a:moveTo>
                  <a:pt x="43553" y="0"/>
                </a:moveTo>
                <a:lnTo>
                  <a:pt x="43553" y="0"/>
                </a:lnTo>
                <a:lnTo>
                  <a:pt x="43553" y="5313415"/>
                </a:lnTo>
                <a:lnTo>
                  <a:pt x="43553" y="5313415"/>
                </a:lnTo>
                <a:cubicBezTo>
                  <a:pt x="19499" y="5313415"/>
                  <a:pt x="0" y="5293915"/>
                  <a:pt x="0" y="5269862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483651" y="1742103"/>
            <a:ext cx="217763" cy="217763"/>
          </a:xfrm>
          <a:custGeom>
            <a:avLst/>
            <a:gdLst/>
            <a:ahLst/>
            <a:cxnLst/>
            <a:rect l="l" t="t" r="r" b="b"/>
            <a:pathLst>
              <a:path w="217763" h="217763">
                <a:moveTo>
                  <a:pt x="27220" y="27220"/>
                </a:moveTo>
                <a:cubicBezTo>
                  <a:pt x="27220" y="19692"/>
                  <a:pt x="21138" y="13610"/>
                  <a:pt x="13610" y="13610"/>
                </a:cubicBezTo>
                <a:cubicBezTo>
                  <a:pt x="6082" y="13610"/>
                  <a:pt x="0" y="19692"/>
                  <a:pt x="0" y="27220"/>
                </a:cubicBezTo>
                <a:lnTo>
                  <a:pt x="0" y="170127"/>
                </a:lnTo>
                <a:cubicBezTo>
                  <a:pt x="0" y="188926"/>
                  <a:pt x="15226" y="204153"/>
                  <a:pt x="34025" y="204153"/>
                </a:cubicBezTo>
                <a:lnTo>
                  <a:pt x="204153" y="204153"/>
                </a:lnTo>
                <a:cubicBezTo>
                  <a:pt x="211681" y="204153"/>
                  <a:pt x="217763" y="198071"/>
                  <a:pt x="217763" y="190543"/>
                </a:cubicBezTo>
                <a:cubicBezTo>
                  <a:pt x="217763" y="183014"/>
                  <a:pt x="211681" y="176932"/>
                  <a:pt x="204153" y="176932"/>
                </a:cubicBezTo>
                <a:lnTo>
                  <a:pt x="34025" y="176932"/>
                </a:lnTo>
                <a:cubicBezTo>
                  <a:pt x="30283" y="176932"/>
                  <a:pt x="27220" y="173870"/>
                  <a:pt x="27220" y="170127"/>
                </a:cubicBezTo>
                <a:lnTo>
                  <a:pt x="27220" y="27220"/>
                </a:lnTo>
                <a:close/>
                <a:moveTo>
                  <a:pt x="200155" y="64053"/>
                </a:moveTo>
                <a:cubicBezTo>
                  <a:pt x="205471" y="58736"/>
                  <a:pt x="205471" y="50102"/>
                  <a:pt x="200155" y="44786"/>
                </a:cubicBezTo>
                <a:cubicBezTo>
                  <a:pt x="194838" y="39470"/>
                  <a:pt x="186204" y="39470"/>
                  <a:pt x="180888" y="44786"/>
                </a:cubicBezTo>
                <a:lnTo>
                  <a:pt x="136102" y="89615"/>
                </a:lnTo>
                <a:lnTo>
                  <a:pt x="111689" y="65244"/>
                </a:lnTo>
                <a:cubicBezTo>
                  <a:pt x="106372" y="59927"/>
                  <a:pt x="97738" y="59927"/>
                  <a:pt x="92422" y="65244"/>
                </a:cubicBezTo>
                <a:lnTo>
                  <a:pt x="51591" y="106074"/>
                </a:lnTo>
                <a:cubicBezTo>
                  <a:pt x="46275" y="111391"/>
                  <a:pt x="46275" y="120025"/>
                  <a:pt x="51591" y="125341"/>
                </a:cubicBezTo>
                <a:cubicBezTo>
                  <a:pt x="56908" y="130658"/>
                  <a:pt x="65542" y="130658"/>
                  <a:pt x="70858" y="125341"/>
                </a:cubicBezTo>
                <a:lnTo>
                  <a:pt x="102076" y="94123"/>
                </a:lnTo>
                <a:lnTo>
                  <a:pt x="126490" y="118536"/>
                </a:lnTo>
                <a:cubicBezTo>
                  <a:pt x="131806" y="123853"/>
                  <a:pt x="140440" y="123853"/>
                  <a:pt x="145757" y="118536"/>
                </a:cubicBezTo>
                <a:lnTo>
                  <a:pt x="200197" y="64095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728634" y="1698551"/>
            <a:ext cx="7033741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分而治之带来的优势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56431" y="2134076"/>
            <a:ext cx="3527759" cy="1219472"/>
          </a:xfrm>
          <a:custGeom>
            <a:avLst/>
            <a:gdLst/>
            <a:ahLst/>
            <a:cxnLst/>
            <a:rect l="l" t="t" r="r" b="b"/>
            <a:pathLst>
              <a:path w="3527759" h="1219472">
                <a:moveTo>
                  <a:pt x="87107" y="0"/>
                </a:moveTo>
                <a:lnTo>
                  <a:pt x="3440652" y="0"/>
                </a:lnTo>
                <a:cubicBezTo>
                  <a:pt x="3488760" y="0"/>
                  <a:pt x="3527759" y="38999"/>
                  <a:pt x="3527759" y="87107"/>
                </a:cubicBezTo>
                <a:lnTo>
                  <a:pt x="3527759" y="1132365"/>
                </a:lnTo>
                <a:cubicBezTo>
                  <a:pt x="3527759" y="1180473"/>
                  <a:pt x="3488760" y="1219472"/>
                  <a:pt x="3440652" y="1219472"/>
                </a:cubicBezTo>
                <a:lnTo>
                  <a:pt x="87107" y="1219472"/>
                </a:lnTo>
                <a:cubicBezTo>
                  <a:pt x="38999" y="1219472"/>
                  <a:pt x="0" y="1180473"/>
                  <a:pt x="0" y="1132365"/>
                </a:cubicBezTo>
                <a:lnTo>
                  <a:pt x="0" y="87107"/>
                </a:lnTo>
                <a:cubicBezTo>
                  <a:pt x="0" y="38999"/>
                  <a:pt x="38999" y="0"/>
                  <a:pt x="8710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0091439" y="2264734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65329" y="163322"/>
                </a:moveTo>
                <a:lnTo>
                  <a:pt x="12504" y="163322"/>
                </a:lnTo>
                <a:cubicBezTo>
                  <a:pt x="-204" y="163322"/>
                  <a:pt x="-8013" y="149491"/>
                  <a:pt x="-1480" y="138569"/>
                </a:cubicBezTo>
                <a:lnTo>
                  <a:pt x="25519" y="93553"/>
                </a:lnTo>
                <a:cubicBezTo>
                  <a:pt x="29959" y="86152"/>
                  <a:pt x="37921" y="81661"/>
                  <a:pt x="46547" y="81661"/>
                </a:cubicBezTo>
                <a:lnTo>
                  <a:pt x="95033" y="81661"/>
                </a:lnTo>
                <a:cubicBezTo>
                  <a:pt x="133873" y="15873"/>
                  <a:pt x="191801" y="12555"/>
                  <a:pt x="230539" y="18221"/>
                </a:cubicBezTo>
                <a:cubicBezTo>
                  <a:pt x="237072" y="19190"/>
                  <a:pt x="242176" y="24294"/>
                  <a:pt x="243095" y="30776"/>
                </a:cubicBezTo>
                <a:cubicBezTo>
                  <a:pt x="248760" y="69514"/>
                  <a:pt x="245443" y="127442"/>
                  <a:pt x="179654" y="166282"/>
                </a:cubicBezTo>
                <a:lnTo>
                  <a:pt x="179654" y="214769"/>
                </a:lnTo>
                <a:cubicBezTo>
                  <a:pt x="179654" y="223394"/>
                  <a:pt x="175163" y="231356"/>
                  <a:pt x="167762" y="235796"/>
                </a:cubicBezTo>
                <a:lnTo>
                  <a:pt x="122747" y="262796"/>
                </a:lnTo>
                <a:cubicBezTo>
                  <a:pt x="111876" y="269328"/>
                  <a:pt x="97993" y="261469"/>
                  <a:pt x="97993" y="248811"/>
                </a:cubicBezTo>
                <a:lnTo>
                  <a:pt x="97993" y="195987"/>
                </a:lnTo>
                <a:cubicBezTo>
                  <a:pt x="97993" y="177970"/>
                  <a:pt x="83345" y="163322"/>
                  <a:pt x="65329" y="163322"/>
                </a:cubicBezTo>
                <a:lnTo>
                  <a:pt x="65278" y="163322"/>
                </a:lnTo>
                <a:close/>
                <a:moveTo>
                  <a:pt x="204153" y="81661"/>
                </a:moveTo>
                <a:cubicBezTo>
                  <a:pt x="204153" y="68140"/>
                  <a:pt x="193175" y="57163"/>
                  <a:pt x="179654" y="57163"/>
                </a:cubicBezTo>
                <a:cubicBezTo>
                  <a:pt x="166133" y="57163"/>
                  <a:pt x="155156" y="68140"/>
                  <a:pt x="155156" y="81661"/>
                </a:cubicBezTo>
                <a:cubicBezTo>
                  <a:pt x="155156" y="95182"/>
                  <a:pt x="166133" y="106159"/>
                  <a:pt x="179654" y="106159"/>
                </a:cubicBezTo>
                <a:cubicBezTo>
                  <a:pt x="193175" y="106159"/>
                  <a:pt x="204153" y="95182"/>
                  <a:pt x="204153" y="8166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538092" y="2613155"/>
            <a:ext cx="3364437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43536" y="2961575"/>
            <a:ext cx="3353549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2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子问题可独立并行处理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118420" y="2134076"/>
            <a:ext cx="3527759" cy="1219472"/>
          </a:xfrm>
          <a:custGeom>
            <a:avLst/>
            <a:gdLst/>
            <a:ahLst/>
            <a:cxnLst/>
            <a:rect l="l" t="t" r="r" b="b"/>
            <a:pathLst>
              <a:path w="3527759" h="1219472">
                <a:moveTo>
                  <a:pt x="87107" y="0"/>
                </a:moveTo>
                <a:lnTo>
                  <a:pt x="3440652" y="0"/>
                </a:lnTo>
                <a:cubicBezTo>
                  <a:pt x="3488760" y="0"/>
                  <a:pt x="3527759" y="38999"/>
                  <a:pt x="3527759" y="87107"/>
                </a:cubicBezTo>
                <a:lnTo>
                  <a:pt x="3527759" y="1132365"/>
                </a:lnTo>
                <a:cubicBezTo>
                  <a:pt x="3527759" y="1180473"/>
                  <a:pt x="3488760" y="1219472"/>
                  <a:pt x="3440652" y="1219472"/>
                </a:cubicBezTo>
                <a:lnTo>
                  <a:pt x="87107" y="1219472"/>
                </a:lnTo>
                <a:cubicBezTo>
                  <a:pt x="38999" y="1219472"/>
                  <a:pt x="0" y="1180473"/>
                  <a:pt x="0" y="1132365"/>
                </a:cubicBezTo>
                <a:lnTo>
                  <a:pt x="0" y="87107"/>
                </a:lnTo>
                <a:cubicBezTo>
                  <a:pt x="0" y="38999"/>
                  <a:pt x="38999" y="0"/>
                  <a:pt x="8710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3769760" y="2264734"/>
            <a:ext cx="228651" cy="261315"/>
          </a:xfrm>
          <a:custGeom>
            <a:avLst/>
            <a:gdLst/>
            <a:ahLst/>
            <a:cxnLst/>
            <a:rect l="l" t="t" r="r" b="b"/>
            <a:pathLst>
              <a:path w="228651" h="261315">
                <a:moveTo>
                  <a:pt x="85744" y="16332"/>
                </a:moveTo>
                <a:lnTo>
                  <a:pt x="12249" y="16332"/>
                </a:lnTo>
                <a:cubicBezTo>
                  <a:pt x="5461" y="16332"/>
                  <a:pt x="0" y="21793"/>
                  <a:pt x="0" y="28581"/>
                </a:cubicBezTo>
                <a:lnTo>
                  <a:pt x="0" y="102076"/>
                </a:lnTo>
                <a:cubicBezTo>
                  <a:pt x="0" y="107027"/>
                  <a:pt x="2960" y="111518"/>
                  <a:pt x="7554" y="113407"/>
                </a:cubicBezTo>
                <a:cubicBezTo>
                  <a:pt x="12147" y="115295"/>
                  <a:pt x="17404" y="114223"/>
                  <a:pt x="20926" y="110753"/>
                </a:cubicBezTo>
                <a:lnTo>
                  <a:pt x="41341" y="90338"/>
                </a:lnTo>
                <a:lnTo>
                  <a:pt x="81661" y="130658"/>
                </a:lnTo>
                <a:lnTo>
                  <a:pt x="41341" y="170978"/>
                </a:lnTo>
                <a:lnTo>
                  <a:pt x="20926" y="150563"/>
                </a:lnTo>
                <a:cubicBezTo>
                  <a:pt x="17404" y="147041"/>
                  <a:pt x="12147" y="146020"/>
                  <a:pt x="7554" y="147909"/>
                </a:cubicBezTo>
                <a:cubicBezTo>
                  <a:pt x="2960" y="149797"/>
                  <a:pt x="0" y="154288"/>
                  <a:pt x="0" y="159239"/>
                </a:cubicBezTo>
                <a:lnTo>
                  <a:pt x="0" y="232734"/>
                </a:lnTo>
                <a:cubicBezTo>
                  <a:pt x="0" y="239522"/>
                  <a:pt x="5461" y="244983"/>
                  <a:pt x="12249" y="244983"/>
                </a:cubicBezTo>
                <a:lnTo>
                  <a:pt x="85744" y="244983"/>
                </a:lnTo>
                <a:cubicBezTo>
                  <a:pt x="90695" y="244983"/>
                  <a:pt x="95186" y="242023"/>
                  <a:pt x="97075" y="237430"/>
                </a:cubicBezTo>
                <a:cubicBezTo>
                  <a:pt x="98963" y="232836"/>
                  <a:pt x="97942" y="227579"/>
                  <a:pt x="94421" y="224058"/>
                </a:cubicBezTo>
                <a:lnTo>
                  <a:pt x="74005" y="203642"/>
                </a:lnTo>
                <a:lnTo>
                  <a:pt x="114326" y="163322"/>
                </a:lnTo>
                <a:lnTo>
                  <a:pt x="154646" y="203642"/>
                </a:lnTo>
                <a:lnTo>
                  <a:pt x="134230" y="224058"/>
                </a:lnTo>
                <a:cubicBezTo>
                  <a:pt x="130709" y="227579"/>
                  <a:pt x="129688" y="232836"/>
                  <a:pt x="131576" y="237430"/>
                </a:cubicBezTo>
                <a:cubicBezTo>
                  <a:pt x="133465" y="242023"/>
                  <a:pt x="137956" y="244983"/>
                  <a:pt x="142907" y="244983"/>
                </a:cubicBezTo>
                <a:lnTo>
                  <a:pt x="216402" y="244983"/>
                </a:lnTo>
                <a:cubicBezTo>
                  <a:pt x="223190" y="244983"/>
                  <a:pt x="228651" y="239522"/>
                  <a:pt x="228651" y="232734"/>
                </a:cubicBezTo>
                <a:lnTo>
                  <a:pt x="228651" y="159239"/>
                </a:lnTo>
                <a:cubicBezTo>
                  <a:pt x="228651" y="154288"/>
                  <a:pt x="225691" y="149797"/>
                  <a:pt x="221097" y="147909"/>
                </a:cubicBezTo>
                <a:cubicBezTo>
                  <a:pt x="216504" y="146020"/>
                  <a:pt x="211247" y="147041"/>
                  <a:pt x="207725" y="150563"/>
                </a:cubicBezTo>
                <a:lnTo>
                  <a:pt x="187310" y="170978"/>
                </a:lnTo>
                <a:lnTo>
                  <a:pt x="146990" y="130658"/>
                </a:lnTo>
                <a:lnTo>
                  <a:pt x="187310" y="90338"/>
                </a:lnTo>
                <a:lnTo>
                  <a:pt x="207725" y="110753"/>
                </a:lnTo>
                <a:cubicBezTo>
                  <a:pt x="211247" y="114274"/>
                  <a:pt x="216504" y="115295"/>
                  <a:pt x="221097" y="113407"/>
                </a:cubicBezTo>
                <a:cubicBezTo>
                  <a:pt x="225691" y="111518"/>
                  <a:pt x="228651" y="107027"/>
                  <a:pt x="228651" y="102076"/>
                </a:cubicBezTo>
                <a:lnTo>
                  <a:pt x="228651" y="28581"/>
                </a:lnTo>
                <a:cubicBezTo>
                  <a:pt x="228651" y="21793"/>
                  <a:pt x="223190" y="16332"/>
                  <a:pt x="216402" y="16332"/>
                </a:cubicBezTo>
                <a:lnTo>
                  <a:pt x="142907" y="16332"/>
                </a:lnTo>
                <a:cubicBezTo>
                  <a:pt x="137956" y="16332"/>
                  <a:pt x="133465" y="19292"/>
                  <a:pt x="131576" y="23886"/>
                </a:cubicBezTo>
                <a:cubicBezTo>
                  <a:pt x="129688" y="28479"/>
                  <a:pt x="130760" y="33736"/>
                  <a:pt x="134230" y="37258"/>
                </a:cubicBezTo>
                <a:lnTo>
                  <a:pt x="154646" y="57673"/>
                </a:lnTo>
                <a:lnTo>
                  <a:pt x="114326" y="97993"/>
                </a:lnTo>
                <a:lnTo>
                  <a:pt x="74005" y="57673"/>
                </a:lnTo>
                <a:lnTo>
                  <a:pt x="94421" y="37258"/>
                </a:lnTo>
                <a:cubicBezTo>
                  <a:pt x="97942" y="33736"/>
                  <a:pt x="98963" y="28479"/>
                  <a:pt x="97075" y="23886"/>
                </a:cubicBezTo>
                <a:cubicBezTo>
                  <a:pt x="95186" y="19292"/>
                  <a:pt x="90695" y="16332"/>
                  <a:pt x="85744" y="16332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200081" y="2613155"/>
            <a:ext cx="3364437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205525" y="2961575"/>
            <a:ext cx="3353549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2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增节点可处理更多子问题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56431" y="3484206"/>
            <a:ext cx="3527759" cy="1219472"/>
          </a:xfrm>
          <a:custGeom>
            <a:avLst/>
            <a:gdLst/>
            <a:ahLst/>
            <a:cxnLst/>
            <a:rect l="l" t="t" r="r" b="b"/>
            <a:pathLst>
              <a:path w="3527759" h="1219472">
                <a:moveTo>
                  <a:pt x="87107" y="0"/>
                </a:moveTo>
                <a:lnTo>
                  <a:pt x="3440652" y="0"/>
                </a:lnTo>
                <a:cubicBezTo>
                  <a:pt x="3488760" y="0"/>
                  <a:pt x="3527759" y="38999"/>
                  <a:pt x="3527759" y="87107"/>
                </a:cubicBezTo>
                <a:lnTo>
                  <a:pt x="3527759" y="1132365"/>
                </a:lnTo>
                <a:cubicBezTo>
                  <a:pt x="3527759" y="1180473"/>
                  <a:pt x="3488760" y="1219472"/>
                  <a:pt x="3440652" y="1219472"/>
                </a:cubicBezTo>
                <a:lnTo>
                  <a:pt x="87107" y="1219472"/>
                </a:lnTo>
                <a:cubicBezTo>
                  <a:pt x="38999" y="1219472"/>
                  <a:pt x="0" y="1180473"/>
                  <a:pt x="0" y="1132365"/>
                </a:cubicBezTo>
                <a:lnTo>
                  <a:pt x="0" y="87107"/>
                </a:lnTo>
                <a:cubicBezTo>
                  <a:pt x="0" y="38999"/>
                  <a:pt x="38999" y="0"/>
                  <a:pt x="8710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0091439" y="3614864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130658" y="0"/>
                </a:moveTo>
                <a:cubicBezTo>
                  <a:pt x="133005" y="0"/>
                  <a:pt x="135353" y="510"/>
                  <a:pt x="137497" y="1480"/>
                </a:cubicBezTo>
                <a:lnTo>
                  <a:pt x="233653" y="42260"/>
                </a:lnTo>
                <a:cubicBezTo>
                  <a:pt x="244881" y="47006"/>
                  <a:pt x="253251" y="58081"/>
                  <a:pt x="253200" y="71453"/>
                </a:cubicBezTo>
                <a:cubicBezTo>
                  <a:pt x="252945" y="122083"/>
                  <a:pt x="232122" y="214718"/>
                  <a:pt x="144183" y="256824"/>
                </a:cubicBezTo>
                <a:cubicBezTo>
                  <a:pt x="135659" y="260907"/>
                  <a:pt x="125758" y="260907"/>
                  <a:pt x="117235" y="256824"/>
                </a:cubicBezTo>
                <a:cubicBezTo>
                  <a:pt x="29245" y="214718"/>
                  <a:pt x="8472" y="122083"/>
                  <a:pt x="8217" y="71453"/>
                </a:cubicBezTo>
                <a:cubicBezTo>
                  <a:pt x="8166" y="58081"/>
                  <a:pt x="16536" y="47006"/>
                  <a:pt x="27765" y="42260"/>
                </a:cubicBezTo>
                <a:lnTo>
                  <a:pt x="123870" y="1480"/>
                </a:lnTo>
                <a:cubicBezTo>
                  <a:pt x="126013" y="510"/>
                  <a:pt x="128310" y="0"/>
                  <a:pt x="130658" y="0"/>
                </a:cubicBezTo>
                <a:close/>
                <a:moveTo>
                  <a:pt x="130658" y="34094"/>
                </a:moveTo>
                <a:lnTo>
                  <a:pt x="130658" y="227069"/>
                </a:lnTo>
                <a:cubicBezTo>
                  <a:pt x="201090" y="192975"/>
                  <a:pt x="220026" y="117439"/>
                  <a:pt x="220485" y="72219"/>
                </a:cubicBezTo>
                <a:lnTo>
                  <a:pt x="130658" y="34145"/>
                </a:lnTo>
                <a:lnTo>
                  <a:pt x="130658" y="34145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538092" y="3963285"/>
            <a:ext cx="3364437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容错性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43536" y="4311705"/>
            <a:ext cx="3353549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2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单个子问题失败不影响整体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118420" y="3484206"/>
            <a:ext cx="3527759" cy="1219472"/>
          </a:xfrm>
          <a:custGeom>
            <a:avLst/>
            <a:gdLst/>
            <a:ahLst/>
            <a:cxnLst/>
            <a:rect l="l" t="t" r="r" b="b"/>
            <a:pathLst>
              <a:path w="3527759" h="1219472">
                <a:moveTo>
                  <a:pt x="87107" y="0"/>
                </a:moveTo>
                <a:lnTo>
                  <a:pt x="3440652" y="0"/>
                </a:lnTo>
                <a:cubicBezTo>
                  <a:pt x="3488760" y="0"/>
                  <a:pt x="3527759" y="38999"/>
                  <a:pt x="3527759" y="87107"/>
                </a:cubicBezTo>
                <a:lnTo>
                  <a:pt x="3527759" y="1132365"/>
                </a:lnTo>
                <a:cubicBezTo>
                  <a:pt x="3527759" y="1180473"/>
                  <a:pt x="3488760" y="1219472"/>
                  <a:pt x="3440652" y="1219472"/>
                </a:cubicBezTo>
                <a:lnTo>
                  <a:pt x="87107" y="1219472"/>
                </a:lnTo>
                <a:cubicBezTo>
                  <a:pt x="38999" y="1219472"/>
                  <a:pt x="0" y="1180473"/>
                  <a:pt x="0" y="1132365"/>
                </a:cubicBezTo>
                <a:lnTo>
                  <a:pt x="0" y="87107"/>
                </a:lnTo>
                <a:cubicBezTo>
                  <a:pt x="0" y="38999"/>
                  <a:pt x="38999" y="0"/>
                  <a:pt x="8710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3753428" y="3614864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203387" y="6227"/>
                </a:moveTo>
                <a:lnTo>
                  <a:pt x="158371" y="51242"/>
                </a:lnTo>
                <a:lnTo>
                  <a:pt x="210073" y="102944"/>
                </a:lnTo>
                <a:lnTo>
                  <a:pt x="255089" y="57928"/>
                </a:lnTo>
                <a:cubicBezTo>
                  <a:pt x="259070" y="53896"/>
                  <a:pt x="261315" y="48486"/>
                  <a:pt x="261315" y="42872"/>
                </a:cubicBezTo>
                <a:cubicBezTo>
                  <a:pt x="261315" y="37258"/>
                  <a:pt x="259070" y="31848"/>
                  <a:pt x="255089" y="27816"/>
                </a:cubicBezTo>
                <a:lnTo>
                  <a:pt x="233500" y="6227"/>
                </a:lnTo>
                <a:cubicBezTo>
                  <a:pt x="229468" y="2246"/>
                  <a:pt x="224058" y="0"/>
                  <a:pt x="218443" y="0"/>
                </a:cubicBezTo>
                <a:cubicBezTo>
                  <a:pt x="212829" y="0"/>
                  <a:pt x="207419" y="2246"/>
                  <a:pt x="203387" y="6227"/>
                </a:cubicBezTo>
                <a:close/>
                <a:moveTo>
                  <a:pt x="141070" y="68544"/>
                </a:moveTo>
                <a:lnTo>
                  <a:pt x="6227" y="203387"/>
                </a:lnTo>
                <a:cubicBezTo>
                  <a:pt x="2246" y="207419"/>
                  <a:pt x="0" y="212829"/>
                  <a:pt x="0" y="218443"/>
                </a:cubicBezTo>
                <a:cubicBezTo>
                  <a:pt x="0" y="224058"/>
                  <a:pt x="2246" y="229468"/>
                  <a:pt x="6227" y="233500"/>
                </a:cubicBezTo>
                <a:lnTo>
                  <a:pt x="27816" y="255089"/>
                </a:lnTo>
                <a:cubicBezTo>
                  <a:pt x="31848" y="259070"/>
                  <a:pt x="37258" y="261315"/>
                  <a:pt x="42872" y="261315"/>
                </a:cubicBezTo>
                <a:cubicBezTo>
                  <a:pt x="48486" y="261315"/>
                  <a:pt x="53896" y="259070"/>
                  <a:pt x="57928" y="255089"/>
                </a:cubicBezTo>
                <a:lnTo>
                  <a:pt x="192771" y="120246"/>
                </a:lnTo>
                <a:lnTo>
                  <a:pt x="141070" y="68544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2200081" y="3963285"/>
            <a:ext cx="3364437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简化性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205525" y="4311705"/>
            <a:ext cx="3353549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2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复杂问题转化为简单操作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56431" y="4834336"/>
            <a:ext cx="7197064" cy="1829208"/>
          </a:xfrm>
          <a:custGeom>
            <a:avLst/>
            <a:gdLst/>
            <a:ahLst/>
            <a:cxnLst/>
            <a:rect l="l" t="t" r="r" b="b"/>
            <a:pathLst>
              <a:path w="7197064" h="1829208">
                <a:moveTo>
                  <a:pt x="87107" y="0"/>
                </a:moveTo>
                <a:lnTo>
                  <a:pt x="7109957" y="0"/>
                </a:lnTo>
                <a:cubicBezTo>
                  <a:pt x="7158065" y="0"/>
                  <a:pt x="7197064" y="38999"/>
                  <a:pt x="7197064" y="87107"/>
                </a:cubicBezTo>
                <a:lnTo>
                  <a:pt x="7197064" y="1742101"/>
                </a:lnTo>
                <a:cubicBezTo>
                  <a:pt x="7197064" y="1790209"/>
                  <a:pt x="7158065" y="1829208"/>
                  <a:pt x="7109957" y="1829208"/>
                </a:cubicBezTo>
                <a:lnTo>
                  <a:pt x="87107" y="1829208"/>
                </a:lnTo>
                <a:cubicBezTo>
                  <a:pt x="38999" y="1829208"/>
                  <a:pt x="0" y="1790209"/>
                  <a:pt x="0" y="1742101"/>
                </a:cubicBezTo>
                <a:lnTo>
                  <a:pt x="0" y="87107"/>
                </a:lnTo>
                <a:cubicBezTo>
                  <a:pt x="0" y="39031"/>
                  <a:pt x="39031" y="0"/>
                  <a:pt x="8710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587088" y="4964994"/>
            <a:ext cx="702285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示例：分析 1TB 气象数据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87088" y="5313415"/>
            <a:ext cx="702285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数据块1 (128MB) → Map任务1：1950-1960年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87088" y="5618283"/>
            <a:ext cx="702285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数据块2 (128MB) → Map任务2：1961-1970年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87088" y="5923151"/>
            <a:ext cx="702285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数据块3 (128MB) → Map任务3：1971-1980年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87088" y="6271571"/>
            <a:ext cx="702285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... 数千个Map任务并行执行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5526" y="7011965"/>
            <a:ext cx="15384948" cy="1698551"/>
          </a:xfrm>
          <a:custGeom>
            <a:avLst/>
            <a:gdLst/>
            <a:ahLst/>
            <a:cxnLst/>
            <a:rect l="l" t="t" r="r" b="b"/>
            <a:pathLst>
              <a:path w="15384948" h="1698551">
                <a:moveTo>
                  <a:pt x="87102" y="0"/>
                </a:moveTo>
                <a:lnTo>
                  <a:pt x="15297847" y="0"/>
                </a:lnTo>
                <a:cubicBezTo>
                  <a:pt x="15345952" y="0"/>
                  <a:pt x="15384948" y="38997"/>
                  <a:pt x="15384948" y="87102"/>
                </a:cubicBezTo>
                <a:lnTo>
                  <a:pt x="15384948" y="1611449"/>
                </a:lnTo>
                <a:cubicBezTo>
                  <a:pt x="15384948" y="1659554"/>
                  <a:pt x="15345952" y="1698551"/>
                  <a:pt x="15297847" y="1698551"/>
                </a:cubicBezTo>
                <a:lnTo>
                  <a:pt x="87102" y="1698551"/>
                </a:lnTo>
                <a:cubicBezTo>
                  <a:pt x="38997" y="1698551"/>
                  <a:pt x="0" y="1659554"/>
                  <a:pt x="0" y="1611449"/>
                </a:cubicBezTo>
                <a:lnTo>
                  <a:pt x="0" y="87102"/>
                </a:lnTo>
                <a:cubicBezTo>
                  <a:pt x="0" y="38997"/>
                  <a:pt x="38997" y="0"/>
                  <a:pt x="87102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636956" y="7229728"/>
            <a:ext cx="217763" cy="217763"/>
          </a:xfrm>
          <a:custGeom>
            <a:avLst/>
            <a:gdLst/>
            <a:ahLst/>
            <a:cxnLst/>
            <a:rect l="l" t="t" r="r" b="b"/>
            <a:pathLst>
              <a:path w="217763" h="217763">
                <a:moveTo>
                  <a:pt x="213765" y="64053"/>
                </a:moveTo>
                <a:lnTo>
                  <a:pt x="172934" y="104883"/>
                </a:lnTo>
                <a:cubicBezTo>
                  <a:pt x="169021" y="108796"/>
                  <a:pt x="163195" y="109945"/>
                  <a:pt x="158091" y="107818"/>
                </a:cubicBezTo>
                <a:cubicBezTo>
                  <a:pt x="152987" y="105692"/>
                  <a:pt x="149712" y="100758"/>
                  <a:pt x="149712" y="95271"/>
                </a:cubicBezTo>
                <a:lnTo>
                  <a:pt x="149712" y="68051"/>
                </a:lnTo>
                <a:lnTo>
                  <a:pt x="13610" y="68051"/>
                </a:lnTo>
                <a:cubicBezTo>
                  <a:pt x="6082" y="68051"/>
                  <a:pt x="0" y="61969"/>
                  <a:pt x="0" y="54441"/>
                </a:cubicBezTo>
                <a:cubicBezTo>
                  <a:pt x="0" y="46913"/>
                  <a:pt x="6082" y="40831"/>
                  <a:pt x="13610" y="40831"/>
                </a:cubicBezTo>
                <a:lnTo>
                  <a:pt x="149712" y="40831"/>
                </a:lnTo>
                <a:lnTo>
                  <a:pt x="149712" y="13610"/>
                </a:lnTo>
                <a:cubicBezTo>
                  <a:pt x="149712" y="8124"/>
                  <a:pt x="153029" y="3147"/>
                  <a:pt x="158133" y="1021"/>
                </a:cubicBezTo>
                <a:cubicBezTo>
                  <a:pt x="163237" y="-1106"/>
                  <a:pt x="169064" y="85"/>
                  <a:pt x="172977" y="3955"/>
                </a:cubicBezTo>
                <a:lnTo>
                  <a:pt x="213807" y="44786"/>
                </a:lnTo>
                <a:cubicBezTo>
                  <a:pt x="219124" y="50102"/>
                  <a:pt x="219124" y="58736"/>
                  <a:pt x="213807" y="64053"/>
                </a:cubicBezTo>
                <a:close/>
                <a:moveTo>
                  <a:pt x="44786" y="213765"/>
                </a:moveTo>
                <a:lnTo>
                  <a:pt x="3955" y="172934"/>
                </a:lnTo>
                <a:cubicBezTo>
                  <a:pt x="-1361" y="167618"/>
                  <a:pt x="-1361" y="158984"/>
                  <a:pt x="3955" y="153667"/>
                </a:cubicBezTo>
                <a:lnTo>
                  <a:pt x="44786" y="112837"/>
                </a:lnTo>
                <a:cubicBezTo>
                  <a:pt x="48699" y="108924"/>
                  <a:pt x="54526" y="107776"/>
                  <a:pt x="59630" y="109902"/>
                </a:cubicBezTo>
                <a:cubicBezTo>
                  <a:pt x="64733" y="112029"/>
                  <a:pt x="68051" y="117005"/>
                  <a:pt x="68051" y="122492"/>
                </a:cubicBezTo>
                <a:lnTo>
                  <a:pt x="68051" y="149712"/>
                </a:lnTo>
                <a:lnTo>
                  <a:pt x="204153" y="149712"/>
                </a:lnTo>
                <a:cubicBezTo>
                  <a:pt x="211681" y="149712"/>
                  <a:pt x="217763" y="155794"/>
                  <a:pt x="217763" y="163322"/>
                </a:cubicBezTo>
                <a:cubicBezTo>
                  <a:pt x="217763" y="170850"/>
                  <a:pt x="211681" y="176932"/>
                  <a:pt x="204153" y="176932"/>
                </a:cubicBezTo>
                <a:lnTo>
                  <a:pt x="68051" y="176932"/>
                </a:lnTo>
                <a:lnTo>
                  <a:pt x="68051" y="204153"/>
                </a:lnTo>
                <a:cubicBezTo>
                  <a:pt x="68051" y="209639"/>
                  <a:pt x="64733" y="214616"/>
                  <a:pt x="59630" y="216742"/>
                </a:cubicBezTo>
                <a:cubicBezTo>
                  <a:pt x="54526" y="218869"/>
                  <a:pt x="48699" y="217678"/>
                  <a:pt x="44786" y="21380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81940" y="7186175"/>
            <a:ext cx="14873206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分而治之在 MapReduce 中的体现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09736" y="7621701"/>
            <a:ext cx="4660126" cy="914604"/>
          </a:xfrm>
          <a:custGeom>
            <a:avLst/>
            <a:gdLst/>
            <a:ahLst/>
            <a:cxnLst/>
            <a:rect l="l" t="t" r="r" b="b"/>
            <a:pathLst>
              <a:path w="4660126" h="914604">
                <a:moveTo>
                  <a:pt x="87107" y="0"/>
                </a:moveTo>
                <a:lnTo>
                  <a:pt x="4573019" y="0"/>
                </a:lnTo>
                <a:cubicBezTo>
                  <a:pt x="4621127" y="0"/>
                  <a:pt x="4660126" y="38999"/>
                  <a:pt x="4660126" y="87107"/>
                </a:cubicBezTo>
                <a:lnTo>
                  <a:pt x="4660126" y="827497"/>
                </a:lnTo>
                <a:cubicBezTo>
                  <a:pt x="4660126" y="875605"/>
                  <a:pt x="4621127" y="914604"/>
                  <a:pt x="4573019" y="914604"/>
                </a:cubicBezTo>
                <a:lnTo>
                  <a:pt x="87107" y="914604"/>
                </a:lnTo>
                <a:cubicBezTo>
                  <a:pt x="38999" y="914604"/>
                  <a:pt x="0" y="875605"/>
                  <a:pt x="0" y="827497"/>
                </a:cubicBezTo>
                <a:lnTo>
                  <a:pt x="0" y="87107"/>
                </a:lnTo>
                <a:cubicBezTo>
                  <a:pt x="0" y="39031"/>
                  <a:pt x="39031" y="0"/>
                  <a:pt x="8710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691397" y="7752359"/>
            <a:ext cx="4496804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3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分解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96841" y="8144332"/>
            <a:ext cx="4485916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1TB数据 → 8000个128MB块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425273" y="7970122"/>
            <a:ext cx="217763" cy="217763"/>
          </a:xfrm>
          <a:custGeom>
            <a:avLst/>
            <a:gdLst/>
            <a:ahLst/>
            <a:cxnLst/>
            <a:rect l="l" t="t" r="r" b="b"/>
            <a:pathLst>
              <a:path w="217763" h="217763">
                <a:moveTo>
                  <a:pt x="213765" y="118494"/>
                </a:moveTo>
                <a:cubicBezTo>
                  <a:pt x="219081" y="113177"/>
                  <a:pt x="219081" y="104543"/>
                  <a:pt x="213765" y="99227"/>
                </a:cubicBezTo>
                <a:lnTo>
                  <a:pt x="145714" y="31176"/>
                </a:lnTo>
                <a:cubicBezTo>
                  <a:pt x="140398" y="25859"/>
                  <a:pt x="131764" y="25859"/>
                  <a:pt x="126447" y="31176"/>
                </a:cubicBezTo>
                <a:cubicBezTo>
                  <a:pt x="121131" y="36492"/>
                  <a:pt x="121131" y="45126"/>
                  <a:pt x="126447" y="50443"/>
                </a:cubicBezTo>
                <a:lnTo>
                  <a:pt x="171276" y="95271"/>
                </a:lnTo>
                <a:lnTo>
                  <a:pt x="13610" y="95271"/>
                </a:lnTo>
                <a:cubicBezTo>
                  <a:pt x="6082" y="95271"/>
                  <a:pt x="0" y="101353"/>
                  <a:pt x="0" y="108881"/>
                </a:cubicBezTo>
                <a:cubicBezTo>
                  <a:pt x="0" y="116410"/>
                  <a:pt x="6082" y="122492"/>
                  <a:pt x="13610" y="122492"/>
                </a:cubicBezTo>
                <a:lnTo>
                  <a:pt x="171276" y="122492"/>
                </a:lnTo>
                <a:lnTo>
                  <a:pt x="126447" y="167320"/>
                </a:lnTo>
                <a:cubicBezTo>
                  <a:pt x="121131" y="172637"/>
                  <a:pt x="121131" y="181271"/>
                  <a:pt x="126447" y="186587"/>
                </a:cubicBezTo>
                <a:cubicBezTo>
                  <a:pt x="131764" y="191904"/>
                  <a:pt x="140398" y="191904"/>
                  <a:pt x="145714" y="186587"/>
                </a:cubicBezTo>
                <a:lnTo>
                  <a:pt x="213765" y="118536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5800914" y="7621701"/>
            <a:ext cx="4660126" cy="914604"/>
          </a:xfrm>
          <a:custGeom>
            <a:avLst/>
            <a:gdLst/>
            <a:ahLst/>
            <a:cxnLst/>
            <a:rect l="l" t="t" r="r" b="b"/>
            <a:pathLst>
              <a:path w="4660126" h="914604">
                <a:moveTo>
                  <a:pt x="87107" y="0"/>
                </a:moveTo>
                <a:lnTo>
                  <a:pt x="4573019" y="0"/>
                </a:lnTo>
                <a:cubicBezTo>
                  <a:pt x="4621127" y="0"/>
                  <a:pt x="4660126" y="38999"/>
                  <a:pt x="4660126" y="87107"/>
                </a:cubicBezTo>
                <a:lnTo>
                  <a:pt x="4660126" y="827497"/>
                </a:lnTo>
                <a:cubicBezTo>
                  <a:pt x="4660126" y="875605"/>
                  <a:pt x="4621127" y="914604"/>
                  <a:pt x="4573019" y="914604"/>
                </a:cubicBezTo>
                <a:lnTo>
                  <a:pt x="87107" y="914604"/>
                </a:lnTo>
                <a:cubicBezTo>
                  <a:pt x="38999" y="914604"/>
                  <a:pt x="0" y="875605"/>
                  <a:pt x="0" y="827497"/>
                </a:cubicBezTo>
                <a:lnTo>
                  <a:pt x="0" y="87107"/>
                </a:lnTo>
                <a:cubicBezTo>
                  <a:pt x="0" y="39031"/>
                  <a:pt x="39031" y="0"/>
                  <a:pt x="8710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5882575" y="7752359"/>
            <a:ext cx="4496804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3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888019" y="8144332"/>
            <a:ext cx="4485916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8000个Map任务 + 数百个Reduce任务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616451" y="7970122"/>
            <a:ext cx="217763" cy="217763"/>
          </a:xfrm>
          <a:custGeom>
            <a:avLst/>
            <a:gdLst/>
            <a:ahLst/>
            <a:cxnLst/>
            <a:rect l="l" t="t" r="r" b="b"/>
            <a:pathLst>
              <a:path w="217763" h="217763">
                <a:moveTo>
                  <a:pt x="213765" y="118494"/>
                </a:moveTo>
                <a:cubicBezTo>
                  <a:pt x="219081" y="113177"/>
                  <a:pt x="219081" y="104543"/>
                  <a:pt x="213765" y="99227"/>
                </a:cubicBezTo>
                <a:lnTo>
                  <a:pt x="145714" y="31176"/>
                </a:lnTo>
                <a:cubicBezTo>
                  <a:pt x="140398" y="25859"/>
                  <a:pt x="131764" y="25859"/>
                  <a:pt x="126447" y="31176"/>
                </a:cubicBezTo>
                <a:cubicBezTo>
                  <a:pt x="121131" y="36492"/>
                  <a:pt x="121131" y="45126"/>
                  <a:pt x="126447" y="50443"/>
                </a:cubicBezTo>
                <a:lnTo>
                  <a:pt x="171276" y="95271"/>
                </a:lnTo>
                <a:lnTo>
                  <a:pt x="13610" y="95271"/>
                </a:lnTo>
                <a:cubicBezTo>
                  <a:pt x="6082" y="95271"/>
                  <a:pt x="0" y="101353"/>
                  <a:pt x="0" y="108881"/>
                </a:cubicBezTo>
                <a:cubicBezTo>
                  <a:pt x="0" y="116410"/>
                  <a:pt x="6082" y="122492"/>
                  <a:pt x="13610" y="122492"/>
                </a:cubicBezTo>
                <a:lnTo>
                  <a:pt x="171276" y="122492"/>
                </a:lnTo>
                <a:lnTo>
                  <a:pt x="126447" y="167320"/>
                </a:lnTo>
                <a:cubicBezTo>
                  <a:pt x="121131" y="172637"/>
                  <a:pt x="121131" y="181271"/>
                  <a:pt x="126447" y="186587"/>
                </a:cubicBezTo>
                <a:cubicBezTo>
                  <a:pt x="131764" y="191904"/>
                  <a:pt x="140398" y="191904"/>
                  <a:pt x="145714" y="186587"/>
                </a:cubicBezTo>
                <a:lnTo>
                  <a:pt x="213765" y="118536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0992092" y="7621701"/>
            <a:ext cx="4660126" cy="914604"/>
          </a:xfrm>
          <a:custGeom>
            <a:avLst/>
            <a:gdLst/>
            <a:ahLst/>
            <a:cxnLst/>
            <a:rect l="l" t="t" r="r" b="b"/>
            <a:pathLst>
              <a:path w="4660126" h="914604">
                <a:moveTo>
                  <a:pt x="87107" y="0"/>
                </a:moveTo>
                <a:lnTo>
                  <a:pt x="4573019" y="0"/>
                </a:lnTo>
                <a:cubicBezTo>
                  <a:pt x="4621127" y="0"/>
                  <a:pt x="4660126" y="38999"/>
                  <a:pt x="4660126" y="87107"/>
                </a:cubicBezTo>
                <a:lnTo>
                  <a:pt x="4660126" y="827497"/>
                </a:lnTo>
                <a:cubicBezTo>
                  <a:pt x="4660126" y="875605"/>
                  <a:pt x="4621127" y="914604"/>
                  <a:pt x="4573019" y="914604"/>
                </a:cubicBezTo>
                <a:lnTo>
                  <a:pt x="87107" y="914604"/>
                </a:lnTo>
                <a:cubicBezTo>
                  <a:pt x="38999" y="914604"/>
                  <a:pt x="0" y="875605"/>
                  <a:pt x="0" y="827497"/>
                </a:cubicBezTo>
                <a:lnTo>
                  <a:pt x="0" y="87107"/>
                </a:lnTo>
                <a:cubicBezTo>
                  <a:pt x="0" y="39031"/>
                  <a:pt x="39031" y="0"/>
                  <a:pt x="8710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1073754" y="7752359"/>
            <a:ext cx="4496804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3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079198" y="8144332"/>
            <a:ext cx="4485916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7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汇总得到每年最高温度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14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 · Processing 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处理流程：五个核心阶段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8000" y="1803400"/>
            <a:ext cx="2921000" cy="3073400"/>
          </a:xfrm>
          <a:custGeom>
            <a:avLst/>
            <a:gdLst/>
            <a:ahLst/>
            <a:cxnLst/>
            <a:rect l="l" t="t" r="r" b="b"/>
            <a:pathLst>
              <a:path w="2921000" h="3073400">
                <a:moveTo>
                  <a:pt x="50800" y="0"/>
                </a:moveTo>
                <a:lnTo>
                  <a:pt x="2870200" y="0"/>
                </a:lnTo>
                <a:cubicBezTo>
                  <a:pt x="2898237" y="0"/>
                  <a:pt x="2921000" y="22763"/>
                  <a:pt x="2921000" y="50800"/>
                </a:cubicBezTo>
                <a:lnTo>
                  <a:pt x="2921000" y="2971808"/>
                </a:lnTo>
                <a:cubicBezTo>
                  <a:pt x="2921000" y="3027916"/>
                  <a:pt x="2875516" y="3073400"/>
                  <a:pt x="2819408" y="3073400"/>
                </a:cubicBezTo>
                <a:lnTo>
                  <a:pt x="101592" y="3073400"/>
                </a:lnTo>
                <a:cubicBezTo>
                  <a:pt x="45484" y="3073400"/>
                  <a:pt x="0" y="3027916"/>
                  <a:pt x="0" y="297180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8000" y="180340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50800" y="0"/>
                </a:moveTo>
                <a:lnTo>
                  <a:pt x="2870200" y="0"/>
                </a:lnTo>
                <a:cubicBezTo>
                  <a:pt x="2898237" y="0"/>
                  <a:pt x="2921000" y="22763"/>
                  <a:pt x="2921000" y="50800"/>
                </a:cubicBezTo>
                <a:lnTo>
                  <a:pt x="2921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666180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777901" y="21082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250" y="26924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输入阶段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0400" y="3149600"/>
            <a:ext cx="2616200" cy="812800"/>
          </a:xfrm>
          <a:custGeom>
            <a:avLst/>
            <a:gdLst/>
            <a:ahLst/>
            <a:cxnLst/>
            <a:rect l="l" t="t" r="r" b="b"/>
            <a:pathLst>
              <a:path w="2616200" h="812800">
                <a:moveTo>
                  <a:pt x="50800" y="0"/>
                </a:moveTo>
                <a:lnTo>
                  <a:pt x="2565400" y="0"/>
                </a:lnTo>
                <a:cubicBezTo>
                  <a:pt x="2593437" y="0"/>
                  <a:pt x="2616200" y="22763"/>
                  <a:pt x="2616200" y="50800"/>
                </a:cubicBezTo>
                <a:lnTo>
                  <a:pt x="2616200" y="762000"/>
                </a:lnTo>
                <a:cubicBezTo>
                  <a:pt x="2616200" y="790037"/>
                  <a:pt x="2593437" y="812800"/>
                  <a:pt x="25654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62000" y="3251200"/>
            <a:ext cx="250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556000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数据分片与任务分配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400" y="4064000"/>
            <a:ext cx="2717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将大文件逻辑分割，每个数据片段对应一个Map任务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86460" y="1803400"/>
            <a:ext cx="2921000" cy="3073400"/>
          </a:xfrm>
          <a:custGeom>
            <a:avLst/>
            <a:gdLst/>
            <a:ahLst/>
            <a:cxnLst/>
            <a:rect l="l" t="t" r="r" b="b"/>
            <a:pathLst>
              <a:path w="2921000" h="3073400">
                <a:moveTo>
                  <a:pt x="50800" y="0"/>
                </a:moveTo>
                <a:lnTo>
                  <a:pt x="2870200" y="0"/>
                </a:lnTo>
                <a:cubicBezTo>
                  <a:pt x="2898237" y="0"/>
                  <a:pt x="2921000" y="22763"/>
                  <a:pt x="2921000" y="50800"/>
                </a:cubicBezTo>
                <a:lnTo>
                  <a:pt x="2921000" y="2971808"/>
                </a:lnTo>
                <a:cubicBezTo>
                  <a:pt x="2921000" y="3027916"/>
                  <a:pt x="2875516" y="3073400"/>
                  <a:pt x="2819408" y="3073400"/>
                </a:cubicBezTo>
                <a:lnTo>
                  <a:pt x="101592" y="3073400"/>
                </a:lnTo>
                <a:cubicBezTo>
                  <a:pt x="45484" y="3073400"/>
                  <a:pt x="0" y="3027916"/>
                  <a:pt x="0" y="297180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586460" y="180340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50800" y="0"/>
                </a:moveTo>
                <a:lnTo>
                  <a:pt x="2870200" y="0"/>
                </a:lnTo>
                <a:cubicBezTo>
                  <a:pt x="2898237" y="0"/>
                  <a:pt x="2921000" y="22763"/>
                  <a:pt x="2921000" y="50800"/>
                </a:cubicBezTo>
                <a:lnTo>
                  <a:pt x="2921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744641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34930" y="21082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81710" y="26924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Map阶段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38860" y="3149600"/>
            <a:ext cx="2616200" cy="812800"/>
          </a:xfrm>
          <a:custGeom>
            <a:avLst/>
            <a:gdLst/>
            <a:ahLst/>
            <a:cxnLst/>
            <a:rect l="l" t="t" r="r" b="b"/>
            <a:pathLst>
              <a:path w="2616200" h="812800">
                <a:moveTo>
                  <a:pt x="50800" y="0"/>
                </a:moveTo>
                <a:lnTo>
                  <a:pt x="2565400" y="0"/>
                </a:lnTo>
                <a:cubicBezTo>
                  <a:pt x="2593437" y="0"/>
                  <a:pt x="2616200" y="22763"/>
                  <a:pt x="2616200" y="50800"/>
                </a:cubicBezTo>
                <a:lnTo>
                  <a:pt x="2616200" y="762000"/>
                </a:lnTo>
                <a:cubicBezTo>
                  <a:pt x="2616200" y="790037"/>
                  <a:pt x="2593437" y="812800"/>
                  <a:pt x="25654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840460" y="3251200"/>
            <a:ext cx="250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60" y="3556000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数据转换与特征提取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38860" y="4064000"/>
            <a:ext cx="2717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并行处理，将原始数据转换为键值对格式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64920" y="1803400"/>
            <a:ext cx="2921000" cy="3073400"/>
          </a:xfrm>
          <a:custGeom>
            <a:avLst/>
            <a:gdLst/>
            <a:ahLst/>
            <a:cxnLst/>
            <a:rect l="l" t="t" r="r" b="b"/>
            <a:pathLst>
              <a:path w="2921000" h="3073400">
                <a:moveTo>
                  <a:pt x="50800" y="0"/>
                </a:moveTo>
                <a:lnTo>
                  <a:pt x="2870200" y="0"/>
                </a:lnTo>
                <a:cubicBezTo>
                  <a:pt x="2898237" y="0"/>
                  <a:pt x="2921000" y="22763"/>
                  <a:pt x="2921000" y="50800"/>
                </a:cubicBezTo>
                <a:lnTo>
                  <a:pt x="2921000" y="2971808"/>
                </a:lnTo>
                <a:cubicBezTo>
                  <a:pt x="2921000" y="3027916"/>
                  <a:pt x="2875516" y="3073400"/>
                  <a:pt x="2819408" y="3073400"/>
                </a:cubicBezTo>
                <a:lnTo>
                  <a:pt x="101592" y="3073400"/>
                </a:lnTo>
                <a:cubicBezTo>
                  <a:pt x="45484" y="3073400"/>
                  <a:pt x="0" y="3027916"/>
                  <a:pt x="0" y="297180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664920" y="180340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50800" y="0"/>
                </a:moveTo>
                <a:lnTo>
                  <a:pt x="2870200" y="0"/>
                </a:lnTo>
                <a:cubicBezTo>
                  <a:pt x="2898237" y="0"/>
                  <a:pt x="2921000" y="22763"/>
                  <a:pt x="2921000" y="50800"/>
                </a:cubicBezTo>
                <a:lnTo>
                  <a:pt x="2921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823101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A7D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910016" y="21082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0170" y="26924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17320" y="3149600"/>
            <a:ext cx="2616200" cy="812800"/>
          </a:xfrm>
          <a:custGeom>
            <a:avLst/>
            <a:gdLst/>
            <a:ahLst/>
            <a:cxnLst/>
            <a:rect l="l" t="t" r="r" b="b"/>
            <a:pathLst>
              <a:path w="2616200" h="812800">
                <a:moveTo>
                  <a:pt x="50800" y="0"/>
                </a:moveTo>
                <a:lnTo>
                  <a:pt x="2565400" y="0"/>
                </a:lnTo>
                <a:cubicBezTo>
                  <a:pt x="2593437" y="0"/>
                  <a:pt x="2616200" y="22763"/>
                  <a:pt x="2616200" y="50800"/>
                </a:cubicBezTo>
                <a:lnTo>
                  <a:pt x="2616200" y="762000"/>
                </a:lnTo>
                <a:cubicBezTo>
                  <a:pt x="2616200" y="790037"/>
                  <a:pt x="2593437" y="812800"/>
                  <a:pt x="25654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918920" y="3251200"/>
            <a:ext cx="250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18920" y="3556000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数据重组与分发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7320" y="4064000"/>
            <a:ext cx="2717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按键分组，排序优化，唯一需要跨节点传输的阶段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743380" y="1803400"/>
            <a:ext cx="2921000" cy="3073400"/>
          </a:xfrm>
          <a:custGeom>
            <a:avLst/>
            <a:gdLst/>
            <a:ahLst/>
            <a:cxnLst/>
            <a:rect l="l" t="t" r="r" b="b"/>
            <a:pathLst>
              <a:path w="2921000" h="3073400">
                <a:moveTo>
                  <a:pt x="50800" y="0"/>
                </a:moveTo>
                <a:lnTo>
                  <a:pt x="2870200" y="0"/>
                </a:lnTo>
                <a:cubicBezTo>
                  <a:pt x="2898237" y="0"/>
                  <a:pt x="2921000" y="22763"/>
                  <a:pt x="2921000" y="50800"/>
                </a:cubicBezTo>
                <a:lnTo>
                  <a:pt x="2921000" y="2971808"/>
                </a:lnTo>
                <a:cubicBezTo>
                  <a:pt x="2921000" y="3027916"/>
                  <a:pt x="2875516" y="3073400"/>
                  <a:pt x="2819408" y="3073400"/>
                </a:cubicBezTo>
                <a:lnTo>
                  <a:pt x="101592" y="3073400"/>
                </a:lnTo>
                <a:cubicBezTo>
                  <a:pt x="45484" y="3073400"/>
                  <a:pt x="0" y="3027916"/>
                  <a:pt x="0" y="297180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743380" y="180340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50800" y="0"/>
                </a:moveTo>
                <a:lnTo>
                  <a:pt x="2870200" y="0"/>
                </a:lnTo>
                <a:cubicBezTo>
                  <a:pt x="2898237" y="0"/>
                  <a:pt x="2921000" y="22763"/>
                  <a:pt x="2921000" y="50800"/>
                </a:cubicBezTo>
                <a:lnTo>
                  <a:pt x="2921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0901561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988774" y="21082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838630" y="26924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895780" y="3149600"/>
            <a:ext cx="2616200" cy="812800"/>
          </a:xfrm>
          <a:custGeom>
            <a:avLst/>
            <a:gdLst/>
            <a:ahLst/>
            <a:cxnLst/>
            <a:rect l="l" t="t" r="r" b="b"/>
            <a:pathLst>
              <a:path w="2616200" h="812800">
                <a:moveTo>
                  <a:pt x="50800" y="0"/>
                </a:moveTo>
                <a:lnTo>
                  <a:pt x="2565400" y="0"/>
                </a:lnTo>
                <a:cubicBezTo>
                  <a:pt x="2593437" y="0"/>
                  <a:pt x="2616200" y="22763"/>
                  <a:pt x="2616200" y="50800"/>
                </a:cubicBezTo>
                <a:lnTo>
                  <a:pt x="2616200" y="762000"/>
                </a:lnTo>
                <a:cubicBezTo>
                  <a:pt x="2616200" y="790037"/>
                  <a:pt x="2593437" y="812800"/>
                  <a:pt x="25654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997380" y="3251200"/>
            <a:ext cx="250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997380" y="3556000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数据聚合与结果计算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895780" y="4064000"/>
            <a:ext cx="2717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对相同键的所有值聚合，产生最终结果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2821841" y="1803400"/>
            <a:ext cx="2921000" cy="3073400"/>
          </a:xfrm>
          <a:custGeom>
            <a:avLst/>
            <a:gdLst/>
            <a:ahLst/>
            <a:cxnLst/>
            <a:rect l="l" t="t" r="r" b="b"/>
            <a:pathLst>
              <a:path w="2921000" h="3073400">
                <a:moveTo>
                  <a:pt x="50800" y="0"/>
                </a:moveTo>
                <a:lnTo>
                  <a:pt x="2870200" y="0"/>
                </a:lnTo>
                <a:cubicBezTo>
                  <a:pt x="2898237" y="0"/>
                  <a:pt x="2921000" y="22763"/>
                  <a:pt x="2921000" y="50800"/>
                </a:cubicBezTo>
                <a:lnTo>
                  <a:pt x="2921000" y="2971808"/>
                </a:lnTo>
                <a:cubicBezTo>
                  <a:pt x="2921000" y="3027916"/>
                  <a:pt x="2875516" y="3073400"/>
                  <a:pt x="2819408" y="3073400"/>
                </a:cubicBezTo>
                <a:lnTo>
                  <a:pt x="101592" y="3073400"/>
                </a:lnTo>
                <a:cubicBezTo>
                  <a:pt x="45484" y="3073400"/>
                  <a:pt x="0" y="3027916"/>
                  <a:pt x="0" y="297180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2821841" y="1803400"/>
            <a:ext cx="2921000" cy="50800"/>
          </a:xfrm>
          <a:custGeom>
            <a:avLst/>
            <a:gdLst/>
            <a:ahLst/>
            <a:cxnLst/>
            <a:rect l="l" t="t" r="r" b="b"/>
            <a:pathLst>
              <a:path w="2921000" h="50800">
                <a:moveTo>
                  <a:pt x="50800" y="0"/>
                </a:moveTo>
                <a:lnTo>
                  <a:pt x="2870200" y="0"/>
                </a:lnTo>
                <a:cubicBezTo>
                  <a:pt x="2898237" y="0"/>
                  <a:pt x="2921000" y="22763"/>
                  <a:pt x="2921000" y="50800"/>
                </a:cubicBezTo>
                <a:lnTo>
                  <a:pt x="2921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3980021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4065845" y="21082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917091" y="26924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输出阶段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2974241" y="3149600"/>
            <a:ext cx="2616200" cy="812800"/>
          </a:xfrm>
          <a:custGeom>
            <a:avLst/>
            <a:gdLst/>
            <a:ahLst/>
            <a:cxnLst/>
            <a:rect l="l" t="t" r="r" b="b"/>
            <a:pathLst>
              <a:path w="2616200" h="812800">
                <a:moveTo>
                  <a:pt x="50800" y="0"/>
                </a:moveTo>
                <a:lnTo>
                  <a:pt x="2565400" y="0"/>
                </a:lnTo>
                <a:cubicBezTo>
                  <a:pt x="2593437" y="0"/>
                  <a:pt x="2616200" y="22763"/>
                  <a:pt x="2616200" y="50800"/>
                </a:cubicBezTo>
                <a:lnTo>
                  <a:pt x="2616200" y="762000"/>
                </a:lnTo>
                <a:cubicBezTo>
                  <a:pt x="2616200" y="790037"/>
                  <a:pt x="2593437" y="812800"/>
                  <a:pt x="25654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3075841" y="3251200"/>
            <a:ext cx="250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3075841" y="3556000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结果持久化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974241" y="4064000"/>
            <a:ext cx="2717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合并所有Reduce输出，保存到分布式文件系统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08000" y="5080000"/>
            <a:ext cx="15240000" cy="2489200"/>
          </a:xfrm>
          <a:custGeom>
            <a:avLst/>
            <a:gdLst/>
            <a:ahLst/>
            <a:cxnLst/>
            <a:rect l="l" t="t" r="r" b="b"/>
            <a:pathLst>
              <a:path w="15240000" h="2489200">
                <a:moveTo>
                  <a:pt x="101609" y="0"/>
                </a:moveTo>
                <a:lnTo>
                  <a:pt x="15138391" y="0"/>
                </a:lnTo>
                <a:cubicBezTo>
                  <a:pt x="15194508" y="0"/>
                  <a:pt x="15240000" y="45492"/>
                  <a:pt x="15240000" y="101609"/>
                </a:cubicBezTo>
                <a:lnTo>
                  <a:pt x="15240000" y="2387591"/>
                </a:lnTo>
                <a:cubicBezTo>
                  <a:pt x="15240000" y="2443708"/>
                  <a:pt x="15194508" y="2489200"/>
                  <a:pt x="15138391" y="2489200"/>
                </a:cubicBezTo>
                <a:lnTo>
                  <a:pt x="101609" y="2489200"/>
                </a:lnTo>
                <a:cubicBezTo>
                  <a:pt x="45492" y="2489200"/>
                  <a:pt x="0" y="2443708"/>
                  <a:pt x="0" y="23875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742950" y="533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74712"/>
                </a:moveTo>
                <a:lnTo>
                  <a:pt x="201712" y="122337"/>
                </a:lnTo>
                <a:cubicBezTo>
                  <a:pt x="197148" y="126901"/>
                  <a:pt x="190351" y="128240"/>
                  <a:pt x="184398" y="125760"/>
                </a:cubicBezTo>
                <a:cubicBezTo>
                  <a:pt x="178445" y="123279"/>
                  <a:pt x="174625" y="117525"/>
                  <a:pt x="174625" y="111125"/>
                </a:cubicBezTo>
                <a:lnTo>
                  <a:pt x="174625" y="79375"/>
                </a:ln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174625" y="47625"/>
                </a:lnTo>
                <a:lnTo>
                  <a:pt x="174625" y="15875"/>
                </a:lnTo>
                <a:cubicBezTo>
                  <a:pt x="174625" y="9475"/>
                  <a:pt x="178495" y="3671"/>
                  <a:pt x="184448" y="1191"/>
                </a:cubicBezTo>
                <a:cubicBezTo>
                  <a:pt x="190401" y="-1290"/>
                  <a:pt x="197197" y="99"/>
                  <a:pt x="201761" y="4614"/>
                </a:cubicBezTo>
                <a:lnTo>
                  <a:pt x="249386" y="52239"/>
                </a:lnTo>
                <a:cubicBezTo>
                  <a:pt x="255588" y="58440"/>
                  <a:pt x="255588" y="68511"/>
                  <a:pt x="249386" y="74712"/>
                </a:cubicBezTo>
                <a:close/>
                <a:moveTo>
                  <a:pt x="52239" y="249337"/>
                </a:moveTo>
                <a:lnTo>
                  <a:pt x="4614" y="201712"/>
                </a:lnTo>
                <a:cubicBezTo>
                  <a:pt x="-1587" y="195511"/>
                  <a:pt x="-1587" y="185440"/>
                  <a:pt x="4614" y="179239"/>
                </a:cubicBezTo>
                <a:lnTo>
                  <a:pt x="52239" y="131614"/>
                </a:lnTo>
                <a:cubicBezTo>
                  <a:pt x="56803" y="127050"/>
                  <a:pt x="63599" y="125710"/>
                  <a:pt x="69552" y="128191"/>
                </a:cubicBezTo>
                <a:cubicBezTo>
                  <a:pt x="75505" y="130671"/>
                  <a:pt x="79375" y="136475"/>
                  <a:pt x="79375" y="142875"/>
                </a:cubicBezTo>
                <a:lnTo>
                  <a:pt x="79375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cubicBezTo>
                  <a:pt x="254000" y="199281"/>
                  <a:pt x="246906" y="206375"/>
                  <a:pt x="238125" y="206375"/>
                </a:cubicBezTo>
                <a:lnTo>
                  <a:pt x="79375" y="206375"/>
                </a:lnTo>
                <a:lnTo>
                  <a:pt x="79375" y="238125"/>
                </a:lnTo>
                <a:cubicBezTo>
                  <a:pt x="79375" y="244525"/>
                  <a:pt x="75505" y="250329"/>
                  <a:pt x="69552" y="252809"/>
                </a:cubicBezTo>
                <a:cubicBezTo>
                  <a:pt x="63599" y="255290"/>
                  <a:pt x="56803" y="253901"/>
                  <a:pt x="52239" y="249386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028700" y="5283200"/>
            <a:ext cx="1464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数据流转示例：气象数据分析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1200" y="5935663"/>
            <a:ext cx="2463800" cy="1295400"/>
          </a:xfrm>
          <a:custGeom>
            <a:avLst/>
            <a:gdLst/>
            <a:ahLst/>
            <a:cxnLst/>
            <a:rect l="l" t="t" r="r" b="b"/>
            <a:pathLst>
              <a:path w="2463800" h="1295400">
                <a:moveTo>
                  <a:pt x="101598" y="0"/>
                </a:moveTo>
                <a:lnTo>
                  <a:pt x="2362202" y="0"/>
                </a:lnTo>
                <a:cubicBezTo>
                  <a:pt x="2418313" y="0"/>
                  <a:pt x="2463800" y="45487"/>
                  <a:pt x="2463800" y="101598"/>
                </a:cubicBezTo>
                <a:lnTo>
                  <a:pt x="2463800" y="1193802"/>
                </a:lnTo>
                <a:cubicBezTo>
                  <a:pt x="2463800" y="1249913"/>
                  <a:pt x="2418313" y="1295400"/>
                  <a:pt x="2362202" y="1295400"/>
                </a:cubicBezTo>
                <a:lnTo>
                  <a:pt x="101598" y="1295400"/>
                </a:lnTo>
                <a:cubicBezTo>
                  <a:pt x="45487" y="1295400"/>
                  <a:pt x="0" y="1249913"/>
                  <a:pt x="0" y="11938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12800" y="6088063"/>
            <a:ext cx="226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输入阶段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19150" y="6494463"/>
            <a:ext cx="22479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1GB文件 → 8个128MB块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8个Map任务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364210" y="6453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3802360" y="5791200"/>
            <a:ext cx="2463800" cy="1574800"/>
          </a:xfrm>
          <a:custGeom>
            <a:avLst/>
            <a:gdLst/>
            <a:ahLst/>
            <a:cxnLst/>
            <a:rect l="l" t="t" r="r" b="b"/>
            <a:pathLst>
              <a:path w="2463800" h="1574800">
                <a:moveTo>
                  <a:pt x="101606" y="0"/>
                </a:moveTo>
                <a:lnTo>
                  <a:pt x="2362194" y="0"/>
                </a:lnTo>
                <a:cubicBezTo>
                  <a:pt x="2418309" y="0"/>
                  <a:pt x="2463800" y="45491"/>
                  <a:pt x="2463800" y="101606"/>
                </a:cubicBezTo>
                <a:lnTo>
                  <a:pt x="2463800" y="1473194"/>
                </a:lnTo>
                <a:cubicBezTo>
                  <a:pt x="2463800" y="1529309"/>
                  <a:pt x="2418309" y="1574800"/>
                  <a:pt x="23621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3903960" y="5943600"/>
            <a:ext cx="226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Map输出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910310" y="6350000"/>
            <a:ext cx="22479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(1950, -78)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(1951, 23)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(1950, 156)...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55370" y="6453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6893520" y="5791200"/>
            <a:ext cx="2463800" cy="1574800"/>
          </a:xfrm>
          <a:custGeom>
            <a:avLst/>
            <a:gdLst/>
            <a:ahLst/>
            <a:cxnLst/>
            <a:rect l="l" t="t" r="r" b="b"/>
            <a:pathLst>
              <a:path w="2463800" h="1574800">
                <a:moveTo>
                  <a:pt x="101606" y="0"/>
                </a:moveTo>
                <a:lnTo>
                  <a:pt x="2362194" y="0"/>
                </a:lnTo>
                <a:cubicBezTo>
                  <a:pt x="2418309" y="0"/>
                  <a:pt x="2463800" y="45491"/>
                  <a:pt x="2463800" y="101606"/>
                </a:cubicBezTo>
                <a:lnTo>
                  <a:pt x="2463800" y="1473194"/>
                </a:lnTo>
                <a:cubicBezTo>
                  <a:pt x="2463800" y="1529309"/>
                  <a:pt x="2418309" y="1574800"/>
                  <a:pt x="23621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6995120" y="5943600"/>
            <a:ext cx="226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Shuffle后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001470" y="6350000"/>
            <a:ext cx="22479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Reducer1: (1950, [-78,156,89])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Reducer2: (1951, [23,67])...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546530" y="6453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9984680" y="5791200"/>
            <a:ext cx="2463800" cy="1574800"/>
          </a:xfrm>
          <a:custGeom>
            <a:avLst/>
            <a:gdLst/>
            <a:ahLst/>
            <a:cxnLst/>
            <a:rect l="l" t="t" r="r" b="b"/>
            <a:pathLst>
              <a:path w="2463800" h="1574800">
                <a:moveTo>
                  <a:pt x="101606" y="0"/>
                </a:moveTo>
                <a:lnTo>
                  <a:pt x="2362194" y="0"/>
                </a:lnTo>
                <a:cubicBezTo>
                  <a:pt x="2418309" y="0"/>
                  <a:pt x="2463800" y="45491"/>
                  <a:pt x="2463800" y="101606"/>
                </a:cubicBezTo>
                <a:lnTo>
                  <a:pt x="2463800" y="1473194"/>
                </a:lnTo>
                <a:cubicBezTo>
                  <a:pt x="2463800" y="1529309"/>
                  <a:pt x="2418309" y="1574800"/>
                  <a:pt x="23621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0086280" y="5943600"/>
            <a:ext cx="226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Reduce输出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092630" y="6350000"/>
            <a:ext cx="22479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(1950, 234)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(1951, 123)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(1952, 201)...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2637691" y="6453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13075841" y="5935663"/>
            <a:ext cx="2463800" cy="1295400"/>
          </a:xfrm>
          <a:custGeom>
            <a:avLst/>
            <a:gdLst/>
            <a:ahLst/>
            <a:cxnLst/>
            <a:rect l="l" t="t" r="r" b="b"/>
            <a:pathLst>
              <a:path w="2463800" h="1295400">
                <a:moveTo>
                  <a:pt x="101598" y="0"/>
                </a:moveTo>
                <a:lnTo>
                  <a:pt x="2362202" y="0"/>
                </a:lnTo>
                <a:cubicBezTo>
                  <a:pt x="2418313" y="0"/>
                  <a:pt x="2463800" y="45487"/>
                  <a:pt x="2463800" y="101598"/>
                </a:cubicBezTo>
                <a:lnTo>
                  <a:pt x="2463800" y="1193802"/>
                </a:lnTo>
                <a:cubicBezTo>
                  <a:pt x="2463800" y="1249913"/>
                  <a:pt x="2418313" y="1295400"/>
                  <a:pt x="2362202" y="1295400"/>
                </a:cubicBezTo>
                <a:lnTo>
                  <a:pt x="101598" y="1295400"/>
                </a:lnTo>
                <a:cubicBezTo>
                  <a:pt x="45487" y="1295400"/>
                  <a:pt x="0" y="1249913"/>
                  <a:pt x="0" y="11938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13177441" y="6088063"/>
            <a:ext cx="226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输出结果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3183791" y="6494463"/>
            <a:ext cx="22479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每年最高温度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结果文件保存在HDFS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810" y="483810"/>
            <a:ext cx="15373048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kern="0" spc="1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 · Programming Abstraction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83810" y="822476"/>
            <a:ext cx="15506095" cy="483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29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编程模型抽象：Map 与 Reduce 函数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3810" y="1451429"/>
            <a:ext cx="1354667" cy="48381"/>
          </a:xfrm>
          <a:custGeom>
            <a:avLst/>
            <a:gdLst/>
            <a:ahLst/>
            <a:cxnLst/>
            <a:rect l="l" t="t" r="r" b="b"/>
            <a:pathLst>
              <a:path w="1354667" h="48381">
                <a:moveTo>
                  <a:pt x="0" y="0"/>
                </a:moveTo>
                <a:lnTo>
                  <a:pt x="1354667" y="0"/>
                </a:lnTo>
                <a:lnTo>
                  <a:pt x="1354667" y="48381"/>
                </a:lnTo>
                <a:lnTo>
                  <a:pt x="0" y="48381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8000" y="1693333"/>
            <a:ext cx="7499048" cy="4934857"/>
          </a:xfrm>
          <a:custGeom>
            <a:avLst/>
            <a:gdLst/>
            <a:ahLst/>
            <a:cxnLst/>
            <a:rect l="l" t="t" r="r" b="b"/>
            <a:pathLst>
              <a:path w="7499048" h="4934857">
                <a:moveTo>
                  <a:pt x="48381" y="0"/>
                </a:moveTo>
                <a:lnTo>
                  <a:pt x="7402275" y="0"/>
                </a:lnTo>
                <a:cubicBezTo>
                  <a:pt x="7455721" y="0"/>
                  <a:pt x="7499048" y="43327"/>
                  <a:pt x="7499048" y="96773"/>
                </a:cubicBezTo>
                <a:lnTo>
                  <a:pt x="7499048" y="4838085"/>
                </a:lnTo>
                <a:cubicBezTo>
                  <a:pt x="7499048" y="4891531"/>
                  <a:pt x="7455721" y="4934857"/>
                  <a:pt x="7402275" y="4934857"/>
                </a:cubicBezTo>
                <a:lnTo>
                  <a:pt x="48381" y="4934857"/>
                </a:lnTo>
                <a:cubicBezTo>
                  <a:pt x="21661" y="4934857"/>
                  <a:pt x="0" y="4913196"/>
                  <a:pt x="0" y="4886476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8000" y="1693333"/>
            <a:ext cx="48381" cy="4934857"/>
          </a:xfrm>
          <a:custGeom>
            <a:avLst/>
            <a:gdLst/>
            <a:ahLst/>
            <a:cxnLst/>
            <a:rect l="l" t="t" r="r" b="b"/>
            <a:pathLst>
              <a:path w="48381" h="4934857">
                <a:moveTo>
                  <a:pt x="48381" y="0"/>
                </a:moveTo>
                <a:lnTo>
                  <a:pt x="48381" y="0"/>
                </a:lnTo>
                <a:lnTo>
                  <a:pt x="48381" y="4934857"/>
                </a:lnTo>
                <a:lnTo>
                  <a:pt x="48381" y="4934857"/>
                </a:lnTo>
                <a:cubicBezTo>
                  <a:pt x="21661" y="4934857"/>
                  <a:pt x="0" y="4913196"/>
                  <a:pt x="0" y="4886476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55952" y="1935238"/>
            <a:ext cx="241905" cy="241905"/>
          </a:xfrm>
          <a:custGeom>
            <a:avLst/>
            <a:gdLst/>
            <a:ahLst/>
            <a:cxnLst/>
            <a:rect l="l" t="t" r="r" b="b"/>
            <a:pathLst>
              <a:path w="241905" h="241905">
                <a:moveTo>
                  <a:pt x="241905" y="22679"/>
                </a:moveTo>
                <a:cubicBezTo>
                  <a:pt x="241905" y="17434"/>
                  <a:pt x="239212" y="12568"/>
                  <a:pt x="234723" y="9827"/>
                </a:cubicBezTo>
                <a:cubicBezTo>
                  <a:pt x="230235" y="7087"/>
                  <a:pt x="224707" y="6804"/>
                  <a:pt x="220029" y="9166"/>
                </a:cubicBezTo>
                <a:lnTo>
                  <a:pt x="165128" y="36616"/>
                </a:lnTo>
                <a:lnTo>
                  <a:pt x="80367" y="8315"/>
                </a:lnTo>
                <a:cubicBezTo>
                  <a:pt x="76540" y="7040"/>
                  <a:pt x="72430" y="7323"/>
                  <a:pt x="68839" y="9119"/>
                </a:cubicBezTo>
                <a:lnTo>
                  <a:pt x="8363" y="39357"/>
                </a:lnTo>
                <a:cubicBezTo>
                  <a:pt x="3213" y="41955"/>
                  <a:pt x="0" y="47200"/>
                  <a:pt x="0" y="52917"/>
                </a:cubicBezTo>
                <a:lnTo>
                  <a:pt x="0" y="219226"/>
                </a:lnTo>
                <a:cubicBezTo>
                  <a:pt x="0" y="224471"/>
                  <a:pt x="2693" y="229337"/>
                  <a:pt x="7182" y="232077"/>
                </a:cubicBezTo>
                <a:cubicBezTo>
                  <a:pt x="11670" y="234818"/>
                  <a:pt x="17198" y="235101"/>
                  <a:pt x="21875" y="232739"/>
                </a:cubicBezTo>
                <a:lnTo>
                  <a:pt x="76729" y="205288"/>
                </a:lnTo>
                <a:lnTo>
                  <a:pt x="161490" y="233542"/>
                </a:lnTo>
                <a:cubicBezTo>
                  <a:pt x="165317" y="234818"/>
                  <a:pt x="169428" y="234534"/>
                  <a:pt x="173019" y="232739"/>
                </a:cubicBezTo>
                <a:lnTo>
                  <a:pt x="233495" y="202501"/>
                </a:lnTo>
                <a:cubicBezTo>
                  <a:pt x="238597" y="199949"/>
                  <a:pt x="241858" y="194705"/>
                  <a:pt x="241858" y="188988"/>
                </a:cubicBezTo>
                <a:lnTo>
                  <a:pt x="241858" y="22679"/>
                </a:lnTo>
                <a:close/>
                <a:moveTo>
                  <a:pt x="90714" y="178074"/>
                </a:moveTo>
                <a:lnTo>
                  <a:pt x="90714" y="43656"/>
                </a:lnTo>
                <a:lnTo>
                  <a:pt x="151190" y="63831"/>
                </a:lnTo>
                <a:lnTo>
                  <a:pt x="151190" y="198249"/>
                </a:lnTo>
                <a:lnTo>
                  <a:pt x="90714" y="178074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28095" y="1886857"/>
            <a:ext cx="6906381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 函数抽象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5714" y="2370667"/>
            <a:ext cx="7087810" cy="628952"/>
          </a:xfrm>
          <a:custGeom>
            <a:avLst/>
            <a:gdLst/>
            <a:ahLst/>
            <a:cxnLst/>
            <a:rect l="l" t="t" r="r" b="b"/>
            <a:pathLst>
              <a:path w="7087810" h="628952">
                <a:moveTo>
                  <a:pt x="96764" y="0"/>
                </a:moveTo>
                <a:lnTo>
                  <a:pt x="6991045" y="0"/>
                </a:lnTo>
                <a:cubicBezTo>
                  <a:pt x="7044487" y="0"/>
                  <a:pt x="7087810" y="43323"/>
                  <a:pt x="7087810" y="96764"/>
                </a:cubicBezTo>
                <a:lnTo>
                  <a:pt x="7087810" y="532188"/>
                </a:lnTo>
                <a:cubicBezTo>
                  <a:pt x="7087810" y="585630"/>
                  <a:pt x="7044487" y="628952"/>
                  <a:pt x="6991045" y="628952"/>
                </a:cubicBezTo>
                <a:lnTo>
                  <a:pt x="96764" y="628952"/>
                </a:lnTo>
                <a:cubicBezTo>
                  <a:pt x="43359" y="628952"/>
                  <a:pt x="0" y="585594"/>
                  <a:pt x="0" y="532188"/>
                </a:cubicBezTo>
                <a:lnTo>
                  <a:pt x="0" y="96764"/>
                </a:lnTo>
                <a:cubicBezTo>
                  <a:pt x="0" y="43359"/>
                  <a:pt x="43359" y="0"/>
                  <a:pt x="967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724611" y="2558143"/>
            <a:ext cx="502141" cy="24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14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17895" y="2558143"/>
            <a:ext cx="2337216" cy="24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1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(key1, value1) 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6254" y="2558143"/>
            <a:ext cx="633205" cy="24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14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70601" y="2558143"/>
            <a:ext cx="1943932" cy="24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1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(key2, value2)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8738" y="3205238"/>
            <a:ext cx="272143" cy="217714"/>
          </a:xfrm>
          <a:custGeom>
            <a:avLst/>
            <a:gdLst/>
            <a:ahLst/>
            <a:cxnLst/>
            <a:rect l="l" t="t" r="r" b="b"/>
            <a:pathLst>
              <a:path w="272143" h="217714">
                <a:moveTo>
                  <a:pt x="176850" y="89509"/>
                </a:moveTo>
                <a:cubicBezTo>
                  <a:pt x="182038" y="88106"/>
                  <a:pt x="187481" y="90573"/>
                  <a:pt x="189820" y="95378"/>
                </a:cubicBezTo>
                <a:lnTo>
                  <a:pt x="197729" y="111366"/>
                </a:lnTo>
                <a:cubicBezTo>
                  <a:pt x="202109" y="111961"/>
                  <a:pt x="206403" y="113152"/>
                  <a:pt x="210443" y="114810"/>
                </a:cubicBezTo>
                <a:lnTo>
                  <a:pt x="225326" y="104903"/>
                </a:lnTo>
                <a:cubicBezTo>
                  <a:pt x="229791" y="101926"/>
                  <a:pt x="235701" y="102521"/>
                  <a:pt x="239486" y="106306"/>
                </a:cubicBezTo>
                <a:lnTo>
                  <a:pt x="247650" y="114470"/>
                </a:lnTo>
                <a:cubicBezTo>
                  <a:pt x="251434" y="118255"/>
                  <a:pt x="252030" y="124208"/>
                  <a:pt x="249053" y="128630"/>
                </a:cubicBezTo>
                <a:lnTo>
                  <a:pt x="239146" y="143470"/>
                </a:lnTo>
                <a:cubicBezTo>
                  <a:pt x="239953" y="145469"/>
                  <a:pt x="240676" y="147552"/>
                  <a:pt x="241272" y="149721"/>
                </a:cubicBezTo>
                <a:cubicBezTo>
                  <a:pt x="241867" y="151890"/>
                  <a:pt x="242250" y="154016"/>
                  <a:pt x="242547" y="156184"/>
                </a:cubicBezTo>
                <a:lnTo>
                  <a:pt x="258578" y="164094"/>
                </a:lnTo>
                <a:cubicBezTo>
                  <a:pt x="263383" y="166475"/>
                  <a:pt x="265850" y="171918"/>
                  <a:pt x="264446" y="177063"/>
                </a:cubicBezTo>
                <a:lnTo>
                  <a:pt x="261470" y="188204"/>
                </a:lnTo>
                <a:cubicBezTo>
                  <a:pt x="260067" y="193349"/>
                  <a:pt x="255261" y="196836"/>
                  <a:pt x="249904" y="196496"/>
                </a:cubicBezTo>
                <a:lnTo>
                  <a:pt x="232044" y="195348"/>
                </a:lnTo>
                <a:cubicBezTo>
                  <a:pt x="229365" y="198792"/>
                  <a:pt x="226261" y="201981"/>
                  <a:pt x="222732" y="204702"/>
                </a:cubicBezTo>
                <a:lnTo>
                  <a:pt x="223880" y="222519"/>
                </a:lnTo>
                <a:cubicBezTo>
                  <a:pt x="224220" y="227877"/>
                  <a:pt x="220733" y="232725"/>
                  <a:pt x="215588" y="234085"/>
                </a:cubicBezTo>
                <a:lnTo>
                  <a:pt x="204447" y="237062"/>
                </a:lnTo>
                <a:cubicBezTo>
                  <a:pt x="199260" y="238465"/>
                  <a:pt x="193859" y="235999"/>
                  <a:pt x="191478" y="231194"/>
                </a:cubicBezTo>
                <a:lnTo>
                  <a:pt x="183569" y="215205"/>
                </a:lnTo>
                <a:cubicBezTo>
                  <a:pt x="179189" y="214610"/>
                  <a:pt x="174894" y="213420"/>
                  <a:pt x="170855" y="211761"/>
                </a:cubicBezTo>
                <a:lnTo>
                  <a:pt x="155972" y="221669"/>
                </a:lnTo>
                <a:cubicBezTo>
                  <a:pt x="151507" y="224645"/>
                  <a:pt x="145596" y="224050"/>
                  <a:pt x="141812" y="220266"/>
                </a:cubicBezTo>
                <a:lnTo>
                  <a:pt x="133648" y="212101"/>
                </a:lnTo>
                <a:cubicBezTo>
                  <a:pt x="129863" y="208317"/>
                  <a:pt x="129268" y="202406"/>
                  <a:pt x="132244" y="197941"/>
                </a:cubicBezTo>
                <a:lnTo>
                  <a:pt x="142152" y="183059"/>
                </a:lnTo>
                <a:cubicBezTo>
                  <a:pt x="141344" y="181060"/>
                  <a:pt x="140621" y="178976"/>
                  <a:pt x="140026" y="176808"/>
                </a:cubicBezTo>
                <a:cubicBezTo>
                  <a:pt x="139431" y="174639"/>
                  <a:pt x="139048" y="172471"/>
                  <a:pt x="138750" y="170344"/>
                </a:cubicBezTo>
                <a:lnTo>
                  <a:pt x="122719" y="162435"/>
                </a:lnTo>
                <a:cubicBezTo>
                  <a:pt x="117914" y="160054"/>
                  <a:pt x="115491" y="154611"/>
                  <a:pt x="116851" y="149466"/>
                </a:cubicBezTo>
                <a:lnTo>
                  <a:pt x="119828" y="138325"/>
                </a:lnTo>
                <a:cubicBezTo>
                  <a:pt x="121231" y="133180"/>
                  <a:pt x="126036" y="129693"/>
                  <a:pt x="131394" y="130033"/>
                </a:cubicBezTo>
                <a:lnTo>
                  <a:pt x="149211" y="131181"/>
                </a:lnTo>
                <a:cubicBezTo>
                  <a:pt x="151890" y="127737"/>
                  <a:pt x="154994" y="124548"/>
                  <a:pt x="158523" y="121826"/>
                </a:cubicBezTo>
                <a:lnTo>
                  <a:pt x="157375" y="104052"/>
                </a:lnTo>
                <a:cubicBezTo>
                  <a:pt x="157035" y="98694"/>
                  <a:pt x="160522" y="93847"/>
                  <a:pt x="165667" y="92486"/>
                </a:cubicBezTo>
                <a:lnTo>
                  <a:pt x="176808" y="89509"/>
                </a:lnTo>
                <a:close/>
                <a:moveTo>
                  <a:pt x="190670" y="144576"/>
                </a:moveTo>
                <a:cubicBezTo>
                  <a:pt x="180344" y="144588"/>
                  <a:pt x="171970" y="152981"/>
                  <a:pt x="171982" y="163307"/>
                </a:cubicBezTo>
                <a:cubicBezTo>
                  <a:pt x="171993" y="173633"/>
                  <a:pt x="180386" y="182007"/>
                  <a:pt x="190713" y="181996"/>
                </a:cubicBezTo>
                <a:cubicBezTo>
                  <a:pt x="201039" y="181984"/>
                  <a:pt x="209413" y="173591"/>
                  <a:pt x="209401" y="163264"/>
                </a:cubicBezTo>
                <a:cubicBezTo>
                  <a:pt x="209389" y="152938"/>
                  <a:pt x="200996" y="144564"/>
                  <a:pt x="190670" y="144576"/>
                </a:cubicBezTo>
                <a:close/>
                <a:moveTo>
                  <a:pt x="95633" y="-19348"/>
                </a:moveTo>
                <a:lnTo>
                  <a:pt x="106774" y="-16371"/>
                </a:lnTo>
                <a:cubicBezTo>
                  <a:pt x="111919" y="-14968"/>
                  <a:pt x="115406" y="-10120"/>
                  <a:pt x="115065" y="-4805"/>
                </a:cubicBezTo>
                <a:lnTo>
                  <a:pt x="113917" y="12969"/>
                </a:lnTo>
                <a:cubicBezTo>
                  <a:pt x="117447" y="15691"/>
                  <a:pt x="120551" y="18837"/>
                  <a:pt x="123230" y="22324"/>
                </a:cubicBezTo>
                <a:lnTo>
                  <a:pt x="141089" y="21176"/>
                </a:lnTo>
                <a:cubicBezTo>
                  <a:pt x="146404" y="20836"/>
                  <a:pt x="151252" y="24323"/>
                  <a:pt x="152655" y="29468"/>
                </a:cubicBezTo>
                <a:lnTo>
                  <a:pt x="155632" y="40609"/>
                </a:lnTo>
                <a:cubicBezTo>
                  <a:pt x="156992" y="45754"/>
                  <a:pt x="154569" y="51197"/>
                  <a:pt x="149764" y="53578"/>
                </a:cubicBezTo>
                <a:lnTo>
                  <a:pt x="133733" y="61487"/>
                </a:lnTo>
                <a:cubicBezTo>
                  <a:pt x="133435" y="63656"/>
                  <a:pt x="133010" y="65825"/>
                  <a:pt x="132457" y="67951"/>
                </a:cubicBezTo>
                <a:cubicBezTo>
                  <a:pt x="131904" y="70077"/>
                  <a:pt x="131139" y="72203"/>
                  <a:pt x="130331" y="74201"/>
                </a:cubicBezTo>
                <a:lnTo>
                  <a:pt x="140239" y="89084"/>
                </a:lnTo>
                <a:cubicBezTo>
                  <a:pt x="143215" y="93549"/>
                  <a:pt x="142620" y="99460"/>
                  <a:pt x="138835" y="103244"/>
                </a:cubicBezTo>
                <a:lnTo>
                  <a:pt x="130671" y="111408"/>
                </a:lnTo>
                <a:cubicBezTo>
                  <a:pt x="126887" y="115193"/>
                  <a:pt x="120976" y="115788"/>
                  <a:pt x="116511" y="112812"/>
                </a:cubicBezTo>
                <a:lnTo>
                  <a:pt x="101628" y="102904"/>
                </a:lnTo>
                <a:cubicBezTo>
                  <a:pt x="97589" y="104562"/>
                  <a:pt x="93294" y="105753"/>
                  <a:pt x="88914" y="106348"/>
                </a:cubicBezTo>
                <a:lnTo>
                  <a:pt x="81005" y="122337"/>
                </a:lnTo>
                <a:cubicBezTo>
                  <a:pt x="78624" y="127142"/>
                  <a:pt x="73181" y="129566"/>
                  <a:pt x="68036" y="128205"/>
                </a:cubicBezTo>
                <a:lnTo>
                  <a:pt x="56895" y="125228"/>
                </a:lnTo>
                <a:cubicBezTo>
                  <a:pt x="51707" y="123825"/>
                  <a:pt x="48263" y="118977"/>
                  <a:pt x="48603" y="113662"/>
                </a:cubicBezTo>
                <a:lnTo>
                  <a:pt x="49751" y="95845"/>
                </a:lnTo>
                <a:cubicBezTo>
                  <a:pt x="46222" y="93124"/>
                  <a:pt x="43118" y="89977"/>
                  <a:pt x="40439" y="86490"/>
                </a:cubicBezTo>
                <a:lnTo>
                  <a:pt x="22579" y="87639"/>
                </a:lnTo>
                <a:cubicBezTo>
                  <a:pt x="17264" y="87979"/>
                  <a:pt x="12417" y="84492"/>
                  <a:pt x="11013" y="79347"/>
                </a:cubicBezTo>
                <a:lnTo>
                  <a:pt x="8037" y="68206"/>
                </a:lnTo>
                <a:cubicBezTo>
                  <a:pt x="6676" y="63061"/>
                  <a:pt x="9100" y="57618"/>
                  <a:pt x="13905" y="55236"/>
                </a:cubicBezTo>
                <a:lnTo>
                  <a:pt x="29936" y="47327"/>
                </a:lnTo>
                <a:cubicBezTo>
                  <a:pt x="30233" y="45159"/>
                  <a:pt x="30659" y="43033"/>
                  <a:pt x="31211" y="40864"/>
                </a:cubicBezTo>
                <a:cubicBezTo>
                  <a:pt x="31807" y="38695"/>
                  <a:pt x="32487" y="36612"/>
                  <a:pt x="33338" y="34613"/>
                </a:cubicBezTo>
                <a:lnTo>
                  <a:pt x="23430" y="19773"/>
                </a:lnTo>
                <a:cubicBezTo>
                  <a:pt x="20453" y="15308"/>
                  <a:pt x="21049" y="9397"/>
                  <a:pt x="24833" y="5613"/>
                </a:cubicBezTo>
                <a:lnTo>
                  <a:pt x="32997" y="-2551"/>
                </a:lnTo>
                <a:cubicBezTo>
                  <a:pt x="36782" y="-6336"/>
                  <a:pt x="42692" y="-6931"/>
                  <a:pt x="47157" y="-3955"/>
                </a:cubicBezTo>
                <a:lnTo>
                  <a:pt x="62040" y="5953"/>
                </a:lnTo>
                <a:cubicBezTo>
                  <a:pt x="66080" y="4295"/>
                  <a:pt x="70374" y="3104"/>
                  <a:pt x="74754" y="2509"/>
                </a:cubicBezTo>
                <a:lnTo>
                  <a:pt x="82663" y="-13480"/>
                </a:lnTo>
                <a:cubicBezTo>
                  <a:pt x="85045" y="-18285"/>
                  <a:pt x="90445" y="-20708"/>
                  <a:pt x="95633" y="-19348"/>
                </a:cubicBezTo>
                <a:close/>
                <a:moveTo>
                  <a:pt x="81813" y="35719"/>
                </a:moveTo>
                <a:cubicBezTo>
                  <a:pt x="71487" y="35719"/>
                  <a:pt x="63103" y="44102"/>
                  <a:pt x="63103" y="54429"/>
                </a:cubicBezTo>
                <a:cubicBezTo>
                  <a:pt x="63103" y="64755"/>
                  <a:pt x="71487" y="73138"/>
                  <a:pt x="81813" y="73138"/>
                </a:cubicBezTo>
                <a:cubicBezTo>
                  <a:pt x="92139" y="73138"/>
                  <a:pt x="100523" y="64755"/>
                  <a:pt x="100523" y="54429"/>
                </a:cubicBezTo>
                <a:cubicBezTo>
                  <a:pt x="100523" y="44102"/>
                  <a:pt x="92139" y="35719"/>
                  <a:pt x="81813" y="3571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03905" y="3144762"/>
            <a:ext cx="6918476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5714" y="3676952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19238" y="3580190"/>
            <a:ext cx="338666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数据解析：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从原始数据中提取有用信息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5714" y="4015619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19238" y="3918857"/>
            <a:ext cx="338666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数据转换：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转换为适合后续处理的格式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5714" y="4354286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19238" y="4257524"/>
            <a:ext cx="2806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特征提取：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识别和提取关键特征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5714" y="4692952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19238" y="4596190"/>
            <a:ext cx="2612571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数据过滤：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选择性地输出数据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2345" y="5092095"/>
            <a:ext cx="244929" cy="217714"/>
          </a:xfrm>
          <a:custGeom>
            <a:avLst/>
            <a:gdLst/>
            <a:ahLst/>
            <a:cxnLst/>
            <a:rect l="l" t="t" r="r" b="b"/>
            <a:pathLst>
              <a:path w="244929" h="217714">
                <a:moveTo>
                  <a:pt x="131607" y="-8037"/>
                </a:moveTo>
                <a:cubicBezTo>
                  <a:pt x="129863" y="-11439"/>
                  <a:pt x="126334" y="-13607"/>
                  <a:pt x="122507" y="-13607"/>
                </a:cubicBezTo>
                <a:cubicBezTo>
                  <a:pt x="118680" y="-13607"/>
                  <a:pt x="115150" y="-11439"/>
                  <a:pt x="113407" y="-8037"/>
                </a:cubicBezTo>
                <a:lnTo>
                  <a:pt x="82111" y="53280"/>
                </a:lnTo>
                <a:lnTo>
                  <a:pt x="14117" y="64081"/>
                </a:lnTo>
                <a:cubicBezTo>
                  <a:pt x="10333" y="64676"/>
                  <a:pt x="7186" y="67355"/>
                  <a:pt x="5996" y="71012"/>
                </a:cubicBezTo>
                <a:cubicBezTo>
                  <a:pt x="4805" y="74669"/>
                  <a:pt x="5783" y="78666"/>
                  <a:pt x="8462" y="81388"/>
                </a:cubicBezTo>
                <a:lnTo>
                  <a:pt x="57107" y="130076"/>
                </a:lnTo>
                <a:lnTo>
                  <a:pt x="46392" y="198069"/>
                </a:lnTo>
                <a:cubicBezTo>
                  <a:pt x="45797" y="201853"/>
                  <a:pt x="47370" y="205680"/>
                  <a:pt x="50474" y="207934"/>
                </a:cubicBezTo>
                <a:cubicBezTo>
                  <a:pt x="53578" y="210188"/>
                  <a:pt x="57660" y="210528"/>
                  <a:pt x="61105" y="208785"/>
                </a:cubicBezTo>
                <a:lnTo>
                  <a:pt x="122507" y="177573"/>
                </a:lnTo>
                <a:lnTo>
                  <a:pt x="183867" y="208785"/>
                </a:lnTo>
                <a:cubicBezTo>
                  <a:pt x="187268" y="210528"/>
                  <a:pt x="191393" y="210188"/>
                  <a:pt x="194497" y="207934"/>
                </a:cubicBezTo>
                <a:cubicBezTo>
                  <a:pt x="197601" y="205680"/>
                  <a:pt x="199175" y="201896"/>
                  <a:pt x="198579" y="198069"/>
                </a:cubicBezTo>
                <a:lnTo>
                  <a:pt x="187821" y="130076"/>
                </a:lnTo>
                <a:lnTo>
                  <a:pt x="236467" y="81388"/>
                </a:lnTo>
                <a:cubicBezTo>
                  <a:pt x="239188" y="78666"/>
                  <a:pt x="240124" y="74669"/>
                  <a:pt x="238933" y="71012"/>
                </a:cubicBezTo>
                <a:cubicBezTo>
                  <a:pt x="237742" y="67355"/>
                  <a:pt x="234638" y="64676"/>
                  <a:pt x="230811" y="64081"/>
                </a:cubicBezTo>
                <a:lnTo>
                  <a:pt x="162860" y="53280"/>
                </a:lnTo>
                <a:lnTo>
                  <a:pt x="131607" y="-8037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03905" y="5031619"/>
            <a:ext cx="6918476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技术特性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5714" y="5563810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19238" y="5467048"/>
            <a:ext cx="3967238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无副作用：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必须是纯函数，不能修改输入数据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5714" y="5902476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19238" y="5805714"/>
            <a:ext cx="338666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可并行：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多个Map任务可独立并行执行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5714" y="6241143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19238" y="6144381"/>
            <a:ext cx="338666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优先在数据所在节点执行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73143" y="1693333"/>
            <a:ext cx="7499048" cy="4934857"/>
          </a:xfrm>
          <a:custGeom>
            <a:avLst/>
            <a:gdLst/>
            <a:ahLst/>
            <a:cxnLst/>
            <a:rect l="l" t="t" r="r" b="b"/>
            <a:pathLst>
              <a:path w="7499048" h="4934857">
                <a:moveTo>
                  <a:pt x="48381" y="0"/>
                </a:moveTo>
                <a:lnTo>
                  <a:pt x="7402275" y="0"/>
                </a:lnTo>
                <a:cubicBezTo>
                  <a:pt x="7455721" y="0"/>
                  <a:pt x="7499048" y="43327"/>
                  <a:pt x="7499048" y="96773"/>
                </a:cubicBezTo>
                <a:lnTo>
                  <a:pt x="7499048" y="4838085"/>
                </a:lnTo>
                <a:cubicBezTo>
                  <a:pt x="7499048" y="4891531"/>
                  <a:pt x="7455721" y="4934857"/>
                  <a:pt x="7402275" y="4934857"/>
                </a:cubicBezTo>
                <a:lnTo>
                  <a:pt x="48381" y="4934857"/>
                </a:lnTo>
                <a:cubicBezTo>
                  <a:pt x="21661" y="4934857"/>
                  <a:pt x="0" y="4913196"/>
                  <a:pt x="0" y="4886476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273143" y="1693333"/>
            <a:ext cx="48381" cy="4934857"/>
          </a:xfrm>
          <a:custGeom>
            <a:avLst/>
            <a:gdLst/>
            <a:ahLst/>
            <a:cxnLst/>
            <a:rect l="l" t="t" r="r" b="b"/>
            <a:pathLst>
              <a:path w="48381" h="4934857">
                <a:moveTo>
                  <a:pt x="48381" y="0"/>
                </a:moveTo>
                <a:lnTo>
                  <a:pt x="48381" y="0"/>
                </a:lnTo>
                <a:lnTo>
                  <a:pt x="48381" y="4934857"/>
                </a:lnTo>
                <a:lnTo>
                  <a:pt x="48381" y="4934857"/>
                </a:lnTo>
                <a:cubicBezTo>
                  <a:pt x="21661" y="4934857"/>
                  <a:pt x="0" y="4913196"/>
                  <a:pt x="0" y="4886476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521095" y="1935238"/>
            <a:ext cx="241905" cy="241905"/>
          </a:xfrm>
          <a:custGeom>
            <a:avLst/>
            <a:gdLst/>
            <a:ahLst/>
            <a:cxnLst/>
            <a:rect l="l" t="t" r="r" b="b"/>
            <a:pathLst>
              <a:path w="241905" h="241905">
                <a:moveTo>
                  <a:pt x="207651" y="3307"/>
                </a:moveTo>
                <a:cubicBezTo>
                  <a:pt x="212092" y="-1134"/>
                  <a:pt x="219273" y="-1134"/>
                  <a:pt x="223667" y="3307"/>
                </a:cubicBezTo>
                <a:lnTo>
                  <a:pt x="238786" y="18426"/>
                </a:lnTo>
                <a:cubicBezTo>
                  <a:pt x="243228" y="22868"/>
                  <a:pt x="243228" y="30049"/>
                  <a:pt x="238786" y="34443"/>
                </a:cubicBezTo>
                <a:lnTo>
                  <a:pt x="197682" y="75548"/>
                </a:lnTo>
                <a:lnTo>
                  <a:pt x="216108" y="93974"/>
                </a:lnTo>
                <a:cubicBezTo>
                  <a:pt x="219368" y="97234"/>
                  <a:pt x="220313" y="102101"/>
                  <a:pt x="218565" y="106353"/>
                </a:cubicBezTo>
                <a:cubicBezTo>
                  <a:pt x="216817" y="110605"/>
                  <a:pt x="212706" y="113393"/>
                  <a:pt x="208123" y="113393"/>
                </a:cubicBezTo>
                <a:lnTo>
                  <a:pt x="140087" y="113393"/>
                </a:lnTo>
                <a:cubicBezTo>
                  <a:pt x="133804" y="113393"/>
                  <a:pt x="128748" y="108337"/>
                  <a:pt x="128748" y="102054"/>
                </a:cubicBezTo>
                <a:lnTo>
                  <a:pt x="128748" y="34018"/>
                </a:lnTo>
                <a:cubicBezTo>
                  <a:pt x="128748" y="29435"/>
                  <a:pt x="131488" y="25277"/>
                  <a:pt x="135741" y="23529"/>
                </a:cubicBezTo>
                <a:cubicBezTo>
                  <a:pt x="139993" y="21781"/>
                  <a:pt x="144859" y="22726"/>
                  <a:pt x="148119" y="25986"/>
                </a:cubicBezTo>
                <a:lnTo>
                  <a:pt x="166546" y="44412"/>
                </a:lnTo>
                <a:lnTo>
                  <a:pt x="207651" y="3307"/>
                </a:lnTo>
                <a:close/>
                <a:moveTo>
                  <a:pt x="34254" y="128512"/>
                </a:moveTo>
                <a:lnTo>
                  <a:pt x="102290" y="128512"/>
                </a:lnTo>
                <a:cubicBezTo>
                  <a:pt x="108574" y="128512"/>
                  <a:pt x="113629" y="133567"/>
                  <a:pt x="113629" y="139851"/>
                </a:cubicBezTo>
                <a:lnTo>
                  <a:pt x="113629" y="207887"/>
                </a:lnTo>
                <a:cubicBezTo>
                  <a:pt x="113629" y="212470"/>
                  <a:pt x="110889" y="216628"/>
                  <a:pt x="106637" y="218376"/>
                </a:cubicBezTo>
                <a:cubicBezTo>
                  <a:pt x="102384" y="220124"/>
                  <a:pt x="97518" y="219179"/>
                  <a:pt x="94258" y="215919"/>
                </a:cubicBezTo>
                <a:lnTo>
                  <a:pt x="75831" y="197493"/>
                </a:lnTo>
                <a:lnTo>
                  <a:pt x="34727" y="238597"/>
                </a:lnTo>
                <a:cubicBezTo>
                  <a:pt x="30285" y="243039"/>
                  <a:pt x="23104" y="243039"/>
                  <a:pt x="18710" y="238597"/>
                </a:cubicBezTo>
                <a:lnTo>
                  <a:pt x="3591" y="223478"/>
                </a:lnTo>
                <a:cubicBezTo>
                  <a:pt x="-850" y="219037"/>
                  <a:pt x="-850" y="211856"/>
                  <a:pt x="3591" y="207462"/>
                </a:cubicBezTo>
                <a:lnTo>
                  <a:pt x="44696" y="166357"/>
                </a:lnTo>
                <a:lnTo>
                  <a:pt x="26269" y="147930"/>
                </a:lnTo>
                <a:cubicBezTo>
                  <a:pt x="23009" y="144670"/>
                  <a:pt x="22064" y="139804"/>
                  <a:pt x="23812" y="135552"/>
                </a:cubicBezTo>
                <a:cubicBezTo>
                  <a:pt x="25561" y="131299"/>
                  <a:pt x="29671" y="128512"/>
                  <a:pt x="34254" y="12851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793238" y="1886857"/>
            <a:ext cx="6906381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 函数抽象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90857" y="2370667"/>
            <a:ext cx="7087810" cy="628952"/>
          </a:xfrm>
          <a:custGeom>
            <a:avLst/>
            <a:gdLst/>
            <a:ahLst/>
            <a:cxnLst/>
            <a:rect l="l" t="t" r="r" b="b"/>
            <a:pathLst>
              <a:path w="7087810" h="628952">
                <a:moveTo>
                  <a:pt x="96764" y="0"/>
                </a:moveTo>
                <a:lnTo>
                  <a:pt x="6991045" y="0"/>
                </a:lnTo>
                <a:cubicBezTo>
                  <a:pt x="7044487" y="0"/>
                  <a:pt x="7087810" y="43323"/>
                  <a:pt x="7087810" y="96764"/>
                </a:cubicBezTo>
                <a:lnTo>
                  <a:pt x="7087810" y="532188"/>
                </a:lnTo>
                <a:cubicBezTo>
                  <a:pt x="7087810" y="585630"/>
                  <a:pt x="7044487" y="628952"/>
                  <a:pt x="6991045" y="628952"/>
                </a:cubicBezTo>
                <a:lnTo>
                  <a:pt x="96764" y="628952"/>
                </a:lnTo>
                <a:cubicBezTo>
                  <a:pt x="43359" y="628952"/>
                  <a:pt x="0" y="585594"/>
                  <a:pt x="0" y="532188"/>
                </a:cubicBezTo>
                <a:lnTo>
                  <a:pt x="0" y="96764"/>
                </a:lnTo>
                <a:cubicBezTo>
                  <a:pt x="0" y="43359"/>
                  <a:pt x="43359" y="0"/>
                  <a:pt x="967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899922" y="2558143"/>
            <a:ext cx="895331" cy="24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14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86396" y="2558143"/>
            <a:ext cx="1026394" cy="24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1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(key2,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603933" y="2558143"/>
            <a:ext cx="633205" cy="24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14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128281" y="2558143"/>
            <a:ext cx="1681805" cy="24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1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(value2)) 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701228" y="2558143"/>
            <a:ext cx="633205" cy="24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14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225576" y="2558143"/>
            <a:ext cx="1943932" cy="24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1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(key2, value3)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93881" y="3205238"/>
            <a:ext cx="272143" cy="217714"/>
          </a:xfrm>
          <a:custGeom>
            <a:avLst/>
            <a:gdLst/>
            <a:ahLst/>
            <a:cxnLst/>
            <a:rect l="l" t="t" r="r" b="b"/>
            <a:pathLst>
              <a:path w="272143" h="217714">
                <a:moveTo>
                  <a:pt x="176850" y="89509"/>
                </a:moveTo>
                <a:cubicBezTo>
                  <a:pt x="182038" y="88106"/>
                  <a:pt x="187481" y="90573"/>
                  <a:pt x="189820" y="95378"/>
                </a:cubicBezTo>
                <a:lnTo>
                  <a:pt x="197729" y="111366"/>
                </a:lnTo>
                <a:cubicBezTo>
                  <a:pt x="202109" y="111961"/>
                  <a:pt x="206403" y="113152"/>
                  <a:pt x="210443" y="114810"/>
                </a:cubicBezTo>
                <a:lnTo>
                  <a:pt x="225326" y="104903"/>
                </a:lnTo>
                <a:cubicBezTo>
                  <a:pt x="229791" y="101926"/>
                  <a:pt x="235701" y="102521"/>
                  <a:pt x="239486" y="106306"/>
                </a:cubicBezTo>
                <a:lnTo>
                  <a:pt x="247650" y="114470"/>
                </a:lnTo>
                <a:cubicBezTo>
                  <a:pt x="251434" y="118255"/>
                  <a:pt x="252030" y="124208"/>
                  <a:pt x="249053" y="128630"/>
                </a:cubicBezTo>
                <a:lnTo>
                  <a:pt x="239146" y="143470"/>
                </a:lnTo>
                <a:cubicBezTo>
                  <a:pt x="239953" y="145469"/>
                  <a:pt x="240676" y="147552"/>
                  <a:pt x="241272" y="149721"/>
                </a:cubicBezTo>
                <a:cubicBezTo>
                  <a:pt x="241867" y="151890"/>
                  <a:pt x="242250" y="154016"/>
                  <a:pt x="242547" y="156184"/>
                </a:cubicBezTo>
                <a:lnTo>
                  <a:pt x="258578" y="164094"/>
                </a:lnTo>
                <a:cubicBezTo>
                  <a:pt x="263383" y="166475"/>
                  <a:pt x="265850" y="171918"/>
                  <a:pt x="264446" y="177063"/>
                </a:cubicBezTo>
                <a:lnTo>
                  <a:pt x="261470" y="188204"/>
                </a:lnTo>
                <a:cubicBezTo>
                  <a:pt x="260067" y="193349"/>
                  <a:pt x="255261" y="196836"/>
                  <a:pt x="249904" y="196496"/>
                </a:cubicBezTo>
                <a:lnTo>
                  <a:pt x="232044" y="195348"/>
                </a:lnTo>
                <a:cubicBezTo>
                  <a:pt x="229365" y="198792"/>
                  <a:pt x="226261" y="201981"/>
                  <a:pt x="222732" y="204702"/>
                </a:cubicBezTo>
                <a:lnTo>
                  <a:pt x="223880" y="222519"/>
                </a:lnTo>
                <a:cubicBezTo>
                  <a:pt x="224220" y="227877"/>
                  <a:pt x="220733" y="232725"/>
                  <a:pt x="215588" y="234085"/>
                </a:cubicBezTo>
                <a:lnTo>
                  <a:pt x="204447" y="237062"/>
                </a:lnTo>
                <a:cubicBezTo>
                  <a:pt x="199260" y="238465"/>
                  <a:pt x="193859" y="235999"/>
                  <a:pt x="191478" y="231194"/>
                </a:cubicBezTo>
                <a:lnTo>
                  <a:pt x="183569" y="215205"/>
                </a:lnTo>
                <a:cubicBezTo>
                  <a:pt x="179189" y="214610"/>
                  <a:pt x="174894" y="213420"/>
                  <a:pt x="170855" y="211761"/>
                </a:cubicBezTo>
                <a:lnTo>
                  <a:pt x="155972" y="221669"/>
                </a:lnTo>
                <a:cubicBezTo>
                  <a:pt x="151507" y="224645"/>
                  <a:pt x="145596" y="224050"/>
                  <a:pt x="141812" y="220266"/>
                </a:cubicBezTo>
                <a:lnTo>
                  <a:pt x="133648" y="212101"/>
                </a:lnTo>
                <a:cubicBezTo>
                  <a:pt x="129863" y="208317"/>
                  <a:pt x="129268" y="202406"/>
                  <a:pt x="132244" y="197941"/>
                </a:cubicBezTo>
                <a:lnTo>
                  <a:pt x="142152" y="183059"/>
                </a:lnTo>
                <a:cubicBezTo>
                  <a:pt x="141344" y="181060"/>
                  <a:pt x="140621" y="178976"/>
                  <a:pt x="140026" y="176808"/>
                </a:cubicBezTo>
                <a:cubicBezTo>
                  <a:pt x="139431" y="174639"/>
                  <a:pt x="139048" y="172471"/>
                  <a:pt x="138750" y="170344"/>
                </a:cubicBezTo>
                <a:lnTo>
                  <a:pt x="122719" y="162435"/>
                </a:lnTo>
                <a:cubicBezTo>
                  <a:pt x="117914" y="160054"/>
                  <a:pt x="115491" y="154611"/>
                  <a:pt x="116851" y="149466"/>
                </a:cubicBezTo>
                <a:lnTo>
                  <a:pt x="119828" y="138325"/>
                </a:lnTo>
                <a:cubicBezTo>
                  <a:pt x="121231" y="133180"/>
                  <a:pt x="126036" y="129693"/>
                  <a:pt x="131394" y="130033"/>
                </a:cubicBezTo>
                <a:lnTo>
                  <a:pt x="149211" y="131181"/>
                </a:lnTo>
                <a:cubicBezTo>
                  <a:pt x="151890" y="127737"/>
                  <a:pt x="154994" y="124548"/>
                  <a:pt x="158523" y="121826"/>
                </a:cubicBezTo>
                <a:lnTo>
                  <a:pt x="157375" y="104052"/>
                </a:lnTo>
                <a:cubicBezTo>
                  <a:pt x="157035" y="98694"/>
                  <a:pt x="160522" y="93847"/>
                  <a:pt x="165667" y="92486"/>
                </a:cubicBezTo>
                <a:lnTo>
                  <a:pt x="176808" y="89509"/>
                </a:lnTo>
                <a:close/>
                <a:moveTo>
                  <a:pt x="190670" y="144576"/>
                </a:moveTo>
                <a:cubicBezTo>
                  <a:pt x="180344" y="144588"/>
                  <a:pt x="171970" y="152981"/>
                  <a:pt x="171982" y="163307"/>
                </a:cubicBezTo>
                <a:cubicBezTo>
                  <a:pt x="171993" y="173633"/>
                  <a:pt x="180386" y="182007"/>
                  <a:pt x="190713" y="181996"/>
                </a:cubicBezTo>
                <a:cubicBezTo>
                  <a:pt x="201039" y="181984"/>
                  <a:pt x="209413" y="173591"/>
                  <a:pt x="209401" y="163264"/>
                </a:cubicBezTo>
                <a:cubicBezTo>
                  <a:pt x="209389" y="152938"/>
                  <a:pt x="200996" y="144564"/>
                  <a:pt x="190670" y="144576"/>
                </a:cubicBezTo>
                <a:close/>
                <a:moveTo>
                  <a:pt x="95633" y="-19348"/>
                </a:moveTo>
                <a:lnTo>
                  <a:pt x="106774" y="-16371"/>
                </a:lnTo>
                <a:cubicBezTo>
                  <a:pt x="111919" y="-14968"/>
                  <a:pt x="115406" y="-10120"/>
                  <a:pt x="115065" y="-4805"/>
                </a:cubicBezTo>
                <a:lnTo>
                  <a:pt x="113917" y="12969"/>
                </a:lnTo>
                <a:cubicBezTo>
                  <a:pt x="117447" y="15691"/>
                  <a:pt x="120551" y="18837"/>
                  <a:pt x="123230" y="22324"/>
                </a:cubicBezTo>
                <a:lnTo>
                  <a:pt x="141089" y="21176"/>
                </a:lnTo>
                <a:cubicBezTo>
                  <a:pt x="146404" y="20836"/>
                  <a:pt x="151252" y="24323"/>
                  <a:pt x="152655" y="29468"/>
                </a:cubicBezTo>
                <a:lnTo>
                  <a:pt x="155632" y="40609"/>
                </a:lnTo>
                <a:cubicBezTo>
                  <a:pt x="156992" y="45754"/>
                  <a:pt x="154569" y="51197"/>
                  <a:pt x="149764" y="53578"/>
                </a:cubicBezTo>
                <a:lnTo>
                  <a:pt x="133733" y="61487"/>
                </a:lnTo>
                <a:cubicBezTo>
                  <a:pt x="133435" y="63656"/>
                  <a:pt x="133010" y="65825"/>
                  <a:pt x="132457" y="67951"/>
                </a:cubicBezTo>
                <a:cubicBezTo>
                  <a:pt x="131904" y="70077"/>
                  <a:pt x="131139" y="72203"/>
                  <a:pt x="130331" y="74201"/>
                </a:cubicBezTo>
                <a:lnTo>
                  <a:pt x="140239" y="89084"/>
                </a:lnTo>
                <a:cubicBezTo>
                  <a:pt x="143215" y="93549"/>
                  <a:pt x="142620" y="99460"/>
                  <a:pt x="138835" y="103244"/>
                </a:cubicBezTo>
                <a:lnTo>
                  <a:pt x="130671" y="111408"/>
                </a:lnTo>
                <a:cubicBezTo>
                  <a:pt x="126887" y="115193"/>
                  <a:pt x="120976" y="115788"/>
                  <a:pt x="116511" y="112812"/>
                </a:cubicBezTo>
                <a:lnTo>
                  <a:pt x="101628" y="102904"/>
                </a:lnTo>
                <a:cubicBezTo>
                  <a:pt x="97589" y="104562"/>
                  <a:pt x="93294" y="105753"/>
                  <a:pt x="88914" y="106348"/>
                </a:cubicBezTo>
                <a:lnTo>
                  <a:pt x="81005" y="122337"/>
                </a:lnTo>
                <a:cubicBezTo>
                  <a:pt x="78624" y="127142"/>
                  <a:pt x="73181" y="129566"/>
                  <a:pt x="68036" y="128205"/>
                </a:cubicBezTo>
                <a:lnTo>
                  <a:pt x="56895" y="125228"/>
                </a:lnTo>
                <a:cubicBezTo>
                  <a:pt x="51707" y="123825"/>
                  <a:pt x="48263" y="118977"/>
                  <a:pt x="48603" y="113662"/>
                </a:cubicBezTo>
                <a:lnTo>
                  <a:pt x="49751" y="95845"/>
                </a:lnTo>
                <a:cubicBezTo>
                  <a:pt x="46222" y="93124"/>
                  <a:pt x="43118" y="89977"/>
                  <a:pt x="40439" y="86490"/>
                </a:cubicBezTo>
                <a:lnTo>
                  <a:pt x="22579" y="87639"/>
                </a:lnTo>
                <a:cubicBezTo>
                  <a:pt x="17264" y="87979"/>
                  <a:pt x="12417" y="84492"/>
                  <a:pt x="11013" y="79347"/>
                </a:cubicBezTo>
                <a:lnTo>
                  <a:pt x="8037" y="68206"/>
                </a:lnTo>
                <a:cubicBezTo>
                  <a:pt x="6676" y="63061"/>
                  <a:pt x="9100" y="57618"/>
                  <a:pt x="13905" y="55236"/>
                </a:cubicBezTo>
                <a:lnTo>
                  <a:pt x="29936" y="47327"/>
                </a:lnTo>
                <a:cubicBezTo>
                  <a:pt x="30233" y="45159"/>
                  <a:pt x="30659" y="43033"/>
                  <a:pt x="31211" y="40864"/>
                </a:cubicBezTo>
                <a:cubicBezTo>
                  <a:pt x="31807" y="38695"/>
                  <a:pt x="32487" y="36612"/>
                  <a:pt x="33338" y="34613"/>
                </a:cubicBezTo>
                <a:lnTo>
                  <a:pt x="23430" y="19773"/>
                </a:lnTo>
                <a:cubicBezTo>
                  <a:pt x="20453" y="15308"/>
                  <a:pt x="21049" y="9397"/>
                  <a:pt x="24833" y="5613"/>
                </a:cubicBezTo>
                <a:lnTo>
                  <a:pt x="32997" y="-2551"/>
                </a:lnTo>
                <a:cubicBezTo>
                  <a:pt x="36782" y="-6336"/>
                  <a:pt x="42692" y="-6931"/>
                  <a:pt x="47157" y="-3955"/>
                </a:cubicBezTo>
                <a:lnTo>
                  <a:pt x="62040" y="5953"/>
                </a:lnTo>
                <a:cubicBezTo>
                  <a:pt x="66080" y="4295"/>
                  <a:pt x="70374" y="3104"/>
                  <a:pt x="74754" y="2509"/>
                </a:cubicBezTo>
                <a:lnTo>
                  <a:pt x="82663" y="-13480"/>
                </a:lnTo>
                <a:cubicBezTo>
                  <a:pt x="85045" y="-18285"/>
                  <a:pt x="90445" y="-20708"/>
                  <a:pt x="95633" y="-19348"/>
                </a:cubicBezTo>
                <a:close/>
                <a:moveTo>
                  <a:pt x="81813" y="35719"/>
                </a:moveTo>
                <a:cubicBezTo>
                  <a:pt x="71487" y="35719"/>
                  <a:pt x="63103" y="44102"/>
                  <a:pt x="63103" y="54429"/>
                </a:cubicBezTo>
                <a:cubicBezTo>
                  <a:pt x="63103" y="64755"/>
                  <a:pt x="71487" y="73138"/>
                  <a:pt x="81813" y="73138"/>
                </a:cubicBezTo>
                <a:cubicBezTo>
                  <a:pt x="92139" y="73138"/>
                  <a:pt x="100523" y="64755"/>
                  <a:pt x="100523" y="54429"/>
                </a:cubicBezTo>
                <a:cubicBezTo>
                  <a:pt x="100523" y="44102"/>
                  <a:pt x="92139" y="35719"/>
                  <a:pt x="81813" y="35719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769048" y="3144762"/>
            <a:ext cx="6918476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90857" y="3676952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684381" y="3580190"/>
            <a:ext cx="338666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数据聚合：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将具有相同键的所有值合并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90857" y="4015619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684381" y="3918857"/>
            <a:ext cx="2612571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结果计算：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执行最终计算逻辑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90857" y="4354286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684381" y="4257524"/>
            <a:ext cx="2225524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输出生成：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产生最终结果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90857" y="4692952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684381" y="4596190"/>
            <a:ext cx="2999619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数据压缩：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将多个值聚合为单个值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07488" y="5092095"/>
            <a:ext cx="244929" cy="217714"/>
          </a:xfrm>
          <a:custGeom>
            <a:avLst/>
            <a:gdLst/>
            <a:ahLst/>
            <a:cxnLst/>
            <a:rect l="l" t="t" r="r" b="b"/>
            <a:pathLst>
              <a:path w="244929" h="217714">
                <a:moveTo>
                  <a:pt x="131607" y="-8037"/>
                </a:moveTo>
                <a:cubicBezTo>
                  <a:pt x="129863" y="-11439"/>
                  <a:pt x="126334" y="-13607"/>
                  <a:pt x="122507" y="-13607"/>
                </a:cubicBezTo>
                <a:cubicBezTo>
                  <a:pt x="118680" y="-13607"/>
                  <a:pt x="115150" y="-11439"/>
                  <a:pt x="113407" y="-8037"/>
                </a:cubicBezTo>
                <a:lnTo>
                  <a:pt x="82111" y="53280"/>
                </a:lnTo>
                <a:lnTo>
                  <a:pt x="14117" y="64081"/>
                </a:lnTo>
                <a:cubicBezTo>
                  <a:pt x="10333" y="64676"/>
                  <a:pt x="7186" y="67355"/>
                  <a:pt x="5996" y="71012"/>
                </a:cubicBezTo>
                <a:cubicBezTo>
                  <a:pt x="4805" y="74669"/>
                  <a:pt x="5783" y="78666"/>
                  <a:pt x="8462" y="81388"/>
                </a:cubicBezTo>
                <a:lnTo>
                  <a:pt x="57107" y="130076"/>
                </a:lnTo>
                <a:lnTo>
                  <a:pt x="46392" y="198069"/>
                </a:lnTo>
                <a:cubicBezTo>
                  <a:pt x="45797" y="201853"/>
                  <a:pt x="47370" y="205680"/>
                  <a:pt x="50474" y="207934"/>
                </a:cubicBezTo>
                <a:cubicBezTo>
                  <a:pt x="53578" y="210188"/>
                  <a:pt x="57660" y="210528"/>
                  <a:pt x="61105" y="208785"/>
                </a:cubicBezTo>
                <a:lnTo>
                  <a:pt x="122507" y="177573"/>
                </a:lnTo>
                <a:lnTo>
                  <a:pt x="183867" y="208785"/>
                </a:lnTo>
                <a:cubicBezTo>
                  <a:pt x="187268" y="210528"/>
                  <a:pt x="191393" y="210188"/>
                  <a:pt x="194497" y="207934"/>
                </a:cubicBezTo>
                <a:cubicBezTo>
                  <a:pt x="197601" y="205680"/>
                  <a:pt x="199175" y="201896"/>
                  <a:pt x="198579" y="198069"/>
                </a:cubicBezTo>
                <a:lnTo>
                  <a:pt x="187821" y="130076"/>
                </a:lnTo>
                <a:lnTo>
                  <a:pt x="236467" y="81388"/>
                </a:lnTo>
                <a:cubicBezTo>
                  <a:pt x="239188" y="78666"/>
                  <a:pt x="240124" y="74669"/>
                  <a:pt x="238933" y="71012"/>
                </a:cubicBezTo>
                <a:cubicBezTo>
                  <a:pt x="237742" y="67355"/>
                  <a:pt x="234638" y="64676"/>
                  <a:pt x="230811" y="64081"/>
                </a:cubicBezTo>
                <a:lnTo>
                  <a:pt x="162860" y="53280"/>
                </a:lnTo>
                <a:lnTo>
                  <a:pt x="131607" y="-8037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769048" y="5031619"/>
            <a:ext cx="6918476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技术特性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90857" y="5563810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684381" y="5467048"/>
            <a:ext cx="4257524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结合律：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操作应满足结合律，支持Combiner优化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90857" y="5902476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684381" y="5805714"/>
            <a:ext cx="319314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确定性：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相同输入必须产生相同输出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90857" y="6241143"/>
            <a:ext cx="96762" cy="96762"/>
          </a:xfrm>
          <a:custGeom>
            <a:avLst/>
            <a:gdLst/>
            <a:ahLst/>
            <a:cxnLst/>
            <a:rect l="l" t="t" r="r" b="b"/>
            <a:pathLst>
              <a:path w="96762" h="96762">
                <a:moveTo>
                  <a:pt x="48381" y="0"/>
                </a:moveTo>
                <a:lnTo>
                  <a:pt x="48381" y="0"/>
                </a:lnTo>
                <a:cubicBezTo>
                  <a:pt x="75083" y="0"/>
                  <a:pt x="96762" y="21679"/>
                  <a:pt x="96762" y="48381"/>
                </a:cubicBezTo>
                <a:lnTo>
                  <a:pt x="96762" y="48381"/>
                </a:lnTo>
                <a:cubicBezTo>
                  <a:pt x="96762" y="75083"/>
                  <a:pt x="75083" y="96762"/>
                  <a:pt x="48381" y="96762"/>
                </a:cubicBezTo>
                <a:lnTo>
                  <a:pt x="48381" y="96762"/>
                </a:lnTo>
                <a:cubicBezTo>
                  <a:pt x="21679" y="96762"/>
                  <a:pt x="0" y="75083"/>
                  <a:pt x="0" y="48381"/>
                </a:cubicBezTo>
                <a:lnTo>
                  <a:pt x="0" y="48381"/>
                </a:lnTo>
                <a:cubicBezTo>
                  <a:pt x="0" y="21679"/>
                  <a:pt x="21679" y="0"/>
                  <a:pt x="4838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8684381" y="6144381"/>
            <a:ext cx="319314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可分组：</a:t>
            </a:r>
            <a:r>
              <a:rPr lang="en-US" sz="1524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框架自动将相同键的值分组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83810" y="6821714"/>
            <a:ext cx="15288381" cy="1838476"/>
          </a:xfrm>
          <a:custGeom>
            <a:avLst/>
            <a:gdLst/>
            <a:ahLst/>
            <a:cxnLst/>
            <a:rect l="l" t="t" r="r" b="b"/>
            <a:pathLst>
              <a:path w="15288381" h="1838476">
                <a:moveTo>
                  <a:pt x="96759" y="0"/>
                </a:moveTo>
                <a:lnTo>
                  <a:pt x="15191622" y="0"/>
                </a:lnTo>
                <a:cubicBezTo>
                  <a:pt x="15245060" y="0"/>
                  <a:pt x="15288381" y="43320"/>
                  <a:pt x="15288381" y="96759"/>
                </a:cubicBezTo>
                <a:lnTo>
                  <a:pt x="15288381" y="1741717"/>
                </a:lnTo>
                <a:cubicBezTo>
                  <a:pt x="15288381" y="1795156"/>
                  <a:pt x="15245060" y="1838476"/>
                  <a:pt x="15191622" y="1838476"/>
                </a:cubicBezTo>
                <a:lnTo>
                  <a:pt x="96759" y="1838476"/>
                </a:lnTo>
                <a:cubicBezTo>
                  <a:pt x="43320" y="1838476"/>
                  <a:pt x="0" y="1795156"/>
                  <a:pt x="0" y="1741717"/>
                </a:cubicBezTo>
                <a:lnTo>
                  <a:pt x="0" y="96759"/>
                </a:lnTo>
                <a:cubicBezTo>
                  <a:pt x="0" y="43320"/>
                  <a:pt x="43320" y="0"/>
                  <a:pt x="96759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707571" y="7063619"/>
            <a:ext cx="241905" cy="241905"/>
          </a:xfrm>
          <a:custGeom>
            <a:avLst/>
            <a:gdLst/>
            <a:ahLst/>
            <a:cxnLst/>
            <a:rect l="l" t="t" r="r" b="b"/>
            <a:pathLst>
              <a:path w="241905" h="241905">
                <a:moveTo>
                  <a:pt x="188279" y="5764"/>
                </a:moveTo>
                <a:lnTo>
                  <a:pt x="146608" y="47436"/>
                </a:lnTo>
                <a:lnTo>
                  <a:pt x="194469" y="95297"/>
                </a:lnTo>
                <a:lnTo>
                  <a:pt x="236141" y="53625"/>
                </a:lnTo>
                <a:cubicBezTo>
                  <a:pt x="239826" y="49893"/>
                  <a:pt x="241905" y="44885"/>
                  <a:pt x="241905" y="39688"/>
                </a:cubicBezTo>
                <a:cubicBezTo>
                  <a:pt x="241905" y="34490"/>
                  <a:pt x="239826" y="29482"/>
                  <a:pt x="236141" y="25750"/>
                </a:cubicBezTo>
                <a:lnTo>
                  <a:pt x="216155" y="5764"/>
                </a:lnTo>
                <a:cubicBezTo>
                  <a:pt x="212423" y="2079"/>
                  <a:pt x="207414" y="0"/>
                  <a:pt x="202217" y="0"/>
                </a:cubicBezTo>
                <a:cubicBezTo>
                  <a:pt x="197020" y="0"/>
                  <a:pt x="192012" y="2079"/>
                  <a:pt x="188279" y="5764"/>
                </a:cubicBezTo>
                <a:close/>
                <a:moveTo>
                  <a:pt x="130591" y="63453"/>
                </a:moveTo>
                <a:lnTo>
                  <a:pt x="5764" y="188279"/>
                </a:lnTo>
                <a:cubicBezTo>
                  <a:pt x="2079" y="192012"/>
                  <a:pt x="0" y="197020"/>
                  <a:pt x="0" y="202217"/>
                </a:cubicBezTo>
                <a:cubicBezTo>
                  <a:pt x="0" y="207414"/>
                  <a:pt x="2079" y="212423"/>
                  <a:pt x="5764" y="216155"/>
                </a:cubicBezTo>
                <a:lnTo>
                  <a:pt x="25750" y="236141"/>
                </a:lnTo>
                <a:cubicBezTo>
                  <a:pt x="29482" y="239826"/>
                  <a:pt x="34490" y="241905"/>
                  <a:pt x="39688" y="241905"/>
                </a:cubicBezTo>
                <a:cubicBezTo>
                  <a:pt x="44885" y="241905"/>
                  <a:pt x="49893" y="239826"/>
                  <a:pt x="53625" y="236141"/>
                </a:cubicBezTo>
                <a:lnTo>
                  <a:pt x="178452" y="111314"/>
                </a:lnTo>
                <a:lnTo>
                  <a:pt x="130591" y="63453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979714" y="7015238"/>
            <a:ext cx="14719905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抽象优势：开发者只需关注业务逻辑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77333" y="7499048"/>
            <a:ext cx="4874381" cy="967619"/>
          </a:xfrm>
          <a:custGeom>
            <a:avLst/>
            <a:gdLst/>
            <a:ahLst/>
            <a:cxnLst/>
            <a:rect l="l" t="t" r="r" b="b"/>
            <a:pathLst>
              <a:path w="4874381" h="967619">
                <a:moveTo>
                  <a:pt x="96762" y="0"/>
                </a:moveTo>
                <a:lnTo>
                  <a:pt x="4777619" y="0"/>
                </a:lnTo>
                <a:cubicBezTo>
                  <a:pt x="4831059" y="0"/>
                  <a:pt x="4874381" y="43322"/>
                  <a:pt x="4874381" y="96762"/>
                </a:cubicBezTo>
                <a:lnTo>
                  <a:pt x="4874381" y="870857"/>
                </a:lnTo>
                <a:cubicBezTo>
                  <a:pt x="4874381" y="924297"/>
                  <a:pt x="4831059" y="967619"/>
                  <a:pt x="4777619" y="967619"/>
                </a:cubicBezTo>
                <a:lnTo>
                  <a:pt x="96762" y="967619"/>
                </a:lnTo>
                <a:cubicBezTo>
                  <a:pt x="43322" y="967619"/>
                  <a:pt x="0" y="924297"/>
                  <a:pt x="0" y="870857"/>
                </a:cubicBezTo>
                <a:lnTo>
                  <a:pt x="0" y="96762"/>
                </a:lnTo>
                <a:cubicBezTo>
                  <a:pt x="0" y="43358"/>
                  <a:pt x="43358" y="0"/>
                  <a:pt x="96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852714" y="7692571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108857" y="217714"/>
                </a:moveTo>
                <a:cubicBezTo>
                  <a:pt x="168937" y="217714"/>
                  <a:pt x="217714" y="168937"/>
                  <a:pt x="217714" y="108857"/>
                </a:cubicBezTo>
                <a:cubicBezTo>
                  <a:pt x="217714" y="48777"/>
                  <a:pt x="168937" y="0"/>
                  <a:pt x="108857" y="0"/>
                </a:cubicBezTo>
                <a:cubicBezTo>
                  <a:pt x="48777" y="0"/>
                  <a:pt x="0" y="48777"/>
                  <a:pt x="0" y="108857"/>
                </a:cubicBezTo>
                <a:cubicBezTo>
                  <a:pt x="0" y="168937"/>
                  <a:pt x="48777" y="217714"/>
                  <a:pt x="108857" y="217714"/>
                </a:cubicBezTo>
                <a:close/>
                <a:moveTo>
                  <a:pt x="144746" y="90445"/>
                </a:moveTo>
                <a:lnTo>
                  <a:pt x="110728" y="144874"/>
                </a:lnTo>
                <a:cubicBezTo>
                  <a:pt x="108942" y="147723"/>
                  <a:pt x="105881" y="149508"/>
                  <a:pt x="102521" y="149679"/>
                </a:cubicBezTo>
                <a:cubicBezTo>
                  <a:pt x="99162" y="149849"/>
                  <a:pt x="95930" y="148318"/>
                  <a:pt x="93932" y="145596"/>
                </a:cubicBezTo>
                <a:lnTo>
                  <a:pt x="73521" y="118382"/>
                </a:lnTo>
                <a:cubicBezTo>
                  <a:pt x="70119" y="113875"/>
                  <a:pt x="71055" y="107496"/>
                  <a:pt x="75562" y="104095"/>
                </a:cubicBezTo>
                <a:cubicBezTo>
                  <a:pt x="80070" y="100693"/>
                  <a:pt x="86448" y="101628"/>
                  <a:pt x="89850" y="106136"/>
                </a:cubicBezTo>
                <a:lnTo>
                  <a:pt x="101331" y="121444"/>
                </a:lnTo>
                <a:lnTo>
                  <a:pt x="127439" y="79644"/>
                </a:lnTo>
                <a:cubicBezTo>
                  <a:pt x="130416" y="74882"/>
                  <a:pt x="136709" y="73394"/>
                  <a:pt x="141514" y="76413"/>
                </a:cubicBezTo>
                <a:cubicBezTo>
                  <a:pt x="146319" y="79432"/>
                  <a:pt x="147765" y="85682"/>
                  <a:pt x="144746" y="9048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191381" y="7644190"/>
            <a:ext cx="3205238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简化并行编程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91381" y="8031238"/>
            <a:ext cx="319314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无需考虑并行化细节，框架自动处理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692794" y="7499048"/>
            <a:ext cx="4874381" cy="967619"/>
          </a:xfrm>
          <a:custGeom>
            <a:avLst/>
            <a:gdLst/>
            <a:ahLst/>
            <a:cxnLst/>
            <a:rect l="l" t="t" r="r" b="b"/>
            <a:pathLst>
              <a:path w="4874381" h="967619">
                <a:moveTo>
                  <a:pt x="96762" y="0"/>
                </a:moveTo>
                <a:lnTo>
                  <a:pt x="4777619" y="0"/>
                </a:lnTo>
                <a:cubicBezTo>
                  <a:pt x="4831059" y="0"/>
                  <a:pt x="4874381" y="43322"/>
                  <a:pt x="4874381" y="96762"/>
                </a:cubicBezTo>
                <a:lnTo>
                  <a:pt x="4874381" y="870857"/>
                </a:lnTo>
                <a:cubicBezTo>
                  <a:pt x="4874381" y="924297"/>
                  <a:pt x="4831059" y="967619"/>
                  <a:pt x="4777619" y="967619"/>
                </a:cubicBezTo>
                <a:lnTo>
                  <a:pt x="96762" y="967619"/>
                </a:lnTo>
                <a:cubicBezTo>
                  <a:pt x="43322" y="967619"/>
                  <a:pt x="0" y="924297"/>
                  <a:pt x="0" y="870857"/>
                </a:cubicBezTo>
                <a:lnTo>
                  <a:pt x="0" y="96762"/>
                </a:lnTo>
                <a:cubicBezTo>
                  <a:pt x="0" y="43358"/>
                  <a:pt x="43358" y="0"/>
                  <a:pt x="96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5868175" y="7692571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108857" y="217714"/>
                </a:moveTo>
                <a:cubicBezTo>
                  <a:pt x="168937" y="217714"/>
                  <a:pt x="217714" y="168937"/>
                  <a:pt x="217714" y="108857"/>
                </a:cubicBezTo>
                <a:cubicBezTo>
                  <a:pt x="217714" y="48777"/>
                  <a:pt x="168937" y="0"/>
                  <a:pt x="108857" y="0"/>
                </a:cubicBezTo>
                <a:cubicBezTo>
                  <a:pt x="48777" y="0"/>
                  <a:pt x="0" y="48777"/>
                  <a:pt x="0" y="108857"/>
                </a:cubicBezTo>
                <a:cubicBezTo>
                  <a:pt x="0" y="168937"/>
                  <a:pt x="48777" y="217714"/>
                  <a:pt x="108857" y="217714"/>
                </a:cubicBezTo>
                <a:close/>
                <a:moveTo>
                  <a:pt x="144746" y="90445"/>
                </a:moveTo>
                <a:lnTo>
                  <a:pt x="110728" y="144874"/>
                </a:lnTo>
                <a:cubicBezTo>
                  <a:pt x="108942" y="147723"/>
                  <a:pt x="105881" y="149508"/>
                  <a:pt x="102521" y="149679"/>
                </a:cubicBezTo>
                <a:cubicBezTo>
                  <a:pt x="99162" y="149849"/>
                  <a:pt x="95930" y="148318"/>
                  <a:pt x="93932" y="145596"/>
                </a:cubicBezTo>
                <a:lnTo>
                  <a:pt x="73521" y="118382"/>
                </a:lnTo>
                <a:cubicBezTo>
                  <a:pt x="70119" y="113875"/>
                  <a:pt x="71055" y="107496"/>
                  <a:pt x="75562" y="104095"/>
                </a:cubicBezTo>
                <a:cubicBezTo>
                  <a:pt x="80070" y="100693"/>
                  <a:pt x="86448" y="101628"/>
                  <a:pt x="89850" y="106136"/>
                </a:cubicBezTo>
                <a:lnTo>
                  <a:pt x="101331" y="121444"/>
                </a:lnTo>
                <a:lnTo>
                  <a:pt x="127439" y="79644"/>
                </a:lnTo>
                <a:cubicBezTo>
                  <a:pt x="130416" y="74882"/>
                  <a:pt x="136709" y="73394"/>
                  <a:pt x="141514" y="76413"/>
                </a:cubicBezTo>
                <a:cubicBezTo>
                  <a:pt x="146319" y="79432"/>
                  <a:pt x="147765" y="85682"/>
                  <a:pt x="144746" y="9048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6206842" y="7644190"/>
            <a:ext cx="3398762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自动容错处理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206842" y="8031238"/>
            <a:ext cx="338666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系统自动处理故障，任务失败自动重启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708254" y="7499048"/>
            <a:ext cx="4874381" cy="967619"/>
          </a:xfrm>
          <a:custGeom>
            <a:avLst/>
            <a:gdLst/>
            <a:ahLst/>
            <a:cxnLst/>
            <a:rect l="l" t="t" r="r" b="b"/>
            <a:pathLst>
              <a:path w="4874381" h="967619">
                <a:moveTo>
                  <a:pt x="96762" y="0"/>
                </a:moveTo>
                <a:lnTo>
                  <a:pt x="4777619" y="0"/>
                </a:lnTo>
                <a:cubicBezTo>
                  <a:pt x="4831059" y="0"/>
                  <a:pt x="4874381" y="43322"/>
                  <a:pt x="4874381" y="96762"/>
                </a:cubicBezTo>
                <a:lnTo>
                  <a:pt x="4874381" y="870857"/>
                </a:lnTo>
                <a:cubicBezTo>
                  <a:pt x="4874381" y="924297"/>
                  <a:pt x="4831059" y="967619"/>
                  <a:pt x="4777619" y="967619"/>
                </a:cubicBezTo>
                <a:lnTo>
                  <a:pt x="96762" y="967619"/>
                </a:lnTo>
                <a:cubicBezTo>
                  <a:pt x="43322" y="967619"/>
                  <a:pt x="0" y="924297"/>
                  <a:pt x="0" y="870857"/>
                </a:cubicBezTo>
                <a:lnTo>
                  <a:pt x="0" y="96762"/>
                </a:lnTo>
                <a:cubicBezTo>
                  <a:pt x="0" y="43358"/>
                  <a:pt x="43358" y="0"/>
                  <a:pt x="9676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10883635" y="7692571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108857" y="217714"/>
                </a:moveTo>
                <a:cubicBezTo>
                  <a:pt x="168937" y="217714"/>
                  <a:pt x="217714" y="168937"/>
                  <a:pt x="217714" y="108857"/>
                </a:cubicBezTo>
                <a:cubicBezTo>
                  <a:pt x="217714" y="48777"/>
                  <a:pt x="168937" y="0"/>
                  <a:pt x="108857" y="0"/>
                </a:cubicBezTo>
                <a:cubicBezTo>
                  <a:pt x="48777" y="0"/>
                  <a:pt x="0" y="48777"/>
                  <a:pt x="0" y="108857"/>
                </a:cubicBezTo>
                <a:cubicBezTo>
                  <a:pt x="0" y="168937"/>
                  <a:pt x="48777" y="217714"/>
                  <a:pt x="108857" y="217714"/>
                </a:cubicBezTo>
                <a:close/>
                <a:moveTo>
                  <a:pt x="144746" y="90445"/>
                </a:moveTo>
                <a:lnTo>
                  <a:pt x="110728" y="144874"/>
                </a:lnTo>
                <a:cubicBezTo>
                  <a:pt x="108942" y="147723"/>
                  <a:pt x="105881" y="149508"/>
                  <a:pt x="102521" y="149679"/>
                </a:cubicBezTo>
                <a:cubicBezTo>
                  <a:pt x="99162" y="149849"/>
                  <a:pt x="95930" y="148318"/>
                  <a:pt x="93932" y="145596"/>
                </a:cubicBezTo>
                <a:lnTo>
                  <a:pt x="73521" y="118382"/>
                </a:lnTo>
                <a:cubicBezTo>
                  <a:pt x="70119" y="113875"/>
                  <a:pt x="71055" y="107496"/>
                  <a:pt x="75562" y="104095"/>
                </a:cubicBezTo>
                <a:cubicBezTo>
                  <a:pt x="80070" y="100693"/>
                  <a:pt x="86448" y="101628"/>
                  <a:pt x="89850" y="106136"/>
                </a:cubicBezTo>
                <a:lnTo>
                  <a:pt x="101331" y="121444"/>
                </a:lnTo>
                <a:lnTo>
                  <a:pt x="127439" y="79644"/>
                </a:lnTo>
                <a:cubicBezTo>
                  <a:pt x="130416" y="74882"/>
                  <a:pt x="136709" y="73394"/>
                  <a:pt x="141514" y="76413"/>
                </a:cubicBezTo>
                <a:cubicBezTo>
                  <a:pt x="146319" y="79432"/>
                  <a:pt x="147765" y="85682"/>
                  <a:pt x="144746" y="9048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11222302" y="7644190"/>
            <a:ext cx="378581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良好扩展性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1222302" y="8031238"/>
            <a:ext cx="3773714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可扩展到数千个节点，处理能力随集群增长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489" y="491489"/>
            <a:ext cx="15359033" cy="245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5" b="1" kern="0" spc="13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 · Versatility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1489" y="835531"/>
            <a:ext cx="15494192" cy="49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编程模型的普适性：多场景应用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1489" y="1474467"/>
            <a:ext cx="1376169" cy="49149"/>
          </a:xfrm>
          <a:custGeom>
            <a:avLst/>
            <a:gdLst/>
            <a:ahLst/>
            <a:cxnLst/>
            <a:rect l="l" t="t" r="r" b="b"/>
            <a:pathLst>
              <a:path w="1376169" h="49149">
                <a:moveTo>
                  <a:pt x="0" y="0"/>
                </a:moveTo>
                <a:lnTo>
                  <a:pt x="1376169" y="0"/>
                </a:lnTo>
                <a:lnTo>
                  <a:pt x="1376169" y="49149"/>
                </a:lnTo>
                <a:lnTo>
                  <a:pt x="0" y="49149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6063" y="1872554"/>
            <a:ext cx="7507495" cy="3022658"/>
          </a:xfrm>
          <a:custGeom>
            <a:avLst/>
            <a:gdLst/>
            <a:ahLst/>
            <a:cxnLst/>
            <a:rect l="l" t="t" r="r" b="b"/>
            <a:pathLst>
              <a:path w="7507495" h="3022658">
                <a:moveTo>
                  <a:pt x="49149" y="0"/>
                </a:moveTo>
                <a:lnTo>
                  <a:pt x="7409198" y="0"/>
                </a:lnTo>
                <a:cubicBezTo>
                  <a:pt x="7463486" y="0"/>
                  <a:pt x="7507495" y="44009"/>
                  <a:pt x="7507495" y="98297"/>
                </a:cubicBezTo>
                <a:lnTo>
                  <a:pt x="7507495" y="2924361"/>
                </a:lnTo>
                <a:cubicBezTo>
                  <a:pt x="7507495" y="2978649"/>
                  <a:pt x="7463486" y="3022658"/>
                  <a:pt x="7409198" y="3022658"/>
                </a:cubicBezTo>
                <a:lnTo>
                  <a:pt x="49149" y="3022658"/>
                </a:lnTo>
                <a:cubicBezTo>
                  <a:pt x="22005" y="3022658"/>
                  <a:pt x="0" y="3000653"/>
                  <a:pt x="0" y="297350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16063" y="1872554"/>
            <a:ext cx="49149" cy="3022658"/>
          </a:xfrm>
          <a:custGeom>
            <a:avLst/>
            <a:gdLst/>
            <a:ahLst/>
            <a:cxnLst/>
            <a:rect l="l" t="t" r="r" b="b"/>
            <a:pathLst>
              <a:path w="49149" h="3022658">
                <a:moveTo>
                  <a:pt x="49149" y="0"/>
                </a:moveTo>
                <a:lnTo>
                  <a:pt x="49149" y="0"/>
                </a:lnTo>
                <a:lnTo>
                  <a:pt x="49149" y="3022658"/>
                </a:lnTo>
                <a:lnTo>
                  <a:pt x="49149" y="3022658"/>
                </a:lnTo>
                <a:cubicBezTo>
                  <a:pt x="22005" y="3022658"/>
                  <a:pt x="0" y="3000653"/>
                  <a:pt x="0" y="297350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7234" y="2069150"/>
            <a:ext cx="491489" cy="491489"/>
          </a:xfrm>
          <a:custGeom>
            <a:avLst/>
            <a:gdLst/>
            <a:ahLst/>
            <a:cxnLst/>
            <a:rect l="l" t="t" r="r" b="b"/>
            <a:pathLst>
              <a:path w="491489" h="491489">
                <a:moveTo>
                  <a:pt x="147447" y="0"/>
                </a:moveTo>
                <a:lnTo>
                  <a:pt x="344042" y="0"/>
                </a:lnTo>
                <a:cubicBezTo>
                  <a:pt x="425420" y="0"/>
                  <a:pt x="491489" y="66069"/>
                  <a:pt x="491489" y="147447"/>
                </a:cubicBezTo>
                <a:lnTo>
                  <a:pt x="491489" y="344042"/>
                </a:lnTo>
                <a:cubicBezTo>
                  <a:pt x="491489" y="425420"/>
                  <a:pt x="425420" y="491489"/>
                  <a:pt x="344042" y="491489"/>
                </a:cubicBezTo>
                <a:lnTo>
                  <a:pt x="147447" y="491489"/>
                </a:lnTo>
                <a:cubicBezTo>
                  <a:pt x="66069" y="491489"/>
                  <a:pt x="0" y="425420"/>
                  <a:pt x="0" y="344042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60106" y="2192022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15359" y="15359"/>
                </a:moveTo>
                <a:cubicBezTo>
                  <a:pt x="23854" y="15359"/>
                  <a:pt x="30718" y="22223"/>
                  <a:pt x="30718" y="30718"/>
                </a:cubicBezTo>
                <a:lnTo>
                  <a:pt x="30718" y="191988"/>
                </a:lnTo>
                <a:cubicBezTo>
                  <a:pt x="30718" y="196212"/>
                  <a:pt x="34174" y="199667"/>
                  <a:pt x="38398" y="199667"/>
                </a:cubicBezTo>
                <a:lnTo>
                  <a:pt x="230385" y="199667"/>
                </a:lnTo>
                <a:cubicBezTo>
                  <a:pt x="238881" y="199667"/>
                  <a:pt x="245745" y="206531"/>
                  <a:pt x="245745" y="215026"/>
                </a:cubicBezTo>
                <a:cubicBezTo>
                  <a:pt x="245745" y="223522"/>
                  <a:pt x="238881" y="230385"/>
                  <a:pt x="230385" y="230385"/>
                </a:cubicBezTo>
                <a:lnTo>
                  <a:pt x="38398" y="230385"/>
                </a:lnTo>
                <a:cubicBezTo>
                  <a:pt x="17183" y="230385"/>
                  <a:pt x="0" y="213203"/>
                  <a:pt x="0" y="191988"/>
                </a:cubicBezTo>
                <a:lnTo>
                  <a:pt x="0" y="30718"/>
                </a:lnTo>
                <a:cubicBezTo>
                  <a:pt x="0" y="22223"/>
                  <a:pt x="6864" y="15359"/>
                  <a:pt x="15359" y="15359"/>
                </a:cubicBezTo>
                <a:close/>
                <a:moveTo>
                  <a:pt x="61436" y="46077"/>
                </a:moveTo>
                <a:cubicBezTo>
                  <a:pt x="61436" y="37582"/>
                  <a:pt x="68300" y="30718"/>
                  <a:pt x="76795" y="30718"/>
                </a:cubicBezTo>
                <a:lnTo>
                  <a:pt x="168949" y="30718"/>
                </a:lnTo>
                <a:cubicBezTo>
                  <a:pt x="177445" y="30718"/>
                  <a:pt x="184308" y="37582"/>
                  <a:pt x="184308" y="46077"/>
                </a:cubicBezTo>
                <a:cubicBezTo>
                  <a:pt x="184308" y="54573"/>
                  <a:pt x="177445" y="61436"/>
                  <a:pt x="168949" y="61436"/>
                </a:cubicBezTo>
                <a:lnTo>
                  <a:pt x="76795" y="61436"/>
                </a:lnTo>
                <a:cubicBezTo>
                  <a:pt x="68300" y="61436"/>
                  <a:pt x="61436" y="54573"/>
                  <a:pt x="61436" y="46077"/>
                </a:cubicBezTo>
                <a:close/>
                <a:moveTo>
                  <a:pt x="76795" y="84475"/>
                </a:moveTo>
                <a:lnTo>
                  <a:pt x="138231" y="84475"/>
                </a:lnTo>
                <a:cubicBezTo>
                  <a:pt x="146727" y="84475"/>
                  <a:pt x="153590" y="91338"/>
                  <a:pt x="153590" y="99834"/>
                </a:cubicBezTo>
                <a:cubicBezTo>
                  <a:pt x="153590" y="108329"/>
                  <a:pt x="146727" y="115193"/>
                  <a:pt x="138231" y="115193"/>
                </a:cubicBezTo>
                <a:lnTo>
                  <a:pt x="76795" y="115193"/>
                </a:lnTo>
                <a:cubicBezTo>
                  <a:pt x="68300" y="115193"/>
                  <a:pt x="61436" y="108329"/>
                  <a:pt x="61436" y="99834"/>
                </a:cubicBezTo>
                <a:cubicBezTo>
                  <a:pt x="61436" y="91338"/>
                  <a:pt x="68300" y="84475"/>
                  <a:pt x="76795" y="84475"/>
                </a:cubicBezTo>
                <a:close/>
                <a:moveTo>
                  <a:pt x="76795" y="138231"/>
                </a:moveTo>
                <a:lnTo>
                  <a:pt x="199667" y="138231"/>
                </a:lnTo>
                <a:cubicBezTo>
                  <a:pt x="208163" y="138231"/>
                  <a:pt x="215026" y="145095"/>
                  <a:pt x="215026" y="153590"/>
                </a:cubicBezTo>
                <a:cubicBezTo>
                  <a:pt x="215026" y="162086"/>
                  <a:pt x="208163" y="168949"/>
                  <a:pt x="199667" y="168949"/>
                </a:cubicBezTo>
                <a:lnTo>
                  <a:pt x="76795" y="168949"/>
                </a:lnTo>
                <a:cubicBezTo>
                  <a:pt x="68300" y="168949"/>
                  <a:pt x="61436" y="162086"/>
                  <a:pt x="61436" y="153590"/>
                </a:cubicBezTo>
                <a:cubicBezTo>
                  <a:pt x="61436" y="145095"/>
                  <a:pt x="68300" y="138231"/>
                  <a:pt x="76795" y="13823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76169" y="2142873"/>
            <a:ext cx="2580317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统计分析类：词频统计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7234" y="2708085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文本文件集合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7234" y="3125851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(行号, "hello world") → [(hello, 1), (world, 1)]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7234" y="3543617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(hello, [1,1]), (world, [1])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7234" y="3961382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(hello, 2), (world, 1)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7234" y="4379148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每个单词的出现次数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48760" y="1872554"/>
            <a:ext cx="7507495" cy="3022658"/>
          </a:xfrm>
          <a:custGeom>
            <a:avLst/>
            <a:gdLst/>
            <a:ahLst/>
            <a:cxnLst/>
            <a:rect l="l" t="t" r="r" b="b"/>
            <a:pathLst>
              <a:path w="7507495" h="3022658">
                <a:moveTo>
                  <a:pt x="49149" y="0"/>
                </a:moveTo>
                <a:lnTo>
                  <a:pt x="7409198" y="0"/>
                </a:lnTo>
                <a:cubicBezTo>
                  <a:pt x="7463486" y="0"/>
                  <a:pt x="7507495" y="44009"/>
                  <a:pt x="7507495" y="98297"/>
                </a:cubicBezTo>
                <a:lnTo>
                  <a:pt x="7507495" y="2924361"/>
                </a:lnTo>
                <a:cubicBezTo>
                  <a:pt x="7507495" y="2978649"/>
                  <a:pt x="7463486" y="3022658"/>
                  <a:pt x="7409198" y="3022658"/>
                </a:cubicBezTo>
                <a:lnTo>
                  <a:pt x="49149" y="3022658"/>
                </a:lnTo>
                <a:cubicBezTo>
                  <a:pt x="22005" y="3022658"/>
                  <a:pt x="0" y="3000653"/>
                  <a:pt x="0" y="297350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248760" y="1872554"/>
            <a:ext cx="49149" cy="3022658"/>
          </a:xfrm>
          <a:custGeom>
            <a:avLst/>
            <a:gdLst/>
            <a:ahLst/>
            <a:cxnLst/>
            <a:rect l="l" t="t" r="r" b="b"/>
            <a:pathLst>
              <a:path w="49149" h="3022658">
                <a:moveTo>
                  <a:pt x="49149" y="0"/>
                </a:moveTo>
                <a:lnTo>
                  <a:pt x="49149" y="0"/>
                </a:lnTo>
                <a:lnTo>
                  <a:pt x="49149" y="3022658"/>
                </a:lnTo>
                <a:lnTo>
                  <a:pt x="49149" y="3022658"/>
                </a:lnTo>
                <a:cubicBezTo>
                  <a:pt x="22005" y="3022658"/>
                  <a:pt x="0" y="3000653"/>
                  <a:pt x="0" y="297350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469930" y="2069150"/>
            <a:ext cx="491489" cy="491489"/>
          </a:xfrm>
          <a:custGeom>
            <a:avLst/>
            <a:gdLst/>
            <a:ahLst/>
            <a:cxnLst/>
            <a:rect l="l" t="t" r="r" b="b"/>
            <a:pathLst>
              <a:path w="491489" h="491489">
                <a:moveTo>
                  <a:pt x="147447" y="0"/>
                </a:moveTo>
                <a:lnTo>
                  <a:pt x="344042" y="0"/>
                </a:lnTo>
                <a:cubicBezTo>
                  <a:pt x="425420" y="0"/>
                  <a:pt x="491489" y="66069"/>
                  <a:pt x="491489" y="147447"/>
                </a:cubicBezTo>
                <a:lnTo>
                  <a:pt x="491489" y="344042"/>
                </a:lnTo>
                <a:cubicBezTo>
                  <a:pt x="491489" y="425420"/>
                  <a:pt x="425420" y="491489"/>
                  <a:pt x="344042" y="491489"/>
                </a:cubicBezTo>
                <a:lnTo>
                  <a:pt x="147447" y="491489"/>
                </a:lnTo>
                <a:cubicBezTo>
                  <a:pt x="66069" y="491489"/>
                  <a:pt x="0" y="425420"/>
                  <a:pt x="0" y="344042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7A7D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592803" y="2192022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199667" y="99834"/>
                </a:moveTo>
                <a:cubicBezTo>
                  <a:pt x="199667" y="121864"/>
                  <a:pt x="192516" y="142215"/>
                  <a:pt x="180469" y="158726"/>
                </a:cubicBezTo>
                <a:lnTo>
                  <a:pt x="241233" y="219538"/>
                </a:lnTo>
                <a:cubicBezTo>
                  <a:pt x="247232" y="225538"/>
                  <a:pt x="247232" y="235281"/>
                  <a:pt x="241233" y="241281"/>
                </a:cubicBezTo>
                <a:cubicBezTo>
                  <a:pt x="235233" y="247280"/>
                  <a:pt x="225490" y="247280"/>
                  <a:pt x="219490" y="241281"/>
                </a:cubicBezTo>
                <a:lnTo>
                  <a:pt x="158726" y="180469"/>
                </a:lnTo>
                <a:cubicBezTo>
                  <a:pt x="142215" y="192516"/>
                  <a:pt x="121864" y="199667"/>
                  <a:pt x="99834" y="199667"/>
                </a:cubicBezTo>
                <a:cubicBezTo>
                  <a:pt x="44685" y="199667"/>
                  <a:pt x="0" y="154982"/>
                  <a:pt x="0" y="99834"/>
                </a:cubicBezTo>
                <a:cubicBezTo>
                  <a:pt x="0" y="44685"/>
                  <a:pt x="44685" y="0"/>
                  <a:pt x="99834" y="0"/>
                </a:cubicBezTo>
                <a:cubicBezTo>
                  <a:pt x="154982" y="0"/>
                  <a:pt x="199667" y="44685"/>
                  <a:pt x="199667" y="99834"/>
                </a:cubicBezTo>
                <a:close/>
                <a:moveTo>
                  <a:pt x="99834" y="168949"/>
                </a:moveTo>
                <a:cubicBezTo>
                  <a:pt x="137980" y="168949"/>
                  <a:pt x="168949" y="137980"/>
                  <a:pt x="168949" y="99834"/>
                </a:cubicBezTo>
                <a:cubicBezTo>
                  <a:pt x="168949" y="61688"/>
                  <a:pt x="137980" y="30718"/>
                  <a:pt x="99834" y="30718"/>
                </a:cubicBezTo>
                <a:cubicBezTo>
                  <a:pt x="61688" y="30718"/>
                  <a:pt x="30718" y="61688"/>
                  <a:pt x="30718" y="99834"/>
                </a:cubicBezTo>
                <a:cubicBezTo>
                  <a:pt x="30718" y="137980"/>
                  <a:pt x="61688" y="168949"/>
                  <a:pt x="99834" y="168949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108866" y="2142873"/>
            <a:ext cx="2580317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数据挖掘类：日志分析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69930" y="2708085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Web服务器日志文件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69930" y="3125851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(偏移量, "192.168.1.1 - GET /page1.html") → (IP, 页面)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69930" y="3543617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按IP分组 → (IP, [页面列表])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69930" y="3961382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(IP, 访问模式分析结果)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69930" y="4379148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每个IP的访问模式分析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6063" y="5091807"/>
            <a:ext cx="7507495" cy="3022658"/>
          </a:xfrm>
          <a:custGeom>
            <a:avLst/>
            <a:gdLst/>
            <a:ahLst/>
            <a:cxnLst/>
            <a:rect l="l" t="t" r="r" b="b"/>
            <a:pathLst>
              <a:path w="7507495" h="3022658">
                <a:moveTo>
                  <a:pt x="49149" y="0"/>
                </a:moveTo>
                <a:lnTo>
                  <a:pt x="7409198" y="0"/>
                </a:lnTo>
                <a:cubicBezTo>
                  <a:pt x="7463486" y="0"/>
                  <a:pt x="7507495" y="44009"/>
                  <a:pt x="7507495" y="98297"/>
                </a:cubicBezTo>
                <a:lnTo>
                  <a:pt x="7507495" y="2924361"/>
                </a:lnTo>
                <a:cubicBezTo>
                  <a:pt x="7507495" y="2978649"/>
                  <a:pt x="7463486" y="3022658"/>
                  <a:pt x="7409198" y="3022658"/>
                </a:cubicBezTo>
                <a:lnTo>
                  <a:pt x="49149" y="3022658"/>
                </a:lnTo>
                <a:cubicBezTo>
                  <a:pt x="22005" y="3022658"/>
                  <a:pt x="0" y="3000653"/>
                  <a:pt x="0" y="297350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16063" y="5091807"/>
            <a:ext cx="49149" cy="3022658"/>
          </a:xfrm>
          <a:custGeom>
            <a:avLst/>
            <a:gdLst/>
            <a:ahLst/>
            <a:cxnLst/>
            <a:rect l="l" t="t" r="r" b="b"/>
            <a:pathLst>
              <a:path w="49149" h="3022658">
                <a:moveTo>
                  <a:pt x="49149" y="0"/>
                </a:moveTo>
                <a:lnTo>
                  <a:pt x="49149" y="0"/>
                </a:lnTo>
                <a:lnTo>
                  <a:pt x="49149" y="3022658"/>
                </a:lnTo>
                <a:lnTo>
                  <a:pt x="49149" y="3022658"/>
                </a:lnTo>
                <a:cubicBezTo>
                  <a:pt x="22005" y="3022658"/>
                  <a:pt x="0" y="3000653"/>
                  <a:pt x="0" y="297350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37234" y="5288403"/>
            <a:ext cx="491489" cy="491489"/>
          </a:xfrm>
          <a:custGeom>
            <a:avLst/>
            <a:gdLst/>
            <a:ahLst/>
            <a:cxnLst/>
            <a:rect l="l" t="t" r="r" b="b"/>
            <a:pathLst>
              <a:path w="491489" h="491489">
                <a:moveTo>
                  <a:pt x="147447" y="0"/>
                </a:moveTo>
                <a:lnTo>
                  <a:pt x="344042" y="0"/>
                </a:lnTo>
                <a:cubicBezTo>
                  <a:pt x="425420" y="0"/>
                  <a:pt x="491489" y="66069"/>
                  <a:pt x="491489" y="147447"/>
                </a:cubicBezTo>
                <a:lnTo>
                  <a:pt x="491489" y="344042"/>
                </a:lnTo>
                <a:cubicBezTo>
                  <a:pt x="491489" y="425420"/>
                  <a:pt x="425420" y="491489"/>
                  <a:pt x="344042" y="491489"/>
                </a:cubicBezTo>
                <a:lnTo>
                  <a:pt x="147447" y="491489"/>
                </a:lnTo>
                <a:cubicBezTo>
                  <a:pt x="66069" y="491489"/>
                  <a:pt x="0" y="425420"/>
                  <a:pt x="0" y="344042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60106" y="5411275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241233" y="72283"/>
                </a:moveTo>
                <a:lnTo>
                  <a:pt x="195156" y="118361"/>
                </a:lnTo>
                <a:cubicBezTo>
                  <a:pt x="190740" y="122776"/>
                  <a:pt x="184164" y="124072"/>
                  <a:pt x="178405" y="121672"/>
                </a:cubicBezTo>
                <a:cubicBezTo>
                  <a:pt x="172645" y="119272"/>
                  <a:pt x="168949" y="113705"/>
                  <a:pt x="168949" y="107513"/>
                </a:cubicBezTo>
                <a:lnTo>
                  <a:pt x="168949" y="76795"/>
                </a:lnTo>
                <a:lnTo>
                  <a:pt x="15359" y="76795"/>
                </a:lnTo>
                <a:cubicBezTo>
                  <a:pt x="6864" y="76795"/>
                  <a:pt x="0" y="69932"/>
                  <a:pt x="0" y="61436"/>
                </a:cubicBezTo>
                <a:cubicBezTo>
                  <a:pt x="0" y="52941"/>
                  <a:pt x="6864" y="46077"/>
                  <a:pt x="15359" y="46077"/>
                </a:cubicBezTo>
                <a:lnTo>
                  <a:pt x="168949" y="46077"/>
                </a:lnTo>
                <a:lnTo>
                  <a:pt x="168949" y="15359"/>
                </a:lnTo>
                <a:cubicBezTo>
                  <a:pt x="168949" y="9167"/>
                  <a:pt x="172693" y="3552"/>
                  <a:pt x="178453" y="1152"/>
                </a:cubicBezTo>
                <a:cubicBezTo>
                  <a:pt x="184212" y="-1248"/>
                  <a:pt x="190788" y="96"/>
                  <a:pt x="195204" y="4464"/>
                </a:cubicBezTo>
                <a:lnTo>
                  <a:pt x="241281" y="50541"/>
                </a:lnTo>
                <a:cubicBezTo>
                  <a:pt x="247280" y="56540"/>
                  <a:pt x="247280" y="66284"/>
                  <a:pt x="241281" y="72283"/>
                </a:cubicBezTo>
                <a:close/>
                <a:moveTo>
                  <a:pt x="50541" y="241233"/>
                </a:moveTo>
                <a:lnTo>
                  <a:pt x="4464" y="195156"/>
                </a:lnTo>
                <a:cubicBezTo>
                  <a:pt x="-1536" y="189156"/>
                  <a:pt x="-1536" y="179413"/>
                  <a:pt x="4464" y="173413"/>
                </a:cubicBezTo>
                <a:lnTo>
                  <a:pt x="50541" y="127336"/>
                </a:lnTo>
                <a:cubicBezTo>
                  <a:pt x="54957" y="122920"/>
                  <a:pt x="61532" y="121624"/>
                  <a:pt x="67292" y="124024"/>
                </a:cubicBezTo>
                <a:cubicBezTo>
                  <a:pt x="73051" y="126424"/>
                  <a:pt x="76795" y="132040"/>
                  <a:pt x="76795" y="138231"/>
                </a:cubicBezTo>
                <a:lnTo>
                  <a:pt x="76795" y="168949"/>
                </a:lnTo>
                <a:lnTo>
                  <a:pt x="230385" y="168949"/>
                </a:lnTo>
                <a:cubicBezTo>
                  <a:pt x="238881" y="168949"/>
                  <a:pt x="245745" y="175813"/>
                  <a:pt x="245745" y="184308"/>
                </a:cubicBezTo>
                <a:cubicBezTo>
                  <a:pt x="245745" y="192804"/>
                  <a:pt x="238881" y="199667"/>
                  <a:pt x="230385" y="199667"/>
                </a:cubicBezTo>
                <a:lnTo>
                  <a:pt x="76795" y="199667"/>
                </a:lnTo>
                <a:lnTo>
                  <a:pt x="76795" y="230385"/>
                </a:lnTo>
                <a:cubicBezTo>
                  <a:pt x="76795" y="236577"/>
                  <a:pt x="73051" y="242193"/>
                  <a:pt x="67292" y="244593"/>
                </a:cubicBezTo>
                <a:cubicBezTo>
                  <a:pt x="61532" y="246992"/>
                  <a:pt x="54957" y="245649"/>
                  <a:pt x="50541" y="241281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376169" y="5362126"/>
            <a:ext cx="2580317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数据转换类：格式转换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7234" y="5927339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CSV格式的用户数据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7234" y="6345104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(行号, "张三,25,工程师") → (用户ID, JSON对象)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7234" y="6762870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按用户ID分组（去重）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7234" y="7180636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(用户ID, 合并去重后的JSON对象)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7234" y="7598401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JSON格式的用户数据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48760" y="5091807"/>
            <a:ext cx="7507495" cy="3022658"/>
          </a:xfrm>
          <a:custGeom>
            <a:avLst/>
            <a:gdLst/>
            <a:ahLst/>
            <a:cxnLst/>
            <a:rect l="l" t="t" r="r" b="b"/>
            <a:pathLst>
              <a:path w="7507495" h="3022658">
                <a:moveTo>
                  <a:pt x="49149" y="0"/>
                </a:moveTo>
                <a:lnTo>
                  <a:pt x="7409198" y="0"/>
                </a:lnTo>
                <a:cubicBezTo>
                  <a:pt x="7463486" y="0"/>
                  <a:pt x="7507495" y="44009"/>
                  <a:pt x="7507495" y="98297"/>
                </a:cubicBezTo>
                <a:lnTo>
                  <a:pt x="7507495" y="2924361"/>
                </a:lnTo>
                <a:cubicBezTo>
                  <a:pt x="7507495" y="2978649"/>
                  <a:pt x="7463486" y="3022658"/>
                  <a:pt x="7409198" y="3022658"/>
                </a:cubicBezTo>
                <a:lnTo>
                  <a:pt x="49149" y="3022658"/>
                </a:lnTo>
                <a:cubicBezTo>
                  <a:pt x="22005" y="3022658"/>
                  <a:pt x="0" y="3000653"/>
                  <a:pt x="0" y="297350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48760" y="5091807"/>
            <a:ext cx="49149" cy="3022658"/>
          </a:xfrm>
          <a:custGeom>
            <a:avLst/>
            <a:gdLst/>
            <a:ahLst/>
            <a:cxnLst/>
            <a:rect l="l" t="t" r="r" b="b"/>
            <a:pathLst>
              <a:path w="49149" h="3022658">
                <a:moveTo>
                  <a:pt x="49149" y="0"/>
                </a:moveTo>
                <a:lnTo>
                  <a:pt x="49149" y="0"/>
                </a:lnTo>
                <a:lnTo>
                  <a:pt x="49149" y="3022658"/>
                </a:lnTo>
                <a:lnTo>
                  <a:pt x="49149" y="3022658"/>
                </a:lnTo>
                <a:cubicBezTo>
                  <a:pt x="22005" y="3022658"/>
                  <a:pt x="0" y="3000653"/>
                  <a:pt x="0" y="297350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469930" y="5288403"/>
            <a:ext cx="491489" cy="491489"/>
          </a:xfrm>
          <a:custGeom>
            <a:avLst/>
            <a:gdLst/>
            <a:ahLst/>
            <a:cxnLst/>
            <a:rect l="l" t="t" r="r" b="b"/>
            <a:pathLst>
              <a:path w="491489" h="491489">
                <a:moveTo>
                  <a:pt x="147447" y="0"/>
                </a:moveTo>
                <a:lnTo>
                  <a:pt x="344042" y="0"/>
                </a:lnTo>
                <a:cubicBezTo>
                  <a:pt x="425420" y="0"/>
                  <a:pt x="491489" y="66069"/>
                  <a:pt x="491489" y="147447"/>
                </a:cubicBezTo>
                <a:lnTo>
                  <a:pt x="491489" y="344042"/>
                </a:lnTo>
                <a:cubicBezTo>
                  <a:pt x="491489" y="425420"/>
                  <a:pt x="425420" y="491489"/>
                  <a:pt x="344042" y="491489"/>
                </a:cubicBezTo>
                <a:lnTo>
                  <a:pt x="147447" y="491489"/>
                </a:lnTo>
                <a:cubicBezTo>
                  <a:pt x="66069" y="491489"/>
                  <a:pt x="0" y="425420"/>
                  <a:pt x="0" y="344042"/>
                </a:cubicBezTo>
                <a:lnTo>
                  <a:pt x="0" y="147447"/>
                </a:lnTo>
                <a:cubicBezTo>
                  <a:pt x="0" y="66069"/>
                  <a:pt x="66069" y="0"/>
                  <a:pt x="147447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623521" y="5411275"/>
            <a:ext cx="184308" cy="245745"/>
          </a:xfrm>
          <a:custGeom>
            <a:avLst/>
            <a:gdLst/>
            <a:ahLst/>
            <a:cxnLst/>
            <a:rect l="l" t="t" r="r" b="b"/>
            <a:pathLst>
              <a:path w="184308" h="245745">
                <a:moveTo>
                  <a:pt x="30718" y="0"/>
                </a:moveTo>
                <a:cubicBezTo>
                  <a:pt x="13775" y="0"/>
                  <a:pt x="0" y="13775"/>
                  <a:pt x="0" y="30718"/>
                </a:cubicBezTo>
                <a:lnTo>
                  <a:pt x="0" y="215026"/>
                </a:lnTo>
                <a:cubicBezTo>
                  <a:pt x="0" y="231969"/>
                  <a:pt x="13775" y="245745"/>
                  <a:pt x="30718" y="245745"/>
                </a:cubicBezTo>
                <a:lnTo>
                  <a:pt x="153590" y="245745"/>
                </a:lnTo>
                <a:cubicBezTo>
                  <a:pt x="170533" y="245745"/>
                  <a:pt x="184308" y="231969"/>
                  <a:pt x="184308" y="215026"/>
                </a:cubicBezTo>
                <a:lnTo>
                  <a:pt x="184308" y="30718"/>
                </a:lnTo>
                <a:cubicBezTo>
                  <a:pt x="184308" y="13775"/>
                  <a:pt x="170533" y="0"/>
                  <a:pt x="153590" y="0"/>
                </a:cubicBezTo>
                <a:lnTo>
                  <a:pt x="30718" y="0"/>
                </a:lnTo>
                <a:close/>
                <a:moveTo>
                  <a:pt x="46077" y="30718"/>
                </a:moveTo>
                <a:lnTo>
                  <a:pt x="138231" y="30718"/>
                </a:lnTo>
                <a:cubicBezTo>
                  <a:pt x="146727" y="30718"/>
                  <a:pt x="153590" y="37582"/>
                  <a:pt x="153590" y="46077"/>
                </a:cubicBezTo>
                <a:lnTo>
                  <a:pt x="153590" y="61436"/>
                </a:lnTo>
                <a:cubicBezTo>
                  <a:pt x="153590" y="69932"/>
                  <a:pt x="146727" y="76795"/>
                  <a:pt x="138231" y="76795"/>
                </a:cubicBezTo>
                <a:lnTo>
                  <a:pt x="46077" y="76795"/>
                </a:lnTo>
                <a:cubicBezTo>
                  <a:pt x="37582" y="76795"/>
                  <a:pt x="30718" y="69932"/>
                  <a:pt x="30718" y="61436"/>
                </a:cubicBezTo>
                <a:lnTo>
                  <a:pt x="30718" y="46077"/>
                </a:lnTo>
                <a:cubicBezTo>
                  <a:pt x="30718" y="37582"/>
                  <a:pt x="37582" y="30718"/>
                  <a:pt x="46077" y="30718"/>
                </a:cubicBezTo>
                <a:close/>
                <a:moveTo>
                  <a:pt x="53757" y="111353"/>
                </a:moveTo>
                <a:cubicBezTo>
                  <a:pt x="53757" y="117711"/>
                  <a:pt x="48595" y="122872"/>
                  <a:pt x="42237" y="122872"/>
                </a:cubicBezTo>
                <a:cubicBezTo>
                  <a:pt x="35880" y="122872"/>
                  <a:pt x="30718" y="117711"/>
                  <a:pt x="30718" y="111353"/>
                </a:cubicBezTo>
                <a:cubicBezTo>
                  <a:pt x="30718" y="104995"/>
                  <a:pt x="35880" y="99834"/>
                  <a:pt x="42237" y="99834"/>
                </a:cubicBezTo>
                <a:cubicBezTo>
                  <a:pt x="48595" y="99834"/>
                  <a:pt x="53757" y="104995"/>
                  <a:pt x="53757" y="111353"/>
                </a:cubicBezTo>
                <a:close/>
                <a:moveTo>
                  <a:pt x="92154" y="122872"/>
                </a:moveTo>
                <a:cubicBezTo>
                  <a:pt x="85797" y="122872"/>
                  <a:pt x="80635" y="117711"/>
                  <a:pt x="80635" y="111353"/>
                </a:cubicBezTo>
                <a:cubicBezTo>
                  <a:pt x="80635" y="104995"/>
                  <a:pt x="85797" y="99834"/>
                  <a:pt x="92154" y="99834"/>
                </a:cubicBezTo>
                <a:cubicBezTo>
                  <a:pt x="98512" y="99834"/>
                  <a:pt x="103673" y="104995"/>
                  <a:pt x="103673" y="111353"/>
                </a:cubicBezTo>
                <a:cubicBezTo>
                  <a:pt x="103673" y="117711"/>
                  <a:pt x="98512" y="122872"/>
                  <a:pt x="92154" y="122872"/>
                </a:cubicBezTo>
                <a:close/>
                <a:moveTo>
                  <a:pt x="153590" y="111353"/>
                </a:moveTo>
                <a:cubicBezTo>
                  <a:pt x="153590" y="117711"/>
                  <a:pt x="148429" y="122872"/>
                  <a:pt x="142071" y="122872"/>
                </a:cubicBezTo>
                <a:cubicBezTo>
                  <a:pt x="135713" y="122872"/>
                  <a:pt x="130552" y="117711"/>
                  <a:pt x="130552" y="111353"/>
                </a:cubicBezTo>
                <a:cubicBezTo>
                  <a:pt x="130552" y="104995"/>
                  <a:pt x="135713" y="99834"/>
                  <a:pt x="142071" y="99834"/>
                </a:cubicBezTo>
                <a:cubicBezTo>
                  <a:pt x="148429" y="99834"/>
                  <a:pt x="153590" y="104995"/>
                  <a:pt x="153590" y="111353"/>
                </a:cubicBezTo>
                <a:close/>
                <a:moveTo>
                  <a:pt x="42237" y="168949"/>
                </a:moveTo>
                <a:cubicBezTo>
                  <a:pt x="35880" y="168949"/>
                  <a:pt x="30718" y="163788"/>
                  <a:pt x="30718" y="157430"/>
                </a:cubicBezTo>
                <a:cubicBezTo>
                  <a:pt x="30718" y="151072"/>
                  <a:pt x="35880" y="145911"/>
                  <a:pt x="42237" y="145911"/>
                </a:cubicBezTo>
                <a:cubicBezTo>
                  <a:pt x="48595" y="145911"/>
                  <a:pt x="53757" y="151072"/>
                  <a:pt x="53757" y="157430"/>
                </a:cubicBezTo>
                <a:cubicBezTo>
                  <a:pt x="53757" y="163788"/>
                  <a:pt x="48595" y="168949"/>
                  <a:pt x="42237" y="168949"/>
                </a:cubicBezTo>
                <a:close/>
                <a:moveTo>
                  <a:pt x="103673" y="157430"/>
                </a:moveTo>
                <a:cubicBezTo>
                  <a:pt x="103673" y="163788"/>
                  <a:pt x="98512" y="168949"/>
                  <a:pt x="92154" y="168949"/>
                </a:cubicBezTo>
                <a:cubicBezTo>
                  <a:pt x="85797" y="168949"/>
                  <a:pt x="80635" y="163788"/>
                  <a:pt x="80635" y="157430"/>
                </a:cubicBezTo>
                <a:cubicBezTo>
                  <a:pt x="80635" y="151072"/>
                  <a:pt x="85797" y="145911"/>
                  <a:pt x="92154" y="145911"/>
                </a:cubicBezTo>
                <a:cubicBezTo>
                  <a:pt x="98512" y="145911"/>
                  <a:pt x="103673" y="151072"/>
                  <a:pt x="103673" y="157430"/>
                </a:cubicBezTo>
                <a:close/>
                <a:moveTo>
                  <a:pt x="142071" y="168949"/>
                </a:moveTo>
                <a:cubicBezTo>
                  <a:pt x="135713" y="168949"/>
                  <a:pt x="130552" y="163788"/>
                  <a:pt x="130552" y="157430"/>
                </a:cubicBezTo>
                <a:cubicBezTo>
                  <a:pt x="130552" y="151072"/>
                  <a:pt x="135713" y="145911"/>
                  <a:pt x="142071" y="145911"/>
                </a:cubicBezTo>
                <a:cubicBezTo>
                  <a:pt x="148429" y="145911"/>
                  <a:pt x="153590" y="151072"/>
                  <a:pt x="153590" y="157430"/>
                </a:cubicBezTo>
                <a:cubicBezTo>
                  <a:pt x="153590" y="163788"/>
                  <a:pt x="148429" y="168949"/>
                  <a:pt x="142071" y="168949"/>
                </a:cubicBezTo>
                <a:close/>
                <a:moveTo>
                  <a:pt x="30718" y="203507"/>
                </a:moveTo>
                <a:cubicBezTo>
                  <a:pt x="30718" y="197124"/>
                  <a:pt x="35854" y="191988"/>
                  <a:pt x="42237" y="191988"/>
                </a:cubicBezTo>
                <a:lnTo>
                  <a:pt x="95994" y="191988"/>
                </a:lnTo>
                <a:cubicBezTo>
                  <a:pt x="102378" y="191988"/>
                  <a:pt x="107513" y="197124"/>
                  <a:pt x="107513" y="203507"/>
                </a:cubicBezTo>
                <a:cubicBezTo>
                  <a:pt x="107513" y="209891"/>
                  <a:pt x="102378" y="215026"/>
                  <a:pt x="95994" y="215026"/>
                </a:cubicBezTo>
                <a:lnTo>
                  <a:pt x="42237" y="215026"/>
                </a:lnTo>
                <a:cubicBezTo>
                  <a:pt x="35854" y="215026"/>
                  <a:pt x="30718" y="209891"/>
                  <a:pt x="30718" y="203507"/>
                </a:cubicBezTo>
                <a:close/>
                <a:moveTo>
                  <a:pt x="142071" y="191988"/>
                </a:moveTo>
                <a:cubicBezTo>
                  <a:pt x="148455" y="191988"/>
                  <a:pt x="153590" y="197124"/>
                  <a:pt x="153590" y="203507"/>
                </a:cubicBezTo>
                <a:cubicBezTo>
                  <a:pt x="153590" y="209891"/>
                  <a:pt x="148455" y="215026"/>
                  <a:pt x="142071" y="215026"/>
                </a:cubicBezTo>
                <a:cubicBezTo>
                  <a:pt x="135687" y="215026"/>
                  <a:pt x="130552" y="209891"/>
                  <a:pt x="130552" y="203507"/>
                </a:cubicBezTo>
                <a:cubicBezTo>
                  <a:pt x="130552" y="197124"/>
                  <a:pt x="135687" y="191988"/>
                  <a:pt x="142071" y="19198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108866" y="5362126"/>
            <a:ext cx="2580317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聚合计算类：销售汇总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69930" y="5927339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交易记录文件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69930" y="6345104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(记录ID, "2023-01-15,电子产品,1500") → (类别, 金额)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69930" y="6762870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Shuffle：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按产品类别分组 → (类别, [金额列表])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69930" y="7180636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(类别, 销售统计结果)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69930" y="7598401"/>
            <a:ext cx="7188027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各产品类别的销售统计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91489" y="8266807"/>
            <a:ext cx="15273022" cy="688085"/>
          </a:xfrm>
          <a:custGeom>
            <a:avLst/>
            <a:gdLst/>
            <a:ahLst/>
            <a:cxnLst/>
            <a:rect l="l" t="t" r="r" b="b"/>
            <a:pathLst>
              <a:path w="15273022" h="688085">
                <a:moveTo>
                  <a:pt x="98300" y="0"/>
                </a:moveTo>
                <a:lnTo>
                  <a:pt x="15174722" y="0"/>
                </a:lnTo>
                <a:cubicBezTo>
                  <a:pt x="15229012" y="0"/>
                  <a:pt x="15273022" y="44010"/>
                  <a:pt x="15273022" y="98300"/>
                </a:cubicBezTo>
                <a:lnTo>
                  <a:pt x="15273022" y="589785"/>
                </a:lnTo>
                <a:cubicBezTo>
                  <a:pt x="15273022" y="644074"/>
                  <a:pt x="15229012" y="688085"/>
                  <a:pt x="15174722" y="688085"/>
                </a:cubicBezTo>
                <a:lnTo>
                  <a:pt x="98300" y="688085"/>
                </a:lnTo>
                <a:cubicBezTo>
                  <a:pt x="44010" y="688085"/>
                  <a:pt x="0" y="644074"/>
                  <a:pt x="0" y="589785"/>
                </a:cubicBezTo>
                <a:lnTo>
                  <a:pt x="0" y="98300"/>
                </a:lnTo>
                <a:cubicBezTo>
                  <a:pt x="0" y="44047"/>
                  <a:pt x="44047" y="0"/>
                  <a:pt x="983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46449" y="8500265"/>
            <a:ext cx="165878" cy="221170"/>
          </a:xfrm>
          <a:custGeom>
            <a:avLst/>
            <a:gdLst/>
            <a:ahLst/>
            <a:cxnLst/>
            <a:rect l="l" t="t" r="r" b="b"/>
            <a:pathLst>
              <a:path w="165878" h="221170">
                <a:moveTo>
                  <a:pt x="126525" y="165878"/>
                </a:moveTo>
                <a:cubicBezTo>
                  <a:pt x="129678" y="156245"/>
                  <a:pt x="135985" y="147519"/>
                  <a:pt x="143113" y="140002"/>
                </a:cubicBezTo>
                <a:cubicBezTo>
                  <a:pt x="157238" y="125143"/>
                  <a:pt x="165878" y="105056"/>
                  <a:pt x="165878" y="82939"/>
                </a:cubicBezTo>
                <a:cubicBezTo>
                  <a:pt x="165878" y="37150"/>
                  <a:pt x="128728" y="0"/>
                  <a:pt x="82939" y="0"/>
                </a:cubicBezTo>
                <a:cubicBezTo>
                  <a:pt x="37150" y="0"/>
                  <a:pt x="0" y="37150"/>
                  <a:pt x="0" y="82939"/>
                </a:cubicBezTo>
                <a:cubicBezTo>
                  <a:pt x="0" y="105056"/>
                  <a:pt x="8639" y="125143"/>
                  <a:pt x="22765" y="140002"/>
                </a:cubicBezTo>
                <a:cubicBezTo>
                  <a:pt x="29893" y="147519"/>
                  <a:pt x="36243" y="156245"/>
                  <a:pt x="39353" y="165878"/>
                </a:cubicBezTo>
                <a:lnTo>
                  <a:pt x="126482" y="165878"/>
                </a:lnTo>
                <a:close/>
                <a:moveTo>
                  <a:pt x="124408" y="186612"/>
                </a:moveTo>
                <a:lnTo>
                  <a:pt x="41469" y="186612"/>
                </a:lnTo>
                <a:lnTo>
                  <a:pt x="41469" y="193524"/>
                </a:lnTo>
                <a:cubicBezTo>
                  <a:pt x="41469" y="212617"/>
                  <a:pt x="56934" y="228082"/>
                  <a:pt x="76027" y="228082"/>
                </a:cubicBezTo>
                <a:lnTo>
                  <a:pt x="89850" y="228082"/>
                </a:lnTo>
                <a:cubicBezTo>
                  <a:pt x="108944" y="228082"/>
                  <a:pt x="124408" y="212617"/>
                  <a:pt x="124408" y="193524"/>
                </a:cubicBezTo>
                <a:lnTo>
                  <a:pt x="124408" y="186612"/>
                </a:lnTo>
                <a:close/>
                <a:moveTo>
                  <a:pt x="79483" y="48381"/>
                </a:moveTo>
                <a:cubicBezTo>
                  <a:pt x="62290" y="48381"/>
                  <a:pt x="48381" y="62290"/>
                  <a:pt x="48381" y="79483"/>
                </a:cubicBezTo>
                <a:cubicBezTo>
                  <a:pt x="48381" y="85228"/>
                  <a:pt x="43759" y="89850"/>
                  <a:pt x="38014" y="89850"/>
                </a:cubicBezTo>
                <a:cubicBezTo>
                  <a:pt x="32268" y="89850"/>
                  <a:pt x="27646" y="85228"/>
                  <a:pt x="27646" y="79483"/>
                </a:cubicBezTo>
                <a:cubicBezTo>
                  <a:pt x="27646" y="50843"/>
                  <a:pt x="50843" y="27646"/>
                  <a:pt x="79483" y="27646"/>
                </a:cubicBezTo>
                <a:cubicBezTo>
                  <a:pt x="85228" y="27646"/>
                  <a:pt x="89850" y="32268"/>
                  <a:pt x="89850" y="38014"/>
                </a:cubicBezTo>
                <a:cubicBezTo>
                  <a:pt x="89850" y="43759"/>
                  <a:pt x="85228" y="48381"/>
                  <a:pt x="79483" y="48381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062845" y="8463403"/>
            <a:ext cx="1141483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核心洞察：</a:t>
            </a:r>
            <a:r>
              <a:rPr lang="en-US" sz="154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MapReduce通过简单的Map和Reduce两个操作，能够解决多种类型的数据处理问题，体现了"简单即是美"的设计哲学。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83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kern="0" spc="11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 · Reliability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19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容错与可靠性机制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270000"/>
            <a:ext cx="1185333" cy="42333"/>
          </a:xfrm>
          <a:custGeom>
            <a:avLst/>
            <a:gdLst/>
            <a:ahLst/>
            <a:cxnLst/>
            <a:rect l="l" t="t" r="r" b="b"/>
            <a:pathLst>
              <a:path w="1185333" h="42333">
                <a:moveTo>
                  <a:pt x="0" y="0"/>
                </a:moveTo>
                <a:lnTo>
                  <a:pt x="1185333" y="0"/>
                </a:lnTo>
                <a:lnTo>
                  <a:pt x="1185333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23333" y="1481667"/>
            <a:ext cx="15494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MapReduce通过</a:t>
            </a:r>
            <a:r>
              <a:rPr lang="en-US" sz="1333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多层次的容错机制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确保在大规模分布式环境中的可靠性。在数千个节点的集群中，硬件故障、网络中断是常态，MapReduce的设计哲学是"优雅地处理故障"而非"避免故障"。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4500" y="1926167"/>
            <a:ext cx="15388167" cy="1883833"/>
          </a:xfrm>
          <a:custGeom>
            <a:avLst/>
            <a:gdLst/>
            <a:ahLst/>
            <a:cxnLst/>
            <a:rect l="l" t="t" r="r" b="b"/>
            <a:pathLst>
              <a:path w="15388167" h="1883833">
                <a:moveTo>
                  <a:pt x="42333" y="0"/>
                </a:moveTo>
                <a:lnTo>
                  <a:pt x="15303507" y="0"/>
                </a:lnTo>
                <a:cubicBezTo>
                  <a:pt x="15350263" y="0"/>
                  <a:pt x="15388167" y="37903"/>
                  <a:pt x="15388167" y="84659"/>
                </a:cubicBezTo>
                <a:lnTo>
                  <a:pt x="15388167" y="1799174"/>
                </a:lnTo>
                <a:cubicBezTo>
                  <a:pt x="15388167" y="1845930"/>
                  <a:pt x="15350263" y="1883833"/>
                  <a:pt x="15303507" y="1883833"/>
                </a:cubicBezTo>
                <a:lnTo>
                  <a:pt x="42333" y="1883833"/>
                </a:lnTo>
                <a:cubicBezTo>
                  <a:pt x="18953" y="1883833"/>
                  <a:pt x="0" y="1864880"/>
                  <a:pt x="0" y="1841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4500" y="1926167"/>
            <a:ext cx="42333" cy="1883833"/>
          </a:xfrm>
          <a:custGeom>
            <a:avLst/>
            <a:gdLst/>
            <a:ahLst/>
            <a:cxnLst/>
            <a:rect l="l" t="t" r="r" b="b"/>
            <a:pathLst>
              <a:path w="42333" h="1883833">
                <a:moveTo>
                  <a:pt x="42333" y="0"/>
                </a:moveTo>
                <a:lnTo>
                  <a:pt x="42333" y="0"/>
                </a:lnTo>
                <a:lnTo>
                  <a:pt x="42333" y="1883833"/>
                </a:lnTo>
                <a:lnTo>
                  <a:pt x="42333" y="1883833"/>
                </a:lnTo>
                <a:cubicBezTo>
                  <a:pt x="18953" y="1883833"/>
                  <a:pt x="0" y="1864880"/>
                  <a:pt x="0" y="1841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35000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83167" y="224366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55314" y="15007"/>
                </a:moveTo>
                <a:cubicBezTo>
                  <a:pt x="59821" y="18149"/>
                  <a:pt x="60896" y="24350"/>
                  <a:pt x="57754" y="28815"/>
                </a:cubicBezTo>
                <a:lnTo>
                  <a:pt x="34603" y="61888"/>
                </a:lnTo>
                <a:cubicBezTo>
                  <a:pt x="32908" y="64285"/>
                  <a:pt x="30262" y="65815"/>
                  <a:pt x="27326" y="66063"/>
                </a:cubicBezTo>
                <a:cubicBezTo>
                  <a:pt x="24391" y="66311"/>
                  <a:pt x="21497" y="65319"/>
                  <a:pt x="19430" y="63252"/>
                </a:cubicBezTo>
                <a:lnTo>
                  <a:pt x="2894" y="46715"/>
                </a:lnTo>
                <a:cubicBezTo>
                  <a:pt x="-951" y="42829"/>
                  <a:pt x="-951" y="36546"/>
                  <a:pt x="2894" y="32660"/>
                </a:cubicBezTo>
                <a:cubicBezTo>
                  <a:pt x="6739" y="28773"/>
                  <a:pt x="13064" y="28815"/>
                  <a:pt x="16950" y="32660"/>
                </a:cubicBezTo>
                <a:lnTo>
                  <a:pt x="25135" y="40845"/>
                </a:lnTo>
                <a:lnTo>
                  <a:pt x="41507" y="17446"/>
                </a:lnTo>
                <a:cubicBezTo>
                  <a:pt x="44648" y="12940"/>
                  <a:pt x="50850" y="11865"/>
                  <a:pt x="55314" y="15007"/>
                </a:cubicBezTo>
                <a:close/>
                <a:moveTo>
                  <a:pt x="55314" y="81153"/>
                </a:moveTo>
                <a:cubicBezTo>
                  <a:pt x="59821" y="84295"/>
                  <a:pt x="60896" y="90496"/>
                  <a:pt x="57754" y="94961"/>
                </a:cubicBezTo>
                <a:lnTo>
                  <a:pt x="34603" y="128034"/>
                </a:lnTo>
                <a:cubicBezTo>
                  <a:pt x="32908" y="130431"/>
                  <a:pt x="30262" y="131961"/>
                  <a:pt x="27326" y="132209"/>
                </a:cubicBezTo>
                <a:cubicBezTo>
                  <a:pt x="24391" y="132457"/>
                  <a:pt x="21497" y="131465"/>
                  <a:pt x="19430" y="129398"/>
                </a:cubicBezTo>
                <a:lnTo>
                  <a:pt x="2894" y="112861"/>
                </a:lnTo>
                <a:cubicBezTo>
                  <a:pt x="-992" y="108975"/>
                  <a:pt x="-992" y="102691"/>
                  <a:pt x="2894" y="98847"/>
                </a:cubicBezTo>
                <a:cubicBezTo>
                  <a:pt x="6780" y="95002"/>
                  <a:pt x="13064" y="94961"/>
                  <a:pt x="16909" y="98847"/>
                </a:cubicBezTo>
                <a:lnTo>
                  <a:pt x="25094" y="107032"/>
                </a:lnTo>
                <a:lnTo>
                  <a:pt x="41465" y="83633"/>
                </a:lnTo>
                <a:cubicBezTo>
                  <a:pt x="44607" y="79127"/>
                  <a:pt x="50808" y="78052"/>
                  <a:pt x="55273" y="81194"/>
                </a:cubicBezTo>
                <a:close/>
                <a:moveTo>
                  <a:pt x="92604" y="39688"/>
                </a:moveTo>
                <a:cubicBezTo>
                  <a:pt x="92604" y="32370"/>
                  <a:pt x="98516" y="26458"/>
                  <a:pt x="105833" y="26458"/>
                </a:cubicBezTo>
                <a:lnTo>
                  <a:pt x="198438" y="26458"/>
                </a:lnTo>
                <a:cubicBezTo>
                  <a:pt x="205755" y="26458"/>
                  <a:pt x="211667" y="32370"/>
                  <a:pt x="211667" y="39688"/>
                </a:cubicBezTo>
                <a:cubicBezTo>
                  <a:pt x="211667" y="47005"/>
                  <a:pt x="205755" y="52917"/>
                  <a:pt x="198438" y="52917"/>
                </a:cubicBezTo>
                <a:lnTo>
                  <a:pt x="105833" y="52917"/>
                </a:lnTo>
                <a:cubicBezTo>
                  <a:pt x="98516" y="52917"/>
                  <a:pt x="92604" y="47005"/>
                  <a:pt x="92604" y="39688"/>
                </a:cubicBezTo>
                <a:close/>
                <a:moveTo>
                  <a:pt x="92604" y="105833"/>
                </a:moveTo>
                <a:cubicBezTo>
                  <a:pt x="92604" y="98516"/>
                  <a:pt x="98516" y="92604"/>
                  <a:pt x="105833" y="92604"/>
                </a:cubicBezTo>
                <a:lnTo>
                  <a:pt x="198438" y="92604"/>
                </a:lnTo>
                <a:cubicBezTo>
                  <a:pt x="205755" y="92604"/>
                  <a:pt x="211667" y="98516"/>
                  <a:pt x="211667" y="105833"/>
                </a:cubicBezTo>
                <a:cubicBezTo>
                  <a:pt x="211667" y="113151"/>
                  <a:pt x="205755" y="119063"/>
                  <a:pt x="198438" y="119063"/>
                </a:cubicBezTo>
                <a:lnTo>
                  <a:pt x="105833" y="119063"/>
                </a:lnTo>
                <a:cubicBezTo>
                  <a:pt x="98516" y="119063"/>
                  <a:pt x="92604" y="113151"/>
                  <a:pt x="92604" y="105833"/>
                </a:cubicBezTo>
                <a:close/>
                <a:moveTo>
                  <a:pt x="66146" y="171979"/>
                </a:moveTo>
                <a:cubicBezTo>
                  <a:pt x="66146" y="164662"/>
                  <a:pt x="72058" y="158750"/>
                  <a:pt x="79375" y="158750"/>
                </a:cubicBezTo>
                <a:lnTo>
                  <a:pt x="198438" y="158750"/>
                </a:lnTo>
                <a:cubicBezTo>
                  <a:pt x="205755" y="158750"/>
                  <a:pt x="211667" y="164662"/>
                  <a:pt x="211667" y="171979"/>
                </a:cubicBezTo>
                <a:cubicBezTo>
                  <a:pt x="211667" y="179297"/>
                  <a:pt x="205755" y="185208"/>
                  <a:pt x="198438" y="185208"/>
                </a:cubicBezTo>
                <a:lnTo>
                  <a:pt x="79375" y="185208"/>
                </a:lnTo>
                <a:cubicBezTo>
                  <a:pt x="72058" y="185208"/>
                  <a:pt x="66146" y="179297"/>
                  <a:pt x="66146" y="171979"/>
                </a:cubicBezTo>
                <a:close/>
                <a:moveTo>
                  <a:pt x="26458" y="155443"/>
                </a:moveTo>
                <a:cubicBezTo>
                  <a:pt x="35585" y="155443"/>
                  <a:pt x="42995" y="162852"/>
                  <a:pt x="42995" y="171979"/>
                </a:cubicBezTo>
                <a:cubicBezTo>
                  <a:pt x="42995" y="181106"/>
                  <a:pt x="35585" y="188516"/>
                  <a:pt x="26458" y="188516"/>
                </a:cubicBezTo>
                <a:cubicBezTo>
                  <a:pt x="17332" y="188516"/>
                  <a:pt x="9922" y="181106"/>
                  <a:pt x="9922" y="171979"/>
                </a:cubicBezTo>
                <a:cubicBezTo>
                  <a:pt x="9922" y="162852"/>
                  <a:pt x="17332" y="155443"/>
                  <a:pt x="26458" y="155443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70000" y="2201333"/>
            <a:ext cx="1164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任务级容错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00" y="2730500"/>
            <a:ext cx="7450667" cy="910167"/>
          </a:xfrm>
          <a:custGeom>
            <a:avLst/>
            <a:gdLst/>
            <a:ahLst/>
            <a:cxnLst/>
            <a:rect l="l" t="t" r="r" b="b"/>
            <a:pathLst>
              <a:path w="7450667" h="910167">
                <a:moveTo>
                  <a:pt x="84664" y="0"/>
                </a:moveTo>
                <a:lnTo>
                  <a:pt x="7366003" y="0"/>
                </a:lnTo>
                <a:cubicBezTo>
                  <a:pt x="7412761" y="0"/>
                  <a:pt x="7450667" y="37905"/>
                  <a:pt x="7450667" y="84664"/>
                </a:cubicBezTo>
                <a:lnTo>
                  <a:pt x="7450667" y="825503"/>
                </a:lnTo>
                <a:cubicBezTo>
                  <a:pt x="7450667" y="872261"/>
                  <a:pt x="7412761" y="910167"/>
                  <a:pt x="7366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88458" y="291041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5417" y="2857500"/>
            <a:ext cx="7048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238500"/>
            <a:ext cx="7281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定期心跳检测任务状态，超时机制识别僵死任务，自动重启失败任务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12667" y="2730500"/>
            <a:ext cx="7450667" cy="910167"/>
          </a:xfrm>
          <a:custGeom>
            <a:avLst/>
            <a:gdLst/>
            <a:ahLst/>
            <a:cxnLst/>
            <a:rect l="l" t="t" r="r" b="b"/>
            <a:pathLst>
              <a:path w="7450667" h="910167">
                <a:moveTo>
                  <a:pt x="84664" y="0"/>
                </a:moveTo>
                <a:lnTo>
                  <a:pt x="7366003" y="0"/>
                </a:lnTo>
                <a:cubicBezTo>
                  <a:pt x="7412761" y="0"/>
                  <a:pt x="7450667" y="37905"/>
                  <a:pt x="7450667" y="84664"/>
                </a:cubicBezTo>
                <a:lnTo>
                  <a:pt x="7450667" y="825503"/>
                </a:lnTo>
                <a:cubicBezTo>
                  <a:pt x="7450667" y="872261"/>
                  <a:pt x="7412761" y="910167"/>
                  <a:pt x="7366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378031" y="291041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436" y="-11906"/>
                </a:moveTo>
                <a:cubicBezTo>
                  <a:pt x="106936" y="-11906"/>
                  <a:pt x="116272" y="-2570"/>
                  <a:pt x="116272" y="8930"/>
                </a:cubicBezTo>
                <a:cubicBezTo>
                  <a:pt x="116272" y="20429"/>
                  <a:pt x="106936" y="29766"/>
                  <a:pt x="95436" y="29766"/>
                </a:cubicBezTo>
                <a:cubicBezTo>
                  <a:pt x="83936" y="29766"/>
                  <a:pt x="74600" y="20429"/>
                  <a:pt x="74600" y="8930"/>
                </a:cubicBezTo>
                <a:cubicBezTo>
                  <a:pt x="74600" y="-2570"/>
                  <a:pt x="83936" y="-11906"/>
                  <a:pt x="95436" y="-11906"/>
                </a:cubicBezTo>
                <a:close/>
                <a:moveTo>
                  <a:pt x="45988" y="65484"/>
                </a:moveTo>
                <a:cubicBezTo>
                  <a:pt x="44760" y="65484"/>
                  <a:pt x="43681" y="66229"/>
                  <a:pt x="43235" y="67345"/>
                </a:cubicBezTo>
                <a:lnTo>
                  <a:pt x="35049" y="87771"/>
                </a:lnTo>
                <a:cubicBezTo>
                  <a:pt x="32593" y="93873"/>
                  <a:pt x="25673" y="96850"/>
                  <a:pt x="19571" y="94394"/>
                </a:cubicBezTo>
                <a:cubicBezTo>
                  <a:pt x="13469" y="91939"/>
                  <a:pt x="10492" y="85018"/>
                  <a:pt x="12948" y="78916"/>
                </a:cubicBezTo>
                <a:lnTo>
                  <a:pt x="21096" y="58489"/>
                </a:lnTo>
                <a:cubicBezTo>
                  <a:pt x="25189" y="48332"/>
                  <a:pt x="35012" y="41672"/>
                  <a:pt x="45988" y="41672"/>
                </a:cubicBezTo>
                <a:lnTo>
                  <a:pt x="82190" y="41672"/>
                </a:lnTo>
                <a:cubicBezTo>
                  <a:pt x="92794" y="41672"/>
                  <a:pt x="102580" y="47290"/>
                  <a:pt x="107900" y="56443"/>
                </a:cubicBezTo>
                <a:lnTo>
                  <a:pt x="120104" y="77391"/>
                </a:lnTo>
                <a:lnTo>
                  <a:pt x="143024" y="77391"/>
                </a:lnTo>
                <a:cubicBezTo>
                  <a:pt x="149609" y="77391"/>
                  <a:pt x="154930" y="82711"/>
                  <a:pt x="154930" y="89297"/>
                </a:cubicBezTo>
                <a:cubicBezTo>
                  <a:pt x="154930" y="95883"/>
                  <a:pt x="149609" y="101203"/>
                  <a:pt x="143024" y="101203"/>
                </a:cubicBezTo>
                <a:lnTo>
                  <a:pt x="120104" y="101203"/>
                </a:lnTo>
                <a:cubicBezTo>
                  <a:pt x="111621" y="101203"/>
                  <a:pt x="103808" y="96701"/>
                  <a:pt x="99529" y="89371"/>
                </a:cubicBezTo>
                <a:lnTo>
                  <a:pt x="95808" y="83009"/>
                </a:lnTo>
                <a:lnTo>
                  <a:pt x="88106" y="109203"/>
                </a:lnTo>
                <a:lnTo>
                  <a:pt x="116160" y="117611"/>
                </a:lnTo>
                <a:cubicBezTo>
                  <a:pt x="126467" y="120700"/>
                  <a:pt x="131713" y="132122"/>
                  <a:pt x="127360" y="141982"/>
                </a:cubicBezTo>
                <a:lnTo>
                  <a:pt x="106300" y="189384"/>
                </a:lnTo>
                <a:cubicBezTo>
                  <a:pt x="103622" y="195411"/>
                  <a:pt x="96589" y="198090"/>
                  <a:pt x="90599" y="195411"/>
                </a:cubicBezTo>
                <a:cubicBezTo>
                  <a:pt x="84609" y="192732"/>
                  <a:pt x="81893" y="185700"/>
                  <a:pt x="84572" y="179710"/>
                </a:cubicBezTo>
                <a:lnTo>
                  <a:pt x="102877" y="138485"/>
                </a:lnTo>
                <a:lnTo>
                  <a:pt x="67196" y="127769"/>
                </a:lnTo>
                <a:cubicBezTo>
                  <a:pt x="55029" y="124123"/>
                  <a:pt x="47848" y="111509"/>
                  <a:pt x="50936" y="99194"/>
                </a:cubicBezTo>
                <a:lnTo>
                  <a:pt x="59382" y="65484"/>
                </a:lnTo>
                <a:lnTo>
                  <a:pt x="46025" y="65484"/>
                </a:lnTo>
                <a:close/>
                <a:moveTo>
                  <a:pt x="43011" y="132829"/>
                </a:moveTo>
                <a:cubicBezTo>
                  <a:pt x="47960" y="138373"/>
                  <a:pt x="54434" y="142615"/>
                  <a:pt x="62061" y="144884"/>
                </a:cubicBezTo>
                <a:lnTo>
                  <a:pt x="63810" y="145405"/>
                </a:lnTo>
                <a:lnTo>
                  <a:pt x="61243" y="152586"/>
                </a:lnTo>
                <a:cubicBezTo>
                  <a:pt x="59085" y="158651"/>
                  <a:pt x="55290" y="164046"/>
                  <a:pt x="50341" y="168139"/>
                </a:cubicBezTo>
                <a:lnTo>
                  <a:pt x="19683" y="193402"/>
                </a:lnTo>
                <a:cubicBezTo>
                  <a:pt x="14622" y="197569"/>
                  <a:pt x="7107" y="196862"/>
                  <a:pt x="2939" y="191802"/>
                </a:cubicBezTo>
                <a:cubicBezTo>
                  <a:pt x="-1228" y="186742"/>
                  <a:pt x="-521" y="179226"/>
                  <a:pt x="4539" y="175059"/>
                </a:cubicBezTo>
                <a:lnTo>
                  <a:pt x="35198" y="149796"/>
                </a:lnTo>
                <a:cubicBezTo>
                  <a:pt x="36872" y="148419"/>
                  <a:pt x="38100" y="146633"/>
                  <a:pt x="38844" y="144624"/>
                </a:cubicBezTo>
                <a:lnTo>
                  <a:pt x="43011" y="132829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83083" y="2857500"/>
            <a:ext cx="7048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推测执行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9667" y="3238500"/>
            <a:ext cx="7281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识别运行缓慢的任务，在其他节点启动备份任务，采用最先完成的结果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4500" y="3979333"/>
            <a:ext cx="15388167" cy="1883833"/>
          </a:xfrm>
          <a:custGeom>
            <a:avLst/>
            <a:gdLst/>
            <a:ahLst/>
            <a:cxnLst/>
            <a:rect l="l" t="t" r="r" b="b"/>
            <a:pathLst>
              <a:path w="15388167" h="1883833">
                <a:moveTo>
                  <a:pt x="42333" y="0"/>
                </a:moveTo>
                <a:lnTo>
                  <a:pt x="15303507" y="0"/>
                </a:lnTo>
                <a:cubicBezTo>
                  <a:pt x="15350263" y="0"/>
                  <a:pt x="15388167" y="37903"/>
                  <a:pt x="15388167" y="84659"/>
                </a:cubicBezTo>
                <a:lnTo>
                  <a:pt x="15388167" y="1799174"/>
                </a:lnTo>
                <a:cubicBezTo>
                  <a:pt x="15388167" y="1845930"/>
                  <a:pt x="15350263" y="1883833"/>
                  <a:pt x="15303507" y="1883833"/>
                </a:cubicBezTo>
                <a:lnTo>
                  <a:pt x="42333" y="1883833"/>
                </a:lnTo>
                <a:cubicBezTo>
                  <a:pt x="18953" y="1883833"/>
                  <a:pt x="0" y="1864880"/>
                  <a:pt x="0" y="1841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44500" y="3979333"/>
            <a:ext cx="42333" cy="1883833"/>
          </a:xfrm>
          <a:custGeom>
            <a:avLst/>
            <a:gdLst/>
            <a:ahLst/>
            <a:cxnLst/>
            <a:rect l="l" t="t" r="r" b="b"/>
            <a:pathLst>
              <a:path w="42333" h="1883833">
                <a:moveTo>
                  <a:pt x="42333" y="0"/>
                </a:moveTo>
                <a:lnTo>
                  <a:pt x="42333" y="0"/>
                </a:lnTo>
                <a:lnTo>
                  <a:pt x="42333" y="1883833"/>
                </a:lnTo>
                <a:lnTo>
                  <a:pt x="42333" y="1883833"/>
                </a:lnTo>
                <a:cubicBezTo>
                  <a:pt x="18953" y="1883833"/>
                  <a:pt x="0" y="1864880"/>
                  <a:pt x="0" y="1841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35000" y="414866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96396" y="4296833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185208" y="85080"/>
                </a:moveTo>
                <a:cubicBezTo>
                  <a:pt x="179090" y="89132"/>
                  <a:pt x="172062" y="92397"/>
                  <a:pt x="164744" y="95002"/>
                </a:cubicBezTo>
                <a:cubicBezTo>
                  <a:pt x="145314" y="101947"/>
                  <a:pt x="119807" y="105833"/>
                  <a:pt x="92604" y="105833"/>
                </a:cubicBezTo>
                <a:cubicBezTo>
                  <a:pt x="65402" y="105833"/>
                  <a:pt x="39853" y="101906"/>
                  <a:pt x="20464" y="95002"/>
                </a:cubicBezTo>
                <a:cubicBezTo>
                  <a:pt x="13188" y="92397"/>
                  <a:pt x="6118" y="89132"/>
                  <a:pt x="0" y="85080"/>
                </a:cubicBezTo>
                <a:lnTo>
                  <a:pt x="0" y="119063"/>
                </a:lnTo>
                <a:cubicBezTo>
                  <a:pt x="0" y="137335"/>
                  <a:pt x="41465" y="152135"/>
                  <a:pt x="92604" y="152135"/>
                </a:cubicBezTo>
                <a:cubicBezTo>
                  <a:pt x="143743" y="152135"/>
                  <a:pt x="185208" y="137335"/>
                  <a:pt x="185208" y="119063"/>
                </a:cubicBezTo>
                <a:lnTo>
                  <a:pt x="185208" y="85080"/>
                </a:lnTo>
                <a:close/>
                <a:moveTo>
                  <a:pt x="185208" y="52917"/>
                </a:moveTo>
                <a:lnTo>
                  <a:pt x="185208" y="33073"/>
                </a:lnTo>
                <a:cubicBezTo>
                  <a:pt x="185208" y="14800"/>
                  <a:pt x="143743" y="0"/>
                  <a:pt x="92604" y="0"/>
                </a:cubicBezTo>
                <a:cubicBezTo>
                  <a:pt x="41465" y="0"/>
                  <a:pt x="0" y="14800"/>
                  <a:pt x="0" y="33073"/>
                </a:cubicBezTo>
                <a:lnTo>
                  <a:pt x="0" y="52917"/>
                </a:lnTo>
                <a:cubicBezTo>
                  <a:pt x="0" y="71189"/>
                  <a:pt x="41465" y="85990"/>
                  <a:pt x="92604" y="85990"/>
                </a:cubicBezTo>
                <a:cubicBezTo>
                  <a:pt x="143743" y="85990"/>
                  <a:pt x="185208" y="71189"/>
                  <a:pt x="185208" y="52917"/>
                </a:cubicBezTo>
                <a:close/>
                <a:moveTo>
                  <a:pt x="164744" y="161148"/>
                </a:moveTo>
                <a:cubicBezTo>
                  <a:pt x="145355" y="168052"/>
                  <a:pt x="119848" y="171979"/>
                  <a:pt x="92604" y="171979"/>
                </a:cubicBezTo>
                <a:cubicBezTo>
                  <a:pt x="65360" y="171979"/>
                  <a:pt x="39853" y="168052"/>
                  <a:pt x="20464" y="161148"/>
                </a:cubicBezTo>
                <a:cubicBezTo>
                  <a:pt x="13188" y="158543"/>
                  <a:pt x="6118" y="155277"/>
                  <a:pt x="0" y="151226"/>
                </a:cubicBezTo>
                <a:lnTo>
                  <a:pt x="0" y="178594"/>
                </a:lnTo>
                <a:cubicBezTo>
                  <a:pt x="0" y="196867"/>
                  <a:pt x="41465" y="211667"/>
                  <a:pt x="92604" y="211667"/>
                </a:cubicBezTo>
                <a:cubicBezTo>
                  <a:pt x="143743" y="211667"/>
                  <a:pt x="185208" y="196867"/>
                  <a:pt x="185208" y="178594"/>
                </a:cubicBezTo>
                <a:lnTo>
                  <a:pt x="185208" y="151226"/>
                </a:lnTo>
                <a:cubicBezTo>
                  <a:pt x="179090" y="155277"/>
                  <a:pt x="172062" y="158543"/>
                  <a:pt x="164744" y="16114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270000" y="4254500"/>
            <a:ext cx="1164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数据级容错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000" y="4783667"/>
            <a:ext cx="7450667" cy="910167"/>
          </a:xfrm>
          <a:custGeom>
            <a:avLst/>
            <a:gdLst/>
            <a:ahLst/>
            <a:cxnLst/>
            <a:rect l="l" t="t" r="r" b="b"/>
            <a:pathLst>
              <a:path w="7450667" h="910167">
                <a:moveTo>
                  <a:pt x="84664" y="0"/>
                </a:moveTo>
                <a:lnTo>
                  <a:pt x="7366003" y="0"/>
                </a:lnTo>
                <a:cubicBezTo>
                  <a:pt x="7412761" y="0"/>
                  <a:pt x="7450667" y="37905"/>
                  <a:pt x="7450667" y="84664"/>
                </a:cubicBezTo>
                <a:lnTo>
                  <a:pt x="7450667" y="825503"/>
                </a:lnTo>
                <a:cubicBezTo>
                  <a:pt x="7450667" y="872261"/>
                  <a:pt x="7412761" y="910167"/>
                  <a:pt x="7366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00365" y="496358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0"/>
                </a:moveTo>
                <a:cubicBezTo>
                  <a:pt x="58303" y="0"/>
                  <a:pt x="47625" y="10678"/>
                  <a:pt x="47625" y="23812"/>
                </a:cubicBezTo>
                <a:lnTo>
                  <a:pt x="47625" y="119063"/>
                </a:lnTo>
                <a:cubicBezTo>
                  <a:pt x="47625" y="132197"/>
                  <a:pt x="58303" y="142875"/>
                  <a:pt x="71438" y="142875"/>
                </a:cubicBezTo>
                <a:lnTo>
                  <a:pt x="142875" y="142875"/>
                </a:lnTo>
                <a:cubicBezTo>
                  <a:pt x="156009" y="142875"/>
                  <a:pt x="166688" y="132197"/>
                  <a:pt x="166688" y="119063"/>
                </a:cubicBezTo>
                <a:lnTo>
                  <a:pt x="166688" y="44425"/>
                </a:lnTo>
                <a:cubicBezTo>
                  <a:pt x="166688" y="37951"/>
                  <a:pt x="164046" y="31738"/>
                  <a:pt x="159358" y="27236"/>
                </a:cubicBezTo>
                <a:lnTo>
                  <a:pt x="137889" y="6623"/>
                </a:lnTo>
                <a:cubicBezTo>
                  <a:pt x="133462" y="2381"/>
                  <a:pt x="127546" y="0"/>
                  <a:pt x="121407" y="0"/>
                </a:cubicBezTo>
                <a:lnTo>
                  <a:pt x="71438" y="0"/>
                </a:lnTo>
                <a:close/>
                <a:moveTo>
                  <a:pt x="23812" y="47625"/>
                </a:moveTo>
                <a:cubicBezTo>
                  <a:pt x="10678" y="47625"/>
                  <a:pt x="0" y="58303"/>
                  <a:pt x="0" y="71438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95250" y="190500"/>
                </a:lnTo>
                <a:cubicBezTo>
                  <a:pt x="108384" y="190500"/>
                  <a:pt x="119063" y="179822"/>
                  <a:pt x="119063" y="166688"/>
                </a:cubicBezTo>
                <a:lnTo>
                  <a:pt x="119063" y="160734"/>
                </a:lnTo>
                <a:lnTo>
                  <a:pt x="95250" y="160734"/>
                </a:lnTo>
                <a:lnTo>
                  <a:pt x="95250" y="166688"/>
                </a:lnTo>
                <a:lnTo>
                  <a:pt x="23812" y="166688"/>
                </a:lnTo>
                <a:lnTo>
                  <a:pt x="23812" y="71438"/>
                </a:lnTo>
                <a:lnTo>
                  <a:pt x="29766" y="71438"/>
                </a:lnTo>
                <a:lnTo>
                  <a:pt x="29766" y="4762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05417" y="4910667"/>
            <a:ext cx="7048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输入数据保护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5291667"/>
            <a:ext cx="7281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依赖HDFS的多副本机制（默认3副本），自动选择可用数据副本，数据损坏时自动切换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12667" y="4783667"/>
            <a:ext cx="7450667" cy="910167"/>
          </a:xfrm>
          <a:custGeom>
            <a:avLst/>
            <a:gdLst/>
            <a:ahLst/>
            <a:cxnLst/>
            <a:rect l="l" t="t" r="r" b="b"/>
            <a:pathLst>
              <a:path w="7450667" h="910167">
                <a:moveTo>
                  <a:pt x="84664" y="0"/>
                </a:moveTo>
                <a:lnTo>
                  <a:pt x="7366003" y="0"/>
                </a:lnTo>
                <a:cubicBezTo>
                  <a:pt x="7412761" y="0"/>
                  <a:pt x="7450667" y="37905"/>
                  <a:pt x="7450667" y="84664"/>
                </a:cubicBezTo>
                <a:lnTo>
                  <a:pt x="7450667" y="825503"/>
                </a:lnTo>
                <a:cubicBezTo>
                  <a:pt x="7450667" y="872261"/>
                  <a:pt x="7412761" y="910167"/>
                  <a:pt x="7366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78031" y="496358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64480"/>
                </a:lnTo>
                <a:cubicBezTo>
                  <a:pt x="166688" y="58155"/>
                  <a:pt x="164195" y="52090"/>
                  <a:pt x="159730" y="47625"/>
                </a:cubicBezTo>
                <a:lnTo>
                  <a:pt x="130969" y="18864"/>
                </a:lnTo>
                <a:cubicBezTo>
                  <a:pt x="126504" y="14399"/>
                  <a:pt x="120439" y="11906"/>
                  <a:pt x="114114" y="11906"/>
                </a:cubicBezTo>
                <a:lnTo>
                  <a:pt x="23812" y="11906"/>
                </a:lnTo>
                <a:close/>
                <a:moveTo>
                  <a:pt x="35719" y="47625"/>
                </a:moveTo>
                <a:cubicBezTo>
                  <a:pt x="35719" y="41039"/>
                  <a:pt x="41039" y="35719"/>
                  <a:pt x="47625" y="35719"/>
                </a:cubicBezTo>
                <a:lnTo>
                  <a:pt x="107156" y="35719"/>
                </a:lnTo>
                <a:cubicBezTo>
                  <a:pt x="113742" y="35719"/>
                  <a:pt x="119063" y="41039"/>
                  <a:pt x="119063" y="47625"/>
                </a:cubicBezTo>
                <a:lnTo>
                  <a:pt x="119063" y="71438"/>
                </a:lnTo>
                <a:cubicBezTo>
                  <a:pt x="119063" y="78023"/>
                  <a:pt x="113742" y="83344"/>
                  <a:pt x="107156" y="83344"/>
                </a:cubicBezTo>
                <a:lnTo>
                  <a:pt x="47625" y="83344"/>
                </a:lnTo>
                <a:cubicBezTo>
                  <a:pt x="41039" y="83344"/>
                  <a:pt x="35719" y="78023"/>
                  <a:pt x="35719" y="71438"/>
                </a:cubicBezTo>
                <a:lnTo>
                  <a:pt x="35719" y="47625"/>
                </a:lnTo>
                <a:close/>
                <a:moveTo>
                  <a:pt x="83344" y="107156"/>
                </a:moveTo>
                <a:cubicBezTo>
                  <a:pt x="96486" y="107156"/>
                  <a:pt x="107156" y="117826"/>
                  <a:pt x="107156" y="130969"/>
                </a:cubicBezTo>
                <a:cubicBezTo>
                  <a:pt x="107156" y="144111"/>
                  <a:pt x="96486" y="154781"/>
                  <a:pt x="83344" y="154781"/>
                </a:cubicBezTo>
                <a:cubicBezTo>
                  <a:pt x="70201" y="154781"/>
                  <a:pt x="59531" y="144111"/>
                  <a:pt x="59531" y="130969"/>
                </a:cubicBezTo>
                <a:cubicBezTo>
                  <a:pt x="59531" y="117826"/>
                  <a:pt x="70201" y="107156"/>
                  <a:pt x="83344" y="107156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583083" y="4910667"/>
            <a:ext cx="7048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中间结果保护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39667" y="5291667"/>
            <a:ext cx="7281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Map输出存储在本地磁盘，支持多次读取和传输，失败时可重新生成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4500" y="6032500"/>
            <a:ext cx="15388167" cy="1883833"/>
          </a:xfrm>
          <a:custGeom>
            <a:avLst/>
            <a:gdLst/>
            <a:ahLst/>
            <a:cxnLst/>
            <a:rect l="l" t="t" r="r" b="b"/>
            <a:pathLst>
              <a:path w="15388167" h="1883833">
                <a:moveTo>
                  <a:pt x="42333" y="0"/>
                </a:moveTo>
                <a:lnTo>
                  <a:pt x="15303507" y="0"/>
                </a:lnTo>
                <a:cubicBezTo>
                  <a:pt x="15350263" y="0"/>
                  <a:pt x="15388167" y="37903"/>
                  <a:pt x="15388167" y="84659"/>
                </a:cubicBezTo>
                <a:lnTo>
                  <a:pt x="15388167" y="1799174"/>
                </a:lnTo>
                <a:cubicBezTo>
                  <a:pt x="15388167" y="1845930"/>
                  <a:pt x="15350263" y="1883833"/>
                  <a:pt x="15303507" y="1883833"/>
                </a:cubicBezTo>
                <a:lnTo>
                  <a:pt x="42333" y="1883833"/>
                </a:lnTo>
                <a:cubicBezTo>
                  <a:pt x="18953" y="1883833"/>
                  <a:pt x="0" y="1864880"/>
                  <a:pt x="0" y="1841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44500" y="6032500"/>
            <a:ext cx="42333" cy="1883833"/>
          </a:xfrm>
          <a:custGeom>
            <a:avLst/>
            <a:gdLst/>
            <a:ahLst/>
            <a:cxnLst/>
            <a:rect l="l" t="t" r="r" b="b"/>
            <a:pathLst>
              <a:path w="42333" h="1883833">
                <a:moveTo>
                  <a:pt x="42333" y="0"/>
                </a:moveTo>
                <a:lnTo>
                  <a:pt x="42333" y="0"/>
                </a:lnTo>
                <a:lnTo>
                  <a:pt x="42333" y="1883833"/>
                </a:lnTo>
                <a:lnTo>
                  <a:pt x="42333" y="1883833"/>
                </a:lnTo>
                <a:cubicBezTo>
                  <a:pt x="18953" y="1883833"/>
                  <a:pt x="0" y="1864880"/>
                  <a:pt x="0" y="1841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35000" y="62018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7A7D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69938" y="6350000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02526" y="36380"/>
                </a:moveTo>
                <a:lnTo>
                  <a:pt x="135599" y="36380"/>
                </a:lnTo>
                <a:lnTo>
                  <a:pt x="135599" y="56224"/>
                </a:lnTo>
                <a:lnTo>
                  <a:pt x="102526" y="56224"/>
                </a:lnTo>
                <a:lnTo>
                  <a:pt x="102526" y="36380"/>
                </a:lnTo>
                <a:close/>
                <a:moveTo>
                  <a:pt x="99219" y="13229"/>
                </a:moveTo>
                <a:cubicBezTo>
                  <a:pt x="88263" y="13229"/>
                  <a:pt x="79375" y="22118"/>
                  <a:pt x="79375" y="33073"/>
                </a:cubicBezTo>
                <a:lnTo>
                  <a:pt x="79375" y="59531"/>
                </a:lnTo>
                <a:cubicBezTo>
                  <a:pt x="79375" y="70487"/>
                  <a:pt x="88263" y="79375"/>
                  <a:pt x="99219" y="79375"/>
                </a:cubicBezTo>
                <a:lnTo>
                  <a:pt x="105833" y="79375"/>
                </a:lnTo>
                <a:lnTo>
                  <a:pt x="105833" y="92604"/>
                </a:lnTo>
                <a:lnTo>
                  <a:pt x="13229" y="92604"/>
                </a:lnTo>
                <a:cubicBezTo>
                  <a:pt x="5912" y="92604"/>
                  <a:pt x="0" y="98516"/>
                  <a:pt x="0" y="105833"/>
                </a:cubicBezTo>
                <a:cubicBezTo>
                  <a:pt x="0" y="113151"/>
                  <a:pt x="5912" y="119063"/>
                  <a:pt x="13229" y="119063"/>
                </a:cubicBezTo>
                <a:lnTo>
                  <a:pt x="52917" y="119063"/>
                </a:lnTo>
                <a:lnTo>
                  <a:pt x="52917" y="132292"/>
                </a:lnTo>
                <a:lnTo>
                  <a:pt x="46302" y="132292"/>
                </a:lnTo>
                <a:cubicBezTo>
                  <a:pt x="35347" y="132292"/>
                  <a:pt x="26458" y="141180"/>
                  <a:pt x="26458" y="152135"/>
                </a:cubicBezTo>
                <a:lnTo>
                  <a:pt x="26458" y="178594"/>
                </a:lnTo>
                <a:cubicBezTo>
                  <a:pt x="26458" y="189549"/>
                  <a:pt x="35347" y="198438"/>
                  <a:pt x="46302" y="198438"/>
                </a:cubicBezTo>
                <a:lnTo>
                  <a:pt x="85990" y="198438"/>
                </a:lnTo>
                <a:cubicBezTo>
                  <a:pt x="96945" y="198438"/>
                  <a:pt x="105833" y="189549"/>
                  <a:pt x="105833" y="178594"/>
                </a:cubicBezTo>
                <a:lnTo>
                  <a:pt x="105833" y="152135"/>
                </a:lnTo>
                <a:cubicBezTo>
                  <a:pt x="105833" y="141180"/>
                  <a:pt x="96945" y="132292"/>
                  <a:pt x="85990" y="132292"/>
                </a:cubicBezTo>
                <a:lnTo>
                  <a:pt x="79375" y="132292"/>
                </a:lnTo>
                <a:lnTo>
                  <a:pt x="79375" y="119063"/>
                </a:lnTo>
                <a:lnTo>
                  <a:pt x="158750" y="119063"/>
                </a:lnTo>
                <a:lnTo>
                  <a:pt x="158750" y="132292"/>
                </a:lnTo>
                <a:lnTo>
                  <a:pt x="152135" y="132292"/>
                </a:lnTo>
                <a:cubicBezTo>
                  <a:pt x="141180" y="132292"/>
                  <a:pt x="132292" y="141180"/>
                  <a:pt x="132292" y="152135"/>
                </a:cubicBezTo>
                <a:lnTo>
                  <a:pt x="132292" y="178594"/>
                </a:lnTo>
                <a:cubicBezTo>
                  <a:pt x="132292" y="189549"/>
                  <a:pt x="141180" y="198438"/>
                  <a:pt x="152135" y="198438"/>
                </a:cubicBezTo>
                <a:lnTo>
                  <a:pt x="191823" y="198438"/>
                </a:lnTo>
                <a:cubicBezTo>
                  <a:pt x="202778" y="198438"/>
                  <a:pt x="211667" y="189549"/>
                  <a:pt x="211667" y="178594"/>
                </a:cubicBezTo>
                <a:lnTo>
                  <a:pt x="211667" y="152135"/>
                </a:lnTo>
                <a:cubicBezTo>
                  <a:pt x="211667" y="141180"/>
                  <a:pt x="202778" y="132292"/>
                  <a:pt x="191823" y="132292"/>
                </a:cubicBezTo>
                <a:lnTo>
                  <a:pt x="185208" y="132292"/>
                </a:lnTo>
                <a:lnTo>
                  <a:pt x="185208" y="119063"/>
                </a:lnTo>
                <a:lnTo>
                  <a:pt x="224896" y="119063"/>
                </a:lnTo>
                <a:cubicBezTo>
                  <a:pt x="232213" y="119063"/>
                  <a:pt x="238125" y="113151"/>
                  <a:pt x="238125" y="105833"/>
                </a:cubicBezTo>
                <a:cubicBezTo>
                  <a:pt x="238125" y="98516"/>
                  <a:pt x="232213" y="92604"/>
                  <a:pt x="224896" y="92604"/>
                </a:cubicBezTo>
                <a:lnTo>
                  <a:pt x="132292" y="92604"/>
                </a:lnTo>
                <a:lnTo>
                  <a:pt x="132292" y="79375"/>
                </a:lnTo>
                <a:lnTo>
                  <a:pt x="138906" y="79375"/>
                </a:lnTo>
                <a:cubicBezTo>
                  <a:pt x="149862" y="79375"/>
                  <a:pt x="158750" y="70487"/>
                  <a:pt x="158750" y="59531"/>
                </a:cubicBezTo>
                <a:lnTo>
                  <a:pt x="158750" y="33073"/>
                </a:lnTo>
                <a:cubicBezTo>
                  <a:pt x="158750" y="22118"/>
                  <a:pt x="149862" y="13229"/>
                  <a:pt x="138906" y="13229"/>
                </a:cubicBezTo>
                <a:lnTo>
                  <a:pt x="99219" y="13229"/>
                </a:lnTo>
                <a:close/>
                <a:moveTo>
                  <a:pt x="185208" y="155443"/>
                </a:moveTo>
                <a:lnTo>
                  <a:pt x="188516" y="155443"/>
                </a:lnTo>
                <a:lnTo>
                  <a:pt x="188516" y="175286"/>
                </a:lnTo>
                <a:lnTo>
                  <a:pt x="155443" y="175286"/>
                </a:lnTo>
                <a:lnTo>
                  <a:pt x="155443" y="155443"/>
                </a:lnTo>
                <a:lnTo>
                  <a:pt x="185208" y="155443"/>
                </a:lnTo>
                <a:close/>
                <a:moveTo>
                  <a:pt x="79375" y="155443"/>
                </a:moveTo>
                <a:lnTo>
                  <a:pt x="82682" y="155443"/>
                </a:lnTo>
                <a:lnTo>
                  <a:pt x="82682" y="175286"/>
                </a:lnTo>
                <a:lnTo>
                  <a:pt x="49609" y="175286"/>
                </a:lnTo>
                <a:lnTo>
                  <a:pt x="49609" y="155443"/>
                </a:lnTo>
                <a:lnTo>
                  <a:pt x="79375" y="155443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270000" y="6307667"/>
            <a:ext cx="1164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系统级容错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000" y="6836833"/>
            <a:ext cx="7450667" cy="910167"/>
          </a:xfrm>
          <a:custGeom>
            <a:avLst/>
            <a:gdLst/>
            <a:ahLst/>
            <a:cxnLst/>
            <a:rect l="l" t="t" r="r" b="b"/>
            <a:pathLst>
              <a:path w="7450667" h="910167">
                <a:moveTo>
                  <a:pt x="84664" y="0"/>
                </a:moveTo>
                <a:lnTo>
                  <a:pt x="7366003" y="0"/>
                </a:lnTo>
                <a:cubicBezTo>
                  <a:pt x="7412761" y="0"/>
                  <a:pt x="7450667" y="37905"/>
                  <a:pt x="7450667" y="84664"/>
                </a:cubicBezTo>
                <a:lnTo>
                  <a:pt x="7450667" y="825503"/>
                </a:lnTo>
                <a:cubicBezTo>
                  <a:pt x="7450667" y="872261"/>
                  <a:pt x="7412761" y="910167"/>
                  <a:pt x="7366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00365" y="7016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05417" y="6963833"/>
            <a:ext cx="7048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节点故障处理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2000" y="7344833"/>
            <a:ext cx="7281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自动检测节点故障，将失败节点的任务重新分配，维护集群的整体可用性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12667" y="6836833"/>
            <a:ext cx="7450667" cy="910167"/>
          </a:xfrm>
          <a:custGeom>
            <a:avLst/>
            <a:gdLst/>
            <a:ahLst/>
            <a:cxnLst/>
            <a:rect l="l" t="t" r="r" b="b"/>
            <a:pathLst>
              <a:path w="7450667" h="910167">
                <a:moveTo>
                  <a:pt x="84664" y="0"/>
                </a:moveTo>
                <a:lnTo>
                  <a:pt x="7366003" y="0"/>
                </a:lnTo>
                <a:cubicBezTo>
                  <a:pt x="7412761" y="0"/>
                  <a:pt x="7450667" y="37905"/>
                  <a:pt x="7450667" y="84664"/>
                </a:cubicBezTo>
                <a:lnTo>
                  <a:pt x="7450667" y="825503"/>
                </a:lnTo>
                <a:cubicBezTo>
                  <a:pt x="7450667" y="872261"/>
                  <a:pt x="7412761" y="910167"/>
                  <a:pt x="7366003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366125" y="7016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583083" y="6963833"/>
            <a:ext cx="7048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网络分区处理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39667" y="7344833"/>
            <a:ext cx="7281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处理网络连接中断，支持任务的重新调度，确保数据一致性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3333" y="8085667"/>
            <a:ext cx="15409333" cy="508000"/>
          </a:xfrm>
          <a:custGeom>
            <a:avLst/>
            <a:gdLst/>
            <a:ahLst/>
            <a:cxnLst/>
            <a:rect l="l" t="t" r="r" b="b"/>
            <a:pathLst>
              <a:path w="15409333" h="508000">
                <a:moveTo>
                  <a:pt x="84668" y="0"/>
                </a:moveTo>
                <a:lnTo>
                  <a:pt x="15324665" y="0"/>
                </a:lnTo>
                <a:cubicBezTo>
                  <a:pt x="15371426" y="0"/>
                  <a:pt x="15409333" y="37907"/>
                  <a:pt x="15409333" y="84668"/>
                </a:cubicBezTo>
                <a:lnTo>
                  <a:pt x="15409333" y="423332"/>
                </a:lnTo>
                <a:cubicBezTo>
                  <a:pt x="15409333" y="470093"/>
                  <a:pt x="15371426" y="508000"/>
                  <a:pt x="15324665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576792" y="824441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73125" y="8212667"/>
            <a:ext cx="981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核心优势：</a:t>
            </a:r>
            <a:r>
              <a:rPr lang="en-US" sz="133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MapReduce让开发者无需关心容错处理，框架自动完成故障检测、任务重试和数据保护，使分布式编程变得简单可靠。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508000" y="3232150"/>
            <a:ext cx="158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 5 章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56150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0" y="0"/>
                </a:moveTo>
                <a:lnTo>
                  <a:pt x="2438400" y="0"/>
                </a:lnTo>
                <a:lnTo>
                  <a:pt x="2438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340350"/>
            <a:ext cx="15544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MapReduce 实现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6407150"/>
            <a:ext cx="868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从理论到代码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6343" y="486343"/>
            <a:ext cx="15368425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kern="0" spc="134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05 · Mapping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86343" y="826782"/>
            <a:ext cx="15502169" cy="486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4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理论到实践的映射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6343" y="1459028"/>
            <a:ext cx="1361759" cy="48634"/>
          </a:xfrm>
          <a:custGeom>
            <a:avLst/>
            <a:gdLst/>
            <a:ahLst/>
            <a:cxnLst/>
            <a:rect l="l" t="t" r="r" b="b"/>
            <a:pathLst>
              <a:path w="1361759" h="48634">
                <a:moveTo>
                  <a:pt x="0" y="0"/>
                </a:moveTo>
                <a:lnTo>
                  <a:pt x="1361759" y="0"/>
                </a:lnTo>
                <a:lnTo>
                  <a:pt x="1361759" y="48634"/>
                </a:lnTo>
                <a:lnTo>
                  <a:pt x="0" y="48634"/>
                </a:lnTo>
                <a:lnTo>
                  <a:pt x="0" y="0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86343" y="1702199"/>
            <a:ext cx="15380583" cy="316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3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在开始编写代码之前，让我们系统回顾第4章中的理论概念，并了解它们在Java实现中的具体体现。MapReduce编程就是将抽象概念转化为具体可执行代码的过程。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6343" y="2212859"/>
            <a:ext cx="15283315" cy="4644571"/>
          </a:xfrm>
          <a:custGeom>
            <a:avLst/>
            <a:gdLst/>
            <a:ahLst/>
            <a:cxnLst/>
            <a:rect l="l" t="t" r="r" b="b"/>
            <a:pathLst>
              <a:path w="15283315" h="4644571">
                <a:moveTo>
                  <a:pt x="97257" y="0"/>
                </a:moveTo>
                <a:lnTo>
                  <a:pt x="15186058" y="0"/>
                </a:lnTo>
                <a:cubicBezTo>
                  <a:pt x="15239771" y="0"/>
                  <a:pt x="15283315" y="43544"/>
                  <a:pt x="15283315" y="97257"/>
                </a:cubicBezTo>
                <a:lnTo>
                  <a:pt x="15283315" y="4547314"/>
                </a:lnTo>
                <a:cubicBezTo>
                  <a:pt x="15283315" y="4601028"/>
                  <a:pt x="15239771" y="4644571"/>
                  <a:pt x="15186058" y="4644571"/>
                </a:cubicBezTo>
                <a:lnTo>
                  <a:pt x="97257" y="4644571"/>
                </a:lnTo>
                <a:cubicBezTo>
                  <a:pt x="43544" y="4644571"/>
                  <a:pt x="0" y="4601028"/>
                  <a:pt x="0" y="4547314"/>
                </a:cubicBezTo>
                <a:lnTo>
                  <a:pt x="0" y="97257"/>
                </a:lnTo>
                <a:cubicBezTo>
                  <a:pt x="0" y="43544"/>
                  <a:pt x="43544" y="0"/>
                  <a:pt x="97257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65990" y="2504664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286448" y="85832"/>
                </a:moveTo>
                <a:lnTo>
                  <a:pt x="231735" y="140545"/>
                </a:lnTo>
                <a:cubicBezTo>
                  <a:pt x="226491" y="145789"/>
                  <a:pt x="218683" y="147328"/>
                  <a:pt x="211844" y="144478"/>
                </a:cubicBezTo>
                <a:cubicBezTo>
                  <a:pt x="205005" y="141628"/>
                  <a:pt x="200616" y="135017"/>
                  <a:pt x="200616" y="127665"/>
                </a:cubicBezTo>
                <a:lnTo>
                  <a:pt x="200616" y="91189"/>
                </a:lnTo>
                <a:lnTo>
                  <a:pt x="18238" y="91189"/>
                </a:lnTo>
                <a:cubicBezTo>
                  <a:pt x="8150" y="91189"/>
                  <a:pt x="0" y="83039"/>
                  <a:pt x="0" y="72951"/>
                </a:cubicBezTo>
                <a:cubicBezTo>
                  <a:pt x="0" y="62864"/>
                  <a:pt x="8150" y="54714"/>
                  <a:pt x="18238" y="54714"/>
                </a:cubicBezTo>
                <a:lnTo>
                  <a:pt x="200616" y="54714"/>
                </a:lnTo>
                <a:lnTo>
                  <a:pt x="200616" y="18238"/>
                </a:lnTo>
                <a:cubicBezTo>
                  <a:pt x="200616" y="10886"/>
                  <a:pt x="205062" y="4218"/>
                  <a:pt x="211901" y="1368"/>
                </a:cubicBezTo>
                <a:cubicBezTo>
                  <a:pt x="218740" y="-1482"/>
                  <a:pt x="226548" y="114"/>
                  <a:pt x="231792" y="5300"/>
                </a:cubicBezTo>
                <a:lnTo>
                  <a:pt x="286505" y="60014"/>
                </a:lnTo>
                <a:cubicBezTo>
                  <a:pt x="293629" y="67138"/>
                  <a:pt x="293629" y="78708"/>
                  <a:pt x="286505" y="85832"/>
                </a:cubicBezTo>
                <a:close/>
                <a:moveTo>
                  <a:pt x="60014" y="286448"/>
                </a:moveTo>
                <a:lnTo>
                  <a:pt x="5300" y="231735"/>
                </a:lnTo>
                <a:cubicBezTo>
                  <a:pt x="-1824" y="224610"/>
                  <a:pt x="-1824" y="213041"/>
                  <a:pt x="5300" y="205917"/>
                </a:cubicBezTo>
                <a:lnTo>
                  <a:pt x="60014" y="151203"/>
                </a:lnTo>
                <a:cubicBezTo>
                  <a:pt x="65257" y="145960"/>
                  <a:pt x="73065" y="144421"/>
                  <a:pt x="79905" y="147271"/>
                </a:cubicBezTo>
                <a:cubicBezTo>
                  <a:pt x="86744" y="150120"/>
                  <a:pt x="91189" y="156788"/>
                  <a:pt x="91189" y="164141"/>
                </a:cubicBezTo>
                <a:lnTo>
                  <a:pt x="91189" y="200616"/>
                </a:lnTo>
                <a:lnTo>
                  <a:pt x="273568" y="200616"/>
                </a:lnTo>
                <a:cubicBezTo>
                  <a:pt x="283655" y="200616"/>
                  <a:pt x="291806" y="208766"/>
                  <a:pt x="291806" y="218854"/>
                </a:cubicBezTo>
                <a:cubicBezTo>
                  <a:pt x="291806" y="228942"/>
                  <a:pt x="283655" y="237092"/>
                  <a:pt x="273568" y="237092"/>
                </a:cubicBezTo>
                <a:lnTo>
                  <a:pt x="91189" y="237092"/>
                </a:lnTo>
                <a:lnTo>
                  <a:pt x="91189" y="273568"/>
                </a:lnTo>
                <a:cubicBezTo>
                  <a:pt x="91189" y="280920"/>
                  <a:pt x="86744" y="287588"/>
                  <a:pt x="79905" y="290438"/>
                </a:cubicBezTo>
                <a:cubicBezTo>
                  <a:pt x="73065" y="293287"/>
                  <a:pt x="65257" y="291692"/>
                  <a:pt x="60014" y="286505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4271" y="2456030"/>
            <a:ext cx="14578118" cy="389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理论概念与 Java 实现的对应关系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9514" y="3039641"/>
          <a:ext cx="14796972" cy="3574620"/>
        </p:xfrm>
        <a:graphic>
          <a:graphicData uri="http://schemas.openxmlformats.org/drawingml/2006/table">
            <a:tbl>
              <a:tblPr/>
              <a:tblGrid>
                <a:gridCol w="689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9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77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3D8F8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理论概念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E5A16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Java 实现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3D8F8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作用说明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770"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map(key1, value1) → list(key2, value2)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MaxTemperatureMapper.map()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数据转换和特征提取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3D8F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770"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reduce(key2, list(value2)) → list(key2, value3)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MaxTemperatureReducer.reduce()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数据聚合和结果计算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770"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数据本地性原理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setCombinerClass()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本地聚合减少网络传输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770"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分而治之思想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多个 Map 任务并行执行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大问题分解为小问题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770"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容错机制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Hadoop 框架自动处理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任务失败重试和数据备份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10660" y="7051967"/>
            <a:ext cx="4936377" cy="1604930"/>
          </a:xfrm>
          <a:custGeom>
            <a:avLst/>
            <a:gdLst/>
            <a:ahLst/>
            <a:cxnLst/>
            <a:rect l="l" t="t" r="r" b="b"/>
            <a:pathLst>
              <a:path w="4936377" h="1604930">
                <a:moveTo>
                  <a:pt x="48634" y="0"/>
                </a:moveTo>
                <a:lnTo>
                  <a:pt x="4839102" y="0"/>
                </a:lnTo>
                <a:cubicBezTo>
                  <a:pt x="4892826" y="0"/>
                  <a:pt x="4936377" y="43551"/>
                  <a:pt x="4936377" y="97275"/>
                </a:cubicBezTo>
                <a:lnTo>
                  <a:pt x="4936377" y="1507656"/>
                </a:lnTo>
                <a:cubicBezTo>
                  <a:pt x="4936377" y="1561379"/>
                  <a:pt x="4892826" y="1604930"/>
                  <a:pt x="4839102" y="1604930"/>
                </a:cubicBezTo>
                <a:lnTo>
                  <a:pt x="48634" y="1604930"/>
                </a:lnTo>
                <a:cubicBezTo>
                  <a:pt x="21774" y="1604930"/>
                  <a:pt x="0" y="1583156"/>
                  <a:pt x="0" y="1556296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510660" y="7051967"/>
            <a:ext cx="48634" cy="1604930"/>
          </a:xfrm>
          <a:custGeom>
            <a:avLst/>
            <a:gdLst/>
            <a:ahLst/>
            <a:cxnLst/>
            <a:rect l="l" t="t" r="r" b="b"/>
            <a:pathLst>
              <a:path w="48634" h="1604930">
                <a:moveTo>
                  <a:pt x="48634" y="0"/>
                </a:moveTo>
                <a:lnTo>
                  <a:pt x="48634" y="0"/>
                </a:lnTo>
                <a:lnTo>
                  <a:pt x="48634" y="1604930"/>
                </a:lnTo>
                <a:lnTo>
                  <a:pt x="48634" y="1604930"/>
                </a:lnTo>
                <a:cubicBezTo>
                  <a:pt x="21774" y="1604930"/>
                  <a:pt x="0" y="1583156"/>
                  <a:pt x="0" y="1556296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729514" y="7246504"/>
            <a:ext cx="486343" cy="486343"/>
          </a:xfrm>
          <a:custGeom>
            <a:avLst/>
            <a:gdLst/>
            <a:ahLst/>
            <a:cxnLst/>
            <a:rect l="l" t="t" r="r" b="b"/>
            <a:pathLst>
              <a:path w="486343" h="486343">
                <a:moveTo>
                  <a:pt x="97269" y="0"/>
                </a:moveTo>
                <a:lnTo>
                  <a:pt x="389074" y="0"/>
                </a:lnTo>
                <a:cubicBezTo>
                  <a:pt x="442758" y="0"/>
                  <a:pt x="486343" y="43585"/>
                  <a:pt x="486343" y="97269"/>
                </a:cubicBezTo>
                <a:lnTo>
                  <a:pt x="486343" y="389074"/>
                </a:lnTo>
                <a:cubicBezTo>
                  <a:pt x="486343" y="442794"/>
                  <a:pt x="442794" y="486343"/>
                  <a:pt x="389074" y="486343"/>
                </a:cubicBezTo>
                <a:lnTo>
                  <a:pt x="97269" y="486343"/>
                </a:lnTo>
                <a:cubicBezTo>
                  <a:pt x="43585" y="486343"/>
                  <a:pt x="0" y="442758"/>
                  <a:pt x="0" y="389074"/>
                </a:cubicBezTo>
                <a:lnTo>
                  <a:pt x="0" y="97269"/>
                </a:lnTo>
                <a:cubicBezTo>
                  <a:pt x="0" y="43585"/>
                  <a:pt x="43585" y="0"/>
                  <a:pt x="97269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851099" y="7368090"/>
            <a:ext cx="243171" cy="243171"/>
          </a:xfrm>
          <a:custGeom>
            <a:avLst/>
            <a:gdLst/>
            <a:ahLst/>
            <a:cxnLst/>
            <a:rect l="l" t="t" r="r" b="b"/>
            <a:pathLst>
              <a:path w="243171" h="243171">
                <a:moveTo>
                  <a:pt x="243171" y="22797"/>
                </a:moveTo>
                <a:cubicBezTo>
                  <a:pt x="243171" y="17525"/>
                  <a:pt x="240464" y="12634"/>
                  <a:pt x="235952" y="9879"/>
                </a:cubicBezTo>
                <a:cubicBezTo>
                  <a:pt x="231440" y="7124"/>
                  <a:pt x="225883" y="6839"/>
                  <a:pt x="221181" y="9214"/>
                </a:cubicBezTo>
                <a:lnTo>
                  <a:pt x="165993" y="36808"/>
                </a:lnTo>
                <a:lnTo>
                  <a:pt x="80788" y="8359"/>
                </a:lnTo>
                <a:cubicBezTo>
                  <a:pt x="76941" y="7077"/>
                  <a:pt x="72809" y="7362"/>
                  <a:pt x="69199" y="9166"/>
                </a:cubicBezTo>
                <a:lnTo>
                  <a:pt x="8407" y="39563"/>
                </a:lnTo>
                <a:cubicBezTo>
                  <a:pt x="3230" y="42175"/>
                  <a:pt x="0" y="47447"/>
                  <a:pt x="0" y="53194"/>
                </a:cubicBezTo>
                <a:lnTo>
                  <a:pt x="0" y="220374"/>
                </a:lnTo>
                <a:cubicBezTo>
                  <a:pt x="0" y="225646"/>
                  <a:pt x="2707" y="230538"/>
                  <a:pt x="7219" y="233292"/>
                </a:cubicBezTo>
                <a:cubicBezTo>
                  <a:pt x="11731" y="236047"/>
                  <a:pt x="17288" y="236332"/>
                  <a:pt x="21990" y="233957"/>
                </a:cubicBezTo>
                <a:lnTo>
                  <a:pt x="77131" y="206363"/>
                </a:lnTo>
                <a:lnTo>
                  <a:pt x="162336" y="234765"/>
                </a:lnTo>
                <a:cubicBezTo>
                  <a:pt x="166183" y="236047"/>
                  <a:pt x="170315" y="235762"/>
                  <a:pt x="173924" y="233957"/>
                </a:cubicBezTo>
                <a:lnTo>
                  <a:pt x="234717" y="203561"/>
                </a:lnTo>
                <a:cubicBezTo>
                  <a:pt x="239847" y="200996"/>
                  <a:pt x="243124" y="195724"/>
                  <a:pt x="243124" y="189978"/>
                </a:cubicBezTo>
                <a:lnTo>
                  <a:pt x="243124" y="22797"/>
                </a:lnTo>
                <a:close/>
                <a:moveTo>
                  <a:pt x="91189" y="179006"/>
                </a:moveTo>
                <a:lnTo>
                  <a:pt x="91189" y="43885"/>
                </a:lnTo>
                <a:lnTo>
                  <a:pt x="151982" y="64165"/>
                </a:lnTo>
                <a:lnTo>
                  <a:pt x="151982" y="199286"/>
                </a:lnTo>
                <a:lnTo>
                  <a:pt x="91189" y="179006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361759" y="7319455"/>
            <a:ext cx="887575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Mapper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9514" y="7830115"/>
            <a:ext cx="4620254" cy="6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3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继承Mapper类，重写map()方法，实现数据解析、转换、过滤逻辑，输出键值对供后续处理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69405" y="7051967"/>
            <a:ext cx="4936377" cy="1604930"/>
          </a:xfrm>
          <a:custGeom>
            <a:avLst/>
            <a:gdLst/>
            <a:ahLst/>
            <a:cxnLst/>
            <a:rect l="l" t="t" r="r" b="b"/>
            <a:pathLst>
              <a:path w="4936377" h="1604930">
                <a:moveTo>
                  <a:pt x="48634" y="0"/>
                </a:moveTo>
                <a:lnTo>
                  <a:pt x="4839102" y="0"/>
                </a:lnTo>
                <a:cubicBezTo>
                  <a:pt x="4892826" y="0"/>
                  <a:pt x="4936377" y="43551"/>
                  <a:pt x="4936377" y="97275"/>
                </a:cubicBezTo>
                <a:lnTo>
                  <a:pt x="4936377" y="1507656"/>
                </a:lnTo>
                <a:cubicBezTo>
                  <a:pt x="4936377" y="1561379"/>
                  <a:pt x="4892826" y="1604930"/>
                  <a:pt x="4839102" y="1604930"/>
                </a:cubicBezTo>
                <a:lnTo>
                  <a:pt x="48634" y="1604930"/>
                </a:lnTo>
                <a:cubicBezTo>
                  <a:pt x="21774" y="1604930"/>
                  <a:pt x="0" y="1583156"/>
                  <a:pt x="0" y="1556296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5669405" y="7051967"/>
            <a:ext cx="48634" cy="1604930"/>
          </a:xfrm>
          <a:custGeom>
            <a:avLst/>
            <a:gdLst/>
            <a:ahLst/>
            <a:cxnLst/>
            <a:rect l="l" t="t" r="r" b="b"/>
            <a:pathLst>
              <a:path w="48634" h="1604930">
                <a:moveTo>
                  <a:pt x="48634" y="0"/>
                </a:moveTo>
                <a:lnTo>
                  <a:pt x="48634" y="0"/>
                </a:lnTo>
                <a:lnTo>
                  <a:pt x="48634" y="1604930"/>
                </a:lnTo>
                <a:lnTo>
                  <a:pt x="48634" y="1604930"/>
                </a:lnTo>
                <a:cubicBezTo>
                  <a:pt x="21774" y="1604930"/>
                  <a:pt x="0" y="1583156"/>
                  <a:pt x="0" y="1556296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5888260" y="7246504"/>
            <a:ext cx="486343" cy="486343"/>
          </a:xfrm>
          <a:custGeom>
            <a:avLst/>
            <a:gdLst/>
            <a:ahLst/>
            <a:cxnLst/>
            <a:rect l="l" t="t" r="r" b="b"/>
            <a:pathLst>
              <a:path w="486343" h="486343">
                <a:moveTo>
                  <a:pt x="97269" y="0"/>
                </a:moveTo>
                <a:lnTo>
                  <a:pt x="389074" y="0"/>
                </a:lnTo>
                <a:cubicBezTo>
                  <a:pt x="442758" y="0"/>
                  <a:pt x="486343" y="43585"/>
                  <a:pt x="486343" y="97269"/>
                </a:cubicBezTo>
                <a:lnTo>
                  <a:pt x="486343" y="389074"/>
                </a:lnTo>
                <a:cubicBezTo>
                  <a:pt x="486343" y="442794"/>
                  <a:pt x="442794" y="486343"/>
                  <a:pt x="389074" y="486343"/>
                </a:cubicBezTo>
                <a:lnTo>
                  <a:pt x="97269" y="486343"/>
                </a:lnTo>
                <a:cubicBezTo>
                  <a:pt x="43585" y="486343"/>
                  <a:pt x="0" y="442758"/>
                  <a:pt x="0" y="389074"/>
                </a:cubicBezTo>
                <a:lnTo>
                  <a:pt x="0" y="97269"/>
                </a:lnTo>
                <a:cubicBezTo>
                  <a:pt x="0" y="43585"/>
                  <a:pt x="43585" y="0"/>
                  <a:pt x="97269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6009845" y="7368090"/>
            <a:ext cx="243171" cy="243171"/>
          </a:xfrm>
          <a:custGeom>
            <a:avLst/>
            <a:gdLst/>
            <a:ahLst/>
            <a:cxnLst/>
            <a:rect l="l" t="t" r="r" b="b"/>
            <a:pathLst>
              <a:path w="243171" h="243171">
                <a:moveTo>
                  <a:pt x="208738" y="3325"/>
                </a:moveTo>
                <a:cubicBezTo>
                  <a:pt x="213202" y="-1140"/>
                  <a:pt x="220421" y="-1140"/>
                  <a:pt x="224838" y="3325"/>
                </a:cubicBezTo>
                <a:lnTo>
                  <a:pt x="240037" y="18523"/>
                </a:lnTo>
                <a:cubicBezTo>
                  <a:pt x="244501" y="22987"/>
                  <a:pt x="244501" y="30206"/>
                  <a:pt x="240037" y="34623"/>
                </a:cubicBezTo>
                <a:lnTo>
                  <a:pt x="198717" y="75944"/>
                </a:lnTo>
                <a:lnTo>
                  <a:pt x="217239" y="94466"/>
                </a:lnTo>
                <a:cubicBezTo>
                  <a:pt x="220516" y="97743"/>
                  <a:pt x="221466" y="102635"/>
                  <a:pt x="219709" y="106910"/>
                </a:cubicBezTo>
                <a:cubicBezTo>
                  <a:pt x="217952" y="111184"/>
                  <a:pt x="213820" y="113987"/>
                  <a:pt x="209213" y="113987"/>
                </a:cubicBezTo>
                <a:lnTo>
                  <a:pt x="140821" y="113987"/>
                </a:lnTo>
                <a:cubicBezTo>
                  <a:pt x="134504" y="113987"/>
                  <a:pt x="129422" y="108905"/>
                  <a:pt x="129422" y="102588"/>
                </a:cubicBezTo>
                <a:lnTo>
                  <a:pt x="129422" y="34196"/>
                </a:lnTo>
                <a:cubicBezTo>
                  <a:pt x="129422" y="29589"/>
                  <a:pt x="132177" y="25409"/>
                  <a:pt x="136451" y="23652"/>
                </a:cubicBezTo>
                <a:cubicBezTo>
                  <a:pt x="140726" y="21895"/>
                  <a:pt x="145618" y="22845"/>
                  <a:pt x="148895" y="26122"/>
                </a:cubicBezTo>
                <a:lnTo>
                  <a:pt x="167418" y="44645"/>
                </a:lnTo>
                <a:lnTo>
                  <a:pt x="208738" y="3325"/>
                </a:lnTo>
                <a:close/>
                <a:moveTo>
                  <a:pt x="34433" y="129185"/>
                </a:moveTo>
                <a:lnTo>
                  <a:pt x="102825" y="129185"/>
                </a:lnTo>
                <a:cubicBezTo>
                  <a:pt x="109142" y="129185"/>
                  <a:pt x="114224" y="134267"/>
                  <a:pt x="114224" y="140583"/>
                </a:cubicBezTo>
                <a:lnTo>
                  <a:pt x="114224" y="208975"/>
                </a:lnTo>
                <a:cubicBezTo>
                  <a:pt x="114224" y="213582"/>
                  <a:pt x="111469" y="217762"/>
                  <a:pt x="107195" y="219519"/>
                </a:cubicBezTo>
                <a:cubicBezTo>
                  <a:pt x="102920" y="221276"/>
                  <a:pt x="98028" y="220326"/>
                  <a:pt x="94751" y="217049"/>
                </a:cubicBezTo>
                <a:lnTo>
                  <a:pt x="76228" y="198527"/>
                </a:lnTo>
                <a:lnTo>
                  <a:pt x="34908" y="239847"/>
                </a:lnTo>
                <a:cubicBezTo>
                  <a:pt x="30444" y="244311"/>
                  <a:pt x="23225" y="244311"/>
                  <a:pt x="18808" y="239847"/>
                </a:cubicBezTo>
                <a:lnTo>
                  <a:pt x="3610" y="224648"/>
                </a:lnTo>
                <a:cubicBezTo>
                  <a:pt x="-855" y="220184"/>
                  <a:pt x="-855" y="212965"/>
                  <a:pt x="3610" y="208548"/>
                </a:cubicBezTo>
                <a:lnTo>
                  <a:pt x="44930" y="167228"/>
                </a:lnTo>
                <a:lnTo>
                  <a:pt x="26407" y="148705"/>
                </a:lnTo>
                <a:cubicBezTo>
                  <a:pt x="23130" y="145428"/>
                  <a:pt x="22180" y="140536"/>
                  <a:pt x="23937" y="136261"/>
                </a:cubicBezTo>
                <a:cubicBezTo>
                  <a:pt x="25694" y="131987"/>
                  <a:pt x="29826" y="129185"/>
                  <a:pt x="34433" y="129185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6520505" y="7319455"/>
            <a:ext cx="948368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88260" y="7830115"/>
            <a:ext cx="4620254" cy="6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3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继承Reducer类，重写reduce()方法，实现聚合计算逻辑，输出最终结果</a:t>
            </a:r>
            <a:endParaRPr lang="en-US" sz="1600" dirty="0"/>
          </a:p>
        </p:txBody>
      </p:sp>
      <p:sp>
        <p:nvSpPr>
          <p:cNvPr id="9" name="Shape 19"/>
          <p:cNvSpPr/>
          <p:nvPr/>
        </p:nvSpPr>
        <p:spPr>
          <a:xfrm>
            <a:off x="10828246" y="7051967"/>
            <a:ext cx="4936377" cy="1604930"/>
          </a:xfrm>
          <a:custGeom>
            <a:avLst/>
            <a:gdLst/>
            <a:ahLst/>
            <a:cxnLst/>
            <a:rect l="l" t="t" r="r" b="b"/>
            <a:pathLst>
              <a:path w="4936377" h="1604930">
                <a:moveTo>
                  <a:pt x="48634" y="0"/>
                </a:moveTo>
                <a:lnTo>
                  <a:pt x="4839102" y="0"/>
                </a:lnTo>
                <a:cubicBezTo>
                  <a:pt x="4892826" y="0"/>
                  <a:pt x="4936377" y="43551"/>
                  <a:pt x="4936377" y="97275"/>
                </a:cubicBezTo>
                <a:lnTo>
                  <a:pt x="4936377" y="1507656"/>
                </a:lnTo>
                <a:cubicBezTo>
                  <a:pt x="4936377" y="1561379"/>
                  <a:pt x="4892826" y="1604930"/>
                  <a:pt x="4839102" y="1604930"/>
                </a:cubicBezTo>
                <a:lnTo>
                  <a:pt x="48634" y="1604930"/>
                </a:lnTo>
                <a:cubicBezTo>
                  <a:pt x="21774" y="1604930"/>
                  <a:pt x="0" y="1583156"/>
                  <a:pt x="0" y="1556296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10828246" y="7051967"/>
            <a:ext cx="48634" cy="1604930"/>
          </a:xfrm>
          <a:custGeom>
            <a:avLst/>
            <a:gdLst/>
            <a:ahLst/>
            <a:cxnLst/>
            <a:rect l="l" t="t" r="r" b="b"/>
            <a:pathLst>
              <a:path w="48634" h="1604930">
                <a:moveTo>
                  <a:pt x="48634" y="0"/>
                </a:moveTo>
                <a:lnTo>
                  <a:pt x="48634" y="0"/>
                </a:lnTo>
                <a:lnTo>
                  <a:pt x="48634" y="1604930"/>
                </a:lnTo>
                <a:lnTo>
                  <a:pt x="48634" y="1604930"/>
                </a:lnTo>
                <a:cubicBezTo>
                  <a:pt x="21774" y="1604930"/>
                  <a:pt x="0" y="1583156"/>
                  <a:pt x="0" y="1556296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11047100" y="7246504"/>
            <a:ext cx="486343" cy="486343"/>
          </a:xfrm>
          <a:custGeom>
            <a:avLst/>
            <a:gdLst/>
            <a:ahLst/>
            <a:cxnLst/>
            <a:rect l="l" t="t" r="r" b="b"/>
            <a:pathLst>
              <a:path w="486343" h="486343">
                <a:moveTo>
                  <a:pt x="97269" y="0"/>
                </a:moveTo>
                <a:lnTo>
                  <a:pt x="389074" y="0"/>
                </a:lnTo>
                <a:cubicBezTo>
                  <a:pt x="442758" y="0"/>
                  <a:pt x="486343" y="43585"/>
                  <a:pt x="486343" y="97269"/>
                </a:cubicBezTo>
                <a:lnTo>
                  <a:pt x="486343" y="389074"/>
                </a:lnTo>
                <a:cubicBezTo>
                  <a:pt x="486343" y="442794"/>
                  <a:pt x="442794" y="486343"/>
                  <a:pt x="389074" y="486343"/>
                </a:cubicBezTo>
                <a:lnTo>
                  <a:pt x="97269" y="486343"/>
                </a:lnTo>
                <a:cubicBezTo>
                  <a:pt x="43585" y="486343"/>
                  <a:pt x="0" y="442758"/>
                  <a:pt x="0" y="389074"/>
                </a:cubicBezTo>
                <a:lnTo>
                  <a:pt x="0" y="97269"/>
                </a:lnTo>
                <a:cubicBezTo>
                  <a:pt x="0" y="43585"/>
                  <a:pt x="43585" y="0"/>
                  <a:pt x="97269" y="0"/>
                </a:cubicBezTo>
                <a:close/>
              </a:path>
            </a:pathLst>
          </a:custGeom>
          <a:solidFill>
            <a:srgbClr val="7A7D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11168686" y="7368090"/>
            <a:ext cx="243171" cy="243171"/>
          </a:xfrm>
          <a:custGeom>
            <a:avLst/>
            <a:gdLst/>
            <a:ahLst/>
            <a:cxnLst/>
            <a:rect l="l" t="t" r="r" b="b"/>
            <a:pathLst>
              <a:path w="243171" h="243171">
                <a:moveTo>
                  <a:pt x="92662" y="4512"/>
                </a:moveTo>
                <a:cubicBezTo>
                  <a:pt x="94086" y="-2517"/>
                  <a:pt x="100308" y="-7599"/>
                  <a:pt x="107527" y="-7599"/>
                </a:cubicBezTo>
                <a:lnTo>
                  <a:pt x="135929" y="-7599"/>
                </a:lnTo>
                <a:cubicBezTo>
                  <a:pt x="143148" y="-7599"/>
                  <a:pt x="149370" y="-2517"/>
                  <a:pt x="150795" y="4512"/>
                </a:cubicBezTo>
                <a:lnTo>
                  <a:pt x="157681" y="37758"/>
                </a:lnTo>
                <a:cubicBezTo>
                  <a:pt x="164378" y="40608"/>
                  <a:pt x="170647" y="44265"/>
                  <a:pt x="176347" y="48587"/>
                </a:cubicBezTo>
                <a:lnTo>
                  <a:pt x="208548" y="37901"/>
                </a:lnTo>
                <a:cubicBezTo>
                  <a:pt x="215387" y="35621"/>
                  <a:pt x="222891" y="38470"/>
                  <a:pt x="226501" y="44740"/>
                </a:cubicBezTo>
                <a:lnTo>
                  <a:pt x="240702" y="69342"/>
                </a:lnTo>
                <a:cubicBezTo>
                  <a:pt x="244311" y="75611"/>
                  <a:pt x="243029" y="83495"/>
                  <a:pt x="237614" y="88292"/>
                </a:cubicBezTo>
                <a:lnTo>
                  <a:pt x="212300" y="110804"/>
                </a:lnTo>
                <a:cubicBezTo>
                  <a:pt x="212727" y="114319"/>
                  <a:pt x="212917" y="117929"/>
                  <a:pt x="212917" y="121586"/>
                </a:cubicBezTo>
                <a:cubicBezTo>
                  <a:pt x="212917" y="125243"/>
                  <a:pt x="212680" y="128852"/>
                  <a:pt x="212300" y="132367"/>
                </a:cubicBezTo>
                <a:lnTo>
                  <a:pt x="237662" y="154927"/>
                </a:lnTo>
                <a:cubicBezTo>
                  <a:pt x="243076" y="159724"/>
                  <a:pt x="244311" y="167655"/>
                  <a:pt x="240749" y="173877"/>
                </a:cubicBezTo>
                <a:lnTo>
                  <a:pt x="226548" y="198479"/>
                </a:lnTo>
                <a:cubicBezTo>
                  <a:pt x="222939" y="204701"/>
                  <a:pt x="215435" y="207598"/>
                  <a:pt x="208595" y="205318"/>
                </a:cubicBezTo>
                <a:lnTo>
                  <a:pt x="176394" y="194632"/>
                </a:lnTo>
                <a:cubicBezTo>
                  <a:pt x="170647" y="198954"/>
                  <a:pt x="164378" y="202564"/>
                  <a:pt x="157729" y="205461"/>
                </a:cubicBezTo>
                <a:lnTo>
                  <a:pt x="150890" y="238659"/>
                </a:lnTo>
                <a:cubicBezTo>
                  <a:pt x="149417" y="245736"/>
                  <a:pt x="143196" y="250770"/>
                  <a:pt x="136024" y="250770"/>
                </a:cubicBezTo>
                <a:lnTo>
                  <a:pt x="107622" y="250770"/>
                </a:lnTo>
                <a:cubicBezTo>
                  <a:pt x="100403" y="250770"/>
                  <a:pt x="94181" y="245688"/>
                  <a:pt x="92757" y="238659"/>
                </a:cubicBezTo>
                <a:lnTo>
                  <a:pt x="85917" y="205461"/>
                </a:lnTo>
                <a:cubicBezTo>
                  <a:pt x="79221" y="202611"/>
                  <a:pt x="72999" y="198954"/>
                  <a:pt x="67252" y="194632"/>
                </a:cubicBezTo>
                <a:lnTo>
                  <a:pt x="34908" y="205318"/>
                </a:lnTo>
                <a:cubicBezTo>
                  <a:pt x="28069" y="207598"/>
                  <a:pt x="20565" y="204748"/>
                  <a:pt x="16955" y="198479"/>
                </a:cubicBezTo>
                <a:lnTo>
                  <a:pt x="2755" y="173877"/>
                </a:lnTo>
                <a:cubicBezTo>
                  <a:pt x="-855" y="167608"/>
                  <a:pt x="427" y="159724"/>
                  <a:pt x="5842" y="154927"/>
                </a:cubicBezTo>
                <a:lnTo>
                  <a:pt x="31204" y="132367"/>
                </a:lnTo>
                <a:cubicBezTo>
                  <a:pt x="30776" y="128852"/>
                  <a:pt x="30586" y="125243"/>
                  <a:pt x="30586" y="121586"/>
                </a:cubicBezTo>
                <a:cubicBezTo>
                  <a:pt x="30586" y="117929"/>
                  <a:pt x="30824" y="114319"/>
                  <a:pt x="31204" y="110804"/>
                </a:cubicBezTo>
                <a:lnTo>
                  <a:pt x="5842" y="88245"/>
                </a:lnTo>
                <a:cubicBezTo>
                  <a:pt x="427" y="83448"/>
                  <a:pt x="-807" y="75516"/>
                  <a:pt x="2755" y="69294"/>
                </a:cubicBezTo>
                <a:lnTo>
                  <a:pt x="16955" y="44692"/>
                </a:lnTo>
                <a:cubicBezTo>
                  <a:pt x="20565" y="38423"/>
                  <a:pt x="28069" y="35573"/>
                  <a:pt x="34908" y="37853"/>
                </a:cubicBezTo>
                <a:lnTo>
                  <a:pt x="67110" y="48539"/>
                </a:lnTo>
                <a:cubicBezTo>
                  <a:pt x="72856" y="44217"/>
                  <a:pt x="79126" y="40608"/>
                  <a:pt x="85775" y="37711"/>
                </a:cubicBezTo>
                <a:lnTo>
                  <a:pt x="92662" y="4512"/>
                </a:lnTo>
                <a:close/>
                <a:moveTo>
                  <a:pt x="121728" y="159581"/>
                </a:moveTo>
                <a:cubicBezTo>
                  <a:pt x="135303" y="159530"/>
                  <a:pt x="147819" y="152241"/>
                  <a:pt x="154562" y="140460"/>
                </a:cubicBezTo>
                <a:cubicBezTo>
                  <a:pt x="161305" y="128679"/>
                  <a:pt x="161251" y="114195"/>
                  <a:pt x="154419" y="102464"/>
                </a:cubicBezTo>
                <a:cubicBezTo>
                  <a:pt x="147588" y="90734"/>
                  <a:pt x="135018" y="83539"/>
                  <a:pt x="121443" y="83590"/>
                </a:cubicBezTo>
                <a:cubicBezTo>
                  <a:pt x="107869" y="83641"/>
                  <a:pt x="95352" y="90930"/>
                  <a:pt x="88609" y="102711"/>
                </a:cubicBezTo>
                <a:cubicBezTo>
                  <a:pt x="81866" y="114493"/>
                  <a:pt x="81920" y="128976"/>
                  <a:pt x="88752" y="140707"/>
                </a:cubicBezTo>
                <a:cubicBezTo>
                  <a:pt x="95583" y="152437"/>
                  <a:pt x="108154" y="159632"/>
                  <a:pt x="121728" y="159581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11679346" y="7319455"/>
            <a:ext cx="717355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2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047100" y="7830115"/>
            <a:ext cx="4620254" cy="632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32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配置作业参数，设置Mapper和Reducer类，指定输入输出路径，提交作业到集群执行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504" y="502504"/>
            <a:ext cx="15338930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kern="0" spc="138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05 · Mapper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504" y="854257"/>
            <a:ext cx="15477119" cy="50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6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Mapper 实现：数据转换与特征提取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504" y="1587307"/>
            <a:ext cx="10627957" cy="7386807"/>
          </a:xfrm>
          <a:custGeom>
            <a:avLst/>
            <a:gdLst/>
            <a:ahLst/>
            <a:cxnLst/>
            <a:rect l="l" t="t" r="r" b="b"/>
            <a:pathLst>
              <a:path w="10627957" h="6783802">
                <a:moveTo>
                  <a:pt x="100468" y="0"/>
                </a:moveTo>
                <a:lnTo>
                  <a:pt x="10527489" y="0"/>
                </a:lnTo>
                <a:cubicBezTo>
                  <a:pt x="10582976" y="0"/>
                  <a:pt x="10627957" y="44981"/>
                  <a:pt x="10627957" y="100468"/>
                </a:cubicBezTo>
                <a:lnTo>
                  <a:pt x="10627957" y="6683334"/>
                </a:lnTo>
                <a:cubicBezTo>
                  <a:pt x="10627957" y="6738821"/>
                  <a:pt x="10582976" y="6783802"/>
                  <a:pt x="10527489" y="6783802"/>
                </a:cubicBezTo>
                <a:lnTo>
                  <a:pt x="100468" y="6783802"/>
                </a:lnTo>
                <a:cubicBezTo>
                  <a:pt x="44981" y="6783802"/>
                  <a:pt x="0" y="6738821"/>
                  <a:pt x="0" y="6683334"/>
                </a:cubicBezTo>
                <a:lnTo>
                  <a:pt x="0" y="100468"/>
                </a:lnTo>
                <a:cubicBezTo>
                  <a:pt x="0" y="45018"/>
                  <a:pt x="45018" y="0"/>
                  <a:pt x="100468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03505" y="1788309"/>
            <a:ext cx="10225954" cy="7093558"/>
          </a:xfrm>
          <a:custGeom>
            <a:avLst/>
            <a:gdLst/>
            <a:ahLst/>
            <a:cxnLst/>
            <a:rect l="l" t="t" r="r" b="b"/>
            <a:pathLst>
              <a:path w="10225954" h="6381799">
                <a:moveTo>
                  <a:pt x="100513" y="0"/>
                </a:moveTo>
                <a:lnTo>
                  <a:pt x="10125440" y="0"/>
                </a:lnTo>
                <a:cubicBezTo>
                  <a:pt x="10180952" y="0"/>
                  <a:pt x="10225954" y="45001"/>
                  <a:pt x="10225954" y="100513"/>
                </a:cubicBezTo>
                <a:lnTo>
                  <a:pt x="10225954" y="6281286"/>
                </a:lnTo>
                <a:cubicBezTo>
                  <a:pt x="10225954" y="6336798"/>
                  <a:pt x="10180952" y="6381799"/>
                  <a:pt x="10125440" y="6381799"/>
                </a:cubicBezTo>
                <a:lnTo>
                  <a:pt x="100513" y="6381799"/>
                </a:lnTo>
                <a:cubicBezTo>
                  <a:pt x="45001" y="6381799"/>
                  <a:pt x="0" y="6336798"/>
                  <a:pt x="0" y="6281286"/>
                </a:cubicBezTo>
                <a:lnTo>
                  <a:pt x="0" y="100513"/>
                </a:lnTo>
                <a:cubicBezTo>
                  <a:pt x="0" y="45039"/>
                  <a:pt x="45039" y="0"/>
                  <a:pt x="10051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4257" y="1867620"/>
            <a:ext cx="10012389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MaxTemperatureMapper.java - 数据转换与特征提取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4257" y="2076493"/>
            <a:ext cx="10012389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class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MaxTemperatureMapper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extends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Mapper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LongWritable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IntWritable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{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5258" y="2350389"/>
            <a:ext cx="9811388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private static final intMISSING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9999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5258" y="2686003"/>
            <a:ext cx="3923162" cy="207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核心方法：每处理一行输入数据就会调用一次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5258" y="2937254"/>
            <a:ext cx="1040929" cy="207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@Override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5258" y="3169663"/>
            <a:ext cx="9811388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void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LongWritable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key, 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value, 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context)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56260" y="3420914"/>
            <a:ext cx="9610386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throws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IOException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InterruptedException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56260" y="3723386"/>
            <a:ext cx="9610386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line = value.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toString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6260" y="4030414"/>
            <a:ext cx="2692027" cy="207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数据验证：确保数据格式正确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56260" y="4262822"/>
            <a:ext cx="9610386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(line.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length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 &lt; 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93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{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57261" y="4514074"/>
            <a:ext cx="940938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 </a:t>
            </a:r>
            <a:r>
              <a:rPr lang="en-US" sz="1385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跳过格式不正确的行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56260" y="4765326"/>
            <a:ext cx="9610386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56260" y="5058068"/>
            <a:ext cx="3571409" cy="207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数据解析：根据固定格式提取年份和温度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6260" y="5290476"/>
            <a:ext cx="9610386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year = line.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substring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6260" y="5541728"/>
            <a:ext cx="9610386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airTemperature;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56260" y="5792980"/>
            <a:ext cx="9610386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(line.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charAt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87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== 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'+'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{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57261" y="6044232"/>
            <a:ext cx="940938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airTemperature = 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Integer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parseInt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(line.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substring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88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92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));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56260" y="6295484"/>
            <a:ext cx="9610386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 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else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57261" y="6546735"/>
            <a:ext cx="940938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airTemperature = 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Integer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parseInt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(line.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substring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87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92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56260" y="6797987"/>
            <a:ext cx="9610386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56260" y="7114747"/>
            <a:ext cx="9610386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quality = line.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substring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92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93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56260" y="7393199"/>
            <a:ext cx="2692027" cy="207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数据过滤：只处理高质量数据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56260" y="7625607"/>
            <a:ext cx="9610386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(airTemperature != 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MISSING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&amp;&amp; quality.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matches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"[01459]"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 {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57261" y="7876859"/>
            <a:ext cx="940938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context.</a:t>
            </a:r>
            <a:r>
              <a:rPr lang="en-US" sz="1385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newText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(year), </a:t>
            </a:r>
            <a:r>
              <a:rPr lang="en-US" sz="138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newIntWritable</a:t>
            </a: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(airTemperature));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56260" y="8128111"/>
            <a:ext cx="9610386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5258" y="8379363"/>
            <a:ext cx="9811388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4257" y="8630615"/>
            <a:ext cx="10012389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376118" y="1587308"/>
            <a:ext cx="4384346" cy="3969781"/>
          </a:xfrm>
          <a:custGeom>
            <a:avLst/>
            <a:gdLst/>
            <a:ahLst/>
            <a:cxnLst/>
            <a:rect l="l" t="t" r="r" b="b"/>
            <a:pathLst>
              <a:path w="4384346" h="3969781">
                <a:moveTo>
                  <a:pt x="100515" y="0"/>
                </a:moveTo>
                <a:lnTo>
                  <a:pt x="4283831" y="0"/>
                </a:lnTo>
                <a:cubicBezTo>
                  <a:pt x="4339344" y="0"/>
                  <a:pt x="4384346" y="45002"/>
                  <a:pt x="4384346" y="100515"/>
                </a:cubicBezTo>
                <a:lnTo>
                  <a:pt x="4384346" y="3869266"/>
                </a:lnTo>
                <a:cubicBezTo>
                  <a:pt x="4384346" y="3924778"/>
                  <a:pt x="4339344" y="3969781"/>
                  <a:pt x="4283831" y="3969781"/>
                </a:cubicBezTo>
                <a:lnTo>
                  <a:pt x="100515" y="3969781"/>
                </a:lnTo>
                <a:cubicBezTo>
                  <a:pt x="45002" y="3969781"/>
                  <a:pt x="0" y="3924778"/>
                  <a:pt x="0" y="3869266"/>
                </a:cubicBezTo>
                <a:lnTo>
                  <a:pt x="0" y="100515"/>
                </a:lnTo>
                <a:cubicBezTo>
                  <a:pt x="0" y="45039"/>
                  <a:pt x="45039" y="0"/>
                  <a:pt x="100515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1608526" y="1851122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48396" y="155462"/>
                </a:moveTo>
                <a:cubicBezTo>
                  <a:pt x="191324" y="155462"/>
                  <a:pt x="226127" y="120660"/>
                  <a:pt x="226127" y="77731"/>
                </a:cubicBezTo>
                <a:cubicBezTo>
                  <a:pt x="226127" y="34802"/>
                  <a:pt x="191324" y="0"/>
                  <a:pt x="148396" y="0"/>
                </a:cubicBezTo>
                <a:cubicBezTo>
                  <a:pt x="105467" y="0"/>
                  <a:pt x="70665" y="34802"/>
                  <a:pt x="70665" y="77731"/>
                </a:cubicBezTo>
                <a:cubicBezTo>
                  <a:pt x="70665" y="85990"/>
                  <a:pt x="71945" y="93984"/>
                  <a:pt x="74330" y="101448"/>
                </a:cubicBezTo>
                <a:lnTo>
                  <a:pt x="3092" y="172687"/>
                </a:lnTo>
                <a:cubicBezTo>
                  <a:pt x="1104" y="174674"/>
                  <a:pt x="0" y="177368"/>
                  <a:pt x="0" y="180195"/>
                </a:cubicBezTo>
                <a:lnTo>
                  <a:pt x="0" y="215527"/>
                </a:lnTo>
                <a:cubicBezTo>
                  <a:pt x="0" y="221401"/>
                  <a:pt x="4726" y="226127"/>
                  <a:pt x="10600" y="226127"/>
                </a:cubicBezTo>
                <a:lnTo>
                  <a:pt x="45932" y="226127"/>
                </a:lnTo>
                <a:cubicBezTo>
                  <a:pt x="51806" y="226127"/>
                  <a:pt x="56532" y="221401"/>
                  <a:pt x="56532" y="215527"/>
                </a:cubicBezTo>
                <a:lnTo>
                  <a:pt x="56532" y="197861"/>
                </a:lnTo>
                <a:lnTo>
                  <a:pt x="74198" y="197861"/>
                </a:lnTo>
                <a:cubicBezTo>
                  <a:pt x="80072" y="197861"/>
                  <a:pt x="84798" y="193135"/>
                  <a:pt x="84798" y="187261"/>
                </a:cubicBezTo>
                <a:lnTo>
                  <a:pt x="84798" y="169595"/>
                </a:lnTo>
                <a:lnTo>
                  <a:pt x="102464" y="169595"/>
                </a:lnTo>
                <a:cubicBezTo>
                  <a:pt x="105290" y="169595"/>
                  <a:pt x="107984" y="168491"/>
                  <a:pt x="109972" y="166503"/>
                </a:cubicBezTo>
                <a:lnTo>
                  <a:pt x="124679" y="151796"/>
                </a:lnTo>
                <a:cubicBezTo>
                  <a:pt x="132143" y="154181"/>
                  <a:pt x="140137" y="155462"/>
                  <a:pt x="148396" y="155462"/>
                </a:cubicBezTo>
                <a:close/>
                <a:moveTo>
                  <a:pt x="166062" y="42399"/>
                </a:moveTo>
                <a:cubicBezTo>
                  <a:pt x="175812" y="42399"/>
                  <a:pt x="183728" y="50315"/>
                  <a:pt x="183728" y="60065"/>
                </a:cubicBezTo>
                <a:cubicBezTo>
                  <a:pt x="183728" y="69815"/>
                  <a:pt x="175812" y="77731"/>
                  <a:pt x="166062" y="77731"/>
                </a:cubicBezTo>
                <a:cubicBezTo>
                  <a:pt x="156312" y="77731"/>
                  <a:pt x="148396" y="69815"/>
                  <a:pt x="148396" y="60065"/>
                </a:cubicBezTo>
                <a:cubicBezTo>
                  <a:pt x="148396" y="50315"/>
                  <a:pt x="156312" y="42399"/>
                  <a:pt x="166062" y="4239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866060" y="1788309"/>
            <a:ext cx="3806467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577120" y="2290813"/>
            <a:ext cx="3982343" cy="954757"/>
          </a:xfrm>
          <a:custGeom>
            <a:avLst/>
            <a:gdLst/>
            <a:ahLst/>
            <a:cxnLst/>
            <a:rect l="l" t="t" r="r" b="b"/>
            <a:pathLst>
              <a:path w="3982343" h="954757">
                <a:moveTo>
                  <a:pt x="100498" y="0"/>
                </a:moveTo>
                <a:lnTo>
                  <a:pt x="3881845" y="0"/>
                </a:lnTo>
                <a:cubicBezTo>
                  <a:pt x="3937349" y="0"/>
                  <a:pt x="3982343" y="44994"/>
                  <a:pt x="3982343" y="100498"/>
                </a:cubicBezTo>
                <a:lnTo>
                  <a:pt x="3982343" y="854260"/>
                </a:lnTo>
                <a:cubicBezTo>
                  <a:pt x="3982343" y="909763"/>
                  <a:pt x="3937349" y="954757"/>
                  <a:pt x="3881845" y="954757"/>
                </a:cubicBezTo>
                <a:lnTo>
                  <a:pt x="100498" y="954757"/>
                </a:lnTo>
                <a:cubicBezTo>
                  <a:pt x="44994" y="954757"/>
                  <a:pt x="0" y="909763"/>
                  <a:pt x="0" y="854260"/>
                </a:cubicBezTo>
                <a:lnTo>
                  <a:pt x="0" y="100498"/>
                </a:lnTo>
                <a:cubicBezTo>
                  <a:pt x="0" y="45032"/>
                  <a:pt x="45032" y="0"/>
                  <a:pt x="100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727871" y="2441564"/>
            <a:ext cx="378134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① 继承关系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727871" y="2793317"/>
            <a:ext cx="378134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继承Mapper类并指定四个泛型参数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577120" y="3346071"/>
            <a:ext cx="3982343" cy="954757"/>
          </a:xfrm>
          <a:custGeom>
            <a:avLst/>
            <a:gdLst/>
            <a:ahLst/>
            <a:cxnLst/>
            <a:rect l="l" t="t" r="r" b="b"/>
            <a:pathLst>
              <a:path w="3982343" h="954757">
                <a:moveTo>
                  <a:pt x="100498" y="0"/>
                </a:moveTo>
                <a:lnTo>
                  <a:pt x="3881845" y="0"/>
                </a:lnTo>
                <a:cubicBezTo>
                  <a:pt x="3937349" y="0"/>
                  <a:pt x="3982343" y="44994"/>
                  <a:pt x="3982343" y="100498"/>
                </a:cubicBezTo>
                <a:lnTo>
                  <a:pt x="3982343" y="854260"/>
                </a:lnTo>
                <a:cubicBezTo>
                  <a:pt x="3982343" y="909763"/>
                  <a:pt x="3937349" y="954757"/>
                  <a:pt x="3881845" y="954757"/>
                </a:cubicBezTo>
                <a:lnTo>
                  <a:pt x="100498" y="954757"/>
                </a:lnTo>
                <a:cubicBezTo>
                  <a:pt x="44994" y="954757"/>
                  <a:pt x="0" y="909763"/>
                  <a:pt x="0" y="854260"/>
                </a:cubicBezTo>
                <a:lnTo>
                  <a:pt x="0" y="100498"/>
                </a:lnTo>
                <a:cubicBezTo>
                  <a:pt x="0" y="45032"/>
                  <a:pt x="45032" y="0"/>
                  <a:pt x="100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727871" y="3496822"/>
            <a:ext cx="378134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② 核心方法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727871" y="3848575"/>
            <a:ext cx="378134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重写map()方法实现数据转换逻辑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577120" y="4401329"/>
            <a:ext cx="3982343" cy="954757"/>
          </a:xfrm>
          <a:custGeom>
            <a:avLst/>
            <a:gdLst/>
            <a:ahLst/>
            <a:cxnLst/>
            <a:rect l="l" t="t" r="r" b="b"/>
            <a:pathLst>
              <a:path w="3982343" h="954757">
                <a:moveTo>
                  <a:pt x="100498" y="0"/>
                </a:moveTo>
                <a:lnTo>
                  <a:pt x="3881845" y="0"/>
                </a:lnTo>
                <a:cubicBezTo>
                  <a:pt x="3937349" y="0"/>
                  <a:pt x="3982343" y="44994"/>
                  <a:pt x="3982343" y="100498"/>
                </a:cubicBezTo>
                <a:lnTo>
                  <a:pt x="3982343" y="854260"/>
                </a:lnTo>
                <a:cubicBezTo>
                  <a:pt x="3982343" y="909763"/>
                  <a:pt x="3937349" y="954757"/>
                  <a:pt x="3881845" y="954757"/>
                </a:cubicBezTo>
                <a:lnTo>
                  <a:pt x="100498" y="954757"/>
                </a:lnTo>
                <a:cubicBezTo>
                  <a:pt x="44994" y="954757"/>
                  <a:pt x="0" y="909763"/>
                  <a:pt x="0" y="854260"/>
                </a:cubicBezTo>
                <a:lnTo>
                  <a:pt x="0" y="100498"/>
                </a:lnTo>
                <a:cubicBezTo>
                  <a:pt x="0" y="45032"/>
                  <a:pt x="45032" y="0"/>
                  <a:pt x="1004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727871" y="4552080"/>
            <a:ext cx="378134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③ 输出机制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727871" y="4903833"/>
            <a:ext cx="378134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使用context.write()输出键值对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376118" y="5758090"/>
            <a:ext cx="4384346" cy="3216025"/>
          </a:xfrm>
          <a:custGeom>
            <a:avLst/>
            <a:gdLst/>
            <a:ahLst/>
            <a:cxnLst/>
            <a:rect l="l" t="t" r="r" b="b"/>
            <a:pathLst>
              <a:path w="4384346" h="3216025">
                <a:moveTo>
                  <a:pt x="100501" y="0"/>
                </a:moveTo>
                <a:lnTo>
                  <a:pt x="4283845" y="0"/>
                </a:lnTo>
                <a:cubicBezTo>
                  <a:pt x="4339350" y="0"/>
                  <a:pt x="4384346" y="44996"/>
                  <a:pt x="4384346" y="100501"/>
                </a:cubicBezTo>
                <a:lnTo>
                  <a:pt x="4384346" y="3115524"/>
                </a:lnTo>
                <a:cubicBezTo>
                  <a:pt x="4384346" y="3171029"/>
                  <a:pt x="4339350" y="3216025"/>
                  <a:pt x="4283845" y="3216025"/>
                </a:cubicBezTo>
                <a:lnTo>
                  <a:pt x="100501" y="3216025"/>
                </a:lnTo>
                <a:cubicBezTo>
                  <a:pt x="44996" y="3216025"/>
                  <a:pt x="0" y="3171029"/>
                  <a:pt x="0" y="3115524"/>
                </a:cubicBezTo>
                <a:lnTo>
                  <a:pt x="0" y="100501"/>
                </a:lnTo>
                <a:cubicBezTo>
                  <a:pt x="0" y="45033"/>
                  <a:pt x="45033" y="0"/>
                  <a:pt x="100501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1594393" y="5874711"/>
            <a:ext cx="254393" cy="226127"/>
          </a:xfrm>
          <a:custGeom>
            <a:avLst/>
            <a:gdLst/>
            <a:ahLst/>
            <a:cxnLst/>
            <a:rect l="l" t="t" r="r" b="b"/>
            <a:pathLst>
              <a:path w="254393" h="226127">
                <a:moveTo>
                  <a:pt x="159349" y="530"/>
                </a:moveTo>
                <a:cubicBezTo>
                  <a:pt x="151841" y="-1634"/>
                  <a:pt x="144023" y="2738"/>
                  <a:pt x="141859" y="10246"/>
                </a:cubicBezTo>
                <a:lnTo>
                  <a:pt x="85328" y="208107"/>
                </a:lnTo>
                <a:cubicBezTo>
                  <a:pt x="83163" y="215615"/>
                  <a:pt x="87536" y="223433"/>
                  <a:pt x="95044" y="225597"/>
                </a:cubicBezTo>
                <a:cubicBezTo>
                  <a:pt x="102552" y="227761"/>
                  <a:pt x="110369" y="223388"/>
                  <a:pt x="112533" y="215880"/>
                </a:cubicBezTo>
                <a:lnTo>
                  <a:pt x="169065" y="18019"/>
                </a:lnTo>
                <a:cubicBezTo>
                  <a:pt x="171229" y="10511"/>
                  <a:pt x="166857" y="2694"/>
                  <a:pt x="159349" y="530"/>
                </a:cubicBezTo>
                <a:close/>
                <a:moveTo>
                  <a:pt x="187880" y="60639"/>
                </a:moveTo>
                <a:cubicBezTo>
                  <a:pt x="182359" y="66160"/>
                  <a:pt x="182359" y="75125"/>
                  <a:pt x="187880" y="80646"/>
                </a:cubicBezTo>
                <a:lnTo>
                  <a:pt x="220297" y="113063"/>
                </a:lnTo>
                <a:lnTo>
                  <a:pt x="187880" y="145481"/>
                </a:lnTo>
                <a:cubicBezTo>
                  <a:pt x="182359" y="151001"/>
                  <a:pt x="182359" y="159967"/>
                  <a:pt x="187880" y="165488"/>
                </a:cubicBezTo>
                <a:cubicBezTo>
                  <a:pt x="193400" y="171008"/>
                  <a:pt x="202366" y="171008"/>
                  <a:pt x="207886" y="165488"/>
                </a:cubicBezTo>
                <a:lnTo>
                  <a:pt x="250285" y="123089"/>
                </a:lnTo>
                <a:cubicBezTo>
                  <a:pt x="255806" y="117568"/>
                  <a:pt x="255806" y="108603"/>
                  <a:pt x="250285" y="103082"/>
                </a:cubicBezTo>
                <a:lnTo>
                  <a:pt x="207886" y="60683"/>
                </a:lnTo>
                <a:cubicBezTo>
                  <a:pt x="202366" y="55163"/>
                  <a:pt x="193400" y="55163"/>
                  <a:pt x="187880" y="60683"/>
                </a:cubicBezTo>
                <a:close/>
                <a:moveTo>
                  <a:pt x="66557" y="60639"/>
                </a:moveTo>
                <a:cubicBezTo>
                  <a:pt x="61037" y="55118"/>
                  <a:pt x="52071" y="55118"/>
                  <a:pt x="46550" y="60639"/>
                </a:cubicBezTo>
                <a:lnTo>
                  <a:pt x="4152" y="103038"/>
                </a:lnTo>
                <a:cubicBezTo>
                  <a:pt x="-1369" y="108559"/>
                  <a:pt x="-1369" y="117524"/>
                  <a:pt x="4152" y="123045"/>
                </a:cubicBezTo>
                <a:lnTo>
                  <a:pt x="46550" y="165444"/>
                </a:lnTo>
                <a:cubicBezTo>
                  <a:pt x="52071" y="170964"/>
                  <a:pt x="61037" y="170964"/>
                  <a:pt x="66557" y="165444"/>
                </a:cubicBezTo>
                <a:cubicBezTo>
                  <a:pt x="72078" y="159923"/>
                  <a:pt x="72078" y="150957"/>
                  <a:pt x="66557" y="145437"/>
                </a:cubicBezTo>
                <a:lnTo>
                  <a:pt x="34140" y="113063"/>
                </a:lnTo>
                <a:lnTo>
                  <a:pt x="66513" y="80646"/>
                </a:lnTo>
                <a:cubicBezTo>
                  <a:pt x="72034" y="75125"/>
                  <a:pt x="72034" y="66160"/>
                  <a:pt x="66513" y="60639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866060" y="5954778"/>
            <a:ext cx="3806467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数据类型说明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577120" y="6461595"/>
            <a:ext cx="3982343" cy="502504"/>
          </a:xfrm>
          <a:custGeom>
            <a:avLst/>
            <a:gdLst/>
            <a:ahLst/>
            <a:cxnLst/>
            <a:rect l="l" t="t" r="r" b="b"/>
            <a:pathLst>
              <a:path w="3982343" h="502504">
                <a:moveTo>
                  <a:pt x="50250" y="0"/>
                </a:moveTo>
                <a:lnTo>
                  <a:pt x="3932093" y="0"/>
                </a:lnTo>
                <a:cubicBezTo>
                  <a:pt x="3959845" y="0"/>
                  <a:pt x="3982343" y="22498"/>
                  <a:pt x="3982343" y="50250"/>
                </a:cubicBezTo>
                <a:lnTo>
                  <a:pt x="3982343" y="452253"/>
                </a:lnTo>
                <a:cubicBezTo>
                  <a:pt x="3982343" y="480006"/>
                  <a:pt x="3959845" y="502504"/>
                  <a:pt x="3932093" y="502504"/>
                </a:cubicBez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677621" y="6562096"/>
            <a:ext cx="1344198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LongWritable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4650736" y="6562096"/>
            <a:ext cx="90450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行偏移量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577120" y="7064600"/>
            <a:ext cx="3982343" cy="502504"/>
          </a:xfrm>
          <a:custGeom>
            <a:avLst/>
            <a:gdLst/>
            <a:ahLst/>
            <a:cxnLst/>
            <a:rect l="l" t="t" r="r" b="b"/>
            <a:pathLst>
              <a:path w="3982343" h="502504">
                <a:moveTo>
                  <a:pt x="50250" y="0"/>
                </a:moveTo>
                <a:lnTo>
                  <a:pt x="3932093" y="0"/>
                </a:lnTo>
                <a:cubicBezTo>
                  <a:pt x="3959845" y="0"/>
                  <a:pt x="3982343" y="22498"/>
                  <a:pt x="3982343" y="50250"/>
                </a:cubicBezTo>
                <a:lnTo>
                  <a:pt x="3982343" y="452253"/>
                </a:lnTo>
                <a:cubicBezTo>
                  <a:pt x="3982343" y="480006"/>
                  <a:pt x="3959845" y="502504"/>
                  <a:pt x="3932093" y="502504"/>
                </a:cubicBez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677621" y="7165100"/>
            <a:ext cx="502504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4449734" y="7165100"/>
            <a:ext cx="1105509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行文本数据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577120" y="7667604"/>
            <a:ext cx="3982343" cy="502504"/>
          </a:xfrm>
          <a:custGeom>
            <a:avLst/>
            <a:gdLst/>
            <a:ahLst/>
            <a:cxnLst/>
            <a:rect l="l" t="t" r="r" b="b"/>
            <a:pathLst>
              <a:path w="3982343" h="502504">
                <a:moveTo>
                  <a:pt x="50250" y="0"/>
                </a:moveTo>
                <a:lnTo>
                  <a:pt x="3932093" y="0"/>
                </a:lnTo>
                <a:cubicBezTo>
                  <a:pt x="3959845" y="0"/>
                  <a:pt x="3982343" y="22498"/>
                  <a:pt x="3982343" y="50250"/>
                </a:cubicBezTo>
                <a:lnTo>
                  <a:pt x="3982343" y="452253"/>
                </a:lnTo>
                <a:cubicBezTo>
                  <a:pt x="3982343" y="480006"/>
                  <a:pt x="3959845" y="502504"/>
                  <a:pt x="3932093" y="502504"/>
                </a:cubicBez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677621" y="7768105"/>
            <a:ext cx="502504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4328328" y="7768105"/>
            <a:ext cx="1231134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年份(输出键)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577120" y="8270609"/>
            <a:ext cx="3982343" cy="502504"/>
          </a:xfrm>
          <a:custGeom>
            <a:avLst/>
            <a:gdLst/>
            <a:ahLst/>
            <a:cxnLst/>
            <a:rect l="l" t="t" r="r" b="b"/>
            <a:pathLst>
              <a:path w="3982343" h="502504">
                <a:moveTo>
                  <a:pt x="50250" y="0"/>
                </a:moveTo>
                <a:lnTo>
                  <a:pt x="3932093" y="0"/>
                </a:lnTo>
                <a:cubicBezTo>
                  <a:pt x="3959845" y="0"/>
                  <a:pt x="3982343" y="22498"/>
                  <a:pt x="3982343" y="50250"/>
                </a:cubicBezTo>
                <a:lnTo>
                  <a:pt x="3982343" y="452253"/>
                </a:lnTo>
                <a:cubicBezTo>
                  <a:pt x="3982343" y="480006"/>
                  <a:pt x="3959845" y="502504"/>
                  <a:pt x="3932093" y="502504"/>
                </a:cubicBez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1677621" y="8371110"/>
            <a:ext cx="1105509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IntWritable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4127327" y="8371110"/>
            <a:ext cx="1432136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温度值(输出值)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4439" y="424439"/>
            <a:ext cx="15481399" cy="21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b="1" kern="0" spc="11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05 · Reducer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4439" y="721546"/>
            <a:ext cx="15598120" cy="424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Reducer 实现：数据聚合与结果计算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4439" y="1273316"/>
            <a:ext cx="1188428" cy="42444"/>
          </a:xfrm>
          <a:custGeom>
            <a:avLst/>
            <a:gdLst/>
            <a:ahLst/>
            <a:cxnLst/>
            <a:rect l="l" t="t" r="r" b="b"/>
            <a:pathLst>
              <a:path w="1188428" h="42444">
                <a:moveTo>
                  <a:pt x="0" y="0"/>
                </a:moveTo>
                <a:lnTo>
                  <a:pt x="1188428" y="0"/>
                </a:lnTo>
                <a:lnTo>
                  <a:pt x="1188428" y="42444"/>
                </a:lnTo>
                <a:lnTo>
                  <a:pt x="0" y="42444"/>
                </a:lnTo>
                <a:lnTo>
                  <a:pt x="0" y="0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24439" y="1485535"/>
            <a:ext cx="10738298" cy="5729922"/>
          </a:xfrm>
          <a:custGeom>
            <a:avLst/>
            <a:gdLst/>
            <a:ahLst/>
            <a:cxnLst/>
            <a:rect l="l" t="t" r="r" b="b"/>
            <a:pathLst>
              <a:path w="10738298" h="5729922">
                <a:moveTo>
                  <a:pt x="84860" y="0"/>
                </a:moveTo>
                <a:lnTo>
                  <a:pt x="10653438" y="0"/>
                </a:lnTo>
                <a:cubicBezTo>
                  <a:pt x="10700304" y="0"/>
                  <a:pt x="10738298" y="37993"/>
                  <a:pt x="10738298" y="84860"/>
                </a:cubicBezTo>
                <a:lnTo>
                  <a:pt x="10738298" y="5645062"/>
                </a:lnTo>
                <a:cubicBezTo>
                  <a:pt x="10738298" y="5691928"/>
                  <a:pt x="10700304" y="5729922"/>
                  <a:pt x="10653438" y="5729922"/>
                </a:cubicBezTo>
                <a:lnTo>
                  <a:pt x="84860" y="5729922"/>
                </a:lnTo>
                <a:cubicBezTo>
                  <a:pt x="37993" y="5729922"/>
                  <a:pt x="0" y="5691928"/>
                  <a:pt x="0" y="5645062"/>
                </a:cubicBezTo>
                <a:lnTo>
                  <a:pt x="0" y="84860"/>
                </a:lnTo>
                <a:cubicBezTo>
                  <a:pt x="0" y="38025"/>
                  <a:pt x="38025" y="0"/>
                  <a:pt x="8486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94214" y="1655311"/>
            <a:ext cx="10398747" cy="5390371"/>
          </a:xfrm>
          <a:custGeom>
            <a:avLst/>
            <a:gdLst/>
            <a:ahLst/>
            <a:cxnLst/>
            <a:rect l="l" t="t" r="r" b="b"/>
            <a:pathLst>
              <a:path w="10398747" h="5390371">
                <a:moveTo>
                  <a:pt x="84898" y="0"/>
                </a:moveTo>
                <a:lnTo>
                  <a:pt x="10313848" y="0"/>
                </a:lnTo>
                <a:cubicBezTo>
                  <a:pt x="10360736" y="0"/>
                  <a:pt x="10398747" y="38010"/>
                  <a:pt x="10398747" y="84898"/>
                </a:cubicBezTo>
                <a:lnTo>
                  <a:pt x="10398747" y="5305472"/>
                </a:lnTo>
                <a:cubicBezTo>
                  <a:pt x="10398747" y="5352360"/>
                  <a:pt x="10360736" y="5390371"/>
                  <a:pt x="10313848" y="5390371"/>
                </a:cubicBezTo>
                <a:lnTo>
                  <a:pt x="84898" y="5390371"/>
                </a:lnTo>
                <a:cubicBezTo>
                  <a:pt x="38010" y="5390371"/>
                  <a:pt x="0" y="5352360"/>
                  <a:pt x="0" y="5305472"/>
                </a:cubicBezTo>
                <a:lnTo>
                  <a:pt x="0" y="84898"/>
                </a:lnTo>
                <a:cubicBezTo>
                  <a:pt x="0" y="38042"/>
                  <a:pt x="38042" y="0"/>
                  <a:pt x="8489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21546" y="1782642"/>
            <a:ext cx="10218360" cy="21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MaxTemperatureReducer.java - 数据聚合与结果计算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1546" y="2079749"/>
            <a:ext cx="10218360" cy="21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class</a:t>
            </a:r>
            <a:r>
              <a:rPr lang="en-US" sz="117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MaxTemperatureReducer</a:t>
            </a: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extends</a:t>
            </a:r>
            <a:r>
              <a:rPr lang="en-US" sz="117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Reducer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</a:t>
            </a: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IntWritable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IntWritable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{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1321" y="2520104"/>
            <a:ext cx="2719475" cy="17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核心方法：每个唯一的键会调用一次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1321" y="2732324"/>
            <a:ext cx="879218" cy="17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@Override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1321" y="2928627"/>
            <a:ext cx="10048585" cy="21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void</a:t>
            </a:r>
            <a:r>
              <a:rPr lang="en-US" sz="117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key, </a:t>
            </a:r>
            <a:r>
              <a:rPr lang="en-US" sz="117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Iterable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</a:t>
            </a: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IntWritable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values, </a:t>
            </a: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context)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1097" y="3140846"/>
            <a:ext cx="9878809" cy="21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throws</a:t>
            </a:r>
            <a:r>
              <a:rPr lang="en-US" sz="117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IOException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17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InterruptedException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1097" y="3581201"/>
            <a:ext cx="2868028" cy="17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初始化：设置初始最大值为最小可能值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1097" y="3777504"/>
            <a:ext cx="9878809" cy="21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maxValue = </a:t>
            </a:r>
            <a:r>
              <a:rPr lang="en-US" sz="117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Integer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MIN_VALUE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1097" y="4217859"/>
            <a:ext cx="3610796" cy="17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聚合计算：遍历该年份的所有温度值，找出最大值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1097" y="4430078"/>
            <a:ext cx="3791182" cy="17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values 是一个迭代器，只能遍历一次（流式处理）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1097" y="4626381"/>
            <a:ext cx="9878809" cy="21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</a:t>
            </a:r>
            <a:r>
              <a:rPr lang="en-US" sz="117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IntWritable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value : values) {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0872" y="4838601"/>
            <a:ext cx="9709034" cy="21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maxValue = </a:t>
            </a:r>
            <a:r>
              <a:rPr lang="en-US" sz="117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Math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17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(maxValue, value.</a:t>
            </a:r>
            <a:r>
              <a:rPr lang="en-US" sz="117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());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1097" y="5050820"/>
            <a:ext cx="9878809" cy="21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1097" y="5491175"/>
            <a:ext cx="3016582" cy="17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输出结果：将年份和对应的最高温度输出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1097" y="5687478"/>
            <a:ext cx="9878809" cy="21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context.</a:t>
            </a:r>
            <a:r>
              <a:rPr lang="en-US" sz="1170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(key, </a:t>
            </a:r>
            <a:r>
              <a:rPr lang="en-US" sz="1170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newIntWritable</a:t>
            </a: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(maxValue));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1321" y="5899697"/>
            <a:ext cx="10048585" cy="21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1546" y="6111916"/>
            <a:ext cx="10218360" cy="21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7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378189" y="1485535"/>
            <a:ext cx="4456606" cy="3353065"/>
          </a:xfrm>
          <a:custGeom>
            <a:avLst/>
            <a:gdLst/>
            <a:ahLst/>
            <a:cxnLst/>
            <a:rect l="l" t="t" r="r" b="b"/>
            <a:pathLst>
              <a:path w="4456606" h="3353065">
                <a:moveTo>
                  <a:pt x="84900" y="0"/>
                </a:moveTo>
                <a:lnTo>
                  <a:pt x="4371706" y="0"/>
                </a:lnTo>
                <a:cubicBezTo>
                  <a:pt x="4418595" y="0"/>
                  <a:pt x="4456606" y="38011"/>
                  <a:pt x="4456606" y="84900"/>
                </a:cubicBezTo>
                <a:lnTo>
                  <a:pt x="4456606" y="3268166"/>
                </a:lnTo>
                <a:cubicBezTo>
                  <a:pt x="4456606" y="3315054"/>
                  <a:pt x="4418595" y="3353065"/>
                  <a:pt x="4371706" y="3353065"/>
                </a:cubicBezTo>
                <a:lnTo>
                  <a:pt x="84900" y="3353065"/>
                </a:lnTo>
                <a:cubicBezTo>
                  <a:pt x="38011" y="3353065"/>
                  <a:pt x="0" y="3315054"/>
                  <a:pt x="0" y="3268166"/>
                </a:cubicBezTo>
                <a:lnTo>
                  <a:pt x="0" y="84900"/>
                </a:lnTo>
                <a:cubicBezTo>
                  <a:pt x="0" y="38042"/>
                  <a:pt x="38042" y="0"/>
                  <a:pt x="84900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1574492" y="1708366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125342" y="131311"/>
                </a:moveTo>
                <a:cubicBezTo>
                  <a:pt x="161602" y="131311"/>
                  <a:pt x="190997" y="101915"/>
                  <a:pt x="190997" y="65655"/>
                </a:cubicBezTo>
                <a:cubicBezTo>
                  <a:pt x="190997" y="29396"/>
                  <a:pt x="161602" y="0"/>
                  <a:pt x="125342" y="0"/>
                </a:cubicBezTo>
                <a:cubicBezTo>
                  <a:pt x="89082" y="0"/>
                  <a:pt x="59687" y="29396"/>
                  <a:pt x="59687" y="65655"/>
                </a:cubicBezTo>
                <a:cubicBezTo>
                  <a:pt x="59687" y="72631"/>
                  <a:pt x="60769" y="79383"/>
                  <a:pt x="62783" y="85688"/>
                </a:cubicBezTo>
                <a:lnTo>
                  <a:pt x="2611" y="145859"/>
                </a:lnTo>
                <a:cubicBezTo>
                  <a:pt x="933" y="147538"/>
                  <a:pt x="0" y="149814"/>
                  <a:pt x="0" y="152201"/>
                </a:cubicBezTo>
                <a:lnTo>
                  <a:pt x="0" y="182044"/>
                </a:lnTo>
                <a:cubicBezTo>
                  <a:pt x="0" y="187006"/>
                  <a:pt x="3992" y="190997"/>
                  <a:pt x="8953" y="190997"/>
                </a:cubicBezTo>
                <a:lnTo>
                  <a:pt x="38796" y="190997"/>
                </a:lnTo>
                <a:cubicBezTo>
                  <a:pt x="43758" y="190997"/>
                  <a:pt x="47749" y="187006"/>
                  <a:pt x="47749" y="182044"/>
                </a:cubicBezTo>
                <a:lnTo>
                  <a:pt x="47749" y="167123"/>
                </a:lnTo>
                <a:lnTo>
                  <a:pt x="62671" y="167123"/>
                </a:lnTo>
                <a:cubicBezTo>
                  <a:pt x="67632" y="167123"/>
                  <a:pt x="71624" y="163131"/>
                  <a:pt x="71624" y="158170"/>
                </a:cubicBezTo>
                <a:lnTo>
                  <a:pt x="71624" y="143248"/>
                </a:lnTo>
                <a:lnTo>
                  <a:pt x="86546" y="143248"/>
                </a:lnTo>
                <a:cubicBezTo>
                  <a:pt x="88933" y="143248"/>
                  <a:pt x="91209" y="142315"/>
                  <a:pt x="92887" y="140637"/>
                </a:cubicBezTo>
                <a:lnTo>
                  <a:pt x="105310" y="128214"/>
                </a:lnTo>
                <a:cubicBezTo>
                  <a:pt x="111614" y="130229"/>
                  <a:pt x="118366" y="131311"/>
                  <a:pt x="125342" y="131311"/>
                </a:cubicBezTo>
                <a:close/>
                <a:moveTo>
                  <a:pt x="140264" y="35812"/>
                </a:moveTo>
                <a:cubicBezTo>
                  <a:pt x="148499" y="35812"/>
                  <a:pt x="155185" y="42498"/>
                  <a:pt x="155185" y="50734"/>
                </a:cubicBezTo>
                <a:cubicBezTo>
                  <a:pt x="155185" y="58969"/>
                  <a:pt x="148499" y="65655"/>
                  <a:pt x="140264" y="65655"/>
                </a:cubicBezTo>
                <a:cubicBezTo>
                  <a:pt x="132028" y="65655"/>
                  <a:pt x="125342" y="58969"/>
                  <a:pt x="125342" y="50734"/>
                </a:cubicBezTo>
                <a:cubicBezTo>
                  <a:pt x="125342" y="42498"/>
                  <a:pt x="132028" y="35812"/>
                  <a:pt x="140264" y="3581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792016" y="1655311"/>
            <a:ext cx="3968501" cy="297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547964" y="2079749"/>
            <a:ext cx="4117055" cy="806433"/>
          </a:xfrm>
          <a:custGeom>
            <a:avLst/>
            <a:gdLst/>
            <a:ahLst/>
            <a:cxnLst/>
            <a:rect l="l" t="t" r="r" b="b"/>
            <a:pathLst>
              <a:path w="4117055" h="806433">
                <a:moveTo>
                  <a:pt x="84885" y="0"/>
                </a:moveTo>
                <a:lnTo>
                  <a:pt x="4032170" y="0"/>
                </a:lnTo>
                <a:cubicBezTo>
                  <a:pt x="4079050" y="0"/>
                  <a:pt x="4117055" y="38004"/>
                  <a:pt x="4117055" y="84885"/>
                </a:cubicBezTo>
                <a:lnTo>
                  <a:pt x="4117055" y="721548"/>
                </a:lnTo>
                <a:cubicBezTo>
                  <a:pt x="4117055" y="768429"/>
                  <a:pt x="4079050" y="806433"/>
                  <a:pt x="4032170" y="806433"/>
                </a:cubicBezTo>
                <a:lnTo>
                  <a:pt x="84885" y="806433"/>
                </a:lnTo>
                <a:cubicBezTo>
                  <a:pt x="38004" y="806433"/>
                  <a:pt x="0" y="768429"/>
                  <a:pt x="0" y="721548"/>
                </a:cubicBezTo>
                <a:lnTo>
                  <a:pt x="0" y="84885"/>
                </a:lnTo>
                <a:cubicBezTo>
                  <a:pt x="0" y="38036"/>
                  <a:pt x="38036" y="0"/>
                  <a:pt x="848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1675296" y="2207081"/>
            <a:ext cx="3947279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① 继承关系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675296" y="2504188"/>
            <a:ext cx="3947279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继承Reducer类，输入类型与Mapper输出匹配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547964" y="2971070"/>
            <a:ext cx="4117055" cy="806433"/>
          </a:xfrm>
          <a:custGeom>
            <a:avLst/>
            <a:gdLst/>
            <a:ahLst/>
            <a:cxnLst/>
            <a:rect l="l" t="t" r="r" b="b"/>
            <a:pathLst>
              <a:path w="4117055" h="806433">
                <a:moveTo>
                  <a:pt x="84885" y="0"/>
                </a:moveTo>
                <a:lnTo>
                  <a:pt x="4032170" y="0"/>
                </a:lnTo>
                <a:cubicBezTo>
                  <a:pt x="4079050" y="0"/>
                  <a:pt x="4117055" y="38004"/>
                  <a:pt x="4117055" y="84885"/>
                </a:cubicBezTo>
                <a:lnTo>
                  <a:pt x="4117055" y="721548"/>
                </a:lnTo>
                <a:cubicBezTo>
                  <a:pt x="4117055" y="768429"/>
                  <a:pt x="4079050" y="806433"/>
                  <a:pt x="4032170" y="806433"/>
                </a:cubicBezTo>
                <a:lnTo>
                  <a:pt x="84885" y="806433"/>
                </a:lnTo>
                <a:cubicBezTo>
                  <a:pt x="38004" y="806433"/>
                  <a:pt x="0" y="768429"/>
                  <a:pt x="0" y="721548"/>
                </a:cubicBezTo>
                <a:lnTo>
                  <a:pt x="0" y="84885"/>
                </a:lnTo>
                <a:cubicBezTo>
                  <a:pt x="0" y="38036"/>
                  <a:pt x="38036" y="0"/>
                  <a:pt x="848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675296" y="3098402"/>
            <a:ext cx="3947279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② 核心方法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675296" y="3395509"/>
            <a:ext cx="3947279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重写reduce()方法实现聚合逻辑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547964" y="3862392"/>
            <a:ext cx="4117055" cy="806433"/>
          </a:xfrm>
          <a:custGeom>
            <a:avLst/>
            <a:gdLst/>
            <a:ahLst/>
            <a:cxnLst/>
            <a:rect l="l" t="t" r="r" b="b"/>
            <a:pathLst>
              <a:path w="4117055" h="806433">
                <a:moveTo>
                  <a:pt x="84885" y="0"/>
                </a:moveTo>
                <a:lnTo>
                  <a:pt x="4032170" y="0"/>
                </a:lnTo>
                <a:cubicBezTo>
                  <a:pt x="4079050" y="0"/>
                  <a:pt x="4117055" y="38004"/>
                  <a:pt x="4117055" y="84885"/>
                </a:cubicBezTo>
                <a:lnTo>
                  <a:pt x="4117055" y="721548"/>
                </a:lnTo>
                <a:cubicBezTo>
                  <a:pt x="4117055" y="768429"/>
                  <a:pt x="4079050" y="806433"/>
                  <a:pt x="4032170" y="806433"/>
                </a:cubicBezTo>
                <a:lnTo>
                  <a:pt x="84885" y="806433"/>
                </a:lnTo>
                <a:cubicBezTo>
                  <a:pt x="38004" y="806433"/>
                  <a:pt x="0" y="768429"/>
                  <a:pt x="0" y="721548"/>
                </a:cubicBezTo>
                <a:lnTo>
                  <a:pt x="0" y="84885"/>
                </a:lnTo>
                <a:cubicBezTo>
                  <a:pt x="0" y="38036"/>
                  <a:pt x="38036" y="0"/>
                  <a:pt x="8488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1675296" y="3989723"/>
            <a:ext cx="3947279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③ 数据处理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675296" y="4286830"/>
            <a:ext cx="3947279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通过Iterable遍历同一键的所有值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378189" y="5008376"/>
            <a:ext cx="4456606" cy="3628950"/>
          </a:xfrm>
          <a:custGeom>
            <a:avLst/>
            <a:gdLst/>
            <a:ahLst/>
            <a:cxnLst/>
            <a:rect l="l" t="t" r="r" b="b"/>
            <a:pathLst>
              <a:path w="4456606" h="3628950">
                <a:moveTo>
                  <a:pt x="84881" y="0"/>
                </a:moveTo>
                <a:lnTo>
                  <a:pt x="4371725" y="0"/>
                </a:lnTo>
                <a:cubicBezTo>
                  <a:pt x="4418603" y="0"/>
                  <a:pt x="4456606" y="38003"/>
                  <a:pt x="4456606" y="84881"/>
                </a:cubicBezTo>
                <a:lnTo>
                  <a:pt x="4456606" y="3544069"/>
                </a:lnTo>
                <a:cubicBezTo>
                  <a:pt x="4456606" y="3590948"/>
                  <a:pt x="4418603" y="3628950"/>
                  <a:pt x="4371725" y="3628950"/>
                </a:cubicBezTo>
                <a:lnTo>
                  <a:pt x="84881" y="3628950"/>
                </a:lnTo>
                <a:cubicBezTo>
                  <a:pt x="38003" y="3628950"/>
                  <a:pt x="0" y="3590948"/>
                  <a:pt x="0" y="3544069"/>
                </a:cubicBezTo>
                <a:lnTo>
                  <a:pt x="0" y="84881"/>
                </a:lnTo>
                <a:cubicBezTo>
                  <a:pt x="0" y="38003"/>
                  <a:pt x="38003" y="0"/>
                  <a:pt x="84881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1574492" y="5231206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148657" y="4551"/>
                </a:moveTo>
                <a:lnTo>
                  <a:pt x="115755" y="37453"/>
                </a:lnTo>
                <a:lnTo>
                  <a:pt x="153544" y="75243"/>
                </a:lnTo>
                <a:lnTo>
                  <a:pt x="186446" y="42340"/>
                </a:lnTo>
                <a:cubicBezTo>
                  <a:pt x="189356" y="39393"/>
                  <a:pt x="190997" y="35439"/>
                  <a:pt x="190997" y="31336"/>
                </a:cubicBezTo>
                <a:cubicBezTo>
                  <a:pt x="190997" y="27232"/>
                  <a:pt x="189356" y="23278"/>
                  <a:pt x="186446" y="20331"/>
                </a:cubicBezTo>
                <a:lnTo>
                  <a:pt x="170667" y="4551"/>
                </a:lnTo>
                <a:cubicBezTo>
                  <a:pt x="167720" y="1641"/>
                  <a:pt x="163765" y="0"/>
                  <a:pt x="159662" y="0"/>
                </a:cubicBezTo>
                <a:cubicBezTo>
                  <a:pt x="155558" y="0"/>
                  <a:pt x="151604" y="1641"/>
                  <a:pt x="148657" y="4551"/>
                </a:cubicBezTo>
                <a:close/>
                <a:moveTo>
                  <a:pt x="103109" y="50100"/>
                </a:moveTo>
                <a:lnTo>
                  <a:pt x="4551" y="148657"/>
                </a:lnTo>
                <a:cubicBezTo>
                  <a:pt x="1641" y="151604"/>
                  <a:pt x="0" y="155558"/>
                  <a:pt x="0" y="159662"/>
                </a:cubicBezTo>
                <a:cubicBezTo>
                  <a:pt x="0" y="163765"/>
                  <a:pt x="1641" y="167720"/>
                  <a:pt x="4551" y="170667"/>
                </a:cubicBezTo>
                <a:lnTo>
                  <a:pt x="20331" y="186446"/>
                </a:lnTo>
                <a:cubicBezTo>
                  <a:pt x="23278" y="189356"/>
                  <a:pt x="27232" y="190997"/>
                  <a:pt x="31336" y="190997"/>
                </a:cubicBezTo>
                <a:cubicBezTo>
                  <a:pt x="35439" y="190997"/>
                  <a:pt x="39393" y="189356"/>
                  <a:pt x="42340" y="186446"/>
                </a:cubicBezTo>
                <a:lnTo>
                  <a:pt x="140898" y="87889"/>
                </a:lnTo>
                <a:lnTo>
                  <a:pt x="103109" y="5010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792016" y="5178151"/>
            <a:ext cx="3968501" cy="297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Combiner 特性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547964" y="5602590"/>
            <a:ext cx="4117055" cy="870099"/>
          </a:xfrm>
          <a:custGeom>
            <a:avLst/>
            <a:gdLst/>
            <a:ahLst/>
            <a:cxnLst/>
            <a:rect l="l" t="t" r="r" b="b"/>
            <a:pathLst>
              <a:path w="4117055" h="870099">
                <a:moveTo>
                  <a:pt x="84887" y="0"/>
                </a:moveTo>
                <a:lnTo>
                  <a:pt x="4032168" y="0"/>
                </a:lnTo>
                <a:cubicBezTo>
                  <a:pt x="4079050" y="0"/>
                  <a:pt x="4117055" y="38005"/>
                  <a:pt x="4117055" y="84887"/>
                </a:cubicBezTo>
                <a:lnTo>
                  <a:pt x="4117055" y="785212"/>
                </a:lnTo>
                <a:cubicBezTo>
                  <a:pt x="4117055" y="832094"/>
                  <a:pt x="4079050" y="870099"/>
                  <a:pt x="4032168" y="870099"/>
                </a:cubicBezTo>
                <a:lnTo>
                  <a:pt x="84887" y="870099"/>
                </a:lnTo>
                <a:cubicBezTo>
                  <a:pt x="38005" y="870099"/>
                  <a:pt x="0" y="832094"/>
                  <a:pt x="0" y="785212"/>
                </a:cubicBezTo>
                <a:lnTo>
                  <a:pt x="0" y="84887"/>
                </a:lnTo>
                <a:cubicBezTo>
                  <a:pt x="0" y="38037"/>
                  <a:pt x="38037" y="0"/>
                  <a:pt x="84887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1675296" y="5729922"/>
            <a:ext cx="3947279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为什么可以用同一个类？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675296" y="6069473"/>
            <a:ext cx="3947279" cy="275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7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因为</a:t>
            </a:r>
            <a:r>
              <a:rPr lang="en-US" sz="133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求最大值操作满足结合律</a:t>
            </a:r>
            <a:r>
              <a:rPr lang="en-US" sz="1337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547964" y="6600021"/>
            <a:ext cx="4117055" cy="1230872"/>
          </a:xfrm>
          <a:custGeom>
            <a:avLst/>
            <a:gdLst/>
            <a:ahLst/>
            <a:cxnLst/>
            <a:rect l="l" t="t" r="r" b="b"/>
            <a:pathLst>
              <a:path w="4117055" h="1230872">
                <a:moveTo>
                  <a:pt x="84893" y="0"/>
                </a:moveTo>
                <a:lnTo>
                  <a:pt x="4032162" y="0"/>
                </a:lnTo>
                <a:cubicBezTo>
                  <a:pt x="4079047" y="0"/>
                  <a:pt x="4117055" y="38008"/>
                  <a:pt x="4117055" y="84893"/>
                </a:cubicBezTo>
                <a:lnTo>
                  <a:pt x="4117055" y="1145979"/>
                </a:lnTo>
                <a:cubicBezTo>
                  <a:pt x="4117055" y="1192864"/>
                  <a:pt x="4079047" y="1230872"/>
                  <a:pt x="4032162" y="1230872"/>
                </a:cubicBezTo>
                <a:lnTo>
                  <a:pt x="84893" y="1230872"/>
                </a:lnTo>
                <a:cubicBezTo>
                  <a:pt x="38008" y="1230872"/>
                  <a:pt x="0" y="1192864"/>
                  <a:pt x="0" y="1145979"/>
                </a:cubicBezTo>
                <a:lnTo>
                  <a:pt x="0" y="84893"/>
                </a:lnTo>
                <a:cubicBezTo>
                  <a:pt x="0" y="38039"/>
                  <a:pt x="38039" y="0"/>
                  <a:pt x="848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632852" y="6727352"/>
            <a:ext cx="3947279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max(max(a,b), max(c,d))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622241" y="7066903"/>
            <a:ext cx="3968501" cy="297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71" dirty="0">
                <a:solidFill>
                  <a:srgbClr val="3D8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632852" y="7448898"/>
            <a:ext cx="3947279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max(a,b,c,d)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547964" y="7958225"/>
            <a:ext cx="4117055" cy="509326"/>
          </a:xfrm>
          <a:custGeom>
            <a:avLst/>
            <a:gdLst/>
            <a:ahLst/>
            <a:cxnLst/>
            <a:rect l="l" t="t" r="r" b="b"/>
            <a:pathLst>
              <a:path w="4117055" h="509326">
                <a:moveTo>
                  <a:pt x="84889" y="0"/>
                </a:moveTo>
                <a:lnTo>
                  <a:pt x="4032165" y="0"/>
                </a:lnTo>
                <a:cubicBezTo>
                  <a:pt x="4079049" y="0"/>
                  <a:pt x="4117055" y="38006"/>
                  <a:pt x="4117055" y="84889"/>
                </a:cubicBezTo>
                <a:lnTo>
                  <a:pt x="4117055" y="424437"/>
                </a:lnTo>
                <a:cubicBezTo>
                  <a:pt x="4117055" y="471320"/>
                  <a:pt x="4079049" y="509326"/>
                  <a:pt x="4032165" y="509326"/>
                </a:cubicBezTo>
                <a:lnTo>
                  <a:pt x="84889" y="509326"/>
                </a:lnTo>
                <a:cubicBezTo>
                  <a:pt x="38006" y="509326"/>
                  <a:pt x="0" y="471320"/>
                  <a:pt x="0" y="424437"/>
                </a:cubicBezTo>
                <a:lnTo>
                  <a:pt x="0" y="84889"/>
                </a:lnTo>
                <a:cubicBezTo>
                  <a:pt x="0" y="38006"/>
                  <a:pt x="38006" y="0"/>
                  <a:pt x="84889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632852" y="8085556"/>
            <a:ext cx="3947279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性能提升：</a:t>
            </a:r>
            <a:r>
              <a:rPr lang="en-US" sz="1337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在Map端进行本地聚合，减少网络传输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902" y="488902"/>
            <a:ext cx="1536375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b="1" kern="0" spc="135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05 · Driver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88902" y="831134"/>
            <a:ext cx="15498202" cy="488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6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程序：作业的指挥官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8902" y="1466707"/>
            <a:ext cx="1368926" cy="48890"/>
          </a:xfrm>
          <a:custGeom>
            <a:avLst/>
            <a:gdLst/>
            <a:ahLst/>
            <a:cxnLst/>
            <a:rect l="l" t="t" r="r" b="b"/>
            <a:pathLst>
              <a:path w="1368926" h="48890">
                <a:moveTo>
                  <a:pt x="0" y="0"/>
                </a:moveTo>
                <a:lnTo>
                  <a:pt x="1368926" y="0"/>
                </a:lnTo>
                <a:lnTo>
                  <a:pt x="1368926" y="48890"/>
                </a:lnTo>
                <a:lnTo>
                  <a:pt x="0" y="48890"/>
                </a:lnTo>
                <a:lnTo>
                  <a:pt x="0" y="0"/>
                </a:ln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88902" y="1639718"/>
            <a:ext cx="9179140" cy="7382424"/>
          </a:xfrm>
          <a:custGeom>
            <a:avLst/>
            <a:gdLst/>
            <a:ahLst/>
            <a:cxnLst/>
            <a:rect l="l" t="t" r="r" b="b"/>
            <a:pathLst>
              <a:path w="9179140" h="6600180">
                <a:moveTo>
                  <a:pt x="97749" y="0"/>
                </a:moveTo>
                <a:lnTo>
                  <a:pt x="9081391" y="0"/>
                </a:lnTo>
                <a:cubicBezTo>
                  <a:pt x="9135376" y="0"/>
                  <a:pt x="9179140" y="43764"/>
                  <a:pt x="9179140" y="97749"/>
                </a:cubicBezTo>
                <a:lnTo>
                  <a:pt x="9179140" y="6502432"/>
                </a:lnTo>
                <a:cubicBezTo>
                  <a:pt x="9179140" y="6556417"/>
                  <a:pt x="9135376" y="6600180"/>
                  <a:pt x="9081391" y="6600180"/>
                </a:cubicBezTo>
                <a:lnTo>
                  <a:pt x="97749" y="6600180"/>
                </a:lnTo>
                <a:cubicBezTo>
                  <a:pt x="43764" y="6600180"/>
                  <a:pt x="0" y="6556417"/>
                  <a:pt x="0" y="6502432"/>
                </a:cubicBezTo>
                <a:lnTo>
                  <a:pt x="0" y="97749"/>
                </a:lnTo>
                <a:cubicBezTo>
                  <a:pt x="0" y="43800"/>
                  <a:pt x="43800" y="0"/>
                  <a:pt x="97749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84463" y="1835279"/>
            <a:ext cx="8788018" cy="7089083"/>
          </a:xfrm>
          <a:custGeom>
            <a:avLst/>
            <a:gdLst/>
            <a:ahLst/>
            <a:cxnLst/>
            <a:rect l="l" t="t" r="r" b="b"/>
            <a:pathLst>
              <a:path w="8788018" h="6209059">
                <a:moveTo>
                  <a:pt x="97793" y="0"/>
                </a:moveTo>
                <a:lnTo>
                  <a:pt x="8690225" y="0"/>
                </a:lnTo>
                <a:cubicBezTo>
                  <a:pt x="8744235" y="0"/>
                  <a:pt x="8788018" y="43783"/>
                  <a:pt x="8788018" y="97793"/>
                </a:cubicBezTo>
                <a:lnTo>
                  <a:pt x="8788018" y="6111266"/>
                </a:lnTo>
                <a:cubicBezTo>
                  <a:pt x="8788018" y="6165275"/>
                  <a:pt x="8744235" y="6209059"/>
                  <a:pt x="8690225" y="6209059"/>
                </a:cubicBezTo>
                <a:lnTo>
                  <a:pt x="97793" y="6209059"/>
                </a:lnTo>
                <a:cubicBezTo>
                  <a:pt x="43783" y="6209059"/>
                  <a:pt x="0" y="6165275"/>
                  <a:pt x="0" y="6111266"/>
                </a:cubicBezTo>
                <a:lnTo>
                  <a:pt x="0" y="97793"/>
                </a:lnTo>
                <a:cubicBezTo>
                  <a:pt x="0" y="43819"/>
                  <a:pt x="43819" y="0"/>
                  <a:pt x="9779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31134" y="1896221"/>
            <a:ext cx="8580235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MaxTemperature.java - Driver程序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1134" y="2124149"/>
            <a:ext cx="8580235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class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MaxTemperature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6695" y="2359919"/>
            <a:ext cx="4471737" cy="20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程序入口：main方法是整个MapReduce程序的启动点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6695" y="2586036"/>
            <a:ext cx="8384674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 static void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[] args) 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throws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Exception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2256" y="2864669"/>
            <a:ext cx="3303623" cy="20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参数验证：确保提供了正确数量的参数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2256" y="3090786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(args.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length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!= 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{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817" y="3335237"/>
            <a:ext cx="7993552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 err="1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</a:t>
            </a:r>
            <a:r>
              <a:rPr lang="en-US" sz="1347" dirty="0" err="1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 err="1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</a:t>
            </a:r>
            <a:r>
              <a:rPr lang="en-US" sz="1347" dirty="0" err="1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 err="1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println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"Usage: </a:t>
            </a:r>
            <a:r>
              <a:rPr lang="en-US" sz="1347" dirty="0" err="1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MaxTemperature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817" y="3579688"/>
            <a:ext cx="7993552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exit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(-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22256" y="3824139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2256" y="4117055"/>
            <a:ext cx="2893308" cy="20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步骤1：创建配置对象和作业实例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22256" y="4343173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Configuration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conf = 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newConfiguration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22256" y="4587624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job = 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getInstance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(conf, 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"max temperature"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22256" y="4837682"/>
            <a:ext cx="3476458" cy="20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步骤2：设置主类（包含main方法的类）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2256" y="5063799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setJarByClass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MaxTemperature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2256" y="5342432"/>
            <a:ext cx="3034727" cy="20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步骤3：设置Mapper和Reducer类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22256" y="5568549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setMapperClass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MaxTemperatureMapper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22256" y="5813001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setCombinerClass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MaxTemperatureReducer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 </a:t>
            </a: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性能优化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22256" y="6057452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setReducerClass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MaxTemperatureReducer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2256" y="6336084"/>
            <a:ext cx="2379961" cy="20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步骤4：设置输出数据类型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22256" y="6562201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setOutputKeyClass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22256" y="6806652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setOutputValueClass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IntWritable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22256" y="7085285"/>
            <a:ext cx="2379961" cy="20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步骤5：设置输入输出路径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22256" y="7311403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FileInputFormat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addInputPath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(job, 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(args[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]));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22256" y="7555854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FileOutputFormat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setOutputPath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(job, 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(args[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]));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22256" y="7805912"/>
            <a:ext cx="2551077" cy="20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步骤6：提交作业并等待完成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22256" y="8032029"/>
            <a:ext cx="81891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exit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(job.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waitForCompletion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134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? 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</a:t>
            </a:r>
            <a:r>
              <a:rPr lang="en-US" sz="1347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6695" y="8276480"/>
            <a:ext cx="8384674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1134" y="8549509"/>
            <a:ext cx="8580235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908387" y="1639718"/>
            <a:ext cx="5854605" cy="5769047"/>
          </a:xfrm>
          <a:custGeom>
            <a:avLst/>
            <a:gdLst/>
            <a:ahLst/>
            <a:cxnLst/>
            <a:rect l="l" t="t" r="r" b="b"/>
            <a:pathLst>
              <a:path w="5854605" h="5769047">
                <a:moveTo>
                  <a:pt x="97785" y="0"/>
                </a:moveTo>
                <a:lnTo>
                  <a:pt x="5756819" y="0"/>
                </a:lnTo>
                <a:cubicBezTo>
                  <a:pt x="5810825" y="0"/>
                  <a:pt x="5854605" y="43780"/>
                  <a:pt x="5854605" y="97785"/>
                </a:cubicBezTo>
                <a:lnTo>
                  <a:pt x="5854605" y="5671261"/>
                </a:lnTo>
                <a:cubicBezTo>
                  <a:pt x="5854605" y="5725267"/>
                  <a:pt x="5810825" y="5769047"/>
                  <a:pt x="5756819" y="5769047"/>
                </a:cubicBezTo>
                <a:lnTo>
                  <a:pt x="97785" y="5769047"/>
                </a:lnTo>
                <a:cubicBezTo>
                  <a:pt x="43780" y="5769047"/>
                  <a:pt x="0" y="5725267"/>
                  <a:pt x="0" y="5671261"/>
                </a:cubicBezTo>
                <a:lnTo>
                  <a:pt x="0" y="97785"/>
                </a:lnTo>
                <a:cubicBezTo>
                  <a:pt x="0" y="43816"/>
                  <a:pt x="43816" y="0"/>
                  <a:pt x="97785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0134505" y="1896392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0" y="30938"/>
                </a:moveTo>
                <a:cubicBezTo>
                  <a:pt x="0" y="25266"/>
                  <a:pt x="4598" y="20626"/>
                  <a:pt x="10313" y="20626"/>
                </a:cubicBezTo>
                <a:lnTo>
                  <a:pt x="30938" y="20626"/>
                </a:lnTo>
                <a:cubicBezTo>
                  <a:pt x="36653" y="20626"/>
                  <a:pt x="41251" y="25223"/>
                  <a:pt x="41251" y="30938"/>
                </a:cubicBezTo>
                <a:lnTo>
                  <a:pt x="41251" y="75627"/>
                </a:lnTo>
                <a:lnTo>
                  <a:pt x="51564" y="75627"/>
                </a:lnTo>
                <a:cubicBezTo>
                  <a:pt x="57279" y="75627"/>
                  <a:pt x="61877" y="80225"/>
                  <a:pt x="61877" y="85940"/>
                </a:cubicBezTo>
                <a:cubicBezTo>
                  <a:pt x="61877" y="91655"/>
                  <a:pt x="57279" y="96253"/>
                  <a:pt x="51564" y="96253"/>
                </a:cubicBezTo>
                <a:lnTo>
                  <a:pt x="10313" y="96253"/>
                </a:lnTo>
                <a:cubicBezTo>
                  <a:pt x="4598" y="96253"/>
                  <a:pt x="0" y="91655"/>
                  <a:pt x="0" y="85940"/>
                </a:cubicBezTo>
                <a:cubicBezTo>
                  <a:pt x="0" y="80225"/>
                  <a:pt x="4598" y="75627"/>
                  <a:pt x="10313" y="75627"/>
                </a:cubicBezTo>
                <a:lnTo>
                  <a:pt x="20626" y="75627"/>
                </a:lnTo>
                <a:lnTo>
                  <a:pt x="20626" y="41251"/>
                </a:lnTo>
                <a:lnTo>
                  <a:pt x="10313" y="41251"/>
                </a:lnTo>
                <a:cubicBezTo>
                  <a:pt x="4598" y="41251"/>
                  <a:pt x="0" y="36653"/>
                  <a:pt x="0" y="30938"/>
                </a:cubicBezTo>
                <a:close/>
                <a:moveTo>
                  <a:pt x="13063" y="129425"/>
                </a:moveTo>
                <a:cubicBezTo>
                  <a:pt x="17961" y="125730"/>
                  <a:pt x="23934" y="123753"/>
                  <a:pt x="30079" y="123753"/>
                </a:cubicBezTo>
                <a:lnTo>
                  <a:pt x="32184" y="123753"/>
                </a:lnTo>
                <a:cubicBezTo>
                  <a:pt x="46665" y="123753"/>
                  <a:pt x="58439" y="135527"/>
                  <a:pt x="58439" y="150008"/>
                </a:cubicBezTo>
                <a:cubicBezTo>
                  <a:pt x="58439" y="158430"/>
                  <a:pt x="54400" y="166294"/>
                  <a:pt x="47611" y="171235"/>
                </a:cubicBezTo>
                <a:lnTo>
                  <a:pt x="37298" y="178755"/>
                </a:lnTo>
                <a:lnTo>
                  <a:pt x="51564" y="178755"/>
                </a:lnTo>
                <a:cubicBezTo>
                  <a:pt x="57279" y="178755"/>
                  <a:pt x="61877" y="183353"/>
                  <a:pt x="61877" y="189068"/>
                </a:cubicBezTo>
                <a:cubicBezTo>
                  <a:pt x="61877" y="194783"/>
                  <a:pt x="57279" y="199380"/>
                  <a:pt x="51564" y="199380"/>
                </a:cubicBezTo>
                <a:lnTo>
                  <a:pt x="12590" y="199380"/>
                </a:lnTo>
                <a:cubicBezTo>
                  <a:pt x="5629" y="199380"/>
                  <a:pt x="0" y="193751"/>
                  <a:pt x="0" y="186790"/>
                </a:cubicBezTo>
                <a:cubicBezTo>
                  <a:pt x="0" y="182751"/>
                  <a:pt x="1934" y="178970"/>
                  <a:pt x="5199" y="176606"/>
                </a:cubicBezTo>
                <a:lnTo>
                  <a:pt x="35493" y="154563"/>
                </a:lnTo>
                <a:cubicBezTo>
                  <a:pt x="36954" y="153489"/>
                  <a:pt x="37814" y="151813"/>
                  <a:pt x="37814" y="150008"/>
                </a:cubicBezTo>
                <a:cubicBezTo>
                  <a:pt x="37814" y="146914"/>
                  <a:pt x="35278" y="144379"/>
                  <a:pt x="32184" y="144379"/>
                </a:cubicBezTo>
                <a:lnTo>
                  <a:pt x="30079" y="144379"/>
                </a:lnTo>
                <a:cubicBezTo>
                  <a:pt x="28403" y="144379"/>
                  <a:pt x="26770" y="144938"/>
                  <a:pt x="25438" y="145926"/>
                </a:cubicBezTo>
                <a:lnTo>
                  <a:pt x="16500" y="152629"/>
                </a:lnTo>
                <a:cubicBezTo>
                  <a:pt x="11946" y="156067"/>
                  <a:pt x="5500" y="155121"/>
                  <a:pt x="2063" y="150567"/>
                </a:cubicBezTo>
                <a:cubicBezTo>
                  <a:pt x="-1375" y="146012"/>
                  <a:pt x="-430" y="139566"/>
                  <a:pt x="4125" y="136129"/>
                </a:cubicBezTo>
                <a:lnTo>
                  <a:pt x="13063" y="129425"/>
                </a:lnTo>
                <a:close/>
                <a:moveTo>
                  <a:pt x="96253" y="27501"/>
                </a:moveTo>
                <a:lnTo>
                  <a:pt x="206256" y="27501"/>
                </a:lnTo>
                <a:cubicBezTo>
                  <a:pt x="213861" y="27501"/>
                  <a:pt x="220006" y="33645"/>
                  <a:pt x="220006" y="41251"/>
                </a:cubicBezTo>
                <a:cubicBezTo>
                  <a:pt x="220006" y="48857"/>
                  <a:pt x="213861" y="55002"/>
                  <a:pt x="206256" y="55002"/>
                </a:cubicBezTo>
                <a:lnTo>
                  <a:pt x="96253" y="55002"/>
                </a:lnTo>
                <a:cubicBezTo>
                  <a:pt x="88647" y="55002"/>
                  <a:pt x="82502" y="48857"/>
                  <a:pt x="82502" y="41251"/>
                </a:cubicBezTo>
                <a:cubicBezTo>
                  <a:pt x="82502" y="33645"/>
                  <a:pt x="88647" y="27501"/>
                  <a:pt x="96253" y="27501"/>
                </a:cubicBezTo>
                <a:close/>
                <a:moveTo>
                  <a:pt x="96253" y="96253"/>
                </a:moveTo>
                <a:lnTo>
                  <a:pt x="206256" y="96253"/>
                </a:lnTo>
                <a:cubicBezTo>
                  <a:pt x="213861" y="96253"/>
                  <a:pt x="220006" y="102397"/>
                  <a:pt x="220006" y="110003"/>
                </a:cubicBezTo>
                <a:cubicBezTo>
                  <a:pt x="220006" y="117609"/>
                  <a:pt x="213861" y="123753"/>
                  <a:pt x="206256" y="123753"/>
                </a:cubicBezTo>
                <a:lnTo>
                  <a:pt x="96253" y="123753"/>
                </a:lnTo>
                <a:cubicBezTo>
                  <a:pt x="88647" y="123753"/>
                  <a:pt x="82502" y="117609"/>
                  <a:pt x="82502" y="110003"/>
                </a:cubicBezTo>
                <a:cubicBezTo>
                  <a:pt x="82502" y="102397"/>
                  <a:pt x="88647" y="96253"/>
                  <a:pt x="96253" y="96253"/>
                </a:cubicBezTo>
                <a:close/>
                <a:moveTo>
                  <a:pt x="96253" y="165005"/>
                </a:moveTo>
                <a:lnTo>
                  <a:pt x="206256" y="165005"/>
                </a:lnTo>
                <a:cubicBezTo>
                  <a:pt x="213861" y="165005"/>
                  <a:pt x="220006" y="171149"/>
                  <a:pt x="220006" y="178755"/>
                </a:cubicBezTo>
                <a:cubicBezTo>
                  <a:pt x="220006" y="186361"/>
                  <a:pt x="213861" y="192505"/>
                  <a:pt x="206256" y="192505"/>
                </a:cubicBezTo>
                <a:lnTo>
                  <a:pt x="96253" y="192505"/>
                </a:lnTo>
                <a:cubicBezTo>
                  <a:pt x="88647" y="192505"/>
                  <a:pt x="82502" y="186361"/>
                  <a:pt x="82502" y="178755"/>
                </a:cubicBezTo>
                <a:cubicBezTo>
                  <a:pt x="82502" y="171149"/>
                  <a:pt x="88647" y="165005"/>
                  <a:pt x="96253" y="16500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385067" y="1835279"/>
            <a:ext cx="5292367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配置步骤详解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103948" y="2324181"/>
            <a:ext cx="5463483" cy="733353"/>
          </a:xfrm>
          <a:custGeom>
            <a:avLst/>
            <a:gdLst/>
            <a:ahLst/>
            <a:cxnLst/>
            <a:rect l="l" t="t" r="r" b="b"/>
            <a:pathLst>
              <a:path w="5463483" h="733353">
                <a:moveTo>
                  <a:pt x="97778" y="0"/>
                </a:moveTo>
                <a:lnTo>
                  <a:pt x="5365705" y="0"/>
                </a:lnTo>
                <a:cubicBezTo>
                  <a:pt x="5419706" y="0"/>
                  <a:pt x="5463483" y="43777"/>
                  <a:pt x="5463483" y="97778"/>
                </a:cubicBezTo>
                <a:lnTo>
                  <a:pt x="5463483" y="635575"/>
                </a:lnTo>
                <a:cubicBezTo>
                  <a:pt x="5463483" y="689577"/>
                  <a:pt x="5419706" y="733353"/>
                  <a:pt x="5365705" y="733353"/>
                </a:cubicBezTo>
                <a:lnTo>
                  <a:pt x="97778" y="733353"/>
                </a:lnTo>
                <a:cubicBezTo>
                  <a:pt x="43813" y="733353"/>
                  <a:pt x="0" y="689541"/>
                  <a:pt x="0" y="635575"/>
                </a:cubicBezTo>
                <a:lnTo>
                  <a:pt x="0" y="97778"/>
                </a:lnTo>
                <a:cubicBezTo>
                  <a:pt x="0" y="43813"/>
                  <a:pt x="43813" y="0"/>
                  <a:pt x="9777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201729" y="2421962"/>
            <a:ext cx="171116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376377" y="2421962"/>
            <a:ext cx="332453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创建配置和作业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376377" y="2715303"/>
            <a:ext cx="3312313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Configuration conf = new Configuration()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103948" y="3155315"/>
            <a:ext cx="5463483" cy="733353"/>
          </a:xfrm>
          <a:custGeom>
            <a:avLst/>
            <a:gdLst/>
            <a:ahLst/>
            <a:cxnLst/>
            <a:rect l="l" t="t" r="r" b="b"/>
            <a:pathLst>
              <a:path w="5463483" h="733353">
                <a:moveTo>
                  <a:pt x="97778" y="0"/>
                </a:moveTo>
                <a:lnTo>
                  <a:pt x="5365705" y="0"/>
                </a:lnTo>
                <a:cubicBezTo>
                  <a:pt x="5419706" y="0"/>
                  <a:pt x="5463483" y="43777"/>
                  <a:pt x="5463483" y="97778"/>
                </a:cubicBezTo>
                <a:lnTo>
                  <a:pt x="5463483" y="635575"/>
                </a:lnTo>
                <a:cubicBezTo>
                  <a:pt x="5463483" y="689577"/>
                  <a:pt x="5419706" y="733353"/>
                  <a:pt x="5365705" y="733353"/>
                </a:cubicBezTo>
                <a:lnTo>
                  <a:pt x="97778" y="733353"/>
                </a:lnTo>
                <a:cubicBezTo>
                  <a:pt x="43813" y="733353"/>
                  <a:pt x="0" y="689541"/>
                  <a:pt x="0" y="635575"/>
                </a:cubicBezTo>
                <a:lnTo>
                  <a:pt x="0" y="97778"/>
                </a:lnTo>
                <a:cubicBezTo>
                  <a:pt x="0" y="43813"/>
                  <a:pt x="43813" y="0"/>
                  <a:pt x="9777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0201729" y="3253095"/>
            <a:ext cx="207783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409417" y="3253095"/>
            <a:ext cx="3336758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设置主类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09417" y="3546437"/>
            <a:ext cx="3324535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job.setJarByClass(MaxTemperature.class)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103948" y="3986449"/>
            <a:ext cx="5463483" cy="733353"/>
          </a:xfrm>
          <a:custGeom>
            <a:avLst/>
            <a:gdLst/>
            <a:ahLst/>
            <a:cxnLst/>
            <a:rect l="l" t="t" r="r" b="b"/>
            <a:pathLst>
              <a:path w="5463483" h="733353">
                <a:moveTo>
                  <a:pt x="97778" y="0"/>
                </a:moveTo>
                <a:lnTo>
                  <a:pt x="5365705" y="0"/>
                </a:lnTo>
                <a:cubicBezTo>
                  <a:pt x="5419706" y="0"/>
                  <a:pt x="5463483" y="43777"/>
                  <a:pt x="5463483" y="97778"/>
                </a:cubicBezTo>
                <a:lnTo>
                  <a:pt x="5463483" y="635575"/>
                </a:lnTo>
                <a:cubicBezTo>
                  <a:pt x="5463483" y="689577"/>
                  <a:pt x="5419706" y="733353"/>
                  <a:pt x="5365705" y="733353"/>
                </a:cubicBezTo>
                <a:lnTo>
                  <a:pt x="97778" y="733353"/>
                </a:lnTo>
                <a:cubicBezTo>
                  <a:pt x="43813" y="733353"/>
                  <a:pt x="0" y="689541"/>
                  <a:pt x="0" y="635575"/>
                </a:cubicBezTo>
                <a:lnTo>
                  <a:pt x="0" y="97778"/>
                </a:lnTo>
                <a:cubicBezTo>
                  <a:pt x="0" y="43813"/>
                  <a:pt x="43813" y="0"/>
                  <a:pt x="9777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0201729" y="4084229"/>
            <a:ext cx="207783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414573" y="4084229"/>
            <a:ext cx="2957859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设置组件类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414573" y="4377571"/>
            <a:ext cx="2945636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setMapperClass(), setReducerClass()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103948" y="4817583"/>
            <a:ext cx="5463483" cy="733353"/>
          </a:xfrm>
          <a:custGeom>
            <a:avLst/>
            <a:gdLst/>
            <a:ahLst/>
            <a:cxnLst/>
            <a:rect l="l" t="t" r="r" b="b"/>
            <a:pathLst>
              <a:path w="5463483" h="733353">
                <a:moveTo>
                  <a:pt x="97778" y="0"/>
                </a:moveTo>
                <a:lnTo>
                  <a:pt x="5365705" y="0"/>
                </a:lnTo>
                <a:cubicBezTo>
                  <a:pt x="5419706" y="0"/>
                  <a:pt x="5463483" y="43777"/>
                  <a:pt x="5463483" y="97778"/>
                </a:cubicBezTo>
                <a:lnTo>
                  <a:pt x="5463483" y="635575"/>
                </a:lnTo>
                <a:cubicBezTo>
                  <a:pt x="5463483" y="689577"/>
                  <a:pt x="5419706" y="733353"/>
                  <a:pt x="5365705" y="733353"/>
                </a:cubicBezTo>
                <a:lnTo>
                  <a:pt x="97778" y="733353"/>
                </a:lnTo>
                <a:cubicBezTo>
                  <a:pt x="43813" y="733353"/>
                  <a:pt x="0" y="689541"/>
                  <a:pt x="0" y="635575"/>
                </a:cubicBezTo>
                <a:lnTo>
                  <a:pt x="0" y="97778"/>
                </a:lnTo>
                <a:cubicBezTo>
                  <a:pt x="0" y="43813"/>
                  <a:pt x="43813" y="0"/>
                  <a:pt x="9777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0201729" y="4915363"/>
            <a:ext cx="207783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414191" y="4915363"/>
            <a:ext cx="3532319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设置数据类型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414191" y="5208704"/>
            <a:ext cx="3520096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setOutputKeyClass(), setOutputValueClass()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103948" y="5648716"/>
            <a:ext cx="5463483" cy="733353"/>
          </a:xfrm>
          <a:custGeom>
            <a:avLst/>
            <a:gdLst/>
            <a:ahLst/>
            <a:cxnLst/>
            <a:rect l="l" t="t" r="r" b="b"/>
            <a:pathLst>
              <a:path w="5463483" h="733353">
                <a:moveTo>
                  <a:pt x="97778" y="0"/>
                </a:moveTo>
                <a:lnTo>
                  <a:pt x="5365705" y="0"/>
                </a:lnTo>
                <a:cubicBezTo>
                  <a:pt x="5419706" y="0"/>
                  <a:pt x="5463483" y="43777"/>
                  <a:pt x="5463483" y="97778"/>
                </a:cubicBezTo>
                <a:lnTo>
                  <a:pt x="5463483" y="635575"/>
                </a:lnTo>
                <a:cubicBezTo>
                  <a:pt x="5463483" y="689577"/>
                  <a:pt x="5419706" y="733353"/>
                  <a:pt x="5365705" y="733353"/>
                </a:cubicBezTo>
                <a:lnTo>
                  <a:pt x="97778" y="733353"/>
                </a:lnTo>
                <a:cubicBezTo>
                  <a:pt x="43813" y="733353"/>
                  <a:pt x="0" y="689541"/>
                  <a:pt x="0" y="635575"/>
                </a:cubicBezTo>
                <a:lnTo>
                  <a:pt x="0" y="97778"/>
                </a:lnTo>
                <a:cubicBezTo>
                  <a:pt x="0" y="43813"/>
                  <a:pt x="43813" y="0"/>
                  <a:pt x="9777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0201729" y="5746497"/>
            <a:ext cx="220006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416292" y="5746497"/>
            <a:ext cx="2591182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设置路径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416292" y="6039838"/>
            <a:ext cx="2578959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addInputPath(), setOutputPath()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103948" y="6479850"/>
            <a:ext cx="5463483" cy="733353"/>
          </a:xfrm>
          <a:custGeom>
            <a:avLst/>
            <a:gdLst/>
            <a:ahLst/>
            <a:cxnLst/>
            <a:rect l="l" t="t" r="r" b="b"/>
            <a:pathLst>
              <a:path w="5463483" h="733353">
                <a:moveTo>
                  <a:pt x="97778" y="0"/>
                </a:moveTo>
                <a:lnTo>
                  <a:pt x="5365705" y="0"/>
                </a:lnTo>
                <a:cubicBezTo>
                  <a:pt x="5419706" y="0"/>
                  <a:pt x="5463483" y="43777"/>
                  <a:pt x="5463483" y="97778"/>
                </a:cubicBezTo>
                <a:lnTo>
                  <a:pt x="5463483" y="635575"/>
                </a:lnTo>
                <a:cubicBezTo>
                  <a:pt x="5463483" y="689577"/>
                  <a:pt x="5419706" y="733353"/>
                  <a:pt x="5365705" y="733353"/>
                </a:cubicBezTo>
                <a:lnTo>
                  <a:pt x="97778" y="733353"/>
                </a:lnTo>
                <a:cubicBezTo>
                  <a:pt x="43813" y="733353"/>
                  <a:pt x="0" y="689541"/>
                  <a:pt x="0" y="635575"/>
                </a:cubicBezTo>
                <a:lnTo>
                  <a:pt x="0" y="97778"/>
                </a:lnTo>
                <a:cubicBezTo>
                  <a:pt x="0" y="43813"/>
                  <a:pt x="43813" y="0"/>
                  <a:pt x="97778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0201729" y="6577631"/>
            <a:ext cx="220006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3D8F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417056" y="6577631"/>
            <a:ext cx="2297841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提交作业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417056" y="6870972"/>
            <a:ext cx="228561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7A7D8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job.waitForCompletion(true)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908387" y="7555435"/>
            <a:ext cx="5854605" cy="1515597"/>
          </a:xfrm>
          <a:custGeom>
            <a:avLst/>
            <a:gdLst/>
            <a:ahLst/>
            <a:cxnLst/>
            <a:rect l="l" t="t" r="r" b="b"/>
            <a:pathLst>
              <a:path w="5854605" h="1515597">
                <a:moveTo>
                  <a:pt x="97786" y="0"/>
                </a:moveTo>
                <a:lnTo>
                  <a:pt x="5756818" y="0"/>
                </a:lnTo>
                <a:cubicBezTo>
                  <a:pt x="5810824" y="0"/>
                  <a:pt x="5854605" y="43780"/>
                  <a:pt x="5854605" y="97786"/>
                </a:cubicBezTo>
                <a:lnTo>
                  <a:pt x="5854605" y="1417811"/>
                </a:lnTo>
                <a:cubicBezTo>
                  <a:pt x="5854605" y="1471817"/>
                  <a:pt x="5810824" y="1515597"/>
                  <a:pt x="5756818" y="1515597"/>
                </a:cubicBezTo>
                <a:lnTo>
                  <a:pt x="97786" y="1515597"/>
                </a:lnTo>
                <a:cubicBezTo>
                  <a:pt x="43780" y="1515597"/>
                  <a:pt x="0" y="1471817"/>
                  <a:pt x="0" y="1417811"/>
                </a:cubicBezTo>
                <a:lnTo>
                  <a:pt x="0" y="97786"/>
                </a:lnTo>
                <a:cubicBezTo>
                  <a:pt x="0" y="43817"/>
                  <a:pt x="43817" y="0"/>
                  <a:pt x="97786" y="0"/>
                </a:cubicBezTo>
                <a:close/>
              </a:path>
            </a:pathLst>
          </a:custGeom>
          <a:solidFill>
            <a:srgbClr val="2C2F3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0079503" y="7522393"/>
            <a:ext cx="195561" cy="195561"/>
          </a:xfrm>
          <a:custGeom>
            <a:avLst/>
            <a:gdLst/>
            <a:ahLst/>
            <a:cxnLst/>
            <a:rect l="l" t="t" r="r" b="b"/>
            <a:pathLst>
              <a:path w="195561" h="195561">
                <a:moveTo>
                  <a:pt x="97780" y="0"/>
                </a:moveTo>
                <a:cubicBezTo>
                  <a:pt x="99537" y="0"/>
                  <a:pt x="101294" y="382"/>
                  <a:pt x="102899" y="1108"/>
                </a:cubicBezTo>
                <a:lnTo>
                  <a:pt x="174859" y="31626"/>
                </a:lnTo>
                <a:cubicBezTo>
                  <a:pt x="183262" y="35178"/>
                  <a:pt x="189526" y="43466"/>
                  <a:pt x="189488" y="53474"/>
                </a:cubicBezTo>
                <a:cubicBezTo>
                  <a:pt x="189297" y="91364"/>
                  <a:pt x="173713" y="160688"/>
                  <a:pt x="107902" y="192200"/>
                </a:cubicBezTo>
                <a:cubicBezTo>
                  <a:pt x="101524" y="195255"/>
                  <a:pt x="94114" y="195255"/>
                  <a:pt x="87735" y="192200"/>
                </a:cubicBezTo>
                <a:cubicBezTo>
                  <a:pt x="21886" y="160688"/>
                  <a:pt x="6340" y="91364"/>
                  <a:pt x="6149" y="53474"/>
                </a:cubicBezTo>
                <a:cubicBezTo>
                  <a:pt x="6111" y="43466"/>
                  <a:pt x="12375" y="35178"/>
                  <a:pt x="20778" y="31626"/>
                </a:cubicBezTo>
                <a:lnTo>
                  <a:pt x="92700" y="1108"/>
                </a:lnTo>
                <a:cubicBezTo>
                  <a:pt x="94305" y="382"/>
                  <a:pt x="96023" y="0"/>
                  <a:pt x="97780" y="0"/>
                </a:cubicBezTo>
                <a:close/>
                <a:moveTo>
                  <a:pt x="97780" y="25515"/>
                </a:moveTo>
                <a:lnTo>
                  <a:pt x="97780" y="169932"/>
                </a:lnTo>
                <a:cubicBezTo>
                  <a:pt x="150490" y="144417"/>
                  <a:pt x="164661" y="87888"/>
                  <a:pt x="165005" y="54047"/>
                </a:cubicBezTo>
                <a:lnTo>
                  <a:pt x="97780" y="25553"/>
                </a:lnTo>
                <a:lnTo>
                  <a:pt x="97780" y="25553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10299509" y="7702106"/>
            <a:ext cx="5414592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安全机制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055058" y="8093228"/>
            <a:ext cx="5561263" cy="831134"/>
          </a:xfrm>
          <a:custGeom>
            <a:avLst/>
            <a:gdLst/>
            <a:ahLst/>
            <a:cxnLst/>
            <a:rect l="l" t="t" r="r" b="b"/>
            <a:pathLst>
              <a:path w="5561263" h="831134">
                <a:moveTo>
                  <a:pt x="97783" y="0"/>
                </a:moveTo>
                <a:lnTo>
                  <a:pt x="5463480" y="0"/>
                </a:lnTo>
                <a:cubicBezTo>
                  <a:pt x="5517484" y="0"/>
                  <a:pt x="5561263" y="43779"/>
                  <a:pt x="5561263" y="97783"/>
                </a:cubicBezTo>
                <a:lnTo>
                  <a:pt x="5561263" y="733351"/>
                </a:lnTo>
                <a:cubicBezTo>
                  <a:pt x="5561263" y="787355"/>
                  <a:pt x="5517484" y="831134"/>
                  <a:pt x="5463480" y="831134"/>
                </a:cubicBezTo>
                <a:lnTo>
                  <a:pt x="97783" y="831134"/>
                </a:lnTo>
                <a:cubicBezTo>
                  <a:pt x="43779" y="831134"/>
                  <a:pt x="0" y="787355"/>
                  <a:pt x="0" y="733351"/>
                </a:cubicBezTo>
                <a:lnTo>
                  <a:pt x="0" y="97783"/>
                </a:lnTo>
                <a:cubicBezTo>
                  <a:pt x="0" y="43779"/>
                  <a:pt x="43779" y="0"/>
                  <a:pt x="97783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0152838" y="8191008"/>
            <a:ext cx="5463483" cy="635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0" b="1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为什么输出路径必须不存在？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4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防止意外覆盖重要数据，这是一种安全机制。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54360" y="454360"/>
            <a:ext cx="2221317" cy="504845"/>
          </a:xfrm>
          <a:custGeom>
            <a:avLst/>
            <a:gdLst/>
            <a:ahLst/>
            <a:cxnLst/>
            <a:rect l="l" t="t" r="r" b="b"/>
            <a:pathLst>
              <a:path w="2221317" h="504845">
                <a:moveTo>
                  <a:pt x="89751" y="0"/>
                </a:moveTo>
                <a:lnTo>
                  <a:pt x="2131565" y="0"/>
                </a:lnTo>
                <a:cubicBezTo>
                  <a:pt x="2181134" y="0"/>
                  <a:pt x="2221317" y="40183"/>
                  <a:pt x="2221317" y="89751"/>
                </a:cubicBezTo>
                <a:lnTo>
                  <a:pt x="2221317" y="415093"/>
                </a:lnTo>
                <a:cubicBezTo>
                  <a:pt x="2221317" y="464662"/>
                  <a:pt x="2181134" y="504845"/>
                  <a:pt x="2131565" y="504845"/>
                </a:cubicBezTo>
                <a:lnTo>
                  <a:pt x="89751" y="504845"/>
                </a:lnTo>
                <a:cubicBezTo>
                  <a:pt x="40216" y="504845"/>
                  <a:pt x="0" y="464629"/>
                  <a:pt x="0" y="415093"/>
                </a:cubicBezTo>
                <a:lnTo>
                  <a:pt x="0" y="89751"/>
                </a:lnTo>
                <a:cubicBezTo>
                  <a:pt x="0" y="40216"/>
                  <a:pt x="40216" y="0"/>
                  <a:pt x="89751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 w="12700">
            <a:solidFill>
              <a:srgbClr val="E5A16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84345" y="572157"/>
            <a:ext cx="1866348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kern="0" spc="159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INSIGHTS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8751" y="1144315"/>
            <a:ext cx="15627749" cy="53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4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核心洞察与实践建议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8751" y="1817441"/>
            <a:ext cx="1795003" cy="67313"/>
          </a:xfrm>
          <a:custGeom>
            <a:avLst/>
            <a:gdLst/>
            <a:ahLst/>
            <a:cxnLst/>
            <a:rect l="l" t="t" r="r" b="b"/>
            <a:pathLst>
              <a:path w="1795003" h="67313">
                <a:moveTo>
                  <a:pt x="0" y="0"/>
                </a:moveTo>
                <a:lnTo>
                  <a:pt x="1795003" y="0"/>
                </a:lnTo>
                <a:lnTo>
                  <a:pt x="1795003" y="67313"/>
                </a:lnTo>
                <a:lnTo>
                  <a:pt x="0" y="67313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454360" y="2159614"/>
            <a:ext cx="15347280" cy="1189190"/>
          </a:xfrm>
          <a:custGeom>
            <a:avLst/>
            <a:gdLst/>
            <a:ahLst/>
            <a:cxnLst/>
            <a:rect l="l" t="t" r="r" b="b"/>
            <a:pathLst>
              <a:path w="15347280" h="1189190">
                <a:moveTo>
                  <a:pt x="134628" y="0"/>
                </a:moveTo>
                <a:lnTo>
                  <a:pt x="15212651" y="0"/>
                </a:lnTo>
                <a:cubicBezTo>
                  <a:pt x="15287004" y="0"/>
                  <a:pt x="15347280" y="60275"/>
                  <a:pt x="15347280" y="134628"/>
                </a:cubicBezTo>
                <a:lnTo>
                  <a:pt x="15347280" y="1054562"/>
                </a:lnTo>
                <a:cubicBezTo>
                  <a:pt x="15347280" y="1128915"/>
                  <a:pt x="15287004" y="1189190"/>
                  <a:pt x="15212651" y="1189190"/>
                </a:cubicBezTo>
                <a:lnTo>
                  <a:pt x="134628" y="1189190"/>
                </a:lnTo>
                <a:cubicBezTo>
                  <a:pt x="60275" y="1189190"/>
                  <a:pt x="0" y="1128915"/>
                  <a:pt x="0" y="1054562"/>
                </a:cubicBezTo>
                <a:lnTo>
                  <a:pt x="0" y="134628"/>
                </a:lnTo>
                <a:cubicBezTo>
                  <a:pt x="0" y="60325"/>
                  <a:pt x="60325" y="0"/>
                  <a:pt x="134628" y="0"/>
                </a:cubicBezTo>
                <a:close/>
              </a:path>
            </a:pathLst>
          </a:custGeom>
          <a:solidFill>
            <a:srgbClr val="2C2F33">
              <a:alpha val="8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684345" y="2389598"/>
            <a:ext cx="14999498" cy="729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MapReduce通过</a:t>
            </a:r>
            <a:r>
              <a:rPr lang="en-US" sz="176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分而治之</a:t>
            </a:r>
            <a:r>
              <a:rPr lang="en-US" sz="17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76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</a:t>
            </a:r>
            <a:r>
              <a:rPr lang="en-US" sz="17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767" dirty="0">
                <a:solidFill>
                  <a:srgbClr val="E5A1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自动容错</a:t>
            </a:r>
            <a:r>
              <a:rPr lang="en-US" sz="1767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等机制，为大数据处理提供了简单而强大的编程模型。它将复杂的分布式计算抽象为Map和Reduce两个操作，让开发者专注于业务逻辑而非底层细节。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4360" y="3584398"/>
            <a:ext cx="4958697" cy="1851097"/>
          </a:xfrm>
          <a:custGeom>
            <a:avLst/>
            <a:gdLst/>
            <a:ahLst/>
            <a:cxnLst/>
            <a:rect l="l" t="t" r="r" b="b"/>
            <a:pathLst>
              <a:path w="4958697" h="1851097">
                <a:moveTo>
                  <a:pt x="134630" y="0"/>
                </a:moveTo>
                <a:lnTo>
                  <a:pt x="4824067" y="0"/>
                </a:lnTo>
                <a:cubicBezTo>
                  <a:pt x="4898421" y="0"/>
                  <a:pt x="4958697" y="60276"/>
                  <a:pt x="4958697" y="134630"/>
                </a:cubicBezTo>
                <a:lnTo>
                  <a:pt x="4958697" y="1716467"/>
                </a:lnTo>
                <a:cubicBezTo>
                  <a:pt x="4958697" y="1790821"/>
                  <a:pt x="4898421" y="1851097"/>
                  <a:pt x="4824067" y="1851097"/>
                </a:cubicBezTo>
                <a:lnTo>
                  <a:pt x="134630" y="1851097"/>
                </a:lnTo>
                <a:cubicBezTo>
                  <a:pt x="60276" y="1851097"/>
                  <a:pt x="0" y="1790821"/>
                  <a:pt x="0" y="1716467"/>
                </a:cubicBezTo>
                <a:lnTo>
                  <a:pt x="0" y="134630"/>
                </a:lnTo>
                <a:cubicBezTo>
                  <a:pt x="0" y="60326"/>
                  <a:pt x="60326" y="0"/>
                  <a:pt x="134630" y="0"/>
                </a:cubicBezTo>
                <a:close/>
              </a:path>
            </a:pathLst>
          </a:custGeom>
          <a:solidFill>
            <a:srgbClr val="2C2F33">
              <a:alpha val="8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684345" y="3814382"/>
            <a:ext cx="628251" cy="628251"/>
          </a:xfrm>
          <a:custGeom>
            <a:avLst/>
            <a:gdLst/>
            <a:ahLst/>
            <a:cxnLst/>
            <a:rect l="l" t="t" r="r" b="b"/>
            <a:pathLst>
              <a:path w="628251" h="628251">
                <a:moveTo>
                  <a:pt x="134628" y="0"/>
                </a:moveTo>
                <a:lnTo>
                  <a:pt x="493623" y="0"/>
                </a:lnTo>
                <a:cubicBezTo>
                  <a:pt x="567926" y="0"/>
                  <a:pt x="628251" y="60325"/>
                  <a:pt x="628251" y="134628"/>
                </a:cubicBezTo>
                <a:lnTo>
                  <a:pt x="628251" y="493623"/>
                </a:lnTo>
                <a:cubicBezTo>
                  <a:pt x="628251" y="567976"/>
                  <a:pt x="567976" y="628251"/>
                  <a:pt x="493623" y="628251"/>
                </a:cubicBezTo>
                <a:lnTo>
                  <a:pt x="134628" y="628251"/>
                </a:lnTo>
                <a:cubicBezTo>
                  <a:pt x="60325" y="628251"/>
                  <a:pt x="0" y="567926"/>
                  <a:pt x="0" y="493623"/>
                </a:cubicBezTo>
                <a:lnTo>
                  <a:pt x="0" y="134628"/>
                </a:lnTo>
                <a:cubicBezTo>
                  <a:pt x="0" y="60275"/>
                  <a:pt x="60275" y="0"/>
                  <a:pt x="13462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863845" y="3993883"/>
            <a:ext cx="269251" cy="269251"/>
          </a:xfrm>
          <a:custGeom>
            <a:avLst/>
            <a:gdLst/>
            <a:ahLst/>
            <a:cxnLst/>
            <a:rect l="l" t="t" r="r" b="b"/>
            <a:pathLst>
              <a:path w="269251" h="269251">
                <a:moveTo>
                  <a:pt x="63106" y="29449"/>
                </a:moveTo>
                <a:cubicBezTo>
                  <a:pt x="63106" y="13200"/>
                  <a:pt x="76305" y="0"/>
                  <a:pt x="92555" y="0"/>
                </a:cubicBezTo>
                <a:lnTo>
                  <a:pt x="105176" y="0"/>
                </a:lnTo>
                <a:cubicBezTo>
                  <a:pt x="114484" y="0"/>
                  <a:pt x="122004" y="7520"/>
                  <a:pt x="122004" y="16828"/>
                </a:cubicBezTo>
                <a:lnTo>
                  <a:pt x="122004" y="252422"/>
                </a:lnTo>
                <a:cubicBezTo>
                  <a:pt x="122004" y="261730"/>
                  <a:pt x="114484" y="269251"/>
                  <a:pt x="105176" y="269251"/>
                </a:cubicBezTo>
                <a:lnTo>
                  <a:pt x="88348" y="269251"/>
                </a:lnTo>
                <a:cubicBezTo>
                  <a:pt x="72677" y="269251"/>
                  <a:pt x="59477" y="258523"/>
                  <a:pt x="55743" y="244008"/>
                </a:cubicBezTo>
                <a:cubicBezTo>
                  <a:pt x="55375" y="244008"/>
                  <a:pt x="55060" y="244008"/>
                  <a:pt x="54692" y="244008"/>
                </a:cubicBezTo>
                <a:cubicBezTo>
                  <a:pt x="31448" y="244008"/>
                  <a:pt x="12621" y="225182"/>
                  <a:pt x="12621" y="201938"/>
                </a:cubicBezTo>
                <a:cubicBezTo>
                  <a:pt x="12621" y="192472"/>
                  <a:pt x="15776" y="183742"/>
                  <a:pt x="21035" y="176696"/>
                </a:cubicBezTo>
                <a:cubicBezTo>
                  <a:pt x="10833" y="169018"/>
                  <a:pt x="4207" y="156817"/>
                  <a:pt x="4207" y="143039"/>
                </a:cubicBezTo>
                <a:cubicBezTo>
                  <a:pt x="4207" y="126790"/>
                  <a:pt x="13463" y="112643"/>
                  <a:pt x="26925" y="105649"/>
                </a:cubicBezTo>
                <a:cubicBezTo>
                  <a:pt x="23191" y="99339"/>
                  <a:pt x="21035" y="91976"/>
                  <a:pt x="21035" y="84141"/>
                </a:cubicBezTo>
                <a:cubicBezTo>
                  <a:pt x="21035" y="60897"/>
                  <a:pt x="39862" y="42070"/>
                  <a:pt x="63106" y="42070"/>
                </a:cubicBezTo>
                <a:lnTo>
                  <a:pt x="63106" y="29449"/>
                </a:lnTo>
                <a:close/>
                <a:moveTo>
                  <a:pt x="206145" y="29449"/>
                </a:moveTo>
                <a:lnTo>
                  <a:pt x="206145" y="42070"/>
                </a:lnTo>
                <a:cubicBezTo>
                  <a:pt x="229389" y="42070"/>
                  <a:pt x="248215" y="60897"/>
                  <a:pt x="248215" y="84141"/>
                </a:cubicBezTo>
                <a:cubicBezTo>
                  <a:pt x="248215" y="92029"/>
                  <a:pt x="246059" y="99391"/>
                  <a:pt x="242325" y="105649"/>
                </a:cubicBezTo>
                <a:cubicBezTo>
                  <a:pt x="255841" y="112643"/>
                  <a:pt x="265043" y="126737"/>
                  <a:pt x="265043" y="143039"/>
                </a:cubicBezTo>
                <a:cubicBezTo>
                  <a:pt x="265043" y="156817"/>
                  <a:pt x="258417" y="169018"/>
                  <a:pt x="248215" y="176696"/>
                </a:cubicBezTo>
                <a:cubicBezTo>
                  <a:pt x="253474" y="183742"/>
                  <a:pt x="256629" y="192472"/>
                  <a:pt x="256629" y="201938"/>
                </a:cubicBezTo>
                <a:cubicBezTo>
                  <a:pt x="256629" y="225182"/>
                  <a:pt x="237803" y="244008"/>
                  <a:pt x="214559" y="244008"/>
                </a:cubicBezTo>
                <a:cubicBezTo>
                  <a:pt x="214191" y="244008"/>
                  <a:pt x="213875" y="244008"/>
                  <a:pt x="213507" y="244008"/>
                </a:cubicBezTo>
                <a:cubicBezTo>
                  <a:pt x="209773" y="258523"/>
                  <a:pt x="196574" y="269251"/>
                  <a:pt x="180903" y="269251"/>
                </a:cubicBezTo>
                <a:lnTo>
                  <a:pt x="164075" y="269251"/>
                </a:lnTo>
                <a:cubicBezTo>
                  <a:pt x="154766" y="269251"/>
                  <a:pt x="147246" y="261730"/>
                  <a:pt x="147246" y="252422"/>
                </a:cubicBezTo>
                <a:lnTo>
                  <a:pt x="147246" y="16828"/>
                </a:lnTo>
                <a:cubicBezTo>
                  <a:pt x="147246" y="7520"/>
                  <a:pt x="154766" y="0"/>
                  <a:pt x="164075" y="0"/>
                </a:cubicBezTo>
                <a:lnTo>
                  <a:pt x="176696" y="0"/>
                </a:lnTo>
                <a:cubicBezTo>
                  <a:pt x="192945" y="0"/>
                  <a:pt x="206145" y="13200"/>
                  <a:pt x="206145" y="2944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447222" y="3949008"/>
            <a:ext cx="1211627" cy="359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设计动机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4345" y="4622134"/>
            <a:ext cx="4588478" cy="58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从单机Unix工具的局限性出发，理解为什么需要分布式计算，以及MapReduce如何解决大规模数据处理的挑战。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648213" y="3584398"/>
            <a:ext cx="4958697" cy="1851097"/>
          </a:xfrm>
          <a:custGeom>
            <a:avLst/>
            <a:gdLst/>
            <a:ahLst/>
            <a:cxnLst/>
            <a:rect l="l" t="t" r="r" b="b"/>
            <a:pathLst>
              <a:path w="4958697" h="1851097">
                <a:moveTo>
                  <a:pt x="134630" y="0"/>
                </a:moveTo>
                <a:lnTo>
                  <a:pt x="4824067" y="0"/>
                </a:lnTo>
                <a:cubicBezTo>
                  <a:pt x="4898421" y="0"/>
                  <a:pt x="4958697" y="60276"/>
                  <a:pt x="4958697" y="134630"/>
                </a:cubicBezTo>
                <a:lnTo>
                  <a:pt x="4958697" y="1716467"/>
                </a:lnTo>
                <a:cubicBezTo>
                  <a:pt x="4958697" y="1790821"/>
                  <a:pt x="4898421" y="1851097"/>
                  <a:pt x="4824067" y="1851097"/>
                </a:cubicBezTo>
                <a:lnTo>
                  <a:pt x="134630" y="1851097"/>
                </a:lnTo>
                <a:cubicBezTo>
                  <a:pt x="60276" y="1851097"/>
                  <a:pt x="0" y="1790821"/>
                  <a:pt x="0" y="1716467"/>
                </a:cubicBezTo>
                <a:lnTo>
                  <a:pt x="0" y="134630"/>
                </a:lnTo>
                <a:cubicBezTo>
                  <a:pt x="0" y="60326"/>
                  <a:pt x="60326" y="0"/>
                  <a:pt x="134630" y="0"/>
                </a:cubicBezTo>
                <a:close/>
              </a:path>
            </a:pathLst>
          </a:custGeom>
          <a:solidFill>
            <a:srgbClr val="2C2F33">
              <a:alpha val="80000"/>
            </a:srgbClr>
          </a:solidFill>
          <a:ln w="12700">
            <a:solidFill>
              <a:srgbClr val="E5A1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5878198" y="3814382"/>
            <a:ext cx="628251" cy="628251"/>
          </a:xfrm>
          <a:custGeom>
            <a:avLst/>
            <a:gdLst/>
            <a:ahLst/>
            <a:cxnLst/>
            <a:rect l="l" t="t" r="r" b="b"/>
            <a:pathLst>
              <a:path w="628251" h="628251">
                <a:moveTo>
                  <a:pt x="134628" y="0"/>
                </a:moveTo>
                <a:lnTo>
                  <a:pt x="493623" y="0"/>
                </a:lnTo>
                <a:cubicBezTo>
                  <a:pt x="567926" y="0"/>
                  <a:pt x="628251" y="60325"/>
                  <a:pt x="628251" y="134628"/>
                </a:cubicBezTo>
                <a:lnTo>
                  <a:pt x="628251" y="493623"/>
                </a:lnTo>
                <a:cubicBezTo>
                  <a:pt x="628251" y="567976"/>
                  <a:pt x="567976" y="628251"/>
                  <a:pt x="493623" y="628251"/>
                </a:cubicBezTo>
                <a:lnTo>
                  <a:pt x="134628" y="628251"/>
                </a:lnTo>
                <a:cubicBezTo>
                  <a:pt x="60325" y="628251"/>
                  <a:pt x="0" y="567926"/>
                  <a:pt x="0" y="493623"/>
                </a:cubicBezTo>
                <a:lnTo>
                  <a:pt x="0" y="134628"/>
                </a:lnTo>
                <a:cubicBezTo>
                  <a:pt x="0" y="60275"/>
                  <a:pt x="60275" y="0"/>
                  <a:pt x="134628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6040870" y="3993883"/>
            <a:ext cx="302907" cy="269251"/>
          </a:xfrm>
          <a:custGeom>
            <a:avLst/>
            <a:gdLst/>
            <a:ahLst/>
            <a:cxnLst/>
            <a:rect l="l" t="t" r="r" b="b"/>
            <a:pathLst>
              <a:path w="302907" h="269251">
                <a:moveTo>
                  <a:pt x="189737" y="631"/>
                </a:moveTo>
                <a:cubicBezTo>
                  <a:pt x="180798" y="-1946"/>
                  <a:pt x="171489" y="3260"/>
                  <a:pt x="168913" y="12200"/>
                </a:cubicBezTo>
                <a:lnTo>
                  <a:pt x="101600" y="247795"/>
                </a:lnTo>
                <a:cubicBezTo>
                  <a:pt x="99023" y="256735"/>
                  <a:pt x="104229" y="266043"/>
                  <a:pt x="113169" y="268619"/>
                </a:cubicBezTo>
                <a:cubicBezTo>
                  <a:pt x="122109" y="271196"/>
                  <a:pt x="131417" y="265990"/>
                  <a:pt x="133994" y="257050"/>
                </a:cubicBezTo>
                <a:lnTo>
                  <a:pt x="201307" y="21456"/>
                </a:lnTo>
                <a:cubicBezTo>
                  <a:pt x="203884" y="12516"/>
                  <a:pt x="198677" y="3208"/>
                  <a:pt x="189737" y="631"/>
                </a:cubicBezTo>
                <a:close/>
                <a:moveTo>
                  <a:pt x="223709" y="72203"/>
                </a:moveTo>
                <a:cubicBezTo>
                  <a:pt x="217136" y="78777"/>
                  <a:pt x="217136" y="89452"/>
                  <a:pt x="223709" y="96026"/>
                </a:cubicBezTo>
                <a:lnTo>
                  <a:pt x="262309" y="134625"/>
                </a:lnTo>
                <a:lnTo>
                  <a:pt x="223709" y="173225"/>
                </a:lnTo>
                <a:cubicBezTo>
                  <a:pt x="217136" y="179798"/>
                  <a:pt x="217136" y="190474"/>
                  <a:pt x="223709" y="197047"/>
                </a:cubicBezTo>
                <a:cubicBezTo>
                  <a:pt x="230283" y="203621"/>
                  <a:pt x="240958" y="203621"/>
                  <a:pt x="247532" y="197047"/>
                </a:cubicBezTo>
                <a:lnTo>
                  <a:pt x="298016" y="146563"/>
                </a:lnTo>
                <a:cubicBezTo>
                  <a:pt x="304590" y="139989"/>
                  <a:pt x="304590" y="129314"/>
                  <a:pt x="298016" y="122740"/>
                </a:cubicBezTo>
                <a:lnTo>
                  <a:pt x="247532" y="72256"/>
                </a:lnTo>
                <a:cubicBezTo>
                  <a:pt x="240958" y="65682"/>
                  <a:pt x="230283" y="65682"/>
                  <a:pt x="223709" y="72256"/>
                </a:cubicBezTo>
                <a:close/>
                <a:moveTo>
                  <a:pt x="79250" y="72203"/>
                </a:moveTo>
                <a:cubicBezTo>
                  <a:pt x="72677" y="65630"/>
                  <a:pt x="62001" y="65630"/>
                  <a:pt x="55428" y="72203"/>
                </a:cubicBezTo>
                <a:lnTo>
                  <a:pt x="4943" y="122688"/>
                </a:lnTo>
                <a:cubicBezTo>
                  <a:pt x="-1630" y="129261"/>
                  <a:pt x="-1630" y="139937"/>
                  <a:pt x="4943" y="146510"/>
                </a:cubicBezTo>
                <a:lnTo>
                  <a:pt x="55428" y="196995"/>
                </a:lnTo>
                <a:cubicBezTo>
                  <a:pt x="62001" y="203568"/>
                  <a:pt x="72677" y="203568"/>
                  <a:pt x="79250" y="196995"/>
                </a:cubicBezTo>
                <a:cubicBezTo>
                  <a:pt x="85824" y="190421"/>
                  <a:pt x="85824" y="179746"/>
                  <a:pt x="79250" y="173172"/>
                </a:cubicBezTo>
                <a:lnTo>
                  <a:pt x="40651" y="134625"/>
                </a:lnTo>
                <a:lnTo>
                  <a:pt x="79198" y="96026"/>
                </a:lnTo>
                <a:cubicBezTo>
                  <a:pt x="85771" y="89452"/>
                  <a:pt x="85771" y="78777"/>
                  <a:pt x="79198" y="72203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6641075" y="3949008"/>
            <a:ext cx="1211627" cy="359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编程实践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878198" y="4622134"/>
            <a:ext cx="4588478" cy="58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通过实际编码体验分布式计算的优势，掌握Mapper、Reducer和Driver的完整实现流程。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842066" y="3584398"/>
            <a:ext cx="4958697" cy="1851097"/>
          </a:xfrm>
          <a:custGeom>
            <a:avLst/>
            <a:gdLst/>
            <a:ahLst/>
            <a:cxnLst/>
            <a:rect l="l" t="t" r="r" b="b"/>
            <a:pathLst>
              <a:path w="4958697" h="1851097">
                <a:moveTo>
                  <a:pt x="134630" y="0"/>
                </a:moveTo>
                <a:lnTo>
                  <a:pt x="4824067" y="0"/>
                </a:lnTo>
                <a:cubicBezTo>
                  <a:pt x="4898421" y="0"/>
                  <a:pt x="4958697" y="60276"/>
                  <a:pt x="4958697" y="134630"/>
                </a:cubicBezTo>
                <a:lnTo>
                  <a:pt x="4958697" y="1716467"/>
                </a:lnTo>
                <a:cubicBezTo>
                  <a:pt x="4958697" y="1790821"/>
                  <a:pt x="4898421" y="1851097"/>
                  <a:pt x="4824067" y="1851097"/>
                </a:cubicBezTo>
                <a:lnTo>
                  <a:pt x="134630" y="1851097"/>
                </a:lnTo>
                <a:cubicBezTo>
                  <a:pt x="60276" y="1851097"/>
                  <a:pt x="0" y="1790821"/>
                  <a:pt x="0" y="1716467"/>
                </a:cubicBezTo>
                <a:lnTo>
                  <a:pt x="0" y="134630"/>
                </a:lnTo>
                <a:cubicBezTo>
                  <a:pt x="0" y="60326"/>
                  <a:pt x="60326" y="0"/>
                  <a:pt x="134630" y="0"/>
                </a:cubicBezTo>
                <a:close/>
              </a:path>
            </a:pathLst>
          </a:custGeom>
          <a:solidFill>
            <a:srgbClr val="2C2F33">
              <a:alpha val="80000"/>
            </a:srgbClr>
          </a:solidFill>
          <a:ln w="12700">
            <a:solidFill>
              <a:srgbClr val="7A7D8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11072051" y="3814382"/>
            <a:ext cx="628251" cy="628251"/>
          </a:xfrm>
          <a:custGeom>
            <a:avLst/>
            <a:gdLst/>
            <a:ahLst/>
            <a:cxnLst/>
            <a:rect l="l" t="t" r="r" b="b"/>
            <a:pathLst>
              <a:path w="628251" h="628251">
                <a:moveTo>
                  <a:pt x="134628" y="0"/>
                </a:moveTo>
                <a:lnTo>
                  <a:pt x="493623" y="0"/>
                </a:lnTo>
                <a:cubicBezTo>
                  <a:pt x="567926" y="0"/>
                  <a:pt x="628251" y="60325"/>
                  <a:pt x="628251" y="134628"/>
                </a:cubicBezTo>
                <a:lnTo>
                  <a:pt x="628251" y="493623"/>
                </a:lnTo>
                <a:cubicBezTo>
                  <a:pt x="628251" y="567976"/>
                  <a:pt x="567976" y="628251"/>
                  <a:pt x="493623" y="628251"/>
                </a:cubicBezTo>
                <a:lnTo>
                  <a:pt x="134628" y="628251"/>
                </a:lnTo>
                <a:cubicBezTo>
                  <a:pt x="60325" y="628251"/>
                  <a:pt x="0" y="567926"/>
                  <a:pt x="0" y="493623"/>
                </a:cubicBezTo>
                <a:lnTo>
                  <a:pt x="0" y="134628"/>
                </a:lnTo>
                <a:cubicBezTo>
                  <a:pt x="0" y="60275"/>
                  <a:pt x="60275" y="0"/>
                  <a:pt x="134628" y="0"/>
                </a:cubicBezTo>
                <a:close/>
              </a:path>
            </a:pathLst>
          </a:custGeom>
          <a:solidFill>
            <a:srgbClr val="7A7D8D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11251551" y="3993883"/>
            <a:ext cx="269251" cy="269251"/>
          </a:xfrm>
          <a:custGeom>
            <a:avLst/>
            <a:gdLst/>
            <a:ahLst/>
            <a:cxnLst/>
            <a:rect l="l" t="t" r="r" b="b"/>
            <a:pathLst>
              <a:path w="269251" h="269251">
                <a:moveTo>
                  <a:pt x="67313" y="168282"/>
                </a:moveTo>
                <a:lnTo>
                  <a:pt x="12884" y="168282"/>
                </a:lnTo>
                <a:cubicBezTo>
                  <a:pt x="-210" y="168282"/>
                  <a:pt x="-8256" y="154030"/>
                  <a:pt x="-1525" y="142776"/>
                </a:cubicBezTo>
                <a:lnTo>
                  <a:pt x="26294" y="96394"/>
                </a:lnTo>
                <a:cubicBezTo>
                  <a:pt x="30869" y="88769"/>
                  <a:pt x="39073" y="84141"/>
                  <a:pt x="47960" y="84141"/>
                </a:cubicBezTo>
                <a:lnTo>
                  <a:pt x="97919" y="84141"/>
                </a:lnTo>
                <a:cubicBezTo>
                  <a:pt x="137938" y="16355"/>
                  <a:pt x="197626" y="12937"/>
                  <a:pt x="237540" y="18774"/>
                </a:cubicBezTo>
                <a:cubicBezTo>
                  <a:pt x="244271" y="19773"/>
                  <a:pt x="249530" y="25032"/>
                  <a:pt x="250477" y="31711"/>
                </a:cubicBezTo>
                <a:cubicBezTo>
                  <a:pt x="256314" y="71625"/>
                  <a:pt x="252896" y="131312"/>
                  <a:pt x="185110" y="171332"/>
                </a:cubicBezTo>
                <a:lnTo>
                  <a:pt x="185110" y="221290"/>
                </a:lnTo>
                <a:cubicBezTo>
                  <a:pt x="185110" y="230178"/>
                  <a:pt x="180482" y="238381"/>
                  <a:pt x="172857" y="242957"/>
                </a:cubicBezTo>
                <a:lnTo>
                  <a:pt x="126474" y="270776"/>
                </a:lnTo>
                <a:cubicBezTo>
                  <a:pt x="115273" y="277507"/>
                  <a:pt x="100969" y="269408"/>
                  <a:pt x="100969" y="256366"/>
                </a:cubicBezTo>
                <a:lnTo>
                  <a:pt x="100969" y="201938"/>
                </a:lnTo>
                <a:cubicBezTo>
                  <a:pt x="100969" y="183374"/>
                  <a:pt x="85876" y="168282"/>
                  <a:pt x="67313" y="168282"/>
                </a:cubicBezTo>
                <a:lnTo>
                  <a:pt x="67260" y="168282"/>
                </a:lnTo>
                <a:close/>
                <a:moveTo>
                  <a:pt x="210352" y="84141"/>
                </a:moveTo>
                <a:cubicBezTo>
                  <a:pt x="210352" y="70209"/>
                  <a:pt x="199041" y="58899"/>
                  <a:pt x="185110" y="58899"/>
                </a:cubicBezTo>
                <a:cubicBezTo>
                  <a:pt x="171178" y="58899"/>
                  <a:pt x="159867" y="70209"/>
                  <a:pt x="159867" y="84141"/>
                </a:cubicBezTo>
                <a:cubicBezTo>
                  <a:pt x="159867" y="98072"/>
                  <a:pt x="171178" y="109383"/>
                  <a:pt x="185110" y="109383"/>
                </a:cubicBezTo>
                <a:cubicBezTo>
                  <a:pt x="199041" y="109383"/>
                  <a:pt x="210352" y="98072"/>
                  <a:pt x="210352" y="84141"/>
                </a:cubicBezTo>
                <a:close/>
              </a:path>
            </a:pathLst>
          </a:custGeom>
          <a:solidFill>
            <a:srgbClr val="7A7D8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11834928" y="3949008"/>
            <a:ext cx="1211627" cy="359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072051" y="4622134"/>
            <a:ext cx="4588478" cy="58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深化对数据本地性和容错机制的理解，学会通过Combiner等手段优化程序性能。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54360" y="5671089"/>
            <a:ext cx="7550233" cy="1895972"/>
          </a:xfrm>
          <a:custGeom>
            <a:avLst/>
            <a:gdLst/>
            <a:ahLst/>
            <a:cxnLst/>
            <a:rect l="l" t="t" r="r" b="b"/>
            <a:pathLst>
              <a:path w="7550233" h="1895972">
                <a:moveTo>
                  <a:pt x="134633" y="0"/>
                </a:moveTo>
                <a:lnTo>
                  <a:pt x="7415600" y="0"/>
                </a:lnTo>
                <a:cubicBezTo>
                  <a:pt x="7489956" y="0"/>
                  <a:pt x="7550233" y="60277"/>
                  <a:pt x="7550233" y="134633"/>
                </a:cubicBezTo>
                <a:lnTo>
                  <a:pt x="7550233" y="1761339"/>
                </a:lnTo>
                <a:cubicBezTo>
                  <a:pt x="7550233" y="1835695"/>
                  <a:pt x="7489956" y="1895972"/>
                  <a:pt x="7415600" y="1895972"/>
                </a:cubicBezTo>
                <a:lnTo>
                  <a:pt x="134633" y="1895972"/>
                </a:lnTo>
                <a:cubicBezTo>
                  <a:pt x="60277" y="1895972"/>
                  <a:pt x="0" y="1835695"/>
                  <a:pt x="0" y="1761339"/>
                </a:cubicBezTo>
                <a:lnTo>
                  <a:pt x="0" y="134633"/>
                </a:lnTo>
                <a:cubicBezTo>
                  <a:pt x="0" y="60277"/>
                  <a:pt x="60277" y="0"/>
                  <a:pt x="134633" y="0"/>
                </a:cubicBezTo>
                <a:close/>
              </a:path>
            </a:pathLst>
          </a:custGeom>
          <a:solidFill>
            <a:srgbClr val="2C2F33">
              <a:alpha val="8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740439" y="5945949"/>
            <a:ext cx="168282" cy="224375"/>
          </a:xfrm>
          <a:custGeom>
            <a:avLst/>
            <a:gdLst/>
            <a:ahLst/>
            <a:cxnLst/>
            <a:rect l="l" t="t" r="r" b="b"/>
            <a:pathLst>
              <a:path w="168282" h="224375">
                <a:moveTo>
                  <a:pt x="128359" y="168282"/>
                </a:moveTo>
                <a:cubicBezTo>
                  <a:pt x="131558" y="158509"/>
                  <a:pt x="137956" y="149657"/>
                  <a:pt x="145187" y="142031"/>
                </a:cubicBezTo>
                <a:cubicBezTo>
                  <a:pt x="159517" y="126956"/>
                  <a:pt x="168282" y="106578"/>
                  <a:pt x="168282" y="84141"/>
                </a:cubicBezTo>
                <a:cubicBezTo>
                  <a:pt x="168282" y="37688"/>
                  <a:pt x="130594" y="0"/>
                  <a:pt x="84141" y="0"/>
                </a:cubicBezTo>
                <a:cubicBezTo>
                  <a:pt x="37688" y="0"/>
                  <a:pt x="0" y="37688"/>
                  <a:pt x="0" y="84141"/>
                </a:cubicBezTo>
                <a:cubicBezTo>
                  <a:pt x="0" y="106578"/>
                  <a:pt x="8765" y="126956"/>
                  <a:pt x="23095" y="142031"/>
                </a:cubicBezTo>
                <a:cubicBezTo>
                  <a:pt x="30326" y="149657"/>
                  <a:pt x="36768" y="158509"/>
                  <a:pt x="39923" y="168282"/>
                </a:cubicBezTo>
                <a:lnTo>
                  <a:pt x="128315" y="168282"/>
                </a:lnTo>
                <a:close/>
                <a:moveTo>
                  <a:pt x="126211" y="189317"/>
                </a:moveTo>
                <a:lnTo>
                  <a:pt x="42070" y="189317"/>
                </a:lnTo>
                <a:lnTo>
                  <a:pt x="42070" y="196329"/>
                </a:lnTo>
                <a:cubicBezTo>
                  <a:pt x="42070" y="215698"/>
                  <a:pt x="57759" y="231387"/>
                  <a:pt x="77129" y="231387"/>
                </a:cubicBezTo>
                <a:lnTo>
                  <a:pt x="91153" y="231387"/>
                </a:lnTo>
                <a:cubicBezTo>
                  <a:pt x="110522" y="231387"/>
                  <a:pt x="126211" y="215698"/>
                  <a:pt x="126211" y="196329"/>
                </a:cubicBezTo>
                <a:lnTo>
                  <a:pt x="126211" y="189317"/>
                </a:lnTo>
                <a:close/>
                <a:moveTo>
                  <a:pt x="80635" y="49082"/>
                </a:moveTo>
                <a:cubicBezTo>
                  <a:pt x="63193" y="49082"/>
                  <a:pt x="49082" y="63193"/>
                  <a:pt x="49082" y="80635"/>
                </a:cubicBezTo>
                <a:cubicBezTo>
                  <a:pt x="49082" y="86463"/>
                  <a:pt x="44393" y="91153"/>
                  <a:pt x="38565" y="91153"/>
                </a:cubicBezTo>
                <a:cubicBezTo>
                  <a:pt x="32736" y="91153"/>
                  <a:pt x="28047" y="86463"/>
                  <a:pt x="28047" y="80635"/>
                </a:cubicBezTo>
                <a:cubicBezTo>
                  <a:pt x="28047" y="51580"/>
                  <a:pt x="51580" y="28047"/>
                  <a:pt x="80635" y="28047"/>
                </a:cubicBezTo>
                <a:cubicBezTo>
                  <a:pt x="86463" y="28047"/>
                  <a:pt x="91153" y="32736"/>
                  <a:pt x="91153" y="38565"/>
                </a:cubicBezTo>
                <a:cubicBezTo>
                  <a:pt x="91153" y="44393"/>
                  <a:pt x="86463" y="49082"/>
                  <a:pt x="80635" y="4908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964814" y="5901074"/>
            <a:ext cx="6921982" cy="31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学习建议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84345" y="6439575"/>
            <a:ext cx="89750" cy="89750"/>
          </a:xfrm>
          <a:custGeom>
            <a:avLst/>
            <a:gdLst/>
            <a:ahLst/>
            <a:cxnLst/>
            <a:rect l="l" t="t" r="r" b="b"/>
            <a:pathLst>
              <a:path w="89750" h="89750">
                <a:moveTo>
                  <a:pt x="44875" y="0"/>
                </a:moveTo>
                <a:lnTo>
                  <a:pt x="44875" y="0"/>
                </a:lnTo>
                <a:cubicBezTo>
                  <a:pt x="69642" y="0"/>
                  <a:pt x="89750" y="20108"/>
                  <a:pt x="89750" y="44875"/>
                </a:cubicBezTo>
                <a:lnTo>
                  <a:pt x="89750" y="44875"/>
                </a:lnTo>
                <a:cubicBezTo>
                  <a:pt x="89750" y="69642"/>
                  <a:pt x="69642" y="89750"/>
                  <a:pt x="44875" y="89750"/>
                </a:cubicBezTo>
                <a:lnTo>
                  <a:pt x="44875" y="89750"/>
                </a:lnTo>
                <a:cubicBezTo>
                  <a:pt x="20108" y="89750"/>
                  <a:pt x="0" y="69642"/>
                  <a:pt x="0" y="44875"/>
                </a:cubicBezTo>
                <a:lnTo>
                  <a:pt x="0" y="44875"/>
                </a:lnTo>
                <a:cubicBezTo>
                  <a:pt x="0" y="20108"/>
                  <a:pt x="20108" y="0"/>
                  <a:pt x="4487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863845" y="6349825"/>
            <a:ext cx="2423255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从Unix工具对比理解设计动机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84345" y="6798576"/>
            <a:ext cx="89750" cy="89750"/>
          </a:xfrm>
          <a:custGeom>
            <a:avLst/>
            <a:gdLst/>
            <a:ahLst/>
            <a:cxnLst/>
            <a:rect l="l" t="t" r="r" b="b"/>
            <a:pathLst>
              <a:path w="89750" h="89750">
                <a:moveTo>
                  <a:pt x="44875" y="0"/>
                </a:moveTo>
                <a:lnTo>
                  <a:pt x="44875" y="0"/>
                </a:lnTo>
                <a:cubicBezTo>
                  <a:pt x="69642" y="0"/>
                  <a:pt x="89750" y="20108"/>
                  <a:pt x="89750" y="44875"/>
                </a:cubicBezTo>
                <a:lnTo>
                  <a:pt x="89750" y="44875"/>
                </a:lnTo>
                <a:cubicBezTo>
                  <a:pt x="89750" y="69642"/>
                  <a:pt x="69642" y="89750"/>
                  <a:pt x="44875" y="89750"/>
                </a:cubicBezTo>
                <a:lnTo>
                  <a:pt x="44875" y="89750"/>
                </a:lnTo>
                <a:cubicBezTo>
                  <a:pt x="20108" y="89750"/>
                  <a:pt x="0" y="69642"/>
                  <a:pt x="0" y="44875"/>
                </a:cubicBezTo>
                <a:lnTo>
                  <a:pt x="0" y="44875"/>
                </a:lnTo>
                <a:cubicBezTo>
                  <a:pt x="0" y="20108"/>
                  <a:pt x="20108" y="0"/>
                  <a:pt x="4487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863845" y="6708825"/>
            <a:ext cx="1884754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动手实践完整代码实现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84345" y="7157576"/>
            <a:ext cx="89750" cy="89750"/>
          </a:xfrm>
          <a:custGeom>
            <a:avLst/>
            <a:gdLst/>
            <a:ahLst/>
            <a:cxnLst/>
            <a:rect l="l" t="t" r="r" b="b"/>
            <a:pathLst>
              <a:path w="89750" h="89750">
                <a:moveTo>
                  <a:pt x="44875" y="0"/>
                </a:moveTo>
                <a:lnTo>
                  <a:pt x="44875" y="0"/>
                </a:lnTo>
                <a:cubicBezTo>
                  <a:pt x="69642" y="0"/>
                  <a:pt x="89750" y="20108"/>
                  <a:pt x="89750" y="44875"/>
                </a:cubicBezTo>
                <a:lnTo>
                  <a:pt x="89750" y="44875"/>
                </a:lnTo>
                <a:cubicBezTo>
                  <a:pt x="89750" y="69642"/>
                  <a:pt x="69642" y="89750"/>
                  <a:pt x="44875" y="89750"/>
                </a:cubicBezTo>
                <a:lnTo>
                  <a:pt x="44875" y="89750"/>
                </a:lnTo>
                <a:cubicBezTo>
                  <a:pt x="20108" y="89750"/>
                  <a:pt x="0" y="69642"/>
                  <a:pt x="0" y="44875"/>
                </a:cubicBezTo>
                <a:lnTo>
                  <a:pt x="0" y="44875"/>
                </a:lnTo>
                <a:cubicBezTo>
                  <a:pt x="0" y="20108"/>
                  <a:pt x="20108" y="0"/>
                  <a:pt x="4487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863845" y="7067826"/>
            <a:ext cx="2064254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分析真实数据集验证性能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245096" y="5671089"/>
            <a:ext cx="7550233" cy="1895972"/>
          </a:xfrm>
          <a:custGeom>
            <a:avLst/>
            <a:gdLst/>
            <a:ahLst/>
            <a:cxnLst/>
            <a:rect l="l" t="t" r="r" b="b"/>
            <a:pathLst>
              <a:path w="7550233" h="1895972">
                <a:moveTo>
                  <a:pt x="134633" y="0"/>
                </a:moveTo>
                <a:lnTo>
                  <a:pt x="7415600" y="0"/>
                </a:lnTo>
                <a:cubicBezTo>
                  <a:pt x="7489956" y="0"/>
                  <a:pt x="7550233" y="60277"/>
                  <a:pt x="7550233" y="134633"/>
                </a:cubicBezTo>
                <a:lnTo>
                  <a:pt x="7550233" y="1761339"/>
                </a:lnTo>
                <a:cubicBezTo>
                  <a:pt x="7550233" y="1835695"/>
                  <a:pt x="7489956" y="1895972"/>
                  <a:pt x="7415600" y="1895972"/>
                </a:cubicBezTo>
                <a:lnTo>
                  <a:pt x="134633" y="1895972"/>
                </a:lnTo>
                <a:cubicBezTo>
                  <a:pt x="60277" y="1895972"/>
                  <a:pt x="0" y="1835695"/>
                  <a:pt x="0" y="1761339"/>
                </a:cubicBezTo>
                <a:lnTo>
                  <a:pt x="0" y="134633"/>
                </a:lnTo>
                <a:cubicBezTo>
                  <a:pt x="0" y="60277"/>
                  <a:pt x="60277" y="0"/>
                  <a:pt x="134633" y="0"/>
                </a:cubicBezTo>
                <a:close/>
              </a:path>
            </a:pathLst>
          </a:custGeom>
          <a:solidFill>
            <a:srgbClr val="2C2F33">
              <a:alpha val="80000"/>
            </a:srgbClr>
          </a:solidFill>
          <a:ln w="12700">
            <a:solidFill>
              <a:srgbClr val="E5A1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8489104" y="5945949"/>
            <a:ext cx="252422" cy="224375"/>
          </a:xfrm>
          <a:custGeom>
            <a:avLst/>
            <a:gdLst/>
            <a:ahLst/>
            <a:cxnLst/>
            <a:rect l="l" t="t" r="r" b="b"/>
            <a:pathLst>
              <a:path w="252422" h="224375">
                <a:moveTo>
                  <a:pt x="21035" y="85806"/>
                </a:moveTo>
                <a:lnTo>
                  <a:pt x="112714" y="123538"/>
                </a:lnTo>
                <a:cubicBezTo>
                  <a:pt x="117008" y="125291"/>
                  <a:pt x="121566" y="126211"/>
                  <a:pt x="126211" y="126211"/>
                </a:cubicBezTo>
                <a:cubicBezTo>
                  <a:pt x="130856" y="126211"/>
                  <a:pt x="135414" y="125291"/>
                  <a:pt x="139709" y="123538"/>
                </a:cubicBezTo>
                <a:lnTo>
                  <a:pt x="245937" y="79802"/>
                </a:lnTo>
                <a:cubicBezTo>
                  <a:pt x="249881" y="78181"/>
                  <a:pt x="252422" y="74368"/>
                  <a:pt x="252422" y="70117"/>
                </a:cubicBezTo>
                <a:cubicBezTo>
                  <a:pt x="252422" y="65866"/>
                  <a:pt x="249881" y="62054"/>
                  <a:pt x="245937" y="60432"/>
                </a:cubicBezTo>
                <a:lnTo>
                  <a:pt x="139709" y="16697"/>
                </a:lnTo>
                <a:cubicBezTo>
                  <a:pt x="135414" y="14944"/>
                  <a:pt x="130856" y="14023"/>
                  <a:pt x="126211" y="14023"/>
                </a:cubicBezTo>
                <a:cubicBezTo>
                  <a:pt x="121566" y="14023"/>
                  <a:pt x="117008" y="14944"/>
                  <a:pt x="112714" y="16697"/>
                </a:cubicBezTo>
                <a:lnTo>
                  <a:pt x="6486" y="60432"/>
                </a:lnTo>
                <a:cubicBezTo>
                  <a:pt x="2542" y="62054"/>
                  <a:pt x="0" y="65866"/>
                  <a:pt x="0" y="70117"/>
                </a:cubicBezTo>
                <a:lnTo>
                  <a:pt x="0" y="199834"/>
                </a:lnTo>
                <a:cubicBezTo>
                  <a:pt x="0" y="205663"/>
                  <a:pt x="4689" y="210352"/>
                  <a:pt x="10518" y="210352"/>
                </a:cubicBezTo>
                <a:cubicBezTo>
                  <a:pt x="16346" y="210352"/>
                  <a:pt x="21035" y="205663"/>
                  <a:pt x="21035" y="199834"/>
                </a:cubicBezTo>
                <a:lnTo>
                  <a:pt x="21035" y="85806"/>
                </a:lnTo>
                <a:close/>
                <a:moveTo>
                  <a:pt x="42070" y="117227"/>
                </a:moveTo>
                <a:lnTo>
                  <a:pt x="42070" y="168282"/>
                </a:lnTo>
                <a:cubicBezTo>
                  <a:pt x="42070" y="191508"/>
                  <a:pt x="79758" y="210352"/>
                  <a:pt x="126211" y="210352"/>
                </a:cubicBezTo>
                <a:cubicBezTo>
                  <a:pt x="172664" y="210352"/>
                  <a:pt x="210352" y="191508"/>
                  <a:pt x="210352" y="168282"/>
                </a:cubicBezTo>
                <a:lnTo>
                  <a:pt x="210352" y="117184"/>
                </a:lnTo>
                <a:lnTo>
                  <a:pt x="147728" y="142996"/>
                </a:lnTo>
                <a:cubicBezTo>
                  <a:pt x="140892" y="145800"/>
                  <a:pt x="133617" y="147246"/>
                  <a:pt x="126211" y="147246"/>
                </a:cubicBezTo>
                <a:cubicBezTo>
                  <a:pt x="118805" y="147246"/>
                  <a:pt x="111530" y="145800"/>
                  <a:pt x="104694" y="142996"/>
                </a:cubicBezTo>
                <a:lnTo>
                  <a:pt x="42070" y="117184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8755550" y="5901074"/>
            <a:ext cx="6921982" cy="31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7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未来方向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475081" y="6439575"/>
            <a:ext cx="89750" cy="89750"/>
          </a:xfrm>
          <a:custGeom>
            <a:avLst/>
            <a:gdLst/>
            <a:ahLst/>
            <a:cxnLst/>
            <a:rect l="l" t="t" r="r" b="b"/>
            <a:pathLst>
              <a:path w="89750" h="89750">
                <a:moveTo>
                  <a:pt x="44875" y="0"/>
                </a:moveTo>
                <a:lnTo>
                  <a:pt x="44875" y="0"/>
                </a:lnTo>
                <a:cubicBezTo>
                  <a:pt x="69642" y="0"/>
                  <a:pt x="89750" y="20108"/>
                  <a:pt x="89750" y="44875"/>
                </a:cubicBezTo>
                <a:lnTo>
                  <a:pt x="89750" y="44875"/>
                </a:lnTo>
                <a:cubicBezTo>
                  <a:pt x="89750" y="69642"/>
                  <a:pt x="69642" y="89750"/>
                  <a:pt x="44875" y="89750"/>
                </a:cubicBezTo>
                <a:lnTo>
                  <a:pt x="44875" y="89750"/>
                </a:lnTo>
                <a:cubicBezTo>
                  <a:pt x="20108" y="89750"/>
                  <a:pt x="0" y="69642"/>
                  <a:pt x="0" y="44875"/>
                </a:cubicBezTo>
                <a:lnTo>
                  <a:pt x="0" y="44875"/>
                </a:lnTo>
                <a:cubicBezTo>
                  <a:pt x="0" y="20108"/>
                  <a:pt x="20108" y="0"/>
                  <a:pt x="44875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8654581" y="6349825"/>
            <a:ext cx="2355942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探索Spark等新一代计算引擎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475081" y="6798576"/>
            <a:ext cx="89750" cy="89750"/>
          </a:xfrm>
          <a:custGeom>
            <a:avLst/>
            <a:gdLst/>
            <a:ahLst/>
            <a:cxnLst/>
            <a:rect l="l" t="t" r="r" b="b"/>
            <a:pathLst>
              <a:path w="89750" h="89750">
                <a:moveTo>
                  <a:pt x="44875" y="0"/>
                </a:moveTo>
                <a:lnTo>
                  <a:pt x="44875" y="0"/>
                </a:lnTo>
                <a:cubicBezTo>
                  <a:pt x="69642" y="0"/>
                  <a:pt x="89750" y="20108"/>
                  <a:pt x="89750" y="44875"/>
                </a:cubicBezTo>
                <a:lnTo>
                  <a:pt x="89750" y="44875"/>
                </a:lnTo>
                <a:cubicBezTo>
                  <a:pt x="89750" y="69642"/>
                  <a:pt x="69642" y="89750"/>
                  <a:pt x="44875" y="89750"/>
                </a:cubicBezTo>
                <a:lnTo>
                  <a:pt x="44875" y="89750"/>
                </a:lnTo>
                <a:cubicBezTo>
                  <a:pt x="20108" y="89750"/>
                  <a:pt x="0" y="69642"/>
                  <a:pt x="0" y="44875"/>
                </a:cubicBezTo>
                <a:lnTo>
                  <a:pt x="0" y="44875"/>
                </a:lnTo>
                <a:cubicBezTo>
                  <a:pt x="0" y="20108"/>
                  <a:pt x="20108" y="0"/>
                  <a:pt x="44875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8654581" y="6708825"/>
            <a:ext cx="2165223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深入理解Hadoop生态系统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475081" y="7157576"/>
            <a:ext cx="89750" cy="89750"/>
          </a:xfrm>
          <a:custGeom>
            <a:avLst/>
            <a:gdLst/>
            <a:ahLst/>
            <a:cxnLst/>
            <a:rect l="l" t="t" r="r" b="b"/>
            <a:pathLst>
              <a:path w="89750" h="89750">
                <a:moveTo>
                  <a:pt x="44875" y="0"/>
                </a:moveTo>
                <a:lnTo>
                  <a:pt x="44875" y="0"/>
                </a:lnTo>
                <a:cubicBezTo>
                  <a:pt x="69642" y="0"/>
                  <a:pt x="89750" y="20108"/>
                  <a:pt x="89750" y="44875"/>
                </a:cubicBezTo>
                <a:lnTo>
                  <a:pt x="89750" y="44875"/>
                </a:lnTo>
                <a:cubicBezTo>
                  <a:pt x="89750" y="69642"/>
                  <a:pt x="69642" y="89750"/>
                  <a:pt x="44875" y="89750"/>
                </a:cubicBezTo>
                <a:lnTo>
                  <a:pt x="44875" y="89750"/>
                </a:lnTo>
                <a:cubicBezTo>
                  <a:pt x="20108" y="89750"/>
                  <a:pt x="0" y="69642"/>
                  <a:pt x="0" y="44875"/>
                </a:cubicBezTo>
                <a:lnTo>
                  <a:pt x="0" y="44875"/>
                </a:lnTo>
                <a:cubicBezTo>
                  <a:pt x="0" y="20108"/>
                  <a:pt x="20108" y="0"/>
                  <a:pt x="44875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8654581" y="7067826"/>
            <a:ext cx="2243754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3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学习流处理和实时计算技术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2516</Words>
  <Application>Microsoft Macintosh PowerPoint</Application>
  <PresentationFormat>自定义</PresentationFormat>
  <Paragraphs>733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微软雅黑</vt:lpstr>
      <vt:lpstr>Noto Sans SC</vt:lpstr>
      <vt:lpstr>MiSans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MapReduce 分布式计算框架</dc:title>
  <dc:subject>MapReduce 分布式计算框架</dc:subject>
  <dc:creator>Kimi</dc:creator>
  <cp:lastModifiedBy>王 天青</cp:lastModifiedBy>
  <cp:revision>7</cp:revision>
  <dcterms:created xsi:type="dcterms:W3CDTF">2025-12-20T05:57:03Z</dcterms:created>
  <dcterms:modified xsi:type="dcterms:W3CDTF">2025-12-20T06:18:56Z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{"Label":"MapReduce 分布式计算框架","ContentProducer":"001191110108MACG2KBH8F10000","ProduceID":"19b3a4ee-dcf2-818b-8000-0000c47ddb3f","ReservedCode1":"","ContentPropagator":"001191110108MACG2KBH8F20000","PropagateID":"19b3a4ee-dcf2-818b-8000-0000c47ddb3f","ReservedCode2":""}</vt:lpwstr>
  </property>
</Properties>
</file>